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3244850" cx="5765800"/>
  <p:notesSz cx="5765800" cy="3244850"/>
  <p:embeddedFontLst>
    <p:embeddedFont>
      <p:font typeface="Tahoma"/>
      <p:regular r:id="rId58"/>
      <p:bold r:id="rId59"/>
    </p:embeddedFont>
    <p:embeddedFont>
      <p:font typeface="Josefin Sans"/>
      <p:regular r:id="rId60"/>
      <p:bold r:id="rId61"/>
      <p:italic r:id="rId62"/>
      <p:boldItalic r:id="rId63"/>
    </p:embeddedFont>
    <p:embeddedFont>
      <p:font typeface="Helvetica Neue"/>
      <p:regular r:id="rId64"/>
      <p:bold r:id="rId65"/>
      <p:italic r:id="rId66"/>
      <p:boldItalic r:id="rId67"/>
    </p:embeddedFont>
    <p:embeddedFont>
      <p:font typeface="Open Sans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g/6Pk8U3keOhYUFFPremgD5HTu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2A7197-7D1E-46EC-9CC6-F136C0F7216F}">
  <a:tblStyle styleId="{3E2A7197-7D1E-46EC-9CC6-F136C0F7216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Italic.fntdata"/><Relationship Id="rId70" Type="http://schemas.openxmlformats.org/officeDocument/2006/relationships/font" Target="fonts/OpenSans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JosefinSans-italic.fntdata"/><Relationship Id="rId61" Type="http://schemas.openxmlformats.org/officeDocument/2006/relationships/font" Target="fonts/JosefinSans-bold.fntdata"/><Relationship Id="rId20" Type="http://schemas.openxmlformats.org/officeDocument/2006/relationships/slide" Target="slides/slide14.xml"/><Relationship Id="rId64" Type="http://schemas.openxmlformats.org/officeDocument/2006/relationships/font" Target="fonts/HelveticaNeue-regular.fntdata"/><Relationship Id="rId63" Type="http://schemas.openxmlformats.org/officeDocument/2006/relationships/font" Target="fonts/JosefinSans-boldItalic.fntdata"/><Relationship Id="rId22" Type="http://schemas.openxmlformats.org/officeDocument/2006/relationships/slide" Target="slides/slide16.xml"/><Relationship Id="rId66" Type="http://schemas.openxmlformats.org/officeDocument/2006/relationships/font" Target="fonts/HelveticaNeue-italic.fntdata"/><Relationship Id="rId21" Type="http://schemas.openxmlformats.org/officeDocument/2006/relationships/slide" Target="slides/slide15.xml"/><Relationship Id="rId65" Type="http://schemas.openxmlformats.org/officeDocument/2006/relationships/font" Target="fonts/HelveticaNeue-bold.fntdata"/><Relationship Id="rId24" Type="http://schemas.openxmlformats.org/officeDocument/2006/relationships/slide" Target="slides/slide18.xml"/><Relationship Id="rId68" Type="http://schemas.openxmlformats.org/officeDocument/2006/relationships/font" Target="fonts/OpenSans-regular.fntdata"/><Relationship Id="rId23" Type="http://schemas.openxmlformats.org/officeDocument/2006/relationships/slide" Target="slides/slide17.xml"/><Relationship Id="rId67" Type="http://schemas.openxmlformats.org/officeDocument/2006/relationships/font" Target="fonts/HelveticaNeue-boldItalic.fntdata"/><Relationship Id="rId60" Type="http://schemas.openxmlformats.org/officeDocument/2006/relationships/font" Target="fonts/JosefinSans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Tahoma-bold.fntdata"/><Relationship Id="rId14" Type="http://schemas.openxmlformats.org/officeDocument/2006/relationships/slide" Target="slides/slide8.xml"/><Relationship Id="rId58" Type="http://schemas.openxmlformats.org/officeDocument/2006/relationships/font" Target="fonts/Tahoma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ee19ddd9a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1ee19ddd9a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5d0f2ff87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75d0f2ff87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5d0f2ff87_0_1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75d0f2ff87_0_1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5d0f2ff87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75d0f2ff87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2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3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3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5d0f2ff87_0_2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75d0f2ff87_0_2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3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75d0f2ff87_0_5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g375d0f2ff87_0_5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4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ee19ddd9a_0_966:notes"/>
          <p:cNvSpPr/>
          <p:nvPr>
            <p:ph idx="2" type="sldImg"/>
          </p:nvPr>
        </p:nvSpPr>
        <p:spPr>
          <a:xfrm>
            <a:off x="321828" y="243364"/>
            <a:ext cx="51225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1ee19ddd9a_0_966:notes"/>
          <p:cNvSpPr txBox="1"/>
          <p:nvPr>
            <p:ph idx="1" type="body"/>
          </p:nvPr>
        </p:nvSpPr>
        <p:spPr>
          <a:xfrm>
            <a:off x="576580" y="1541304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050" lIns="62050" spcFirstLastPara="1" rIns="62050" wrap="square" tIns="62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4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1ee19ddd9a_0_148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g31ee19ddd9a_0_148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1bec4ec794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31bec4ec794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1ee19ddd9a_0_14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g31ee19ddd9a_0_14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p3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3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p3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3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p3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p4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1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2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" type="body"/>
          </p:nvPr>
        </p:nvSpPr>
        <p:spPr>
          <a:xfrm>
            <a:off x="145084" y="662549"/>
            <a:ext cx="252666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/>
          <p:nvPr>
            <p:ph type="ctrTitle"/>
          </p:nvPr>
        </p:nvSpPr>
        <p:spPr>
          <a:xfrm>
            <a:off x="2250185" y="157733"/>
            <a:ext cx="1265428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1ee19ddd9a_0_1433"/>
          <p:cNvSpPr txBox="1"/>
          <p:nvPr>
            <p:ph type="title"/>
          </p:nvPr>
        </p:nvSpPr>
        <p:spPr>
          <a:xfrm>
            <a:off x="340500" y="229177"/>
            <a:ext cx="50847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650" lIns="57650" spcFirstLastPara="1" rIns="57650" wrap="square" tIns="576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30" name="Google Shape;30;g31ee19ddd9a_0_1433"/>
          <p:cNvSpPr/>
          <p:nvPr/>
        </p:nvSpPr>
        <p:spPr>
          <a:xfrm>
            <a:off x="3835087" y="-74625"/>
            <a:ext cx="2020587" cy="1041678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1ee19ddd9a_0_1433"/>
          <p:cNvSpPr/>
          <p:nvPr/>
        </p:nvSpPr>
        <p:spPr>
          <a:xfrm rot="10800000">
            <a:off x="4392193" y="-45855"/>
            <a:ext cx="1526326" cy="65246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1ee19ddd9a_0_1433"/>
          <p:cNvSpPr/>
          <p:nvPr/>
        </p:nvSpPr>
        <p:spPr>
          <a:xfrm flipH="1" rot="10484865">
            <a:off x="5044049" y="-259810"/>
            <a:ext cx="1162391" cy="54842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1ee19ddd9a_0_1433"/>
          <p:cNvSpPr/>
          <p:nvPr/>
        </p:nvSpPr>
        <p:spPr>
          <a:xfrm rot="10800000">
            <a:off x="4553855" y="289037"/>
            <a:ext cx="103200" cy="10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1ee19ddd9a_0_1433"/>
          <p:cNvSpPr/>
          <p:nvPr/>
        </p:nvSpPr>
        <p:spPr>
          <a:xfrm rot="10800000">
            <a:off x="5156094" y="439679"/>
            <a:ext cx="62100" cy="6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1ee19ddd9a_0_1433"/>
          <p:cNvSpPr/>
          <p:nvPr/>
        </p:nvSpPr>
        <p:spPr>
          <a:xfrm rot="10800000">
            <a:off x="5642110" y="997852"/>
            <a:ext cx="62100" cy="6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0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" type="body"/>
          </p:nvPr>
        </p:nvSpPr>
        <p:spPr>
          <a:xfrm>
            <a:off x="145084" y="662549"/>
            <a:ext cx="252666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0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6.xml"/><Relationship Id="rId4" Type="http://schemas.openxmlformats.org/officeDocument/2006/relationships/slide" Target="/ppt/slides/slide6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slide" Target="/ppt/slides/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slide" Target="/ppt/slides/slide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slide" Target="/ppt/slides/slide6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6.xml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6.xml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6.xml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6.xml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6.xml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6.xml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6.xml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6.xml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6.xml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6.xml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6.xml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6.xml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6.xml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6.xml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6.xml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6.xml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6.xml"/><Relationship Id="rId4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6.xml"/><Relationship Id="rId4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6.xml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6.xml"/><Relationship Id="rId4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6.xml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6.xml"/><Relationship Id="rId4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6.xml"/><Relationship Id="rId4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slide" Target="/ppt/slides/slide6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slide" Target="/ppt/slides/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slide" Target="/ppt/slides/slide35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slide" Target="/ppt/slides/slide35.xml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slide" Target="/ppt/slides/slide35.xml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jpg"/><Relationship Id="rId4" Type="http://schemas.openxmlformats.org/officeDocument/2006/relationships/hyperlink" Target="http://www.enjoyalgorithms.com/blog/recursion-explained-how-recursion-works-in-programming" TargetMode="External"/><Relationship Id="rId5" Type="http://schemas.openxmlformats.org/officeDocument/2006/relationships/slide" Target="/ppt/slides/slide35.xml"/><Relationship Id="rId6" Type="http://schemas.openxmlformats.org/officeDocument/2006/relationships/image" Target="../media/image42.png"/><Relationship Id="rId7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Relationship Id="rId4" Type="http://schemas.openxmlformats.org/officeDocument/2006/relationships/image" Target="../media/image60.png"/><Relationship Id="rId11" Type="http://schemas.openxmlformats.org/officeDocument/2006/relationships/image" Target="../media/image49.png"/><Relationship Id="rId10" Type="http://schemas.openxmlformats.org/officeDocument/2006/relationships/image" Target="../media/image46.png"/><Relationship Id="rId9" Type="http://schemas.openxmlformats.org/officeDocument/2006/relationships/image" Target="../media/image51.png"/><Relationship Id="rId5" Type="http://schemas.openxmlformats.org/officeDocument/2006/relationships/image" Target="../media/image44.png"/><Relationship Id="rId6" Type="http://schemas.openxmlformats.org/officeDocument/2006/relationships/image" Target="../media/image54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slide" Target="/ppt/slides/slide35.xml"/><Relationship Id="rId4" Type="http://schemas.openxmlformats.org/officeDocument/2006/relationships/image" Target="../media/image5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slide" Target="/ppt/slides/slide35.xml"/><Relationship Id="rId4" Type="http://schemas.openxmlformats.org/officeDocument/2006/relationships/image" Target="../media/image52.png"/><Relationship Id="rId5" Type="http://schemas.openxmlformats.org/officeDocument/2006/relationships/image" Target="../media/image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slide" Target="/ppt/slides/slide35.xml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slide" Target="/ppt/slides/slide35.xml"/><Relationship Id="rId4" Type="http://schemas.openxmlformats.org/officeDocument/2006/relationships/hyperlink" Target="http://www.idc-online.com/technical_references/pdfs/information_technology/Tree_Recursion_in_Python.pdf" TargetMode="External"/><Relationship Id="rId5" Type="http://schemas.openxmlformats.org/officeDocument/2006/relationships/image" Target="../media/image56.png"/><Relationship Id="rId6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slide" Target="/ppt/slides/slide35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slide" Target="/ppt/slides/slide35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jpg"/><Relationship Id="rId4" Type="http://schemas.openxmlformats.org/officeDocument/2006/relationships/slide" Target="/ppt/slides/slide35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jpg"/><Relationship Id="rId4" Type="http://schemas.openxmlformats.org/officeDocument/2006/relationships/slide" Target="/ppt/slides/slide35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3.jpg"/><Relationship Id="rId4" Type="http://schemas.openxmlformats.org/officeDocument/2006/relationships/image" Target="../media/image59.png"/><Relationship Id="rId5" Type="http://schemas.openxmlformats.org/officeDocument/2006/relationships/slide" Target="/ppt/slides/slide35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slide" Target="/ppt/slides/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279677" y="157725"/>
            <a:ext cx="102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1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125374" y="1176019"/>
            <a:ext cx="2998470" cy="6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7170" lvl="0" marL="229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ED4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548ED4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6534" lvl="0" marL="2292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ED4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548ED4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 using recursion</a:t>
            </a:r>
            <a:endParaRPr b="0" i="0" sz="1400" u="sng" cap="none" strike="noStrike">
              <a:solidFill>
                <a:srgbClr val="548ED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6534" lvl="0" marL="2292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Examples of recursion</a:t>
            </a:r>
            <a:endParaRPr b="0" i="0" sz="1400" u="none" cap="none" strike="noStrike">
              <a:solidFill>
                <a:srgbClr val="3333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ee19ddd9a_0_0"/>
          <p:cNvSpPr txBox="1"/>
          <p:nvPr>
            <p:ph type="title"/>
          </p:nvPr>
        </p:nvSpPr>
        <p:spPr>
          <a:xfrm>
            <a:off x="1358646" y="138175"/>
            <a:ext cx="2746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Recursion</a:t>
            </a:r>
            <a:endParaRPr/>
          </a:p>
        </p:txBody>
      </p:sp>
      <p:sp>
        <p:nvSpPr>
          <p:cNvPr id="60" name="Google Shape;60;g31ee19ddd9a_0_0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g31ee19ddd9a_0_0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g31ee19ddd9a_0_0"/>
          <p:cNvSpPr txBox="1"/>
          <p:nvPr/>
        </p:nvSpPr>
        <p:spPr>
          <a:xfrm>
            <a:off x="155075" y="488625"/>
            <a:ext cx="5213100" cy="24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144780" lvl="0" marL="157480" marR="18034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Sometimes, the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best way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solve a problem is by solving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smaller version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 the exact same problem first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157480" marR="114935" rtl="0" algn="l">
              <a:lnSpc>
                <a:spcPct val="116666"/>
              </a:lnSpc>
              <a:spcBef>
                <a:spcPts val="28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Recursion is a technique that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solves a problem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by solving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smaller problem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 the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same type</a:t>
            </a: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17916"/>
              </a:lnSpc>
              <a:spcBef>
                <a:spcPts val="229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 mathematics and computer science, recursion is a method of defining functions in which the function being defined is applied within its own definition</a:t>
            </a:r>
            <a:endParaRPr b="0" i="0" sz="1000" u="sng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7309" lvl="1" marL="432433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43509" lvl="0" marL="432433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Recursion is much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more readable</a:t>
            </a: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, but consumes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more memory </a:t>
            </a:r>
            <a:r>
              <a:rPr b="1" i="0" lang="en-US" sz="1200" u="none" cap="none" strike="noStrike">
                <a:latin typeface="Trebuchet MS"/>
                <a:ea typeface="Trebuchet MS"/>
                <a:cs typeface="Trebuchet MS"/>
                <a:sym typeface="Trebuchet MS"/>
              </a:rPr>
              <a:t>(uses recursive call stack)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43509" lvl="0" marL="432433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is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not readable</a:t>
            </a: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, but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does not </a:t>
            </a: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consume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more memory </a:t>
            </a: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(Does not use any stack)</a:t>
            </a:r>
            <a:endParaRPr b="0" i="0" sz="16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5d0f2ff87_0_0"/>
          <p:cNvSpPr txBox="1"/>
          <p:nvPr>
            <p:ph type="title"/>
          </p:nvPr>
        </p:nvSpPr>
        <p:spPr>
          <a:xfrm>
            <a:off x="1574225" y="168800"/>
            <a:ext cx="421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Cake Eating Problem</a:t>
            </a:r>
            <a:endParaRPr/>
          </a:p>
        </p:txBody>
      </p:sp>
      <p:sp>
        <p:nvSpPr>
          <p:cNvPr id="68" name="Google Shape;68;g375d0f2ff87_0_0"/>
          <p:cNvSpPr txBox="1"/>
          <p:nvPr>
            <p:ph idx="1" type="body"/>
          </p:nvPr>
        </p:nvSpPr>
        <p:spPr>
          <a:xfrm>
            <a:off x="202825" y="656425"/>
            <a:ext cx="5351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The cake is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too huge to fit in your mouth</a:t>
            </a: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 — you can’t eat it all at once.</a:t>
            </a:r>
            <a:endParaRPr/>
          </a:p>
        </p:txBody>
      </p:sp>
      <p:pic>
        <p:nvPicPr>
          <p:cNvPr id="69" name="Google Shape;69;g375d0f2ff87_0_0" title="Screenshot 2025-08-06 231743.png"/>
          <p:cNvPicPr preferRelativeResize="0"/>
          <p:nvPr/>
        </p:nvPicPr>
        <p:blipFill rotWithShape="1">
          <a:blip r:embed="rId3">
            <a:alphaModFix/>
          </a:blip>
          <a:srcRect b="5696" l="6994" r="3327" t="13832"/>
          <a:stretch/>
        </p:blipFill>
        <p:spPr>
          <a:xfrm>
            <a:off x="423225" y="1104400"/>
            <a:ext cx="2228551" cy="199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75d0f2ff87_0_0" title="Screenshot 2025-08-06 2333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8475" y="1051650"/>
            <a:ext cx="2113514" cy="199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d0f2ff87_0_18"/>
          <p:cNvSpPr txBox="1"/>
          <p:nvPr>
            <p:ph type="title"/>
          </p:nvPr>
        </p:nvSpPr>
        <p:spPr>
          <a:xfrm>
            <a:off x="1574225" y="168800"/>
            <a:ext cx="421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Cake Eating Problem</a:t>
            </a:r>
            <a:endParaRPr/>
          </a:p>
        </p:txBody>
      </p:sp>
      <p:sp>
        <p:nvSpPr>
          <p:cNvPr id="76" name="Google Shape;76;g375d0f2ff87_0_18"/>
          <p:cNvSpPr txBox="1"/>
          <p:nvPr>
            <p:ph idx="1" type="body"/>
          </p:nvPr>
        </p:nvSpPr>
        <p:spPr>
          <a:xfrm>
            <a:off x="2596675" y="656425"/>
            <a:ext cx="2957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The cake is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too huge to fit in your mouth</a:t>
            </a: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 — you can’t eat it all at once.</a:t>
            </a:r>
            <a:endParaRPr b="0"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00"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To finish it, you must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cut it into smaller, manageable pieces</a:t>
            </a: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 first</a:t>
            </a:r>
            <a:endParaRPr b="0" sz="1100"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○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same structure, same taste.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7" name="Google Shape;77;g375d0f2ff87_0_18" title="Screenshot 2025-08-06 231743.png"/>
          <p:cNvPicPr preferRelativeResize="0"/>
          <p:nvPr/>
        </p:nvPicPr>
        <p:blipFill rotWithShape="1">
          <a:blip r:embed="rId3">
            <a:alphaModFix/>
          </a:blip>
          <a:srcRect b="5696" l="6994" r="3327" t="13832"/>
          <a:stretch/>
        </p:blipFill>
        <p:spPr>
          <a:xfrm>
            <a:off x="159975" y="606125"/>
            <a:ext cx="2265275" cy="20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5d0f2ff87_0_8"/>
          <p:cNvSpPr txBox="1"/>
          <p:nvPr>
            <p:ph type="title"/>
          </p:nvPr>
        </p:nvSpPr>
        <p:spPr>
          <a:xfrm>
            <a:off x="1445675" y="168800"/>
            <a:ext cx="421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Cake Eating Problem</a:t>
            </a:r>
            <a:endParaRPr/>
          </a:p>
        </p:txBody>
      </p:sp>
      <p:sp>
        <p:nvSpPr>
          <p:cNvPr id="83" name="Google Shape;83;g375d0f2ff87_0_8"/>
          <p:cNvSpPr txBox="1"/>
          <p:nvPr>
            <p:ph idx="1" type="body"/>
          </p:nvPr>
        </p:nvSpPr>
        <p:spPr>
          <a:xfrm>
            <a:off x="2198725" y="606125"/>
            <a:ext cx="34653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Problem:</a:t>
            </a:r>
            <a:r>
              <a:rPr b="0" lang="en-US" sz="1000"/>
              <a:t> The cake is too large to eat in one go.</a:t>
            </a:r>
            <a:endParaRPr b="0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Recursive Approach: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0" lang="en-US" sz="1000"/>
              <a:t>Slice the cake into a smaller piece → repeat on the smaller piece. (</a:t>
            </a:r>
            <a:r>
              <a:rPr lang="en-US" sz="1000"/>
              <a:t>Recursive Step</a:t>
            </a:r>
            <a:r>
              <a:rPr b="0" lang="en-US" sz="1000"/>
              <a:t>)</a:t>
            </a:r>
            <a:br>
              <a:rPr b="0" lang="en-US" sz="1000"/>
            </a:br>
            <a:endParaRPr b="0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0" lang="en-US" sz="1000"/>
              <a:t>When the slice is </a:t>
            </a:r>
            <a:r>
              <a:rPr lang="en-US" sz="1000"/>
              <a:t>bite-sized</a:t>
            </a:r>
            <a:r>
              <a:rPr b="0" lang="en-US" sz="1000"/>
              <a:t>, </a:t>
            </a:r>
            <a:br>
              <a:rPr b="0" lang="en-US" sz="1000"/>
            </a:br>
            <a:r>
              <a:rPr b="0" lang="en-US" sz="1000"/>
              <a:t>just </a:t>
            </a:r>
            <a:r>
              <a:rPr lang="en-US" sz="1000"/>
              <a:t>eat it</a:t>
            </a:r>
            <a:r>
              <a:rPr b="0" lang="en-US" sz="1000"/>
              <a:t> — no more slicing needed. (</a:t>
            </a:r>
            <a:r>
              <a:rPr lang="en-US" sz="1000"/>
              <a:t>Base Case</a:t>
            </a:r>
            <a:r>
              <a:rPr b="0" lang="en-US" sz="1000"/>
              <a:t>)</a:t>
            </a:r>
            <a:br>
              <a:rPr b="0" lang="en-US" sz="1000"/>
            </a:br>
            <a:endParaRPr b="0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-US" sz="1000"/>
              <a:t>Insight: </a:t>
            </a:r>
            <a:r>
              <a:rPr b="0" lang="en-US" sz="1000"/>
              <a:t>Each slice is a </a:t>
            </a:r>
            <a:r>
              <a:rPr lang="en-US" sz="1000"/>
              <a:t>smaller version of the same cake</a:t>
            </a:r>
            <a:r>
              <a:rPr b="0" lang="en-US" sz="1000"/>
              <a:t> —</a:t>
            </a:r>
            <a:r>
              <a:rPr lang="en-US" sz="1000"/>
              <a:t>same structure, same taste</a:t>
            </a:r>
            <a:r>
              <a:rPr b="0" lang="en-US" sz="1000"/>
              <a:t> — perfect for recursion.</a:t>
            </a:r>
            <a:endParaRPr b="0" sz="1000"/>
          </a:p>
        </p:txBody>
      </p:sp>
      <p:pic>
        <p:nvPicPr>
          <p:cNvPr id="84" name="Google Shape;84;g375d0f2ff87_0_8" title="Screenshot 2025-08-06 231743.png"/>
          <p:cNvPicPr preferRelativeResize="0"/>
          <p:nvPr/>
        </p:nvPicPr>
        <p:blipFill rotWithShape="1">
          <a:blip r:embed="rId3">
            <a:alphaModFix/>
          </a:blip>
          <a:srcRect b="5696" l="6994" r="3327" t="13832"/>
          <a:stretch/>
        </p:blipFill>
        <p:spPr>
          <a:xfrm>
            <a:off x="68125" y="606125"/>
            <a:ext cx="1960100" cy="175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ctrTitle"/>
          </p:nvPr>
        </p:nvSpPr>
        <p:spPr>
          <a:xfrm>
            <a:off x="1561673" y="355075"/>
            <a:ext cx="2402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170484" y="1402460"/>
            <a:ext cx="2460625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just">
              <a:lnSpc>
                <a:spcPct val="9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Tromino cover: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right tromino is an L-shaped tile formed by three adjacent squares.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3285" y="933299"/>
            <a:ext cx="859100" cy="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3172788" y="2764892"/>
            <a:ext cx="2063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130860" y="3109223"/>
            <a:ext cx="74485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3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412710" y="933299"/>
            <a:ext cx="859100" cy="8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3285" y="1907024"/>
            <a:ext cx="859100" cy="8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332785" y="1907024"/>
            <a:ext cx="859100" cy="8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235" y="2054974"/>
            <a:ext cx="859100" cy="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2250173" y="157725"/>
            <a:ext cx="1572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145074" y="1126625"/>
            <a:ext cx="27900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Puzzle: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You are given a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with one missing square.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5595" marR="30480" rtl="0" algn="l">
              <a:lnSpc>
                <a:spcPct val="116666"/>
              </a:lnSpc>
              <a:spcBef>
                <a:spcPts val="33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you must cover all squares except the missing one exactly using right number of trominoes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31623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trominoes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must not overlap</a:t>
            </a:r>
            <a:endParaRPr b="0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970787"/>
            <a:ext cx="1354836" cy="13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3170301" y="2404111"/>
            <a:ext cx="2063750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4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2250173" y="157725"/>
            <a:ext cx="1539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Tromino cover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45701" y="1370650"/>
            <a:ext cx="27174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683" lvl="0" marL="314960" marR="30480" rtl="0" algn="l">
              <a:lnSpc>
                <a:spcPct val="116666"/>
              </a:lnSpc>
              <a:spcBef>
                <a:spcPts val="34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488" y="967739"/>
            <a:ext cx="1359408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170301" y="2404111"/>
            <a:ext cx="2063750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2250173" y="157725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145084" y="662549"/>
            <a:ext cx="252666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Steps:</a:t>
            </a:r>
            <a:endParaRPr/>
          </a:p>
          <a:p>
            <a:pPr indent="-145415" lvl="0" marL="145415" marR="273685" rtl="0" algn="r">
              <a:lnSpc>
                <a:spcPct val="118750"/>
              </a:lnSpc>
              <a:spcBef>
                <a:spcPts val="26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lang="en-US"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board into 4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14960" rtl="0" algn="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>
                <a:latin typeface="Tahoma"/>
                <a:ea typeface="Tahoma"/>
                <a:cs typeface="Tahoma"/>
                <a:sym typeface="Tahoma"/>
              </a:rPr>
              <a:t>disjoint 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lang="en-US" sz="12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lang="en-US" sz="1200"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lang="en-US" sz="12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lang="en-US" sz="1200"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subboards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-146050" lvl="0" marL="314960" marR="30480" rtl="0" algn="l">
              <a:lnSpc>
                <a:spcPct val="98100"/>
              </a:lnSpc>
              <a:spcBef>
                <a:spcPts val="24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lang="en-US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0" lang="en-US"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987551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/>
        </p:nvSpPr>
        <p:spPr>
          <a:xfrm>
            <a:off x="3170301" y="2404973"/>
            <a:ext cx="206375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2250173" y="140600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146300" y="413200"/>
            <a:ext cx="3024000" cy="2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1369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369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3055" marR="319405" rtl="0" algn="l">
              <a:lnSpc>
                <a:spcPct val="97200"/>
              </a:lnSpc>
              <a:spcBef>
                <a:spcPts val="28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1024127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7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2250173" y="140600"/>
            <a:ext cx="1484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105448" y="413200"/>
            <a:ext cx="29736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1108" y="1024127"/>
            <a:ext cx="1351788" cy="1351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5392928" y="3100222"/>
            <a:ext cx="18415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2250173" y="140600"/>
            <a:ext cx="1580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105450" y="413200"/>
            <a:ext cx="30648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19555"/>
            <a:ext cx="1362456" cy="136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5392928" y="3100222"/>
            <a:ext cx="18415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2250172" y="140600"/>
            <a:ext cx="1683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105449" y="413200"/>
            <a:ext cx="2869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3170301" y="2440635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105449" y="413200"/>
            <a:ext cx="2805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2" name="Google Shape;1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6507"/>
            <a:ext cx="1367027" cy="1367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3170301" y="2445816"/>
            <a:ext cx="206375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2250174" y="140600"/>
            <a:ext cx="1436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80" name="Google Shape;180;p12"/>
          <p:cNvSpPr txBox="1"/>
          <p:nvPr/>
        </p:nvSpPr>
        <p:spPr>
          <a:xfrm>
            <a:off x="105449" y="413200"/>
            <a:ext cx="29415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9555"/>
            <a:ext cx="1360932" cy="136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105449" y="413200"/>
            <a:ext cx="2861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2603"/>
            <a:ext cx="1357884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2250173" y="140600"/>
            <a:ext cx="150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105449" y="413200"/>
            <a:ext cx="28137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1079"/>
            <a:ext cx="1359408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4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145399" y="415100"/>
            <a:ext cx="2773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8" name="Google Shape;2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2603"/>
            <a:ext cx="1360932" cy="136093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2250174" y="140600"/>
            <a:ext cx="144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105449" y="413200"/>
            <a:ext cx="2781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1079"/>
            <a:ext cx="1360932" cy="136093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2250173" y="140600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5448" y="413200"/>
            <a:ext cx="30054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3170301" y="2444902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2250173" y="140600"/>
            <a:ext cx="150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05449" y="413200"/>
            <a:ext cx="2869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4127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/>
        </p:nvSpPr>
        <p:spPr>
          <a:xfrm>
            <a:off x="3170301" y="2444902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title"/>
          </p:nvPr>
        </p:nvSpPr>
        <p:spPr>
          <a:xfrm>
            <a:off x="2250174" y="140600"/>
            <a:ext cx="144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105449" y="413200"/>
            <a:ext cx="2805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8031"/>
            <a:ext cx="1363980" cy="13639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3170301" y="2447645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2250173" y="140600"/>
            <a:ext cx="147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05449" y="413200"/>
            <a:ext cx="2885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3" name="Google Shape;2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1079"/>
            <a:ext cx="1357884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5449" y="413200"/>
            <a:ext cx="2869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4127"/>
            <a:ext cx="1357884" cy="13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2250173" y="140600"/>
            <a:ext cx="1492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105449" y="413200"/>
            <a:ext cx="2909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>
            <p:ph type="title"/>
          </p:nvPr>
        </p:nvSpPr>
        <p:spPr>
          <a:xfrm>
            <a:off x="2250173" y="140600"/>
            <a:ext cx="146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05448" y="413200"/>
            <a:ext cx="30648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0" name="Google Shape;2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2603"/>
            <a:ext cx="1356360" cy="135635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3170301" y="2445816"/>
            <a:ext cx="206375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type="title"/>
          </p:nvPr>
        </p:nvSpPr>
        <p:spPr>
          <a:xfrm>
            <a:off x="2250173" y="140600"/>
            <a:ext cx="150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05449" y="413200"/>
            <a:ext cx="2845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9" name="Google Shape;2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5651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>
            <p:ph type="title"/>
          </p:nvPr>
        </p:nvSpPr>
        <p:spPr>
          <a:xfrm>
            <a:off x="2250173" y="140600"/>
            <a:ext cx="147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05449" y="413200"/>
            <a:ext cx="2917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8" name="Google Shape;2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3170301" y="2440635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>
            <p:ph type="title"/>
          </p:nvPr>
        </p:nvSpPr>
        <p:spPr>
          <a:xfrm>
            <a:off x="2250174" y="140600"/>
            <a:ext cx="144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105449" y="413200"/>
            <a:ext cx="2925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5651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2250173" y="140600"/>
            <a:ext cx="146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05448" y="413200"/>
            <a:ext cx="29973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6" name="Google Shape;3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2603"/>
            <a:ext cx="1359408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7"/>
          <p:cNvSpPr txBox="1"/>
          <p:nvPr/>
        </p:nvSpPr>
        <p:spPr>
          <a:xfrm>
            <a:off x="3170301" y="2443378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/>
          <p:nvPr>
            <p:ph type="title"/>
          </p:nvPr>
        </p:nvSpPr>
        <p:spPr>
          <a:xfrm>
            <a:off x="2250173" y="140600"/>
            <a:ext cx="1548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105449" y="413200"/>
            <a:ext cx="2861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5" name="Google Shape;3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4127"/>
            <a:ext cx="1357884" cy="13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3170301" y="2444902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type="title"/>
          </p:nvPr>
        </p:nvSpPr>
        <p:spPr>
          <a:xfrm>
            <a:off x="2250172" y="140600"/>
            <a:ext cx="171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105449" y="413200"/>
            <a:ext cx="28377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4" name="Google Shape;3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1079"/>
            <a:ext cx="1357884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 txBox="1"/>
          <p:nvPr/>
        </p:nvSpPr>
        <p:spPr>
          <a:xfrm>
            <a:off x="3170301" y="2444902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29/44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>
            <p:ph type="title"/>
          </p:nvPr>
        </p:nvSpPr>
        <p:spPr>
          <a:xfrm>
            <a:off x="2250172" y="140600"/>
            <a:ext cx="164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105449" y="413200"/>
            <a:ext cx="2909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3" name="Google Shape;34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6507"/>
            <a:ext cx="1367027" cy="136702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0"/>
          <p:cNvSpPr txBox="1"/>
          <p:nvPr/>
        </p:nvSpPr>
        <p:spPr>
          <a:xfrm>
            <a:off x="3170301" y="2449169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/>
          <p:nvPr>
            <p:ph type="title"/>
          </p:nvPr>
        </p:nvSpPr>
        <p:spPr>
          <a:xfrm>
            <a:off x="2250173" y="140600"/>
            <a:ext cx="1516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146299" y="413200"/>
            <a:ext cx="3024000" cy="25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1369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369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13690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2" name="Google Shape;3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1024127"/>
            <a:ext cx="1354836" cy="13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/>
        </p:nvSpPr>
        <p:spPr>
          <a:xfrm>
            <a:off x="3170301" y="2441854"/>
            <a:ext cx="206375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5372861" y="3106175"/>
            <a:ext cx="2235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130860" y="3114709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Recursion</a:t>
            </a:r>
            <a:endParaRPr/>
          </a:p>
        </p:txBody>
      </p:sp>
      <p:sp>
        <p:nvSpPr>
          <p:cNvPr id="361" name="Google Shape;361;p2"/>
          <p:cNvSpPr txBox="1"/>
          <p:nvPr/>
        </p:nvSpPr>
        <p:spPr>
          <a:xfrm>
            <a:off x="156997" y="2997475"/>
            <a:ext cx="4455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2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2"/>
          <p:cNvSpPr txBox="1"/>
          <p:nvPr/>
        </p:nvSpPr>
        <p:spPr>
          <a:xfrm>
            <a:off x="254500" y="474050"/>
            <a:ext cx="5158200" cy="22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5748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8115" lvl="0" marL="158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Every recursive definition has 2 parts: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rebuchet MS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BASE CASE(S):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so simple that they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can be solved directly</a:t>
            </a:r>
            <a:br>
              <a:rPr b="1" i="0" lang="en-US" sz="12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1" i="0" sz="1200" u="sng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ECURSIVE CASE(S)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make use of recursion to solve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smaller subproblems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 into a solution to the larger problem</a:t>
            </a:r>
            <a:endParaRPr b="0" i="0" sz="1200" u="sng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7310" lvl="1" marL="432434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38CD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Base Case: </a:t>
            </a:r>
            <a:r>
              <a:rPr b="0" i="0" lang="en-US" sz="1100" u="sng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One or more conditions</a:t>
            </a:r>
            <a:r>
              <a:rPr b="0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 based on which </a:t>
            </a:r>
            <a:br>
              <a:rPr b="0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</a:br>
            <a:r>
              <a:rPr b="0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         the </a:t>
            </a:r>
            <a:r>
              <a:rPr b="1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function will stop the recursive call. (Stopping condition)</a:t>
            </a:r>
            <a:endParaRPr b="1" i="0" sz="1100" u="none" cap="none" strike="noStrike">
              <a:solidFill>
                <a:srgbClr val="1A4568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A4568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Recursive Case: </a:t>
            </a:r>
            <a:r>
              <a:rPr b="0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The </a:t>
            </a:r>
            <a:r>
              <a:rPr b="1" i="0" lang="en-US" sz="1100" u="sng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function calling itself</a:t>
            </a:r>
            <a:r>
              <a:rPr b="0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 within its </a:t>
            </a:r>
            <a:r>
              <a:rPr b="1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definition</a:t>
            </a:r>
            <a:r>
              <a:rPr b="0" i="0" lang="en-US" sz="11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.</a:t>
            </a:r>
            <a:endParaRPr b="0" i="0" sz="1100" u="none" cap="none" strike="noStrike">
              <a:solidFill>
                <a:srgbClr val="1A456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/>
        </p:nvSpPr>
        <p:spPr>
          <a:xfrm>
            <a:off x="2498228" y="157725"/>
            <a:ext cx="1044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Factorial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9" name="Google Shape;369;p37"/>
          <p:cNvSpPr txBox="1"/>
          <p:nvPr/>
        </p:nvSpPr>
        <p:spPr>
          <a:xfrm>
            <a:off x="1824354" y="837056"/>
            <a:ext cx="3041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" name="Google Shape;370;p37"/>
          <p:cNvSpPr txBox="1"/>
          <p:nvPr/>
        </p:nvSpPr>
        <p:spPr>
          <a:xfrm>
            <a:off x="2273300" y="711300"/>
            <a:ext cx="7419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1" name="Google Shape;371;p37"/>
          <p:cNvSpPr txBox="1"/>
          <p:nvPr/>
        </p:nvSpPr>
        <p:spPr>
          <a:xfrm>
            <a:off x="3101085" y="711298"/>
            <a:ext cx="595630" cy="44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2" name="Google Shape;372;p37"/>
          <p:cNvSpPr/>
          <p:nvPr/>
        </p:nvSpPr>
        <p:spPr>
          <a:xfrm>
            <a:off x="2164079" y="839723"/>
            <a:ext cx="47625" cy="312420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7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37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375" name="Google Shape;375;p37"/>
          <p:cNvSpPr txBox="1"/>
          <p:nvPr/>
        </p:nvSpPr>
        <p:spPr>
          <a:xfrm>
            <a:off x="2873550" y="1479400"/>
            <a:ext cx="11109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5! = 5*4!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4! = 4*3!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3! = 3*2!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2! = 2*1!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1! = 1*0!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0! = 1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37"/>
          <p:cNvSpPr txBox="1"/>
          <p:nvPr/>
        </p:nvSpPr>
        <p:spPr>
          <a:xfrm>
            <a:off x="832925" y="1479400"/>
            <a:ext cx="16254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5! = 5*4*3*2*1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4! = 4*3*2*1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3! = 3*2*1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2! = 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1! = 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0! = 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5d0f2ff87_0_29"/>
          <p:cNvSpPr txBox="1"/>
          <p:nvPr>
            <p:ph type="title"/>
          </p:nvPr>
        </p:nvSpPr>
        <p:spPr>
          <a:xfrm>
            <a:off x="723226" y="125925"/>
            <a:ext cx="3547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Recursion vs. While Loop</a:t>
            </a:r>
            <a:endParaRPr/>
          </a:p>
        </p:txBody>
      </p:sp>
      <p:sp>
        <p:nvSpPr>
          <p:cNvPr id="382" name="Google Shape;382;g375d0f2ff87_0_29"/>
          <p:cNvSpPr txBox="1"/>
          <p:nvPr/>
        </p:nvSpPr>
        <p:spPr>
          <a:xfrm>
            <a:off x="156997" y="2997475"/>
            <a:ext cx="4455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3" name="Google Shape;383;g375d0f2ff87_0_29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g375d0f2ff87_0_29"/>
          <p:cNvSpPr txBox="1"/>
          <p:nvPr/>
        </p:nvSpPr>
        <p:spPr>
          <a:xfrm>
            <a:off x="610850" y="498525"/>
            <a:ext cx="4544100" cy="1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🔁 Recursion vs. While Loop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Recursion is often an alternative to a while loop.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You usually </a:t>
            </a:r>
            <a:r>
              <a:rPr b="1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don’t use recursion and a while loop together</a:t>
            </a:r>
            <a:r>
              <a:rPr b="0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— they solve the same kind of problems.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85" name="Google Shape;385;g375d0f2ff87_0_29"/>
          <p:cNvGraphicFramePr/>
          <p:nvPr/>
        </p:nvGraphicFramePr>
        <p:xfrm>
          <a:off x="891250" y="183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{3E2A7197-7D1E-46EC-9CC6-F136C0F7216F}</a:tableStyleId>
              </a:tblPr>
              <a:tblGrid>
                <a:gridCol w="1918175"/>
                <a:gridCol w="1918175"/>
              </a:tblGrid>
              <a:tr h="33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 Concept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Recursion Equivalent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 condition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Opposite</a:t>
                      </a: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 becomes base case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 body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Recursive case</a:t>
                      </a:r>
                      <a:endParaRPr b="1"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8"/>
          <p:cNvSpPr txBox="1"/>
          <p:nvPr/>
        </p:nvSpPr>
        <p:spPr>
          <a:xfrm>
            <a:off x="2498227" y="157725"/>
            <a:ext cx="9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Factorial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1824279" y="647281"/>
            <a:ext cx="304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2273225" y="521525"/>
            <a:ext cx="745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3101010" y="521523"/>
            <a:ext cx="5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4" name="Google Shape;394;p38"/>
          <p:cNvSpPr/>
          <p:nvPr/>
        </p:nvSpPr>
        <p:spPr>
          <a:xfrm>
            <a:off x="2164004" y="649948"/>
            <a:ext cx="47625" cy="312419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8"/>
          <p:cNvSpPr txBox="1"/>
          <p:nvPr/>
        </p:nvSpPr>
        <p:spPr>
          <a:xfrm>
            <a:off x="417001" y="1145950"/>
            <a:ext cx="871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8"/>
          <p:cNvSpPr txBox="1"/>
          <p:nvPr/>
        </p:nvSpPr>
        <p:spPr>
          <a:xfrm>
            <a:off x="4339776" y="1145950"/>
            <a:ext cx="102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8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8" name="Google Shape;398;p38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399" name="Google Shape;39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63" y="1464762"/>
            <a:ext cx="1478975" cy="1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 title="factorial_whil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3825" y="1525975"/>
            <a:ext cx="2298475" cy="10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8"/>
          <p:cNvSpPr txBox="1"/>
          <p:nvPr/>
        </p:nvSpPr>
        <p:spPr>
          <a:xfrm>
            <a:off x="2128451" y="1206525"/>
            <a:ext cx="871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5d0f2ff87_0_59"/>
          <p:cNvSpPr txBox="1"/>
          <p:nvPr/>
        </p:nvSpPr>
        <p:spPr>
          <a:xfrm>
            <a:off x="2498227" y="157725"/>
            <a:ext cx="9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Factorial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g375d0f2ff87_0_59"/>
          <p:cNvSpPr txBox="1"/>
          <p:nvPr/>
        </p:nvSpPr>
        <p:spPr>
          <a:xfrm>
            <a:off x="1824279" y="647281"/>
            <a:ext cx="304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" name="Google Shape;408;g375d0f2ff87_0_59"/>
          <p:cNvSpPr txBox="1"/>
          <p:nvPr/>
        </p:nvSpPr>
        <p:spPr>
          <a:xfrm>
            <a:off x="2273225" y="521525"/>
            <a:ext cx="745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9" name="Google Shape;409;g375d0f2ff87_0_59"/>
          <p:cNvSpPr txBox="1"/>
          <p:nvPr/>
        </p:nvSpPr>
        <p:spPr>
          <a:xfrm>
            <a:off x="3101010" y="521523"/>
            <a:ext cx="5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0" name="Google Shape;410;g375d0f2ff87_0_59"/>
          <p:cNvSpPr/>
          <p:nvPr/>
        </p:nvSpPr>
        <p:spPr>
          <a:xfrm>
            <a:off x="2164004" y="649948"/>
            <a:ext cx="47625" cy="312419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75d0f2ff87_0_59"/>
          <p:cNvSpPr txBox="1"/>
          <p:nvPr/>
        </p:nvSpPr>
        <p:spPr>
          <a:xfrm>
            <a:off x="417001" y="1145950"/>
            <a:ext cx="871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75d0f2ff87_0_59"/>
          <p:cNvSpPr txBox="1"/>
          <p:nvPr/>
        </p:nvSpPr>
        <p:spPr>
          <a:xfrm>
            <a:off x="4339776" y="895025"/>
            <a:ext cx="102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75d0f2ff87_0_59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g375d0f2ff87_0_59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415" name="Google Shape;415;g375d0f2ff87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3" y="1464752"/>
            <a:ext cx="1236771" cy="11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75d0f2ff87_0_59" title="factorial_whil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1175" y="1496325"/>
            <a:ext cx="2298475" cy="10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75d0f2ff87_0_59"/>
          <p:cNvSpPr txBox="1"/>
          <p:nvPr/>
        </p:nvSpPr>
        <p:spPr>
          <a:xfrm>
            <a:off x="2128476" y="1145950"/>
            <a:ext cx="871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g375d0f2ff87_0_59" title="factorial_recursion_python..png"/>
          <p:cNvPicPr preferRelativeResize="0"/>
          <p:nvPr/>
        </p:nvPicPr>
        <p:blipFill rotWithShape="1">
          <a:blip r:embed="rId6">
            <a:alphaModFix/>
          </a:blip>
          <a:srcRect b="0" l="0" r="0" t="-5697"/>
          <a:stretch/>
        </p:blipFill>
        <p:spPr>
          <a:xfrm>
            <a:off x="3839951" y="1145950"/>
            <a:ext cx="1753900" cy="11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75d0f2ff87_0_59" title="factorial_recursion_java.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85599" y="2356750"/>
            <a:ext cx="1954325" cy="8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 txBox="1"/>
          <p:nvPr>
            <p:ph type="title"/>
          </p:nvPr>
        </p:nvSpPr>
        <p:spPr>
          <a:xfrm>
            <a:off x="1384371" y="144275"/>
            <a:ext cx="2746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51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Factorial</a:t>
            </a:r>
            <a:endParaRPr/>
          </a:p>
        </p:txBody>
      </p:sp>
      <p:sp>
        <p:nvSpPr>
          <p:cNvPr id="425" name="Google Shape;425;p40"/>
          <p:cNvSpPr txBox="1"/>
          <p:nvPr/>
        </p:nvSpPr>
        <p:spPr>
          <a:xfrm>
            <a:off x="1823904" y="605681"/>
            <a:ext cx="304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2272850" y="479925"/>
            <a:ext cx="84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40"/>
          <p:cNvSpPr txBox="1"/>
          <p:nvPr/>
        </p:nvSpPr>
        <p:spPr>
          <a:xfrm>
            <a:off x="3268110" y="489786"/>
            <a:ext cx="5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40"/>
          <p:cNvSpPr/>
          <p:nvPr/>
        </p:nvSpPr>
        <p:spPr>
          <a:xfrm>
            <a:off x="2163629" y="608348"/>
            <a:ext cx="47625" cy="312419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370376" y="882675"/>
            <a:ext cx="1014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8100" y="1042293"/>
            <a:ext cx="3407900" cy="1945507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0"/>
          <p:cNvSpPr txBox="1"/>
          <p:nvPr/>
        </p:nvSpPr>
        <p:spPr>
          <a:xfrm>
            <a:off x="2247126" y="2971863"/>
            <a:ext cx="3354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Sourse; https://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www.enjoyalgorithms.com/blog/recursion-explained-how-recursion-works-in-programming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0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40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434" name="Google Shape;434;p40" title="factorial_recursion_python..png"/>
          <p:cNvPicPr preferRelativeResize="0"/>
          <p:nvPr/>
        </p:nvPicPr>
        <p:blipFill rotWithShape="1">
          <a:blip r:embed="rId6">
            <a:alphaModFix/>
          </a:blip>
          <a:srcRect b="0" l="0" r="0" t="-5697"/>
          <a:stretch/>
        </p:blipFill>
        <p:spPr>
          <a:xfrm>
            <a:off x="94135" y="1172475"/>
            <a:ext cx="1701674" cy="1097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0" title="factorial_recursion_java.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400" y="2347221"/>
            <a:ext cx="1896130" cy="825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ee19ddd9a_0_966"/>
          <p:cNvSpPr txBox="1"/>
          <p:nvPr>
            <p:ph type="title"/>
          </p:nvPr>
        </p:nvSpPr>
        <p:spPr>
          <a:xfrm>
            <a:off x="1609991" y="60827"/>
            <a:ext cx="25458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650" lIns="57650" spcFirstLastPara="1" rIns="57650" wrap="square" tIns="576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The Call Stack</a:t>
            </a:r>
            <a:endParaRPr/>
          </a:p>
        </p:txBody>
      </p:sp>
      <p:pic>
        <p:nvPicPr>
          <p:cNvPr id="441" name="Google Shape;441;g31ee19ddd9a_0_9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4652" y="921456"/>
            <a:ext cx="2493122" cy="1763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1ee19ddd9a_0_9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04" y="582540"/>
            <a:ext cx="1939952" cy="2537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1ee19ddd9a_0_9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797" y="2321241"/>
            <a:ext cx="1939952" cy="798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1ee19ddd9a_0_9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797" y="1713120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1ee19ddd9a_0_9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797" y="1103153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1ee19ddd9a_0_9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9797" y="500772"/>
            <a:ext cx="1939952" cy="810816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1ee19ddd9a_0_966"/>
          <p:cNvSpPr/>
          <p:nvPr/>
        </p:nvSpPr>
        <p:spPr>
          <a:xfrm flipH="1">
            <a:off x="4504755" y="2447690"/>
            <a:ext cx="3678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1ee19ddd9a_0_966"/>
          <p:cNvSpPr/>
          <p:nvPr/>
        </p:nvSpPr>
        <p:spPr>
          <a:xfrm>
            <a:off x="3318929" y="2058873"/>
            <a:ext cx="2715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1ee19ddd9a_0_966"/>
          <p:cNvSpPr/>
          <p:nvPr/>
        </p:nvSpPr>
        <p:spPr>
          <a:xfrm>
            <a:off x="3318929" y="1511156"/>
            <a:ext cx="2715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1ee19ddd9a_0_966"/>
          <p:cNvSpPr/>
          <p:nvPr/>
        </p:nvSpPr>
        <p:spPr>
          <a:xfrm rot="5400000">
            <a:off x="4662810" y="1879755"/>
            <a:ext cx="1794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g31ee19ddd9a_0_9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9797" y="1103161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1ee19ddd9a_0_9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9797" y="1713120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1ee19ddd9a_0_96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9797" y="2321241"/>
            <a:ext cx="1939952" cy="798804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1ee19ddd9a_0_966"/>
          <p:cNvSpPr txBox="1"/>
          <p:nvPr/>
        </p:nvSpPr>
        <p:spPr>
          <a:xfrm>
            <a:off x="3084930" y="2795170"/>
            <a:ext cx="2318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7650" lIns="57650" spcFirstLastPara="1" rIns="57650" wrap="square" tIns="5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  <a:r>
              <a:rPr b="0" i="0" lang="en-US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6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 txBox="1"/>
          <p:nvPr/>
        </p:nvSpPr>
        <p:spPr>
          <a:xfrm>
            <a:off x="2468599" y="133775"/>
            <a:ext cx="1011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Fibonacci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0" name="Google Shape;460;p41"/>
          <p:cNvSpPr txBox="1"/>
          <p:nvPr/>
        </p:nvSpPr>
        <p:spPr>
          <a:xfrm>
            <a:off x="1413850" y="517650"/>
            <a:ext cx="13944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marR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1" name="Google Shape;461;p41"/>
          <p:cNvSpPr txBox="1"/>
          <p:nvPr/>
        </p:nvSpPr>
        <p:spPr>
          <a:xfrm>
            <a:off x="2731923" y="561150"/>
            <a:ext cx="1095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   if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if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2218204" y="1110678"/>
            <a:ext cx="20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Fib(n–1) + Fib(n–2)   </a:t>
            </a:r>
            <a:r>
              <a:rPr b="1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 &gt; 1  </a:t>
            </a:r>
            <a:endParaRPr b="1" baseline="30000" i="0" sz="1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2023865" y="561150"/>
            <a:ext cx="76351" cy="734568"/>
          </a:xfrm>
          <a:custGeom>
            <a:rect b="b" l="l" r="r" t="t"/>
            <a:pathLst>
              <a:path extrusionOk="0" h="609600" w="45719">
                <a:moveTo>
                  <a:pt x="45719" y="609600"/>
                </a:moveTo>
                <a:lnTo>
                  <a:pt x="33146" y="609600"/>
                </a:lnTo>
                <a:lnTo>
                  <a:pt x="22859" y="607949"/>
                </a:lnTo>
                <a:lnTo>
                  <a:pt x="22859" y="605789"/>
                </a:lnTo>
                <a:lnTo>
                  <a:pt x="22859" y="308609"/>
                </a:lnTo>
                <a:lnTo>
                  <a:pt x="22859" y="306450"/>
                </a:lnTo>
                <a:lnTo>
                  <a:pt x="12572" y="304800"/>
                </a:lnTo>
                <a:lnTo>
                  <a:pt x="0" y="304800"/>
                </a:lnTo>
                <a:lnTo>
                  <a:pt x="12572" y="304800"/>
                </a:lnTo>
                <a:lnTo>
                  <a:pt x="22859" y="303149"/>
                </a:lnTo>
                <a:lnTo>
                  <a:pt x="22859" y="300989"/>
                </a:lnTo>
                <a:lnTo>
                  <a:pt x="22859" y="3809"/>
                </a:lnTo>
                <a:lnTo>
                  <a:pt x="22859" y="1650"/>
                </a:lnTo>
                <a:lnTo>
                  <a:pt x="33146" y="0"/>
                </a:lnTo>
                <a:lnTo>
                  <a:pt x="45719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1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5" name="Google Shape;465;p41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466" name="Google Shape;46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9738" y="1489525"/>
            <a:ext cx="3085000" cy="17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1ee19ddd9a_0_1488"/>
          <p:cNvSpPr txBox="1"/>
          <p:nvPr/>
        </p:nvSpPr>
        <p:spPr>
          <a:xfrm>
            <a:off x="2532224" y="3800"/>
            <a:ext cx="1011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Fibonacci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2" name="Google Shape;472;g31ee19ddd9a_0_1488"/>
          <p:cNvSpPr txBox="1"/>
          <p:nvPr/>
        </p:nvSpPr>
        <p:spPr>
          <a:xfrm>
            <a:off x="1542225" y="278300"/>
            <a:ext cx="13944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marR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3" name="Google Shape;473;g31ee19ddd9a_0_1488"/>
          <p:cNvSpPr txBox="1"/>
          <p:nvPr/>
        </p:nvSpPr>
        <p:spPr>
          <a:xfrm>
            <a:off x="2860298" y="321800"/>
            <a:ext cx="1095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   if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if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4" name="Google Shape;474;g31ee19ddd9a_0_1488"/>
          <p:cNvSpPr txBox="1"/>
          <p:nvPr/>
        </p:nvSpPr>
        <p:spPr>
          <a:xfrm>
            <a:off x="2346579" y="871328"/>
            <a:ext cx="20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Fib(n–1) + Fib(n–2)   </a:t>
            </a:r>
            <a:r>
              <a:rPr b="1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 &gt; 1  </a:t>
            </a:r>
            <a:endParaRPr b="1" baseline="30000" i="0" sz="1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g31ee19ddd9a_0_1488"/>
          <p:cNvSpPr/>
          <p:nvPr/>
        </p:nvSpPr>
        <p:spPr>
          <a:xfrm>
            <a:off x="2056766" y="304100"/>
            <a:ext cx="107897" cy="734568"/>
          </a:xfrm>
          <a:custGeom>
            <a:rect b="b" l="l" r="r" t="t"/>
            <a:pathLst>
              <a:path extrusionOk="0" h="609600" w="45719">
                <a:moveTo>
                  <a:pt x="45719" y="609600"/>
                </a:moveTo>
                <a:lnTo>
                  <a:pt x="33146" y="609600"/>
                </a:lnTo>
                <a:lnTo>
                  <a:pt x="22859" y="607949"/>
                </a:lnTo>
                <a:lnTo>
                  <a:pt x="22859" y="605789"/>
                </a:lnTo>
                <a:lnTo>
                  <a:pt x="22859" y="308609"/>
                </a:lnTo>
                <a:lnTo>
                  <a:pt x="22859" y="306450"/>
                </a:lnTo>
                <a:lnTo>
                  <a:pt x="12572" y="304800"/>
                </a:lnTo>
                <a:lnTo>
                  <a:pt x="0" y="304800"/>
                </a:lnTo>
                <a:lnTo>
                  <a:pt x="12572" y="304800"/>
                </a:lnTo>
                <a:lnTo>
                  <a:pt x="22859" y="303149"/>
                </a:lnTo>
                <a:lnTo>
                  <a:pt x="22859" y="300989"/>
                </a:lnTo>
                <a:lnTo>
                  <a:pt x="22859" y="3809"/>
                </a:lnTo>
                <a:lnTo>
                  <a:pt x="22859" y="1650"/>
                </a:lnTo>
                <a:lnTo>
                  <a:pt x="33146" y="0"/>
                </a:lnTo>
                <a:lnTo>
                  <a:pt x="45719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1ee19ddd9a_0_1488"/>
          <p:cNvSpPr txBox="1"/>
          <p:nvPr/>
        </p:nvSpPr>
        <p:spPr>
          <a:xfrm>
            <a:off x="562575" y="897200"/>
            <a:ext cx="1095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1ee19ddd9a_0_1488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g31ee19ddd9a_0_1488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479" name="Google Shape;479;g31ee19ddd9a_0_14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00" y="1187000"/>
            <a:ext cx="1781046" cy="20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1ee19ddd9a_0_1488" title="fibo_while_jav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6358" y="1186993"/>
            <a:ext cx="2974180" cy="190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1bec4ec794_0_1"/>
          <p:cNvSpPr txBox="1"/>
          <p:nvPr/>
        </p:nvSpPr>
        <p:spPr>
          <a:xfrm>
            <a:off x="2532224" y="3800"/>
            <a:ext cx="1011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Fibonacci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6" name="Google Shape;486;g31bec4ec794_0_1"/>
          <p:cNvSpPr txBox="1"/>
          <p:nvPr/>
        </p:nvSpPr>
        <p:spPr>
          <a:xfrm>
            <a:off x="1542225" y="278300"/>
            <a:ext cx="1186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575">
            <a:spAutoFit/>
          </a:bodyPr>
          <a:lstStyle/>
          <a:p>
            <a:pPr indent="0" lvl="0" marL="0" marR="540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1"/>
              <a:buFont typeface="Arial"/>
              <a:buNone/>
            </a:pPr>
            <a:r>
              <a:rPr b="0" i="0" lang="en-US" sz="102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endParaRPr b="0" i="0" sz="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803" marR="0" rtl="0" algn="l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rPr b="0" baseline="30000" i="1" lang="en-US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</a:t>
            </a:r>
            <a:r>
              <a:rPr b="0" baseline="30000" i="0" lang="en-US" sz="1531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baseline="30000" i="1" lang="en-US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531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 b="0" i="0" sz="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7" name="Google Shape;487;g31bec4ec794_0_1"/>
          <p:cNvSpPr txBox="1"/>
          <p:nvPr/>
        </p:nvSpPr>
        <p:spPr>
          <a:xfrm>
            <a:off x="2663542" y="315306"/>
            <a:ext cx="9318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725">
            <a:spAutoFit/>
          </a:bodyPr>
          <a:lstStyle/>
          <a:p>
            <a:pPr indent="0" lvl="0" marL="108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1"/>
              <a:buFont typeface="Arial"/>
              <a:buNone/>
            </a:pPr>
            <a:r>
              <a:rPr b="0" i="1" lang="en-US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   if  </a:t>
            </a:r>
            <a:r>
              <a:rPr b="0" i="0" lang="en-US" sz="102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02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803" marR="0" rtl="0" algn="l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rgbClr val="000000"/>
              </a:buClr>
              <a:buSzPts val="1021"/>
              <a:buFont typeface="Arial"/>
              <a:buNone/>
            </a:pPr>
            <a:r>
              <a:rPr b="0" i="1" lang="en-US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if  </a:t>
            </a:r>
            <a:r>
              <a:rPr b="0" i="0" lang="en-US" sz="102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1</a:t>
            </a:r>
            <a:endParaRPr b="0" i="0" sz="102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8" name="Google Shape;488;g31bec4ec794_0_1"/>
          <p:cNvSpPr txBox="1"/>
          <p:nvPr/>
        </p:nvSpPr>
        <p:spPr>
          <a:xfrm>
            <a:off x="2226509" y="782799"/>
            <a:ext cx="17136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">
            <a:spAutoFit/>
          </a:bodyPr>
          <a:lstStyle/>
          <a:p>
            <a:pPr indent="0" lvl="0" marL="108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b="0" i="1" lang="en-US" sz="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Fib(n–1) + Fib(n–2)   </a:t>
            </a:r>
            <a:r>
              <a:rPr b="1" i="1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 &gt; 1  </a:t>
            </a:r>
            <a:endParaRPr b="1" baseline="30000" i="0" sz="1616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9" name="Google Shape;489;g31bec4ec794_0_1"/>
          <p:cNvSpPr/>
          <p:nvPr/>
        </p:nvSpPr>
        <p:spPr>
          <a:xfrm>
            <a:off x="1979958" y="300249"/>
            <a:ext cx="91781" cy="624840"/>
          </a:xfrm>
          <a:custGeom>
            <a:rect b="b" l="l" r="r" t="t"/>
            <a:pathLst>
              <a:path extrusionOk="0" h="609600" w="45719">
                <a:moveTo>
                  <a:pt x="45719" y="609600"/>
                </a:moveTo>
                <a:lnTo>
                  <a:pt x="33146" y="609600"/>
                </a:lnTo>
                <a:lnTo>
                  <a:pt x="22859" y="607949"/>
                </a:lnTo>
                <a:lnTo>
                  <a:pt x="22859" y="605789"/>
                </a:lnTo>
                <a:lnTo>
                  <a:pt x="22859" y="308609"/>
                </a:lnTo>
                <a:lnTo>
                  <a:pt x="22859" y="306450"/>
                </a:lnTo>
                <a:lnTo>
                  <a:pt x="12572" y="304800"/>
                </a:lnTo>
                <a:lnTo>
                  <a:pt x="0" y="304800"/>
                </a:lnTo>
                <a:lnTo>
                  <a:pt x="12572" y="304800"/>
                </a:lnTo>
                <a:lnTo>
                  <a:pt x="22859" y="303149"/>
                </a:lnTo>
                <a:lnTo>
                  <a:pt x="22859" y="300989"/>
                </a:lnTo>
                <a:lnTo>
                  <a:pt x="22859" y="3809"/>
                </a:lnTo>
                <a:lnTo>
                  <a:pt x="22859" y="1650"/>
                </a:lnTo>
                <a:lnTo>
                  <a:pt x="33146" y="0"/>
                </a:lnTo>
                <a:lnTo>
                  <a:pt x="45719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t/>
            </a:r>
            <a:endParaRPr b="0" i="0" sz="15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1bec4ec794_0_1"/>
          <p:cNvSpPr txBox="1"/>
          <p:nvPr/>
        </p:nvSpPr>
        <p:spPr>
          <a:xfrm>
            <a:off x="72775" y="871325"/>
            <a:ext cx="1095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1bec4ec794_0_1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g31bec4ec794_0_1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493" name="Google Shape;493;g31bec4ec794_0_1"/>
          <p:cNvSpPr txBox="1"/>
          <p:nvPr/>
        </p:nvSpPr>
        <p:spPr>
          <a:xfrm>
            <a:off x="3940106" y="889486"/>
            <a:ext cx="919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">
            <a:spAutoFit/>
          </a:bodyPr>
          <a:lstStyle/>
          <a:p>
            <a:pPr indent="0" lvl="0" marL="108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rPr b="1" i="0" lang="en-US" sz="12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2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g31bec4ec794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2600" y="1112924"/>
            <a:ext cx="2843200" cy="11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1bec4ec794_0_1" title="fibo_recur_jav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688" y="2312675"/>
            <a:ext cx="3141111" cy="7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1bec4ec794_0_1" title="fibo_while_java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25" y="1158875"/>
            <a:ext cx="2532225" cy="16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1ee19ddd9a_0_1472"/>
          <p:cNvSpPr txBox="1"/>
          <p:nvPr/>
        </p:nvSpPr>
        <p:spPr>
          <a:xfrm>
            <a:off x="1091674" y="0"/>
            <a:ext cx="1011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Fibonacci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2" name="Google Shape;502;g31ee19ddd9a_0_1472"/>
          <p:cNvSpPr txBox="1"/>
          <p:nvPr/>
        </p:nvSpPr>
        <p:spPr>
          <a:xfrm>
            <a:off x="44900" y="343925"/>
            <a:ext cx="13944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marR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3" name="Google Shape;503;g31ee19ddd9a_0_1472"/>
          <p:cNvSpPr txBox="1"/>
          <p:nvPr/>
        </p:nvSpPr>
        <p:spPr>
          <a:xfrm>
            <a:off x="1362973" y="387425"/>
            <a:ext cx="1095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   if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if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4" name="Google Shape;504;g31ee19ddd9a_0_1472"/>
          <p:cNvSpPr txBox="1"/>
          <p:nvPr/>
        </p:nvSpPr>
        <p:spPr>
          <a:xfrm>
            <a:off x="849254" y="936953"/>
            <a:ext cx="20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Fib(n–1) + Fib(n–2)   </a:t>
            </a:r>
            <a:r>
              <a:rPr b="1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 &gt; 1  </a:t>
            </a:r>
            <a:endParaRPr b="1" baseline="30000" i="0" sz="1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5" name="Google Shape;505;g31ee19ddd9a_0_1472"/>
          <p:cNvSpPr/>
          <p:nvPr/>
        </p:nvSpPr>
        <p:spPr>
          <a:xfrm>
            <a:off x="629350" y="387425"/>
            <a:ext cx="225509" cy="633984"/>
          </a:xfrm>
          <a:custGeom>
            <a:rect b="b" l="l" r="r" t="t"/>
            <a:pathLst>
              <a:path extrusionOk="0" h="609600" w="45719">
                <a:moveTo>
                  <a:pt x="45719" y="609600"/>
                </a:moveTo>
                <a:lnTo>
                  <a:pt x="33146" y="609600"/>
                </a:lnTo>
                <a:lnTo>
                  <a:pt x="22859" y="607949"/>
                </a:lnTo>
                <a:lnTo>
                  <a:pt x="22859" y="605789"/>
                </a:lnTo>
                <a:lnTo>
                  <a:pt x="22859" y="308609"/>
                </a:lnTo>
                <a:lnTo>
                  <a:pt x="22859" y="306450"/>
                </a:lnTo>
                <a:lnTo>
                  <a:pt x="12572" y="304800"/>
                </a:lnTo>
                <a:lnTo>
                  <a:pt x="0" y="304800"/>
                </a:lnTo>
                <a:lnTo>
                  <a:pt x="12572" y="304800"/>
                </a:lnTo>
                <a:lnTo>
                  <a:pt x="22859" y="303149"/>
                </a:lnTo>
                <a:lnTo>
                  <a:pt x="22859" y="300989"/>
                </a:lnTo>
                <a:lnTo>
                  <a:pt x="22859" y="3809"/>
                </a:lnTo>
                <a:lnTo>
                  <a:pt x="22859" y="1650"/>
                </a:lnTo>
                <a:lnTo>
                  <a:pt x="33146" y="0"/>
                </a:lnTo>
                <a:lnTo>
                  <a:pt x="45719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1ee19ddd9a_0_1472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g31ee19ddd9a_0_1472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508" name="Google Shape;508;g31ee19ddd9a_0_1472"/>
          <p:cNvSpPr txBox="1"/>
          <p:nvPr/>
        </p:nvSpPr>
        <p:spPr>
          <a:xfrm>
            <a:off x="2057795" y="2933572"/>
            <a:ext cx="31389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https://</a:t>
            </a:r>
            <a:r>
              <a:rPr b="0" i="0" lang="en-US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www.idc-online.com/technical_references/pdfs/information_technology/Tree_Recursion_in_Python.pdf</a:t>
            </a:r>
            <a:endParaRPr b="0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g31ee19ddd9a_0_14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0" y="1415750"/>
            <a:ext cx="3765013" cy="16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31ee19ddd9a_0_14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65875" y="0"/>
            <a:ext cx="2499925" cy="14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2"/>
          <p:cNvSpPr txBox="1"/>
          <p:nvPr/>
        </p:nvSpPr>
        <p:spPr>
          <a:xfrm>
            <a:off x="257948" y="171450"/>
            <a:ext cx="4355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131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vs recursive solutions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Find the tallest person in a group of N &gt; 0 students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7" name="Google Shape;517;p32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"/>
          <p:cNvSpPr txBox="1"/>
          <p:nvPr>
            <p:ph type="title"/>
          </p:nvPr>
        </p:nvSpPr>
        <p:spPr>
          <a:xfrm>
            <a:off x="1358651" y="138175"/>
            <a:ext cx="3142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Iterative vs recursive solutions</a:t>
            </a:r>
            <a:endParaRPr/>
          </a:p>
        </p:txBody>
      </p:sp>
      <p:sp>
        <p:nvSpPr>
          <p:cNvPr id="523" name="Google Shape;523;p33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4" name="Google Shape;524;p33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525" name="Google Shape;525;p33"/>
          <p:cNvSpPr txBox="1"/>
          <p:nvPr/>
        </p:nvSpPr>
        <p:spPr>
          <a:xfrm>
            <a:off x="257947" y="832875"/>
            <a:ext cx="40101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5415" lvl="0" marL="158115" marR="0" rtl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Find the tallest person in a group of N &gt; 0 students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87630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Iterative??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2475"/>
            <a:ext cx="3187200" cy="12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4"/>
          <p:cNvSpPr txBox="1"/>
          <p:nvPr/>
        </p:nvSpPr>
        <p:spPr>
          <a:xfrm>
            <a:off x="257948" y="171450"/>
            <a:ext cx="44193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131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vs recursive solutions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45415" lvl="0" marL="158115" marR="0" rtl="0" algn="l">
              <a:lnSpc>
                <a:spcPct val="114583"/>
              </a:lnSpc>
              <a:spcBef>
                <a:spcPts val="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Find the tallest person in a group of N &gt; 0 students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87630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4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34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5"/>
          <p:cNvSpPr txBox="1"/>
          <p:nvPr>
            <p:ph type="title"/>
          </p:nvPr>
        </p:nvSpPr>
        <p:spPr>
          <a:xfrm>
            <a:off x="1358650" y="138175"/>
            <a:ext cx="3063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Iterative vs recursive solutions</a:t>
            </a:r>
            <a:endParaRPr/>
          </a:p>
        </p:txBody>
      </p:sp>
      <p:pic>
        <p:nvPicPr>
          <p:cNvPr id="539" name="Google Shape;5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50" y="1675250"/>
            <a:ext cx="2834775" cy="110896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5"/>
          <p:cNvSpPr txBox="1"/>
          <p:nvPr/>
        </p:nvSpPr>
        <p:spPr>
          <a:xfrm>
            <a:off x="257962" y="832866"/>
            <a:ext cx="3256279" cy="46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5415" lvl="0" marL="158115" marR="0" rtl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Find the tallest person in a group of N &gt; 0 students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87630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35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543" name="Google Shape;543;p35"/>
          <p:cNvSpPr txBox="1"/>
          <p:nvPr/>
        </p:nvSpPr>
        <p:spPr>
          <a:xfrm>
            <a:off x="4064974" y="1298950"/>
            <a:ext cx="1303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 ??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6"/>
          <p:cNvSpPr txBox="1"/>
          <p:nvPr>
            <p:ph type="title"/>
          </p:nvPr>
        </p:nvSpPr>
        <p:spPr>
          <a:xfrm>
            <a:off x="1358650" y="138175"/>
            <a:ext cx="3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Iterative vs recursive solutions</a:t>
            </a:r>
            <a:endParaRPr/>
          </a:p>
        </p:txBody>
      </p:sp>
      <p:pic>
        <p:nvPicPr>
          <p:cNvPr id="549" name="Google Shape;5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25" y="1573487"/>
            <a:ext cx="2862500" cy="11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6"/>
          <p:cNvSpPr txBox="1"/>
          <p:nvPr/>
        </p:nvSpPr>
        <p:spPr>
          <a:xfrm>
            <a:off x="257962" y="832866"/>
            <a:ext cx="3256279" cy="46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5415" lvl="0" marL="158115" marR="0" rtl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Find the tallest person in a group of N &gt; 0 students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87630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3834362" y="1214750"/>
            <a:ext cx="1086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7489" y="1573476"/>
            <a:ext cx="2845311" cy="10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6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36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9"/>
          <p:cNvSpPr txBox="1"/>
          <p:nvPr/>
        </p:nvSpPr>
        <p:spPr>
          <a:xfrm>
            <a:off x="125374" y="1412875"/>
            <a:ext cx="53601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Brad Miller and David Ranum, Problem Solving with Algorithms and Data Structures, Release 3, 2013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0" name="Google Shape;560;p49"/>
          <p:cNvSpPr txBox="1"/>
          <p:nvPr/>
        </p:nvSpPr>
        <p:spPr>
          <a:xfrm>
            <a:off x="130860" y="3104757"/>
            <a:ext cx="103505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Object Oriented Programming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1" name="Google Shape;561;p49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2" name="Google Shape;562;p49"/>
          <p:cNvSpPr txBox="1"/>
          <p:nvPr>
            <p:ph type="ctrTitle"/>
          </p:nvPr>
        </p:nvSpPr>
        <p:spPr>
          <a:xfrm>
            <a:off x="2250185" y="157733"/>
            <a:ext cx="1265428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6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2024-12-03T18:09:58Z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2024-12-03T00:00:00Z</vt:filetime>
  </property>
  <property fmtid="{D5CDD505-2E9C-101B-9397-08002B2CF9AE}" pid="5" name="Producer">
    <vt:lpwstr>Microsoft® PowerPoint® for Microsoft 365</vt:lpwstr>
  </property>
</Properties>
</file>