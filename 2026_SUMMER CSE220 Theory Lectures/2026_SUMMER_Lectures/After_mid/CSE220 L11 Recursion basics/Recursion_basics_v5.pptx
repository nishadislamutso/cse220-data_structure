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y="3244850" cx="5765800"/>
  <p:notesSz cx="5765800" cy="3244850"/>
  <p:embeddedFontLst>
    <p:embeddedFont>
      <p:font typeface="Tahoma"/>
      <p:regular r:id="rId86"/>
      <p:bold r:id="rId87"/>
    </p:embeddedFont>
    <p:embeddedFont>
      <p:font typeface="Helvetica Neue"/>
      <p:regular r:id="rId88"/>
      <p:bold r:id="rId89"/>
      <p:italic r:id="rId90"/>
      <p:boldItalic r:id="rId91"/>
    </p:embeddedFont>
    <p:embeddedFont>
      <p:font typeface="Open Sans"/>
      <p:regular r:id="rId92"/>
      <p:bold r:id="rId93"/>
      <p:italic r:id="rId94"/>
      <p:boldItalic r:id="rId9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96" roundtripDataSignature="AMtx7mhyGlXnPSvElqAlD/5Bi+pOMd2a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3B7AC4-73A6-4FC1-832C-958C8051A436}">
  <a:tblStyle styleId="{F53B7AC4-73A6-4FC1-832C-958C8051A43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font" Target="fonts/Tahoma-regular.fntdata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88" Type="http://schemas.openxmlformats.org/officeDocument/2006/relationships/font" Target="fonts/HelveticaNeue-regular.fntdata"/><Relationship Id="rId43" Type="http://schemas.openxmlformats.org/officeDocument/2006/relationships/slide" Target="slides/slide37.xml"/><Relationship Id="rId87" Type="http://schemas.openxmlformats.org/officeDocument/2006/relationships/font" Target="fonts/Tahoma-bold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font" Target="fonts/HelveticaNeue-bold.fntdata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95" Type="http://schemas.openxmlformats.org/officeDocument/2006/relationships/font" Target="fonts/OpenSans-boldItalic.fntdata"/><Relationship Id="rId50" Type="http://schemas.openxmlformats.org/officeDocument/2006/relationships/slide" Target="slides/slide44.xml"/><Relationship Id="rId94" Type="http://schemas.openxmlformats.org/officeDocument/2006/relationships/font" Target="fonts/OpenSans-italic.fntdata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96" Type="http://customschemas.google.com/relationships/presentationmetadata" Target="metadata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1" Type="http://schemas.openxmlformats.org/officeDocument/2006/relationships/font" Target="fonts/HelveticaNeue-boldItalic.fntdata"/><Relationship Id="rId90" Type="http://schemas.openxmlformats.org/officeDocument/2006/relationships/font" Target="fonts/HelveticaNeue-italic.fntdata"/><Relationship Id="rId93" Type="http://schemas.openxmlformats.org/officeDocument/2006/relationships/font" Target="fonts/OpenSans-bold.fntdata"/><Relationship Id="rId92" Type="http://schemas.openxmlformats.org/officeDocument/2006/relationships/font" Target="fonts/OpenSans-regular.fntdata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648fbce04_1_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g3f648fbce04_1_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ee19ddd9a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g31ee19ddd9a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d0f2ff87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75d0f2ff87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5d0f2ff87_0_1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75d0f2ff87_0_1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5d0f2ff87_0_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75d0f2ff87_0_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1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1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1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1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1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2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2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2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p2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2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2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p2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2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p2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p2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p3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9" name="Google Shape;359;p3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p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597dbd1dc_2_8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7" name="Google Shape;377;g3f597dbd1dc_2_8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75d0f2ff87_0_2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g375d0f2ff87_0_2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5972311be_0_5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3f5972311be_0_5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1" name="Google Shape;421;g3f5972311be_0_5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f5972311be_0_33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3f5972311be_0_33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8" name="Google Shape;448;g3f5972311be_0_33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5972311be_0_56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3f5972311be_0_56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9" name="Google Shape;479;g3f5972311be_0_56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f597dbd1dc_0_3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3f597dbd1dc_0_3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0" name="Google Shape;510;g3f597dbd1dc_0_3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f597dbd1dc_0_40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g3f597dbd1dc_0_40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0" name="Google Shape;530;g3f597dbd1dc_0_40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f6507c2e0b_0_6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f6507c2e0b_0_6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5972311be_0_75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f5972311be_0_75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2" name="Google Shape;592;g3f5972311be_0_75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f6507c2e0b_3_32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g3f6507c2e0b_3_32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1" name="Google Shape;621;g3f6507c2e0b_3_32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f6507c2e0b_3_4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g3f6507c2e0b_3_4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5" name="Google Shape;665;g3f6507c2e0b_3_4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f598fb6c96_0_0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g3f598fb6c96_0_0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2" name="Google Shape;692;g3f598fb6c96_0_0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5" name="Google Shape;725;p3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75d0f2ff87_0_5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8" name="Google Shape;738;g375d0f2ff87_0_5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3" name="Google Shape;753;p4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f64c7a33c2_0_1:notes"/>
          <p:cNvSpPr/>
          <p:nvPr>
            <p:ph idx="2" type="sldImg"/>
          </p:nvPr>
        </p:nvSpPr>
        <p:spPr>
          <a:xfrm>
            <a:off x="321828" y="243364"/>
            <a:ext cx="51225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g3f64c7a33c2_0_1:notes"/>
          <p:cNvSpPr txBox="1"/>
          <p:nvPr>
            <p:ph idx="1" type="body"/>
          </p:nvPr>
        </p:nvSpPr>
        <p:spPr>
          <a:xfrm>
            <a:off x="576580" y="1541304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62050" lIns="62050" spcFirstLastPara="1" rIns="62050" wrap="square" tIns="62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f64c7a33c2_0_23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g3f64c7a33c2_0_23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8" name="Google Shape;788;g3f64c7a33c2_0_23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1" name="Google Shape;811;p4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f5972311be_0_119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g3f5972311be_0_119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7" name="Google Shape;827;g3f5972311be_0_119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1bec4ec794_0_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9" name="Google Shape;859;g31bec4ec794_0_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f597dbd1dc_2_15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g3f597dbd1dc_2_15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f6507c2e0b_0_1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g3f6507c2e0b_0_1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f5972311be_0_158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3" name="Google Shape;923;g3f5972311be_0_158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4" name="Google Shape;924;g3f5972311be_0_158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f5972311be_0_183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" name="Google Shape;949;g3f5972311be_0_183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0" name="Google Shape;950;g3f5972311be_0_183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f5972311be_0_222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4" name="Google Shape;984;g3f5972311be_0_222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5" name="Google Shape;985;g3f5972311be_0_222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f9844f4f75_0_39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1" name="Google Shape;1021;g3f9844f4f75_0_39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2" name="Google Shape;1022;g3f9844f4f75_0_39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f5972311be_0_261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6" name="Google Shape;1056;g3f5972311be_0_261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7" name="Google Shape;1057;g3f5972311be_0_261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f6507c2e0b_4_37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3" name="Google Shape;1083;g3f6507c2e0b_4_37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4" name="Google Shape;1084;g3f6507c2e0b_4_37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f5972311be_0_306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1" name="Google Shape;1091;g3f5972311be_0_306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2" name="Google Shape;1092;g3f5972311be_0_306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3f5972311be_0_284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8" name="Google Shape;1118;g3f5972311be_0_284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9" name="Google Shape;1119;g3f5972311be_0_284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f5972311be_0_342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2" name="Google Shape;1142;g3f5972311be_0_342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3" name="Google Shape;1143;g3f5972311be_0_342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f5972311be_0_393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3" name="Google Shape;1163;g3f5972311be_0_393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4" name="Google Shape;1164;g3f5972311be_0_393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3f5972311be_0_417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6" name="Google Shape;1196;g3f5972311be_0_417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7" name="Google Shape;1197;g3f5972311be_0_417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3f598fb6c96_0_46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9" name="Google Shape;1229;g3f598fb6c96_0_46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0" name="Google Shape;1230;g3f598fb6c96_0_46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f5972311be_0_361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5" name="Google Shape;1265;g3f5972311be_0_361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6" name="Google Shape;1266;g3f5972311be_0_361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3f6507c2e0b_4_4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7" name="Google Shape;1307;g3f6507c2e0b_4_4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8" name="Google Shape;1308;g3f6507c2e0b_4_4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3f597dbd1dc_2_44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5" name="Google Shape;1315;g3f597dbd1dc_2_44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3f5972311be_0_444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3" name="Google Shape;1323;g3f5972311be_0_444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4" name="Google Shape;1324;g3f5972311be_0_444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3f5972311be_0_471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3" name="Google Shape;1353;g3f5972311be_0_471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3f597dbd1dc_2_37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8" name="Google Shape;1358;g3f597dbd1dc_2_37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3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6" name="Google Shape;1366;p3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3f5972311be_0_495:notes"/>
          <p:cNvSpPr/>
          <p:nvPr>
            <p:ph idx="2" type="sldImg"/>
          </p:nvPr>
        </p:nvSpPr>
        <p:spPr>
          <a:xfrm>
            <a:off x="577647" y="304213"/>
            <a:ext cx="4610400" cy="82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7" name="Google Shape;1377;g3f5972311be_0_495:notes"/>
          <p:cNvSpPr txBox="1"/>
          <p:nvPr>
            <p:ph idx="1" type="body"/>
          </p:nvPr>
        </p:nvSpPr>
        <p:spPr>
          <a:xfrm>
            <a:off x="576580" y="1171219"/>
            <a:ext cx="46125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675" lIns="59350" spcFirstLastPara="1" rIns="59350" wrap="square" tIns="29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8" name="Google Shape;1378;g3f5972311be_0_495:notes"/>
          <p:cNvSpPr txBox="1"/>
          <p:nvPr>
            <p:ph idx="12" type="sldNum"/>
          </p:nvPr>
        </p:nvSpPr>
        <p:spPr>
          <a:xfrm>
            <a:off x="3265952" y="2311595"/>
            <a:ext cx="2498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b" bIns="29675" lIns="59350" spcFirstLastPara="1" rIns="59350" wrap="square" tIns="296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4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5" name="Google Shape;1395;p4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1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1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1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2"/>
          <p:cNvSpPr txBox="1"/>
          <p:nvPr>
            <p:ph type="title"/>
          </p:nvPr>
        </p:nvSpPr>
        <p:spPr>
          <a:xfrm>
            <a:off x="1358646" y="138175"/>
            <a:ext cx="2746375" cy="318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2"/>
          <p:cNvSpPr txBox="1"/>
          <p:nvPr>
            <p:ph idx="1" type="body"/>
          </p:nvPr>
        </p:nvSpPr>
        <p:spPr>
          <a:xfrm>
            <a:off x="145084" y="662549"/>
            <a:ext cx="2526665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2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2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2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3"/>
          <p:cNvSpPr txBox="1"/>
          <p:nvPr>
            <p:ph type="ctrTitle"/>
          </p:nvPr>
        </p:nvSpPr>
        <p:spPr>
          <a:xfrm>
            <a:off x="2250185" y="157733"/>
            <a:ext cx="1265428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3"/>
          <p:cNvSpPr txBox="1"/>
          <p:nvPr>
            <p:ph idx="1" type="subTitle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3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3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3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AF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g3f5972311be_0_151"/>
          <p:cNvCxnSpPr/>
          <p:nvPr/>
        </p:nvCxnSpPr>
        <p:spPr>
          <a:xfrm>
            <a:off x="237846" y="3097750"/>
            <a:ext cx="5297400" cy="0"/>
          </a:xfrm>
          <a:prstGeom prst="straightConnector1">
            <a:avLst/>
          </a:prstGeom>
          <a:noFill/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g3f5972311be_0_151"/>
          <p:cNvSpPr/>
          <p:nvPr/>
        </p:nvSpPr>
        <p:spPr>
          <a:xfrm>
            <a:off x="237846" y="3115056"/>
            <a:ext cx="1513500" cy="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Recursion in Java</a:t>
            </a:r>
            <a:endParaRPr b="0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3f5972311be_0_151"/>
          <p:cNvSpPr txBox="1"/>
          <p:nvPr>
            <p:ph idx="12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1ee19ddd9a_0_1433"/>
          <p:cNvSpPr txBox="1"/>
          <p:nvPr>
            <p:ph type="title"/>
          </p:nvPr>
        </p:nvSpPr>
        <p:spPr>
          <a:xfrm>
            <a:off x="340500" y="229177"/>
            <a:ext cx="50847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650" lIns="57650" spcFirstLastPara="1" rIns="57650" wrap="square" tIns="576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34" name="Google Shape;34;g31ee19ddd9a_0_1433"/>
          <p:cNvSpPr/>
          <p:nvPr/>
        </p:nvSpPr>
        <p:spPr>
          <a:xfrm>
            <a:off x="3835087" y="-74625"/>
            <a:ext cx="2020587" cy="1041678"/>
          </a:xfrm>
          <a:custGeom>
            <a:rect b="b" l="l" r="r" t="t"/>
            <a:pathLst>
              <a:path extrusionOk="0" h="36451" w="64695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31ee19ddd9a_0_1433"/>
          <p:cNvSpPr/>
          <p:nvPr/>
        </p:nvSpPr>
        <p:spPr>
          <a:xfrm rot="10800000">
            <a:off x="4392193" y="-45855"/>
            <a:ext cx="1526326" cy="652462"/>
          </a:xfrm>
          <a:custGeom>
            <a:rect b="b" l="l" r="r" t="t"/>
            <a:pathLst>
              <a:path extrusionOk="0" h="61524" w="143993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g31ee19ddd9a_0_1433"/>
          <p:cNvSpPr/>
          <p:nvPr/>
        </p:nvSpPr>
        <p:spPr>
          <a:xfrm flipH="1" rot="10484865">
            <a:off x="5044049" y="-259810"/>
            <a:ext cx="1162391" cy="548428"/>
          </a:xfrm>
          <a:custGeom>
            <a:rect b="b" l="l" r="r" t="t"/>
            <a:pathLst>
              <a:path extrusionOk="0" h="23502" w="49839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31ee19ddd9a_0_1433"/>
          <p:cNvSpPr/>
          <p:nvPr/>
        </p:nvSpPr>
        <p:spPr>
          <a:xfrm rot="10800000">
            <a:off x="4553855" y="289037"/>
            <a:ext cx="103200" cy="10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g31ee19ddd9a_0_1433"/>
          <p:cNvSpPr/>
          <p:nvPr/>
        </p:nvSpPr>
        <p:spPr>
          <a:xfrm rot="10800000">
            <a:off x="5156094" y="439679"/>
            <a:ext cx="62100" cy="6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31ee19ddd9a_0_1433"/>
          <p:cNvSpPr/>
          <p:nvPr/>
        </p:nvSpPr>
        <p:spPr>
          <a:xfrm rot="10800000">
            <a:off x="5642110" y="997852"/>
            <a:ext cx="62100" cy="6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4"/>
          <p:cNvSpPr txBox="1"/>
          <p:nvPr>
            <p:ph type="title"/>
          </p:nvPr>
        </p:nvSpPr>
        <p:spPr>
          <a:xfrm>
            <a:off x="1358646" y="138175"/>
            <a:ext cx="2746375" cy="318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4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4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4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4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4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5"/>
          <p:cNvSpPr txBox="1"/>
          <p:nvPr>
            <p:ph type="title"/>
          </p:nvPr>
        </p:nvSpPr>
        <p:spPr>
          <a:xfrm>
            <a:off x="1358646" y="138175"/>
            <a:ext cx="2746375" cy="318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5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5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5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5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5760719" cy="7193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50"/>
          <p:cNvSpPr txBox="1"/>
          <p:nvPr>
            <p:ph type="title"/>
          </p:nvPr>
        </p:nvSpPr>
        <p:spPr>
          <a:xfrm>
            <a:off x="1358646" y="138175"/>
            <a:ext cx="2746375" cy="318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0"/>
          <p:cNvSpPr txBox="1"/>
          <p:nvPr>
            <p:ph idx="1" type="body"/>
          </p:nvPr>
        </p:nvSpPr>
        <p:spPr>
          <a:xfrm>
            <a:off x="145084" y="662549"/>
            <a:ext cx="2526665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0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0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0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slide" Target="/ppt/slides/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slide" Target="/ppt/slides/slide7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slide" Target="/ppt/slides/slide7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slide" Target="/ppt/slides/slide7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slide" Target="/ppt/slides/slide7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7.xml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7.xml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7.xml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slide" Target="/ppt/slides/slide7.xml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7.xml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slide" Target="/ppt/slides/slide7.xml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7.xml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slide" Target="/ppt/slides/slide7.xml"/><Relationship Id="rId4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slide" Target="/ppt/slides/slide7.xml"/><Relationship Id="rId4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slide" Target="/ppt/slides/slide7.xml"/><Relationship Id="rId4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slide" Target="/ppt/slides/slide7.xml"/><Relationship Id="rId4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slide" Target="/ppt/slides/slide7.xml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slide" Target="/ppt/slides/slide7.xml"/><Relationship Id="rId4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slide" Target="/ppt/slides/slide7.xml"/><Relationship Id="rId4" Type="http://schemas.openxmlformats.org/officeDocument/2006/relationships/image" Target="../media/image4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slide" Target="/ppt/slides/slide7.xml"/><Relationship Id="rId4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slide" Target="/ppt/slides/slide7.xml"/><Relationship Id="rId4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slide" Target="/ppt/slides/slide7.xml"/><Relationship Id="rId4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slide" Target="/ppt/slides/slide7.xml"/><Relationship Id="rId4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slide" Target="/ppt/slides/slide7.xml"/><Relationship Id="rId4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slide" Target="/ppt/slides/slide7.xml"/><Relationship Id="rId4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slide" Target="/ppt/slides/slide7.xml"/><Relationship Id="rId4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slide" Target="/ppt/slides/slide7.xml"/><Relationship Id="rId4" Type="http://schemas.openxmlformats.org/officeDocument/2006/relationships/image" Target="../media/image4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slide" Target="/ppt/slides/slide7.xml"/><Relationship Id="rId4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Relationship Id="rId4" Type="http://schemas.openxmlformats.org/officeDocument/2006/relationships/slide" Target="/ppt/slides/slide7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slide" Target="/ppt/slides/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slide" Target="/ppt/slides/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slide" Target="/ppt/slides/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slide" Target="/ppt/slides/slide36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slide" Target="/ppt/slides/slide36.xml"/><Relationship Id="rId4" Type="http://schemas.openxmlformats.org/officeDocument/2006/relationships/image" Target="../media/image36.png"/><Relationship Id="rId5" Type="http://schemas.openxmlformats.org/officeDocument/2006/relationships/image" Target="../media/image5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9.jpg"/><Relationship Id="rId4" Type="http://schemas.openxmlformats.org/officeDocument/2006/relationships/hyperlink" Target="http://www.enjoyalgorithms.com/blog/recursion-explained-how-recursion-works-in-programming" TargetMode="External"/><Relationship Id="rId5" Type="http://schemas.openxmlformats.org/officeDocument/2006/relationships/slide" Target="/ppt/slides/slide36.xml"/><Relationship Id="rId6" Type="http://schemas.openxmlformats.org/officeDocument/2006/relationships/image" Target="../media/image5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2.png"/><Relationship Id="rId4" Type="http://schemas.openxmlformats.org/officeDocument/2006/relationships/image" Target="../media/image28.png"/><Relationship Id="rId11" Type="http://schemas.openxmlformats.org/officeDocument/2006/relationships/image" Target="../media/image38.png"/><Relationship Id="rId10" Type="http://schemas.openxmlformats.org/officeDocument/2006/relationships/image" Target="../media/image34.png"/><Relationship Id="rId9" Type="http://schemas.openxmlformats.org/officeDocument/2006/relationships/image" Target="../media/image33.png"/><Relationship Id="rId5" Type="http://schemas.openxmlformats.org/officeDocument/2006/relationships/image" Target="../media/image37.png"/><Relationship Id="rId6" Type="http://schemas.openxmlformats.org/officeDocument/2006/relationships/image" Target="../media/image30.png"/><Relationship Id="rId7" Type="http://schemas.openxmlformats.org/officeDocument/2006/relationships/image" Target="../media/image52.png"/><Relationship Id="rId8" Type="http://schemas.openxmlformats.org/officeDocument/2006/relationships/image" Target="../media/image3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slide" Target="/ppt/slides/slide36.xml"/><Relationship Id="rId4" Type="http://schemas.openxmlformats.org/officeDocument/2006/relationships/image" Target="../media/image5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slide" Target="/ppt/slides/slide36.xml"/><Relationship Id="rId4" Type="http://schemas.openxmlformats.org/officeDocument/2006/relationships/image" Target="../media/image35.png"/><Relationship Id="rId5" Type="http://schemas.openxmlformats.org/officeDocument/2006/relationships/image" Target="../media/image3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0.png"/><Relationship Id="rId4" Type="http://schemas.openxmlformats.org/officeDocument/2006/relationships/hyperlink" Target="http://www.idc-online.com/technical_references/pdfs/information_technology/Tree_Recursion_in_Python.pdf" TargetMode="Externa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4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49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1.jpg"/><Relationship Id="rId4" Type="http://schemas.openxmlformats.org/officeDocument/2006/relationships/image" Target="../media/image42.png"/><Relationship Id="rId5" Type="http://schemas.openxmlformats.org/officeDocument/2006/relationships/slide" Target="/ppt/slides/slide36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slide" Target="/ppt/slides/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648fbce04_1_9"/>
          <p:cNvSpPr txBox="1"/>
          <p:nvPr/>
        </p:nvSpPr>
        <p:spPr>
          <a:xfrm>
            <a:off x="2066425" y="1372225"/>
            <a:ext cx="2013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Lecture: Recursion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" name="Google Shape;58;g3f648fbce04_1_9"/>
          <p:cNvSpPr txBox="1"/>
          <p:nvPr>
            <p:ph idx="12" type="sldNum"/>
          </p:nvPr>
        </p:nvSpPr>
        <p:spPr>
          <a:xfrm>
            <a:off x="5368163" y="3109223"/>
            <a:ext cx="254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/>
        </p:nvSpPr>
        <p:spPr>
          <a:xfrm>
            <a:off x="2279677" y="157725"/>
            <a:ext cx="1028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Overview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" name="Google Shape;64;p1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sp>
        <p:nvSpPr>
          <p:cNvPr id="65" name="Google Shape;65;p1"/>
          <p:cNvSpPr txBox="1"/>
          <p:nvPr/>
        </p:nvSpPr>
        <p:spPr>
          <a:xfrm>
            <a:off x="173800" y="897550"/>
            <a:ext cx="45495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42875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cap="none" strike="noStrike">
              <a:solidFill>
                <a:srgbClr val="2350D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66675" lvl="0" marL="228600" rtl="0" algn="l">
              <a:spcBef>
                <a:spcPts val="0"/>
              </a:spcBef>
              <a:spcAft>
                <a:spcPts val="0"/>
              </a:spcAft>
              <a:buClr>
                <a:srgbClr val="2350DC"/>
              </a:buClr>
              <a:buSzPts val="1200"/>
              <a:buFont typeface="Tahoma"/>
              <a:buAutoNum type="arabicPeriod"/>
            </a:pPr>
            <a:r>
              <a:rPr lang="en-US" sz="1200">
                <a:solidFill>
                  <a:srgbClr val="2350DC"/>
                </a:solidFill>
                <a:latin typeface="Tahoma"/>
                <a:ea typeface="Tahoma"/>
                <a:cs typeface="Tahoma"/>
                <a:sym typeface="Tahoma"/>
              </a:rPr>
              <a:t>Recursion</a:t>
            </a:r>
            <a:endParaRPr sz="1200">
              <a:solidFill>
                <a:srgbClr val="2350D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66675" lvl="0" marL="228600" rtl="0" algn="l">
              <a:spcBef>
                <a:spcPts val="0"/>
              </a:spcBef>
              <a:spcAft>
                <a:spcPts val="0"/>
              </a:spcAft>
              <a:buClr>
                <a:srgbClr val="2350DC"/>
              </a:buClr>
              <a:buSzPts val="1200"/>
              <a:buFont typeface="Tahoma"/>
              <a:buAutoNum type="arabicPeriod"/>
            </a:pPr>
            <a:r>
              <a:rPr lang="en-US" sz="1200">
                <a:solidFill>
                  <a:srgbClr val="2350DC"/>
                </a:solidFill>
                <a:latin typeface="Tahoma"/>
                <a:ea typeface="Tahoma"/>
                <a:cs typeface="Tahoma"/>
                <a:sym typeface="Tahoma"/>
              </a:rPr>
              <a:t>An algorithmic puzzle using recursion</a:t>
            </a:r>
            <a:endParaRPr sz="1200">
              <a:solidFill>
                <a:srgbClr val="2350D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66675" lvl="0" marL="228600" rtl="0" algn="l">
              <a:spcBef>
                <a:spcPts val="0"/>
              </a:spcBef>
              <a:spcAft>
                <a:spcPts val="0"/>
              </a:spcAft>
              <a:buClr>
                <a:srgbClr val="2350DC"/>
              </a:buClr>
              <a:buSzPts val="1200"/>
              <a:buFont typeface="Tahoma"/>
              <a:buAutoNum type="arabicPeriod"/>
            </a:pPr>
            <a:r>
              <a:rPr lang="en-US" sz="1200">
                <a:solidFill>
                  <a:srgbClr val="2350DC"/>
                </a:solidFill>
                <a:latin typeface="Tahoma"/>
                <a:ea typeface="Tahoma"/>
                <a:cs typeface="Tahoma"/>
                <a:sym typeface="Tahoma"/>
              </a:rPr>
              <a:t>Examples of basic recursion</a:t>
            </a:r>
            <a:endParaRPr sz="1200">
              <a:solidFill>
                <a:srgbClr val="2350D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66675" lvl="0" marL="228600" rtl="0" algn="l">
              <a:spcBef>
                <a:spcPts val="0"/>
              </a:spcBef>
              <a:spcAft>
                <a:spcPts val="0"/>
              </a:spcAft>
              <a:buClr>
                <a:srgbClr val="2350DC"/>
              </a:buClr>
              <a:buSzPts val="1200"/>
              <a:buFont typeface="Tahoma"/>
              <a:buAutoNum type="arabicPeriod"/>
            </a:pPr>
            <a:r>
              <a:rPr lang="en-US" sz="1200">
                <a:solidFill>
                  <a:srgbClr val="2350DC"/>
                </a:solidFill>
                <a:latin typeface="Tahoma"/>
                <a:ea typeface="Tahoma"/>
                <a:cs typeface="Tahoma"/>
                <a:sym typeface="Tahoma"/>
              </a:rPr>
              <a:t>Examples of array recursion</a:t>
            </a:r>
            <a:endParaRPr sz="1200">
              <a:solidFill>
                <a:srgbClr val="2350DC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66675" lvl="0" marL="228600" rtl="0" algn="l">
              <a:spcBef>
                <a:spcPts val="0"/>
              </a:spcBef>
              <a:spcAft>
                <a:spcPts val="0"/>
              </a:spcAft>
              <a:buClr>
                <a:srgbClr val="2350DC"/>
              </a:buClr>
              <a:buSzPts val="1200"/>
              <a:buFont typeface="Tahoma"/>
              <a:buAutoNum type="arabicPeriod"/>
            </a:pPr>
            <a:r>
              <a:rPr lang="en-US" sz="1200">
                <a:solidFill>
                  <a:srgbClr val="2350DC"/>
                </a:solidFill>
                <a:latin typeface="Tahoma"/>
                <a:ea typeface="Tahoma"/>
                <a:cs typeface="Tahoma"/>
                <a:sym typeface="Tahoma"/>
              </a:rPr>
              <a:t>Examples of Linked lists recursion</a:t>
            </a:r>
            <a:endParaRPr sz="1200">
              <a:solidFill>
                <a:srgbClr val="2350D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ee19ddd9a_0_0"/>
          <p:cNvSpPr txBox="1"/>
          <p:nvPr>
            <p:ph type="title"/>
          </p:nvPr>
        </p:nvSpPr>
        <p:spPr>
          <a:xfrm>
            <a:off x="1358646" y="138175"/>
            <a:ext cx="2746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50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is Recursion</a:t>
            </a:r>
            <a:endParaRPr/>
          </a:p>
        </p:txBody>
      </p:sp>
      <p:sp>
        <p:nvSpPr>
          <p:cNvPr id="71" name="Google Shape;71;g31ee19ddd9a_0_0"/>
          <p:cNvSpPr txBox="1"/>
          <p:nvPr/>
        </p:nvSpPr>
        <p:spPr>
          <a:xfrm>
            <a:off x="130860" y="3109223"/>
            <a:ext cx="3453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" name="Google Shape;72;g31ee19ddd9a_0_0"/>
          <p:cNvSpPr txBox="1"/>
          <p:nvPr>
            <p:ph idx="12" type="sldNum"/>
          </p:nvPr>
        </p:nvSpPr>
        <p:spPr>
          <a:xfrm>
            <a:off x="5368163" y="3109223"/>
            <a:ext cx="254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g31ee19ddd9a_0_0"/>
          <p:cNvSpPr txBox="1"/>
          <p:nvPr/>
        </p:nvSpPr>
        <p:spPr>
          <a:xfrm>
            <a:off x="155075" y="488625"/>
            <a:ext cx="5213100" cy="24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-144780" lvl="0" marL="157480" marR="18034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Sometimes, the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best way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solve a problem is by solving a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smaller version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of the exact same problem first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157480" marR="114935" rtl="0" algn="l">
              <a:lnSpc>
                <a:spcPct val="116666"/>
              </a:lnSpc>
              <a:spcBef>
                <a:spcPts val="28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Recursion is a technique that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solves a problem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by solving a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smaller problem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of the </a:t>
            </a:r>
            <a:r>
              <a:rPr b="1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same type</a:t>
            </a:r>
            <a:endParaRPr b="1" i="0" sz="12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158115" marR="0" rtl="0" algn="l">
              <a:lnSpc>
                <a:spcPct val="117916"/>
              </a:lnSpc>
              <a:spcBef>
                <a:spcPts val="229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 mathematics and computer science, recursion is a method of defining functions in which the function being defined is applied within its own definition</a:t>
            </a:r>
            <a:endParaRPr b="0" i="0" sz="1000" u="sng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67309" lvl="1" marL="432433" marR="11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43509" lvl="0" marL="432433" marR="11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Recursion is much </a:t>
            </a:r>
            <a:r>
              <a:rPr b="1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more readable</a:t>
            </a:r>
            <a:r>
              <a:rPr b="0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, but consumes </a:t>
            </a:r>
            <a:r>
              <a:rPr b="1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more memory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(uses recursive call stack)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3509" lvl="0" marL="432433" marR="11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is </a:t>
            </a:r>
            <a:r>
              <a:rPr b="1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not readable</a:t>
            </a:r>
            <a:r>
              <a:rPr b="0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, but </a:t>
            </a:r>
            <a:r>
              <a:rPr b="1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does not </a:t>
            </a:r>
            <a:r>
              <a:rPr b="0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consume </a:t>
            </a:r>
            <a:r>
              <a:rPr b="1" i="0" lang="en-US" sz="1200" u="none" cap="none" strike="noStrike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</a:rPr>
              <a:t>more memory </a:t>
            </a: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(Does not use any stack)</a:t>
            </a:r>
            <a:endParaRPr b="0" i="0" sz="16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5d0f2ff87_0_0"/>
          <p:cNvSpPr txBox="1"/>
          <p:nvPr>
            <p:ph type="title"/>
          </p:nvPr>
        </p:nvSpPr>
        <p:spPr>
          <a:xfrm>
            <a:off x="1574225" y="168800"/>
            <a:ext cx="421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Cake Eating Problem</a:t>
            </a:r>
            <a:endParaRPr/>
          </a:p>
        </p:txBody>
      </p:sp>
      <p:sp>
        <p:nvSpPr>
          <p:cNvPr id="79" name="Google Shape;79;g375d0f2ff87_0_0"/>
          <p:cNvSpPr txBox="1"/>
          <p:nvPr>
            <p:ph idx="1" type="body"/>
          </p:nvPr>
        </p:nvSpPr>
        <p:spPr>
          <a:xfrm>
            <a:off x="202825" y="656425"/>
            <a:ext cx="5351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US" sz="1100">
                <a:latin typeface="Tahoma"/>
                <a:ea typeface="Tahoma"/>
                <a:cs typeface="Tahoma"/>
                <a:sym typeface="Tahoma"/>
              </a:rPr>
              <a:t>The cake is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too huge to fit in your mouth</a:t>
            </a:r>
            <a:r>
              <a:rPr b="0" lang="en-US" sz="1100">
                <a:latin typeface="Tahoma"/>
                <a:ea typeface="Tahoma"/>
                <a:cs typeface="Tahoma"/>
                <a:sym typeface="Tahoma"/>
              </a:rPr>
              <a:t> — you can’t eat it all at once.</a:t>
            </a:r>
            <a:endParaRPr/>
          </a:p>
        </p:txBody>
      </p:sp>
      <p:pic>
        <p:nvPicPr>
          <p:cNvPr id="80" name="Google Shape;80;g375d0f2ff87_0_0" title="Screenshot 2025-08-06 231743.png"/>
          <p:cNvPicPr preferRelativeResize="0"/>
          <p:nvPr/>
        </p:nvPicPr>
        <p:blipFill rotWithShape="1">
          <a:blip r:embed="rId3">
            <a:alphaModFix/>
          </a:blip>
          <a:srcRect b="5696" l="6994" r="3327" t="13832"/>
          <a:stretch/>
        </p:blipFill>
        <p:spPr>
          <a:xfrm>
            <a:off x="423225" y="1104400"/>
            <a:ext cx="2228551" cy="199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g375d0f2ff87_0_0" title="Screenshot 2025-08-06 23331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8475" y="1051650"/>
            <a:ext cx="2113514" cy="199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5d0f2ff87_0_18"/>
          <p:cNvSpPr txBox="1"/>
          <p:nvPr>
            <p:ph type="title"/>
          </p:nvPr>
        </p:nvSpPr>
        <p:spPr>
          <a:xfrm>
            <a:off x="1574225" y="168800"/>
            <a:ext cx="421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Cake Eating Problem</a:t>
            </a:r>
            <a:endParaRPr/>
          </a:p>
        </p:txBody>
      </p:sp>
      <p:sp>
        <p:nvSpPr>
          <p:cNvPr id="87" name="Google Shape;87;g375d0f2ff87_0_18"/>
          <p:cNvSpPr txBox="1"/>
          <p:nvPr>
            <p:ph idx="1" type="body"/>
          </p:nvPr>
        </p:nvSpPr>
        <p:spPr>
          <a:xfrm>
            <a:off x="2596675" y="656425"/>
            <a:ext cx="2957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US" sz="1100">
                <a:latin typeface="Tahoma"/>
                <a:ea typeface="Tahoma"/>
                <a:cs typeface="Tahoma"/>
                <a:sym typeface="Tahoma"/>
              </a:rPr>
              <a:t>The cake is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too huge to fit in your mouth</a:t>
            </a:r>
            <a:r>
              <a:rPr b="0" lang="en-US" sz="1100">
                <a:latin typeface="Tahoma"/>
                <a:ea typeface="Tahoma"/>
                <a:cs typeface="Tahoma"/>
                <a:sym typeface="Tahoma"/>
              </a:rPr>
              <a:t> — you can’t eat it all at once.</a:t>
            </a:r>
            <a:endParaRPr b="0"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100"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lang="en-US" sz="1100">
                <a:latin typeface="Tahoma"/>
                <a:ea typeface="Tahoma"/>
                <a:cs typeface="Tahoma"/>
                <a:sym typeface="Tahoma"/>
              </a:rPr>
              <a:t>To finish it, you must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cut it into smaller, manageable pieces</a:t>
            </a:r>
            <a:r>
              <a:rPr b="0" lang="en-US" sz="1100">
                <a:latin typeface="Tahoma"/>
                <a:ea typeface="Tahoma"/>
                <a:cs typeface="Tahoma"/>
                <a:sym typeface="Tahoma"/>
              </a:rPr>
              <a:t> first</a:t>
            </a:r>
            <a:endParaRPr b="0" sz="1100"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Tahoma"/>
              <a:buChar char="○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— same structure, same taste.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88" name="Google Shape;88;g375d0f2ff87_0_18" title="Screenshot 2025-08-06 231743.png"/>
          <p:cNvPicPr preferRelativeResize="0"/>
          <p:nvPr/>
        </p:nvPicPr>
        <p:blipFill rotWithShape="1">
          <a:blip r:embed="rId3">
            <a:alphaModFix/>
          </a:blip>
          <a:srcRect b="5696" l="6994" r="3327" t="13832"/>
          <a:stretch/>
        </p:blipFill>
        <p:spPr>
          <a:xfrm>
            <a:off x="159975" y="606125"/>
            <a:ext cx="2265275" cy="203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5d0f2ff87_0_8"/>
          <p:cNvSpPr txBox="1"/>
          <p:nvPr>
            <p:ph type="title"/>
          </p:nvPr>
        </p:nvSpPr>
        <p:spPr>
          <a:xfrm>
            <a:off x="1445675" y="168800"/>
            <a:ext cx="421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Cake Eating Problem</a:t>
            </a:r>
            <a:endParaRPr/>
          </a:p>
        </p:txBody>
      </p:sp>
      <p:sp>
        <p:nvSpPr>
          <p:cNvPr id="94" name="Google Shape;94;g375d0f2ff87_0_8"/>
          <p:cNvSpPr txBox="1"/>
          <p:nvPr>
            <p:ph idx="1" type="body"/>
          </p:nvPr>
        </p:nvSpPr>
        <p:spPr>
          <a:xfrm>
            <a:off x="2198725" y="606125"/>
            <a:ext cx="3465300" cy="22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US" sz="1000"/>
              <a:t>Problem:</a:t>
            </a:r>
            <a:r>
              <a:rPr b="0" lang="en-US" sz="1000"/>
              <a:t> The cake is too large to eat in one go.</a:t>
            </a:r>
            <a:endParaRPr b="0"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US" sz="1000"/>
              <a:t>Recursive Approach: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0" lang="en-US" sz="1000"/>
              <a:t>Slice the cake into a smaller piece → repeat on the smaller piece. (</a:t>
            </a:r>
            <a:r>
              <a:rPr lang="en-US" sz="1000"/>
              <a:t>Recursive Step/Case</a:t>
            </a:r>
            <a:r>
              <a:rPr b="0" lang="en-US" sz="1000"/>
              <a:t>)</a:t>
            </a:r>
            <a:br>
              <a:rPr b="0" lang="en-US" sz="1000"/>
            </a:br>
            <a:endParaRPr b="0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0" lang="en-US" sz="1000"/>
              <a:t>When the slice is </a:t>
            </a:r>
            <a:r>
              <a:rPr lang="en-US" sz="1000"/>
              <a:t>bite-sized</a:t>
            </a:r>
            <a:r>
              <a:rPr b="0" lang="en-US" sz="1000"/>
              <a:t>, </a:t>
            </a:r>
            <a:br>
              <a:rPr b="0" lang="en-US" sz="1000"/>
            </a:br>
            <a:r>
              <a:rPr b="0" lang="en-US" sz="1000"/>
              <a:t>just </a:t>
            </a:r>
            <a:r>
              <a:rPr lang="en-US" sz="1000"/>
              <a:t>eat it</a:t>
            </a:r>
            <a:r>
              <a:rPr b="0" lang="en-US" sz="1000"/>
              <a:t> — no more slicing needed. (</a:t>
            </a:r>
            <a:r>
              <a:rPr lang="en-US" sz="1000"/>
              <a:t>Base Case</a:t>
            </a:r>
            <a:r>
              <a:rPr b="0" lang="en-US" sz="1000"/>
              <a:t>)</a:t>
            </a:r>
            <a:br>
              <a:rPr b="0" lang="en-US" sz="1000"/>
            </a:br>
            <a:endParaRPr b="0"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n-US" sz="1000"/>
              <a:t>Insight: </a:t>
            </a:r>
            <a:r>
              <a:rPr b="0" lang="en-US" sz="1000"/>
              <a:t>Each slice is a </a:t>
            </a:r>
            <a:r>
              <a:rPr lang="en-US" sz="1000"/>
              <a:t>smaller version of the same cake</a:t>
            </a:r>
            <a:r>
              <a:rPr b="0" lang="en-US" sz="1000"/>
              <a:t> —</a:t>
            </a:r>
            <a:r>
              <a:rPr lang="en-US" sz="1000"/>
              <a:t>same structure, same taste</a:t>
            </a:r>
            <a:r>
              <a:rPr b="0" lang="en-US" sz="1000"/>
              <a:t> — perfect for recursion.</a:t>
            </a:r>
            <a:endParaRPr b="0" sz="1000"/>
          </a:p>
        </p:txBody>
      </p:sp>
      <p:pic>
        <p:nvPicPr>
          <p:cNvPr id="95" name="Google Shape;95;g375d0f2ff87_0_8" title="Screenshot 2025-08-06 231743.png"/>
          <p:cNvPicPr preferRelativeResize="0"/>
          <p:nvPr/>
        </p:nvPicPr>
        <p:blipFill rotWithShape="1">
          <a:blip r:embed="rId3">
            <a:alphaModFix/>
          </a:blip>
          <a:srcRect b="5696" l="6994" r="3327" t="13832"/>
          <a:stretch/>
        </p:blipFill>
        <p:spPr>
          <a:xfrm>
            <a:off x="68125" y="606125"/>
            <a:ext cx="1960100" cy="175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ctrTitle"/>
          </p:nvPr>
        </p:nvSpPr>
        <p:spPr>
          <a:xfrm>
            <a:off x="2010623" y="216000"/>
            <a:ext cx="2402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170484" y="1402460"/>
            <a:ext cx="2460625" cy="56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5080" rtl="0" algn="just">
              <a:lnSpc>
                <a:spcPct val="97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Tromino cover: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right tromino is an L-shaped tile formed by three adjacent squares.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3285" y="933299"/>
            <a:ext cx="859100" cy="85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3172788" y="2764892"/>
            <a:ext cx="20637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130860" y="3109223"/>
            <a:ext cx="74485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3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pic>
        <p:nvPicPr>
          <p:cNvPr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4412710" y="933299"/>
            <a:ext cx="859100" cy="85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253285" y="1907024"/>
            <a:ext cx="859100" cy="85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4332785" y="1907024"/>
            <a:ext cx="859100" cy="85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235" y="2054974"/>
            <a:ext cx="859100" cy="85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2250173" y="157725"/>
            <a:ext cx="1572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145074" y="1126625"/>
            <a:ext cx="2790000" cy="13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Puzzle: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You are given a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with one missing square.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15595" marR="30480" rtl="0" algn="l">
              <a:lnSpc>
                <a:spcPct val="116666"/>
              </a:lnSpc>
              <a:spcBef>
                <a:spcPts val="33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you must cover all squares except the missing one exactly using right number of trominoes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7320" lvl="0" marL="31623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 trominoes </a:t>
            </a:r>
            <a:r>
              <a:rPr b="0" i="0" lang="en-US" sz="12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must not overlap</a:t>
            </a:r>
            <a:endParaRPr b="0" i="0" sz="12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8059" y="970787"/>
            <a:ext cx="1354836" cy="135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/>
          <p:nvPr/>
        </p:nvSpPr>
        <p:spPr>
          <a:xfrm>
            <a:off x="3170300" y="2404100"/>
            <a:ext cx="2197800" cy="1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130860" y="3109223"/>
            <a:ext cx="74612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4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/>
        </p:nvSpPr>
        <p:spPr>
          <a:xfrm>
            <a:off x="2250173" y="157725"/>
            <a:ext cx="1539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Tromino cover</a:t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145701" y="1370650"/>
            <a:ext cx="27174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683" lvl="0" marL="314960" marR="30480" rtl="0" algn="l">
              <a:lnSpc>
                <a:spcPct val="116666"/>
              </a:lnSpc>
              <a:spcBef>
                <a:spcPts val="34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3488" y="967739"/>
            <a:ext cx="1359408" cy="135940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 txBox="1"/>
          <p:nvPr/>
        </p:nvSpPr>
        <p:spPr>
          <a:xfrm>
            <a:off x="3170300" y="2404100"/>
            <a:ext cx="2293500" cy="1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130860" y="3109223"/>
            <a:ext cx="74612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5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2250173" y="157725"/>
            <a:ext cx="1524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145084" y="662549"/>
            <a:ext cx="2526600" cy="2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Steps:</a:t>
            </a:r>
            <a:endParaRPr/>
          </a:p>
          <a:p>
            <a:pPr indent="-145415" lvl="0" marL="145415" marR="273685" rtl="0" algn="r">
              <a:lnSpc>
                <a:spcPct val="118750"/>
              </a:lnSpc>
              <a:spcBef>
                <a:spcPts val="26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lang="en-US"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lang="en-US" sz="1200"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lang="en-US" sz="1200">
                <a:latin typeface="Tahoma"/>
                <a:ea typeface="Tahoma"/>
                <a:cs typeface="Tahoma"/>
                <a:sym typeface="Tahoma"/>
              </a:rPr>
              <a:t>board into 4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314960" rtl="0" algn="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>
                <a:latin typeface="Tahoma"/>
                <a:ea typeface="Tahoma"/>
                <a:cs typeface="Tahoma"/>
                <a:sym typeface="Tahoma"/>
              </a:rPr>
              <a:t>disjoint 2</a:t>
            </a:r>
            <a:r>
              <a:rPr b="0" baseline="30000" i="1" lang="en-US" sz="12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lang="en-US" sz="1200"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lang="en-US" sz="1200"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lang="en-US" sz="1200"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lang="en-US" sz="1200"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lang="en-US" sz="1200"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lang="en-US" sz="1200">
                <a:latin typeface="Tahoma"/>
                <a:ea typeface="Tahoma"/>
                <a:cs typeface="Tahoma"/>
                <a:sym typeface="Tahoma"/>
              </a:rPr>
              <a:t>subboards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-146050" lvl="0" marL="314960" marR="30480" rtl="0" algn="l">
              <a:lnSpc>
                <a:spcPct val="98100"/>
              </a:lnSpc>
              <a:spcBef>
                <a:spcPts val="24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lang="en-US"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lang="en-US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/>
          </a:p>
        </p:txBody>
      </p:sp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8059" y="987551"/>
            <a:ext cx="1356360" cy="1356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 txBox="1"/>
          <p:nvPr/>
        </p:nvSpPr>
        <p:spPr>
          <a:xfrm>
            <a:off x="3170300" y="2404975"/>
            <a:ext cx="21978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130860" y="3109223"/>
            <a:ext cx="74612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2250173" y="140600"/>
            <a:ext cx="1524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146300" y="413200"/>
            <a:ext cx="3024000" cy="25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1369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1369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13055" marR="319405" rtl="0" algn="l">
              <a:lnSpc>
                <a:spcPct val="97200"/>
              </a:lnSpc>
              <a:spcBef>
                <a:spcPts val="28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8059" y="1024127"/>
            <a:ext cx="1356360" cy="1356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3170300" y="2441850"/>
            <a:ext cx="21714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130860" y="3109223"/>
            <a:ext cx="74612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7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title"/>
          </p:nvPr>
        </p:nvSpPr>
        <p:spPr>
          <a:xfrm>
            <a:off x="2250173" y="140600"/>
            <a:ext cx="1484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105448" y="413200"/>
            <a:ext cx="2973600" cy="27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6" name="Google Shape;15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1108" y="1024127"/>
            <a:ext cx="1351788" cy="135178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 txBox="1"/>
          <p:nvPr/>
        </p:nvSpPr>
        <p:spPr>
          <a:xfrm>
            <a:off x="3170300" y="2443375"/>
            <a:ext cx="21264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5392928" y="3100222"/>
            <a:ext cx="18415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type="title"/>
          </p:nvPr>
        </p:nvSpPr>
        <p:spPr>
          <a:xfrm>
            <a:off x="2250173" y="140600"/>
            <a:ext cx="1580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105450" y="413200"/>
            <a:ext cx="3064800" cy="27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5" name="Google Shape;16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059" y="1019555"/>
            <a:ext cx="1362456" cy="136245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 txBox="1"/>
          <p:nvPr/>
        </p:nvSpPr>
        <p:spPr>
          <a:xfrm>
            <a:off x="3170300" y="2443375"/>
            <a:ext cx="21624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5392928" y="3100222"/>
            <a:ext cx="18415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>
            <p:ph type="title"/>
          </p:nvPr>
        </p:nvSpPr>
        <p:spPr>
          <a:xfrm>
            <a:off x="2250172" y="140600"/>
            <a:ext cx="1683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73" name="Google Shape;173;p10"/>
          <p:cNvSpPr txBox="1"/>
          <p:nvPr/>
        </p:nvSpPr>
        <p:spPr>
          <a:xfrm>
            <a:off x="105449" y="413200"/>
            <a:ext cx="28695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4" name="Google Shape;17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059" y="1024127"/>
            <a:ext cx="1354836" cy="135483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 txBox="1"/>
          <p:nvPr/>
        </p:nvSpPr>
        <p:spPr>
          <a:xfrm>
            <a:off x="3170300" y="2440625"/>
            <a:ext cx="21669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>
            <p:ph type="title"/>
          </p:nvPr>
        </p:nvSpPr>
        <p:spPr>
          <a:xfrm>
            <a:off x="2250173" y="140600"/>
            <a:ext cx="1508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82" name="Google Shape;182;p11"/>
          <p:cNvSpPr txBox="1"/>
          <p:nvPr/>
        </p:nvSpPr>
        <p:spPr>
          <a:xfrm>
            <a:off x="105449" y="413200"/>
            <a:ext cx="28056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3" name="Google Shape;18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3488" y="1016507"/>
            <a:ext cx="1367027" cy="136702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1"/>
          <p:cNvSpPr txBox="1"/>
          <p:nvPr/>
        </p:nvSpPr>
        <p:spPr>
          <a:xfrm>
            <a:off x="3170300" y="2445825"/>
            <a:ext cx="22347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type="title"/>
          </p:nvPr>
        </p:nvSpPr>
        <p:spPr>
          <a:xfrm>
            <a:off x="2250174" y="140600"/>
            <a:ext cx="1436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191" name="Google Shape;191;p12"/>
          <p:cNvSpPr txBox="1"/>
          <p:nvPr/>
        </p:nvSpPr>
        <p:spPr>
          <a:xfrm>
            <a:off x="105449" y="413200"/>
            <a:ext cx="2941500" cy="27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2" name="Google Shape;19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3488" y="1019555"/>
            <a:ext cx="1360932" cy="136245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2"/>
          <p:cNvSpPr txBox="1"/>
          <p:nvPr/>
        </p:nvSpPr>
        <p:spPr>
          <a:xfrm>
            <a:off x="3170300" y="2443375"/>
            <a:ext cx="22026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 txBox="1"/>
          <p:nvPr>
            <p:ph type="title"/>
          </p:nvPr>
        </p:nvSpPr>
        <p:spPr>
          <a:xfrm>
            <a:off x="2250173" y="140600"/>
            <a:ext cx="1508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00" name="Google Shape;200;p13"/>
          <p:cNvSpPr txBox="1"/>
          <p:nvPr/>
        </p:nvSpPr>
        <p:spPr>
          <a:xfrm>
            <a:off x="105449" y="413200"/>
            <a:ext cx="28614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1" name="Google Shape;20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6535" y="1022603"/>
            <a:ext cx="1357884" cy="135940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3"/>
          <p:cNvSpPr txBox="1"/>
          <p:nvPr/>
        </p:nvSpPr>
        <p:spPr>
          <a:xfrm>
            <a:off x="3170300" y="2443375"/>
            <a:ext cx="21534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 txBox="1"/>
          <p:nvPr>
            <p:ph type="title"/>
          </p:nvPr>
        </p:nvSpPr>
        <p:spPr>
          <a:xfrm>
            <a:off x="2250173" y="140600"/>
            <a:ext cx="150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09" name="Google Shape;209;p14"/>
          <p:cNvSpPr txBox="1"/>
          <p:nvPr/>
        </p:nvSpPr>
        <p:spPr>
          <a:xfrm>
            <a:off x="105449" y="413200"/>
            <a:ext cx="28137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0" name="Google Shape;2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3488" y="1021079"/>
            <a:ext cx="1359408" cy="135940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4"/>
          <p:cNvSpPr txBox="1"/>
          <p:nvPr/>
        </p:nvSpPr>
        <p:spPr>
          <a:xfrm>
            <a:off x="3170300" y="2441850"/>
            <a:ext cx="21624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14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 txBox="1"/>
          <p:nvPr>
            <p:ph type="title"/>
          </p:nvPr>
        </p:nvSpPr>
        <p:spPr>
          <a:xfrm>
            <a:off x="2250173" y="140600"/>
            <a:ext cx="1508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18" name="Google Shape;218;p15"/>
          <p:cNvSpPr txBox="1"/>
          <p:nvPr/>
        </p:nvSpPr>
        <p:spPr>
          <a:xfrm>
            <a:off x="145399" y="415100"/>
            <a:ext cx="27735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9" name="Google Shape;2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3488" y="1022603"/>
            <a:ext cx="1360932" cy="136093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5"/>
          <p:cNvSpPr txBox="1"/>
          <p:nvPr/>
        </p:nvSpPr>
        <p:spPr>
          <a:xfrm>
            <a:off x="3170300" y="2443375"/>
            <a:ext cx="22026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p15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"/>
          <p:cNvSpPr txBox="1"/>
          <p:nvPr>
            <p:ph type="title"/>
          </p:nvPr>
        </p:nvSpPr>
        <p:spPr>
          <a:xfrm>
            <a:off x="2250174" y="140600"/>
            <a:ext cx="1444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27" name="Google Shape;227;p16"/>
          <p:cNvSpPr txBox="1"/>
          <p:nvPr/>
        </p:nvSpPr>
        <p:spPr>
          <a:xfrm>
            <a:off x="105449" y="413200"/>
            <a:ext cx="27816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8" name="Google Shape;2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3488" y="1021079"/>
            <a:ext cx="1360932" cy="136093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6"/>
          <p:cNvSpPr txBox="1"/>
          <p:nvPr/>
        </p:nvSpPr>
        <p:spPr>
          <a:xfrm>
            <a:off x="3170300" y="2441850"/>
            <a:ext cx="21534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 txBox="1"/>
          <p:nvPr>
            <p:ph type="title"/>
          </p:nvPr>
        </p:nvSpPr>
        <p:spPr>
          <a:xfrm>
            <a:off x="2250173" y="140600"/>
            <a:ext cx="1524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105448" y="413200"/>
            <a:ext cx="3005400" cy="27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7" name="Google Shape;2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059" y="1024127"/>
            <a:ext cx="1354836" cy="135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7"/>
          <p:cNvSpPr txBox="1"/>
          <p:nvPr/>
        </p:nvSpPr>
        <p:spPr>
          <a:xfrm>
            <a:off x="3170300" y="2444900"/>
            <a:ext cx="21444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 txBox="1"/>
          <p:nvPr>
            <p:ph type="title"/>
          </p:nvPr>
        </p:nvSpPr>
        <p:spPr>
          <a:xfrm>
            <a:off x="2250173" y="140600"/>
            <a:ext cx="150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105449" y="413200"/>
            <a:ext cx="28695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6" name="Google Shape;2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6535" y="1024127"/>
            <a:ext cx="1356360" cy="135636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8"/>
          <p:cNvSpPr txBox="1"/>
          <p:nvPr/>
        </p:nvSpPr>
        <p:spPr>
          <a:xfrm>
            <a:off x="3170300" y="2444900"/>
            <a:ext cx="22026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"/>
          <p:cNvSpPr txBox="1"/>
          <p:nvPr>
            <p:ph type="title"/>
          </p:nvPr>
        </p:nvSpPr>
        <p:spPr>
          <a:xfrm>
            <a:off x="2250174" y="140600"/>
            <a:ext cx="1444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105449" y="413200"/>
            <a:ext cx="28056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5" name="Google Shape;2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3488" y="1018031"/>
            <a:ext cx="1363980" cy="136398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 txBox="1"/>
          <p:nvPr/>
        </p:nvSpPr>
        <p:spPr>
          <a:xfrm>
            <a:off x="3170300" y="2447650"/>
            <a:ext cx="21669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"/>
          <p:cNvSpPr txBox="1"/>
          <p:nvPr>
            <p:ph type="title"/>
          </p:nvPr>
        </p:nvSpPr>
        <p:spPr>
          <a:xfrm>
            <a:off x="2250173" y="140600"/>
            <a:ext cx="1476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105449" y="413200"/>
            <a:ext cx="28854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4" name="Google Shape;26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6535" y="1021079"/>
            <a:ext cx="1357884" cy="135940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0"/>
          <p:cNvSpPr txBox="1"/>
          <p:nvPr/>
        </p:nvSpPr>
        <p:spPr>
          <a:xfrm>
            <a:off x="3170300" y="2441850"/>
            <a:ext cx="21669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"/>
          <p:cNvSpPr txBox="1"/>
          <p:nvPr>
            <p:ph type="title"/>
          </p:nvPr>
        </p:nvSpPr>
        <p:spPr>
          <a:xfrm>
            <a:off x="2250173" y="140600"/>
            <a:ext cx="1508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105449" y="413200"/>
            <a:ext cx="28695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3" name="Google Shape;27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6535" y="1024127"/>
            <a:ext cx="1357884" cy="135788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 txBox="1"/>
          <p:nvPr/>
        </p:nvSpPr>
        <p:spPr>
          <a:xfrm>
            <a:off x="3170300" y="2441850"/>
            <a:ext cx="22026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21/44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 txBox="1"/>
          <p:nvPr>
            <p:ph type="title"/>
          </p:nvPr>
        </p:nvSpPr>
        <p:spPr>
          <a:xfrm>
            <a:off x="2250173" y="140600"/>
            <a:ext cx="1492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105449" y="413200"/>
            <a:ext cx="29094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2" name="Google Shape;28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059" y="1024127"/>
            <a:ext cx="1354836" cy="135483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2"/>
          <p:cNvSpPr txBox="1"/>
          <p:nvPr/>
        </p:nvSpPr>
        <p:spPr>
          <a:xfrm>
            <a:off x="3170300" y="2443375"/>
            <a:ext cx="21579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22/44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"/>
          <p:cNvSpPr txBox="1"/>
          <p:nvPr>
            <p:ph type="title"/>
          </p:nvPr>
        </p:nvSpPr>
        <p:spPr>
          <a:xfrm>
            <a:off x="2250173" y="140600"/>
            <a:ext cx="1468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105448" y="413200"/>
            <a:ext cx="3064800" cy="27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1" name="Google Shape;29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6535" y="1022603"/>
            <a:ext cx="1356360" cy="135635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3"/>
          <p:cNvSpPr txBox="1"/>
          <p:nvPr/>
        </p:nvSpPr>
        <p:spPr>
          <a:xfrm>
            <a:off x="3170300" y="2445825"/>
            <a:ext cx="21759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3" name="Google Shape;293;p23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23/44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"/>
          <p:cNvSpPr txBox="1"/>
          <p:nvPr>
            <p:ph type="title"/>
          </p:nvPr>
        </p:nvSpPr>
        <p:spPr>
          <a:xfrm>
            <a:off x="2250173" y="140600"/>
            <a:ext cx="150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105449" y="413200"/>
            <a:ext cx="28455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0" name="Google Shape;30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059" y="1025651"/>
            <a:ext cx="1356360" cy="135636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4"/>
          <p:cNvSpPr txBox="1"/>
          <p:nvPr/>
        </p:nvSpPr>
        <p:spPr>
          <a:xfrm>
            <a:off x="3170300" y="2443375"/>
            <a:ext cx="22392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2" name="Google Shape;302;p24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 txBox="1"/>
          <p:nvPr>
            <p:ph type="title"/>
          </p:nvPr>
        </p:nvSpPr>
        <p:spPr>
          <a:xfrm>
            <a:off x="2250173" y="140600"/>
            <a:ext cx="1476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105449" y="413200"/>
            <a:ext cx="29175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9" name="Google Shape;30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059" y="1024127"/>
            <a:ext cx="1354836" cy="1354836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/>
        </p:nvSpPr>
        <p:spPr>
          <a:xfrm>
            <a:off x="3170300" y="2440625"/>
            <a:ext cx="22026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1" name="Google Shape;311;p25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25/44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6"/>
          <p:cNvSpPr txBox="1"/>
          <p:nvPr>
            <p:ph type="title"/>
          </p:nvPr>
        </p:nvSpPr>
        <p:spPr>
          <a:xfrm>
            <a:off x="2250174" y="140600"/>
            <a:ext cx="1444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317" name="Google Shape;317;p26"/>
          <p:cNvSpPr txBox="1"/>
          <p:nvPr/>
        </p:nvSpPr>
        <p:spPr>
          <a:xfrm>
            <a:off x="105449" y="413200"/>
            <a:ext cx="29256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18" name="Google Shape;31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059" y="1025651"/>
            <a:ext cx="1354836" cy="135483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6"/>
          <p:cNvSpPr txBox="1"/>
          <p:nvPr/>
        </p:nvSpPr>
        <p:spPr>
          <a:xfrm>
            <a:off x="3170300" y="2441850"/>
            <a:ext cx="22026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0" name="Google Shape;320;p26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 txBox="1"/>
          <p:nvPr>
            <p:ph type="title"/>
          </p:nvPr>
        </p:nvSpPr>
        <p:spPr>
          <a:xfrm>
            <a:off x="2250173" y="140600"/>
            <a:ext cx="1468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326" name="Google Shape;326;p27"/>
          <p:cNvSpPr txBox="1"/>
          <p:nvPr/>
        </p:nvSpPr>
        <p:spPr>
          <a:xfrm>
            <a:off x="105448" y="413200"/>
            <a:ext cx="2997300" cy="27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7" name="Google Shape;32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3488" y="1022603"/>
            <a:ext cx="1359408" cy="1359408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7"/>
          <p:cNvSpPr txBox="1"/>
          <p:nvPr/>
        </p:nvSpPr>
        <p:spPr>
          <a:xfrm>
            <a:off x="3170300" y="2443375"/>
            <a:ext cx="21534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9" name="Google Shape;329;p27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"/>
          <p:cNvSpPr txBox="1"/>
          <p:nvPr>
            <p:ph type="title"/>
          </p:nvPr>
        </p:nvSpPr>
        <p:spPr>
          <a:xfrm>
            <a:off x="2250173" y="140600"/>
            <a:ext cx="1548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335" name="Google Shape;335;p28"/>
          <p:cNvSpPr txBox="1"/>
          <p:nvPr/>
        </p:nvSpPr>
        <p:spPr>
          <a:xfrm>
            <a:off x="105449" y="413200"/>
            <a:ext cx="28614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6" name="Google Shape;33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6535" y="1024127"/>
            <a:ext cx="1357884" cy="135788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8"/>
          <p:cNvSpPr txBox="1"/>
          <p:nvPr/>
        </p:nvSpPr>
        <p:spPr>
          <a:xfrm>
            <a:off x="3170300" y="2444900"/>
            <a:ext cx="21669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8" name="Google Shape;338;p28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28/44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/>
          <p:nvPr>
            <p:ph type="title"/>
          </p:nvPr>
        </p:nvSpPr>
        <p:spPr>
          <a:xfrm>
            <a:off x="2250172" y="140600"/>
            <a:ext cx="1716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344" name="Google Shape;344;p29"/>
          <p:cNvSpPr txBox="1"/>
          <p:nvPr/>
        </p:nvSpPr>
        <p:spPr>
          <a:xfrm>
            <a:off x="105449" y="413200"/>
            <a:ext cx="28377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45" name="Google Shape;34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6535" y="1021079"/>
            <a:ext cx="1357884" cy="135940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9"/>
          <p:cNvSpPr txBox="1"/>
          <p:nvPr/>
        </p:nvSpPr>
        <p:spPr>
          <a:xfrm>
            <a:off x="3170300" y="2444900"/>
            <a:ext cx="21624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7" name="Google Shape;347;p29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29/44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 txBox="1"/>
          <p:nvPr>
            <p:ph type="title"/>
          </p:nvPr>
        </p:nvSpPr>
        <p:spPr>
          <a:xfrm>
            <a:off x="2250172" y="140600"/>
            <a:ext cx="1644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353" name="Google Shape;353;p30"/>
          <p:cNvSpPr txBox="1"/>
          <p:nvPr/>
        </p:nvSpPr>
        <p:spPr>
          <a:xfrm>
            <a:off x="105449" y="413200"/>
            <a:ext cx="2909400" cy="2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78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5433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5433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54965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4" name="Google Shape;35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3488" y="1016507"/>
            <a:ext cx="1367027" cy="1367028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0"/>
          <p:cNvSpPr txBox="1"/>
          <p:nvPr/>
        </p:nvSpPr>
        <p:spPr>
          <a:xfrm>
            <a:off x="3170300" y="2449175"/>
            <a:ext cx="21759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6" name="Google Shape;356;p30"/>
          <p:cNvSpPr txBox="1"/>
          <p:nvPr/>
        </p:nvSpPr>
        <p:spPr>
          <a:xfrm>
            <a:off x="5372861" y="3100222"/>
            <a:ext cx="22352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30/44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"/>
          <p:cNvSpPr txBox="1"/>
          <p:nvPr>
            <p:ph type="title"/>
          </p:nvPr>
        </p:nvSpPr>
        <p:spPr>
          <a:xfrm>
            <a:off x="2250173" y="140600"/>
            <a:ext cx="1516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Tromino cover</a:t>
            </a:r>
            <a:endParaRPr/>
          </a:p>
        </p:txBody>
      </p:sp>
      <p:sp>
        <p:nvSpPr>
          <p:cNvPr id="362" name="Google Shape;362;p31"/>
          <p:cNvSpPr txBox="1"/>
          <p:nvPr/>
        </p:nvSpPr>
        <p:spPr>
          <a:xfrm>
            <a:off x="146299" y="413200"/>
            <a:ext cx="3024000" cy="25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3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780" lvl="0" marL="313690" marR="274320" rtl="0" algn="l">
              <a:lnSpc>
                <a:spcPct val="116666"/>
              </a:lnSpc>
              <a:spcBef>
                <a:spcPts val="350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Divide the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board into 4 disjoint 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baseline="3000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−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subboards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4780" lvl="0" marL="313690" marR="30480" rtl="0" algn="l">
              <a:lnSpc>
                <a:spcPct val="97300"/>
              </a:lnSpc>
              <a:spcBef>
                <a:spcPts val="27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Place a tromino at the center so that it fully covers one square from each of the three ( 3 ) subboards with no missing square, and misses the fourth subboard completely.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This reduces the original problem into 4 smaller instances of the same problem!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45415" lvl="0" marL="313690" marR="319405" rtl="0" algn="l">
              <a:lnSpc>
                <a:spcPct val="98900"/>
              </a:lnSpc>
              <a:spcBef>
                <a:spcPts val="215"/>
              </a:spcBef>
              <a:spcAft>
                <a:spcPts val="0"/>
              </a:spcAft>
              <a:buClr>
                <a:srgbClr val="334669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Solve each smaller subproblem recursively using the same technique.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63" name="Google Shape;36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8059" y="1024127"/>
            <a:ext cx="1354836" cy="1353312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1"/>
          <p:cNvSpPr txBox="1"/>
          <p:nvPr/>
        </p:nvSpPr>
        <p:spPr>
          <a:xfrm>
            <a:off x="3170300" y="2441850"/>
            <a:ext cx="22026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4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Figure: </a:t>
            </a:r>
            <a:r>
              <a:rPr b="0" i="0" lang="en-US" sz="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Rezaul A. Chowdhury, CSE 373, 2014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5" name="Google Shape;365;p31"/>
          <p:cNvSpPr txBox="1"/>
          <p:nvPr/>
        </p:nvSpPr>
        <p:spPr>
          <a:xfrm>
            <a:off x="5372861" y="3106175"/>
            <a:ext cx="22352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3A46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31/44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6" name="Google Shape;366;p31"/>
          <p:cNvSpPr txBox="1"/>
          <p:nvPr/>
        </p:nvSpPr>
        <p:spPr>
          <a:xfrm>
            <a:off x="130860" y="3114709"/>
            <a:ext cx="74612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algorithmic puzzle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"/>
          <p:cNvSpPr txBox="1"/>
          <p:nvPr>
            <p:ph type="title"/>
          </p:nvPr>
        </p:nvSpPr>
        <p:spPr>
          <a:xfrm>
            <a:off x="1358646" y="138175"/>
            <a:ext cx="2746375" cy="318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50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is Recursion</a:t>
            </a:r>
            <a:endParaRPr/>
          </a:p>
        </p:txBody>
      </p:sp>
      <p:sp>
        <p:nvSpPr>
          <p:cNvPr id="372" name="Google Shape;372;p2"/>
          <p:cNvSpPr txBox="1"/>
          <p:nvPr/>
        </p:nvSpPr>
        <p:spPr>
          <a:xfrm>
            <a:off x="156997" y="2997475"/>
            <a:ext cx="4455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3" name="Google Shape;373;p2"/>
          <p:cNvSpPr txBox="1"/>
          <p:nvPr>
            <p:ph idx="12" type="sldNum"/>
          </p:nvPr>
        </p:nvSpPr>
        <p:spPr>
          <a:xfrm>
            <a:off x="5368163" y="3109223"/>
            <a:ext cx="2547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4" name="Google Shape;374;p2"/>
          <p:cNvSpPr txBox="1"/>
          <p:nvPr/>
        </p:nvSpPr>
        <p:spPr>
          <a:xfrm>
            <a:off x="254500" y="610975"/>
            <a:ext cx="5158200" cy="20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Every recursive definition has 2 parts:</a:t>
            </a:r>
            <a:br>
              <a:rPr b="0" i="0" lang="en-US" sz="13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0" i="0" sz="13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Char char="•"/>
            </a:pPr>
            <a:r>
              <a:rPr b="1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BASE CASE(S):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so simple that they </a:t>
            </a:r>
            <a:r>
              <a:rPr b="1" i="0" lang="en-US" sz="1100" u="sng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can be solved directly</a:t>
            </a:r>
            <a:br>
              <a:rPr b="1" i="0" lang="en-US" sz="1100" u="sng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1" i="0" sz="1100" u="sng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0" marL="457200" marR="11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</a:t>
            </a:r>
            <a:r>
              <a:rPr b="1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ECURSIVE CASE(S)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 make use of recursion to solve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smaller subproblems</a:t>
            </a:r>
            <a:r>
              <a:rPr b="0" i="0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and </a:t>
            </a:r>
            <a:r>
              <a:rPr b="0" i="0" lang="en-US" sz="1100" u="sng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combine into a solution to the larger problem</a:t>
            </a:r>
            <a:endParaRPr b="0" i="0" sz="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11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38CD5"/>
                </a:solidFill>
                <a:latin typeface="Trebuchet MS"/>
                <a:ea typeface="Trebuchet MS"/>
                <a:cs typeface="Trebuchet MS"/>
                <a:sym typeface="Trebuchet MS"/>
              </a:rPr>
              <a:t>____________________________________________________________________________|</a:t>
            </a:r>
            <a:br>
              <a:rPr lang="en-US" sz="1000">
                <a:solidFill>
                  <a:srgbClr val="538CD5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000">
              <a:solidFill>
                <a:srgbClr val="538CD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4568"/>
                </a:solidFill>
                <a:latin typeface="Trebuchet MS"/>
                <a:ea typeface="Trebuchet MS"/>
                <a:cs typeface="Trebuchet MS"/>
                <a:sym typeface="Trebuchet MS"/>
              </a:rPr>
              <a:t>Base Case: </a:t>
            </a:r>
            <a:r>
              <a:rPr b="0" i="0" lang="en-US" sz="1100" u="sng" cap="none" strike="noStrike">
                <a:solidFill>
                  <a:srgbClr val="1A4568"/>
                </a:solidFill>
                <a:latin typeface="Trebuchet MS"/>
                <a:ea typeface="Trebuchet MS"/>
                <a:cs typeface="Trebuchet MS"/>
                <a:sym typeface="Trebuchet MS"/>
              </a:rPr>
              <a:t>One or more conditions</a:t>
            </a:r>
            <a:r>
              <a:rPr b="0" i="0" lang="en-US" sz="1100" u="none" cap="none" strike="noStrike">
                <a:solidFill>
                  <a:srgbClr val="1A4568"/>
                </a:solidFill>
                <a:latin typeface="Trebuchet MS"/>
                <a:ea typeface="Trebuchet MS"/>
                <a:cs typeface="Trebuchet MS"/>
                <a:sym typeface="Trebuchet MS"/>
              </a:rPr>
              <a:t> based on which </a:t>
            </a:r>
            <a:br>
              <a:rPr b="0" i="0" lang="en-US" sz="1100" u="none" cap="none" strike="noStrike">
                <a:solidFill>
                  <a:srgbClr val="1A4568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1100" u="none" cap="none" strike="noStrike">
                <a:solidFill>
                  <a:srgbClr val="1A4568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the </a:t>
            </a:r>
            <a:r>
              <a:rPr b="1" i="0" lang="en-US" sz="1100" u="none" cap="none" strike="noStrike">
                <a:solidFill>
                  <a:srgbClr val="1A4568"/>
                </a:solidFill>
                <a:latin typeface="Trebuchet MS"/>
                <a:ea typeface="Trebuchet MS"/>
                <a:cs typeface="Trebuchet MS"/>
                <a:sym typeface="Trebuchet MS"/>
              </a:rPr>
              <a:t>function will stop the recursive call. (Stopping condition)</a:t>
            </a:r>
            <a:endParaRPr b="1" i="0" sz="1100" u="none" cap="none" strike="noStrike">
              <a:solidFill>
                <a:srgbClr val="1A456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1A456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4568"/>
                </a:solidFill>
                <a:latin typeface="Trebuchet MS"/>
                <a:ea typeface="Trebuchet MS"/>
                <a:cs typeface="Trebuchet MS"/>
                <a:sym typeface="Trebuchet MS"/>
              </a:rPr>
              <a:t>Recursive Case: </a:t>
            </a:r>
            <a:r>
              <a:rPr b="0" i="0" lang="en-US" sz="1100" u="none" cap="none" strike="noStrike">
                <a:solidFill>
                  <a:srgbClr val="1A4568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100" u="sng" cap="none" strike="noStrike">
                <a:solidFill>
                  <a:srgbClr val="1A4568"/>
                </a:solidFill>
                <a:latin typeface="Trebuchet MS"/>
                <a:ea typeface="Trebuchet MS"/>
                <a:cs typeface="Trebuchet MS"/>
                <a:sym typeface="Trebuchet MS"/>
              </a:rPr>
              <a:t>function calling itself</a:t>
            </a:r>
            <a:r>
              <a:rPr b="0" i="0" lang="en-US" sz="1100" u="none" cap="none" strike="noStrike">
                <a:solidFill>
                  <a:srgbClr val="1A4568"/>
                </a:solidFill>
                <a:latin typeface="Trebuchet MS"/>
                <a:ea typeface="Trebuchet MS"/>
                <a:cs typeface="Trebuchet MS"/>
                <a:sym typeface="Trebuchet MS"/>
              </a:rPr>
              <a:t> within its </a:t>
            </a:r>
            <a:r>
              <a:rPr b="1" i="0" lang="en-US" sz="1100" u="none" cap="none" strike="noStrike">
                <a:solidFill>
                  <a:srgbClr val="1A4568"/>
                </a:solidFill>
                <a:latin typeface="Trebuchet MS"/>
                <a:ea typeface="Trebuchet MS"/>
                <a:cs typeface="Trebuchet MS"/>
                <a:sym typeface="Trebuchet MS"/>
              </a:rPr>
              <a:t>definition</a:t>
            </a:r>
            <a:r>
              <a:rPr b="0" i="0" lang="en-US" sz="1100" u="none" cap="none" strike="noStrike">
                <a:solidFill>
                  <a:srgbClr val="1A4568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100" u="none" cap="none" strike="noStrike">
              <a:solidFill>
                <a:srgbClr val="1A456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597dbd1dc_2_80"/>
          <p:cNvSpPr txBox="1"/>
          <p:nvPr>
            <p:ph type="title"/>
          </p:nvPr>
        </p:nvSpPr>
        <p:spPr>
          <a:xfrm>
            <a:off x="975100" y="74875"/>
            <a:ext cx="37170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50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Recursion Has Two Phases</a:t>
            </a:r>
            <a:endParaRPr/>
          </a:p>
          <a:p>
            <a:pPr indent="0" lvl="0" marL="850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g3f597dbd1dc_2_80"/>
          <p:cNvSpPr txBox="1"/>
          <p:nvPr/>
        </p:nvSpPr>
        <p:spPr>
          <a:xfrm>
            <a:off x="156997" y="2997475"/>
            <a:ext cx="4455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1" name="Google Shape;381;g3f597dbd1dc_2_80"/>
          <p:cNvSpPr txBox="1"/>
          <p:nvPr>
            <p:ph idx="12" type="sldNum"/>
          </p:nvPr>
        </p:nvSpPr>
        <p:spPr>
          <a:xfrm>
            <a:off x="5368163" y="3109223"/>
            <a:ext cx="254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2" name="Google Shape;382;g3f597dbd1dc_2_80"/>
          <p:cNvSpPr txBox="1"/>
          <p:nvPr/>
        </p:nvSpPr>
        <p:spPr>
          <a:xfrm>
            <a:off x="255643" y="480167"/>
            <a:ext cx="5303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 u="none" cap="none" strike="noStrike">
                <a:solidFill>
                  <a:srgbClr val="787878"/>
                </a:solidFill>
                <a:latin typeface="Trebuchet MS"/>
                <a:ea typeface="Trebuchet MS"/>
                <a:cs typeface="Trebuchet MS"/>
                <a:sym typeface="Trebuchet MS"/>
              </a:rPr>
              <a:t>A recursive method first creates calls, then returns values/control.</a:t>
            </a:r>
            <a:endParaRPr sz="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3" name="Google Shape;383;g3f597dbd1dc_2_80"/>
          <p:cNvSpPr txBox="1"/>
          <p:nvPr/>
        </p:nvSpPr>
        <p:spPr>
          <a:xfrm>
            <a:off x="350315" y="772467"/>
            <a:ext cx="11886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36575" spcFirstLastPara="1" rIns="3657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350DC"/>
                </a:solidFill>
                <a:latin typeface="Arial"/>
                <a:ea typeface="Arial"/>
                <a:cs typeface="Arial"/>
                <a:sym typeface="Arial"/>
              </a:rPr>
              <a:t>1. Call phase</a:t>
            </a:r>
            <a:endParaRPr/>
          </a:p>
        </p:txBody>
      </p:sp>
      <p:sp>
        <p:nvSpPr>
          <p:cNvPr id="384" name="Google Shape;384;g3f597dbd1dc_2_80"/>
          <p:cNvSpPr/>
          <p:nvPr/>
        </p:nvSpPr>
        <p:spPr>
          <a:xfrm>
            <a:off x="533195" y="1074220"/>
            <a:ext cx="960000" cy="219600"/>
          </a:xfrm>
          <a:prstGeom prst="roundRect">
            <a:avLst>
              <a:gd fmla="val 16667" name="adj"/>
            </a:avLst>
          </a:prstGeom>
          <a:solidFill>
            <a:srgbClr val="E0ECFF"/>
          </a:solidFill>
          <a:ln cap="flat" cmpd="sng" w="12700">
            <a:solidFill>
              <a:srgbClr val="2350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43682"/>
                </a:solidFill>
                <a:latin typeface="Consolas"/>
                <a:ea typeface="Consolas"/>
                <a:cs typeface="Consolas"/>
                <a:sym typeface="Consolas"/>
              </a:rPr>
              <a:t>method(4)</a:t>
            </a:r>
            <a:endParaRPr/>
          </a:p>
        </p:txBody>
      </p:sp>
      <p:cxnSp>
        <p:nvCxnSpPr>
          <p:cNvPr id="385" name="Google Shape;385;g3f597dbd1dc_2_80"/>
          <p:cNvCxnSpPr/>
          <p:nvPr/>
        </p:nvCxnSpPr>
        <p:spPr>
          <a:xfrm>
            <a:off x="1054403" y="1293676"/>
            <a:ext cx="0" cy="82200"/>
          </a:xfrm>
          <a:prstGeom prst="straightConnector1">
            <a:avLst/>
          </a:prstGeom>
          <a:noFill/>
          <a:ln cap="flat" cmpd="sng" w="13950">
            <a:solidFill>
              <a:srgbClr val="2350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86" name="Google Shape;386;g3f597dbd1dc_2_80"/>
          <p:cNvSpPr/>
          <p:nvPr/>
        </p:nvSpPr>
        <p:spPr>
          <a:xfrm>
            <a:off x="533195" y="1375972"/>
            <a:ext cx="960000" cy="219600"/>
          </a:xfrm>
          <a:prstGeom prst="roundRect">
            <a:avLst>
              <a:gd fmla="val 16667" name="adj"/>
            </a:avLst>
          </a:prstGeom>
          <a:solidFill>
            <a:srgbClr val="E0ECFF"/>
          </a:solidFill>
          <a:ln cap="flat" cmpd="sng" w="12700">
            <a:solidFill>
              <a:srgbClr val="2350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43682"/>
                </a:solidFill>
                <a:latin typeface="Consolas"/>
                <a:ea typeface="Consolas"/>
                <a:cs typeface="Consolas"/>
                <a:sym typeface="Consolas"/>
              </a:rPr>
              <a:t>method(3)</a:t>
            </a:r>
            <a:endParaRPr/>
          </a:p>
        </p:txBody>
      </p:sp>
      <p:cxnSp>
        <p:nvCxnSpPr>
          <p:cNvPr id="387" name="Google Shape;387;g3f597dbd1dc_2_80"/>
          <p:cNvCxnSpPr/>
          <p:nvPr/>
        </p:nvCxnSpPr>
        <p:spPr>
          <a:xfrm>
            <a:off x="1054403" y="1595427"/>
            <a:ext cx="0" cy="82200"/>
          </a:xfrm>
          <a:prstGeom prst="straightConnector1">
            <a:avLst/>
          </a:prstGeom>
          <a:noFill/>
          <a:ln cap="flat" cmpd="sng" w="13950">
            <a:solidFill>
              <a:srgbClr val="2350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88" name="Google Shape;388;g3f597dbd1dc_2_80"/>
          <p:cNvSpPr/>
          <p:nvPr/>
        </p:nvSpPr>
        <p:spPr>
          <a:xfrm>
            <a:off x="533195" y="1677724"/>
            <a:ext cx="960000" cy="219600"/>
          </a:xfrm>
          <a:prstGeom prst="roundRect">
            <a:avLst>
              <a:gd fmla="val 16667" name="adj"/>
            </a:avLst>
          </a:prstGeom>
          <a:solidFill>
            <a:srgbClr val="E0ECFF"/>
          </a:solidFill>
          <a:ln cap="flat" cmpd="sng" w="12700">
            <a:solidFill>
              <a:srgbClr val="2350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43682"/>
                </a:solidFill>
                <a:latin typeface="Consolas"/>
                <a:ea typeface="Consolas"/>
                <a:cs typeface="Consolas"/>
                <a:sym typeface="Consolas"/>
              </a:rPr>
              <a:t>method(2)</a:t>
            </a:r>
            <a:endParaRPr/>
          </a:p>
        </p:txBody>
      </p:sp>
      <p:cxnSp>
        <p:nvCxnSpPr>
          <p:cNvPr id="389" name="Google Shape;389;g3f597dbd1dc_2_80"/>
          <p:cNvCxnSpPr/>
          <p:nvPr/>
        </p:nvCxnSpPr>
        <p:spPr>
          <a:xfrm>
            <a:off x="1054403" y="1897180"/>
            <a:ext cx="0" cy="82200"/>
          </a:xfrm>
          <a:prstGeom prst="straightConnector1">
            <a:avLst/>
          </a:prstGeom>
          <a:noFill/>
          <a:ln cap="flat" cmpd="sng" w="13950">
            <a:solidFill>
              <a:srgbClr val="2350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90" name="Google Shape;390;g3f597dbd1dc_2_80"/>
          <p:cNvSpPr/>
          <p:nvPr/>
        </p:nvSpPr>
        <p:spPr>
          <a:xfrm>
            <a:off x="533195" y="1979476"/>
            <a:ext cx="960000" cy="219600"/>
          </a:xfrm>
          <a:prstGeom prst="roundRect">
            <a:avLst>
              <a:gd fmla="val 16667" name="adj"/>
            </a:avLst>
          </a:prstGeom>
          <a:solidFill>
            <a:srgbClr val="E0ECFF"/>
          </a:solidFill>
          <a:ln cap="flat" cmpd="sng" w="12700">
            <a:solidFill>
              <a:srgbClr val="2350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43682"/>
                </a:solidFill>
                <a:latin typeface="Consolas"/>
                <a:ea typeface="Consolas"/>
                <a:cs typeface="Consolas"/>
                <a:sym typeface="Consolas"/>
              </a:rPr>
              <a:t>method(1)</a:t>
            </a:r>
            <a:endParaRPr/>
          </a:p>
        </p:txBody>
      </p:sp>
      <p:cxnSp>
        <p:nvCxnSpPr>
          <p:cNvPr id="391" name="Google Shape;391;g3f597dbd1dc_2_80"/>
          <p:cNvCxnSpPr/>
          <p:nvPr/>
        </p:nvCxnSpPr>
        <p:spPr>
          <a:xfrm>
            <a:off x="1054403" y="2198931"/>
            <a:ext cx="0" cy="82200"/>
          </a:xfrm>
          <a:prstGeom prst="straightConnector1">
            <a:avLst/>
          </a:prstGeom>
          <a:noFill/>
          <a:ln cap="flat" cmpd="sng" w="13950">
            <a:solidFill>
              <a:srgbClr val="2350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92" name="Google Shape;392;g3f597dbd1dc_2_80"/>
          <p:cNvSpPr/>
          <p:nvPr/>
        </p:nvSpPr>
        <p:spPr>
          <a:xfrm>
            <a:off x="533195" y="2281228"/>
            <a:ext cx="960000" cy="219600"/>
          </a:xfrm>
          <a:prstGeom prst="roundRect">
            <a:avLst>
              <a:gd fmla="val 16667" name="adj"/>
            </a:avLst>
          </a:prstGeom>
          <a:solidFill>
            <a:srgbClr val="FFF5CC"/>
          </a:solidFill>
          <a:ln cap="flat" cmpd="sng" w="12700">
            <a:solidFill>
              <a:srgbClr val="2350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43682"/>
                </a:solidFill>
                <a:latin typeface="Consolas"/>
                <a:ea typeface="Consolas"/>
                <a:cs typeface="Consolas"/>
                <a:sym typeface="Consolas"/>
              </a:rPr>
              <a:t>method(0) stops</a:t>
            </a:r>
            <a:endParaRPr/>
          </a:p>
        </p:txBody>
      </p:sp>
      <p:sp>
        <p:nvSpPr>
          <p:cNvPr id="393" name="Google Shape;393;g3f597dbd1dc_2_80"/>
          <p:cNvSpPr txBox="1"/>
          <p:nvPr/>
        </p:nvSpPr>
        <p:spPr>
          <a:xfrm>
            <a:off x="414324" y="2636326"/>
            <a:ext cx="1280100" cy="1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36575" spcFirstLastPara="1" rIns="3657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Input gets smaller / next</a:t>
            </a:r>
            <a:endParaRPr/>
          </a:p>
        </p:txBody>
      </p:sp>
      <p:sp>
        <p:nvSpPr>
          <p:cNvPr id="394" name="Google Shape;394;g3f597dbd1dc_2_80"/>
          <p:cNvSpPr txBox="1"/>
          <p:nvPr/>
        </p:nvSpPr>
        <p:spPr>
          <a:xfrm>
            <a:off x="3542646" y="1010668"/>
            <a:ext cx="1326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36575" spcFirstLastPara="1" rIns="3657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48C4C"/>
                </a:solidFill>
                <a:latin typeface="Arial"/>
                <a:ea typeface="Arial"/>
                <a:cs typeface="Arial"/>
                <a:sym typeface="Arial"/>
              </a:rPr>
              <a:t>2. Return phase</a:t>
            </a:r>
            <a:endParaRPr/>
          </a:p>
        </p:txBody>
      </p:sp>
      <p:sp>
        <p:nvSpPr>
          <p:cNvPr id="395" name="Google Shape;395;g3f597dbd1dc_2_80"/>
          <p:cNvSpPr/>
          <p:nvPr/>
        </p:nvSpPr>
        <p:spPr>
          <a:xfrm>
            <a:off x="3687875" y="2281228"/>
            <a:ext cx="960000" cy="219600"/>
          </a:xfrm>
          <a:prstGeom prst="roundRect">
            <a:avLst>
              <a:gd fmla="val 16667" name="adj"/>
            </a:avLst>
          </a:prstGeom>
          <a:solidFill>
            <a:srgbClr val="E4F5E8"/>
          </a:solidFill>
          <a:ln cap="flat" cmpd="sng" w="12700">
            <a:solidFill>
              <a:srgbClr val="348C4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43682"/>
                </a:solidFill>
                <a:latin typeface="Consolas"/>
                <a:ea typeface="Consolas"/>
                <a:cs typeface="Consolas"/>
                <a:sym typeface="Consolas"/>
              </a:rPr>
              <a:t>method(1)</a:t>
            </a:r>
            <a:endParaRPr/>
          </a:p>
        </p:txBody>
      </p:sp>
      <p:cxnSp>
        <p:nvCxnSpPr>
          <p:cNvPr id="396" name="Google Shape;396;g3f597dbd1dc_2_80"/>
          <p:cNvCxnSpPr/>
          <p:nvPr/>
        </p:nvCxnSpPr>
        <p:spPr>
          <a:xfrm rot="10800000">
            <a:off x="4209083" y="1997631"/>
            <a:ext cx="0" cy="201300"/>
          </a:xfrm>
          <a:prstGeom prst="straightConnector1">
            <a:avLst/>
          </a:prstGeom>
          <a:noFill/>
          <a:ln cap="flat" cmpd="sng" w="13950">
            <a:solidFill>
              <a:srgbClr val="348C4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97" name="Google Shape;397;g3f597dbd1dc_2_80"/>
          <p:cNvSpPr/>
          <p:nvPr/>
        </p:nvSpPr>
        <p:spPr>
          <a:xfrm>
            <a:off x="3687875" y="1979476"/>
            <a:ext cx="960000" cy="219600"/>
          </a:xfrm>
          <a:prstGeom prst="roundRect">
            <a:avLst>
              <a:gd fmla="val 16667" name="adj"/>
            </a:avLst>
          </a:prstGeom>
          <a:solidFill>
            <a:srgbClr val="E4F5E8"/>
          </a:solidFill>
          <a:ln cap="flat" cmpd="sng" w="12700">
            <a:solidFill>
              <a:srgbClr val="348C4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43682"/>
                </a:solidFill>
                <a:latin typeface="Consolas"/>
                <a:ea typeface="Consolas"/>
                <a:cs typeface="Consolas"/>
                <a:sym typeface="Consolas"/>
              </a:rPr>
              <a:t>method(2)</a:t>
            </a:r>
            <a:endParaRPr/>
          </a:p>
        </p:txBody>
      </p:sp>
      <p:cxnSp>
        <p:nvCxnSpPr>
          <p:cNvPr id="398" name="Google Shape;398;g3f597dbd1dc_2_80"/>
          <p:cNvCxnSpPr/>
          <p:nvPr/>
        </p:nvCxnSpPr>
        <p:spPr>
          <a:xfrm rot="10800000">
            <a:off x="4209083" y="1695879"/>
            <a:ext cx="0" cy="201300"/>
          </a:xfrm>
          <a:prstGeom prst="straightConnector1">
            <a:avLst/>
          </a:prstGeom>
          <a:noFill/>
          <a:ln cap="flat" cmpd="sng" w="13950">
            <a:solidFill>
              <a:srgbClr val="348C4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99" name="Google Shape;399;g3f597dbd1dc_2_80"/>
          <p:cNvSpPr/>
          <p:nvPr/>
        </p:nvSpPr>
        <p:spPr>
          <a:xfrm>
            <a:off x="3687875" y="1677724"/>
            <a:ext cx="960000" cy="219600"/>
          </a:xfrm>
          <a:prstGeom prst="roundRect">
            <a:avLst>
              <a:gd fmla="val 16667" name="adj"/>
            </a:avLst>
          </a:prstGeom>
          <a:solidFill>
            <a:srgbClr val="E4F5E8"/>
          </a:solidFill>
          <a:ln cap="flat" cmpd="sng" w="12700">
            <a:solidFill>
              <a:srgbClr val="348C4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43682"/>
                </a:solidFill>
                <a:latin typeface="Consolas"/>
                <a:ea typeface="Consolas"/>
                <a:cs typeface="Consolas"/>
                <a:sym typeface="Consolas"/>
              </a:rPr>
              <a:t>method(3)</a:t>
            </a:r>
            <a:endParaRPr/>
          </a:p>
        </p:txBody>
      </p:sp>
      <p:cxnSp>
        <p:nvCxnSpPr>
          <p:cNvPr id="400" name="Google Shape;400;g3f597dbd1dc_2_80"/>
          <p:cNvCxnSpPr/>
          <p:nvPr/>
        </p:nvCxnSpPr>
        <p:spPr>
          <a:xfrm rot="10800000">
            <a:off x="4209083" y="1394127"/>
            <a:ext cx="0" cy="201300"/>
          </a:xfrm>
          <a:prstGeom prst="straightConnector1">
            <a:avLst/>
          </a:prstGeom>
          <a:noFill/>
          <a:ln cap="flat" cmpd="sng" w="13950">
            <a:solidFill>
              <a:srgbClr val="348C4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01" name="Google Shape;401;g3f597dbd1dc_2_80"/>
          <p:cNvSpPr/>
          <p:nvPr/>
        </p:nvSpPr>
        <p:spPr>
          <a:xfrm>
            <a:off x="3687875" y="1375972"/>
            <a:ext cx="960000" cy="219600"/>
          </a:xfrm>
          <a:prstGeom prst="roundRect">
            <a:avLst>
              <a:gd fmla="val 16667" name="adj"/>
            </a:avLst>
          </a:prstGeom>
          <a:solidFill>
            <a:srgbClr val="E4F5E8"/>
          </a:solidFill>
          <a:ln cap="flat" cmpd="sng" w="12700">
            <a:solidFill>
              <a:srgbClr val="348C4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43682"/>
                </a:solidFill>
                <a:latin typeface="Consolas"/>
                <a:ea typeface="Consolas"/>
                <a:cs typeface="Consolas"/>
                <a:sym typeface="Consolas"/>
              </a:rPr>
              <a:t>method(4)</a:t>
            </a:r>
            <a:endParaRPr/>
          </a:p>
        </p:txBody>
      </p:sp>
      <p:sp>
        <p:nvSpPr>
          <p:cNvPr id="402" name="Google Shape;402;g3f597dbd1dc_2_80"/>
          <p:cNvSpPr txBox="1"/>
          <p:nvPr/>
        </p:nvSpPr>
        <p:spPr>
          <a:xfrm>
            <a:off x="3276400" y="2665288"/>
            <a:ext cx="18585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36575" spcFirstLastPara="1" rIns="3657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Previous calls begin returning one by one.</a:t>
            </a:r>
            <a:endParaRPr/>
          </a:p>
        </p:txBody>
      </p:sp>
      <p:sp>
        <p:nvSpPr>
          <p:cNvPr id="403" name="Google Shape;403;g3f597dbd1dc_2_80"/>
          <p:cNvSpPr/>
          <p:nvPr/>
        </p:nvSpPr>
        <p:spPr>
          <a:xfrm>
            <a:off x="2184111" y="2230913"/>
            <a:ext cx="960000" cy="320100"/>
          </a:xfrm>
          <a:prstGeom prst="roundRect">
            <a:avLst>
              <a:gd fmla="val 16667" name="adj"/>
            </a:avLst>
          </a:prstGeom>
          <a:solidFill>
            <a:srgbClr val="FFEBEB"/>
          </a:solidFill>
          <a:ln cap="flat" cmpd="sng" w="12700">
            <a:solidFill>
              <a:srgbClr val="DC232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C2323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endParaRPr/>
          </a:p>
        </p:txBody>
      </p:sp>
      <p:sp>
        <p:nvSpPr>
          <p:cNvPr id="404" name="Google Shape;404;g3f597dbd1dc_2_80"/>
          <p:cNvSpPr txBox="1"/>
          <p:nvPr/>
        </p:nvSpPr>
        <p:spPr>
          <a:xfrm>
            <a:off x="2252656" y="2616748"/>
            <a:ext cx="822900" cy="1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36575" spcFirstLastPara="1" rIns="3657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C2323"/>
                </a:solidFill>
                <a:latin typeface="Arial"/>
                <a:ea typeface="Arial"/>
                <a:cs typeface="Arial"/>
                <a:sym typeface="Arial"/>
              </a:rPr>
              <a:t>stops new calls</a:t>
            </a:r>
            <a:endParaRPr/>
          </a:p>
        </p:txBody>
      </p:sp>
      <p:cxnSp>
        <p:nvCxnSpPr>
          <p:cNvPr id="405" name="Google Shape;405;g3f597dbd1dc_2_80"/>
          <p:cNvCxnSpPr/>
          <p:nvPr/>
        </p:nvCxnSpPr>
        <p:spPr>
          <a:xfrm>
            <a:off x="358375" y="1104225"/>
            <a:ext cx="10200" cy="14007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6" name="Google Shape;406;g3f597dbd1dc_2_80"/>
          <p:cNvCxnSpPr/>
          <p:nvPr/>
        </p:nvCxnSpPr>
        <p:spPr>
          <a:xfrm flipH="1" rot="10800000">
            <a:off x="4804193" y="1379739"/>
            <a:ext cx="8400" cy="11259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7" name="Google Shape;407;g3f597dbd1dc_2_80"/>
          <p:cNvCxnSpPr>
            <a:stCxn id="392" idx="3"/>
            <a:endCxn id="403" idx="1"/>
          </p:cNvCxnSpPr>
          <p:nvPr/>
        </p:nvCxnSpPr>
        <p:spPr>
          <a:xfrm>
            <a:off x="1493195" y="2391028"/>
            <a:ext cx="6909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8" name="Google Shape;408;g3f597dbd1dc_2_80"/>
          <p:cNvCxnSpPr>
            <a:stCxn id="403" idx="3"/>
            <a:endCxn id="395" idx="1"/>
          </p:cNvCxnSpPr>
          <p:nvPr/>
        </p:nvCxnSpPr>
        <p:spPr>
          <a:xfrm>
            <a:off x="3144110" y="2390963"/>
            <a:ext cx="5439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75d0f2ff87_0_29"/>
          <p:cNvSpPr txBox="1"/>
          <p:nvPr>
            <p:ph type="title"/>
          </p:nvPr>
        </p:nvSpPr>
        <p:spPr>
          <a:xfrm>
            <a:off x="723226" y="125925"/>
            <a:ext cx="3547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50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Recursion vs. While Loop</a:t>
            </a:r>
            <a:endParaRPr/>
          </a:p>
        </p:txBody>
      </p:sp>
      <p:sp>
        <p:nvSpPr>
          <p:cNvPr id="414" name="Google Shape;414;g375d0f2ff87_0_29"/>
          <p:cNvSpPr txBox="1"/>
          <p:nvPr/>
        </p:nvSpPr>
        <p:spPr>
          <a:xfrm>
            <a:off x="156997" y="2997475"/>
            <a:ext cx="4455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5" name="Google Shape;415;g375d0f2ff87_0_29"/>
          <p:cNvSpPr txBox="1"/>
          <p:nvPr>
            <p:ph idx="12" type="sldNum"/>
          </p:nvPr>
        </p:nvSpPr>
        <p:spPr>
          <a:xfrm>
            <a:off x="5368163" y="3109223"/>
            <a:ext cx="254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6" name="Google Shape;416;g375d0f2ff87_0_29"/>
          <p:cNvSpPr txBox="1"/>
          <p:nvPr/>
        </p:nvSpPr>
        <p:spPr>
          <a:xfrm>
            <a:off x="610850" y="498525"/>
            <a:ext cx="4544100" cy="11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🔁 Recursion vs. While Loop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Recursion is often an alternative to a while loop.</a:t>
            </a:r>
            <a:b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You usually </a:t>
            </a:r>
            <a:r>
              <a:rPr b="1" i="0" lang="en-US" sz="11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don’t use recursion and a while loop together</a:t>
            </a:r>
            <a:r>
              <a:rPr b="0" i="0" lang="en-US" sz="11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— they solve the same kind of problems.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417" name="Google Shape;417;g375d0f2ff87_0_29"/>
          <p:cNvGraphicFramePr/>
          <p:nvPr/>
        </p:nvGraphicFramePr>
        <p:xfrm>
          <a:off x="886750" y="178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{F53B7AC4-73A6-4FC1-832C-958C8051A436}</a:tableStyleId>
              </a:tblPr>
              <a:tblGrid>
                <a:gridCol w="1918175"/>
                <a:gridCol w="1918175"/>
              </a:tblGrid>
              <a:tr h="331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Shortcut process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 hMerge="1"/>
              </a:tr>
              <a:tr h="331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Loop Concept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Recursion Equivalent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31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Loop condition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Opposite</a:t>
                      </a: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 becomes base case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Loop body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Recursive case</a:t>
                      </a:r>
                      <a:endParaRPr b="1"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5972311be_0_5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How to convert a loop into recursion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f5972311be_0_5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Use the same changing variable as a parameter; stop with a base case.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f5972311be_0_5"/>
          <p:cNvSpPr/>
          <p:nvPr/>
        </p:nvSpPr>
        <p:spPr>
          <a:xfrm>
            <a:off x="324335" y="614358"/>
            <a:ext cx="14703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8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structure</a:t>
            </a:r>
            <a:endParaRPr b="0"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6" name="Google Shape;426;g3f5972311be_0_5"/>
          <p:cNvSpPr/>
          <p:nvPr/>
        </p:nvSpPr>
        <p:spPr>
          <a:xfrm>
            <a:off x="3048748" y="614358"/>
            <a:ext cx="16002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5CE7"/>
              </a:buClr>
              <a:buSzPts val="8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Recursive structure</a:t>
            </a:r>
            <a:endParaRPr b="0"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7" name="Google Shape;427;g3f5972311be_0_5"/>
          <p:cNvSpPr/>
          <p:nvPr/>
        </p:nvSpPr>
        <p:spPr>
          <a:xfrm>
            <a:off x="324335" y="843661"/>
            <a:ext cx="2054100" cy="10296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int </a:t>
            </a:r>
            <a:r>
              <a:rPr b="0" i="0" lang="en-US" sz="800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i = start;</a:t>
            </a:r>
            <a:endParaRPr b="0" i="0" sz="8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while (</a:t>
            </a:r>
            <a:r>
              <a:rPr b="0" i="0" lang="en-US" sz="800" u="none" cap="none" strike="noStrike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  <a:t>condition</a:t>
            </a: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) {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work(i);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r>
              <a:rPr b="0" i="0" lang="en-US" sz="800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update i;</a:t>
            </a:r>
            <a:endParaRPr b="0" i="0" sz="8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8" name="Google Shape;428;g3f5972311be_0_5"/>
          <p:cNvSpPr/>
          <p:nvPr/>
        </p:nvSpPr>
        <p:spPr>
          <a:xfrm>
            <a:off x="3048748" y="843661"/>
            <a:ext cx="2054100" cy="10296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method</a:t>
            </a:r>
            <a:r>
              <a:rPr b="0" i="0" lang="en-US" sz="800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(i</a:t>
            </a: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) {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</a:t>
            </a:r>
            <a:r>
              <a:rPr b="0" i="0" lang="en-US" sz="800" u="none" cap="none" strike="noStrike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  <a:t>base case</a:t>
            </a: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) </a:t>
            </a:r>
            <a:b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return;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work(i);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method(</a:t>
            </a:r>
            <a:r>
              <a:rPr b="0" i="0" lang="en-US" sz="800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updated i)</a:t>
            </a: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29" name="Google Shape;429;g3f5972311be_0_5"/>
          <p:cNvCxnSpPr/>
          <p:nvPr/>
        </p:nvCxnSpPr>
        <p:spPr>
          <a:xfrm>
            <a:off x="2508190" y="1233043"/>
            <a:ext cx="4110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0" name="Google Shape;430;g3f5972311be_0_5"/>
          <p:cNvSpPr/>
          <p:nvPr/>
        </p:nvSpPr>
        <p:spPr>
          <a:xfrm>
            <a:off x="1496499" y="2059673"/>
            <a:ext cx="2300400" cy="13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loop </a:t>
            </a:r>
            <a:r>
              <a:rPr b="1" lang="en-US" sz="700">
                <a:solidFill>
                  <a:srgbClr val="0E9F6E"/>
                </a:solidFill>
              </a:rPr>
              <a:t>controlling</a:t>
            </a:r>
            <a:r>
              <a:rPr b="1" i="0" lang="en-US" sz="7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 variable becomes parameter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f5972311be_0_5"/>
          <p:cNvSpPr/>
          <p:nvPr/>
        </p:nvSpPr>
        <p:spPr>
          <a:xfrm>
            <a:off x="302713" y="2241110"/>
            <a:ext cx="18594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Same result, different control flow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2" name="Google Shape;432;g3f5972311be_0_5"/>
          <p:cNvCxnSpPr/>
          <p:nvPr/>
        </p:nvCxnSpPr>
        <p:spPr>
          <a:xfrm>
            <a:off x="432447" y="2492045"/>
            <a:ext cx="6270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3" name="Google Shape;433;g3f5972311be_0_5"/>
          <p:cNvCxnSpPr/>
          <p:nvPr/>
        </p:nvCxnSpPr>
        <p:spPr>
          <a:xfrm>
            <a:off x="1275717" y="2492045"/>
            <a:ext cx="648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4" name="Google Shape;434;g3f5972311be_0_5"/>
          <p:cNvSpPr/>
          <p:nvPr/>
        </p:nvSpPr>
        <p:spPr>
          <a:xfrm>
            <a:off x="302713" y="2409842"/>
            <a:ext cx="453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initialize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f5972311be_0_5"/>
          <p:cNvSpPr/>
          <p:nvPr/>
        </p:nvSpPr>
        <p:spPr>
          <a:xfrm>
            <a:off x="908138" y="2409842"/>
            <a:ext cx="475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f5972311be_0_5"/>
          <p:cNvSpPr/>
          <p:nvPr/>
        </p:nvSpPr>
        <p:spPr>
          <a:xfrm>
            <a:off x="1578430" y="2409842"/>
            <a:ext cx="4323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f5972311be_0_5"/>
          <p:cNvSpPr/>
          <p:nvPr/>
        </p:nvSpPr>
        <p:spPr>
          <a:xfrm>
            <a:off x="3091993" y="2241110"/>
            <a:ext cx="19026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Recursion creates method calls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f5972311be_0_5"/>
          <p:cNvSpPr/>
          <p:nvPr/>
        </p:nvSpPr>
        <p:spPr>
          <a:xfrm>
            <a:off x="3091993" y="2401189"/>
            <a:ext cx="562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show(1)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f5972311be_0_5"/>
          <p:cNvSpPr/>
          <p:nvPr/>
        </p:nvSpPr>
        <p:spPr>
          <a:xfrm>
            <a:off x="3892112" y="2539696"/>
            <a:ext cx="562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show(2)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f5972311be_0_5"/>
          <p:cNvSpPr/>
          <p:nvPr/>
        </p:nvSpPr>
        <p:spPr>
          <a:xfrm>
            <a:off x="4615982" y="2678002"/>
            <a:ext cx="562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show(3)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" name="Google Shape;441;g3f5972311be_0_5"/>
          <p:cNvCxnSpPr>
            <a:stCxn id="438" idx="3"/>
            <a:endCxn id="439" idx="1"/>
          </p:cNvCxnSpPr>
          <p:nvPr/>
        </p:nvCxnSpPr>
        <p:spPr>
          <a:xfrm>
            <a:off x="3654193" y="2474689"/>
            <a:ext cx="237900" cy="1386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2" name="Google Shape;442;g3f5972311be_0_5"/>
          <p:cNvCxnSpPr>
            <a:stCxn id="439" idx="3"/>
            <a:endCxn id="440" idx="1"/>
          </p:cNvCxnSpPr>
          <p:nvPr/>
        </p:nvCxnSpPr>
        <p:spPr>
          <a:xfrm>
            <a:off x="4454312" y="2613196"/>
            <a:ext cx="161700" cy="1383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3" name="Google Shape;443;g3f5972311be_0_5"/>
          <p:cNvSpPr/>
          <p:nvPr/>
        </p:nvSpPr>
        <p:spPr>
          <a:xfrm>
            <a:off x="3091993" y="2872774"/>
            <a:ext cx="19893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5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Trebuchet MS"/>
                <a:ea typeface="Trebuchet MS"/>
                <a:cs typeface="Trebuchet MS"/>
                <a:sym typeface="Trebuchet MS"/>
              </a:rPr>
              <a:t>Base case stops the chain; </a:t>
            </a:r>
            <a:br>
              <a:rPr b="0" i="0" lang="en-US" sz="700" u="none" cap="none" strike="noStrike">
                <a:solidFill>
                  <a:srgbClr val="5A6B85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700" u="none" cap="none" strike="noStrike">
                <a:solidFill>
                  <a:srgbClr val="5A6B85"/>
                </a:solidFill>
                <a:latin typeface="Trebuchet MS"/>
                <a:ea typeface="Trebuchet MS"/>
                <a:cs typeface="Trebuchet MS"/>
                <a:sym typeface="Trebuchet MS"/>
              </a:rPr>
              <a:t>return unwinds it.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4" name="Google Shape;444;g3f5972311be_0_5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5972311be_0_33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01: Print 1 to 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f5972311be_0_33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Recursive call moves forward by increasing i.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f5972311be_0_33"/>
          <p:cNvSpPr/>
          <p:nvPr/>
        </p:nvSpPr>
        <p:spPr>
          <a:xfrm>
            <a:off x="281090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Iterative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f5972311be_0_33"/>
          <p:cNvSpPr/>
          <p:nvPr/>
        </p:nvSpPr>
        <p:spPr>
          <a:xfrm>
            <a:off x="281100" y="713875"/>
            <a:ext cx="2529900" cy="10929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show1to4While()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i = 1;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while (i &lt;= 4)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System.out.println(i);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i++;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4" name="Google Shape;454;g3f5972311be_0_33"/>
          <p:cNvSpPr/>
          <p:nvPr/>
        </p:nvSpPr>
        <p:spPr>
          <a:xfrm>
            <a:off x="2949285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f5972311be_0_33"/>
          <p:cNvSpPr/>
          <p:nvPr/>
        </p:nvSpPr>
        <p:spPr>
          <a:xfrm>
            <a:off x="2949275" y="713875"/>
            <a:ext cx="2529900" cy="1114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show1to4Rec(int i)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(i &gt; 4)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System.out.println(i);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show1to4Rec(i + 1);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6" name="Google Shape;456;g3f5972311be_0_33"/>
          <p:cNvSpPr/>
          <p:nvPr/>
        </p:nvSpPr>
        <p:spPr>
          <a:xfrm>
            <a:off x="250832" y="1867104"/>
            <a:ext cx="15135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f5972311be_0_33"/>
          <p:cNvSpPr/>
          <p:nvPr/>
        </p:nvSpPr>
        <p:spPr>
          <a:xfrm>
            <a:off x="250832" y="1975267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f5972311be_0_33"/>
          <p:cNvSpPr/>
          <p:nvPr/>
        </p:nvSpPr>
        <p:spPr>
          <a:xfrm>
            <a:off x="505976" y="1975267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f5972311be_0_33"/>
          <p:cNvSpPr/>
          <p:nvPr/>
        </p:nvSpPr>
        <p:spPr>
          <a:xfrm>
            <a:off x="761119" y="1975267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f5972311be_0_33"/>
          <p:cNvSpPr/>
          <p:nvPr/>
        </p:nvSpPr>
        <p:spPr>
          <a:xfrm>
            <a:off x="1016263" y="1975267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f5972311be_0_33"/>
          <p:cNvSpPr/>
          <p:nvPr/>
        </p:nvSpPr>
        <p:spPr>
          <a:xfrm>
            <a:off x="4132549" y="2090350"/>
            <a:ext cx="9180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Call stack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f5972311be_0_33"/>
          <p:cNvSpPr/>
          <p:nvPr/>
        </p:nvSpPr>
        <p:spPr>
          <a:xfrm>
            <a:off x="4132559" y="2220101"/>
            <a:ext cx="13077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1F2937"/>
                </a:solidFill>
              </a:rPr>
              <a:t>show(1) </a:t>
            </a:r>
            <a:r>
              <a:rPr b="1" lang="en-US" sz="600">
                <a:solidFill>
                  <a:schemeClr val="hlink"/>
                </a:solidFill>
              </a:rPr>
              <a:t>(Call from main method)</a:t>
            </a:r>
            <a:endParaRPr b="1" sz="600">
              <a:solidFill>
                <a:srgbClr val="1F2937"/>
              </a:solidFill>
            </a:endParaRPr>
          </a:p>
        </p:txBody>
      </p:sp>
      <p:sp>
        <p:nvSpPr>
          <p:cNvPr id="463" name="Google Shape;463;g3f5972311be_0_33"/>
          <p:cNvSpPr/>
          <p:nvPr/>
        </p:nvSpPr>
        <p:spPr>
          <a:xfrm>
            <a:off x="4132559" y="2384506"/>
            <a:ext cx="13077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show(2)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f5972311be_0_33"/>
          <p:cNvSpPr/>
          <p:nvPr/>
        </p:nvSpPr>
        <p:spPr>
          <a:xfrm>
            <a:off x="4132559" y="2548913"/>
            <a:ext cx="13077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show(3)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3f5972311be_0_33"/>
          <p:cNvSpPr/>
          <p:nvPr/>
        </p:nvSpPr>
        <p:spPr>
          <a:xfrm>
            <a:off x="4132559" y="2713319"/>
            <a:ext cx="13077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show(4)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f5972311be_0_33"/>
          <p:cNvSpPr/>
          <p:nvPr/>
        </p:nvSpPr>
        <p:spPr>
          <a:xfrm>
            <a:off x="4132559" y="2877725"/>
            <a:ext cx="13077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show(5)</a:t>
            </a:r>
            <a:r>
              <a:rPr b="1" lang="en-US" sz="600">
                <a:solidFill>
                  <a:schemeClr val="hlink"/>
                </a:solidFill>
              </a:rPr>
              <a:t> (</a:t>
            </a:r>
            <a:r>
              <a:rPr b="1" lang="en-US" sz="600">
                <a:solidFill>
                  <a:schemeClr val="hlink"/>
                </a:solidFill>
              </a:rPr>
              <a:t>Base case) stops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f5972311be_0_33"/>
          <p:cNvSpPr/>
          <p:nvPr/>
        </p:nvSpPr>
        <p:spPr>
          <a:xfrm>
            <a:off x="2949275" y="1852625"/>
            <a:ext cx="26193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5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Print before recursive call → </a:t>
            </a:r>
            <a:r>
              <a:rPr b="0" i="0" lang="en-US" sz="800" u="sng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output appears immediately. </a:t>
            </a:r>
            <a:endParaRPr b="0" i="0" sz="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f5972311be_0_33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f5972311be_0_33"/>
          <p:cNvSpPr/>
          <p:nvPr/>
        </p:nvSpPr>
        <p:spPr>
          <a:xfrm>
            <a:off x="2984282" y="2051417"/>
            <a:ext cx="15135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f5972311be_0_33"/>
          <p:cNvSpPr/>
          <p:nvPr/>
        </p:nvSpPr>
        <p:spPr>
          <a:xfrm>
            <a:off x="2984282" y="2159579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f5972311be_0_33"/>
          <p:cNvSpPr/>
          <p:nvPr/>
        </p:nvSpPr>
        <p:spPr>
          <a:xfrm>
            <a:off x="3239426" y="2159579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f5972311be_0_33"/>
          <p:cNvSpPr/>
          <p:nvPr/>
        </p:nvSpPr>
        <p:spPr>
          <a:xfrm>
            <a:off x="3494569" y="2159579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f5972311be_0_33"/>
          <p:cNvSpPr/>
          <p:nvPr/>
        </p:nvSpPr>
        <p:spPr>
          <a:xfrm>
            <a:off x="3749713" y="2159579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f5972311be_0_33"/>
          <p:cNvSpPr txBox="1"/>
          <p:nvPr/>
        </p:nvSpPr>
        <p:spPr>
          <a:xfrm>
            <a:off x="2960275" y="2384500"/>
            <a:ext cx="765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9900FF"/>
                </a:solidFill>
              </a:rPr>
              <a:t>main(){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……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show(1)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……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}</a:t>
            </a:r>
            <a:endParaRPr b="1" sz="700">
              <a:solidFill>
                <a:srgbClr val="9900FF"/>
              </a:solidFill>
            </a:endParaRPr>
          </a:p>
        </p:txBody>
      </p:sp>
      <p:cxnSp>
        <p:nvCxnSpPr>
          <p:cNvPr id="475" name="Google Shape;475;g3f5972311be_0_33"/>
          <p:cNvCxnSpPr/>
          <p:nvPr/>
        </p:nvCxnSpPr>
        <p:spPr>
          <a:xfrm>
            <a:off x="4042375" y="2245375"/>
            <a:ext cx="5100" cy="6996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5972311be_0_56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02: Print 4 to 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f5972311be_0_56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Use decrementing i, or print after the recursive call to reverse order.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f5972311be_0_56"/>
          <p:cNvSpPr/>
          <p:nvPr/>
        </p:nvSpPr>
        <p:spPr>
          <a:xfrm>
            <a:off x="281090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Iterative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f5972311be_0_56"/>
          <p:cNvSpPr/>
          <p:nvPr/>
        </p:nvSpPr>
        <p:spPr>
          <a:xfrm>
            <a:off x="281100" y="713875"/>
            <a:ext cx="2529900" cy="8679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show4to1While()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i = 4;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while (i &gt; 0)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System.out.println(i);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i--;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5" name="Google Shape;485;g3f5972311be_0_56"/>
          <p:cNvSpPr/>
          <p:nvPr/>
        </p:nvSpPr>
        <p:spPr>
          <a:xfrm>
            <a:off x="2949285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f5972311be_0_56"/>
          <p:cNvSpPr/>
          <p:nvPr/>
        </p:nvSpPr>
        <p:spPr>
          <a:xfrm>
            <a:off x="2949277" y="713875"/>
            <a:ext cx="2529900" cy="8679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show4to1Rec(int i)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(i == 0)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System.out.println(i);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show4to1Rec(i - 1);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7" name="Google Shape;487;g3f5972311be_0_56"/>
          <p:cNvSpPr/>
          <p:nvPr/>
        </p:nvSpPr>
        <p:spPr>
          <a:xfrm>
            <a:off x="281107" y="1735817"/>
            <a:ext cx="15135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3f5972311be_0_56"/>
          <p:cNvSpPr/>
          <p:nvPr/>
        </p:nvSpPr>
        <p:spPr>
          <a:xfrm>
            <a:off x="281107" y="1843979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f5972311be_0_56"/>
          <p:cNvSpPr/>
          <p:nvPr/>
        </p:nvSpPr>
        <p:spPr>
          <a:xfrm>
            <a:off x="536251" y="1843979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f5972311be_0_56"/>
          <p:cNvSpPr/>
          <p:nvPr/>
        </p:nvSpPr>
        <p:spPr>
          <a:xfrm>
            <a:off x="791394" y="1843979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f5972311be_0_56"/>
          <p:cNvSpPr/>
          <p:nvPr/>
        </p:nvSpPr>
        <p:spPr>
          <a:xfrm>
            <a:off x="1046538" y="1843979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f5972311be_0_56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f5972311be_0_56"/>
          <p:cNvSpPr/>
          <p:nvPr/>
        </p:nvSpPr>
        <p:spPr>
          <a:xfrm>
            <a:off x="4225025" y="1949500"/>
            <a:ext cx="14508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Call stack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f5972311be_0_56"/>
          <p:cNvSpPr/>
          <p:nvPr/>
        </p:nvSpPr>
        <p:spPr>
          <a:xfrm>
            <a:off x="4225025" y="2053335"/>
            <a:ext cx="12498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</a:t>
            </a:r>
            <a:r>
              <a:rPr b="1" lang="en-US" sz="600">
                <a:solidFill>
                  <a:srgbClr val="1F2937"/>
                </a:solidFill>
              </a:rPr>
              <a:t>4</a:t>
            </a: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1" i="0" lang="en-US" sz="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(Call from main method)</a:t>
            </a:r>
            <a:endParaRPr b="1" i="0" sz="600" u="none" cap="none" strike="noStrike">
              <a:solidFill>
                <a:srgbClr val="0000FF"/>
              </a:solidFill>
            </a:endParaRPr>
          </a:p>
        </p:txBody>
      </p:sp>
      <p:sp>
        <p:nvSpPr>
          <p:cNvPr id="495" name="Google Shape;495;g3f5972311be_0_56"/>
          <p:cNvSpPr/>
          <p:nvPr/>
        </p:nvSpPr>
        <p:spPr>
          <a:xfrm>
            <a:off x="4225025" y="2217738"/>
            <a:ext cx="12498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show(4 - 1 = </a:t>
            </a:r>
            <a:r>
              <a:rPr b="1" lang="en-US" sz="600">
                <a:solidFill>
                  <a:srgbClr val="1F2937"/>
                </a:solidFill>
              </a:rPr>
              <a:t>3</a:t>
            </a: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3f5972311be_0_56"/>
          <p:cNvSpPr/>
          <p:nvPr/>
        </p:nvSpPr>
        <p:spPr>
          <a:xfrm>
            <a:off x="4225025" y="2382142"/>
            <a:ext cx="12498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</a:t>
            </a:r>
            <a:r>
              <a:rPr b="1" lang="en-US" sz="600">
                <a:solidFill>
                  <a:srgbClr val="1F2937"/>
                </a:solidFill>
              </a:rPr>
              <a:t>3</a:t>
            </a:r>
            <a:r>
              <a:rPr b="1" lang="en-US" sz="600">
                <a:solidFill>
                  <a:srgbClr val="1F2937"/>
                </a:solidFill>
              </a:rPr>
              <a:t> - 1 = </a:t>
            </a:r>
            <a:r>
              <a:rPr b="1" lang="en-US" sz="600">
                <a:solidFill>
                  <a:srgbClr val="1F2937"/>
                </a:solidFill>
              </a:rPr>
              <a:t>2</a:t>
            </a: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3f5972311be_0_56"/>
          <p:cNvSpPr/>
          <p:nvPr/>
        </p:nvSpPr>
        <p:spPr>
          <a:xfrm>
            <a:off x="4225025" y="2546546"/>
            <a:ext cx="12498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</a:t>
            </a:r>
            <a:r>
              <a:rPr b="1" lang="en-US" sz="600">
                <a:solidFill>
                  <a:srgbClr val="1F2937"/>
                </a:solidFill>
              </a:rPr>
              <a:t>2</a:t>
            </a:r>
            <a:r>
              <a:rPr b="1" lang="en-US" sz="600">
                <a:solidFill>
                  <a:srgbClr val="1F2937"/>
                </a:solidFill>
              </a:rPr>
              <a:t> - 1 = </a:t>
            </a:r>
            <a:r>
              <a:rPr b="1" lang="en-US" sz="600">
                <a:solidFill>
                  <a:srgbClr val="1F2937"/>
                </a:solidFill>
              </a:rPr>
              <a:t>1</a:t>
            </a: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f5972311be_0_56"/>
          <p:cNvSpPr/>
          <p:nvPr/>
        </p:nvSpPr>
        <p:spPr>
          <a:xfrm>
            <a:off x="4225025" y="2710950"/>
            <a:ext cx="12498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</a:t>
            </a:r>
            <a:r>
              <a:rPr b="1" lang="en-US" sz="600">
                <a:solidFill>
                  <a:srgbClr val="1F2937"/>
                </a:solidFill>
              </a:rPr>
              <a:t>1</a:t>
            </a:r>
            <a:r>
              <a:rPr b="1" lang="en-US" sz="600">
                <a:solidFill>
                  <a:srgbClr val="1F2937"/>
                </a:solidFill>
              </a:rPr>
              <a:t> - 1 = </a:t>
            </a:r>
            <a:r>
              <a:rPr b="1" lang="en-US" sz="600">
                <a:solidFill>
                  <a:srgbClr val="1F2937"/>
                </a:solidFill>
              </a:rPr>
              <a:t>0</a:t>
            </a: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i="0" lang="en-US" sz="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(Base case) stops</a:t>
            </a:r>
            <a:endParaRPr b="0" i="0" sz="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f5972311be_0_56"/>
          <p:cNvSpPr/>
          <p:nvPr/>
        </p:nvSpPr>
        <p:spPr>
          <a:xfrm>
            <a:off x="2927225" y="1600450"/>
            <a:ext cx="26268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5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Print before recursive call → </a:t>
            </a:r>
            <a:r>
              <a:rPr b="0" i="0" lang="en-US" sz="800" u="sng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output appears immediately. </a:t>
            </a:r>
            <a:endParaRPr b="0" i="0" sz="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3f5972311be_0_56"/>
          <p:cNvSpPr/>
          <p:nvPr/>
        </p:nvSpPr>
        <p:spPr>
          <a:xfrm>
            <a:off x="2927232" y="1903005"/>
            <a:ext cx="15135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f5972311be_0_56"/>
          <p:cNvSpPr/>
          <p:nvPr/>
        </p:nvSpPr>
        <p:spPr>
          <a:xfrm>
            <a:off x="2927232" y="2011167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f5972311be_0_56"/>
          <p:cNvSpPr/>
          <p:nvPr/>
        </p:nvSpPr>
        <p:spPr>
          <a:xfrm>
            <a:off x="3182376" y="2011167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f5972311be_0_56"/>
          <p:cNvSpPr/>
          <p:nvPr/>
        </p:nvSpPr>
        <p:spPr>
          <a:xfrm>
            <a:off x="3437519" y="2011167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f5972311be_0_56"/>
          <p:cNvSpPr/>
          <p:nvPr/>
        </p:nvSpPr>
        <p:spPr>
          <a:xfrm>
            <a:off x="3692663" y="2011167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f5972311be_0_56"/>
          <p:cNvSpPr txBox="1"/>
          <p:nvPr/>
        </p:nvSpPr>
        <p:spPr>
          <a:xfrm>
            <a:off x="2927225" y="2284988"/>
            <a:ext cx="765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9900FF"/>
                </a:solidFill>
              </a:rPr>
              <a:t>main(){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……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show(4)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……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}</a:t>
            </a:r>
            <a:endParaRPr b="1" sz="700">
              <a:solidFill>
                <a:srgbClr val="9900FF"/>
              </a:solidFill>
            </a:endParaRPr>
          </a:p>
        </p:txBody>
      </p:sp>
      <p:cxnSp>
        <p:nvCxnSpPr>
          <p:cNvPr id="506" name="Google Shape;506;g3f5972311be_0_56"/>
          <p:cNvCxnSpPr/>
          <p:nvPr/>
        </p:nvCxnSpPr>
        <p:spPr>
          <a:xfrm>
            <a:off x="4060100" y="2097550"/>
            <a:ext cx="5100" cy="6996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f597dbd1dc_0_3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02: Print 4 to 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f597dbd1dc_0_3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Use decrementing i, or print after the recursive call to reverse order.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f597dbd1dc_0_3"/>
          <p:cNvSpPr/>
          <p:nvPr/>
        </p:nvSpPr>
        <p:spPr>
          <a:xfrm>
            <a:off x="281090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Iterative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f597dbd1dc_0_3"/>
          <p:cNvSpPr/>
          <p:nvPr/>
        </p:nvSpPr>
        <p:spPr>
          <a:xfrm>
            <a:off x="281090" y="713867"/>
            <a:ext cx="2529900" cy="1375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show4to1While()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i = 4;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while (i &gt; 0)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System.out.println(i);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i--;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6" name="Google Shape;516;g3f597dbd1dc_0_3"/>
          <p:cNvSpPr/>
          <p:nvPr/>
        </p:nvSpPr>
        <p:spPr>
          <a:xfrm>
            <a:off x="2949285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f597dbd1dc_0_3"/>
          <p:cNvSpPr/>
          <p:nvPr/>
        </p:nvSpPr>
        <p:spPr>
          <a:xfrm>
            <a:off x="2949285" y="713867"/>
            <a:ext cx="2529900" cy="1375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show4to1Rec(int i)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(i == 0)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System.out.println(i);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show4to1Rec(i - 1);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8" name="Google Shape;518;g3f597dbd1dc_0_3"/>
          <p:cNvSpPr/>
          <p:nvPr/>
        </p:nvSpPr>
        <p:spPr>
          <a:xfrm>
            <a:off x="345957" y="2336292"/>
            <a:ext cx="15135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3f597dbd1dc_0_3"/>
          <p:cNvSpPr/>
          <p:nvPr/>
        </p:nvSpPr>
        <p:spPr>
          <a:xfrm>
            <a:off x="345957" y="2444454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g3f597dbd1dc_0_3"/>
          <p:cNvSpPr/>
          <p:nvPr/>
        </p:nvSpPr>
        <p:spPr>
          <a:xfrm>
            <a:off x="601101" y="2444454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3f597dbd1dc_0_3"/>
          <p:cNvSpPr/>
          <p:nvPr/>
        </p:nvSpPr>
        <p:spPr>
          <a:xfrm>
            <a:off x="856244" y="2444454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f597dbd1dc_0_3"/>
          <p:cNvSpPr/>
          <p:nvPr/>
        </p:nvSpPr>
        <p:spPr>
          <a:xfrm>
            <a:off x="1111388" y="2444454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f597dbd1dc_0_3"/>
          <p:cNvSpPr/>
          <p:nvPr/>
        </p:nvSpPr>
        <p:spPr>
          <a:xfrm>
            <a:off x="2949273" y="2140767"/>
            <a:ext cx="18813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Order-change idea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f597dbd1dc_0_3"/>
          <p:cNvSpPr/>
          <p:nvPr/>
        </p:nvSpPr>
        <p:spPr>
          <a:xfrm>
            <a:off x="2949275" y="2261900"/>
            <a:ext cx="1881300" cy="4647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// From i = 1 to 4, print after the call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show4to1Reverse(i + 1);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System.out.println(i);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5" name="Google Shape;525;g3f597dbd1dc_0_3"/>
          <p:cNvSpPr/>
          <p:nvPr/>
        </p:nvSpPr>
        <p:spPr>
          <a:xfrm>
            <a:off x="2913125" y="2797505"/>
            <a:ext cx="2956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500"/>
              <a:buFont typeface="Arial"/>
              <a:buNone/>
            </a:pPr>
            <a:r>
              <a:rPr lang="en-US" sz="800">
                <a:solidFill>
                  <a:srgbClr val="5A6B85"/>
                </a:solidFill>
              </a:rPr>
              <a:t>After the base case returns, </a:t>
            </a:r>
            <a:br>
              <a:rPr lang="en-US" sz="800">
                <a:solidFill>
                  <a:srgbClr val="5A6B85"/>
                </a:solidFill>
              </a:rPr>
            </a:br>
            <a:r>
              <a:rPr lang="en-US" sz="800">
                <a:solidFill>
                  <a:srgbClr val="5A6B85"/>
                </a:solidFill>
              </a:rPr>
              <a:t>the previous recursive calls begin returning one by one.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f597dbd1dc_0_3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f597dbd1dc_0_40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02: Change </a:t>
            </a:r>
            <a:r>
              <a:rPr b="1" lang="en-US" sz="1300">
                <a:solidFill>
                  <a:srgbClr val="172B4D"/>
                </a:solidFill>
              </a:rPr>
              <a:t>Recursive call order (</a:t>
            </a: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Print 4 to 1)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f597dbd1dc_0_40"/>
          <p:cNvSpPr/>
          <p:nvPr/>
        </p:nvSpPr>
        <p:spPr>
          <a:xfrm>
            <a:off x="288194" y="363004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f597dbd1dc_0_40"/>
          <p:cNvSpPr/>
          <p:nvPr/>
        </p:nvSpPr>
        <p:spPr>
          <a:xfrm>
            <a:off x="237850" y="979926"/>
            <a:ext cx="2478300" cy="869700"/>
          </a:xfrm>
          <a:prstGeom prst="rect">
            <a:avLst/>
          </a:prstGeom>
          <a:solidFill>
            <a:srgbClr val="111827"/>
          </a:solidFill>
          <a:ln cap="flat" cmpd="sng" w="93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175" lIns="42375" spcFirstLastPara="1" rIns="42375" wrap="square" tIns="21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92"/>
              <a:buFont typeface="Verdana"/>
              <a:buNone/>
            </a:pPr>
            <a:r>
              <a:rPr b="0" i="0" lang="en-US" sz="686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show4to1Rec(int i) {</a:t>
            </a:r>
            <a:endParaRPr b="0" i="0" sz="686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92"/>
              <a:buFont typeface="Verdana"/>
              <a:buNone/>
            </a:pPr>
            <a:r>
              <a:rPr b="0" i="0" lang="en-US" sz="686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(i == 0) {</a:t>
            </a:r>
            <a:endParaRPr b="0" i="0" sz="686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92"/>
              <a:buFont typeface="Verdana"/>
              <a:buNone/>
            </a:pPr>
            <a:r>
              <a:rPr b="0" i="0" lang="en-US" sz="686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return;</a:t>
            </a:r>
            <a:endParaRPr b="0" i="0" sz="686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92"/>
              <a:buFont typeface="Verdana"/>
              <a:buNone/>
            </a:pPr>
            <a:r>
              <a:rPr b="0" i="0" lang="en-US" sz="686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686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92"/>
              <a:buFont typeface="Verdana"/>
              <a:buNone/>
            </a:pPr>
            <a:r>
              <a:rPr b="0" i="0" lang="en-US" sz="686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   System.out.println(i);</a:t>
            </a:r>
            <a:endParaRPr b="0" i="0" sz="686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92"/>
              <a:buFont typeface="Verdana"/>
              <a:buNone/>
            </a:pPr>
            <a:r>
              <a:rPr b="0" i="0" lang="en-US" sz="686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   show4to1Rec(i - 1);</a:t>
            </a:r>
            <a:endParaRPr b="0" i="0" sz="686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92"/>
              <a:buFont typeface="Verdana"/>
              <a:buNone/>
            </a:pPr>
            <a:r>
              <a:rPr b="0" i="0" lang="en-US" sz="686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686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5" name="Google Shape;535;g3f597dbd1dc_0_40"/>
          <p:cNvSpPr/>
          <p:nvPr/>
        </p:nvSpPr>
        <p:spPr>
          <a:xfrm>
            <a:off x="237857" y="2177904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f597dbd1dc_0_40"/>
          <p:cNvSpPr/>
          <p:nvPr/>
        </p:nvSpPr>
        <p:spPr>
          <a:xfrm>
            <a:off x="493001" y="2177904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f597dbd1dc_0_40"/>
          <p:cNvSpPr/>
          <p:nvPr/>
        </p:nvSpPr>
        <p:spPr>
          <a:xfrm>
            <a:off x="748144" y="2177904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3f597dbd1dc_0_40"/>
          <p:cNvSpPr/>
          <p:nvPr/>
        </p:nvSpPr>
        <p:spPr>
          <a:xfrm>
            <a:off x="1003288" y="2177904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f597dbd1dc_0_40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f597dbd1dc_0_40"/>
          <p:cNvSpPr/>
          <p:nvPr/>
        </p:nvSpPr>
        <p:spPr>
          <a:xfrm>
            <a:off x="2948998" y="979926"/>
            <a:ext cx="2478300" cy="888300"/>
          </a:xfrm>
          <a:prstGeom prst="rect">
            <a:avLst/>
          </a:prstGeom>
          <a:solidFill>
            <a:srgbClr val="111827"/>
          </a:solidFill>
          <a:ln cap="flat" cmpd="sng" w="93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175" lIns="42375" spcFirstLastPara="1" rIns="42375" wrap="square" tIns="21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92"/>
              <a:buFont typeface="Verdana"/>
              <a:buNone/>
            </a:pPr>
            <a:r>
              <a:rPr b="0" i="0" lang="en-US" sz="686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show4to1Rec(int i) {</a:t>
            </a:r>
            <a:endParaRPr b="0" i="0" sz="686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92"/>
              <a:buFont typeface="Verdana"/>
              <a:buNone/>
            </a:pPr>
            <a:r>
              <a:rPr b="0" i="0" lang="en-US" sz="686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(i == 0) {</a:t>
            </a:r>
            <a:endParaRPr b="0" i="0" sz="686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92"/>
              <a:buFont typeface="Verdana"/>
              <a:buNone/>
            </a:pPr>
            <a:r>
              <a:rPr b="0" i="0" lang="en-US" sz="686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return;</a:t>
            </a:r>
            <a:endParaRPr b="0" i="0" sz="686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92"/>
              <a:buFont typeface="Verdana"/>
              <a:buNone/>
            </a:pPr>
            <a:r>
              <a:rPr b="0" i="0" lang="en-US" sz="686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686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92"/>
              <a:buFont typeface="Verdana"/>
              <a:buNone/>
            </a:pPr>
            <a:r>
              <a:rPr b="0" i="0" lang="en-US" sz="686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   show4to1Rec(i - 1);</a:t>
            </a:r>
            <a:br>
              <a:rPr b="0" i="0" lang="en-US" sz="686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686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r>
              <a:rPr lang="en-US" sz="686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System.out.println(i);</a:t>
            </a:r>
            <a:endParaRPr b="0" i="0" sz="686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92"/>
              <a:buFont typeface="Verdana"/>
              <a:buNone/>
            </a:pPr>
            <a:r>
              <a:rPr b="0" i="0" lang="en-US" sz="686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686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1" name="Google Shape;541;g3f597dbd1dc_0_40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f597dbd1dc_0_40"/>
          <p:cNvSpPr/>
          <p:nvPr/>
        </p:nvSpPr>
        <p:spPr>
          <a:xfrm>
            <a:off x="516450" y="1967467"/>
            <a:ext cx="25299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5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g3f597dbd1dc_0_40"/>
          <p:cNvSpPr/>
          <p:nvPr/>
        </p:nvSpPr>
        <p:spPr>
          <a:xfrm>
            <a:off x="2948900" y="846800"/>
            <a:ext cx="2478300" cy="1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490"/>
              <a:buFont typeface="Arial"/>
              <a:buNone/>
            </a:pPr>
            <a:r>
              <a:rPr b="1" lang="en-US" sz="784">
                <a:solidFill>
                  <a:srgbClr val="172B4D"/>
                </a:solidFill>
              </a:rPr>
              <a:t>Print after recursive call → reverse/bakward order.</a:t>
            </a:r>
            <a:endParaRPr b="1" sz="784">
              <a:solidFill>
                <a:srgbClr val="172B4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490"/>
              <a:buFont typeface="Arial"/>
              <a:buNone/>
            </a:pPr>
            <a:r>
              <a:t/>
            </a:r>
            <a:endParaRPr b="1" sz="784">
              <a:solidFill>
                <a:srgbClr val="172B4D"/>
              </a:solidFill>
            </a:endParaRPr>
          </a:p>
        </p:txBody>
      </p:sp>
      <p:sp>
        <p:nvSpPr>
          <p:cNvPr id="544" name="Google Shape;544;g3f597dbd1dc_0_40"/>
          <p:cNvSpPr/>
          <p:nvPr/>
        </p:nvSpPr>
        <p:spPr>
          <a:xfrm>
            <a:off x="262056" y="873176"/>
            <a:ext cx="2478300" cy="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490"/>
              <a:buFont typeface="Arial"/>
              <a:buNone/>
            </a:pPr>
            <a:r>
              <a:rPr b="1" lang="en-US" sz="784">
                <a:solidFill>
                  <a:srgbClr val="172B4D"/>
                </a:solidFill>
              </a:rPr>
              <a:t>Print before recursive call → forward order.</a:t>
            </a:r>
            <a:endParaRPr b="1" sz="784">
              <a:solidFill>
                <a:srgbClr val="172B4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490"/>
              <a:buFont typeface="Arial"/>
              <a:buNone/>
            </a:pPr>
            <a:r>
              <a:t/>
            </a:r>
            <a:endParaRPr b="1" sz="784">
              <a:solidFill>
                <a:srgbClr val="172B4D"/>
              </a:solidFill>
            </a:endParaRPr>
          </a:p>
        </p:txBody>
      </p:sp>
      <p:sp>
        <p:nvSpPr>
          <p:cNvPr id="545" name="Google Shape;545;g3f597dbd1dc_0_40"/>
          <p:cNvSpPr/>
          <p:nvPr/>
        </p:nvSpPr>
        <p:spPr>
          <a:xfrm>
            <a:off x="194600" y="359175"/>
            <a:ext cx="38286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B85"/>
                </a:solidFill>
              </a:rPr>
              <a:t>Change Recursive call order to get the backward print</a:t>
            </a:r>
            <a:endParaRPr sz="800">
              <a:solidFill>
                <a:srgbClr val="5A6B8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B85"/>
                </a:solidFill>
              </a:rPr>
              <a:t>After the base case returns,  the previous recursive calls begin returning one by one.</a:t>
            </a:r>
            <a:endParaRPr sz="800">
              <a:solidFill>
                <a:srgbClr val="5A6B8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t/>
            </a:r>
            <a:endParaRPr sz="800">
              <a:solidFill>
                <a:srgbClr val="5A6B85"/>
              </a:solidFill>
            </a:endParaRPr>
          </a:p>
        </p:txBody>
      </p:sp>
      <p:sp>
        <p:nvSpPr>
          <p:cNvPr id="546" name="Google Shape;546;g3f597dbd1dc_0_40"/>
          <p:cNvSpPr/>
          <p:nvPr/>
        </p:nvSpPr>
        <p:spPr>
          <a:xfrm>
            <a:off x="4105800" y="2157463"/>
            <a:ext cx="15204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Call stack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3f597dbd1dc_0_40"/>
          <p:cNvSpPr/>
          <p:nvPr/>
        </p:nvSpPr>
        <p:spPr>
          <a:xfrm>
            <a:off x="4105800" y="2261297"/>
            <a:ext cx="13098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</a:t>
            </a:r>
            <a:r>
              <a:rPr b="1" lang="en-US" sz="600">
                <a:solidFill>
                  <a:srgbClr val="1F2937"/>
                </a:solidFill>
              </a:rPr>
              <a:t>4</a:t>
            </a: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1" i="0" lang="en-US" sz="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(Call from main method)</a:t>
            </a:r>
            <a:endParaRPr b="1" i="0" sz="600" u="none" cap="none" strike="noStrike">
              <a:solidFill>
                <a:srgbClr val="0000FF"/>
              </a:solidFill>
            </a:endParaRPr>
          </a:p>
        </p:txBody>
      </p:sp>
      <p:sp>
        <p:nvSpPr>
          <p:cNvPr id="548" name="Google Shape;548;g3f597dbd1dc_0_40"/>
          <p:cNvSpPr/>
          <p:nvPr/>
        </p:nvSpPr>
        <p:spPr>
          <a:xfrm>
            <a:off x="4105800" y="2425700"/>
            <a:ext cx="13098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show(4 - 1 = </a:t>
            </a:r>
            <a:r>
              <a:rPr b="1" lang="en-US" sz="600">
                <a:solidFill>
                  <a:srgbClr val="1F2937"/>
                </a:solidFill>
              </a:rPr>
              <a:t>3</a:t>
            </a: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g3f597dbd1dc_0_40"/>
          <p:cNvSpPr/>
          <p:nvPr/>
        </p:nvSpPr>
        <p:spPr>
          <a:xfrm>
            <a:off x="4105800" y="2590104"/>
            <a:ext cx="13098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</a:t>
            </a:r>
            <a:r>
              <a:rPr b="1" lang="en-US" sz="600">
                <a:solidFill>
                  <a:srgbClr val="1F2937"/>
                </a:solidFill>
              </a:rPr>
              <a:t>3 - 1 = 2</a:t>
            </a: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f597dbd1dc_0_40"/>
          <p:cNvSpPr/>
          <p:nvPr/>
        </p:nvSpPr>
        <p:spPr>
          <a:xfrm>
            <a:off x="4105800" y="2754508"/>
            <a:ext cx="13098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</a:t>
            </a:r>
            <a:r>
              <a:rPr b="1" lang="en-US" sz="600">
                <a:solidFill>
                  <a:srgbClr val="1F2937"/>
                </a:solidFill>
              </a:rPr>
              <a:t>2 - 1 = 1</a:t>
            </a: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f597dbd1dc_0_40"/>
          <p:cNvSpPr/>
          <p:nvPr/>
        </p:nvSpPr>
        <p:spPr>
          <a:xfrm>
            <a:off x="4105800" y="2918913"/>
            <a:ext cx="13098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</a:t>
            </a:r>
            <a:r>
              <a:rPr b="1" lang="en-US" sz="600">
                <a:solidFill>
                  <a:srgbClr val="1F2937"/>
                </a:solidFill>
              </a:rPr>
              <a:t>1 - 1 = 0</a:t>
            </a: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i="0" lang="en-US" sz="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(Base case) stops</a:t>
            </a:r>
            <a:endParaRPr b="0" i="0" sz="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f597dbd1dc_0_40"/>
          <p:cNvSpPr/>
          <p:nvPr/>
        </p:nvSpPr>
        <p:spPr>
          <a:xfrm>
            <a:off x="2940801" y="2043250"/>
            <a:ext cx="13446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f597dbd1dc_0_40"/>
          <p:cNvSpPr/>
          <p:nvPr/>
        </p:nvSpPr>
        <p:spPr>
          <a:xfrm>
            <a:off x="2972351" y="2174368"/>
            <a:ext cx="1845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f597dbd1dc_0_40"/>
          <p:cNvSpPr/>
          <p:nvPr/>
        </p:nvSpPr>
        <p:spPr>
          <a:xfrm>
            <a:off x="3199043" y="2174368"/>
            <a:ext cx="1845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g3f597dbd1dc_0_40"/>
          <p:cNvSpPr/>
          <p:nvPr/>
        </p:nvSpPr>
        <p:spPr>
          <a:xfrm>
            <a:off x="3425734" y="2174368"/>
            <a:ext cx="1845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3f597dbd1dc_0_40"/>
          <p:cNvSpPr/>
          <p:nvPr/>
        </p:nvSpPr>
        <p:spPr>
          <a:xfrm>
            <a:off x="3652426" y="2174368"/>
            <a:ext cx="1845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f597dbd1dc_0_40"/>
          <p:cNvSpPr/>
          <p:nvPr/>
        </p:nvSpPr>
        <p:spPr>
          <a:xfrm>
            <a:off x="237850" y="2014375"/>
            <a:ext cx="14715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f597dbd1dc_0_40"/>
          <p:cNvSpPr/>
          <p:nvPr/>
        </p:nvSpPr>
        <p:spPr>
          <a:xfrm>
            <a:off x="1419070" y="2101075"/>
            <a:ext cx="14190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Call stack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f597dbd1dc_0_40"/>
          <p:cNvSpPr/>
          <p:nvPr/>
        </p:nvSpPr>
        <p:spPr>
          <a:xfrm>
            <a:off x="1419070" y="2204910"/>
            <a:ext cx="1222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</a:t>
            </a:r>
            <a:r>
              <a:rPr b="1" lang="en-US" sz="600">
                <a:solidFill>
                  <a:srgbClr val="1F2937"/>
                </a:solidFill>
              </a:rPr>
              <a:t>4</a:t>
            </a: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1" i="0" lang="en-US" sz="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(Call from main method)</a:t>
            </a:r>
            <a:endParaRPr b="1" i="0" sz="600" u="none" cap="none" strike="noStrike">
              <a:solidFill>
                <a:srgbClr val="0000FF"/>
              </a:solidFill>
            </a:endParaRPr>
          </a:p>
        </p:txBody>
      </p:sp>
      <p:sp>
        <p:nvSpPr>
          <p:cNvPr id="560" name="Google Shape;560;g3f597dbd1dc_0_40"/>
          <p:cNvSpPr/>
          <p:nvPr/>
        </p:nvSpPr>
        <p:spPr>
          <a:xfrm>
            <a:off x="1419070" y="2369313"/>
            <a:ext cx="1222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show(4 - 1 = </a:t>
            </a:r>
            <a:r>
              <a:rPr b="1" lang="en-US" sz="600">
                <a:solidFill>
                  <a:srgbClr val="1F2937"/>
                </a:solidFill>
              </a:rPr>
              <a:t>3</a:t>
            </a: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3f597dbd1dc_0_40"/>
          <p:cNvSpPr/>
          <p:nvPr/>
        </p:nvSpPr>
        <p:spPr>
          <a:xfrm>
            <a:off x="1419070" y="2533717"/>
            <a:ext cx="1222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</a:t>
            </a:r>
            <a:r>
              <a:rPr b="1" lang="en-US" sz="600">
                <a:solidFill>
                  <a:srgbClr val="1F2937"/>
                </a:solidFill>
              </a:rPr>
              <a:t>3 - 1 = 2</a:t>
            </a: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3f597dbd1dc_0_40"/>
          <p:cNvSpPr/>
          <p:nvPr/>
        </p:nvSpPr>
        <p:spPr>
          <a:xfrm>
            <a:off x="1419070" y="2698121"/>
            <a:ext cx="1222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</a:t>
            </a:r>
            <a:r>
              <a:rPr b="1" lang="en-US" sz="600">
                <a:solidFill>
                  <a:srgbClr val="1F2937"/>
                </a:solidFill>
              </a:rPr>
              <a:t>2 - 1 = 1</a:t>
            </a: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f597dbd1dc_0_40"/>
          <p:cNvSpPr/>
          <p:nvPr/>
        </p:nvSpPr>
        <p:spPr>
          <a:xfrm>
            <a:off x="1419070" y="2862525"/>
            <a:ext cx="1222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show(</a:t>
            </a:r>
            <a:r>
              <a:rPr b="1" lang="en-US" sz="600">
                <a:solidFill>
                  <a:srgbClr val="1F2937"/>
                </a:solidFill>
              </a:rPr>
              <a:t>1 - 1 = 0</a:t>
            </a: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i="0" lang="en-US" sz="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(Base case) stops</a:t>
            </a:r>
            <a:endParaRPr b="0" i="0" sz="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g3f597dbd1dc_0_40"/>
          <p:cNvSpPr txBox="1"/>
          <p:nvPr/>
        </p:nvSpPr>
        <p:spPr>
          <a:xfrm>
            <a:off x="2911000" y="2376850"/>
            <a:ext cx="154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0000FF"/>
                </a:solidFill>
              </a:rPr>
              <a:t>main(){</a:t>
            </a:r>
            <a:br>
              <a:rPr b="1" lang="en-US" sz="600">
                <a:solidFill>
                  <a:srgbClr val="0000FF"/>
                </a:solidFill>
              </a:rPr>
            </a:br>
            <a:r>
              <a:rPr b="1" lang="en-US" sz="600">
                <a:solidFill>
                  <a:srgbClr val="0000FF"/>
                </a:solidFill>
              </a:rPr>
              <a:t>     ……</a:t>
            </a:r>
            <a:br>
              <a:rPr b="1" lang="en-US" sz="600">
                <a:solidFill>
                  <a:srgbClr val="0000FF"/>
                </a:solidFill>
              </a:rPr>
            </a:br>
            <a:r>
              <a:rPr b="1" lang="en-US" sz="600">
                <a:solidFill>
                  <a:srgbClr val="0000FF"/>
                </a:solidFill>
              </a:rPr>
              <a:t>     show(4)</a:t>
            </a:r>
            <a:br>
              <a:rPr b="1" lang="en-US" sz="600">
                <a:solidFill>
                  <a:srgbClr val="0000FF"/>
                </a:solidFill>
              </a:rPr>
            </a:br>
            <a:r>
              <a:rPr b="1" lang="en-US" sz="600">
                <a:solidFill>
                  <a:srgbClr val="0000FF"/>
                </a:solidFill>
              </a:rPr>
              <a:t>     ……</a:t>
            </a:r>
            <a:br>
              <a:rPr b="1" lang="en-US" sz="600">
                <a:solidFill>
                  <a:srgbClr val="0000FF"/>
                </a:solidFill>
              </a:rPr>
            </a:br>
            <a:r>
              <a:rPr b="1" lang="en-US" sz="600">
                <a:solidFill>
                  <a:srgbClr val="0000FF"/>
                </a:solidFill>
              </a:rPr>
              <a:t>}</a:t>
            </a:r>
            <a:endParaRPr b="1" sz="600">
              <a:solidFill>
                <a:srgbClr val="0000FF"/>
              </a:solidFill>
            </a:endParaRPr>
          </a:p>
        </p:txBody>
      </p:sp>
      <p:cxnSp>
        <p:nvCxnSpPr>
          <p:cNvPr id="565" name="Google Shape;565;g3f597dbd1dc_0_40"/>
          <p:cNvCxnSpPr/>
          <p:nvPr/>
        </p:nvCxnSpPr>
        <p:spPr>
          <a:xfrm>
            <a:off x="4042375" y="2245375"/>
            <a:ext cx="5100" cy="6996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6" name="Google Shape;566;g3f597dbd1dc_0_40"/>
          <p:cNvCxnSpPr/>
          <p:nvPr/>
        </p:nvCxnSpPr>
        <p:spPr>
          <a:xfrm>
            <a:off x="1312438" y="2245375"/>
            <a:ext cx="5100" cy="6996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f6507c2e0b_0_60"/>
          <p:cNvSpPr/>
          <p:nvPr/>
        </p:nvSpPr>
        <p:spPr>
          <a:xfrm>
            <a:off x="328777" y="178291"/>
            <a:ext cx="5094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78"/>
              <a:buFont typeface="Play"/>
              <a:buNone/>
            </a:pPr>
            <a:r>
              <a:rPr b="1" i="0" lang="en-US" sz="1578" u="none" cap="none" strike="noStrike">
                <a:solidFill>
                  <a:srgbClr val="172B4D"/>
                </a:solidFill>
              </a:rPr>
              <a:t>Shortcut Rule for Recursion</a:t>
            </a:r>
            <a:endParaRPr i="0" sz="1578" u="none" cap="none" strike="noStrike">
              <a:solidFill>
                <a:srgbClr val="172B4D"/>
              </a:solidFill>
            </a:endParaRPr>
          </a:p>
        </p:txBody>
      </p:sp>
      <p:sp>
        <p:nvSpPr>
          <p:cNvPr id="572" name="Google Shape;572;g3f6507c2e0b_0_60"/>
          <p:cNvSpPr/>
          <p:nvPr/>
        </p:nvSpPr>
        <p:spPr>
          <a:xfrm>
            <a:off x="337267" y="403277"/>
            <a:ext cx="39054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43"/>
              <a:buFont typeface="Arial"/>
              <a:buNone/>
            </a:pPr>
            <a:r>
              <a:rPr b="0" i="0" lang="en-US" sz="743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position of the work decides the output order.</a:t>
            </a:r>
            <a:endParaRPr b="0" i="0" sz="7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3f6507c2e0b_0_60"/>
          <p:cNvSpPr/>
          <p:nvPr/>
        </p:nvSpPr>
        <p:spPr>
          <a:xfrm>
            <a:off x="371227" y="657978"/>
            <a:ext cx="2356200" cy="195600"/>
          </a:xfrm>
          <a:prstGeom prst="rect">
            <a:avLst/>
          </a:prstGeom>
          <a:solidFill>
            <a:srgbClr val="2563EB"/>
          </a:solidFill>
          <a:ln cap="flat" cmpd="sng" w="44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8"/>
              <a:buFont typeface="Arial"/>
              <a:buNone/>
            </a:pPr>
            <a:r>
              <a:rPr b="1" i="0" lang="en-US" sz="9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Rule 1</a:t>
            </a:r>
            <a:endParaRPr b="0" i="0" sz="9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3f6507c2e0b_0_60"/>
          <p:cNvSpPr/>
          <p:nvPr/>
        </p:nvSpPr>
        <p:spPr>
          <a:xfrm>
            <a:off x="371227" y="912679"/>
            <a:ext cx="23562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8"/>
              <a:buFont typeface="Arial"/>
              <a:buNone/>
            </a:pPr>
            <a:r>
              <a:rPr b="1" i="0" lang="en-US" sz="1068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Work Before Recursive Call</a:t>
            </a:r>
            <a:endParaRPr b="0" i="0" sz="106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f6507c2e0b_0_60"/>
          <p:cNvSpPr/>
          <p:nvPr/>
        </p:nvSpPr>
        <p:spPr>
          <a:xfrm>
            <a:off x="371227" y="1154646"/>
            <a:ext cx="23562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96"/>
              <a:buFont typeface="Arial"/>
              <a:buNone/>
            </a:pPr>
            <a:r>
              <a:rPr b="0" i="0" lang="en-US" sz="696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Order inside the method:</a:t>
            </a:r>
            <a:endParaRPr b="0" i="0" sz="69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g3f6507c2e0b_0_60"/>
          <p:cNvSpPr/>
          <p:nvPr/>
        </p:nvSpPr>
        <p:spPr>
          <a:xfrm>
            <a:off x="468862" y="1337182"/>
            <a:ext cx="2164800" cy="318300"/>
          </a:xfrm>
          <a:prstGeom prst="rect">
            <a:avLst/>
          </a:prstGeom>
          <a:solidFill>
            <a:srgbClr val="FFFFFF"/>
          </a:solidFill>
          <a:ln cap="flat" cmpd="sng" w="88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" lIns="450" spcFirstLastPara="1" rIns="450" wrap="square" tIns="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2"/>
              <a:buFont typeface="Arial"/>
              <a:buNone/>
            </a:pPr>
            <a:r>
              <a:rPr b="0" i="0" lang="en-US" sz="882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Perform the work</a:t>
            </a:r>
            <a:endParaRPr b="0" i="0" sz="88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2"/>
              <a:buFont typeface="Arial"/>
              <a:buNone/>
            </a:pPr>
            <a:r>
              <a:rPr b="0" i="0" lang="en-US" sz="882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Make the recursive call</a:t>
            </a:r>
            <a:endParaRPr b="0" i="0" sz="88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3f6507c2e0b_0_60"/>
          <p:cNvSpPr/>
          <p:nvPr/>
        </p:nvSpPr>
        <p:spPr>
          <a:xfrm>
            <a:off x="710825" y="1793650"/>
            <a:ext cx="1922700" cy="229200"/>
          </a:xfrm>
          <a:prstGeom prst="rect">
            <a:avLst/>
          </a:prstGeom>
          <a:solidFill>
            <a:srgbClr val="EFF6FF"/>
          </a:solidFill>
          <a:ln cap="flat" cmpd="sng" w="59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" lIns="450" spcFirstLastPara="1" rIns="450" wrap="square" tIns="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36"/>
              <a:buFont typeface="Courier New"/>
              <a:buNone/>
            </a:pPr>
            <a:r>
              <a:rPr b="0" i="0" lang="en-US" sz="836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work;</a:t>
            </a:r>
            <a:endParaRPr b="0" i="0" sz="83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836"/>
              <a:buFont typeface="Courier New"/>
              <a:buNone/>
            </a:pPr>
            <a:r>
              <a:rPr b="0" i="0" lang="en-US" sz="836" u="none" cap="none" strike="noStrik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methodCall();</a:t>
            </a:r>
            <a:endParaRPr b="0" i="0" sz="83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g3f6507c2e0b_0_60"/>
          <p:cNvSpPr/>
          <p:nvPr/>
        </p:nvSpPr>
        <p:spPr>
          <a:xfrm>
            <a:off x="371227" y="2228636"/>
            <a:ext cx="2356200" cy="229200"/>
          </a:xfrm>
          <a:prstGeom prst="rect">
            <a:avLst/>
          </a:prstGeom>
          <a:solidFill>
            <a:srgbClr val="DBEAFE"/>
          </a:solidFill>
          <a:ln cap="flat" cmpd="sng" w="44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Result: Forward / original order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f6507c2e0b_0_60"/>
          <p:cNvSpPr/>
          <p:nvPr/>
        </p:nvSpPr>
        <p:spPr>
          <a:xfrm>
            <a:off x="371227" y="2568238"/>
            <a:ext cx="23562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89"/>
              <a:buFont typeface="Arial"/>
              <a:buNone/>
            </a:pPr>
            <a:r>
              <a:rPr b="0" i="0" lang="en-US" sz="789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Example output: 1  2  3  4</a:t>
            </a:r>
            <a:endParaRPr b="0" i="0" sz="7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f6507c2e0b_0_60"/>
          <p:cNvSpPr/>
          <p:nvPr/>
        </p:nvSpPr>
        <p:spPr>
          <a:xfrm>
            <a:off x="3037102" y="657978"/>
            <a:ext cx="2356200" cy="195600"/>
          </a:xfrm>
          <a:prstGeom prst="rect">
            <a:avLst/>
          </a:prstGeom>
          <a:solidFill>
            <a:srgbClr val="7C3AED"/>
          </a:solidFill>
          <a:ln cap="flat" cmpd="sng" w="44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8"/>
              <a:buFont typeface="Arial"/>
              <a:buNone/>
            </a:pPr>
            <a:r>
              <a:rPr b="1" i="0" lang="en-US" sz="9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Rule 2</a:t>
            </a:r>
            <a:endParaRPr b="0" i="0" sz="9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f6507c2e0b_0_60"/>
          <p:cNvSpPr/>
          <p:nvPr/>
        </p:nvSpPr>
        <p:spPr>
          <a:xfrm>
            <a:off x="3037102" y="912679"/>
            <a:ext cx="23562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8"/>
              <a:buFont typeface="Arial"/>
              <a:buNone/>
            </a:pPr>
            <a:r>
              <a:rPr b="1" i="0" lang="en-US" sz="1068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Work After Recursive Call</a:t>
            </a:r>
            <a:endParaRPr b="0" i="0" sz="106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f6507c2e0b_0_60"/>
          <p:cNvSpPr/>
          <p:nvPr/>
        </p:nvSpPr>
        <p:spPr>
          <a:xfrm>
            <a:off x="3037102" y="1154646"/>
            <a:ext cx="2356200" cy="1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696"/>
              <a:buFont typeface="Arial"/>
              <a:buNone/>
            </a:pPr>
            <a:r>
              <a:rPr b="0" i="0" lang="en-US" sz="696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Order inside the method:</a:t>
            </a:r>
            <a:endParaRPr b="0" i="0" sz="69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f6507c2e0b_0_60"/>
          <p:cNvSpPr/>
          <p:nvPr/>
        </p:nvSpPr>
        <p:spPr>
          <a:xfrm>
            <a:off x="3134737" y="1337182"/>
            <a:ext cx="2164800" cy="318300"/>
          </a:xfrm>
          <a:prstGeom prst="rect">
            <a:avLst/>
          </a:prstGeom>
          <a:solidFill>
            <a:srgbClr val="FFFFFF"/>
          </a:solidFill>
          <a:ln cap="flat" cmpd="sng" w="8825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" lIns="450" spcFirstLastPara="1" rIns="450" wrap="square" tIns="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2"/>
              <a:buFont typeface="Arial"/>
              <a:buNone/>
            </a:pPr>
            <a:r>
              <a:rPr b="0" i="0" lang="en-US" sz="882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Make the recursive call</a:t>
            </a:r>
            <a:endParaRPr b="0" i="0" sz="88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2"/>
              <a:buFont typeface="Arial"/>
              <a:buNone/>
            </a:pPr>
            <a:r>
              <a:rPr b="0" i="0" lang="en-US" sz="882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Perform the work</a:t>
            </a:r>
            <a:endParaRPr b="0" i="0" sz="88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f6507c2e0b_0_60"/>
          <p:cNvSpPr/>
          <p:nvPr/>
        </p:nvSpPr>
        <p:spPr>
          <a:xfrm>
            <a:off x="3540775" y="1734299"/>
            <a:ext cx="1758600" cy="229200"/>
          </a:xfrm>
          <a:prstGeom prst="rect">
            <a:avLst/>
          </a:prstGeom>
          <a:solidFill>
            <a:srgbClr val="F5F3FF"/>
          </a:solidFill>
          <a:ln cap="flat" cmpd="sng" w="59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" lIns="450" spcFirstLastPara="1" rIns="450" wrap="square" tIns="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836"/>
              <a:buFont typeface="Courier New"/>
              <a:buNone/>
            </a:pPr>
            <a:r>
              <a:rPr b="0" i="0" lang="en-US" sz="836" u="none" cap="none" strike="noStrik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methodCall();</a:t>
            </a:r>
            <a:endParaRPr b="0" i="0" sz="83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836"/>
              <a:buFont typeface="Courier New"/>
              <a:buNone/>
            </a:pPr>
            <a:r>
              <a:rPr b="0" i="0" lang="en-US" sz="836" u="none" cap="none" strike="noStrik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work;</a:t>
            </a:r>
            <a:endParaRPr b="0" i="0" sz="83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f6507c2e0b_0_60"/>
          <p:cNvSpPr/>
          <p:nvPr/>
        </p:nvSpPr>
        <p:spPr>
          <a:xfrm>
            <a:off x="3037102" y="2228636"/>
            <a:ext cx="2356200" cy="229200"/>
          </a:xfrm>
          <a:prstGeom prst="rect">
            <a:avLst/>
          </a:prstGeom>
          <a:solidFill>
            <a:srgbClr val="EDE9FE"/>
          </a:solidFill>
          <a:ln cap="flat" cmpd="sng" w="4425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5B21B6"/>
                </a:solidFill>
                <a:latin typeface="Arial"/>
                <a:ea typeface="Arial"/>
                <a:cs typeface="Arial"/>
                <a:sym typeface="Arial"/>
              </a:rPr>
              <a:t>Result: Backward / reverse order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g3f6507c2e0b_0_60"/>
          <p:cNvSpPr/>
          <p:nvPr/>
        </p:nvSpPr>
        <p:spPr>
          <a:xfrm>
            <a:off x="3037102" y="2568238"/>
            <a:ext cx="23562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89"/>
              <a:buFont typeface="Arial"/>
              <a:buNone/>
            </a:pPr>
            <a:r>
              <a:rPr b="0" i="0" lang="en-US" sz="789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Example output: 4  3  2  1</a:t>
            </a:r>
            <a:endParaRPr b="0" i="0" sz="7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7" name="Google Shape;587;g3f6507c2e0b_0_60"/>
          <p:cNvCxnSpPr/>
          <p:nvPr/>
        </p:nvCxnSpPr>
        <p:spPr>
          <a:xfrm>
            <a:off x="2884281" y="657978"/>
            <a:ext cx="0" cy="2101200"/>
          </a:xfrm>
          <a:prstGeom prst="straightConnector1">
            <a:avLst/>
          </a:prstGeom>
          <a:noFill/>
          <a:ln cap="flat" cmpd="sng" w="7050">
            <a:solidFill>
              <a:srgbClr val="CBD5E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8" name="Google Shape;588;g3f6507c2e0b_0_60"/>
          <p:cNvSpPr/>
          <p:nvPr/>
        </p:nvSpPr>
        <p:spPr>
          <a:xfrm>
            <a:off x="625928" y="2878124"/>
            <a:ext cx="4499700" cy="161400"/>
          </a:xfrm>
          <a:prstGeom prst="rect">
            <a:avLst/>
          </a:prstGeom>
          <a:solidFill>
            <a:srgbClr val="FFFFFF"/>
          </a:solidFill>
          <a:ln cap="flat" cmpd="sng" w="59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6"/>
              <a:buFont typeface="Arial"/>
              <a:buNone/>
            </a:pPr>
            <a:r>
              <a:rPr b="1" i="0" lang="en-US" sz="836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Easy reminder:  Work </a:t>
            </a:r>
            <a:r>
              <a:rPr b="1" i="0" lang="en-US" sz="836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before call</a:t>
            </a:r>
            <a:r>
              <a:rPr b="1" i="0" lang="en-US" sz="836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→ Forward   |   Work </a:t>
            </a:r>
            <a:r>
              <a:rPr b="1" i="0" lang="en-US" sz="836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after call</a:t>
            </a:r>
            <a:r>
              <a:rPr b="1" i="0" lang="en-US" sz="836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→ Reverse</a:t>
            </a:r>
            <a:endParaRPr b="0" i="0" sz="83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f5972311be_0_75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03: Sum from 1 to N (version 1)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g3f5972311be_0_75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The recursive method returns current value + result of the remaining range.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3f5972311be_0_75"/>
          <p:cNvSpPr/>
          <p:nvPr/>
        </p:nvSpPr>
        <p:spPr>
          <a:xfrm>
            <a:off x="265902" y="714951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Iterative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f5972311be_0_75"/>
          <p:cNvSpPr/>
          <p:nvPr/>
        </p:nvSpPr>
        <p:spPr>
          <a:xfrm>
            <a:off x="265913" y="836100"/>
            <a:ext cx="2529900" cy="11169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sum1toNWhile(int n)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sum = 0;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i = 1;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while (i &lt;= n)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sum += i;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i++;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sum;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8" name="Google Shape;598;g3f5972311be_0_75"/>
          <p:cNvSpPr/>
          <p:nvPr/>
        </p:nvSpPr>
        <p:spPr>
          <a:xfrm>
            <a:off x="2934098" y="714951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g3f5972311be_0_75"/>
          <p:cNvSpPr/>
          <p:nvPr/>
        </p:nvSpPr>
        <p:spPr>
          <a:xfrm>
            <a:off x="2934088" y="836100"/>
            <a:ext cx="2529900" cy="9654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sum1toNRec(int i, int n)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(i </a:t>
            </a:r>
            <a:r>
              <a:rPr lang="en-US" sz="700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&gt;</a:t>
            </a: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n)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 </a:t>
            </a:r>
            <a:r>
              <a:rPr lang="en-US" sz="700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i + sum1toNRec(i + 1, n);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0" name="Google Shape;600;g3f5972311be_0_75"/>
          <p:cNvSpPr/>
          <p:nvPr/>
        </p:nvSpPr>
        <p:spPr>
          <a:xfrm>
            <a:off x="3727480" y="2064891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sum(1,5) = 1 + </a:t>
            </a:r>
            <a:r>
              <a:rPr b="0" i="0" lang="en-US" sz="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sum(2,5)</a:t>
            </a: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= 1 + </a:t>
            </a:r>
            <a:r>
              <a:rPr b="0" i="0" lang="en-US" sz="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= 15</a:t>
            </a:r>
            <a:endParaRPr sz="700">
              <a:solidFill>
                <a:srgbClr val="1F2937"/>
              </a:solidFill>
            </a:endParaRPr>
          </a:p>
        </p:txBody>
      </p:sp>
      <p:sp>
        <p:nvSpPr>
          <p:cNvPr id="601" name="Google Shape;601;g3f5972311be_0_75"/>
          <p:cNvSpPr/>
          <p:nvPr/>
        </p:nvSpPr>
        <p:spPr>
          <a:xfrm>
            <a:off x="3727480" y="2244353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sum(2,5) = 2 + </a:t>
            </a:r>
            <a:r>
              <a:rPr b="0" i="0" lang="en-US" sz="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sum(3,5)</a:t>
            </a: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700">
                <a:solidFill>
                  <a:srgbClr val="1F2937"/>
                </a:solidFill>
              </a:rPr>
              <a:t>2 + </a:t>
            </a:r>
            <a:r>
              <a:rPr lang="en-US" sz="700">
                <a:solidFill>
                  <a:srgbClr val="0000FF"/>
                </a:solidFill>
              </a:rPr>
              <a:t>12</a:t>
            </a:r>
            <a:r>
              <a:rPr lang="en-US" sz="700">
                <a:solidFill>
                  <a:srgbClr val="1F2937"/>
                </a:solidFill>
              </a:rPr>
              <a:t> = 14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g3f5972311be_0_75"/>
          <p:cNvSpPr/>
          <p:nvPr/>
        </p:nvSpPr>
        <p:spPr>
          <a:xfrm>
            <a:off x="3727480" y="2416840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sum(3,5) = 3 + </a:t>
            </a:r>
            <a:r>
              <a:rPr b="0" i="0" lang="en-US" sz="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sum(4,5</a:t>
            </a: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) = 3 + </a:t>
            </a:r>
            <a:r>
              <a:rPr b="0" i="0" lang="en-US" sz="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= 12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g3f5972311be_0_75"/>
          <p:cNvSpPr/>
          <p:nvPr/>
        </p:nvSpPr>
        <p:spPr>
          <a:xfrm>
            <a:off x="3727480" y="2577928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sum(4,5) = 4 + </a:t>
            </a:r>
            <a:r>
              <a:rPr b="0" i="0" lang="en-US" sz="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sum(5,5)</a:t>
            </a: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700">
                <a:solidFill>
                  <a:srgbClr val="1F2937"/>
                </a:solidFill>
              </a:rPr>
              <a:t>= 4 + </a:t>
            </a:r>
            <a:r>
              <a:rPr lang="en-US" sz="700">
                <a:solidFill>
                  <a:srgbClr val="0000FF"/>
                </a:solidFill>
              </a:rPr>
              <a:t>5</a:t>
            </a:r>
            <a:r>
              <a:rPr lang="en-US" sz="700">
                <a:solidFill>
                  <a:srgbClr val="1F2937"/>
                </a:solidFill>
              </a:rPr>
              <a:t> = 9</a:t>
            </a:r>
            <a:endParaRPr sz="700">
              <a:solidFill>
                <a:srgbClr val="1F2937"/>
              </a:solidFill>
            </a:endParaRPr>
          </a:p>
        </p:txBody>
      </p:sp>
      <p:sp>
        <p:nvSpPr>
          <p:cNvPr id="604" name="Google Shape;604;g3f5972311be_0_75"/>
          <p:cNvSpPr/>
          <p:nvPr/>
        </p:nvSpPr>
        <p:spPr>
          <a:xfrm>
            <a:off x="3751980" y="2738003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sum(5,5) = 5 </a:t>
            </a:r>
            <a:r>
              <a:rPr lang="en-US" sz="700">
                <a:solidFill>
                  <a:srgbClr val="0000FF"/>
                </a:solidFill>
              </a:rPr>
              <a:t>+ sum(6, 5) =</a:t>
            </a:r>
            <a:r>
              <a:rPr lang="en-US" sz="700">
                <a:solidFill>
                  <a:schemeClr val="dk1"/>
                </a:solidFill>
              </a:rPr>
              <a:t> 5 </a:t>
            </a:r>
            <a:r>
              <a:rPr lang="en-US" sz="700">
                <a:solidFill>
                  <a:srgbClr val="0000FF"/>
                </a:solidFill>
              </a:rPr>
              <a:t>+ 0 </a:t>
            </a:r>
            <a:r>
              <a:rPr lang="en-US" sz="700">
                <a:solidFill>
                  <a:schemeClr val="dk1"/>
                </a:solidFill>
              </a:rPr>
              <a:t>= 5</a:t>
            </a:r>
            <a:endParaRPr i="0" sz="700" u="none" cap="none" strike="noStrike">
              <a:solidFill>
                <a:schemeClr val="dk1"/>
              </a:solidFill>
            </a:endParaRPr>
          </a:p>
        </p:txBody>
      </p:sp>
      <p:sp>
        <p:nvSpPr>
          <p:cNvPr id="605" name="Google Shape;605;g3f5972311be_0_75"/>
          <p:cNvSpPr/>
          <p:nvPr/>
        </p:nvSpPr>
        <p:spPr>
          <a:xfrm>
            <a:off x="3751980" y="1879053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600"/>
              <a:buFont typeface="Arial"/>
              <a:buNone/>
            </a:pPr>
            <a:r>
              <a:rPr b="1" i="0" lang="en-US" sz="7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Result = 15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3f5972311be_0_75"/>
          <p:cNvSpPr/>
          <p:nvPr/>
        </p:nvSpPr>
        <p:spPr>
          <a:xfrm>
            <a:off x="2949281" y="1907038"/>
            <a:ext cx="7782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Call stack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g3f5972311be_0_75"/>
          <p:cNvSpPr/>
          <p:nvPr/>
        </p:nvSpPr>
        <p:spPr>
          <a:xfrm>
            <a:off x="2949281" y="2061048"/>
            <a:ext cx="670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sum(1,5)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g3f5972311be_0_75"/>
          <p:cNvSpPr/>
          <p:nvPr/>
        </p:nvSpPr>
        <p:spPr>
          <a:xfrm>
            <a:off x="2949281" y="2225453"/>
            <a:ext cx="670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sum(2,5)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3f5972311be_0_75"/>
          <p:cNvSpPr/>
          <p:nvPr/>
        </p:nvSpPr>
        <p:spPr>
          <a:xfrm>
            <a:off x="2949281" y="2389859"/>
            <a:ext cx="670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sum(3,5)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3f5972311be_0_75"/>
          <p:cNvSpPr/>
          <p:nvPr/>
        </p:nvSpPr>
        <p:spPr>
          <a:xfrm>
            <a:off x="2949281" y="2554265"/>
            <a:ext cx="670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sum(4,5)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3f5972311be_0_75"/>
          <p:cNvSpPr/>
          <p:nvPr/>
        </p:nvSpPr>
        <p:spPr>
          <a:xfrm>
            <a:off x="2949281" y="2718671"/>
            <a:ext cx="670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sum(5,5)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3f5972311be_0_75"/>
          <p:cNvSpPr txBox="1"/>
          <p:nvPr>
            <p:ph idx="4294967295" type="sldNum"/>
          </p:nvPr>
        </p:nvSpPr>
        <p:spPr>
          <a:xfrm>
            <a:off x="5220670" y="3011249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3f5972311be_0_75"/>
          <p:cNvSpPr/>
          <p:nvPr/>
        </p:nvSpPr>
        <p:spPr>
          <a:xfrm>
            <a:off x="250830" y="2064890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600"/>
              <a:buFont typeface="Arial"/>
              <a:buNone/>
            </a:pPr>
            <a:r>
              <a:rPr b="1" lang="en-US" sz="800">
                <a:solidFill>
                  <a:schemeClr val="dk2"/>
                </a:solidFill>
              </a:rPr>
              <a:t>Sum(5) </a:t>
            </a:r>
            <a:r>
              <a:rPr b="1" i="0" lang="en-US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 1 + 2 + 3 + 4 + 5 + 0 </a:t>
            </a:r>
            <a:r>
              <a:rPr b="1" i="0" lang="en-US" sz="8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 = 15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3f5972311be_0_75"/>
          <p:cNvSpPr/>
          <p:nvPr/>
        </p:nvSpPr>
        <p:spPr>
          <a:xfrm>
            <a:off x="2949281" y="2883071"/>
            <a:ext cx="670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</a:t>
            </a:r>
            <a:r>
              <a:rPr b="1" lang="en-US" sz="700">
                <a:solidFill>
                  <a:srgbClr val="1F2937"/>
                </a:solidFill>
              </a:rPr>
              <a:t>6</a:t>
            </a: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,5)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g3f5972311be_0_75"/>
          <p:cNvSpPr/>
          <p:nvPr/>
        </p:nvSpPr>
        <p:spPr>
          <a:xfrm>
            <a:off x="3727480" y="2898078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</a:t>
            </a:r>
            <a:r>
              <a:rPr lang="en-US" sz="700">
                <a:solidFill>
                  <a:srgbClr val="1F2937"/>
                </a:solidFill>
              </a:rPr>
              <a:t>6</a:t>
            </a: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,5) = </a:t>
            </a:r>
            <a:r>
              <a:rPr lang="en-US" sz="700">
                <a:solidFill>
                  <a:srgbClr val="1F2937"/>
                </a:solidFill>
              </a:rPr>
              <a:t>0</a:t>
            </a: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800" u="none" cap="none" strike="noStrike">
                <a:solidFill>
                  <a:srgbClr val="0000FF"/>
                </a:solidFill>
              </a:rPr>
              <a:t>(Base case)</a:t>
            </a:r>
            <a:endParaRPr b="1" i="0" sz="800" u="none" cap="none" strike="noStrike">
              <a:solidFill>
                <a:srgbClr val="0000FF"/>
              </a:solidFill>
            </a:endParaRPr>
          </a:p>
        </p:txBody>
      </p:sp>
      <p:sp>
        <p:nvSpPr>
          <p:cNvPr id="616" name="Google Shape;616;g3f5972311be_0_75"/>
          <p:cNvSpPr txBox="1"/>
          <p:nvPr/>
        </p:nvSpPr>
        <p:spPr>
          <a:xfrm>
            <a:off x="1725125" y="2244350"/>
            <a:ext cx="867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0000FF"/>
                </a:solidFill>
              </a:rPr>
              <a:t>main(){</a:t>
            </a:r>
            <a:br>
              <a:rPr b="1" lang="en-US" sz="800">
                <a:solidFill>
                  <a:srgbClr val="0000FF"/>
                </a:solidFill>
              </a:rPr>
            </a:br>
            <a:r>
              <a:rPr b="1" lang="en-US" sz="800">
                <a:solidFill>
                  <a:srgbClr val="0000FF"/>
                </a:solidFill>
              </a:rPr>
              <a:t>     </a:t>
            </a:r>
            <a:r>
              <a:rPr b="1" lang="en-US" sz="800">
                <a:solidFill>
                  <a:srgbClr val="0000FF"/>
                </a:solidFill>
              </a:rPr>
              <a:t>……</a:t>
            </a:r>
            <a:br>
              <a:rPr b="1" lang="en-US" sz="800">
                <a:solidFill>
                  <a:srgbClr val="0000FF"/>
                </a:solidFill>
              </a:rPr>
            </a:br>
            <a:r>
              <a:rPr b="1" lang="en-US" sz="800">
                <a:solidFill>
                  <a:srgbClr val="0000FF"/>
                </a:solidFill>
              </a:rPr>
              <a:t>     sum(1, 5)</a:t>
            </a:r>
            <a:br>
              <a:rPr b="1" lang="en-US" sz="800">
                <a:solidFill>
                  <a:srgbClr val="0000FF"/>
                </a:solidFill>
              </a:rPr>
            </a:br>
            <a:r>
              <a:rPr b="1" lang="en-US" sz="800">
                <a:solidFill>
                  <a:srgbClr val="0000FF"/>
                </a:solidFill>
              </a:rPr>
              <a:t>     ……</a:t>
            </a:r>
            <a:br>
              <a:rPr b="1" lang="en-US" sz="800">
                <a:solidFill>
                  <a:srgbClr val="0000FF"/>
                </a:solidFill>
              </a:rPr>
            </a:br>
            <a:r>
              <a:rPr b="1" lang="en-US" sz="800">
                <a:solidFill>
                  <a:srgbClr val="0000FF"/>
                </a:solidFill>
              </a:rPr>
              <a:t>}</a:t>
            </a:r>
            <a:endParaRPr b="1" sz="800">
              <a:solidFill>
                <a:srgbClr val="0000FF"/>
              </a:solidFill>
            </a:endParaRPr>
          </a:p>
        </p:txBody>
      </p:sp>
      <p:cxnSp>
        <p:nvCxnSpPr>
          <p:cNvPr id="617" name="Google Shape;617;g3f5972311be_0_75"/>
          <p:cNvCxnSpPr/>
          <p:nvPr/>
        </p:nvCxnSpPr>
        <p:spPr>
          <a:xfrm>
            <a:off x="2767850" y="2113550"/>
            <a:ext cx="6300" cy="802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f6507c2e0b_3_32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03: Sum from 1 to N </a:t>
            </a:r>
            <a:r>
              <a:rPr b="1" lang="en-US" sz="1300">
                <a:solidFill>
                  <a:srgbClr val="172B4D"/>
                </a:solidFill>
              </a:rPr>
              <a:t>(v1)</a:t>
            </a:r>
            <a:endParaRPr b="1" sz="1300">
              <a:solidFill>
                <a:srgbClr val="172B4D"/>
              </a:solidFill>
            </a:endParaRPr>
          </a:p>
        </p:txBody>
      </p:sp>
      <p:sp>
        <p:nvSpPr>
          <p:cNvPr id="624" name="Google Shape;624;g3f6507c2e0b_3_32"/>
          <p:cNvSpPr/>
          <p:nvPr/>
        </p:nvSpPr>
        <p:spPr>
          <a:xfrm>
            <a:off x="3057000" y="114200"/>
            <a:ext cx="2103600" cy="691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sum1toNRec(int i, int n)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(i </a:t>
            </a:r>
            <a:r>
              <a:rPr lang="en-US" sz="700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&gt;</a:t>
            </a: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n)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 </a:t>
            </a:r>
            <a:r>
              <a:rPr lang="en-US" sz="700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i + sum1toNRec(i + 1, n);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5" name="Google Shape;625;g3f6507c2e0b_3_32"/>
          <p:cNvSpPr txBox="1"/>
          <p:nvPr>
            <p:ph idx="4294967295" type="sldNum"/>
          </p:nvPr>
        </p:nvSpPr>
        <p:spPr>
          <a:xfrm>
            <a:off x="5220670" y="3011249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3f6507c2e0b_3_32"/>
          <p:cNvSpPr/>
          <p:nvPr/>
        </p:nvSpPr>
        <p:spPr>
          <a:xfrm>
            <a:off x="289302" y="889922"/>
            <a:ext cx="1195200" cy="159300"/>
          </a:xfrm>
          <a:prstGeom prst="roundRect">
            <a:avLst>
              <a:gd fmla="val 15789" name="adj"/>
            </a:avLst>
          </a:prstGeom>
          <a:solidFill>
            <a:srgbClr val="2563EB"/>
          </a:solidFill>
          <a:ln cap="flat" cmpd="sng" w="5825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7" name="Google Shape;627;g3f6507c2e0b_3_32"/>
          <p:cNvSpPr/>
          <p:nvPr/>
        </p:nvSpPr>
        <p:spPr>
          <a:xfrm>
            <a:off x="331237" y="921373"/>
            <a:ext cx="1111200" cy="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4"/>
              <a:buFont typeface="Arial"/>
              <a:buNone/>
            </a:pPr>
            <a:r>
              <a:rPr b="1" i="0" lang="en-US" sz="604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1. Call phase: go down</a:t>
            </a:r>
            <a:endParaRPr i="0" sz="604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8" name="Google Shape;628;g3f6507c2e0b_3_32"/>
          <p:cNvSpPr/>
          <p:nvPr/>
        </p:nvSpPr>
        <p:spPr>
          <a:xfrm>
            <a:off x="3057007" y="889922"/>
            <a:ext cx="1362900" cy="159300"/>
          </a:xfrm>
          <a:prstGeom prst="roundRect">
            <a:avLst>
              <a:gd fmla="val 15789" name="adj"/>
            </a:avLst>
          </a:prstGeom>
          <a:solidFill>
            <a:srgbClr val="16A34A"/>
          </a:solidFill>
          <a:ln cap="flat" cmpd="sng" w="5825">
            <a:solidFill>
              <a:srgbClr val="16A34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9" name="Google Shape;629;g3f6507c2e0b_3_32"/>
          <p:cNvSpPr/>
          <p:nvPr/>
        </p:nvSpPr>
        <p:spPr>
          <a:xfrm>
            <a:off x="3098942" y="921373"/>
            <a:ext cx="1278900" cy="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4"/>
              <a:buFont typeface="Arial"/>
              <a:buNone/>
            </a:pPr>
            <a:r>
              <a:rPr b="1" i="0" lang="en-US" sz="604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2. Return phase: come back up</a:t>
            </a:r>
            <a:endParaRPr i="0" sz="604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0" name="Google Shape;630;g3f6507c2e0b_3_32"/>
          <p:cNvSpPr/>
          <p:nvPr/>
        </p:nvSpPr>
        <p:spPr>
          <a:xfrm>
            <a:off x="289302" y="1133145"/>
            <a:ext cx="2222400" cy="176100"/>
          </a:xfrm>
          <a:prstGeom prst="roundRect">
            <a:avLst>
              <a:gd fmla="val 11905" name="adj"/>
            </a:avLst>
          </a:prstGeom>
          <a:solidFill>
            <a:srgbClr val="FFFFFF"/>
          </a:solidFill>
          <a:ln cap="flat" cmpd="sng" w="58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1" name="Google Shape;631;g3f6507c2e0b_3_32"/>
          <p:cNvSpPr/>
          <p:nvPr/>
        </p:nvSpPr>
        <p:spPr>
          <a:xfrm>
            <a:off x="373172" y="1170886"/>
            <a:ext cx="2054700" cy="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73"/>
              <a:buFont typeface="Courier New"/>
              <a:buNone/>
            </a:pPr>
            <a:r>
              <a:rPr i="0" lang="en-US" sz="673" u="none" cap="none" strike="noStrike">
                <a:solidFill>
                  <a:srgbClr val="111827"/>
                </a:solidFill>
                <a:latin typeface="Trebuchet MS"/>
                <a:ea typeface="Trebuchet MS"/>
                <a:cs typeface="Trebuchet MS"/>
                <a:sym typeface="Trebuchet MS"/>
              </a:rPr>
              <a:t>sum(1,5) = 1 + sum(2,5)</a:t>
            </a:r>
            <a:endParaRPr i="0" sz="673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2" name="Google Shape;632;g3f6507c2e0b_3_32"/>
          <p:cNvSpPr/>
          <p:nvPr/>
        </p:nvSpPr>
        <p:spPr>
          <a:xfrm>
            <a:off x="289302" y="1367980"/>
            <a:ext cx="2222400" cy="176100"/>
          </a:xfrm>
          <a:prstGeom prst="roundRect">
            <a:avLst>
              <a:gd fmla="val 11905" name="adj"/>
            </a:avLst>
          </a:prstGeom>
          <a:solidFill>
            <a:srgbClr val="FFFFFF"/>
          </a:solidFill>
          <a:ln cap="flat" cmpd="sng" w="58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3" name="Google Shape;633;g3f6507c2e0b_3_32"/>
          <p:cNvSpPr/>
          <p:nvPr/>
        </p:nvSpPr>
        <p:spPr>
          <a:xfrm>
            <a:off x="373172" y="1405721"/>
            <a:ext cx="2054700" cy="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73"/>
              <a:buFont typeface="Courier New"/>
              <a:buNone/>
            </a:pPr>
            <a:r>
              <a:rPr i="0" lang="en-US" sz="673" u="none" cap="none" strike="noStrike">
                <a:solidFill>
                  <a:srgbClr val="111827"/>
                </a:solidFill>
                <a:latin typeface="Trebuchet MS"/>
                <a:ea typeface="Trebuchet MS"/>
                <a:cs typeface="Trebuchet MS"/>
                <a:sym typeface="Trebuchet MS"/>
              </a:rPr>
              <a:t>sum(2,5) = 2 + sum(3,5)</a:t>
            </a:r>
            <a:endParaRPr i="0" sz="673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4" name="Google Shape;634;g3f6507c2e0b_3_32"/>
          <p:cNvSpPr/>
          <p:nvPr/>
        </p:nvSpPr>
        <p:spPr>
          <a:xfrm>
            <a:off x="289302" y="1602815"/>
            <a:ext cx="2222400" cy="176100"/>
          </a:xfrm>
          <a:prstGeom prst="roundRect">
            <a:avLst>
              <a:gd fmla="val 11905" name="adj"/>
            </a:avLst>
          </a:prstGeom>
          <a:solidFill>
            <a:srgbClr val="FFFFFF"/>
          </a:solidFill>
          <a:ln cap="flat" cmpd="sng" w="58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5" name="Google Shape;635;g3f6507c2e0b_3_32"/>
          <p:cNvSpPr/>
          <p:nvPr/>
        </p:nvSpPr>
        <p:spPr>
          <a:xfrm>
            <a:off x="373172" y="1640556"/>
            <a:ext cx="2054700" cy="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73"/>
              <a:buFont typeface="Courier New"/>
              <a:buNone/>
            </a:pPr>
            <a:r>
              <a:rPr i="0" lang="en-US" sz="673" u="none" cap="none" strike="noStrike">
                <a:solidFill>
                  <a:srgbClr val="111827"/>
                </a:solidFill>
                <a:latin typeface="Trebuchet MS"/>
                <a:ea typeface="Trebuchet MS"/>
                <a:cs typeface="Trebuchet MS"/>
                <a:sym typeface="Trebuchet MS"/>
              </a:rPr>
              <a:t>sum(3,5) = 3 + sum(4,5)</a:t>
            </a:r>
            <a:endParaRPr i="0" sz="673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6" name="Google Shape;636;g3f6507c2e0b_3_32"/>
          <p:cNvSpPr/>
          <p:nvPr/>
        </p:nvSpPr>
        <p:spPr>
          <a:xfrm>
            <a:off x="289302" y="1837650"/>
            <a:ext cx="2222400" cy="176100"/>
          </a:xfrm>
          <a:prstGeom prst="roundRect">
            <a:avLst>
              <a:gd fmla="val 11905" name="adj"/>
            </a:avLst>
          </a:prstGeom>
          <a:solidFill>
            <a:srgbClr val="FFFFFF"/>
          </a:solidFill>
          <a:ln cap="flat" cmpd="sng" w="58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7" name="Google Shape;637;g3f6507c2e0b_3_32"/>
          <p:cNvSpPr/>
          <p:nvPr/>
        </p:nvSpPr>
        <p:spPr>
          <a:xfrm>
            <a:off x="373172" y="1875392"/>
            <a:ext cx="2054700" cy="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73"/>
              <a:buFont typeface="Courier New"/>
              <a:buNone/>
            </a:pPr>
            <a:r>
              <a:rPr i="0" lang="en-US" sz="673" u="none" cap="none" strike="noStrike">
                <a:solidFill>
                  <a:srgbClr val="111827"/>
                </a:solidFill>
                <a:latin typeface="Trebuchet MS"/>
                <a:ea typeface="Trebuchet MS"/>
                <a:cs typeface="Trebuchet MS"/>
                <a:sym typeface="Trebuchet MS"/>
              </a:rPr>
              <a:t>sum(4,5) = 4 + sum(5,5)</a:t>
            </a:r>
            <a:endParaRPr i="0" sz="673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8" name="Google Shape;638;g3f6507c2e0b_3_32"/>
          <p:cNvSpPr/>
          <p:nvPr/>
        </p:nvSpPr>
        <p:spPr>
          <a:xfrm>
            <a:off x="289302" y="2072485"/>
            <a:ext cx="2222400" cy="176100"/>
          </a:xfrm>
          <a:prstGeom prst="roundRect">
            <a:avLst>
              <a:gd fmla="val 11905" name="adj"/>
            </a:avLst>
          </a:prstGeom>
          <a:solidFill>
            <a:srgbClr val="FFFFFF"/>
          </a:solidFill>
          <a:ln cap="flat" cmpd="sng" w="58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9" name="Google Shape;639;g3f6507c2e0b_3_32"/>
          <p:cNvSpPr/>
          <p:nvPr/>
        </p:nvSpPr>
        <p:spPr>
          <a:xfrm>
            <a:off x="373172" y="2110227"/>
            <a:ext cx="2054700" cy="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73"/>
              <a:buFont typeface="Courier New"/>
              <a:buNone/>
            </a:pPr>
            <a:r>
              <a:rPr i="0" lang="en-US" sz="673" u="none" cap="none" strike="noStrike">
                <a:solidFill>
                  <a:srgbClr val="111827"/>
                </a:solidFill>
                <a:latin typeface="Trebuchet MS"/>
                <a:ea typeface="Trebuchet MS"/>
                <a:cs typeface="Trebuchet MS"/>
                <a:sym typeface="Trebuchet MS"/>
              </a:rPr>
              <a:t>sum(5,5) = 5 + sum(6,5)</a:t>
            </a:r>
            <a:endParaRPr i="0" sz="673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0" name="Google Shape;640;g3f6507c2e0b_3_32"/>
          <p:cNvSpPr/>
          <p:nvPr/>
        </p:nvSpPr>
        <p:spPr>
          <a:xfrm>
            <a:off x="289302" y="2307321"/>
            <a:ext cx="2222400" cy="176100"/>
          </a:xfrm>
          <a:prstGeom prst="roundRect">
            <a:avLst>
              <a:gd fmla="val 11905" name="adj"/>
            </a:avLst>
          </a:prstGeom>
          <a:solidFill>
            <a:srgbClr val="FEE2E2"/>
          </a:solidFill>
          <a:ln cap="flat" cmpd="sng" w="58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1" name="Google Shape;641;g3f6507c2e0b_3_32"/>
          <p:cNvSpPr/>
          <p:nvPr/>
        </p:nvSpPr>
        <p:spPr>
          <a:xfrm>
            <a:off x="373172" y="2345062"/>
            <a:ext cx="2054700" cy="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573"/>
              <a:buFont typeface="Courier New"/>
              <a:buNone/>
            </a:pPr>
            <a:r>
              <a:rPr b="1" i="0" lang="en-US" sz="673" u="none" cap="none" strike="noStrike">
                <a:solidFill>
                  <a:srgbClr val="DC2626"/>
                </a:solidFill>
                <a:latin typeface="Trebuchet MS"/>
                <a:ea typeface="Trebuchet MS"/>
                <a:cs typeface="Trebuchet MS"/>
                <a:sym typeface="Trebuchet MS"/>
              </a:rPr>
              <a:t>sum(6,5) = 0   Base case</a:t>
            </a:r>
            <a:endParaRPr i="0" sz="673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2" name="Google Shape;642;g3f6507c2e0b_3_32"/>
          <p:cNvSpPr/>
          <p:nvPr/>
        </p:nvSpPr>
        <p:spPr>
          <a:xfrm>
            <a:off x="3057007" y="1133145"/>
            <a:ext cx="2243400" cy="176100"/>
          </a:xfrm>
          <a:prstGeom prst="roundRect">
            <a:avLst>
              <a:gd fmla="val 11905" name="adj"/>
            </a:avLst>
          </a:prstGeom>
          <a:solidFill>
            <a:srgbClr val="FEE2E2"/>
          </a:solidFill>
          <a:ln cap="flat" cmpd="sng" w="58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3" name="Google Shape;643;g3f6507c2e0b_3_32"/>
          <p:cNvSpPr/>
          <p:nvPr/>
        </p:nvSpPr>
        <p:spPr>
          <a:xfrm>
            <a:off x="3140877" y="1170886"/>
            <a:ext cx="2075700" cy="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573"/>
              <a:buFont typeface="Courier New"/>
              <a:buNone/>
            </a:pPr>
            <a:r>
              <a:rPr i="0" lang="en-US" sz="673" u="none" cap="none" strike="noStrike">
                <a:solidFill>
                  <a:srgbClr val="DC2626"/>
                </a:solidFill>
                <a:latin typeface="Trebuchet MS"/>
                <a:ea typeface="Trebuchet MS"/>
                <a:cs typeface="Trebuchet MS"/>
                <a:sym typeface="Trebuchet MS"/>
              </a:rPr>
              <a:t>sum(6,5) = 0</a:t>
            </a:r>
            <a:endParaRPr i="0" sz="673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4" name="Google Shape;644;g3f6507c2e0b_3_32"/>
          <p:cNvSpPr/>
          <p:nvPr/>
        </p:nvSpPr>
        <p:spPr>
          <a:xfrm>
            <a:off x="3057007" y="1367980"/>
            <a:ext cx="2243400" cy="176100"/>
          </a:xfrm>
          <a:prstGeom prst="roundRect">
            <a:avLst>
              <a:gd fmla="val 11905" name="adj"/>
            </a:avLst>
          </a:prstGeom>
          <a:solidFill>
            <a:srgbClr val="FFFFFF"/>
          </a:solidFill>
          <a:ln cap="flat" cmpd="sng" w="58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5" name="Google Shape;645;g3f6507c2e0b_3_32"/>
          <p:cNvSpPr/>
          <p:nvPr/>
        </p:nvSpPr>
        <p:spPr>
          <a:xfrm>
            <a:off x="3140877" y="1405721"/>
            <a:ext cx="2075700" cy="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73"/>
              <a:buFont typeface="Courier New"/>
              <a:buNone/>
            </a:pPr>
            <a:r>
              <a:rPr i="0" lang="en-US" sz="673" u="none" cap="none" strike="noStrike">
                <a:solidFill>
                  <a:srgbClr val="111827"/>
                </a:solidFill>
                <a:latin typeface="Trebuchet MS"/>
                <a:ea typeface="Trebuchet MS"/>
                <a:cs typeface="Trebuchet MS"/>
                <a:sym typeface="Trebuchet MS"/>
              </a:rPr>
              <a:t>sum(5,5) = 5 + 0  = 5</a:t>
            </a:r>
            <a:endParaRPr i="0" sz="673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6" name="Google Shape;646;g3f6507c2e0b_3_32"/>
          <p:cNvSpPr/>
          <p:nvPr/>
        </p:nvSpPr>
        <p:spPr>
          <a:xfrm>
            <a:off x="3057007" y="1602815"/>
            <a:ext cx="2243400" cy="176100"/>
          </a:xfrm>
          <a:prstGeom prst="roundRect">
            <a:avLst>
              <a:gd fmla="val 11905" name="adj"/>
            </a:avLst>
          </a:prstGeom>
          <a:solidFill>
            <a:srgbClr val="FFFFFF"/>
          </a:solidFill>
          <a:ln cap="flat" cmpd="sng" w="58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7" name="Google Shape;647;g3f6507c2e0b_3_32"/>
          <p:cNvSpPr/>
          <p:nvPr/>
        </p:nvSpPr>
        <p:spPr>
          <a:xfrm>
            <a:off x="3140877" y="1640556"/>
            <a:ext cx="2075700" cy="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73"/>
              <a:buFont typeface="Courier New"/>
              <a:buNone/>
            </a:pPr>
            <a:r>
              <a:rPr i="0" lang="en-US" sz="673" u="none" cap="none" strike="noStrike">
                <a:solidFill>
                  <a:srgbClr val="111827"/>
                </a:solidFill>
                <a:latin typeface="Trebuchet MS"/>
                <a:ea typeface="Trebuchet MS"/>
                <a:cs typeface="Trebuchet MS"/>
                <a:sym typeface="Trebuchet MS"/>
              </a:rPr>
              <a:t>sum(4,5) = 4 + 5  = 9</a:t>
            </a:r>
            <a:endParaRPr i="0" sz="673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8" name="Google Shape;648;g3f6507c2e0b_3_32"/>
          <p:cNvSpPr/>
          <p:nvPr/>
        </p:nvSpPr>
        <p:spPr>
          <a:xfrm>
            <a:off x="3057007" y="1837650"/>
            <a:ext cx="2243400" cy="176100"/>
          </a:xfrm>
          <a:prstGeom prst="roundRect">
            <a:avLst>
              <a:gd fmla="val 11905" name="adj"/>
            </a:avLst>
          </a:prstGeom>
          <a:solidFill>
            <a:srgbClr val="FFFFFF"/>
          </a:solidFill>
          <a:ln cap="flat" cmpd="sng" w="58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9" name="Google Shape;649;g3f6507c2e0b_3_32"/>
          <p:cNvSpPr/>
          <p:nvPr/>
        </p:nvSpPr>
        <p:spPr>
          <a:xfrm>
            <a:off x="3140877" y="1875392"/>
            <a:ext cx="2075700" cy="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73"/>
              <a:buFont typeface="Courier New"/>
              <a:buNone/>
            </a:pPr>
            <a:r>
              <a:rPr i="0" lang="en-US" sz="673" u="none" cap="none" strike="noStrike">
                <a:solidFill>
                  <a:srgbClr val="111827"/>
                </a:solidFill>
                <a:latin typeface="Trebuchet MS"/>
                <a:ea typeface="Trebuchet MS"/>
                <a:cs typeface="Trebuchet MS"/>
                <a:sym typeface="Trebuchet MS"/>
              </a:rPr>
              <a:t>sum(3,5) = 3 + 9  = 12</a:t>
            </a:r>
            <a:endParaRPr i="0" sz="673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0" name="Google Shape;650;g3f6507c2e0b_3_32"/>
          <p:cNvSpPr/>
          <p:nvPr/>
        </p:nvSpPr>
        <p:spPr>
          <a:xfrm>
            <a:off x="3057007" y="2072485"/>
            <a:ext cx="2243400" cy="176100"/>
          </a:xfrm>
          <a:prstGeom prst="roundRect">
            <a:avLst>
              <a:gd fmla="val 11905" name="adj"/>
            </a:avLst>
          </a:prstGeom>
          <a:solidFill>
            <a:srgbClr val="FFFFFF"/>
          </a:solidFill>
          <a:ln cap="flat" cmpd="sng" w="58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1" name="Google Shape;651;g3f6507c2e0b_3_32"/>
          <p:cNvSpPr/>
          <p:nvPr/>
        </p:nvSpPr>
        <p:spPr>
          <a:xfrm>
            <a:off x="3140877" y="2110227"/>
            <a:ext cx="2075700" cy="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73"/>
              <a:buFont typeface="Courier New"/>
              <a:buNone/>
            </a:pPr>
            <a:r>
              <a:rPr i="0" lang="en-US" sz="673" u="none" cap="none" strike="noStrike">
                <a:solidFill>
                  <a:srgbClr val="111827"/>
                </a:solidFill>
                <a:latin typeface="Trebuchet MS"/>
                <a:ea typeface="Trebuchet MS"/>
                <a:cs typeface="Trebuchet MS"/>
                <a:sym typeface="Trebuchet MS"/>
              </a:rPr>
              <a:t>sum(2,5) = 2 + 12 = 14</a:t>
            </a:r>
            <a:endParaRPr i="0" sz="673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2" name="Google Shape;652;g3f6507c2e0b_3_32"/>
          <p:cNvSpPr/>
          <p:nvPr/>
        </p:nvSpPr>
        <p:spPr>
          <a:xfrm>
            <a:off x="3057007" y="2307321"/>
            <a:ext cx="2243400" cy="176100"/>
          </a:xfrm>
          <a:prstGeom prst="roundRect">
            <a:avLst>
              <a:gd fmla="val 11905" name="adj"/>
            </a:avLst>
          </a:prstGeom>
          <a:solidFill>
            <a:srgbClr val="DCFCE7"/>
          </a:solidFill>
          <a:ln cap="flat" cmpd="sng" w="58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3" name="Google Shape;653;g3f6507c2e0b_3_32"/>
          <p:cNvSpPr/>
          <p:nvPr/>
        </p:nvSpPr>
        <p:spPr>
          <a:xfrm>
            <a:off x="3140877" y="2345062"/>
            <a:ext cx="2075700" cy="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573"/>
              <a:buFont typeface="Courier New"/>
              <a:buNone/>
            </a:pPr>
            <a:r>
              <a:rPr b="1" i="0" lang="en-US" sz="673" u="none" cap="none" strike="noStrike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sum(1,5) = 1 + 14 = 15</a:t>
            </a:r>
            <a:endParaRPr i="0" sz="673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4" name="Google Shape;654;g3f6507c2e0b_3_32"/>
          <p:cNvSpPr/>
          <p:nvPr/>
        </p:nvSpPr>
        <p:spPr>
          <a:xfrm>
            <a:off x="2612529" y="1162507"/>
            <a:ext cx="117300" cy="1209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563EB"/>
          </a:solidFill>
          <a:ln cap="flat" cmpd="sng" w="5825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42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5" name="Google Shape;655;g3f6507c2e0b_3_32"/>
          <p:cNvSpPr/>
          <p:nvPr/>
        </p:nvSpPr>
        <p:spPr>
          <a:xfrm>
            <a:off x="2493040" y="2372294"/>
            <a:ext cx="356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459"/>
              <a:buFont typeface="Arial"/>
              <a:buNone/>
            </a:pPr>
            <a:r>
              <a:rPr b="1" i="0" lang="en-US" sz="559" u="none" cap="none" strike="noStrike">
                <a:solidFill>
                  <a:srgbClr val="2563EB"/>
                </a:solidFill>
                <a:latin typeface="Trebuchet MS"/>
                <a:ea typeface="Trebuchet MS"/>
                <a:cs typeface="Trebuchet MS"/>
                <a:sym typeface="Trebuchet MS"/>
              </a:rPr>
              <a:t>calls</a:t>
            </a:r>
            <a:endParaRPr i="0" sz="559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6" name="Google Shape;656;g3f6507c2e0b_3_32"/>
          <p:cNvSpPr/>
          <p:nvPr/>
        </p:nvSpPr>
        <p:spPr>
          <a:xfrm>
            <a:off x="2857748" y="1170888"/>
            <a:ext cx="117300" cy="11736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16A34A"/>
          </a:solidFill>
          <a:ln cap="flat" cmpd="sng" w="5825">
            <a:solidFill>
              <a:srgbClr val="16A34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42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7" name="Google Shape;657;g3f6507c2e0b_3_32"/>
          <p:cNvSpPr/>
          <p:nvPr/>
        </p:nvSpPr>
        <p:spPr>
          <a:xfrm>
            <a:off x="2690486" y="2345030"/>
            <a:ext cx="444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459"/>
              <a:buFont typeface="Arial"/>
              <a:buNone/>
            </a:pPr>
            <a:r>
              <a:rPr b="1" i="0" lang="en-US" sz="559" u="none" cap="none" strike="noStrike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returns</a:t>
            </a:r>
            <a:endParaRPr i="0" sz="559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8" name="Google Shape;658;g3f6507c2e0b_3_32"/>
          <p:cNvSpPr/>
          <p:nvPr/>
        </p:nvSpPr>
        <p:spPr>
          <a:xfrm>
            <a:off x="289252" y="2589004"/>
            <a:ext cx="5011200" cy="243300"/>
          </a:xfrm>
          <a:prstGeom prst="roundRect">
            <a:avLst>
              <a:gd fmla="val 13793" name="adj"/>
            </a:avLst>
          </a:prstGeom>
          <a:solidFill>
            <a:srgbClr val="FEF3C7"/>
          </a:solidFill>
          <a:ln cap="flat" cmpd="sng" w="58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3f6507c2e0b_3_32"/>
          <p:cNvSpPr/>
          <p:nvPr/>
        </p:nvSpPr>
        <p:spPr>
          <a:xfrm>
            <a:off x="364735" y="2643520"/>
            <a:ext cx="4860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34"/>
              <a:buFont typeface="Arial"/>
              <a:buNone/>
            </a:pPr>
            <a:r>
              <a:rPr b="1" i="0" lang="en-US" sz="734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Important: no addition is finalized during the call phase. The final result is built during the return phase.</a:t>
            </a:r>
            <a:endParaRPr b="0" i="0" sz="7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f6507c2e0b_3_32"/>
          <p:cNvSpPr/>
          <p:nvPr/>
        </p:nvSpPr>
        <p:spPr>
          <a:xfrm>
            <a:off x="289252" y="2874161"/>
            <a:ext cx="5011200" cy="176100"/>
          </a:xfrm>
          <a:prstGeom prst="roundRect">
            <a:avLst>
              <a:gd fmla="val 19048" name="adj"/>
            </a:avLst>
          </a:prstGeom>
          <a:solidFill>
            <a:srgbClr val="DCFCE7"/>
          </a:solidFill>
          <a:ln cap="flat" cmpd="sng" w="58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925" lIns="41925" spcFirstLastPara="1" rIns="41925" wrap="square" tIns="4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f6507c2e0b_3_32"/>
          <p:cNvSpPr/>
          <p:nvPr/>
        </p:nvSpPr>
        <p:spPr>
          <a:xfrm>
            <a:off x="364735" y="2928677"/>
            <a:ext cx="4860300" cy="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34"/>
              <a:buFont typeface="Arial"/>
              <a:buNone/>
            </a:pPr>
            <a:r>
              <a:rPr b="1" i="0" lang="en-US" sz="734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Final answer: sum1toNRec(1, 5) = 15</a:t>
            </a:r>
            <a:endParaRPr b="0" i="0" sz="7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6507c2e0b_3_4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03: Sum from 1 to N </a:t>
            </a:r>
            <a:r>
              <a:rPr b="1" lang="en-US" sz="1300">
                <a:solidFill>
                  <a:srgbClr val="172B4D"/>
                </a:solidFill>
              </a:rPr>
              <a:t>(version 2)</a:t>
            </a:r>
            <a:endParaRPr b="1" sz="1300">
              <a:solidFill>
                <a:srgbClr val="172B4D"/>
              </a:solidFill>
            </a:endParaRPr>
          </a:p>
        </p:txBody>
      </p:sp>
      <p:sp>
        <p:nvSpPr>
          <p:cNvPr id="668" name="Google Shape;668;g3f6507c2e0b_3_4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The recursive method returns current value + result of the remaining range.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3f6507c2e0b_3_4"/>
          <p:cNvSpPr/>
          <p:nvPr/>
        </p:nvSpPr>
        <p:spPr>
          <a:xfrm>
            <a:off x="265902" y="714951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Iterative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g3f6507c2e0b_3_4"/>
          <p:cNvSpPr/>
          <p:nvPr/>
        </p:nvSpPr>
        <p:spPr>
          <a:xfrm>
            <a:off x="265913" y="836100"/>
            <a:ext cx="2529900" cy="11169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sum1toNWhile(int n)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sum = 0;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i = 1;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while (i &lt;= n)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sum += i;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i++;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sum;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1" name="Google Shape;671;g3f6507c2e0b_3_4"/>
          <p:cNvSpPr/>
          <p:nvPr/>
        </p:nvSpPr>
        <p:spPr>
          <a:xfrm>
            <a:off x="2934098" y="714951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g3f6507c2e0b_3_4"/>
          <p:cNvSpPr/>
          <p:nvPr/>
        </p:nvSpPr>
        <p:spPr>
          <a:xfrm>
            <a:off x="2934088" y="836100"/>
            <a:ext cx="2529900" cy="9654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sum1toNRec(int i, int n)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(i == n)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 n;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i + sum1toNRec(i + 1, n);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3" name="Google Shape;673;g3f6507c2e0b_3_4"/>
          <p:cNvSpPr/>
          <p:nvPr/>
        </p:nvSpPr>
        <p:spPr>
          <a:xfrm>
            <a:off x="3727480" y="2064891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sum(1,5) = 1 + </a:t>
            </a:r>
            <a:r>
              <a:rPr b="0" i="0" lang="en-US" sz="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sum(2,5)</a:t>
            </a: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= 1 + </a:t>
            </a:r>
            <a:r>
              <a:rPr b="0" i="0" lang="en-US" sz="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= 15</a:t>
            </a:r>
            <a:endParaRPr sz="700">
              <a:solidFill>
                <a:srgbClr val="1F2937"/>
              </a:solidFill>
            </a:endParaRPr>
          </a:p>
        </p:txBody>
      </p:sp>
      <p:sp>
        <p:nvSpPr>
          <p:cNvPr id="674" name="Google Shape;674;g3f6507c2e0b_3_4"/>
          <p:cNvSpPr/>
          <p:nvPr/>
        </p:nvSpPr>
        <p:spPr>
          <a:xfrm>
            <a:off x="3727480" y="2244353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sum(2,5) = 2 + </a:t>
            </a:r>
            <a:r>
              <a:rPr b="0" i="0" lang="en-US" sz="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sum(3,5)</a:t>
            </a: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700">
                <a:solidFill>
                  <a:srgbClr val="1F2937"/>
                </a:solidFill>
              </a:rPr>
              <a:t>2 + </a:t>
            </a:r>
            <a:r>
              <a:rPr lang="en-US" sz="700">
                <a:solidFill>
                  <a:srgbClr val="0000FF"/>
                </a:solidFill>
              </a:rPr>
              <a:t>12</a:t>
            </a:r>
            <a:r>
              <a:rPr lang="en-US" sz="700">
                <a:solidFill>
                  <a:srgbClr val="1F2937"/>
                </a:solidFill>
              </a:rPr>
              <a:t> = 14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g3f6507c2e0b_3_4"/>
          <p:cNvSpPr/>
          <p:nvPr/>
        </p:nvSpPr>
        <p:spPr>
          <a:xfrm>
            <a:off x="3727480" y="2416840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sum(3,5) = 3 + </a:t>
            </a:r>
            <a:r>
              <a:rPr b="0" i="0" lang="en-US" sz="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sum(4,5</a:t>
            </a: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) = 3 + </a:t>
            </a:r>
            <a:r>
              <a:rPr b="0" i="0" lang="en-US" sz="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= 12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3f6507c2e0b_3_4"/>
          <p:cNvSpPr/>
          <p:nvPr/>
        </p:nvSpPr>
        <p:spPr>
          <a:xfrm>
            <a:off x="3727480" y="2577928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sum(4,5) = 4 + </a:t>
            </a:r>
            <a:r>
              <a:rPr b="0" i="0" lang="en-US" sz="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sum(5,5)</a:t>
            </a: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700">
                <a:solidFill>
                  <a:srgbClr val="1F2937"/>
                </a:solidFill>
              </a:rPr>
              <a:t>= 4 + </a:t>
            </a:r>
            <a:r>
              <a:rPr lang="en-US" sz="700">
                <a:solidFill>
                  <a:srgbClr val="0000FF"/>
                </a:solidFill>
              </a:rPr>
              <a:t>5</a:t>
            </a:r>
            <a:r>
              <a:rPr lang="en-US" sz="700">
                <a:solidFill>
                  <a:srgbClr val="1F2937"/>
                </a:solidFill>
              </a:rPr>
              <a:t> = 9</a:t>
            </a:r>
            <a:endParaRPr sz="700">
              <a:solidFill>
                <a:srgbClr val="1F2937"/>
              </a:solidFill>
            </a:endParaRPr>
          </a:p>
        </p:txBody>
      </p:sp>
      <p:sp>
        <p:nvSpPr>
          <p:cNvPr id="677" name="Google Shape;677;g3f6507c2e0b_3_4"/>
          <p:cNvSpPr/>
          <p:nvPr/>
        </p:nvSpPr>
        <p:spPr>
          <a:xfrm>
            <a:off x="3727480" y="2738003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sum(5,5) = 5 </a:t>
            </a:r>
            <a:r>
              <a:rPr b="1" i="0" lang="en-US" sz="800" u="none" cap="none" strike="noStrike">
                <a:solidFill>
                  <a:srgbClr val="0000FF"/>
                </a:solidFill>
              </a:rPr>
              <a:t>(Base case)</a:t>
            </a:r>
            <a:endParaRPr b="1" i="0" sz="800" u="none" cap="none" strike="noStrike">
              <a:solidFill>
                <a:srgbClr val="0000FF"/>
              </a:solidFill>
            </a:endParaRPr>
          </a:p>
        </p:txBody>
      </p:sp>
      <p:sp>
        <p:nvSpPr>
          <p:cNvPr id="678" name="Google Shape;678;g3f6507c2e0b_3_4"/>
          <p:cNvSpPr/>
          <p:nvPr/>
        </p:nvSpPr>
        <p:spPr>
          <a:xfrm>
            <a:off x="3727480" y="2947353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600"/>
              <a:buFont typeface="Arial"/>
              <a:buNone/>
            </a:pPr>
            <a:r>
              <a:rPr b="1" i="0" lang="en-US" sz="7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Result = 15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3f6507c2e0b_3_4"/>
          <p:cNvSpPr/>
          <p:nvPr/>
        </p:nvSpPr>
        <p:spPr>
          <a:xfrm>
            <a:off x="2949281" y="1907038"/>
            <a:ext cx="7782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Call stack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f6507c2e0b_3_4"/>
          <p:cNvSpPr/>
          <p:nvPr/>
        </p:nvSpPr>
        <p:spPr>
          <a:xfrm>
            <a:off x="2949281" y="2061048"/>
            <a:ext cx="670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sum(1,5)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g3f6507c2e0b_3_4"/>
          <p:cNvSpPr/>
          <p:nvPr/>
        </p:nvSpPr>
        <p:spPr>
          <a:xfrm>
            <a:off x="2949281" y="2225453"/>
            <a:ext cx="670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sum(2,5)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g3f6507c2e0b_3_4"/>
          <p:cNvSpPr/>
          <p:nvPr/>
        </p:nvSpPr>
        <p:spPr>
          <a:xfrm>
            <a:off x="2949281" y="2389859"/>
            <a:ext cx="670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sum(3,5)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f6507c2e0b_3_4"/>
          <p:cNvSpPr/>
          <p:nvPr/>
        </p:nvSpPr>
        <p:spPr>
          <a:xfrm>
            <a:off x="2949281" y="2554265"/>
            <a:ext cx="670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sum(4,5)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g3f6507c2e0b_3_4"/>
          <p:cNvSpPr/>
          <p:nvPr/>
        </p:nvSpPr>
        <p:spPr>
          <a:xfrm>
            <a:off x="2949281" y="2718671"/>
            <a:ext cx="670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sum(5,5)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g3f6507c2e0b_3_4"/>
          <p:cNvSpPr txBox="1"/>
          <p:nvPr>
            <p:ph idx="4294967295" type="sldNum"/>
          </p:nvPr>
        </p:nvSpPr>
        <p:spPr>
          <a:xfrm>
            <a:off x="5220670" y="3011249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f6507c2e0b_3_4"/>
          <p:cNvSpPr/>
          <p:nvPr/>
        </p:nvSpPr>
        <p:spPr>
          <a:xfrm>
            <a:off x="299855" y="2072378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600"/>
              <a:buFont typeface="Arial"/>
              <a:buNone/>
            </a:pPr>
            <a:r>
              <a:rPr b="1" lang="en-US" sz="800">
                <a:solidFill>
                  <a:schemeClr val="dk2"/>
                </a:solidFill>
              </a:rPr>
              <a:t>Sum(5) </a:t>
            </a:r>
            <a:r>
              <a:rPr b="1" i="0" lang="en-US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 1 + 2 + 3 + 4 + 5</a:t>
            </a:r>
            <a:r>
              <a:rPr b="1" i="0" lang="en-US" sz="8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 = 15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g3f6507c2e0b_3_4"/>
          <p:cNvSpPr txBox="1"/>
          <p:nvPr/>
        </p:nvSpPr>
        <p:spPr>
          <a:xfrm>
            <a:off x="1845500" y="2300075"/>
            <a:ext cx="806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0000FF"/>
                </a:solidFill>
              </a:rPr>
              <a:t>main(){</a:t>
            </a:r>
            <a:br>
              <a:rPr b="1" lang="en-US" sz="700">
                <a:solidFill>
                  <a:srgbClr val="0000FF"/>
                </a:solidFill>
              </a:rPr>
            </a:br>
            <a:r>
              <a:rPr b="1" lang="en-US" sz="700">
                <a:solidFill>
                  <a:srgbClr val="0000FF"/>
                </a:solidFill>
              </a:rPr>
              <a:t>     ……</a:t>
            </a:r>
            <a:br>
              <a:rPr b="1" lang="en-US" sz="700">
                <a:solidFill>
                  <a:srgbClr val="0000FF"/>
                </a:solidFill>
              </a:rPr>
            </a:br>
            <a:r>
              <a:rPr b="1" lang="en-US" sz="700">
                <a:solidFill>
                  <a:srgbClr val="0000FF"/>
                </a:solidFill>
              </a:rPr>
              <a:t>     sum(1, 5)</a:t>
            </a:r>
            <a:br>
              <a:rPr b="1" lang="en-US" sz="700">
                <a:solidFill>
                  <a:srgbClr val="0000FF"/>
                </a:solidFill>
              </a:rPr>
            </a:br>
            <a:r>
              <a:rPr b="1" lang="en-US" sz="700">
                <a:solidFill>
                  <a:srgbClr val="0000FF"/>
                </a:solidFill>
              </a:rPr>
              <a:t>     ……</a:t>
            </a:r>
            <a:br>
              <a:rPr b="1" lang="en-US" sz="700">
                <a:solidFill>
                  <a:srgbClr val="0000FF"/>
                </a:solidFill>
              </a:rPr>
            </a:br>
            <a:r>
              <a:rPr b="1" lang="en-US" sz="700">
                <a:solidFill>
                  <a:srgbClr val="0000FF"/>
                </a:solidFill>
              </a:rPr>
              <a:t>}</a:t>
            </a:r>
            <a:endParaRPr b="1" sz="700">
              <a:solidFill>
                <a:srgbClr val="0000FF"/>
              </a:solidFill>
            </a:endParaRPr>
          </a:p>
        </p:txBody>
      </p:sp>
      <p:cxnSp>
        <p:nvCxnSpPr>
          <p:cNvPr id="688" name="Google Shape;688;g3f6507c2e0b_3_4"/>
          <p:cNvCxnSpPr/>
          <p:nvPr/>
        </p:nvCxnSpPr>
        <p:spPr>
          <a:xfrm>
            <a:off x="2834975" y="2069750"/>
            <a:ext cx="6300" cy="802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f598fb6c96_0_0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03: Sum from 1 to N </a:t>
            </a:r>
            <a:r>
              <a:rPr b="1" lang="en-US" sz="1300">
                <a:solidFill>
                  <a:srgbClr val="172B4D"/>
                </a:solidFill>
              </a:rPr>
              <a:t>(version 2)</a:t>
            </a:r>
            <a:endParaRPr b="1" sz="1300">
              <a:solidFill>
                <a:srgbClr val="172B4D"/>
              </a:solidFill>
            </a:endParaRPr>
          </a:p>
        </p:txBody>
      </p:sp>
      <p:sp>
        <p:nvSpPr>
          <p:cNvPr id="695" name="Google Shape;695;g3f598fb6c96_0_0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The recursive method returns current value + result of the remaining range.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g3f598fb6c96_0_0"/>
          <p:cNvSpPr/>
          <p:nvPr/>
        </p:nvSpPr>
        <p:spPr>
          <a:xfrm>
            <a:off x="188735" y="623001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g3f598fb6c96_0_0"/>
          <p:cNvSpPr/>
          <p:nvPr/>
        </p:nvSpPr>
        <p:spPr>
          <a:xfrm>
            <a:off x="188725" y="787150"/>
            <a:ext cx="1924200" cy="10497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sum1toNRec(int i, int n)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(i == n)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 n;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i + sum1toNRec(i + 1, n);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8" name="Google Shape;698;g3f598fb6c96_0_0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g3f598fb6c96_0_0"/>
          <p:cNvSpPr/>
          <p:nvPr/>
        </p:nvSpPr>
        <p:spPr>
          <a:xfrm>
            <a:off x="2564977" y="657306"/>
            <a:ext cx="1326000" cy="201300"/>
          </a:xfrm>
          <a:prstGeom prst="roundRect">
            <a:avLst>
              <a:gd fmla="val 16667" name="adj"/>
            </a:avLst>
          </a:prstGeom>
          <a:solidFill>
            <a:srgbClr val="0059BE"/>
          </a:solidFill>
          <a:ln cap="flat" cmpd="sng" w="12700">
            <a:solidFill>
              <a:srgbClr val="005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Call phase: go down</a:t>
            </a:r>
            <a:endParaRPr/>
          </a:p>
        </p:txBody>
      </p:sp>
      <p:sp>
        <p:nvSpPr>
          <p:cNvPr id="700" name="Google Shape;700;g3f598fb6c96_0_0"/>
          <p:cNvSpPr/>
          <p:nvPr/>
        </p:nvSpPr>
        <p:spPr>
          <a:xfrm>
            <a:off x="2510113" y="904194"/>
            <a:ext cx="1600200" cy="192000"/>
          </a:xfrm>
          <a:prstGeom prst="roundRect">
            <a:avLst>
              <a:gd fmla="val 16667" name="adj"/>
            </a:avLst>
          </a:prstGeom>
          <a:solidFill>
            <a:srgbClr val="E2EEFF"/>
          </a:solidFill>
          <a:ln cap="flat" cmpd="sng" w="12700">
            <a:solidFill>
              <a:srgbClr val="005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90" u="none" cap="none" strike="noStrike">
                <a:solidFill>
                  <a:srgbClr val="161C26"/>
                </a:solidFill>
                <a:latin typeface="Trebuchet MS"/>
                <a:ea typeface="Trebuchet MS"/>
                <a:cs typeface="Trebuchet MS"/>
                <a:sym typeface="Trebuchet MS"/>
              </a:rPr>
              <a:t>sum(1,5) = 1 + sum(2,5)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01" name="Google Shape;701;g3f598fb6c96_0_0"/>
          <p:cNvCxnSpPr/>
          <p:nvPr/>
        </p:nvCxnSpPr>
        <p:spPr>
          <a:xfrm>
            <a:off x="3296497" y="1096218"/>
            <a:ext cx="0" cy="54900"/>
          </a:xfrm>
          <a:prstGeom prst="straightConnector1">
            <a:avLst/>
          </a:prstGeom>
          <a:noFill/>
          <a:ln cap="flat" cmpd="sng" w="10150">
            <a:solidFill>
              <a:srgbClr val="005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702" name="Google Shape;702;g3f598fb6c96_0_0"/>
          <p:cNvSpPr/>
          <p:nvPr/>
        </p:nvSpPr>
        <p:spPr>
          <a:xfrm>
            <a:off x="2510113" y="1151082"/>
            <a:ext cx="1600200" cy="192000"/>
          </a:xfrm>
          <a:prstGeom prst="roundRect">
            <a:avLst>
              <a:gd fmla="val 16667" name="adj"/>
            </a:avLst>
          </a:prstGeom>
          <a:solidFill>
            <a:srgbClr val="E2EEFF"/>
          </a:solidFill>
          <a:ln cap="flat" cmpd="sng" w="12700">
            <a:solidFill>
              <a:srgbClr val="005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90" u="none" cap="none" strike="noStrike">
                <a:solidFill>
                  <a:srgbClr val="161C26"/>
                </a:solidFill>
                <a:latin typeface="Trebuchet MS"/>
                <a:ea typeface="Trebuchet MS"/>
                <a:cs typeface="Trebuchet MS"/>
                <a:sym typeface="Trebuchet MS"/>
              </a:rPr>
              <a:t>sum(2,5) = 2 + sum(3,5)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03" name="Google Shape;703;g3f598fb6c96_0_0"/>
          <p:cNvCxnSpPr/>
          <p:nvPr/>
        </p:nvCxnSpPr>
        <p:spPr>
          <a:xfrm>
            <a:off x="3296497" y="1343106"/>
            <a:ext cx="0" cy="54900"/>
          </a:xfrm>
          <a:prstGeom prst="straightConnector1">
            <a:avLst/>
          </a:prstGeom>
          <a:noFill/>
          <a:ln cap="flat" cmpd="sng" w="10150">
            <a:solidFill>
              <a:srgbClr val="005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704" name="Google Shape;704;g3f598fb6c96_0_0"/>
          <p:cNvSpPr/>
          <p:nvPr/>
        </p:nvSpPr>
        <p:spPr>
          <a:xfrm>
            <a:off x="2510113" y="1397970"/>
            <a:ext cx="1600200" cy="192000"/>
          </a:xfrm>
          <a:prstGeom prst="roundRect">
            <a:avLst>
              <a:gd fmla="val 16667" name="adj"/>
            </a:avLst>
          </a:prstGeom>
          <a:solidFill>
            <a:srgbClr val="E2EEFF"/>
          </a:solidFill>
          <a:ln cap="flat" cmpd="sng" w="12700">
            <a:solidFill>
              <a:srgbClr val="005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90" u="none" cap="none" strike="noStrike">
                <a:solidFill>
                  <a:srgbClr val="161C26"/>
                </a:solidFill>
                <a:latin typeface="Trebuchet MS"/>
                <a:ea typeface="Trebuchet MS"/>
                <a:cs typeface="Trebuchet MS"/>
                <a:sym typeface="Trebuchet MS"/>
              </a:rPr>
              <a:t>sum(3,5) = 3 + sum(4,5)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05" name="Google Shape;705;g3f598fb6c96_0_0"/>
          <p:cNvCxnSpPr/>
          <p:nvPr/>
        </p:nvCxnSpPr>
        <p:spPr>
          <a:xfrm>
            <a:off x="3296497" y="1589994"/>
            <a:ext cx="0" cy="54900"/>
          </a:xfrm>
          <a:prstGeom prst="straightConnector1">
            <a:avLst/>
          </a:prstGeom>
          <a:noFill/>
          <a:ln cap="flat" cmpd="sng" w="10150">
            <a:solidFill>
              <a:srgbClr val="005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706" name="Google Shape;706;g3f598fb6c96_0_0"/>
          <p:cNvSpPr/>
          <p:nvPr/>
        </p:nvSpPr>
        <p:spPr>
          <a:xfrm>
            <a:off x="2510113" y="1644858"/>
            <a:ext cx="1600200" cy="192000"/>
          </a:xfrm>
          <a:prstGeom prst="roundRect">
            <a:avLst>
              <a:gd fmla="val 16667" name="adj"/>
            </a:avLst>
          </a:prstGeom>
          <a:solidFill>
            <a:srgbClr val="E2EEFF"/>
          </a:solidFill>
          <a:ln cap="flat" cmpd="sng" w="12700">
            <a:solidFill>
              <a:srgbClr val="005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90" u="none" cap="none" strike="noStrike">
                <a:solidFill>
                  <a:srgbClr val="161C26"/>
                </a:solidFill>
                <a:latin typeface="Trebuchet MS"/>
                <a:ea typeface="Trebuchet MS"/>
                <a:cs typeface="Trebuchet MS"/>
                <a:sym typeface="Trebuchet MS"/>
              </a:rPr>
              <a:t>sum(4,5) = 4 + sum(5,5)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07" name="Google Shape;707;g3f598fb6c96_0_0"/>
          <p:cNvCxnSpPr/>
          <p:nvPr/>
        </p:nvCxnSpPr>
        <p:spPr>
          <a:xfrm>
            <a:off x="3296497" y="1836881"/>
            <a:ext cx="0" cy="54900"/>
          </a:xfrm>
          <a:prstGeom prst="straightConnector1">
            <a:avLst/>
          </a:prstGeom>
          <a:noFill/>
          <a:ln cap="flat" cmpd="sng" w="10150">
            <a:solidFill>
              <a:srgbClr val="005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708" name="Google Shape;708;g3f598fb6c96_0_0"/>
          <p:cNvSpPr/>
          <p:nvPr/>
        </p:nvSpPr>
        <p:spPr>
          <a:xfrm>
            <a:off x="2510113" y="1891746"/>
            <a:ext cx="1600200" cy="192000"/>
          </a:xfrm>
          <a:prstGeom prst="roundRect">
            <a:avLst>
              <a:gd fmla="val 16667" name="adj"/>
            </a:avLst>
          </a:prstGeom>
          <a:solidFill>
            <a:srgbClr val="FFECEC"/>
          </a:solidFill>
          <a:ln cap="flat" cmpd="sng" w="12700">
            <a:solidFill>
              <a:srgbClr val="D7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90" u="none" cap="none" strike="noStrike">
                <a:solidFill>
                  <a:srgbClr val="161C26"/>
                </a:solidFill>
                <a:latin typeface="Trebuchet MS"/>
                <a:ea typeface="Trebuchet MS"/>
                <a:cs typeface="Trebuchet MS"/>
                <a:sym typeface="Trebuchet MS"/>
              </a:rPr>
              <a:t>sum(5,5) = 5  Base case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9" name="Google Shape;709;g3f598fb6c96_0_0"/>
          <p:cNvSpPr/>
          <p:nvPr/>
        </p:nvSpPr>
        <p:spPr>
          <a:xfrm>
            <a:off x="4302323" y="657300"/>
            <a:ext cx="1401600" cy="201300"/>
          </a:xfrm>
          <a:prstGeom prst="roundRect">
            <a:avLst>
              <a:gd fmla="val 16667" name="adj"/>
            </a:avLst>
          </a:prstGeom>
          <a:solidFill>
            <a:srgbClr val="009660"/>
          </a:solidFill>
          <a:ln cap="flat" cmpd="sng" w="1270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Return phase: </a:t>
            </a:r>
            <a:b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while coming back</a:t>
            </a:r>
            <a:endParaRPr/>
          </a:p>
        </p:txBody>
      </p:sp>
      <p:sp>
        <p:nvSpPr>
          <p:cNvPr id="710" name="Google Shape;710;g3f598fb6c96_0_0"/>
          <p:cNvSpPr/>
          <p:nvPr/>
        </p:nvSpPr>
        <p:spPr>
          <a:xfrm>
            <a:off x="4393777" y="1891745"/>
            <a:ext cx="896100" cy="183000"/>
          </a:xfrm>
          <a:prstGeom prst="roundRect">
            <a:avLst>
              <a:gd fmla="val 16667" name="adj"/>
            </a:avLst>
          </a:prstGeom>
          <a:solidFill>
            <a:srgbClr val="E3F7EE"/>
          </a:solidFill>
          <a:ln cap="flat" cmpd="sng" w="1270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20" u="none" cap="none" strike="noStrike">
                <a:solidFill>
                  <a:srgbClr val="161C26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11" name="Google Shape;711;g3f598fb6c96_0_0"/>
          <p:cNvCxnSpPr/>
          <p:nvPr/>
        </p:nvCxnSpPr>
        <p:spPr>
          <a:xfrm rot="10800000">
            <a:off x="4841833" y="1809556"/>
            <a:ext cx="0" cy="63900"/>
          </a:xfrm>
          <a:prstGeom prst="straightConnector1">
            <a:avLst/>
          </a:prstGeom>
          <a:noFill/>
          <a:ln cap="flat" cmpd="sng" w="1015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712" name="Google Shape;712;g3f598fb6c96_0_0"/>
          <p:cNvSpPr/>
          <p:nvPr/>
        </p:nvSpPr>
        <p:spPr>
          <a:xfrm>
            <a:off x="4393777" y="1644856"/>
            <a:ext cx="896100" cy="183000"/>
          </a:xfrm>
          <a:prstGeom prst="roundRect">
            <a:avLst>
              <a:gd fmla="val 16667" name="adj"/>
            </a:avLst>
          </a:prstGeom>
          <a:solidFill>
            <a:srgbClr val="E3F7EE"/>
          </a:solidFill>
          <a:ln cap="flat" cmpd="sng" w="1270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20" u="none" cap="none" strike="noStrike">
                <a:solidFill>
                  <a:srgbClr val="161C26"/>
                </a:solidFill>
                <a:latin typeface="Trebuchet MS"/>
                <a:ea typeface="Trebuchet MS"/>
                <a:cs typeface="Trebuchet MS"/>
                <a:sym typeface="Trebuchet MS"/>
              </a:rPr>
              <a:t>4 + 5 = 9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13" name="Google Shape;713;g3f598fb6c96_0_0"/>
          <p:cNvCxnSpPr/>
          <p:nvPr/>
        </p:nvCxnSpPr>
        <p:spPr>
          <a:xfrm rot="10800000">
            <a:off x="4841833" y="1562669"/>
            <a:ext cx="0" cy="63900"/>
          </a:xfrm>
          <a:prstGeom prst="straightConnector1">
            <a:avLst/>
          </a:prstGeom>
          <a:noFill/>
          <a:ln cap="flat" cmpd="sng" w="1015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714" name="Google Shape;714;g3f598fb6c96_0_0"/>
          <p:cNvSpPr/>
          <p:nvPr/>
        </p:nvSpPr>
        <p:spPr>
          <a:xfrm>
            <a:off x="4393777" y="1397969"/>
            <a:ext cx="896100" cy="183000"/>
          </a:xfrm>
          <a:prstGeom prst="roundRect">
            <a:avLst>
              <a:gd fmla="val 16667" name="adj"/>
            </a:avLst>
          </a:prstGeom>
          <a:solidFill>
            <a:srgbClr val="E3F7EE"/>
          </a:solidFill>
          <a:ln cap="flat" cmpd="sng" w="1270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20" u="none" cap="none" strike="noStrike">
                <a:solidFill>
                  <a:srgbClr val="161C26"/>
                </a:solidFill>
                <a:latin typeface="Trebuchet MS"/>
                <a:ea typeface="Trebuchet MS"/>
                <a:cs typeface="Trebuchet MS"/>
                <a:sym typeface="Trebuchet MS"/>
              </a:rPr>
              <a:t>3 + 9 = 12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15" name="Google Shape;715;g3f598fb6c96_0_0"/>
          <p:cNvCxnSpPr/>
          <p:nvPr/>
        </p:nvCxnSpPr>
        <p:spPr>
          <a:xfrm rot="10800000">
            <a:off x="4841833" y="1315781"/>
            <a:ext cx="0" cy="63900"/>
          </a:xfrm>
          <a:prstGeom prst="straightConnector1">
            <a:avLst/>
          </a:prstGeom>
          <a:noFill/>
          <a:ln cap="flat" cmpd="sng" w="1015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716" name="Google Shape;716;g3f598fb6c96_0_0"/>
          <p:cNvSpPr/>
          <p:nvPr/>
        </p:nvSpPr>
        <p:spPr>
          <a:xfrm>
            <a:off x="4393777" y="1151081"/>
            <a:ext cx="896100" cy="183000"/>
          </a:xfrm>
          <a:prstGeom prst="roundRect">
            <a:avLst>
              <a:gd fmla="val 16667" name="adj"/>
            </a:avLst>
          </a:prstGeom>
          <a:solidFill>
            <a:srgbClr val="E3F7EE"/>
          </a:solidFill>
          <a:ln cap="flat" cmpd="sng" w="1270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20" u="none" cap="none" strike="noStrike">
                <a:solidFill>
                  <a:srgbClr val="161C26"/>
                </a:solidFill>
                <a:latin typeface="Trebuchet MS"/>
                <a:ea typeface="Trebuchet MS"/>
                <a:cs typeface="Trebuchet MS"/>
                <a:sym typeface="Trebuchet MS"/>
              </a:rPr>
              <a:t>2 + 12 = 14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717" name="Google Shape;717;g3f598fb6c96_0_0"/>
          <p:cNvCxnSpPr/>
          <p:nvPr/>
        </p:nvCxnSpPr>
        <p:spPr>
          <a:xfrm rot="10800000">
            <a:off x="4841833" y="1068893"/>
            <a:ext cx="0" cy="63900"/>
          </a:xfrm>
          <a:prstGeom prst="straightConnector1">
            <a:avLst/>
          </a:prstGeom>
          <a:noFill/>
          <a:ln cap="flat" cmpd="sng" w="1015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718" name="Google Shape;718;g3f598fb6c96_0_0"/>
          <p:cNvSpPr/>
          <p:nvPr/>
        </p:nvSpPr>
        <p:spPr>
          <a:xfrm>
            <a:off x="4393777" y="904192"/>
            <a:ext cx="896100" cy="183000"/>
          </a:xfrm>
          <a:prstGeom prst="roundRect">
            <a:avLst>
              <a:gd fmla="val 16667" name="adj"/>
            </a:avLst>
          </a:prstGeom>
          <a:solidFill>
            <a:srgbClr val="E3F7EE"/>
          </a:solidFill>
          <a:ln cap="flat" cmpd="sng" w="1270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20" u="none" cap="none" strike="noStrike">
                <a:solidFill>
                  <a:srgbClr val="161C26"/>
                </a:solidFill>
                <a:latin typeface="Trebuchet MS"/>
                <a:ea typeface="Trebuchet MS"/>
                <a:cs typeface="Trebuchet MS"/>
                <a:sym typeface="Trebuchet MS"/>
              </a:rPr>
              <a:t>1 + 14 = 15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9" name="Google Shape;719;g3f598fb6c96_0_0"/>
          <p:cNvSpPr/>
          <p:nvPr/>
        </p:nvSpPr>
        <p:spPr>
          <a:xfrm>
            <a:off x="800185" y="2330658"/>
            <a:ext cx="4526400" cy="310800"/>
          </a:xfrm>
          <a:prstGeom prst="roundRect">
            <a:avLst>
              <a:gd fmla="val 16667" name="adj"/>
            </a:avLst>
          </a:prstGeom>
          <a:solidFill>
            <a:srgbClr val="E2EEFF"/>
          </a:solidFill>
          <a:ln cap="flat" cmpd="sng" w="12700">
            <a:solidFill>
              <a:srgbClr val="005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9BE"/>
                </a:solidFill>
                <a:latin typeface="Arial"/>
                <a:ea typeface="Arial"/>
                <a:cs typeface="Arial"/>
                <a:sym typeface="Arial"/>
              </a:rPr>
              <a:t>Sum(5) = 1 + 2 + 3 + 4 + 5 = 15</a:t>
            </a:r>
            <a:endParaRPr/>
          </a:p>
        </p:txBody>
      </p:sp>
      <p:sp>
        <p:nvSpPr>
          <p:cNvPr id="720" name="Google Shape;720;g3f598fb6c96_0_0"/>
          <p:cNvSpPr/>
          <p:nvPr/>
        </p:nvSpPr>
        <p:spPr>
          <a:xfrm>
            <a:off x="1120225" y="2723850"/>
            <a:ext cx="3886200" cy="201300"/>
          </a:xfrm>
          <a:prstGeom prst="roundRect">
            <a:avLst>
              <a:gd fmla="val 16667" name="adj"/>
            </a:avLst>
          </a:prstGeom>
          <a:solidFill>
            <a:srgbClr val="F6EEFC"/>
          </a:solidFill>
          <a:ln cap="flat" cmpd="sng" w="12700">
            <a:solidFill>
              <a:srgbClr val="7E34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7E34AA"/>
                </a:solidFill>
                <a:latin typeface="Arial"/>
                <a:ea typeface="Arial"/>
                <a:cs typeface="Arial"/>
                <a:sym typeface="Arial"/>
              </a:rPr>
              <a:t>Base case returns first; the final answer is completed during the return phase.</a:t>
            </a:r>
            <a:endParaRPr/>
          </a:p>
        </p:txBody>
      </p:sp>
      <p:cxnSp>
        <p:nvCxnSpPr>
          <p:cNvPr id="721" name="Google Shape;721;g3f598fb6c96_0_0"/>
          <p:cNvCxnSpPr/>
          <p:nvPr/>
        </p:nvCxnSpPr>
        <p:spPr>
          <a:xfrm>
            <a:off x="2333150" y="899375"/>
            <a:ext cx="6300" cy="11409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2" name="Google Shape;722;g3f598fb6c96_0_0"/>
          <p:cNvCxnSpPr/>
          <p:nvPr/>
        </p:nvCxnSpPr>
        <p:spPr>
          <a:xfrm rot="10800000">
            <a:off x="5477475" y="912275"/>
            <a:ext cx="18300" cy="11634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7"/>
          <p:cNvSpPr txBox="1"/>
          <p:nvPr/>
        </p:nvSpPr>
        <p:spPr>
          <a:xfrm>
            <a:off x="1824354" y="837056"/>
            <a:ext cx="30416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! =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8" name="Google Shape;728;p37"/>
          <p:cNvSpPr txBox="1"/>
          <p:nvPr/>
        </p:nvSpPr>
        <p:spPr>
          <a:xfrm>
            <a:off x="2273300" y="711300"/>
            <a:ext cx="7419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*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(n-1)! 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9" name="Google Shape;729;p37"/>
          <p:cNvSpPr txBox="1"/>
          <p:nvPr/>
        </p:nvSpPr>
        <p:spPr>
          <a:xfrm>
            <a:off x="3101085" y="711298"/>
            <a:ext cx="595630" cy="44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= 0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&gt;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0" name="Google Shape;730;p37"/>
          <p:cNvSpPr/>
          <p:nvPr/>
        </p:nvSpPr>
        <p:spPr>
          <a:xfrm>
            <a:off x="2164079" y="839723"/>
            <a:ext cx="47625" cy="312420"/>
          </a:xfrm>
          <a:custGeom>
            <a:rect b="b" l="l" r="r" t="t"/>
            <a:pathLst>
              <a:path extrusionOk="0" h="312419" w="47625">
                <a:moveTo>
                  <a:pt x="47243" y="312420"/>
                </a:moveTo>
                <a:lnTo>
                  <a:pt x="34162" y="312420"/>
                </a:lnTo>
                <a:lnTo>
                  <a:pt x="23621" y="310642"/>
                </a:lnTo>
                <a:lnTo>
                  <a:pt x="23621" y="308483"/>
                </a:lnTo>
                <a:lnTo>
                  <a:pt x="23621" y="160147"/>
                </a:lnTo>
                <a:lnTo>
                  <a:pt x="23621" y="157988"/>
                </a:lnTo>
                <a:lnTo>
                  <a:pt x="13081" y="156210"/>
                </a:lnTo>
                <a:lnTo>
                  <a:pt x="0" y="156210"/>
                </a:lnTo>
                <a:lnTo>
                  <a:pt x="13081" y="156210"/>
                </a:lnTo>
                <a:lnTo>
                  <a:pt x="23621" y="154432"/>
                </a:lnTo>
                <a:lnTo>
                  <a:pt x="23621" y="152273"/>
                </a:lnTo>
                <a:lnTo>
                  <a:pt x="23621" y="3937"/>
                </a:lnTo>
                <a:lnTo>
                  <a:pt x="23621" y="1778"/>
                </a:lnTo>
                <a:lnTo>
                  <a:pt x="34162" y="0"/>
                </a:lnTo>
                <a:lnTo>
                  <a:pt x="47243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7"/>
          <p:cNvSpPr txBox="1"/>
          <p:nvPr/>
        </p:nvSpPr>
        <p:spPr>
          <a:xfrm>
            <a:off x="130860" y="3109223"/>
            <a:ext cx="34544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2" name="Google Shape;732;p37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sp>
        <p:nvSpPr>
          <p:cNvPr id="733" name="Google Shape;733;p37"/>
          <p:cNvSpPr txBox="1"/>
          <p:nvPr/>
        </p:nvSpPr>
        <p:spPr>
          <a:xfrm>
            <a:off x="2873550" y="1479400"/>
            <a:ext cx="11109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5! = 5*4! 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4! = 4*3!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3! = 3*2!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2! = 2*1!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1! = 1*0!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0! = 1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4" name="Google Shape;734;p37"/>
          <p:cNvSpPr txBox="1"/>
          <p:nvPr/>
        </p:nvSpPr>
        <p:spPr>
          <a:xfrm>
            <a:off x="832925" y="1479400"/>
            <a:ext cx="1625400" cy="1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5! = 5*4*3*2*1</a:t>
            </a:r>
            <a:endParaRPr b="0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4! = 4*3*2*1</a:t>
            </a:r>
            <a:endParaRPr b="0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3! = 3*2*1</a:t>
            </a:r>
            <a:endParaRPr b="0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2! = 2*1</a:t>
            </a:r>
            <a:endParaRPr b="0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1! = 1</a:t>
            </a:r>
            <a:endParaRPr b="0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0! = 1</a:t>
            </a:r>
            <a:endParaRPr b="0" i="0" sz="1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5" name="Google Shape;735;p37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04: Factorial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5d0f2ff87_0_59"/>
          <p:cNvSpPr txBox="1"/>
          <p:nvPr/>
        </p:nvSpPr>
        <p:spPr>
          <a:xfrm>
            <a:off x="1824279" y="647281"/>
            <a:ext cx="304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! =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1" name="Google Shape;741;g375d0f2ff87_0_59"/>
          <p:cNvSpPr txBox="1"/>
          <p:nvPr/>
        </p:nvSpPr>
        <p:spPr>
          <a:xfrm>
            <a:off x="2273225" y="521525"/>
            <a:ext cx="7458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*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(n-1)! 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2" name="Google Shape;742;g375d0f2ff87_0_59"/>
          <p:cNvSpPr txBox="1"/>
          <p:nvPr/>
        </p:nvSpPr>
        <p:spPr>
          <a:xfrm>
            <a:off x="3101010" y="521523"/>
            <a:ext cx="59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= 0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&gt;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3" name="Google Shape;743;g375d0f2ff87_0_59"/>
          <p:cNvSpPr/>
          <p:nvPr/>
        </p:nvSpPr>
        <p:spPr>
          <a:xfrm>
            <a:off x="2164004" y="649948"/>
            <a:ext cx="47625" cy="312419"/>
          </a:xfrm>
          <a:custGeom>
            <a:rect b="b" l="l" r="r" t="t"/>
            <a:pathLst>
              <a:path extrusionOk="0" h="312419" w="47625">
                <a:moveTo>
                  <a:pt x="47243" y="312420"/>
                </a:moveTo>
                <a:lnTo>
                  <a:pt x="34162" y="312420"/>
                </a:lnTo>
                <a:lnTo>
                  <a:pt x="23621" y="310642"/>
                </a:lnTo>
                <a:lnTo>
                  <a:pt x="23621" y="308483"/>
                </a:lnTo>
                <a:lnTo>
                  <a:pt x="23621" y="160147"/>
                </a:lnTo>
                <a:lnTo>
                  <a:pt x="23621" y="157988"/>
                </a:lnTo>
                <a:lnTo>
                  <a:pt x="13081" y="156210"/>
                </a:lnTo>
                <a:lnTo>
                  <a:pt x="0" y="156210"/>
                </a:lnTo>
                <a:lnTo>
                  <a:pt x="13081" y="156210"/>
                </a:lnTo>
                <a:lnTo>
                  <a:pt x="23621" y="154432"/>
                </a:lnTo>
                <a:lnTo>
                  <a:pt x="23621" y="152273"/>
                </a:lnTo>
                <a:lnTo>
                  <a:pt x="23621" y="3937"/>
                </a:lnTo>
                <a:lnTo>
                  <a:pt x="23621" y="1778"/>
                </a:lnTo>
                <a:lnTo>
                  <a:pt x="34162" y="0"/>
                </a:lnTo>
                <a:lnTo>
                  <a:pt x="47243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g375d0f2ff87_0_59"/>
          <p:cNvSpPr txBox="1"/>
          <p:nvPr/>
        </p:nvSpPr>
        <p:spPr>
          <a:xfrm>
            <a:off x="3785601" y="1167450"/>
            <a:ext cx="1028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g375d0f2ff87_0_59"/>
          <p:cNvSpPr txBox="1"/>
          <p:nvPr/>
        </p:nvSpPr>
        <p:spPr>
          <a:xfrm>
            <a:off x="130860" y="3109223"/>
            <a:ext cx="3453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6" name="Google Shape;746;g375d0f2ff87_0_59"/>
          <p:cNvSpPr txBox="1"/>
          <p:nvPr>
            <p:ph idx="12" type="sldNum"/>
          </p:nvPr>
        </p:nvSpPr>
        <p:spPr>
          <a:xfrm>
            <a:off x="5368163" y="3109223"/>
            <a:ext cx="254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pic>
        <p:nvPicPr>
          <p:cNvPr id="747" name="Google Shape;747;g375d0f2ff87_0_59" title="factorial_whil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850" y="1568975"/>
            <a:ext cx="2298475" cy="10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g375d0f2ff87_0_59"/>
          <p:cNvSpPr txBox="1"/>
          <p:nvPr/>
        </p:nvSpPr>
        <p:spPr>
          <a:xfrm>
            <a:off x="908151" y="1218600"/>
            <a:ext cx="871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9" name="Google Shape;749;g375d0f2ff87_0_59" title="factorial_recursion_java.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0758" y="1525125"/>
            <a:ext cx="2658075" cy="1157675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g375d0f2ff87_0_59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04: Factorial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0"/>
          <p:cNvSpPr txBox="1"/>
          <p:nvPr/>
        </p:nvSpPr>
        <p:spPr>
          <a:xfrm>
            <a:off x="1823904" y="605681"/>
            <a:ext cx="304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! =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56" name="Google Shape;756;p40"/>
          <p:cNvSpPr txBox="1"/>
          <p:nvPr/>
        </p:nvSpPr>
        <p:spPr>
          <a:xfrm>
            <a:off x="2272850" y="479925"/>
            <a:ext cx="84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n*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(n-1)! 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57" name="Google Shape;757;p40"/>
          <p:cNvSpPr txBox="1"/>
          <p:nvPr/>
        </p:nvSpPr>
        <p:spPr>
          <a:xfrm>
            <a:off x="3268110" y="489786"/>
            <a:ext cx="59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= 0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&gt;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58" name="Google Shape;758;p40"/>
          <p:cNvSpPr/>
          <p:nvPr/>
        </p:nvSpPr>
        <p:spPr>
          <a:xfrm>
            <a:off x="2163629" y="608348"/>
            <a:ext cx="47625" cy="312419"/>
          </a:xfrm>
          <a:custGeom>
            <a:rect b="b" l="l" r="r" t="t"/>
            <a:pathLst>
              <a:path extrusionOk="0" h="312419" w="47625">
                <a:moveTo>
                  <a:pt x="47243" y="312420"/>
                </a:moveTo>
                <a:lnTo>
                  <a:pt x="34162" y="312420"/>
                </a:lnTo>
                <a:lnTo>
                  <a:pt x="23621" y="310642"/>
                </a:lnTo>
                <a:lnTo>
                  <a:pt x="23621" y="308483"/>
                </a:lnTo>
                <a:lnTo>
                  <a:pt x="23621" y="160147"/>
                </a:lnTo>
                <a:lnTo>
                  <a:pt x="23621" y="157988"/>
                </a:lnTo>
                <a:lnTo>
                  <a:pt x="13081" y="156210"/>
                </a:lnTo>
                <a:lnTo>
                  <a:pt x="0" y="156210"/>
                </a:lnTo>
                <a:lnTo>
                  <a:pt x="13081" y="156210"/>
                </a:lnTo>
                <a:lnTo>
                  <a:pt x="23621" y="154432"/>
                </a:lnTo>
                <a:lnTo>
                  <a:pt x="23621" y="152273"/>
                </a:lnTo>
                <a:lnTo>
                  <a:pt x="23621" y="3937"/>
                </a:lnTo>
                <a:lnTo>
                  <a:pt x="23621" y="1778"/>
                </a:lnTo>
                <a:lnTo>
                  <a:pt x="34162" y="0"/>
                </a:lnTo>
                <a:lnTo>
                  <a:pt x="47243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0"/>
          <p:cNvSpPr txBox="1"/>
          <p:nvPr/>
        </p:nvSpPr>
        <p:spPr>
          <a:xfrm>
            <a:off x="370376" y="882675"/>
            <a:ext cx="10140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0" name="Google Shape;76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8100" y="1042293"/>
            <a:ext cx="3407900" cy="1945507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40"/>
          <p:cNvSpPr txBox="1"/>
          <p:nvPr/>
        </p:nvSpPr>
        <p:spPr>
          <a:xfrm>
            <a:off x="2247126" y="2971863"/>
            <a:ext cx="3354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Sourse; https://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www.enjoyalgorithms.com/blog/recursion-explained-how-recursion-works-in-programming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0"/>
          <p:cNvSpPr txBox="1"/>
          <p:nvPr/>
        </p:nvSpPr>
        <p:spPr>
          <a:xfrm>
            <a:off x="130860" y="3109223"/>
            <a:ext cx="34544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3" name="Google Shape;763;p40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pic>
        <p:nvPicPr>
          <p:cNvPr id="764" name="Google Shape;764;p40" title="factorial_recursion_java.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675" y="1305971"/>
            <a:ext cx="1896130" cy="825829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40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04: Factorial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g3f64c7a33c2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4652" y="921456"/>
            <a:ext cx="2493122" cy="1763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g3f64c7a33c2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804" y="582540"/>
            <a:ext cx="1939952" cy="2537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g3f64c7a33c2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9797" y="2321241"/>
            <a:ext cx="1939952" cy="798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g3f64c7a33c2_0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797" y="1713120"/>
            <a:ext cx="1939952" cy="810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g3f64c7a33c2_0_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9797" y="1103153"/>
            <a:ext cx="1939952" cy="810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g3f64c7a33c2_0_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9797" y="500772"/>
            <a:ext cx="1939952" cy="810816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g3f64c7a33c2_0_1"/>
          <p:cNvSpPr/>
          <p:nvPr/>
        </p:nvSpPr>
        <p:spPr>
          <a:xfrm flipH="1">
            <a:off x="4504755" y="2447690"/>
            <a:ext cx="367800" cy="17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g3f64c7a33c2_0_1"/>
          <p:cNvSpPr/>
          <p:nvPr/>
        </p:nvSpPr>
        <p:spPr>
          <a:xfrm>
            <a:off x="3318929" y="2058873"/>
            <a:ext cx="271500" cy="17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g3f64c7a33c2_0_1"/>
          <p:cNvSpPr/>
          <p:nvPr/>
        </p:nvSpPr>
        <p:spPr>
          <a:xfrm>
            <a:off x="3318929" y="1511156"/>
            <a:ext cx="271500" cy="17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g3f64c7a33c2_0_1"/>
          <p:cNvSpPr/>
          <p:nvPr/>
        </p:nvSpPr>
        <p:spPr>
          <a:xfrm rot="5400000">
            <a:off x="4662810" y="1879755"/>
            <a:ext cx="179400" cy="17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650" lIns="57650" spcFirstLastPara="1" rIns="57650" wrap="square" tIns="57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0" name="Google Shape;780;g3f64c7a33c2_0_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9797" y="1103161"/>
            <a:ext cx="1939952" cy="810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g3f64c7a33c2_0_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9797" y="1713120"/>
            <a:ext cx="1939952" cy="810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g3f64c7a33c2_0_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9797" y="2321241"/>
            <a:ext cx="1939952" cy="798804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g3f64c7a33c2_0_1"/>
          <p:cNvSpPr txBox="1"/>
          <p:nvPr/>
        </p:nvSpPr>
        <p:spPr>
          <a:xfrm>
            <a:off x="3084930" y="2795170"/>
            <a:ext cx="2318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57650" lIns="57650" spcFirstLastPara="1" rIns="57650" wrap="square" tIns="57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Output:</a:t>
            </a:r>
            <a:r>
              <a:rPr b="0" i="0" lang="en-US" sz="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6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4" name="Google Shape;784;g3f64c7a33c2_0_1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04: Factorial Call stack example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f64c7a33c2_0_23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04: Factorial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g3f64c7a33c2_0_23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Multiplicative identity is 1; base case is 0! or 1!.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g3f64c7a33c2_0_23"/>
          <p:cNvSpPr/>
          <p:nvPr/>
        </p:nvSpPr>
        <p:spPr>
          <a:xfrm>
            <a:off x="281090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Iterative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g3f64c7a33c2_0_23"/>
          <p:cNvSpPr/>
          <p:nvPr/>
        </p:nvSpPr>
        <p:spPr>
          <a:xfrm>
            <a:off x="281100" y="713874"/>
            <a:ext cx="2529900" cy="1129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factLoop(int n)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result = 1;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while (n &gt; 0)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result *= n;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n--;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result;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4" name="Google Shape;794;g3f64c7a33c2_0_23"/>
          <p:cNvSpPr/>
          <p:nvPr/>
        </p:nvSpPr>
        <p:spPr>
          <a:xfrm>
            <a:off x="2949285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g3f64c7a33c2_0_23"/>
          <p:cNvSpPr/>
          <p:nvPr/>
        </p:nvSpPr>
        <p:spPr>
          <a:xfrm>
            <a:off x="2949275" y="713874"/>
            <a:ext cx="2529900" cy="1129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factRec(int n)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(n == 0 || n == 1)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 1;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n * factRec(n - 1);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6" name="Google Shape;796;g3f64c7a33c2_0_23"/>
          <p:cNvSpPr/>
          <p:nvPr/>
        </p:nvSpPr>
        <p:spPr>
          <a:xfrm>
            <a:off x="391805" y="2068520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fact(4)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g3f64c7a33c2_0_23"/>
          <p:cNvSpPr/>
          <p:nvPr/>
        </p:nvSpPr>
        <p:spPr>
          <a:xfrm>
            <a:off x="391805" y="2215620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= 4 × fact(3)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g3f64c7a33c2_0_23"/>
          <p:cNvSpPr/>
          <p:nvPr/>
        </p:nvSpPr>
        <p:spPr>
          <a:xfrm>
            <a:off x="391805" y="2362720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= 4 × 3 × fact(2)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g3f64c7a33c2_0_23"/>
          <p:cNvSpPr/>
          <p:nvPr/>
        </p:nvSpPr>
        <p:spPr>
          <a:xfrm>
            <a:off x="391805" y="2509820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= 4 × 3 × 2 × fact(1)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3f64c7a33c2_0_23"/>
          <p:cNvSpPr/>
          <p:nvPr/>
        </p:nvSpPr>
        <p:spPr>
          <a:xfrm>
            <a:off x="391805" y="2656919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F2994A"/>
                </a:solidFill>
                <a:latin typeface="Arial"/>
                <a:ea typeface="Arial"/>
                <a:cs typeface="Arial"/>
                <a:sym typeface="Arial"/>
              </a:rPr>
              <a:t>= 24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g3f64c7a33c2_0_23"/>
          <p:cNvSpPr/>
          <p:nvPr/>
        </p:nvSpPr>
        <p:spPr>
          <a:xfrm>
            <a:off x="3018952" y="2020500"/>
            <a:ext cx="1674000" cy="867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 stack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g3f64c7a33c2_0_23"/>
          <p:cNvSpPr/>
          <p:nvPr/>
        </p:nvSpPr>
        <p:spPr>
          <a:xfrm>
            <a:off x="3018952" y="2124335"/>
            <a:ext cx="14418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fact(4) </a:t>
            </a:r>
            <a:r>
              <a:rPr b="1" lang="en-US" sz="700">
                <a:solidFill>
                  <a:schemeClr val="hlink"/>
                </a:solidFill>
              </a:rPr>
              <a:t>(Call from main method)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803" name="Google Shape;803;g3f64c7a33c2_0_23"/>
          <p:cNvSpPr/>
          <p:nvPr/>
        </p:nvSpPr>
        <p:spPr>
          <a:xfrm>
            <a:off x="3018952" y="2288740"/>
            <a:ext cx="14418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fact(4 - 1 = 3)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3f64c7a33c2_0_23"/>
          <p:cNvSpPr/>
          <p:nvPr/>
        </p:nvSpPr>
        <p:spPr>
          <a:xfrm>
            <a:off x="3018952" y="2453146"/>
            <a:ext cx="14418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fact(3 - 1 = 2)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g3f64c7a33c2_0_23"/>
          <p:cNvSpPr/>
          <p:nvPr/>
        </p:nvSpPr>
        <p:spPr>
          <a:xfrm>
            <a:off x="3018950" y="2617550"/>
            <a:ext cx="1441800" cy="29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fact(2 - 1 = 1) </a:t>
            </a:r>
            <a:r>
              <a:rPr b="1" lang="en-US" sz="700">
                <a:solidFill>
                  <a:schemeClr val="hlink"/>
                </a:solidFill>
              </a:rPr>
              <a:t>(Base case) stops</a:t>
            </a:r>
            <a:endParaRPr sz="700">
              <a:solidFill>
                <a:schemeClr val="hlink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806" name="Google Shape;806;g3f64c7a33c2_0_23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g3f64c7a33c2_0_23"/>
          <p:cNvSpPr txBox="1"/>
          <p:nvPr/>
        </p:nvSpPr>
        <p:spPr>
          <a:xfrm>
            <a:off x="1881600" y="2068525"/>
            <a:ext cx="72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9900FF"/>
                </a:solidFill>
              </a:rPr>
              <a:t>main(){</a:t>
            </a:r>
            <a:br>
              <a:rPr b="1" lang="en-US" sz="800">
                <a:solidFill>
                  <a:srgbClr val="9900FF"/>
                </a:solidFill>
              </a:rPr>
            </a:br>
            <a:r>
              <a:rPr b="1" lang="en-US" sz="800">
                <a:solidFill>
                  <a:srgbClr val="9900FF"/>
                </a:solidFill>
              </a:rPr>
              <a:t>     ……</a:t>
            </a:r>
            <a:br>
              <a:rPr b="1" lang="en-US" sz="800">
                <a:solidFill>
                  <a:srgbClr val="9900FF"/>
                </a:solidFill>
              </a:rPr>
            </a:br>
            <a:r>
              <a:rPr b="1" lang="en-US" sz="800">
                <a:solidFill>
                  <a:srgbClr val="9900FF"/>
                </a:solidFill>
              </a:rPr>
              <a:t>     fact(4)</a:t>
            </a:r>
            <a:br>
              <a:rPr b="1" lang="en-US" sz="800">
                <a:solidFill>
                  <a:srgbClr val="9900FF"/>
                </a:solidFill>
              </a:rPr>
            </a:br>
            <a:r>
              <a:rPr b="1" lang="en-US" sz="800">
                <a:solidFill>
                  <a:srgbClr val="9900FF"/>
                </a:solidFill>
              </a:rPr>
              <a:t>     ……</a:t>
            </a:r>
            <a:br>
              <a:rPr b="1" lang="en-US" sz="800">
                <a:solidFill>
                  <a:srgbClr val="9900FF"/>
                </a:solidFill>
              </a:rPr>
            </a:br>
            <a:r>
              <a:rPr b="1" lang="en-US" sz="800">
                <a:solidFill>
                  <a:srgbClr val="9900FF"/>
                </a:solidFill>
              </a:rPr>
              <a:t>}</a:t>
            </a:r>
            <a:endParaRPr b="1" sz="800">
              <a:solidFill>
                <a:srgbClr val="9900FF"/>
              </a:solidFill>
            </a:endParaRPr>
          </a:p>
        </p:txBody>
      </p:sp>
      <p:cxnSp>
        <p:nvCxnSpPr>
          <p:cNvPr id="808" name="Google Shape;808;g3f64c7a33c2_0_23"/>
          <p:cNvCxnSpPr/>
          <p:nvPr/>
        </p:nvCxnSpPr>
        <p:spPr>
          <a:xfrm>
            <a:off x="2879750" y="2125400"/>
            <a:ext cx="6300" cy="802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41"/>
          <p:cNvSpPr txBox="1"/>
          <p:nvPr/>
        </p:nvSpPr>
        <p:spPr>
          <a:xfrm>
            <a:off x="1379750" y="896875"/>
            <a:ext cx="1394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0" marR="63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</a:t>
            </a:r>
            <a:endParaRPr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aseline="30000" i="1" lang="en-US" sz="17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Fib</a:t>
            </a:r>
            <a:r>
              <a:rPr baseline="30000" i="0" lang="en-US" sz="17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baseline="30000" i="1" lang="en-US" sz="17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baseline="30000" i="0" lang="en-US" sz="17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) </a:t>
            </a:r>
            <a:r>
              <a:rPr baseline="3000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=</a:t>
            </a:r>
            <a:endParaRPr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14" name="Google Shape;814;p41"/>
          <p:cNvSpPr txBox="1"/>
          <p:nvPr/>
        </p:nvSpPr>
        <p:spPr>
          <a:xfrm>
            <a:off x="2697823" y="940375"/>
            <a:ext cx="10953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1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0          if  </a:t>
            </a:r>
            <a:r>
              <a:rPr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n = 0</a:t>
            </a:r>
            <a:endParaRPr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1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         if  </a:t>
            </a:r>
            <a:r>
              <a:rPr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n = 1</a:t>
            </a:r>
            <a:endParaRPr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15" name="Google Shape;815;p41"/>
          <p:cNvSpPr txBox="1"/>
          <p:nvPr/>
        </p:nvSpPr>
        <p:spPr>
          <a:xfrm>
            <a:off x="2184104" y="1489903"/>
            <a:ext cx="2014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1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Fib(n–1) + Fib(n–2)   </a:t>
            </a:r>
            <a:r>
              <a:rPr b="1" i="1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if n &gt; 1  </a:t>
            </a:r>
            <a:endParaRPr b="1" baseline="3000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16" name="Google Shape;816;p41"/>
          <p:cNvSpPr/>
          <p:nvPr/>
        </p:nvSpPr>
        <p:spPr>
          <a:xfrm>
            <a:off x="1989765" y="940375"/>
            <a:ext cx="76351" cy="734568"/>
          </a:xfrm>
          <a:custGeom>
            <a:rect b="b" l="l" r="r" t="t"/>
            <a:pathLst>
              <a:path extrusionOk="0" h="609600" w="45719">
                <a:moveTo>
                  <a:pt x="45719" y="609600"/>
                </a:moveTo>
                <a:lnTo>
                  <a:pt x="33146" y="609600"/>
                </a:lnTo>
                <a:lnTo>
                  <a:pt x="22859" y="607949"/>
                </a:lnTo>
                <a:lnTo>
                  <a:pt x="22859" y="605789"/>
                </a:lnTo>
                <a:lnTo>
                  <a:pt x="22859" y="308609"/>
                </a:lnTo>
                <a:lnTo>
                  <a:pt x="22859" y="306450"/>
                </a:lnTo>
                <a:lnTo>
                  <a:pt x="12572" y="304800"/>
                </a:lnTo>
                <a:lnTo>
                  <a:pt x="0" y="304800"/>
                </a:lnTo>
                <a:lnTo>
                  <a:pt x="12572" y="304800"/>
                </a:lnTo>
                <a:lnTo>
                  <a:pt x="22859" y="303149"/>
                </a:lnTo>
                <a:lnTo>
                  <a:pt x="22859" y="300989"/>
                </a:lnTo>
                <a:lnTo>
                  <a:pt x="22859" y="3809"/>
                </a:lnTo>
                <a:lnTo>
                  <a:pt x="22859" y="1650"/>
                </a:lnTo>
                <a:lnTo>
                  <a:pt x="33146" y="0"/>
                </a:lnTo>
                <a:lnTo>
                  <a:pt x="45719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41"/>
          <p:cNvSpPr txBox="1"/>
          <p:nvPr/>
        </p:nvSpPr>
        <p:spPr>
          <a:xfrm>
            <a:off x="130845" y="3109225"/>
            <a:ext cx="5313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8" name="Google Shape;818;p41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pic>
        <p:nvPicPr>
          <p:cNvPr id="819" name="Google Shape;81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9750" y="1718125"/>
            <a:ext cx="2677700" cy="150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41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05: Nth Fibonacci number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41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Iterative version stores previous two values; recursive version branches into two calls.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41"/>
          <p:cNvSpPr txBox="1"/>
          <p:nvPr/>
        </p:nvSpPr>
        <p:spPr>
          <a:xfrm>
            <a:off x="199250" y="994963"/>
            <a:ext cx="137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</a:rPr>
              <a:t>Recursive Function</a:t>
            </a:r>
            <a:endParaRPr b="1" sz="1200">
              <a:solidFill>
                <a:srgbClr val="0000FF"/>
              </a:solidFill>
            </a:endParaRPr>
          </a:p>
        </p:txBody>
      </p:sp>
      <p:sp>
        <p:nvSpPr>
          <p:cNvPr id="823" name="Google Shape;823;p41"/>
          <p:cNvSpPr txBox="1"/>
          <p:nvPr/>
        </p:nvSpPr>
        <p:spPr>
          <a:xfrm>
            <a:off x="4135850" y="880475"/>
            <a:ext cx="1523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FF"/>
                </a:solidFill>
              </a:rPr>
              <a:t>(Base case)</a:t>
            </a:r>
            <a:endParaRPr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000FF"/>
                </a:solidFill>
              </a:rPr>
              <a:t>(Base case)</a:t>
            </a:r>
            <a:endParaRPr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000FF"/>
                </a:solidFill>
              </a:rPr>
              <a:t>(Recursive case)</a:t>
            </a:r>
            <a:endParaRPr sz="12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f5972311be_0_119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05: Nth Fibonacci number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g3f5972311be_0_119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Iterative version stores previous two values; recursive version branches into two calls.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g3f5972311be_0_119"/>
          <p:cNvSpPr/>
          <p:nvPr/>
        </p:nvSpPr>
        <p:spPr>
          <a:xfrm>
            <a:off x="281090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Iterative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g3f5972311be_0_119"/>
          <p:cNvSpPr/>
          <p:nvPr/>
        </p:nvSpPr>
        <p:spPr>
          <a:xfrm>
            <a:off x="281100" y="713876"/>
            <a:ext cx="2529900" cy="16137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getNthFibonacci(int n)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(n == 0) return 0;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(n == 1) return 1;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n1 = 0, n2 = 1, fibSum = 0;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for (int i = 2; i &lt;= n; i++)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fibSum = n1 + n2;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n1 = n2;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n2 = fibSum;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n2;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33" name="Google Shape;833;g3f5972311be_0_119"/>
          <p:cNvSpPr/>
          <p:nvPr/>
        </p:nvSpPr>
        <p:spPr>
          <a:xfrm>
            <a:off x="2949285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g3f5972311be_0_119"/>
          <p:cNvSpPr/>
          <p:nvPr/>
        </p:nvSpPr>
        <p:spPr>
          <a:xfrm>
            <a:off x="2949285" y="713867"/>
            <a:ext cx="2529900" cy="1375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getNthFibonacciRec(int n) {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(n == 0) return 0;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(n == 1) return 1;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getNthFibonacciRec(n - 1)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  + getNthFibonacciRec(n - 2);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35" name="Google Shape;835;g3f5972311be_0_119"/>
          <p:cNvSpPr/>
          <p:nvPr/>
        </p:nvSpPr>
        <p:spPr>
          <a:xfrm>
            <a:off x="376880" y="2465017"/>
            <a:ext cx="15135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g3f5972311be_0_119"/>
          <p:cNvSpPr/>
          <p:nvPr/>
        </p:nvSpPr>
        <p:spPr>
          <a:xfrm>
            <a:off x="376867" y="2687975"/>
            <a:ext cx="5682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33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F(4)=3</a:t>
            </a:r>
            <a:endParaRPr b="0" i="0" sz="600" u="none" cap="none" strike="noStrike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g3f5972311be_0_119"/>
          <p:cNvSpPr/>
          <p:nvPr/>
        </p:nvSpPr>
        <p:spPr>
          <a:xfrm>
            <a:off x="1068353" y="2681500"/>
            <a:ext cx="5127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33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F(6)=8</a:t>
            </a:r>
            <a:endParaRPr b="0" i="0" sz="600" u="none" cap="none" strike="noStrike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g3f5972311be_0_119"/>
          <p:cNvSpPr/>
          <p:nvPr/>
        </p:nvSpPr>
        <p:spPr>
          <a:xfrm>
            <a:off x="1704335" y="2687951"/>
            <a:ext cx="432300" cy="13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333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F(8)=21</a:t>
            </a:r>
            <a:endParaRPr b="0" i="0" sz="600" u="none" cap="none" strike="noStrike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9" name="Google Shape;839;g3f5972311be_0_119"/>
          <p:cNvCxnSpPr/>
          <p:nvPr/>
        </p:nvCxnSpPr>
        <p:spPr>
          <a:xfrm flipH="1">
            <a:off x="3816383" y="2266992"/>
            <a:ext cx="329100" cy="1878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2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0" name="Google Shape;840;g3f5972311be_0_119"/>
          <p:cNvCxnSpPr/>
          <p:nvPr/>
        </p:nvCxnSpPr>
        <p:spPr>
          <a:xfrm>
            <a:off x="4250818" y="2266992"/>
            <a:ext cx="322800" cy="1878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2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1" name="Google Shape;841;g3f5972311be_0_119"/>
          <p:cNvCxnSpPr/>
          <p:nvPr/>
        </p:nvCxnSpPr>
        <p:spPr>
          <a:xfrm flipH="1">
            <a:off x="3678130" y="2563393"/>
            <a:ext cx="210600" cy="148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2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2" name="Google Shape;842;g3f5972311be_0_119"/>
          <p:cNvCxnSpPr/>
          <p:nvPr/>
        </p:nvCxnSpPr>
        <p:spPr>
          <a:xfrm>
            <a:off x="3964439" y="2563393"/>
            <a:ext cx="207600" cy="1482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2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3" name="Google Shape;843;g3f5972311be_0_119"/>
          <p:cNvSpPr/>
          <p:nvPr/>
        </p:nvSpPr>
        <p:spPr>
          <a:xfrm>
            <a:off x="3947980" y="2151725"/>
            <a:ext cx="329100" cy="125100"/>
          </a:xfrm>
          <a:prstGeom prst="rect">
            <a:avLst/>
          </a:prstGeom>
          <a:solidFill>
            <a:srgbClr val="FFF7ED"/>
          </a:solidFill>
          <a:ln cap="flat" cmpd="sng" w="72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381"/>
              <a:buFont typeface="Arial"/>
              <a:buNone/>
            </a:pPr>
            <a:r>
              <a:rPr b="1" i="0" lang="en-US" sz="6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F(4)</a:t>
            </a:r>
            <a:endParaRPr b="0" i="0" sz="600" u="none" cap="none" strike="noStrike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3f5972311be_0_119"/>
          <p:cNvSpPr/>
          <p:nvPr/>
        </p:nvSpPr>
        <p:spPr>
          <a:xfrm>
            <a:off x="3651726" y="2464593"/>
            <a:ext cx="329100" cy="115200"/>
          </a:xfrm>
          <a:prstGeom prst="rect">
            <a:avLst/>
          </a:prstGeom>
          <a:solidFill>
            <a:srgbClr val="FFFFFF"/>
          </a:solidFill>
          <a:ln cap="flat" cmpd="sng" w="72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381"/>
              <a:buFont typeface="Arial"/>
              <a:buNone/>
            </a:pPr>
            <a:r>
              <a:rPr b="1" i="0" lang="en-US" sz="6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F(3)</a:t>
            </a:r>
            <a:endParaRPr b="0" i="0" sz="600" u="none" cap="none" strike="noStrike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g3f5972311be_0_119"/>
          <p:cNvSpPr/>
          <p:nvPr/>
        </p:nvSpPr>
        <p:spPr>
          <a:xfrm>
            <a:off x="4491113" y="2464593"/>
            <a:ext cx="329100" cy="115200"/>
          </a:xfrm>
          <a:prstGeom prst="rect">
            <a:avLst/>
          </a:prstGeom>
          <a:solidFill>
            <a:srgbClr val="FFFFFF"/>
          </a:solidFill>
          <a:ln cap="flat" cmpd="sng" w="72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381"/>
              <a:buFont typeface="Arial"/>
              <a:buNone/>
            </a:pPr>
            <a:r>
              <a:rPr b="1" i="0" lang="en-US" sz="6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F(2)</a:t>
            </a:r>
            <a:endParaRPr b="0" i="0" sz="600" u="none" cap="none" strike="noStrike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g3f5972311be_0_119"/>
          <p:cNvSpPr/>
          <p:nvPr/>
        </p:nvSpPr>
        <p:spPr>
          <a:xfrm>
            <a:off x="3543100" y="2721473"/>
            <a:ext cx="256500" cy="102000"/>
          </a:xfrm>
          <a:prstGeom prst="rect">
            <a:avLst/>
          </a:prstGeom>
          <a:solidFill>
            <a:srgbClr val="FFFFFF"/>
          </a:solidFill>
          <a:ln cap="flat" cmpd="sng" w="72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304"/>
              <a:buFont typeface="Arial"/>
              <a:buNone/>
            </a:pPr>
            <a:r>
              <a:rPr b="1" i="0" lang="en-US" sz="6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F(2)</a:t>
            </a:r>
            <a:endParaRPr b="0" i="0" sz="600" u="none" cap="none" strike="noStrike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g3f5972311be_0_119"/>
          <p:cNvSpPr/>
          <p:nvPr/>
        </p:nvSpPr>
        <p:spPr>
          <a:xfrm>
            <a:off x="4112566" y="2721473"/>
            <a:ext cx="256500" cy="102000"/>
          </a:xfrm>
          <a:prstGeom prst="rect">
            <a:avLst/>
          </a:prstGeom>
          <a:solidFill>
            <a:srgbClr val="FFFFFF"/>
          </a:solidFill>
          <a:ln cap="flat" cmpd="sng" w="72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304"/>
              <a:buFont typeface="Arial"/>
              <a:buNone/>
            </a:pPr>
            <a:r>
              <a:rPr b="1" i="0" lang="en-US" sz="6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F(1)</a:t>
            </a:r>
            <a:endParaRPr b="0" i="0" sz="600" u="none" cap="none" strike="noStrike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g3f5972311be_0_119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9" name="Google Shape;849;g3f5972311be_0_119"/>
          <p:cNvCxnSpPr>
            <a:stCxn id="846" idx="1"/>
          </p:cNvCxnSpPr>
          <p:nvPr/>
        </p:nvCxnSpPr>
        <p:spPr>
          <a:xfrm flipH="1">
            <a:off x="3383200" y="2772473"/>
            <a:ext cx="159900" cy="2346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2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0" name="Google Shape;850;g3f5972311be_0_119"/>
          <p:cNvCxnSpPr>
            <a:stCxn id="846" idx="2"/>
            <a:endCxn id="851" idx="0"/>
          </p:cNvCxnSpPr>
          <p:nvPr/>
        </p:nvCxnSpPr>
        <p:spPr>
          <a:xfrm>
            <a:off x="3671350" y="2823473"/>
            <a:ext cx="181200" cy="1680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2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2" name="Google Shape;852;g3f5972311be_0_119"/>
          <p:cNvSpPr/>
          <p:nvPr/>
        </p:nvSpPr>
        <p:spPr>
          <a:xfrm>
            <a:off x="3288250" y="2991423"/>
            <a:ext cx="256500" cy="102000"/>
          </a:xfrm>
          <a:prstGeom prst="rect">
            <a:avLst/>
          </a:prstGeom>
          <a:solidFill>
            <a:srgbClr val="FFFFFF"/>
          </a:solidFill>
          <a:ln cap="flat" cmpd="sng" w="72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304"/>
              <a:buFont typeface="Arial"/>
              <a:buNone/>
            </a:pPr>
            <a:r>
              <a:rPr b="1" i="0" lang="en-US" sz="6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F(</a:t>
            </a:r>
            <a:r>
              <a:rPr b="1" lang="en-US" sz="600">
                <a:solidFill>
                  <a:srgbClr val="3333FF"/>
                </a:solidFill>
              </a:rPr>
              <a:t>1</a:t>
            </a:r>
            <a:r>
              <a:rPr b="1" i="0" lang="en-US" sz="6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600" u="none" cap="none" strike="noStrike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g3f5972311be_0_119"/>
          <p:cNvSpPr/>
          <p:nvPr/>
        </p:nvSpPr>
        <p:spPr>
          <a:xfrm>
            <a:off x="3724316" y="2991423"/>
            <a:ext cx="256500" cy="102000"/>
          </a:xfrm>
          <a:prstGeom prst="rect">
            <a:avLst/>
          </a:prstGeom>
          <a:solidFill>
            <a:srgbClr val="FFFFFF"/>
          </a:solidFill>
          <a:ln cap="flat" cmpd="sng" w="72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304"/>
              <a:buFont typeface="Arial"/>
              <a:buNone/>
            </a:pPr>
            <a:r>
              <a:rPr b="1" i="0" lang="en-US" sz="6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F(</a:t>
            </a:r>
            <a:r>
              <a:rPr b="1" lang="en-US" sz="600">
                <a:solidFill>
                  <a:srgbClr val="3333FF"/>
                </a:solidFill>
              </a:rPr>
              <a:t>0</a:t>
            </a:r>
            <a:r>
              <a:rPr b="1" i="0" lang="en-US" sz="6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600" u="none" cap="none" strike="noStrike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3" name="Google Shape;853;g3f5972311be_0_119"/>
          <p:cNvCxnSpPr>
            <a:stCxn id="845" idx="2"/>
          </p:cNvCxnSpPr>
          <p:nvPr/>
        </p:nvCxnSpPr>
        <p:spPr>
          <a:xfrm>
            <a:off x="4655663" y="2579793"/>
            <a:ext cx="26400" cy="2838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2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4" name="Google Shape;854;g3f5972311be_0_119"/>
          <p:cNvCxnSpPr>
            <a:stCxn id="845" idx="3"/>
            <a:endCxn id="855" idx="0"/>
          </p:cNvCxnSpPr>
          <p:nvPr/>
        </p:nvCxnSpPr>
        <p:spPr>
          <a:xfrm>
            <a:off x="4820213" y="2522193"/>
            <a:ext cx="235200" cy="3159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2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6" name="Google Shape;856;g3f5972311be_0_119"/>
          <p:cNvSpPr/>
          <p:nvPr/>
        </p:nvSpPr>
        <p:spPr>
          <a:xfrm>
            <a:off x="4491125" y="2838073"/>
            <a:ext cx="256500" cy="102000"/>
          </a:xfrm>
          <a:prstGeom prst="rect">
            <a:avLst/>
          </a:prstGeom>
          <a:solidFill>
            <a:srgbClr val="FFFFFF"/>
          </a:solidFill>
          <a:ln cap="flat" cmpd="sng" w="72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304"/>
              <a:buFont typeface="Arial"/>
              <a:buNone/>
            </a:pPr>
            <a:r>
              <a:rPr b="1" i="0" lang="en-US" sz="6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F(</a:t>
            </a:r>
            <a:r>
              <a:rPr b="1" lang="en-US" sz="600">
                <a:solidFill>
                  <a:srgbClr val="3333FF"/>
                </a:solidFill>
              </a:rPr>
              <a:t>1</a:t>
            </a:r>
            <a:r>
              <a:rPr b="1" i="0" lang="en-US" sz="6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600" u="none" cap="none" strike="noStrike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g3f5972311be_0_119"/>
          <p:cNvSpPr/>
          <p:nvPr/>
        </p:nvSpPr>
        <p:spPr>
          <a:xfrm>
            <a:off x="4927191" y="2838073"/>
            <a:ext cx="256500" cy="102000"/>
          </a:xfrm>
          <a:prstGeom prst="rect">
            <a:avLst/>
          </a:prstGeom>
          <a:solidFill>
            <a:srgbClr val="FFFFFF"/>
          </a:solidFill>
          <a:ln cap="flat" cmpd="sng" w="72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304"/>
              <a:buFont typeface="Arial"/>
              <a:buNone/>
            </a:pPr>
            <a:r>
              <a:rPr b="1" i="0" lang="en-US" sz="6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F(</a:t>
            </a:r>
            <a:r>
              <a:rPr b="1" lang="en-US" sz="600">
                <a:solidFill>
                  <a:srgbClr val="3333FF"/>
                </a:solidFill>
              </a:rPr>
              <a:t>0</a:t>
            </a:r>
            <a:r>
              <a:rPr b="1" i="0" lang="en-US" sz="6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600" u="none" cap="none" strike="noStrike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1bec4ec794_0_1"/>
          <p:cNvSpPr txBox="1"/>
          <p:nvPr/>
        </p:nvSpPr>
        <p:spPr>
          <a:xfrm>
            <a:off x="1380800" y="407950"/>
            <a:ext cx="11862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575">
            <a:spAutoFit/>
          </a:bodyPr>
          <a:lstStyle/>
          <a:p>
            <a:pPr indent="0" lvl="0" marL="0" marR="540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1"/>
              <a:buFont typeface="Arial"/>
              <a:buNone/>
            </a:pPr>
            <a:r>
              <a:rPr b="0" i="0" lang="en-US" sz="102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endParaRPr b="0" i="0" sz="8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0803" marR="0" rtl="0" algn="l">
              <a:lnSpc>
                <a:spcPct val="100000"/>
              </a:lnSpc>
              <a:spcBef>
                <a:spcPts val="191"/>
              </a:spcBef>
              <a:spcAft>
                <a:spcPts val="0"/>
              </a:spcAft>
              <a:buClr>
                <a:srgbClr val="000000"/>
              </a:buClr>
              <a:buSzPts val="1531"/>
              <a:buFont typeface="Arial"/>
              <a:buNone/>
            </a:pPr>
            <a:r>
              <a:rPr b="0" baseline="30000" i="1" lang="en-US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Fib</a:t>
            </a:r>
            <a:r>
              <a:rPr b="0" baseline="30000" i="0" lang="en-US" sz="1531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baseline="30000" i="1" lang="en-US" sz="15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30000" i="0" lang="en-US" sz="1531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</a:t>
            </a:r>
            <a:endParaRPr b="0" i="0" sz="8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62" name="Google Shape;862;g31bec4ec794_0_1"/>
          <p:cNvSpPr txBox="1"/>
          <p:nvPr/>
        </p:nvSpPr>
        <p:spPr>
          <a:xfrm>
            <a:off x="2502117" y="444956"/>
            <a:ext cx="931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725">
            <a:spAutoFit/>
          </a:bodyPr>
          <a:lstStyle/>
          <a:p>
            <a:pPr indent="0" lvl="0" marL="1080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1"/>
              <a:buFont typeface="Arial"/>
              <a:buNone/>
            </a:pPr>
            <a:r>
              <a:rPr b="0" i="1" lang="en-US" sz="10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        if  </a:t>
            </a:r>
            <a:r>
              <a:rPr b="0" i="0" lang="en-US" sz="102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= 0</a:t>
            </a:r>
            <a:endParaRPr b="0" i="0" sz="102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0803" marR="0" rtl="0" algn="l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rgbClr val="000000"/>
              </a:buClr>
              <a:buSzPts val="1021"/>
              <a:buFont typeface="Arial"/>
              <a:buNone/>
            </a:pPr>
            <a:r>
              <a:rPr b="0" i="1" lang="en-US" sz="10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       if  </a:t>
            </a:r>
            <a:r>
              <a:rPr b="0" i="0" lang="en-US" sz="102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 = 1</a:t>
            </a:r>
            <a:endParaRPr b="0" i="0" sz="102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63" name="Google Shape;863;g31bec4ec794_0_1"/>
          <p:cNvSpPr txBox="1"/>
          <p:nvPr/>
        </p:nvSpPr>
        <p:spPr>
          <a:xfrm>
            <a:off x="2065084" y="912449"/>
            <a:ext cx="17136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00">
            <a:spAutoFit/>
          </a:bodyPr>
          <a:lstStyle/>
          <a:p>
            <a:pPr indent="0" lvl="0" marL="1080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6"/>
              <a:buFont typeface="Arial"/>
              <a:buNone/>
            </a:pPr>
            <a:r>
              <a:rPr b="0" i="1" lang="en-US" sz="7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Fib(n–1) + Fib(n–2)   </a:t>
            </a:r>
            <a:r>
              <a:rPr b="1" i="1" lang="en-US" sz="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n &gt; 1  </a:t>
            </a:r>
            <a:endParaRPr b="1" baseline="30000" i="0" sz="1616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64" name="Google Shape;864;g31bec4ec794_0_1"/>
          <p:cNvSpPr/>
          <p:nvPr/>
        </p:nvSpPr>
        <p:spPr>
          <a:xfrm>
            <a:off x="1818533" y="429899"/>
            <a:ext cx="91781" cy="624840"/>
          </a:xfrm>
          <a:custGeom>
            <a:rect b="b" l="l" r="r" t="t"/>
            <a:pathLst>
              <a:path extrusionOk="0" h="609600" w="45719">
                <a:moveTo>
                  <a:pt x="45719" y="609600"/>
                </a:moveTo>
                <a:lnTo>
                  <a:pt x="33146" y="609600"/>
                </a:lnTo>
                <a:lnTo>
                  <a:pt x="22859" y="607949"/>
                </a:lnTo>
                <a:lnTo>
                  <a:pt x="22859" y="605789"/>
                </a:lnTo>
                <a:lnTo>
                  <a:pt x="22859" y="308609"/>
                </a:lnTo>
                <a:lnTo>
                  <a:pt x="22859" y="306450"/>
                </a:lnTo>
                <a:lnTo>
                  <a:pt x="12572" y="304800"/>
                </a:lnTo>
                <a:lnTo>
                  <a:pt x="0" y="304800"/>
                </a:lnTo>
                <a:lnTo>
                  <a:pt x="12572" y="304800"/>
                </a:lnTo>
                <a:lnTo>
                  <a:pt x="22859" y="303149"/>
                </a:lnTo>
                <a:lnTo>
                  <a:pt x="22859" y="300989"/>
                </a:lnTo>
                <a:lnTo>
                  <a:pt x="22859" y="3809"/>
                </a:lnTo>
                <a:lnTo>
                  <a:pt x="22859" y="1650"/>
                </a:lnTo>
                <a:lnTo>
                  <a:pt x="33146" y="0"/>
                </a:lnTo>
                <a:lnTo>
                  <a:pt x="45719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1"/>
              <a:buFont typeface="Arial"/>
              <a:buNone/>
            </a:pPr>
            <a:r>
              <a:t/>
            </a:r>
            <a:endParaRPr b="0" i="0" sz="15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g31bec4ec794_0_1"/>
          <p:cNvSpPr txBox="1"/>
          <p:nvPr/>
        </p:nvSpPr>
        <p:spPr>
          <a:xfrm>
            <a:off x="71100" y="1036600"/>
            <a:ext cx="10953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Iterative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g31bec4ec794_0_1"/>
          <p:cNvSpPr txBox="1"/>
          <p:nvPr/>
        </p:nvSpPr>
        <p:spPr>
          <a:xfrm>
            <a:off x="130860" y="3109223"/>
            <a:ext cx="3453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7" name="Google Shape;867;g31bec4ec794_0_1"/>
          <p:cNvSpPr txBox="1"/>
          <p:nvPr>
            <p:ph idx="12" type="sldNum"/>
          </p:nvPr>
        </p:nvSpPr>
        <p:spPr>
          <a:xfrm>
            <a:off x="5368163" y="3109223"/>
            <a:ext cx="254700" cy="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  <p:sp>
        <p:nvSpPr>
          <p:cNvPr id="868" name="Google Shape;868;g31bec4ec794_0_1"/>
          <p:cNvSpPr txBox="1"/>
          <p:nvPr/>
        </p:nvSpPr>
        <p:spPr>
          <a:xfrm>
            <a:off x="3938431" y="1054761"/>
            <a:ext cx="9195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00">
            <a:spAutoFit/>
          </a:bodyPr>
          <a:lstStyle/>
          <a:p>
            <a:pPr indent="0" lvl="0" marL="1080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1"/>
              <a:buFont typeface="Arial"/>
              <a:buNone/>
            </a:pPr>
            <a:r>
              <a:rPr b="1" i="0" lang="en-US" sz="127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Recursive</a:t>
            </a:r>
            <a:endParaRPr b="0" i="0" sz="12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9" name="Google Shape;869;g31bec4ec794_0_1" title="fibo_recur_jav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5738" y="1324150"/>
            <a:ext cx="3141111" cy="7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g31bec4ec794_0_1" title="fibo_while_jav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50" y="1324150"/>
            <a:ext cx="2532225" cy="1618825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g31bec4ec794_0_1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05: Nth Fibonacci number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f597dbd1dc_2_155"/>
          <p:cNvSpPr txBox="1"/>
          <p:nvPr/>
        </p:nvSpPr>
        <p:spPr>
          <a:xfrm>
            <a:off x="201180" y="146890"/>
            <a:ext cx="5394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g3f597dbd1dc_2_155"/>
          <p:cNvSpPr txBox="1"/>
          <p:nvPr/>
        </p:nvSpPr>
        <p:spPr>
          <a:xfrm>
            <a:off x="201168" y="393192"/>
            <a:ext cx="53034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Recursive Fibonacci creates two calls and repeats the same subproblems.</a:t>
            </a:r>
            <a:endParaRPr/>
          </a:p>
        </p:txBody>
      </p:sp>
      <p:cxnSp>
        <p:nvCxnSpPr>
          <p:cNvPr id="878" name="Google Shape;878;g3f597dbd1dc_2_155"/>
          <p:cNvCxnSpPr/>
          <p:nvPr/>
        </p:nvCxnSpPr>
        <p:spPr>
          <a:xfrm flipH="1">
            <a:off x="1920120" y="804672"/>
            <a:ext cx="868800" cy="255900"/>
          </a:xfrm>
          <a:prstGeom prst="straightConnector1">
            <a:avLst/>
          </a:prstGeom>
          <a:noFill/>
          <a:ln cap="flat" cmpd="sng" w="114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879" name="Google Shape;879;g3f597dbd1dc_2_155"/>
          <p:cNvCxnSpPr/>
          <p:nvPr/>
        </p:nvCxnSpPr>
        <p:spPr>
          <a:xfrm>
            <a:off x="2788920" y="804672"/>
            <a:ext cx="868800" cy="255900"/>
          </a:xfrm>
          <a:prstGeom prst="straightConnector1">
            <a:avLst/>
          </a:prstGeom>
          <a:noFill/>
          <a:ln cap="flat" cmpd="sng" w="114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880" name="Google Shape;880;g3f597dbd1dc_2_155"/>
          <p:cNvCxnSpPr/>
          <p:nvPr/>
        </p:nvCxnSpPr>
        <p:spPr>
          <a:xfrm flipH="1">
            <a:off x="1371540" y="1289304"/>
            <a:ext cx="548700" cy="265200"/>
          </a:xfrm>
          <a:prstGeom prst="straightConnector1">
            <a:avLst/>
          </a:prstGeom>
          <a:noFill/>
          <a:ln cap="flat" cmpd="sng" w="114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881" name="Google Shape;881;g3f597dbd1dc_2_155"/>
          <p:cNvCxnSpPr/>
          <p:nvPr/>
        </p:nvCxnSpPr>
        <p:spPr>
          <a:xfrm>
            <a:off x="1920240" y="1289304"/>
            <a:ext cx="457200" cy="265200"/>
          </a:xfrm>
          <a:prstGeom prst="straightConnector1">
            <a:avLst/>
          </a:prstGeom>
          <a:noFill/>
          <a:ln cap="flat" cmpd="sng" w="114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882" name="Google Shape;882;g3f597dbd1dc_2_155"/>
          <p:cNvCxnSpPr/>
          <p:nvPr/>
        </p:nvCxnSpPr>
        <p:spPr>
          <a:xfrm flipH="1">
            <a:off x="3291900" y="1289304"/>
            <a:ext cx="365700" cy="265200"/>
          </a:xfrm>
          <a:prstGeom prst="straightConnector1">
            <a:avLst/>
          </a:prstGeom>
          <a:noFill/>
          <a:ln cap="flat" cmpd="sng" w="114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883" name="Google Shape;883;g3f597dbd1dc_2_155"/>
          <p:cNvCxnSpPr/>
          <p:nvPr/>
        </p:nvCxnSpPr>
        <p:spPr>
          <a:xfrm>
            <a:off x="3657600" y="1289304"/>
            <a:ext cx="685800" cy="265200"/>
          </a:xfrm>
          <a:prstGeom prst="straightConnector1">
            <a:avLst/>
          </a:prstGeom>
          <a:noFill/>
          <a:ln cap="flat" cmpd="sng" w="114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884" name="Google Shape;884;g3f597dbd1dc_2_155"/>
          <p:cNvCxnSpPr/>
          <p:nvPr/>
        </p:nvCxnSpPr>
        <p:spPr>
          <a:xfrm flipH="1">
            <a:off x="960000" y="1783080"/>
            <a:ext cx="411600" cy="255900"/>
          </a:xfrm>
          <a:prstGeom prst="straightConnector1">
            <a:avLst/>
          </a:prstGeom>
          <a:noFill/>
          <a:ln cap="flat" cmpd="sng" w="114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885" name="Google Shape;885;g3f597dbd1dc_2_155"/>
          <p:cNvCxnSpPr/>
          <p:nvPr/>
        </p:nvCxnSpPr>
        <p:spPr>
          <a:xfrm>
            <a:off x="1371600" y="1783080"/>
            <a:ext cx="365700" cy="255900"/>
          </a:xfrm>
          <a:prstGeom prst="straightConnector1">
            <a:avLst/>
          </a:prstGeom>
          <a:noFill/>
          <a:ln cap="flat" cmpd="sng" w="114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886" name="Google Shape;886;g3f597dbd1dc_2_155"/>
          <p:cNvCxnSpPr/>
          <p:nvPr/>
        </p:nvCxnSpPr>
        <p:spPr>
          <a:xfrm flipH="1">
            <a:off x="2148840" y="1783080"/>
            <a:ext cx="228600" cy="255900"/>
          </a:xfrm>
          <a:prstGeom prst="straightConnector1">
            <a:avLst/>
          </a:prstGeom>
          <a:noFill/>
          <a:ln cap="flat" cmpd="sng" w="114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887" name="Google Shape;887;g3f597dbd1dc_2_155"/>
          <p:cNvCxnSpPr/>
          <p:nvPr/>
        </p:nvCxnSpPr>
        <p:spPr>
          <a:xfrm>
            <a:off x="2377440" y="1783080"/>
            <a:ext cx="274200" cy="255900"/>
          </a:xfrm>
          <a:prstGeom prst="straightConnector1">
            <a:avLst/>
          </a:prstGeom>
          <a:noFill/>
          <a:ln cap="flat" cmpd="sng" w="114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888" name="Google Shape;888;g3f597dbd1dc_2_155"/>
          <p:cNvSpPr/>
          <p:nvPr/>
        </p:nvSpPr>
        <p:spPr>
          <a:xfrm>
            <a:off x="2560320" y="594360"/>
            <a:ext cx="4572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141414"/>
                </a:solidFill>
                <a:latin typeface="Consolas"/>
                <a:ea typeface="Consolas"/>
                <a:cs typeface="Consolas"/>
                <a:sym typeface="Consolas"/>
              </a:rPr>
              <a:t>F(5)</a:t>
            </a:r>
            <a:endParaRPr/>
          </a:p>
        </p:txBody>
      </p:sp>
      <p:sp>
        <p:nvSpPr>
          <p:cNvPr id="889" name="Google Shape;889;g3f597dbd1dc_2_155"/>
          <p:cNvSpPr/>
          <p:nvPr/>
        </p:nvSpPr>
        <p:spPr>
          <a:xfrm>
            <a:off x="1691640" y="1078992"/>
            <a:ext cx="4572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141414"/>
                </a:solidFill>
                <a:latin typeface="Consolas"/>
                <a:ea typeface="Consolas"/>
                <a:cs typeface="Consolas"/>
                <a:sym typeface="Consolas"/>
              </a:rPr>
              <a:t>F(4)</a:t>
            </a:r>
            <a:endParaRPr/>
          </a:p>
        </p:txBody>
      </p:sp>
      <p:sp>
        <p:nvSpPr>
          <p:cNvPr id="890" name="Google Shape;890;g3f597dbd1dc_2_155"/>
          <p:cNvSpPr/>
          <p:nvPr/>
        </p:nvSpPr>
        <p:spPr>
          <a:xfrm>
            <a:off x="3429000" y="1078992"/>
            <a:ext cx="457200" cy="228600"/>
          </a:xfrm>
          <a:prstGeom prst="roundRect">
            <a:avLst>
              <a:gd fmla="val 16667" name="adj"/>
            </a:avLst>
          </a:prstGeom>
          <a:solidFill>
            <a:srgbClr val="FFEBEB"/>
          </a:solidFill>
          <a:ln cap="flat" cmpd="sng" w="12700">
            <a:solidFill>
              <a:srgbClr val="DC232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141414"/>
                </a:solidFill>
                <a:latin typeface="Consolas"/>
                <a:ea typeface="Consolas"/>
                <a:cs typeface="Consolas"/>
                <a:sym typeface="Consolas"/>
              </a:rPr>
              <a:t>F(3)</a:t>
            </a:r>
            <a:endParaRPr/>
          </a:p>
        </p:txBody>
      </p:sp>
      <p:sp>
        <p:nvSpPr>
          <p:cNvPr id="891" name="Google Shape;891;g3f597dbd1dc_2_155"/>
          <p:cNvSpPr/>
          <p:nvPr/>
        </p:nvSpPr>
        <p:spPr>
          <a:xfrm>
            <a:off x="1143000" y="1572768"/>
            <a:ext cx="457200" cy="228600"/>
          </a:xfrm>
          <a:prstGeom prst="roundRect">
            <a:avLst>
              <a:gd fmla="val 16667" name="adj"/>
            </a:avLst>
          </a:prstGeom>
          <a:solidFill>
            <a:srgbClr val="FFEBEB"/>
          </a:solidFill>
          <a:ln cap="flat" cmpd="sng" w="12700">
            <a:solidFill>
              <a:srgbClr val="DC232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141414"/>
                </a:solidFill>
                <a:latin typeface="Consolas"/>
                <a:ea typeface="Consolas"/>
                <a:cs typeface="Consolas"/>
                <a:sym typeface="Consolas"/>
              </a:rPr>
              <a:t>F(3)</a:t>
            </a:r>
            <a:endParaRPr/>
          </a:p>
        </p:txBody>
      </p:sp>
      <p:sp>
        <p:nvSpPr>
          <p:cNvPr id="892" name="Google Shape;892;g3f597dbd1dc_2_155"/>
          <p:cNvSpPr/>
          <p:nvPr/>
        </p:nvSpPr>
        <p:spPr>
          <a:xfrm>
            <a:off x="2148840" y="1572768"/>
            <a:ext cx="457200" cy="228600"/>
          </a:xfrm>
          <a:prstGeom prst="roundRect">
            <a:avLst>
              <a:gd fmla="val 16667" name="adj"/>
            </a:avLst>
          </a:prstGeom>
          <a:solidFill>
            <a:srgbClr val="FFEBEB"/>
          </a:solidFill>
          <a:ln cap="flat" cmpd="sng" w="12700">
            <a:solidFill>
              <a:srgbClr val="DC232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141414"/>
                </a:solidFill>
                <a:latin typeface="Consolas"/>
                <a:ea typeface="Consolas"/>
                <a:cs typeface="Consolas"/>
                <a:sym typeface="Consolas"/>
              </a:rPr>
              <a:t>F(2)</a:t>
            </a:r>
            <a:endParaRPr/>
          </a:p>
        </p:txBody>
      </p:sp>
      <p:sp>
        <p:nvSpPr>
          <p:cNvPr id="893" name="Google Shape;893;g3f597dbd1dc_2_155"/>
          <p:cNvSpPr/>
          <p:nvPr/>
        </p:nvSpPr>
        <p:spPr>
          <a:xfrm>
            <a:off x="3063240" y="1572768"/>
            <a:ext cx="457200" cy="228600"/>
          </a:xfrm>
          <a:prstGeom prst="roundRect">
            <a:avLst>
              <a:gd fmla="val 16667" name="adj"/>
            </a:avLst>
          </a:prstGeom>
          <a:solidFill>
            <a:srgbClr val="FFEBEB"/>
          </a:solidFill>
          <a:ln cap="flat" cmpd="sng" w="12700">
            <a:solidFill>
              <a:srgbClr val="DC232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141414"/>
                </a:solidFill>
                <a:latin typeface="Consolas"/>
                <a:ea typeface="Consolas"/>
                <a:cs typeface="Consolas"/>
                <a:sym typeface="Consolas"/>
              </a:rPr>
              <a:t>F(2)</a:t>
            </a:r>
            <a:endParaRPr/>
          </a:p>
        </p:txBody>
      </p:sp>
      <p:sp>
        <p:nvSpPr>
          <p:cNvPr id="894" name="Google Shape;894;g3f597dbd1dc_2_155"/>
          <p:cNvSpPr/>
          <p:nvPr/>
        </p:nvSpPr>
        <p:spPr>
          <a:xfrm>
            <a:off x="4114800" y="1572768"/>
            <a:ext cx="4572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141414"/>
                </a:solidFill>
                <a:latin typeface="Consolas"/>
                <a:ea typeface="Consolas"/>
                <a:cs typeface="Consolas"/>
                <a:sym typeface="Consolas"/>
              </a:rPr>
              <a:t>F(1)</a:t>
            </a:r>
            <a:endParaRPr/>
          </a:p>
        </p:txBody>
      </p:sp>
      <p:sp>
        <p:nvSpPr>
          <p:cNvPr id="895" name="Google Shape;895;g3f597dbd1dc_2_155"/>
          <p:cNvSpPr/>
          <p:nvPr/>
        </p:nvSpPr>
        <p:spPr>
          <a:xfrm>
            <a:off x="731520" y="2057400"/>
            <a:ext cx="457200" cy="228600"/>
          </a:xfrm>
          <a:prstGeom prst="roundRect">
            <a:avLst>
              <a:gd fmla="val 16667" name="adj"/>
            </a:avLst>
          </a:prstGeom>
          <a:solidFill>
            <a:srgbClr val="FFEBEB"/>
          </a:solidFill>
          <a:ln cap="flat" cmpd="sng" w="12700">
            <a:solidFill>
              <a:srgbClr val="DC232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141414"/>
                </a:solidFill>
                <a:latin typeface="Consolas"/>
                <a:ea typeface="Consolas"/>
                <a:cs typeface="Consolas"/>
                <a:sym typeface="Consolas"/>
              </a:rPr>
              <a:t>F(2)</a:t>
            </a:r>
            <a:endParaRPr/>
          </a:p>
        </p:txBody>
      </p:sp>
      <p:sp>
        <p:nvSpPr>
          <p:cNvPr id="896" name="Google Shape;896;g3f597dbd1dc_2_155"/>
          <p:cNvSpPr/>
          <p:nvPr/>
        </p:nvSpPr>
        <p:spPr>
          <a:xfrm>
            <a:off x="1462935" y="2048850"/>
            <a:ext cx="4572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141414"/>
                </a:solidFill>
                <a:latin typeface="Consolas"/>
                <a:ea typeface="Consolas"/>
                <a:cs typeface="Consolas"/>
                <a:sym typeface="Consolas"/>
              </a:rPr>
              <a:t>F(1)</a:t>
            </a:r>
            <a:endParaRPr/>
          </a:p>
        </p:txBody>
      </p:sp>
      <p:sp>
        <p:nvSpPr>
          <p:cNvPr id="897" name="Google Shape;897;g3f597dbd1dc_2_155"/>
          <p:cNvSpPr/>
          <p:nvPr/>
        </p:nvSpPr>
        <p:spPr>
          <a:xfrm>
            <a:off x="1960315" y="2066550"/>
            <a:ext cx="4572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141414"/>
                </a:solidFill>
                <a:latin typeface="Consolas"/>
                <a:ea typeface="Consolas"/>
                <a:cs typeface="Consolas"/>
                <a:sym typeface="Consolas"/>
              </a:rPr>
              <a:t>F(1)</a:t>
            </a:r>
            <a:endParaRPr/>
          </a:p>
        </p:txBody>
      </p:sp>
      <p:sp>
        <p:nvSpPr>
          <p:cNvPr id="898" name="Google Shape;898;g3f597dbd1dc_2_155"/>
          <p:cNvSpPr/>
          <p:nvPr/>
        </p:nvSpPr>
        <p:spPr>
          <a:xfrm>
            <a:off x="2503310" y="2048850"/>
            <a:ext cx="4572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141414"/>
                </a:solidFill>
                <a:latin typeface="Consolas"/>
                <a:ea typeface="Consolas"/>
                <a:cs typeface="Consolas"/>
                <a:sym typeface="Consolas"/>
              </a:rPr>
              <a:t>F(0)</a:t>
            </a:r>
            <a:endParaRPr/>
          </a:p>
        </p:txBody>
      </p:sp>
      <p:sp>
        <p:nvSpPr>
          <p:cNvPr id="899" name="Google Shape;899;g3f597dbd1dc_2_155"/>
          <p:cNvSpPr/>
          <p:nvPr/>
        </p:nvSpPr>
        <p:spPr>
          <a:xfrm>
            <a:off x="4343400" y="1097280"/>
            <a:ext cx="960000" cy="320100"/>
          </a:xfrm>
          <a:prstGeom prst="roundRect">
            <a:avLst>
              <a:gd fmla="val 16667" name="adj"/>
            </a:avLst>
          </a:prstGeom>
          <a:solidFill>
            <a:srgbClr val="FFEBEB"/>
          </a:solidFill>
          <a:ln cap="flat" cmpd="sng" w="12700">
            <a:solidFill>
              <a:srgbClr val="DC232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DC2323"/>
                </a:solidFill>
                <a:latin typeface="Arial"/>
                <a:ea typeface="Arial"/>
                <a:cs typeface="Arial"/>
                <a:sym typeface="Arial"/>
              </a:rPr>
              <a:t>Repeated subproblems</a:t>
            </a:r>
            <a:endParaRPr/>
          </a:p>
        </p:txBody>
      </p:sp>
      <p:sp>
        <p:nvSpPr>
          <p:cNvPr id="900" name="Google Shape;900;g3f597dbd1dc_2_155"/>
          <p:cNvSpPr/>
          <p:nvPr/>
        </p:nvSpPr>
        <p:spPr>
          <a:xfrm>
            <a:off x="3657600" y="2407075"/>
            <a:ext cx="1949400" cy="594300"/>
          </a:xfrm>
          <a:prstGeom prst="roundRect">
            <a:avLst>
              <a:gd fmla="val 16667" name="adj"/>
            </a:avLst>
          </a:prstGeom>
          <a:solidFill>
            <a:srgbClr val="FFF5CC"/>
          </a:solidFill>
          <a:ln cap="flat" cmpd="sng" w="12700">
            <a:solidFill>
              <a:srgbClr val="D6BE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F(3) and F(2) are calculated more than once.</a:t>
            </a:r>
            <a:br>
              <a:rPr b="0" i="0" lang="en-US" sz="71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1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This is why </a:t>
            </a:r>
            <a:r>
              <a:rPr b="1" i="0" lang="en-US" sz="710" u="none" cap="none" strike="noStrike">
                <a:solidFill>
                  <a:srgbClr val="0000FF"/>
                </a:solidFill>
              </a:rPr>
              <a:t>memoization</a:t>
            </a:r>
            <a:r>
              <a:rPr b="0" i="0" lang="en-US" sz="71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 is useful later.</a:t>
            </a:r>
            <a:endParaRPr/>
          </a:p>
        </p:txBody>
      </p:sp>
      <p:sp>
        <p:nvSpPr>
          <p:cNvPr id="901" name="Google Shape;901;g3f597dbd1dc_2_155"/>
          <p:cNvSpPr/>
          <p:nvPr/>
        </p:nvSpPr>
        <p:spPr>
          <a:xfrm>
            <a:off x="320052" y="658375"/>
            <a:ext cx="1417200" cy="3108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54850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141414"/>
                </a:solidFill>
                <a:latin typeface="Trebuchet MS"/>
                <a:ea typeface="Trebuchet MS"/>
                <a:cs typeface="Trebuchet MS"/>
                <a:sym typeface="Trebuchet MS"/>
              </a:rPr>
              <a:t>fib(n) = fib(n-1) + fib(n-2)</a:t>
            </a:r>
            <a:endParaRPr b="1"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2" name="Google Shape;902;g3f597dbd1dc_2_155"/>
          <p:cNvSpPr txBox="1"/>
          <p:nvPr/>
        </p:nvSpPr>
        <p:spPr>
          <a:xfrm>
            <a:off x="201174" y="67425"/>
            <a:ext cx="53034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Fibonacci: Visualize the Branching (</a:t>
            </a:r>
            <a:r>
              <a:rPr b="1" lang="en-US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Recursion Tree)</a:t>
            </a:r>
            <a:endParaRPr b="1" sz="1700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903" name="Google Shape;903;g3f597dbd1dc_2_155"/>
          <p:cNvCxnSpPr/>
          <p:nvPr/>
        </p:nvCxnSpPr>
        <p:spPr>
          <a:xfrm flipH="1">
            <a:off x="648553" y="2304430"/>
            <a:ext cx="228600" cy="255900"/>
          </a:xfrm>
          <a:prstGeom prst="straightConnector1">
            <a:avLst/>
          </a:prstGeom>
          <a:noFill/>
          <a:ln cap="flat" cmpd="sng" w="114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904" name="Google Shape;904;g3f597dbd1dc_2_155"/>
          <p:cNvCxnSpPr/>
          <p:nvPr/>
        </p:nvCxnSpPr>
        <p:spPr>
          <a:xfrm>
            <a:off x="877153" y="2304430"/>
            <a:ext cx="274200" cy="255900"/>
          </a:xfrm>
          <a:prstGeom prst="straightConnector1">
            <a:avLst/>
          </a:prstGeom>
          <a:noFill/>
          <a:ln cap="flat" cmpd="sng" w="114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905" name="Google Shape;905;g3f597dbd1dc_2_155"/>
          <p:cNvSpPr/>
          <p:nvPr/>
        </p:nvSpPr>
        <p:spPr>
          <a:xfrm>
            <a:off x="460027" y="2587900"/>
            <a:ext cx="4572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141414"/>
                </a:solidFill>
                <a:latin typeface="Consolas"/>
                <a:ea typeface="Consolas"/>
                <a:cs typeface="Consolas"/>
                <a:sym typeface="Consolas"/>
              </a:rPr>
              <a:t>F(1)</a:t>
            </a:r>
            <a:endParaRPr/>
          </a:p>
        </p:txBody>
      </p:sp>
      <p:sp>
        <p:nvSpPr>
          <p:cNvPr id="906" name="Google Shape;906;g3f597dbd1dc_2_155"/>
          <p:cNvSpPr/>
          <p:nvPr/>
        </p:nvSpPr>
        <p:spPr>
          <a:xfrm>
            <a:off x="1003023" y="2570200"/>
            <a:ext cx="4572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141414"/>
                </a:solidFill>
                <a:latin typeface="Consolas"/>
                <a:ea typeface="Consolas"/>
                <a:cs typeface="Consolas"/>
                <a:sym typeface="Consolas"/>
              </a:rPr>
              <a:t>F(0)</a:t>
            </a:r>
            <a:endParaRPr/>
          </a:p>
        </p:txBody>
      </p:sp>
      <p:cxnSp>
        <p:nvCxnSpPr>
          <p:cNvPr id="907" name="Google Shape;907;g3f597dbd1dc_2_155"/>
          <p:cNvCxnSpPr/>
          <p:nvPr/>
        </p:nvCxnSpPr>
        <p:spPr>
          <a:xfrm flipH="1">
            <a:off x="3226078" y="1783218"/>
            <a:ext cx="228600" cy="255900"/>
          </a:xfrm>
          <a:prstGeom prst="straightConnector1">
            <a:avLst/>
          </a:prstGeom>
          <a:noFill/>
          <a:ln cap="flat" cmpd="sng" w="114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908" name="Google Shape;908;g3f597dbd1dc_2_155"/>
          <p:cNvCxnSpPr/>
          <p:nvPr/>
        </p:nvCxnSpPr>
        <p:spPr>
          <a:xfrm>
            <a:off x="3454678" y="1783218"/>
            <a:ext cx="274200" cy="255900"/>
          </a:xfrm>
          <a:prstGeom prst="straightConnector1">
            <a:avLst/>
          </a:prstGeom>
          <a:noFill/>
          <a:ln cap="flat" cmpd="sng" w="114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909" name="Google Shape;909;g3f597dbd1dc_2_155"/>
          <p:cNvSpPr/>
          <p:nvPr/>
        </p:nvSpPr>
        <p:spPr>
          <a:xfrm>
            <a:off x="3037553" y="2066688"/>
            <a:ext cx="4572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141414"/>
                </a:solidFill>
                <a:latin typeface="Consolas"/>
                <a:ea typeface="Consolas"/>
                <a:cs typeface="Consolas"/>
                <a:sym typeface="Consolas"/>
              </a:rPr>
              <a:t>F(1)</a:t>
            </a:r>
            <a:endParaRPr/>
          </a:p>
        </p:txBody>
      </p:sp>
      <p:sp>
        <p:nvSpPr>
          <p:cNvPr id="910" name="Google Shape;910;g3f597dbd1dc_2_155"/>
          <p:cNvSpPr/>
          <p:nvPr/>
        </p:nvSpPr>
        <p:spPr>
          <a:xfrm>
            <a:off x="3580548" y="2048988"/>
            <a:ext cx="4572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" u="none" cap="none" strike="noStrike">
                <a:solidFill>
                  <a:srgbClr val="141414"/>
                </a:solidFill>
                <a:latin typeface="Consolas"/>
                <a:ea typeface="Consolas"/>
                <a:cs typeface="Consolas"/>
                <a:sym typeface="Consolas"/>
              </a:rPr>
              <a:t>F(0)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f6507c2e0b_0_12"/>
          <p:cNvSpPr txBox="1"/>
          <p:nvPr/>
        </p:nvSpPr>
        <p:spPr>
          <a:xfrm>
            <a:off x="201180" y="146890"/>
            <a:ext cx="5394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g3f6507c2e0b_0_12"/>
          <p:cNvSpPr txBox="1"/>
          <p:nvPr/>
        </p:nvSpPr>
        <p:spPr>
          <a:xfrm>
            <a:off x="201168" y="393192"/>
            <a:ext cx="53034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Recursive Fibonacci creates two calls and repeats the same subproblems.</a:t>
            </a:r>
            <a:endParaRPr/>
          </a:p>
        </p:txBody>
      </p:sp>
      <p:pic>
        <p:nvPicPr>
          <p:cNvPr id="917" name="Google Shape;917;g3f6507c2e0b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75" y="693300"/>
            <a:ext cx="4740374" cy="213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g3f6507c2e0b_0_12"/>
          <p:cNvSpPr/>
          <p:nvPr/>
        </p:nvSpPr>
        <p:spPr>
          <a:xfrm>
            <a:off x="320052" y="658375"/>
            <a:ext cx="1417200" cy="3108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54850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141414"/>
                </a:solidFill>
                <a:latin typeface="Trebuchet MS"/>
                <a:ea typeface="Trebuchet MS"/>
                <a:cs typeface="Trebuchet MS"/>
                <a:sym typeface="Trebuchet MS"/>
              </a:rPr>
              <a:t>fib(n) = fib(n-1) + fib(n-2)</a:t>
            </a:r>
            <a:endParaRPr b="1"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9" name="Google Shape;919;g3f6507c2e0b_0_12"/>
          <p:cNvSpPr txBox="1"/>
          <p:nvPr/>
        </p:nvSpPr>
        <p:spPr>
          <a:xfrm>
            <a:off x="201174" y="67425"/>
            <a:ext cx="53034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Fibonacci: Visualize the Branching (</a:t>
            </a:r>
            <a:r>
              <a:rPr b="1" lang="en-US" sz="1700">
                <a:solidFill>
                  <a:srgbClr val="334669"/>
                </a:solidFill>
                <a:latin typeface="Trebuchet MS"/>
                <a:ea typeface="Trebuchet MS"/>
                <a:cs typeface="Trebuchet MS"/>
                <a:sym typeface="Trebuchet MS"/>
              </a:rPr>
              <a:t>Recursion Tree)</a:t>
            </a:r>
            <a:endParaRPr b="1" sz="1700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334669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0" name="Google Shape;920;g3f6507c2e0b_0_12"/>
          <p:cNvSpPr txBox="1"/>
          <p:nvPr/>
        </p:nvSpPr>
        <p:spPr>
          <a:xfrm>
            <a:off x="320045" y="3025397"/>
            <a:ext cx="31389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Source: https://</a:t>
            </a:r>
            <a:r>
              <a:rPr b="0" i="0" lang="en-US" sz="5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www.idc-online.com/technical_references/pdfs/information_technology/Tree_Recursion_in_Python.pdf</a:t>
            </a:r>
            <a:endParaRPr b="0" i="0" sz="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f5972311be_0_158"/>
          <p:cNvSpPr/>
          <p:nvPr/>
        </p:nvSpPr>
        <p:spPr>
          <a:xfrm>
            <a:off x="337308" y="1016720"/>
            <a:ext cx="5102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Recursion on Arrays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3f5972311be_0_158"/>
          <p:cNvSpPr/>
          <p:nvPr/>
        </p:nvSpPr>
        <p:spPr>
          <a:xfrm>
            <a:off x="908138" y="1349858"/>
            <a:ext cx="39354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The index moves just like a loop counter.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3f5972311be_0_158"/>
          <p:cNvSpPr/>
          <p:nvPr/>
        </p:nvSpPr>
        <p:spPr>
          <a:xfrm>
            <a:off x="1794653" y="1717607"/>
            <a:ext cx="11244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sample array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3f5972311be_0_158"/>
          <p:cNvSpPr/>
          <p:nvPr/>
        </p:nvSpPr>
        <p:spPr>
          <a:xfrm>
            <a:off x="1794653" y="1830095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3f5972311be_0_158"/>
          <p:cNvSpPr/>
          <p:nvPr/>
        </p:nvSpPr>
        <p:spPr>
          <a:xfrm>
            <a:off x="1794653" y="1925278"/>
            <a:ext cx="237900" cy="164400"/>
          </a:xfrm>
          <a:prstGeom prst="rect">
            <a:avLst/>
          </a:prstGeom>
          <a:solidFill>
            <a:srgbClr val="EAF3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3f5972311be_0_158"/>
          <p:cNvSpPr/>
          <p:nvPr/>
        </p:nvSpPr>
        <p:spPr>
          <a:xfrm>
            <a:off x="2058445" y="1830095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g3f5972311be_0_158"/>
          <p:cNvSpPr/>
          <p:nvPr/>
        </p:nvSpPr>
        <p:spPr>
          <a:xfrm>
            <a:off x="2058445" y="1925278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g3f5972311be_0_158"/>
          <p:cNvSpPr/>
          <p:nvPr/>
        </p:nvSpPr>
        <p:spPr>
          <a:xfrm>
            <a:off x="2322238" y="1830095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g3f5972311be_0_158"/>
          <p:cNvSpPr/>
          <p:nvPr/>
        </p:nvSpPr>
        <p:spPr>
          <a:xfrm>
            <a:off x="2322238" y="1925278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g3f5972311be_0_158"/>
          <p:cNvSpPr/>
          <p:nvPr/>
        </p:nvSpPr>
        <p:spPr>
          <a:xfrm>
            <a:off x="2586030" y="1830095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g3f5972311be_0_158"/>
          <p:cNvSpPr/>
          <p:nvPr/>
        </p:nvSpPr>
        <p:spPr>
          <a:xfrm>
            <a:off x="2586030" y="1925278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g3f5972311be_0_158"/>
          <p:cNvSpPr/>
          <p:nvPr/>
        </p:nvSpPr>
        <p:spPr>
          <a:xfrm>
            <a:off x="2849823" y="1830095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3f5972311be_0_158"/>
          <p:cNvSpPr/>
          <p:nvPr/>
        </p:nvSpPr>
        <p:spPr>
          <a:xfrm>
            <a:off x="2849823" y="1925278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g3f5972311be_0_158"/>
          <p:cNvSpPr/>
          <p:nvPr/>
        </p:nvSpPr>
        <p:spPr>
          <a:xfrm>
            <a:off x="3113615" y="1830095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g3f5972311be_0_158"/>
          <p:cNvSpPr/>
          <p:nvPr/>
        </p:nvSpPr>
        <p:spPr>
          <a:xfrm>
            <a:off x="3113615" y="1925278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87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g3f5972311be_0_158"/>
          <p:cNvSpPr/>
          <p:nvPr/>
        </p:nvSpPr>
        <p:spPr>
          <a:xfrm>
            <a:off x="3377407" y="1830095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g3f5972311be_0_158"/>
          <p:cNvSpPr/>
          <p:nvPr/>
        </p:nvSpPr>
        <p:spPr>
          <a:xfrm>
            <a:off x="3377407" y="1925278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g3f5972311be_0_158"/>
          <p:cNvSpPr/>
          <p:nvPr/>
        </p:nvSpPr>
        <p:spPr>
          <a:xfrm>
            <a:off x="3641200" y="1830095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g3f5972311be_0_158"/>
          <p:cNvSpPr/>
          <p:nvPr/>
        </p:nvSpPr>
        <p:spPr>
          <a:xfrm>
            <a:off x="3641200" y="1925278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3f5972311be_0_158"/>
          <p:cNvSpPr/>
          <p:nvPr/>
        </p:nvSpPr>
        <p:spPr>
          <a:xfrm>
            <a:off x="1989254" y="2241110"/>
            <a:ext cx="1816200" cy="116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i is the recursive parameter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g3f5972311be_0_158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f5972311be_0_183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06: Print array forward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g3f5972311be_0_183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Base case: stop when i reaches arr.length.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3f5972311be_0_183"/>
          <p:cNvSpPr/>
          <p:nvPr/>
        </p:nvSpPr>
        <p:spPr>
          <a:xfrm>
            <a:off x="281090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Iterative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g3f5972311be_0_183"/>
          <p:cNvSpPr/>
          <p:nvPr/>
        </p:nvSpPr>
        <p:spPr>
          <a:xfrm>
            <a:off x="281090" y="713867"/>
            <a:ext cx="2529900" cy="1375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printArrayForwardWhile(int[] arr)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i = 0;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while (i &lt; arr.length)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System.out.print(arr[i] + " ");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i++;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System.out.println();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56" name="Google Shape;956;g3f5972311be_0_183"/>
          <p:cNvSpPr/>
          <p:nvPr/>
        </p:nvSpPr>
        <p:spPr>
          <a:xfrm>
            <a:off x="2949285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g3f5972311be_0_183"/>
          <p:cNvSpPr/>
          <p:nvPr/>
        </p:nvSpPr>
        <p:spPr>
          <a:xfrm>
            <a:off x="2949285" y="713867"/>
            <a:ext cx="2529900" cy="1375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printArrayForwardRec(int i, int[] arr)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(i == arr.length)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System.out.print(arr[i] + " ");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printArrayForwardRec(i + 1, arr);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58" name="Google Shape;958;g3f5972311be_0_183"/>
          <p:cNvSpPr/>
          <p:nvPr/>
        </p:nvSpPr>
        <p:spPr>
          <a:xfrm>
            <a:off x="361480" y="21416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g3f5972311be_0_183"/>
          <p:cNvSpPr/>
          <p:nvPr/>
        </p:nvSpPr>
        <p:spPr>
          <a:xfrm>
            <a:off x="361480" y="2236789"/>
            <a:ext cx="237900" cy="164400"/>
          </a:xfrm>
          <a:prstGeom prst="rect">
            <a:avLst/>
          </a:prstGeom>
          <a:solidFill>
            <a:srgbClr val="EAF3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g3f5972311be_0_183"/>
          <p:cNvSpPr/>
          <p:nvPr/>
        </p:nvSpPr>
        <p:spPr>
          <a:xfrm>
            <a:off x="625272" y="21416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g3f5972311be_0_183"/>
          <p:cNvSpPr/>
          <p:nvPr/>
        </p:nvSpPr>
        <p:spPr>
          <a:xfrm>
            <a:off x="625272" y="22367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g3f5972311be_0_183"/>
          <p:cNvSpPr/>
          <p:nvPr/>
        </p:nvSpPr>
        <p:spPr>
          <a:xfrm>
            <a:off x="889064" y="21416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g3f5972311be_0_183"/>
          <p:cNvSpPr/>
          <p:nvPr/>
        </p:nvSpPr>
        <p:spPr>
          <a:xfrm>
            <a:off x="889064" y="22367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g3f5972311be_0_183"/>
          <p:cNvSpPr/>
          <p:nvPr/>
        </p:nvSpPr>
        <p:spPr>
          <a:xfrm>
            <a:off x="1152857" y="21416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g3f5972311be_0_183"/>
          <p:cNvSpPr/>
          <p:nvPr/>
        </p:nvSpPr>
        <p:spPr>
          <a:xfrm>
            <a:off x="1152857" y="22367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6" name="Google Shape;966;g3f5972311be_0_183"/>
          <p:cNvCxnSpPr/>
          <p:nvPr/>
        </p:nvCxnSpPr>
        <p:spPr>
          <a:xfrm>
            <a:off x="672933" y="2435806"/>
            <a:ext cx="6702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7" name="Google Shape;967;g3f5972311be_0_183"/>
          <p:cNvSpPr/>
          <p:nvPr/>
        </p:nvSpPr>
        <p:spPr>
          <a:xfrm>
            <a:off x="902130" y="2470418"/>
            <a:ext cx="3459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500"/>
              <a:buFont typeface="Arial"/>
              <a:buNone/>
            </a:pPr>
            <a:r>
              <a:rPr b="0" i="0" lang="en-US" sz="8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i + 1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g3f5972311be_0_183"/>
          <p:cNvSpPr/>
          <p:nvPr/>
        </p:nvSpPr>
        <p:spPr>
          <a:xfrm>
            <a:off x="361465" y="2669402"/>
            <a:ext cx="15135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g3f5972311be_0_183"/>
          <p:cNvSpPr/>
          <p:nvPr/>
        </p:nvSpPr>
        <p:spPr>
          <a:xfrm>
            <a:off x="361465" y="2777564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g3f5972311be_0_183"/>
          <p:cNvSpPr/>
          <p:nvPr/>
        </p:nvSpPr>
        <p:spPr>
          <a:xfrm>
            <a:off x="616608" y="2777564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g3f5972311be_0_183"/>
          <p:cNvSpPr/>
          <p:nvPr/>
        </p:nvSpPr>
        <p:spPr>
          <a:xfrm>
            <a:off x="871752" y="2777564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g3f5972311be_0_183"/>
          <p:cNvSpPr/>
          <p:nvPr/>
        </p:nvSpPr>
        <p:spPr>
          <a:xfrm>
            <a:off x="1126895" y="2777564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57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g3f5972311be_0_183"/>
          <p:cNvSpPr txBox="1"/>
          <p:nvPr>
            <p:ph idx="4294967295" type="sldNum"/>
          </p:nvPr>
        </p:nvSpPr>
        <p:spPr>
          <a:xfrm>
            <a:off x="5436470" y="3006949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g3f5972311be_0_183"/>
          <p:cNvSpPr/>
          <p:nvPr/>
        </p:nvSpPr>
        <p:spPr>
          <a:xfrm>
            <a:off x="3137525" y="2115725"/>
            <a:ext cx="17202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Call stack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g3f5972311be_0_183"/>
          <p:cNvSpPr/>
          <p:nvPr/>
        </p:nvSpPr>
        <p:spPr>
          <a:xfrm>
            <a:off x="3142280" y="2219688"/>
            <a:ext cx="21855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1F2937"/>
                </a:solidFill>
              </a:rPr>
              <a:t>method (0, arr) </a:t>
            </a:r>
            <a:r>
              <a:rPr b="1" lang="en-US" sz="600">
                <a:solidFill>
                  <a:schemeClr val="hlink"/>
                </a:solidFill>
              </a:rPr>
              <a:t>(Call from main method)</a:t>
            </a:r>
            <a:endParaRPr b="1" sz="600">
              <a:solidFill>
                <a:srgbClr val="1F2937"/>
              </a:solidFill>
            </a:endParaRPr>
          </a:p>
        </p:txBody>
      </p:sp>
      <p:sp>
        <p:nvSpPr>
          <p:cNvPr id="976" name="Google Shape;976;g3f5972311be_0_183"/>
          <p:cNvSpPr/>
          <p:nvPr/>
        </p:nvSpPr>
        <p:spPr>
          <a:xfrm>
            <a:off x="3142282" y="2383959"/>
            <a:ext cx="21855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1F2937"/>
                </a:solidFill>
              </a:rPr>
              <a:t>method (1, arr)</a:t>
            </a:r>
            <a:endParaRPr b="1" sz="600">
              <a:solidFill>
                <a:srgbClr val="1F2937"/>
              </a:solidFill>
            </a:endParaRPr>
          </a:p>
        </p:txBody>
      </p:sp>
      <p:sp>
        <p:nvSpPr>
          <p:cNvPr id="977" name="Google Shape;977;g3f5972311be_0_183"/>
          <p:cNvSpPr/>
          <p:nvPr/>
        </p:nvSpPr>
        <p:spPr>
          <a:xfrm>
            <a:off x="3142282" y="2548368"/>
            <a:ext cx="21855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1F2937"/>
                </a:solidFill>
              </a:rPr>
              <a:t>method (2, arr)</a:t>
            </a:r>
            <a:endParaRPr b="1" sz="600">
              <a:solidFill>
                <a:srgbClr val="1F2937"/>
              </a:solidFill>
            </a:endParaRPr>
          </a:p>
        </p:txBody>
      </p:sp>
      <p:sp>
        <p:nvSpPr>
          <p:cNvPr id="978" name="Google Shape;978;g3f5972311be_0_183"/>
          <p:cNvSpPr/>
          <p:nvPr/>
        </p:nvSpPr>
        <p:spPr>
          <a:xfrm>
            <a:off x="3127525" y="2712514"/>
            <a:ext cx="21855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1F2937"/>
                </a:solidFill>
              </a:rPr>
              <a:t>method (3, arr) </a:t>
            </a:r>
            <a:endParaRPr b="1" sz="600">
              <a:solidFill>
                <a:srgbClr val="1F2937"/>
              </a:solidFill>
            </a:endParaRPr>
          </a:p>
        </p:txBody>
      </p:sp>
      <p:sp>
        <p:nvSpPr>
          <p:cNvPr id="979" name="Google Shape;979;g3f5972311be_0_183"/>
          <p:cNvSpPr txBox="1"/>
          <p:nvPr/>
        </p:nvSpPr>
        <p:spPr>
          <a:xfrm>
            <a:off x="1892350" y="2202200"/>
            <a:ext cx="918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9900FF"/>
                </a:solidFill>
              </a:rPr>
              <a:t>main(){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……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method(0, arr)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……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}</a:t>
            </a:r>
            <a:endParaRPr b="1" sz="700">
              <a:solidFill>
                <a:srgbClr val="9900FF"/>
              </a:solidFill>
            </a:endParaRPr>
          </a:p>
        </p:txBody>
      </p:sp>
      <p:cxnSp>
        <p:nvCxnSpPr>
          <p:cNvPr id="980" name="Google Shape;980;g3f5972311be_0_183"/>
          <p:cNvCxnSpPr/>
          <p:nvPr/>
        </p:nvCxnSpPr>
        <p:spPr>
          <a:xfrm>
            <a:off x="3031125" y="2220625"/>
            <a:ext cx="300" cy="6156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1" name="Google Shape;981;g3f5972311be_0_183"/>
          <p:cNvSpPr/>
          <p:nvPr/>
        </p:nvSpPr>
        <p:spPr>
          <a:xfrm>
            <a:off x="3127525" y="2876664"/>
            <a:ext cx="21855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1F2937"/>
                </a:solidFill>
              </a:rPr>
              <a:t>method (4, arr) </a:t>
            </a:r>
            <a:r>
              <a:rPr b="1" lang="en-US" sz="600">
                <a:solidFill>
                  <a:schemeClr val="hlink"/>
                </a:solidFill>
              </a:rPr>
              <a:t>(Base case—out of bounds–returns Null)</a:t>
            </a:r>
            <a:r>
              <a:rPr b="1" lang="en-US" sz="600">
                <a:solidFill>
                  <a:srgbClr val="1F2937"/>
                </a:solidFill>
              </a:rPr>
              <a:t> </a:t>
            </a:r>
            <a:endParaRPr b="1" sz="600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f5972311be_0_222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07: Print array backward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g3f5972311be_0_222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Start from last index and move toward 0.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g3f5972311be_0_222"/>
          <p:cNvSpPr/>
          <p:nvPr/>
        </p:nvSpPr>
        <p:spPr>
          <a:xfrm>
            <a:off x="281090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Iterative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g3f5972311be_0_222"/>
          <p:cNvSpPr/>
          <p:nvPr/>
        </p:nvSpPr>
        <p:spPr>
          <a:xfrm>
            <a:off x="281090" y="713867"/>
            <a:ext cx="2529900" cy="1375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printArrayBackwardWhile(int[] arr)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i = arr.length - 1;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while (i &gt;= 0)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System.out.print(arr[i] + " ");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i--;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System.out.println();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91" name="Google Shape;991;g3f5972311be_0_222"/>
          <p:cNvSpPr/>
          <p:nvPr/>
        </p:nvSpPr>
        <p:spPr>
          <a:xfrm>
            <a:off x="2949285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g3f5972311be_0_222"/>
          <p:cNvSpPr/>
          <p:nvPr/>
        </p:nvSpPr>
        <p:spPr>
          <a:xfrm>
            <a:off x="2949285" y="713867"/>
            <a:ext cx="2529900" cy="1375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printArrayBackwardRec(int i, int[] arr)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(i &lt; 0)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   System.out.print(arr[i] + " ");</a:t>
            </a:r>
            <a:endParaRPr b="0" i="0" sz="7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   printArrayBackwardRec(i - 1, arr);</a:t>
            </a:r>
            <a:endParaRPr b="0" i="0" sz="7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93" name="Google Shape;993;g3f5972311be_0_222"/>
          <p:cNvSpPr/>
          <p:nvPr/>
        </p:nvSpPr>
        <p:spPr>
          <a:xfrm>
            <a:off x="367572" y="2185126"/>
            <a:ext cx="19698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i starts at last index and decreases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g3f5972311be_0_222"/>
          <p:cNvSpPr/>
          <p:nvPr/>
        </p:nvSpPr>
        <p:spPr>
          <a:xfrm>
            <a:off x="367580" y="23060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g3f5972311be_0_222"/>
          <p:cNvSpPr/>
          <p:nvPr/>
        </p:nvSpPr>
        <p:spPr>
          <a:xfrm>
            <a:off x="367580" y="24011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g3f5972311be_0_222"/>
          <p:cNvSpPr/>
          <p:nvPr/>
        </p:nvSpPr>
        <p:spPr>
          <a:xfrm>
            <a:off x="631372" y="23060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g3f5972311be_0_222"/>
          <p:cNvSpPr/>
          <p:nvPr/>
        </p:nvSpPr>
        <p:spPr>
          <a:xfrm>
            <a:off x="631372" y="24011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g3f5972311be_0_222"/>
          <p:cNvSpPr/>
          <p:nvPr/>
        </p:nvSpPr>
        <p:spPr>
          <a:xfrm>
            <a:off x="895164" y="23060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g3f5972311be_0_222"/>
          <p:cNvSpPr/>
          <p:nvPr/>
        </p:nvSpPr>
        <p:spPr>
          <a:xfrm>
            <a:off x="895164" y="24011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g3f5972311be_0_222"/>
          <p:cNvSpPr/>
          <p:nvPr/>
        </p:nvSpPr>
        <p:spPr>
          <a:xfrm>
            <a:off x="1158957" y="23060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g3f5972311be_0_222"/>
          <p:cNvSpPr/>
          <p:nvPr/>
        </p:nvSpPr>
        <p:spPr>
          <a:xfrm>
            <a:off x="1158957" y="24011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2" name="Google Shape;1002;g3f5972311be_0_222"/>
          <p:cNvCxnSpPr/>
          <p:nvPr/>
        </p:nvCxnSpPr>
        <p:spPr>
          <a:xfrm rot="10800000">
            <a:off x="762238" y="2626694"/>
            <a:ext cx="6702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3" name="Google Shape;1003;g3f5972311be_0_222"/>
          <p:cNvSpPr/>
          <p:nvPr/>
        </p:nvSpPr>
        <p:spPr>
          <a:xfrm>
            <a:off x="924402" y="2642956"/>
            <a:ext cx="3459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500"/>
              <a:buFont typeface="Arial"/>
              <a:buNone/>
            </a:pPr>
            <a:r>
              <a:rPr b="0" i="0" lang="en-US" sz="800" u="none" cap="none" strike="noStrike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rPr>
              <a:t>i - 1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g3f5972311be_0_222"/>
          <p:cNvSpPr/>
          <p:nvPr/>
        </p:nvSpPr>
        <p:spPr>
          <a:xfrm>
            <a:off x="367565" y="2790752"/>
            <a:ext cx="15135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g3f5972311be_0_222"/>
          <p:cNvSpPr/>
          <p:nvPr/>
        </p:nvSpPr>
        <p:spPr>
          <a:xfrm>
            <a:off x="367564" y="2907614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rPr>
              <a:t>57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g3f5972311be_0_222"/>
          <p:cNvSpPr/>
          <p:nvPr/>
        </p:nvSpPr>
        <p:spPr>
          <a:xfrm>
            <a:off x="622707" y="2907614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g3f5972311be_0_222"/>
          <p:cNvSpPr/>
          <p:nvPr/>
        </p:nvSpPr>
        <p:spPr>
          <a:xfrm>
            <a:off x="877851" y="2907614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g3f5972311be_0_222"/>
          <p:cNvSpPr/>
          <p:nvPr/>
        </p:nvSpPr>
        <p:spPr>
          <a:xfrm>
            <a:off x="1132994" y="2907614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g3f5972311be_0_222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g3f5972311be_0_222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g3f5972311be_0_222"/>
          <p:cNvSpPr/>
          <p:nvPr/>
        </p:nvSpPr>
        <p:spPr>
          <a:xfrm>
            <a:off x="3188175" y="2163925"/>
            <a:ext cx="17202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Call stack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g3f5972311be_0_222"/>
          <p:cNvSpPr/>
          <p:nvPr/>
        </p:nvSpPr>
        <p:spPr>
          <a:xfrm>
            <a:off x="3199807" y="2271571"/>
            <a:ext cx="21855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1F2937"/>
                </a:solidFill>
              </a:rPr>
              <a:t>method (3, arr) </a:t>
            </a:r>
            <a:r>
              <a:rPr b="1" lang="en-US" sz="600">
                <a:solidFill>
                  <a:schemeClr val="hlink"/>
                </a:solidFill>
              </a:rPr>
              <a:t>(Call from main method)</a:t>
            </a:r>
            <a:endParaRPr b="1" sz="600">
              <a:solidFill>
                <a:srgbClr val="1F2937"/>
              </a:solidFill>
            </a:endParaRPr>
          </a:p>
        </p:txBody>
      </p:sp>
      <p:sp>
        <p:nvSpPr>
          <p:cNvPr id="1013" name="Google Shape;1013;g3f5972311be_0_222"/>
          <p:cNvSpPr/>
          <p:nvPr/>
        </p:nvSpPr>
        <p:spPr>
          <a:xfrm>
            <a:off x="3199807" y="2435980"/>
            <a:ext cx="21855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1F2937"/>
                </a:solidFill>
              </a:rPr>
              <a:t>method (2, arr)</a:t>
            </a:r>
            <a:endParaRPr b="1" sz="600">
              <a:solidFill>
                <a:srgbClr val="1F2937"/>
              </a:solidFill>
            </a:endParaRPr>
          </a:p>
        </p:txBody>
      </p:sp>
      <p:sp>
        <p:nvSpPr>
          <p:cNvPr id="1014" name="Google Shape;1014;g3f5972311be_0_222"/>
          <p:cNvSpPr/>
          <p:nvPr/>
        </p:nvSpPr>
        <p:spPr>
          <a:xfrm>
            <a:off x="3185050" y="2600127"/>
            <a:ext cx="21855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1F2937"/>
                </a:solidFill>
              </a:rPr>
              <a:t>method (1, arr)</a:t>
            </a:r>
            <a:endParaRPr b="1" sz="600">
              <a:solidFill>
                <a:srgbClr val="1F2937"/>
              </a:solidFill>
            </a:endParaRPr>
          </a:p>
        </p:txBody>
      </p:sp>
      <p:sp>
        <p:nvSpPr>
          <p:cNvPr id="1015" name="Google Shape;1015;g3f5972311be_0_222"/>
          <p:cNvSpPr/>
          <p:nvPr/>
        </p:nvSpPr>
        <p:spPr>
          <a:xfrm>
            <a:off x="3185050" y="2764536"/>
            <a:ext cx="21855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1F2937"/>
                </a:solidFill>
              </a:rPr>
              <a:t>method (0, arr) </a:t>
            </a:r>
            <a:endParaRPr b="1" sz="600">
              <a:solidFill>
                <a:srgbClr val="1F2937"/>
              </a:solidFill>
            </a:endParaRPr>
          </a:p>
        </p:txBody>
      </p:sp>
      <p:sp>
        <p:nvSpPr>
          <p:cNvPr id="1016" name="Google Shape;1016;g3f5972311be_0_222"/>
          <p:cNvSpPr txBox="1"/>
          <p:nvPr/>
        </p:nvSpPr>
        <p:spPr>
          <a:xfrm>
            <a:off x="1699825" y="2366125"/>
            <a:ext cx="1055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9900FF"/>
                </a:solidFill>
              </a:rPr>
              <a:t>main(){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……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method(3, arr)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……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}</a:t>
            </a:r>
            <a:endParaRPr b="1" sz="700">
              <a:solidFill>
                <a:srgbClr val="9900FF"/>
              </a:solidFill>
            </a:endParaRPr>
          </a:p>
        </p:txBody>
      </p:sp>
      <p:cxnSp>
        <p:nvCxnSpPr>
          <p:cNvPr id="1017" name="Google Shape;1017;g3f5972311be_0_222"/>
          <p:cNvCxnSpPr/>
          <p:nvPr/>
        </p:nvCxnSpPr>
        <p:spPr>
          <a:xfrm>
            <a:off x="3058500" y="2225450"/>
            <a:ext cx="6300" cy="802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8" name="Google Shape;1018;g3f5972311be_0_222"/>
          <p:cNvSpPr/>
          <p:nvPr/>
        </p:nvSpPr>
        <p:spPr>
          <a:xfrm>
            <a:off x="3185050" y="2929286"/>
            <a:ext cx="21855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1F2937"/>
                </a:solidFill>
              </a:rPr>
              <a:t>method (-1, arr) </a:t>
            </a:r>
            <a:r>
              <a:rPr b="1" lang="en-US" sz="600">
                <a:solidFill>
                  <a:schemeClr val="hlink"/>
                </a:solidFill>
              </a:rPr>
              <a:t>(Base case—out of bounds–returns Null)</a:t>
            </a:r>
            <a:r>
              <a:rPr b="1" lang="en-US" sz="600">
                <a:solidFill>
                  <a:srgbClr val="1F2937"/>
                </a:solidFill>
              </a:rPr>
              <a:t> </a:t>
            </a:r>
            <a:endParaRPr b="1" sz="600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f9844f4f75_0_39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</a:t>
            </a:r>
            <a:r>
              <a:rPr b="1" lang="en-US" sz="1300">
                <a:solidFill>
                  <a:srgbClr val="172B4D"/>
                </a:solidFill>
              </a:rPr>
              <a:t>7</a:t>
            </a: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: Print array </a:t>
            </a:r>
            <a:r>
              <a:rPr b="1" lang="en-US" sz="1300">
                <a:solidFill>
                  <a:srgbClr val="172B4D"/>
                </a:solidFill>
              </a:rPr>
              <a:t>back</a:t>
            </a: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ward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g3f9844f4f75_0_39"/>
          <p:cNvSpPr/>
          <p:nvPr/>
        </p:nvSpPr>
        <p:spPr>
          <a:xfrm>
            <a:off x="202850" y="639226"/>
            <a:ext cx="2608200" cy="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lang="en-US" sz="800">
                <a:solidFill>
                  <a:srgbClr val="172B4D"/>
                </a:solidFill>
              </a:rPr>
              <a:t>Print Forward (</a:t>
            </a:r>
            <a:r>
              <a:rPr lang="en-US" sz="800">
                <a:solidFill>
                  <a:srgbClr val="9900FF"/>
                </a:solidFill>
              </a:rPr>
              <a:t>Work happens </a:t>
            </a:r>
            <a:r>
              <a:rPr b="1" lang="en-US" sz="800">
                <a:solidFill>
                  <a:srgbClr val="9900FF"/>
                </a:solidFill>
              </a:rPr>
              <a:t>before</a:t>
            </a:r>
            <a:r>
              <a:rPr lang="en-US" sz="800">
                <a:solidFill>
                  <a:srgbClr val="9900FF"/>
                </a:solidFill>
              </a:rPr>
              <a:t> the recursive call)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g3f9844f4f75_0_39"/>
          <p:cNvSpPr/>
          <p:nvPr/>
        </p:nvSpPr>
        <p:spPr>
          <a:xfrm>
            <a:off x="202838" y="775949"/>
            <a:ext cx="2529900" cy="11247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lang="en-US" sz="700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printArrayForwardRec(int i, int[] arr) {</a:t>
            </a:r>
            <a:endParaRPr sz="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lang="en-US" sz="700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(i == arr.length) {</a:t>
            </a:r>
            <a:endParaRPr sz="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lang="en-US" sz="700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return;</a:t>
            </a:r>
            <a:endParaRPr sz="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lang="en-US" sz="700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sz="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lang="en-US" sz="700">
                <a:solidFill>
                  <a:srgbClr val="00FFFF"/>
                </a:solidFill>
                <a:latin typeface="Trebuchet MS"/>
                <a:ea typeface="Trebuchet MS"/>
                <a:cs typeface="Trebuchet MS"/>
                <a:sym typeface="Trebuchet MS"/>
              </a:rPr>
              <a:t>    System.out.print(arr[i] + " ");</a:t>
            </a:r>
            <a:endParaRPr sz="700">
              <a:solidFill>
                <a:srgbClr val="00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lang="en-US" sz="700">
                <a:solidFill>
                  <a:srgbClr val="00FFFF"/>
                </a:solidFill>
                <a:latin typeface="Trebuchet MS"/>
                <a:ea typeface="Trebuchet MS"/>
                <a:cs typeface="Trebuchet MS"/>
                <a:sym typeface="Trebuchet MS"/>
              </a:rPr>
              <a:t>    printArrayForwardRec(i + 1, arr);</a:t>
            </a:r>
            <a:endParaRPr sz="700">
              <a:solidFill>
                <a:srgbClr val="00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lang="en-US" sz="700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sz="700">
              <a:solidFill>
                <a:srgbClr val="F8FAF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7" name="Google Shape;1027;g3f9844f4f75_0_39"/>
          <p:cNvSpPr/>
          <p:nvPr/>
        </p:nvSpPr>
        <p:spPr>
          <a:xfrm>
            <a:off x="2949275" y="592725"/>
            <a:ext cx="2608200" cy="1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lang="en-US" sz="800">
                <a:solidFill>
                  <a:srgbClr val="172B4D"/>
                </a:solidFill>
              </a:rPr>
              <a:t>Print Backward (</a:t>
            </a:r>
            <a:r>
              <a:rPr lang="en-US" sz="800">
                <a:solidFill>
                  <a:srgbClr val="9900FF"/>
                </a:solidFill>
              </a:rPr>
              <a:t>Work happens </a:t>
            </a:r>
            <a:r>
              <a:rPr b="1" lang="en-US" sz="800">
                <a:solidFill>
                  <a:srgbClr val="9900FF"/>
                </a:solidFill>
              </a:rPr>
              <a:t>After</a:t>
            </a:r>
            <a:r>
              <a:rPr lang="en-US" sz="800">
                <a:solidFill>
                  <a:srgbClr val="9900FF"/>
                </a:solidFill>
              </a:rPr>
              <a:t> the recursive call</a:t>
            </a:r>
            <a:r>
              <a:rPr b="1" lang="en-US" sz="800">
                <a:solidFill>
                  <a:srgbClr val="172B4D"/>
                </a:solidFill>
              </a:rPr>
              <a:t>)</a:t>
            </a:r>
            <a:endParaRPr b="1" sz="800">
              <a:solidFill>
                <a:srgbClr val="172B4D"/>
              </a:solidFill>
            </a:endParaRPr>
          </a:p>
        </p:txBody>
      </p:sp>
      <p:sp>
        <p:nvSpPr>
          <p:cNvPr id="1028" name="Google Shape;1028;g3f9844f4f75_0_39"/>
          <p:cNvSpPr/>
          <p:nvPr/>
        </p:nvSpPr>
        <p:spPr>
          <a:xfrm>
            <a:off x="2871022" y="775949"/>
            <a:ext cx="2529900" cy="11247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printArrayForwardRec(int i, int[] arr)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(i == arr.length)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00FFFF"/>
                </a:solidFill>
                <a:latin typeface="Trebuchet MS"/>
                <a:ea typeface="Trebuchet MS"/>
                <a:cs typeface="Trebuchet MS"/>
                <a:sym typeface="Trebuchet MS"/>
              </a:rPr>
              <a:t>    printArrayForwardRec(i + 1, arr);</a:t>
            </a:r>
            <a:br>
              <a:rPr b="0" i="0" lang="en-US" sz="700" u="none" cap="none" strike="noStrike">
                <a:solidFill>
                  <a:srgbClr val="00FFF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700" u="none" cap="none" strike="noStrike">
                <a:solidFill>
                  <a:srgbClr val="00FFFF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r>
              <a:rPr lang="en-US" sz="700">
                <a:solidFill>
                  <a:srgbClr val="00FF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System.out.print(arr[i] + " ");</a:t>
            </a:r>
            <a:endParaRPr b="0" i="0" sz="700" u="none" cap="none" strike="noStrike">
              <a:solidFill>
                <a:srgbClr val="00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9" name="Google Shape;1029;g3f9844f4f75_0_39"/>
          <p:cNvSpPr/>
          <p:nvPr/>
        </p:nvSpPr>
        <p:spPr>
          <a:xfrm>
            <a:off x="322701" y="2191864"/>
            <a:ext cx="191100" cy="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321"/>
              <a:buFont typeface="Arial"/>
              <a:buNone/>
            </a:pPr>
            <a:r>
              <a:rPr b="0" i="0" lang="en-US" sz="743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7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g3f9844f4f75_0_39"/>
          <p:cNvSpPr/>
          <p:nvPr/>
        </p:nvSpPr>
        <p:spPr>
          <a:xfrm>
            <a:off x="322701" y="2268309"/>
            <a:ext cx="191100" cy="132000"/>
          </a:xfrm>
          <a:prstGeom prst="rect">
            <a:avLst/>
          </a:prstGeom>
          <a:solidFill>
            <a:srgbClr val="EAF3FF"/>
          </a:solidFill>
          <a:ln cap="flat" cmpd="sng" w="765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321"/>
              <a:buFont typeface="Arial"/>
              <a:buNone/>
            </a:pPr>
            <a:r>
              <a:rPr b="1" i="0" lang="en-US" sz="743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7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g3f9844f4f75_0_39"/>
          <p:cNvSpPr/>
          <p:nvPr/>
        </p:nvSpPr>
        <p:spPr>
          <a:xfrm>
            <a:off x="534558" y="2191864"/>
            <a:ext cx="191100" cy="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321"/>
              <a:buFont typeface="Arial"/>
              <a:buNone/>
            </a:pPr>
            <a:r>
              <a:rPr b="0" i="0" lang="en-US" sz="743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g3f9844f4f75_0_39"/>
          <p:cNvSpPr/>
          <p:nvPr/>
        </p:nvSpPr>
        <p:spPr>
          <a:xfrm>
            <a:off x="534558" y="2268309"/>
            <a:ext cx="191100" cy="132000"/>
          </a:xfrm>
          <a:prstGeom prst="rect">
            <a:avLst/>
          </a:prstGeom>
          <a:solidFill>
            <a:srgbClr val="FFFFFF"/>
          </a:solidFill>
          <a:ln cap="flat" cmpd="sng" w="7650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1"/>
              <a:buFont typeface="Arial"/>
              <a:buNone/>
            </a:pPr>
            <a:r>
              <a:rPr b="1" i="0" lang="en-US" sz="743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b="0" i="0" sz="7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g3f9844f4f75_0_39"/>
          <p:cNvSpPr/>
          <p:nvPr/>
        </p:nvSpPr>
        <p:spPr>
          <a:xfrm>
            <a:off x="746416" y="2191864"/>
            <a:ext cx="191100" cy="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321"/>
              <a:buFont typeface="Arial"/>
              <a:buNone/>
            </a:pPr>
            <a:r>
              <a:rPr b="0" i="0" lang="en-US" sz="743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g3f9844f4f75_0_39"/>
          <p:cNvSpPr/>
          <p:nvPr/>
        </p:nvSpPr>
        <p:spPr>
          <a:xfrm>
            <a:off x="746416" y="2268309"/>
            <a:ext cx="191100" cy="132000"/>
          </a:xfrm>
          <a:prstGeom prst="rect">
            <a:avLst/>
          </a:prstGeom>
          <a:solidFill>
            <a:srgbClr val="FFFFFF"/>
          </a:solidFill>
          <a:ln cap="flat" cmpd="sng" w="7650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1"/>
              <a:buFont typeface="Arial"/>
              <a:buNone/>
            </a:pPr>
            <a:r>
              <a:rPr b="1" i="0" lang="en-US" sz="743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g3f9844f4f75_0_39"/>
          <p:cNvSpPr/>
          <p:nvPr/>
        </p:nvSpPr>
        <p:spPr>
          <a:xfrm>
            <a:off x="958274" y="2191864"/>
            <a:ext cx="191100" cy="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321"/>
              <a:buFont typeface="Arial"/>
              <a:buNone/>
            </a:pPr>
            <a:r>
              <a:rPr b="0" i="0" lang="en-US" sz="743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g3f9844f4f75_0_39"/>
          <p:cNvSpPr/>
          <p:nvPr/>
        </p:nvSpPr>
        <p:spPr>
          <a:xfrm>
            <a:off x="958274" y="2268309"/>
            <a:ext cx="191100" cy="132000"/>
          </a:xfrm>
          <a:prstGeom prst="rect">
            <a:avLst/>
          </a:prstGeom>
          <a:solidFill>
            <a:srgbClr val="FFFFFF"/>
          </a:solidFill>
          <a:ln cap="flat" cmpd="sng" w="7650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1"/>
              <a:buFont typeface="Arial"/>
              <a:buNone/>
            </a:pPr>
            <a:r>
              <a:rPr b="1" i="0" lang="en-US" sz="743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57</a:t>
            </a:r>
            <a:endParaRPr b="0" i="0" sz="7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7" name="Google Shape;1037;g3f9844f4f75_0_39"/>
          <p:cNvCxnSpPr/>
          <p:nvPr/>
        </p:nvCxnSpPr>
        <p:spPr>
          <a:xfrm>
            <a:off x="322703" y="2518583"/>
            <a:ext cx="5382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7650">
            <a:solidFill>
              <a:srgbClr val="2F80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8" name="Google Shape;1038;g3f9844f4f75_0_39"/>
          <p:cNvSpPr/>
          <p:nvPr/>
        </p:nvSpPr>
        <p:spPr>
          <a:xfrm>
            <a:off x="506777" y="2546381"/>
            <a:ext cx="277800" cy="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402"/>
              <a:buFont typeface="Arial"/>
              <a:buNone/>
            </a:pPr>
            <a:r>
              <a:rPr b="0" i="0" lang="en-US" sz="643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i + 1</a:t>
            </a:r>
            <a:endParaRPr b="0" i="0" sz="64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g3f9844f4f75_0_39"/>
          <p:cNvSpPr/>
          <p:nvPr/>
        </p:nvSpPr>
        <p:spPr>
          <a:xfrm>
            <a:off x="4060690" y="2038877"/>
            <a:ext cx="15135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g3f9844f4f75_0_39"/>
          <p:cNvSpPr/>
          <p:nvPr/>
        </p:nvSpPr>
        <p:spPr>
          <a:xfrm>
            <a:off x="4060690" y="2147039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lang="en-US" sz="800">
                <a:solidFill>
                  <a:srgbClr val="2F80ED"/>
                </a:solidFill>
              </a:rPr>
              <a:t>57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g3f9844f4f75_0_39"/>
          <p:cNvSpPr/>
          <p:nvPr/>
        </p:nvSpPr>
        <p:spPr>
          <a:xfrm>
            <a:off x="4315833" y="2147039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lang="en-US" sz="800">
                <a:solidFill>
                  <a:srgbClr val="2F80ED"/>
                </a:solidFill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g3f9844f4f75_0_39"/>
          <p:cNvSpPr/>
          <p:nvPr/>
        </p:nvSpPr>
        <p:spPr>
          <a:xfrm>
            <a:off x="4570977" y="2147039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lang="en-US" sz="800">
                <a:solidFill>
                  <a:srgbClr val="2F80ED"/>
                </a:solidFill>
              </a:rPr>
              <a:t>44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g3f9844f4f75_0_39"/>
          <p:cNvSpPr/>
          <p:nvPr/>
        </p:nvSpPr>
        <p:spPr>
          <a:xfrm>
            <a:off x="4826120" y="2147039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600"/>
              <a:buFont typeface="Arial"/>
              <a:buNone/>
            </a:pPr>
            <a:r>
              <a:rPr b="1" lang="en-US" sz="800">
                <a:solidFill>
                  <a:srgbClr val="2F80ED"/>
                </a:solidFill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g3f9844f4f75_0_39"/>
          <p:cNvSpPr txBox="1"/>
          <p:nvPr>
            <p:ph idx="4294967295" type="sldNum"/>
          </p:nvPr>
        </p:nvSpPr>
        <p:spPr>
          <a:xfrm>
            <a:off x="5387495" y="3108949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g3f9844f4f75_0_39"/>
          <p:cNvSpPr/>
          <p:nvPr/>
        </p:nvSpPr>
        <p:spPr>
          <a:xfrm>
            <a:off x="2995000" y="198025"/>
            <a:ext cx="2675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500"/>
              <a:buFont typeface="Arial"/>
              <a:buNone/>
            </a:pPr>
            <a:r>
              <a:rPr b="1" lang="en-US" sz="700">
                <a:solidFill>
                  <a:srgbClr val="5A6B85"/>
                </a:solidFill>
              </a:rPr>
              <a:t>After the base case returns, </a:t>
            </a:r>
            <a:br>
              <a:rPr b="1" lang="en-US" sz="700">
                <a:solidFill>
                  <a:srgbClr val="5A6B85"/>
                </a:solidFill>
              </a:rPr>
            </a:br>
            <a:r>
              <a:rPr b="1" lang="en-US" sz="700">
                <a:solidFill>
                  <a:srgbClr val="5A6B85"/>
                </a:solidFill>
              </a:rPr>
              <a:t>the previous recursive calls begin returning one by one.</a:t>
            </a:r>
            <a:endParaRPr b="1" sz="700">
              <a:solidFill>
                <a:srgbClr val="5A6B85"/>
              </a:solidFill>
            </a:endParaRPr>
          </a:p>
        </p:txBody>
      </p:sp>
      <p:sp>
        <p:nvSpPr>
          <p:cNvPr id="1046" name="Google Shape;1046;g3f9844f4f75_0_39"/>
          <p:cNvSpPr/>
          <p:nvPr/>
        </p:nvSpPr>
        <p:spPr>
          <a:xfrm>
            <a:off x="1523436" y="2130037"/>
            <a:ext cx="1688100" cy="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392"/>
              <a:buFont typeface="Arial"/>
              <a:buNone/>
            </a:pPr>
            <a:r>
              <a:rPr b="1" i="0" lang="en-US" sz="609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Call stack</a:t>
            </a:r>
            <a:endParaRPr b="0" i="0" sz="60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g3f9844f4f75_0_39"/>
          <p:cNvSpPr/>
          <p:nvPr/>
        </p:nvSpPr>
        <p:spPr>
          <a:xfrm>
            <a:off x="1537901" y="2255572"/>
            <a:ext cx="2144100" cy="144300"/>
          </a:xfrm>
          <a:prstGeom prst="rect">
            <a:avLst/>
          </a:prstGeom>
          <a:solidFill>
            <a:srgbClr val="FFFFFF"/>
          </a:solidFill>
          <a:ln cap="flat" cmpd="sng" w="9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91"/>
              <a:buFont typeface="Arial"/>
              <a:buNone/>
            </a:pPr>
            <a:r>
              <a:rPr b="1" lang="en-US" sz="609">
                <a:solidFill>
                  <a:srgbClr val="1F2937"/>
                </a:solidFill>
              </a:rPr>
              <a:t>method (0, arr) </a:t>
            </a:r>
            <a:r>
              <a:rPr b="1" lang="en-US" sz="609">
                <a:solidFill>
                  <a:schemeClr val="hlink"/>
                </a:solidFill>
              </a:rPr>
              <a:t>(Call from main method)</a:t>
            </a:r>
            <a:endParaRPr b="1" sz="609">
              <a:solidFill>
                <a:srgbClr val="1F2937"/>
              </a:solidFill>
            </a:endParaRPr>
          </a:p>
        </p:txBody>
      </p:sp>
      <p:sp>
        <p:nvSpPr>
          <p:cNvPr id="1048" name="Google Shape;1048;g3f9844f4f75_0_39"/>
          <p:cNvSpPr/>
          <p:nvPr/>
        </p:nvSpPr>
        <p:spPr>
          <a:xfrm>
            <a:off x="1537903" y="2416737"/>
            <a:ext cx="2144100" cy="144300"/>
          </a:xfrm>
          <a:prstGeom prst="rect">
            <a:avLst/>
          </a:prstGeom>
          <a:solidFill>
            <a:srgbClr val="FFFFFF"/>
          </a:solidFill>
          <a:ln cap="flat" cmpd="sng" w="9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91"/>
              <a:buFont typeface="Arial"/>
              <a:buNone/>
            </a:pPr>
            <a:r>
              <a:rPr b="1" lang="en-US" sz="609">
                <a:solidFill>
                  <a:srgbClr val="1F2937"/>
                </a:solidFill>
              </a:rPr>
              <a:t>method (1, arr)</a:t>
            </a:r>
            <a:endParaRPr b="1" sz="609">
              <a:solidFill>
                <a:srgbClr val="1F2937"/>
              </a:solidFill>
            </a:endParaRPr>
          </a:p>
        </p:txBody>
      </p:sp>
      <p:sp>
        <p:nvSpPr>
          <p:cNvPr id="1049" name="Google Shape;1049;g3f9844f4f75_0_39"/>
          <p:cNvSpPr/>
          <p:nvPr/>
        </p:nvSpPr>
        <p:spPr>
          <a:xfrm>
            <a:off x="1537903" y="2578037"/>
            <a:ext cx="2144100" cy="144300"/>
          </a:xfrm>
          <a:prstGeom prst="rect">
            <a:avLst/>
          </a:prstGeom>
          <a:solidFill>
            <a:srgbClr val="FFFFFF"/>
          </a:solidFill>
          <a:ln cap="flat" cmpd="sng" w="9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91"/>
              <a:buFont typeface="Arial"/>
              <a:buNone/>
            </a:pPr>
            <a:r>
              <a:rPr b="1" lang="en-US" sz="609">
                <a:solidFill>
                  <a:srgbClr val="1F2937"/>
                </a:solidFill>
              </a:rPr>
              <a:t>method (2, arr)</a:t>
            </a:r>
            <a:endParaRPr b="1" sz="609">
              <a:solidFill>
                <a:srgbClr val="1F2937"/>
              </a:solidFill>
            </a:endParaRPr>
          </a:p>
        </p:txBody>
      </p:sp>
      <p:sp>
        <p:nvSpPr>
          <p:cNvPr id="1050" name="Google Shape;1050;g3f9844f4f75_0_39"/>
          <p:cNvSpPr/>
          <p:nvPr/>
        </p:nvSpPr>
        <p:spPr>
          <a:xfrm>
            <a:off x="1523425" y="2739080"/>
            <a:ext cx="2144100" cy="144300"/>
          </a:xfrm>
          <a:prstGeom prst="rect">
            <a:avLst/>
          </a:prstGeom>
          <a:solidFill>
            <a:srgbClr val="FFFFFF"/>
          </a:solidFill>
          <a:ln cap="flat" cmpd="sng" w="9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91"/>
              <a:buFont typeface="Arial"/>
              <a:buNone/>
            </a:pPr>
            <a:r>
              <a:rPr b="1" lang="en-US" sz="609">
                <a:solidFill>
                  <a:srgbClr val="1F2937"/>
                </a:solidFill>
              </a:rPr>
              <a:t>method (3, arr)</a:t>
            </a:r>
            <a:endParaRPr b="1" sz="609">
              <a:solidFill>
                <a:srgbClr val="1F2937"/>
              </a:solidFill>
            </a:endParaRPr>
          </a:p>
        </p:txBody>
      </p:sp>
      <p:sp>
        <p:nvSpPr>
          <p:cNvPr id="1051" name="Google Shape;1051;g3f9844f4f75_0_39"/>
          <p:cNvSpPr/>
          <p:nvPr/>
        </p:nvSpPr>
        <p:spPr>
          <a:xfrm>
            <a:off x="1523425" y="2900381"/>
            <a:ext cx="2144100" cy="144300"/>
          </a:xfrm>
          <a:prstGeom prst="rect">
            <a:avLst/>
          </a:prstGeom>
          <a:solidFill>
            <a:srgbClr val="FFFFFF"/>
          </a:solidFill>
          <a:ln cap="flat" cmpd="sng" w="9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91"/>
              <a:buFont typeface="Arial"/>
              <a:buNone/>
            </a:pPr>
            <a:r>
              <a:rPr b="1" lang="en-US" sz="609">
                <a:solidFill>
                  <a:srgbClr val="1F2937"/>
                </a:solidFill>
              </a:rPr>
              <a:t>method (4, arr) </a:t>
            </a:r>
            <a:r>
              <a:rPr b="1" lang="en-US" sz="609">
                <a:solidFill>
                  <a:schemeClr val="hlink"/>
                </a:solidFill>
              </a:rPr>
              <a:t>(Base case—out of bounds–returns Null)</a:t>
            </a:r>
            <a:r>
              <a:rPr b="1" lang="en-US" sz="609">
                <a:solidFill>
                  <a:srgbClr val="1F2937"/>
                </a:solidFill>
              </a:rPr>
              <a:t> </a:t>
            </a:r>
            <a:endParaRPr b="1" sz="609">
              <a:solidFill>
                <a:srgbClr val="1F2937"/>
              </a:solidFill>
            </a:endParaRPr>
          </a:p>
        </p:txBody>
      </p:sp>
      <p:cxnSp>
        <p:nvCxnSpPr>
          <p:cNvPr id="1052" name="Google Shape;1052;g3f9844f4f75_0_39"/>
          <p:cNvCxnSpPr/>
          <p:nvPr/>
        </p:nvCxnSpPr>
        <p:spPr>
          <a:xfrm>
            <a:off x="1431375" y="2222275"/>
            <a:ext cx="6300" cy="802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3" name="Google Shape;1053;g3f9844f4f75_0_39"/>
          <p:cNvSpPr txBox="1"/>
          <p:nvPr/>
        </p:nvSpPr>
        <p:spPr>
          <a:xfrm>
            <a:off x="4043300" y="2399875"/>
            <a:ext cx="1548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9900FF"/>
                </a:solidFill>
              </a:rPr>
              <a:t>main(){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……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method(0, arr)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……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}</a:t>
            </a:r>
            <a:endParaRPr b="1" sz="7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f5972311be_0_261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08: Sum of array elements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g3f5972311be_0_261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Recursive version adds arr[i] to the sum of the rest.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g3f5972311be_0_261"/>
          <p:cNvSpPr/>
          <p:nvPr/>
        </p:nvSpPr>
        <p:spPr>
          <a:xfrm>
            <a:off x="281090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Iterative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g3f5972311be_0_261"/>
          <p:cNvSpPr/>
          <p:nvPr/>
        </p:nvSpPr>
        <p:spPr>
          <a:xfrm>
            <a:off x="281100" y="713875"/>
            <a:ext cx="2529900" cy="12312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arrSumIterative(int[] arr)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total = 0;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i = 0;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while (i &lt; arr.length)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total += arr[i];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i++;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total;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3" name="Google Shape;1063;g3f5972311be_0_261"/>
          <p:cNvSpPr/>
          <p:nvPr/>
        </p:nvSpPr>
        <p:spPr>
          <a:xfrm>
            <a:off x="2949285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g3f5972311be_0_261"/>
          <p:cNvSpPr/>
          <p:nvPr/>
        </p:nvSpPr>
        <p:spPr>
          <a:xfrm>
            <a:off x="2949275" y="713875"/>
            <a:ext cx="2529900" cy="12312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arrSumRec(int i, int[] arr)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(i == arr.length)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 0;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arr[i] + arrSumRec(i + 1, arr);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5" name="Google Shape;1065;g3f5972311be_0_261"/>
          <p:cNvSpPr/>
          <p:nvPr/>
        </p:nvSpPr>
        <p:spPr>
          <a:xfrm>
            <a:off x="325180" y="2193294"/>
            <a:ext cx="11244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Example: total = 60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g3f5972311be_0_261"/>
          <p:cNvSpPr/>
          <p:nvPr/>
        </p:nvSpPr>
        <p:spPr>
          <a:xfrm>
            <a:off x="1073780" y="24345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g3f5972311be_0_261"/>
          <p:cNvSpPr/>
          <p:nvPr/>
        </p:nvSpPr>
        <p:spPr>
          <a:xfrm>
            <a:off x="1073780" y="2529689"/>
            <a:ext cx="237900" cy="164400"/>
          </a:xfrm>
          <a:prstGeom prst="rect">
            <a:avLst/>
          </a:prstGeom>
          <a:solidFill>
            <a:srgbClr val="EAF3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g3f5972311be_0_261"/>
          <p:cNvSpPr/>
          <p:nvPr/>
        </p:nvSpPr>
        <p:spPr>
          <a:xfrm>
            <a:off x="1337572" y="24345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g3f5972311be_0_261"/>
          <p:cNvSpPr/>
          <p:nvPr/>
        </p:nvSpPr>
        <p:spPr>
          <a:xfrm>
            <a:off x="1337572" y="25296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g3f5972311be_0_261"/>
          <p:cNvSpPr/>
          <p:nvPr/>
        </p:nvSpPr>
        <p:spPr>
          <a:xfrm>
            <a:off x="1601364" y="24345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g3f5972311be_0_261"/>
          <p:cNvSpPr/>
          <p:nvPr/>
        </p:nvSpPr>
        <p:spPr>
          <a:xfrm>
            <a:off x="1601364" y="25296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g3f5972311be_0_261"/>
          <p:cNvSpPr/>
          <p:nvPr/>
        </p:nvSpPr>
        <p:spPr>
          <a:xfrm>
            <a:off x="3562000" y="2140300"/>
            <a:ext cx="19173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arrSum(0) = 10 + </a:t>
            </a:r>
            <a:r>
              <a:rPr b="0" i="0" lang="en-US" sz="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arrSum(1)</a:t>
            </a:r>
            <a:r>
              <a:rPr lang="en-US" sz="700">
                <a:solidFill>
                  <a:srgbClr val="1F2937"/>
                </a:solidFill>
              </a:rPr>
              <a:t>= 10 + </a:t>
            </a:r>
            <a:r>
              <a:rPr lang="en-US" sz="700">
                <a:solidFill>
                  <a:srgbClr val="0000FF"/>
                </a:solidFill>
              </a:rPr>
              <a:t>50</a:t>
            </a:r>
            <a:r>
              <a:rPr lang="en-US" sz="700">
                <a:solidFill>
                  <a:srgbClr val="1F2937"/>
                </a:solidFill>
              </a:rPr>
              <a:t> = 60</a:t>
            </a:r>
            <a:endParaRPr sz="700">
              <a:solidFill>
                <a:srgbClr val="1F2937"/>
              </a:solidFill>
            </a:endParaRPr>
          </a:p>
        </p:txBody>
      </p:sp>
      <p:sp>
        <p:nvSpPr>
          <p:cNvPr id="1073" name="Google Shape;1073;g3f5972311be_0_261"/>
          <p:cNvSpPr/>
          <p:nvPr/>
        </p:nvSpPr>
        <p:spPr>
          <a:xfrm>
            <a:off x="3562000" y="2287399"/>
            <a:ext cx="19173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arrSum(1) = 20 + </a:t>
            </a:r>
            <a:r>
              <a:rPr b="0" i="0" lang="en-US" sz="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arrSum(2)</a:t>
            </a:r>
            <a:r>
              <a:rPr lang="en-US" sz="700">
                <a:solidFill>
                  <a:srgbClr val="1F2937"/>
                </a:solidFill>
              </a:rPr>
              <a:t> = 20 + </a:t>
            </a:r>
            <a:r>
              <a:rPr lang="en-US" sz="700">
                <a:solidFill>
                  <a:srgbClr val="0000FF"/>
                </a:solidFill>
              </a:rPr>
              <a:t>30</a:t>
            </a:r>
            <a:r>
              <a:rPr lang="en-US" sz="700">
                <a:solidFill>
                  <a:srgbClr val="1F2937"/>
                </a:solidFill>
              </a:rPr>
              <a:t> = 50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g3f5972311be_0_261"/>
          <p:cNvSpPr/>
          <p:nvPr/>
        </p:nvSpPr>
        <p:spPr>
          <a:xfrm>
            <a:off x="3562000" y="2434499"/>
            <a:ext cx="19173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arrSum(2) = 30 + </a:t>
            </a:r>
            <a:r>
              <a:rPr b="0" i="0" lang="en-US" sz="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arrSum(3)</a:t>
            </a: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700">
                <a:solidFill>
                  <a:srgbClr val="1F2937"/>
                </a:solidFill>
              </a:rPr>
              <a:t>= 30 + </a:t>
            </a:r>
            <a:r>
              <a:rPr lang="en-US" sz="700">
                <a:solidFill>
                  <a:srgbClr val="0000FF"/>
                </a:solidFill>
              </a:rPr>
              <a:t>0</a:t>
            </a:r>
            <a:r>
              <a:rPr lang="en-US" sz="700">
                <a:solidFill>
                  <a:srgbClr val="1F2937"/>
                </a:solidFill>
              </a:rPr>
              <a:t> = 30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g3f5972311be_0_261"/>
          <p:cNvSpPr/>
          <p:nvPr/>
        </p:nvSpPr>
        <p:spPr>
          <a:xfrm>
            <a:off x="3562000" y="2581600"/>
            <a:ext cx="19173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arrSum(3) = 0 </a:t>
            </a:r>
            <a:r>
              <a:rPr b="0" i="0" lang="en-US" sz="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(Base case</a:t>
            </a:r>
            <a:r>
              <a:rPr lang="en-US" sz="700">
                <a:solidFill>
                  <a:srgbClr val="0000FF"/>
                </a:solidFill>
              </a:rPr>
              <a:t>—out of bounds</a:t>
            </a:r>
            <a:r>
              <a:rPr b="0" i="0" lang="en-US" sz="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7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g3f5972311be_0_261"/>
          <p:cNvSpPr/>
          <p:nvPr/>
        </p:nvSpPr>
        <p:spPr>
          <a:xfrm>
            <a:off x="3562000" y="2728700"/>
            <a:ext cx="19173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600"/>
              <a:buFont typeface="Arial"/>
              <a:buNone/>
            </a:pPr>
            <a:r>
              <a:rPr b="1" i="0" lang="en-US" sz="7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Result = 60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g3f5972311be_0_261"/>
          <p:cNvSpPr txBox="1"/>
          <p:nvPr>
            <p:ph idx="4294967295" type="sldNum"/>
          </p:nvPr>
        </p:nvSpPr>
        <p:spPr>
          <a:xfrm>
            <a:off x="5297470" y="3093424"/>
            <a:ext cx="3783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g3f5972311be_0_261"/>
          <p:cNvSpPr txBox="1"/>
          <p:nvPr/>
        </p:nvSpPr>
        <p:spPr>
          <a:xfrm>
            <a:off x="250825" y="2464175"/>
            <a:ext cx="888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5A6B85"/>
                </a:solidFill>
              </a:rPr>
              <a:t>Given array, arr: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079" name="Google Shape;1079;g3f5972311be_0_261"/>
          <p:cNvSpPr txBox="1"/>
          <p:nvPr/>
        </p:nvSpPr>
        <p:spPr>
          <a:xfrm>
            <a:off x="2217121" y="2114850"/>
            <a:ext cx="1044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9900FF"/>
                </a:solidFill>
              </a:rPr>
              <a:t>main(){</a:t>
            </a:r>
            <a:br>
              <a:rPr b="1" lang="en-US" sz="800">
                <a:solidFill>
                  <a:srgbClr val="9900FF"/>
                </a:solidFill>
              </a:rPr>
            </a:br>
            <a:r>
              <a:rPr b="1" lang="en-US" sz="800">
                <a:solidFill>
                  <a:srgbClr val="9900FF"/>
                </a:solidFill>
              </a:rPr>
              <a:t>     ……</a:t>
            </a:r>
            <a:br>
              <a:rPr b="1" lang="en-US" sz="800">
                <a:solidFill>
                  <a:srgbClr val="9900FF"/>
                </a:solidFill>
              </a:rPr>
            </a:br>
            <a:r>
              <a:rPr b="1" lang="en-US" sz="800">
                <a:solidFill>
                  <a:srgbClr val="9900FF"/>
                </a:solidFill>
              </a:rPr>
              <a:t>     </a:t>
            </a:r>
            <a:r>
              <a:rPr b="1" lang="en-US" sz="800">
                <a:solidFill>
                  <a:srgbClr val="9900FF"/>
                </a:solidFill>
              </a:rPr>
              <a:t>arrSum(0, arr)</a:t>
            </a:r>
            <a:br>
              <a:rPr b="1" lang="en-US" sz="800">
                <a:solidFill>
                  <a:srgbClr val="9900FF"/>
                </a:solidFill>
              </a:rPr>
            </a:br>
            <a:r>
              <a:rPr b="1" lang="en-US" sz="800">
                <a:solidFill>
                  <a:srgbClr val="9900FF"/>
                </a:solidFill>
              </a:rPr>
              <a:t>     ……</a:t>
            </a:r>
            <a:br>
              <a:rPr b="1" lang="en-US" sz="800">
                <a:solidFill>
                  <a:srgbClr val="9900FF"/>
                </a:solidFill>
              </a:rPr>
            </a:br>
            <a:r>
              <a:rPr b="1" lang="en-US" sz="800">
                <a:solidFill>
                  <a:srgbClr val="9900FF"/>
                </a:solidFill>
              </a:rPr>
              <a:t>}</a:t>
            </a:r>
            <a:endParaRPr b="1" sz="800">
              <a:solidFill>
                <a:srgbClr val="9900FF"/>
              </a:solidFill>
            </a:endParaRPr>
          </a:p>
        </p:txBody>
      </p:sp>
      <p:cxnSp>
        <p:nvCxnSpPr>
          <p:cNvPr id="1080" name="Google Shape;1080;g3f5972311be_0_261"/>
          <p:cNvCxnSpPr/>
          <p:nvPr/>
        </p:nvCxnSpPr>
        <p:spPr>
          <a:xfrm>
            <a:off x="3425838" y="2113800"/>
            <a:ext cx="6300" cy="802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f6507c2e0b_4_37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08: Sum of array elements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g3f6507c2e0b_4_37"/>
          <p:cNvSpPr txBox="1"/>
          <p:nvPr>
            <p:ph idx="4294967295" type="sldNum"/>
          </p:nvPr>
        </p:nvSpPr>
        <p:spPr>
          <a:xfrm>
            <a:off x="5297470" y="3093424"/>
            <a:ext cx="3783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8" name="Google Shape;1088;g3f6507c2e0b_4_37" title="arrSu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400" y="436350"/>
            <a:ext cx="5109001" cy="265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3f5972311be_0_306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0</a:t>
            </a:r>
            <a:r>
              <a:rPr b="1" lang="en-US" sz="1300">
                <a:solidFill>
                  <a:srgbClr val="172B4D"/>
                </a:solidFill>
              </a:rPr>
              <a:t>9</a:t>
            </a: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: Add even, subtract odd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g3f5972311be_0_306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Use a helper method to convert each element into +n or −n.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g3f5972311be_0_306"/>
          <p:cNvSpPr/>
          <p:nvPr/>
        </p:nvSpPr>
        <p:spPr>
          <a:xfrm>
            <a:off x="281090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Iterative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g3f5972311be_0_306"/>
          <p:cNvSpPr/>
          <p:nvPr/>
        </p:nvSpPr>
        <p:spPr>
          <a:xfrm>
            <a:off x="281100" y="713875"/>
            <a:ext cx="2529900" cy="18297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weirdSumLoop(int[] arr) {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total = 0;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i = 0;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while (i &lt; arr.length) {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total += </a:t>
            </a:r>
            <a:r>
              <a:rPr b="0" i="0" lang="en-US" sz="800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evenOdd(arr[i])</a:t>
            </a: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i++;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total;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// odd -&gt; -n, even -&gt; +n </a:t>
            </a:r>
            <a:r>
              <a:rPr b="0" i="0" lang="en-US" sz="800" u="none" cap="none" strike="noStrike">
                <a:solidFill>
                  <a:srgbClr val="FF00FF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800">
                <a:solidFill>
                  <a:srgbClr val="FF00FF"/>
                </a:solidFill>
                <a:latin typeface="Trebuchet MS"/>
                <a:ea typeface="Trebuchet MS"/>
                <a:cs typeface="Trebuchet MS"/>
                <a:sym typeface="Trebuchet MS"/>
              </a:rPr>
              <a:t>Helper method)</a:t>
            </a:r>
            <a:endParaRPr sz="800">
              <a:solidFill>
                <a:srgbClr val="F8FAF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evenOdd(int n) {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(n % 2 == 1) return -n;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n;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8" name="Google Shape;1098;g3f5972311be_0_306"/>
          <p:cNvSpPr/>
          <p:nvPr/>
        </p:nvSpPr>
        <p:spPr>
          <a:xfrm>
            <a:off x="2949285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g3f5972311be_0_306"/>
          <p:cNvSpPr/>
          <p:nvPr/>
        </p:nvSpPr>
        <p:spPr>
          <a:xfrm>
            <a:off x="2949275" y="713875"/>
            <a:ext cx="2726400" cy="15186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weirdSumRec(int i, int[] arr) {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(i == arr.length) return 0;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</a:t>
            </a:r>
            <a:r>
              <a:rPr b="0" i="0" lang="en-US" sz="800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evenOdd(arr[i])</a:t>
            </a: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+ weirdSumRec(i + 1, arr);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// odd -&gt; -n, even -&gt; +n </a:t>
            </a:r>
            <a:r>
              <a:rPr b="0" i="0" lang="en-US" sz="800" u="none" cap="none" strike="noStrike">
                <a:solidFill>
                  <a:srgbClr val="FF00FF"/>
                </a:solidFill>
                <a:latin typeface="Trebuchet MS"/>
                <a:ea typeface="Trebuchet MS"/>
                <a:cs typeface="Trebuchet MS"/>
                <a:sym typeface="Trebuchet MS"/>
              </a:rPr>
              <a:t>(Non-recursive Helper method)</a:t>
            </a:r>
            <a:endParaRPr b="0" i="0" sz="800" u="none" cap="none" strike="noStrike">
              <a:solidFill>
                <a:srgbClr val="FF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evenOdd(int n) {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(n % 2 == 1) return -n;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n;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00" name="Google Shape;1100;g3f5972311be_0_306"/>
          <p:cNvSpPr/>
          <p:nvPr/>
        </p:nvSpPr>
        <p:spPr>
          <a:xfrm>
            <a:off x="810630" y="2630419"/>
            <a:ext cx="11244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Example array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g3f5972311be_0_306"/>
          <p:cNvSpPr/>
          <p:nvPr/>
        </p:nvSpPr>
        <p:spPr>
          <a:xfrm>
            <a:off x="810630" y="27429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g3f5972311be_0_306"/>
          <p:cNvSpPr/>
          <p:nvPr/>
        </p:nvSpPr>
        <p:spPr>
          <a:xfrm>
            <a:off x="810630" y="28380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g3f5972311be_0_306"/>
          <p:cNvSpPr/>
          <p:nvPr/>
        </p:nvSpPr>
        <p:spPr>
          <a:xfrm>
            <a:off x="1074422" y="27429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g3f5972311be_0_306"/>
          <p:cNvSpPr/>
          <p:nvPr/>
        </p:nvSpPr>
        <p:spPr>
          <a:xfrm>
            <a:off x="1074422" y="28380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g3f5972311be_0_306"/>
          <p:cNvSpPr/>
          <p:nvPr/>
        </p:nvSpPr>
        <p:spPr>
          <a:xfrm>
            <a:off x="1338214" y="27429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g3f5972311be_0_306"/>
          <p:cNvSpPr/>
          <p:nvPr/>
        </p:nvSpPr>
        <p:spPr>
          <a:xfrm>
            <a:off x="1338214" y="28380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g3f5972311be_0_306"/>
          <p:cNvSpPr/>
          <p:nvPr/>
        </p:nvSpPr>
        <p:spPr>
          <a:xfrm>
            <a:off x="1602007" y="27429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g3f5972311be_0_306"/>
          <p:cNvSpPr/>
          <p:nvPr/>
        </p:nvSpPr>
        <p:spPr>
          <a:xfrm>
            <a:off x="1602007" y="28380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g3f5972311be_0_306"/>
          <p:cNvSpPr/>
          <p:nvPr/>
        </p:nvSpPr>
        <p:spPr>
          <a:xfrm>
            <a:off x="1865799" y="27429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g3f5972311be_0_306"/>
          <p:cNvSpPr/>
          <p:nvPr/>
        </p:nvSpPr>
        <p:spPr>
          <a:xfrm>
            <a:off x="1865799" y="28380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g3f5972311be_0_306"/>
          <p:cNvSpPr/>
          <p:nvPr/>
        </p:nvSpPr>
        <p:spPr>
          <a:xfrm>
            <a:off x="2129591" y="27429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g3f5972311be_0_306"/>
          <p:cNvSpPr/>
          <p:nvPr/>
        </p:nvSpPr>
        <p:spPr>
          <a:xfrm>
            <a:off x="2129591" y="28380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g3f5972311be_0_306"/>
          <p:cNvSpPr/>
          <p:nvPr/>
        </p:nvSpPr>
        <p:spPr>
          <a:xfrm>
            <a:off x="3209673" y="2457329"/>
            <a:ext cx="2205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900"/>
              <a:buFont typeface="Arial"/>
              <a:buNone/>
            </a:pPr>
            <a:r>
              <a:rPr b="1" i="0" lang="en-US" sz="800" u="none" cap="none" strike="noStrike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rPr>
              <a:t>−1 + 4 + 6 − 5 − 9 + 2 = −3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g3f5972311be_0_306"/>
          <p:cNvSpPr/>
          <p:nvPr/>
        </p:nvSpPr>
        <p:spPr>
          <a:xfrm>
            <a:off x="3209673" y="2673652"/>
            <a:ext cx="21189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5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Odd numbers become negative; </a:t>
            </a:r>
            <a:b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even numbers remain positive.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g3f5972311be_0_306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f5972311be_0_284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</a:t>
            </a:r>
            <a:r>
              <a:rPr b="1" lang="en-US" sz="1300">
                <a:solidFill>
                  <a:srgbClr val="172B4D"/>
                </a:solidFill>
              </a:rPr>
              <a:t>10</a:t>
            </a: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: Multiplication of array elements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g3f5972311be_0_284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Recursive multiplication uses 1 as the base return value.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g3f5972311be_0_284"/>
          <p:cNvSpPr/>
          <p:nvPr/>
        </p:nvSpPr>
        <p:spPr>
          <a:xfrm>
            <a:off x="281090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Iterative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g3f5972311be_0_284"/>
          <p:cNvSpPr/>
          <p:nvPr/>
        </p:nvSpPr>
        <p:spPr>
          <a:xfrm>
            <a:off x="281090" y="713867"/>
            <a:ext cx="2529900" cy="1375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arrMulIterative(int[] arr)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mulAns = 1;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i = 0;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while (i &lt; arr.length)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mulAns *= arr[i];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i++;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mulAns;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25" name="Google Shape;1125;g3f5972311be_0_284"/>
          <p:cNvSpPr/>
          <p:nvPr/>
        </p:nvSpPr>
        <p:spPr>
          <a:xfrm>
            <a:off x="2949285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g3f5972311be_0_284"/>
          <p:cNvSpPr/>
          <p:nvPr/>
        </p:nvSpPr>
        <p:spPr>
          <a:xfrm>
            <a:off x="2949285" y="713867"/>
            <a:ext cx="2529900" cy="1375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arrMulRec(int i, int[] arr)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(i == arr.length)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 1;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arr[i] * arrMulRec(i + 1, arr);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27" name="Google Shape;1127;g3f5972311be_0_284"/>
          <p:cNvSpPr/>
          <p:nvPr/>
        </p:nvSpPr>
        <p:spPr>
          <a:xfrm>
            <a:off x="367580" y="2193519"/>
            <a:ext cx="11244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Example: product = 1</a:t>
            </a:r>
            <a:r>
              <a:rPr b="1" lang="en-US" sz="700">
                <a:solidFill>
                  <a:srgbClr val="5A6B85"/>
                </a:solidFill>
              </a:rPr>
              <a:t>44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g3f5972311be_0_284"/>
          <p:cNvSpPr/>
          <p:nvPr/>
        </p:nvSpPr>
        <p:spPr>
          <a:xfrm>
            <a:off x="1251455" y="24574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g3f5972311be_0_284"/>
          <p:cNvSpPr/>
          <p:nvPr/>
        </p:nvSpPr>
        <p:spPr>
          <a:xfrm>
            <a:off x="1251455" y="2552589"/>
            <a:ext cx="237900" cy="164400"/>
          </a:xfrm>
          <a:prstGeom prst="rect">
            <a:avLst/>
          </a:prstGeom>
          <a:solidFill>
            <a:srgbClr val="EAF3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g3f5972311be_0_284"/>
          <p:cNvSpPr/>
          <p:nvPr/>
        </p:nvSpPr>
        <p:spPr>
          <a:xfrm>
            <a:off x="1515247" y="24574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g3f5972311be_0_284"/>
          <p:cNvSpPr/>
          <p:nvPr/>
        </p:nvSpPr>
        <p:spPr>
          <a:xfrm>
            <a:off x="1515247" y="25525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g3f5972311be_0_284"/>
          <p:cNvSpPr/>
          <p:nvPr/>
        </p:nvSpPr>
        <p:spPr>
          <a:xfrm>
            <a:off x="1779039" y="24574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g3f5972311be_0_284"/>
          <p:cNvSpPr/>
          <p:nvPr/>
        </p:nvSpPr>
        <p:spPr>
          <a:xfrm>
            <a:off x="1779039" y="25525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g3f5972311be_0_284"/>
          <p:cNvSpPr/>
          <p:nvPr/>
        </p:nvSpPr>
        <p:spPr>
          <a:xfrm>
            <a:off x="2042832" y="2457407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g3f5972311be_0_284"/>
          <p:cNvSpPr/>
          <p:nvPr/>
        </p:nvSpPr>
        <p:spPr>
          <a:xfrm>
            <a:off x="2042832" y="2552589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g3f5972311be_0_284"/>
          <p:cNvSpPr/>
          <p:nvPr/>
        </p:nvSpPr>
        <p:spPr>
          <a:xfrm>
            <a:off x="3135237" y="2448780"/>
            <a:ext cx="1643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900"/>
              <a:buFont typeface="Arial"/>
              <a:buNone/>
            </a:pPr>
            <a:r>
              <a:rPr b="1" i="0" lang="en-US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 × 4 × 6 × 2 = 144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g3f5972311be_0_284"/>
          <p:cNvSpPr/>
          <p:nvPr/>
        </p:nvSpPr>
        <p:spPr>
          <a:xfrm>
            <a:off x="3135237" y="2660777"/>
            <a:ext cx="20757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5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Base return value is 1 </a:t>
            </a:r>
            <a:b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because multiplying by 1 changes nothing.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g3f5972311be_0_284"/>
          <p:cNvSpPr txBox="1"/>
          <p:nvPr>
            <p:ph idx="4294967295" type="sldNum"/>
          </p:nvPr>
        </p:nvSpPr>
        <p:spPr>
          <a:xfrm>
            <a:off x="5297470" y="3093424"/>
            <a:ext cx="3783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g3f5972311be_0_284"/>
          <p:cNvSpPr txBox="1"/>
          <p:nvPr/>
        </p:nvSpPr>
        <p:spPr>
          <a:xfrm>
            <a:off x="281100" y="2488550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5A6B85"/>
                </a:solidFill>
              </a:rPr>
              <a:t>Given array, arr:</a:t>
            </a: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f5972311be_0_342"/>
          <p:cNvSpPr/>
          <p:nvPr/>
        </p:nvSpPr>
        <p:spPr>
          <a:xfrm>
            <a:off x="337308" y="1016720"/>
            <a:ext cx="5102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Recursion on Linked Lists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g3f5972311be_0_342"/>
          <p:cNvSpPr/>
          <p:nvPr/>
        </p:nvSpPr>
        <p:spPr>
          <a:xfrm>
            <a:off x="908138" y="1349858"/>
            <a:ext cx="39354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The node reference moves like an index: temp = temp.next.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g3f5972311be_0_342"/>
          <p:cNvSpPr/>
          <p:nvPr/>
        </p:nvSpPr>
        <p:spPr>
          <a:xfrm>
            <a:off x="1578430" y="1760872"/>
            <a:ext cx="11244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sample linked list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8" name="Google Shape;1148;g3f5972311be_0_342"/>
          <p:cNvCxnSpPr/>
          <p:nvPr/>
        </p:nvCxnSpPr>
        <p:spPr>
          <a:xfrm>
            <a:off x="1829249" y="2046419"/>
            <a:ext cx="129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49" name="Google Shape;1149;g3f5972311be_0_342"/>
          <p:cNvCxnSpPr/>
          <p:nvPr/>
        </p:nvCxnSpPr>
        <p:spPr>
          <a:xfrm>
            <a:off x="2227100" y="2046419"/>
            <a:ext cx="129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0" name="Google Shape;1150;g3f5972311be_0_342"/>
          <p:cNvCxnSpPr/>
          <p:nvPr/>
        </p:nvCxnSpPr>
        <p:spPr>
          <a:xfrm>
            <a:off x="2624950" y="2046419"/>
            <a:ext cx="129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1" name="Google Shape;1151;g3f5972311be_0_342"/>
          <p:cNvCxnSpPr/>
          <p:nvPr/>
        </p:nvCxnSpPr>
        <p:spPr>
          <a:xfrm>
            <a:off x="3022801" y="2046419"/>
            <a:ext cx="129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2" name="Google Shape;1152;g3f5972311be_0_342"/>
          <p:cNvSpPr/>
          <p:nvPr/>
        </p:nvSpPr>
        <p:spPr>
          <a:xfrm>
            <a:off x="1578430" y="1968542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g3f5972311be_0_342"/>
          <p:cNvSpPr/>
          <p:nvPr/>
        </p:nvSpPr>
        <p:spPr>
          <a:xfrm>
            <a:off x="1976281" y="1968542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g3f5972311be_0_342"/>
          <p:cNvSpPr/>
          <p:nvPr/>
        </p:nvSpPr>
        <p:spPr>
          <a:xfrm>
            <a:off x="2374131" y="1968542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g3f5972311be_0_342"/>
          <p:cNvSpPr/>
          <p:nvPr/>
        </p:nvSpPr>
        <p:spPr>
          <a:xfrm>
            <a:off x="2771982" y="1968542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g3f5972311be_0_342"/>
          <p:cNvSpPr/>
          <p:nvPr/>
        </p:nvSpPr>
        <p:spPr>
          <a:xfrm>
            <a:off x="3169833" y="1968542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g3f5972311be_0_342"/>
          <p:cNvSpPr/>
          <p:nvPr/>
        </p:nvSpPr>
        <p:spPr>
          <a:xfrm>
            <a:off x="3835910" y="2003203"/>
            <a:ext cx="237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1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g3f5972311be_0_342"/>
          <p:cNvSpPr/>
          <p:nvPr/>
        </p:nvSpPr>
        <p:spPr>
          <a:xfrm>
            <a:off x="1924387" y="2327639"/>
            <a:ext cx="1989300" cy="116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400"/>
              <a:buFont typeface="Arial"/>
              <a:buNone/>
            </a:pPr>
            <a:r>
              <a:rPr b="1" i="0" lang="en-US" sz="9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temp.next is the recursive move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g3f5972311be_0_342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0" name="Google Shape;1160;g3f5972311be_0_342"/>
          <p:cNvCxnSpPr>
            <a:stCxn id="1156" idx="3"/>
            <a:endCxn id="1157" idx="1"/>
          </p:cNvCxnSpPr>
          <p:nvPr/>
        </p:nvCxnSpPr>
        <p:spPr>
          <a:xfrm>
            <a:off x="3420633" y="2050742"/>
            <a:ext cx="4152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f5972311be_0_393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1</a:t>
            </a:r>
            <a:r>
              <a:rPr b="1" lang="en-US" sz="1300">
                <a:solidFill>
                  <a:srgbClr val="172B4D"/>
                </a:solidFill>
              </a:rPr>
              <a:t>1</a:t>
            </a: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: Print linked list forward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g3f5972311be_0_393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Loop moves temp = temp.next; recursion passes temp.next.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g3f5972311be_0_393"/>
          <p:cNvSpPr/>
          <p:nvPr/>
        </p:nvSpPr>
        <p:spPr>
          <a:xfrm>
            <a:off x="281090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Iterative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g3f5972311be_0_393"/>
          <p:cNvSpPr/>
          <p:nvPr/>
        </p:nvSpPr>
        <p:spPr>
          <a:xfrm>
            <a:off x="281090" y="713867"/>
            <a:ext cx="2529900" cy="1375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printLLIterative(Node head)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Node temp = head;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while</a:t>
            </a:r>
            <a:r>
              <a:rPr b="0" i="0" lang="en-US" sz="700" u="none" cap="none" strike="noStrike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  <a:t> (temp != null) </a:t>
            </a: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System.out.print(temp.elem + " -&gt; ");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</a:t>
            </a:r>
            <a:r>
              <a:rPr b="0" i="0" lang="en-US" sz="700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temp = temp.next;</a:t>
            </a:r>
            <a:endParaRPr b="0" i="0" sz="7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System.out.println("null");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0" name="Google Shape;1170;g3f5972311be_0_393"/>
          <p:cNvSpPr/>
          <p:nvPr/>
        </p:nvSpPr>
        <p:spPr>
          <a:xfrm>
            <a:off x="2949285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g3f5972311be_0_393"/>
          <p:cNvSpPr/>
          <p:nvPr/>
        </p:nvSpPr>
        <p:spPr>
          <a:xfrm>
            <a:off x="2949285" y="713867"/>
            <a:ext cx="2529900" cy="1375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printForwardRec(Node temp)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</a:t>
            </a:r>
            <a:r>
              <a:rPr b="0" i="0" lang="en-US" sz="700" u="none" cap="none" strike="noStrike">
                <a:solidFill>
                  <a:srgbClr val="9900FF"/>
                </a:solidFill>
                <a:latin typeface="Trebuchet MS"/>
                <a:ea typeface="Trebuchet MS"/>
                <a:cs typeface="Trebuchet MS"/>
                <a:sym typeface="Trebuchet MS"/>
              </a:rPr>
              <a:t>temp == null)</a:t>
            </a: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System.out.println("null");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r>
              <a:rPr b="0" i="0" lang="en-US" sz="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System.out.print(temp.elem + " =&gt; ");</a:t>
            </a:r>
            <a:endParaRPr b="0" i="0" sz="7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   printForwardRec(temp.next);</a:t>
            </a:r>
            <a:endParaRPr b="0" i="0" sz="7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2" name="Google Shape;1172;g3f5972311be_0_393"/>
          <p:cNvSpPr/>
          <p:nvPr/>
        </p:nvSpPr>
        <p:spPr>
          <a:xfrm>
            <a:off x="1114505" y="2247648"/>
            <a:ext cx="11244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traversal order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3" name="Google Shape;1173;g3f5972311be_0_393"/>
          <p:cNvCxnSpPr/>
          <p:nvPr/>
        </p:nvCxnSpPr>
        <p:spPr>
          <a:xfrm>
            <a:off x="1365324" y="2533195"/>
            <a:ext cx="129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4" name="Google Shape;1174;g3f5972311be_0_393"/>
          <p:cNvCxnSpPr/>
          <p:nvPr/>
        </p:nvCxnSpPr>
        <p:spPr>
          <a:xfrm>
            <a:off x="1763174" y="2533195"/>
            <a:ext cx="129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5" name="Google Shape;1175;g3f5972311be_0_393"/>
          <p:cNvSpPr/>
          <p:nvPr/>
        </p:nvSpPr>
        <p:spPr>
          <a:xfrm>
            <a:off x="1114505" y="2455318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g3f5972311be_0_393"/>
          <p:cNvSpPr/>
          <p:nvPr/>
        </p:nvSpPr>
        <p:spPr>
          <a:xfrm>
            <a:off x="1512355" y="2455318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g3f5972311be_0_393"/>
          <p:cNvSpPr/>
          <p:nvPr/>
        </p:nvSpPr>
        <p:spPr>
          <a:xfrm>
            <a:off x="1910206" y="2455318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g3f5972311be_0_393"/>
          <p:cNvSpPr/>
          <p:nvPr/>
        </p:nvSpPr>
        <p:spPr>
          <a:xfrm>
            <a:off x="2299408" y="2485604"/>
            <a:ext cx="237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1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g3f5972311be_0_393"/>
          <p:cNvSpPr/>
          <p:nvPr/>
        </p:nvSpPr>
        <p:spPr>
          <a:xfrm>
            <a:off x="1114490" y="2787957"/>
            <a:ext cx="15135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g3f5972311be_0_393"/>
          <p:cNvSpPr/>
          <p:nvPr/>
        </p:nvSpPr>
        <p:spPr>
          <a:xfrm>
            <a:off x="1114490" y="2896118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g3f5972311be_0_393"/>
          <p:cNvSpPr/>
          <p:nvPr/>
        </p:nvSpPr>
        <p:spPr>
          <a:xfrm>
            <a:off x="1369633" y="2896118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g3f5972311be_0_393"/>
          <p:cNvSpPr/>
          <p:nvPr/>
        </p:nvSpPr>
        <p:spPr>
          <a:xfrm>
            <a:off x="1624777" y="2896118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g3f5972311be_0_393"/>
          <p:cNvSpPr/>
          <p:nvPr/>
        </p:nvSpPr>
        <p:spPr>
          <a:xfrm>
            <a:off x="1879920" y="2896118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g3f5972311be_0_393"/>
          <p:cNvSpPr/>
          <p:nvPr/>
        </p:nvSpPr>
        <p:spPr>
          <a:xfrm>
            <a:off x="2962265" y="2148043"/>
            <a:ext cx="1816200" cy="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500"/>
              <a:buFont typeface="Arial"/>
              <a:buNone/>
            </a:pPr>
            <a:r>
              <a:rPr b="0" i="0" lang="en-US" sz="8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Work happens before the recursive call.</a:t>
            </a:r>
            <a:endParaRPr b="0" i="0" sz="8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g3f5972311be_0_393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6" name="Google Shape;1186;g3f5972311be_0_393"/>
          <p:cNvCxnSpPr>
            <a:stCxn id="1177" idx="3"/>
            <a:endCxn id="1178" idx="1"/>
          </p:cNvCxnSpPr>
          <p:nvPr/>
        </p:nvCxnSpPr>
        <p:spPr>
          <a:xfrm flipH="1" rot="10800000">
            <a:off x="2161006" y="2533018"/>
            <a:ext cx="138300" cy="4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7" name="Google Shape;1187;g3f5972311be_0_393"/>
          <p:cNvSpPr/>
          <p:nvPr/>
        </p:nvSpPr>
        <p:spPr>
          <a:xfrm>
            <a:off x="4060812" y="2306033"/>
            <a:ext cx="7782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Call stack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g3f5972311be_0_393"/>
          <p:cNvSpPr/>
          <p:nvPr/>
        </p:nvSpPr>
        <p:spPr>
          <a:xfrm>
            <a:off x="4060800" y="2409875"/>
            <a:ext cx="11244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10 </a:t>
            </a:r>
            <a:r>
              <a:rPr b="1" lang="en-US" sz="600">
                <a:solidFill>
                  <a:schemeClr val="hlink"/>
                </a:solidFill>
              </a:rPr>
              <a:t>(Call from main method)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g3f5972311be_0_393"/>
          <p:cNvSpPr/>
          <p:nvPr/>
        </p:nvSpPr>
        <p:spPr>
          <a:xfrm>
            <a:off x="4060800" y="2574277"/>
            <a:ext cx="11244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g3f5972311be_0_393"/>
          <p:cNvSpPr/>
          <p:nvPr/>
        </p:nvSpPr>
        <p:spPr>
          <a:xfrm>
            <a:off x="4060800" y="2738679"/>
            <a:ext cx="11244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1" name="Google Shape;1191;g3f5972311be_0_393"/>
          <p:cNvCxnSpPr/>
          <p:nvPr/>
        </p:nvCxnSpPr>
        <p:spPr>
          <a:xfrm flipH="1">
            <a:off x="3955813" y="2498600"/>
            <a:ext cx="4200" cy="5286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92" name="Google Shape;1192;g3f5972311be_0_393"/>
          <p:cNvSpPr/>
          <p:nvPr/>
        </p:nvSpPr>
        <p:spPr>
          <a:xfrm>
            <a:off x="4060800" y="2919175"/>
            <a:ext cx="11244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1F2937"/>
                </a:solidFill>
              </a:rPr>
              <a:t>null </a:t>
            </a:r>
            <a:r>
              <a:rPr b="1" lang="en-US" sz="600">
                <a:solidFill>
                  <a:schemeClr val="hlink"/>
                </a:solidFill>
              </a:rPr>
              <a:t>(Base case_returns Null)</a:t>
            </a:r>
            <a:r>
              <a:rPr b="1" lang="en-US" sz="600">
                <a:solidFill>
                  <a:srgbClr val="1F2937"/>
                </a:solidFill>
              </a:rPr>
              <a:t> 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g3f5972311be_0_393"/>
          <p:cNvSpPr txBox="1"/>
          <p:nvPr/>
        </p:nvSpPr>
        <p:spPr>
          <a:xfrm>
            <a:off x="2657596" y="2334350"/>
            <a:ext cx="1044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9900FF"/>
                </a:solidFill>
              </a:rPr>
              <a:t>main(){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……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FWPrint(head)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……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}</a:t>
            </a:r>
            <a:endParaRPr b="1" sz="7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3f5972311be_0_417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1</a:t>
            </a:r>
            <a:r>
              <a:rPr b="1" lang="en-US" sz="1300">
                <a:solidFill>
                  <a:srgbClr val="172B4D"/>
                </a:solidFill>
              </a:rPr>
              <a:t>2</a:t>
            </a: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: Print linked list backward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g3f5972311be_0_417"/>
          <p:cNvSpPr/>
          <p:nvPr/>
        </p:nvSpPr>
        <p:spPr>
          <a:xfrm>
            <a:off x="237850" y="483987"/>
            <a:ext cx="51894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B85"/>
                </a:solidFill>
              </a:rPr>
              <a:t>Change Recursive call order to get the backward print</a:t>
            </a:r>
            <a:endParaRPr sz="800">
              <a:solidFill>
                <a:srgbClr val="5A6B8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B85"/>
                </a:solidFill>
              </a:rPr>
              <a:t>After the base case returns,  the previous recursive calls begin returning one by one.</a:t>
            </a:r>
            <a:endParaRPr sz="800">
              <a:solidFill>
                <a:srgbClr val="5A6B8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t/>
            </a:r>
            <a:endParaRPr sz="800">
              <a:solidFill>
                <a:srgbClr val="5A6B85"/>
              </a:solidFill>
            </a:endParaRPr>
          </a:p>
        </p:txBody>
      </p:sp>
      <p:sp>
        <p:nvSpPr>
          <p:cNvPr id="1201" name="Google Shape;1201;g3f5972311be_0_417"/>
          <p:cNvSpPr/>
          <p:nvPr/>
        </p:nvSpPr>
        <p:spPr>
          <a:xfrm>
            <a:off x="2898600" y="957600"/>
            <a:ext cx="25299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lang="en-US" sz="800">
                <a:solidFill>
                  <a:srgbClr val="172B4D"/>
                </a:solidFill>
              </a:rPr>
              <a:t>Print after recursive call → reverse/bakward order.</a:t>
            </a:r>
            <a:endParaRPr b="1" sz="800">
              <a:solidFill>
                <a:srgbClr val="172B4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t/>
            </a:r>
            <a:endParaRPr b="1" sz="800">
              <a:solidFill>
                <a:srgbClr val="172B4D"/>
              </a:solidFill>
            </a:endParaRPr>
          </a:p>
        </p:txBody>
      </p:sp>
      <p:sp>
        <p:nvSpPr>
          <p:cNvPr id="1202" name="Google Shape;1202;g3f5972311be_0_417"/>
          <p:cNvSpPr/>
          <p:nvPr/>
        </p:nvSpPr>
        <p:spPr>
          <a:xfrm>
            <a:off x="2898600" y="1105731"/>
            <a:ext cx="2529900" cy="8412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printBackwardRec(Node temp)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(temp == null)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F00FF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r>
              <a:rPr b="0" i="0" lang="en-US" sz="700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printBackwardRec(temp.next);</a:t>
            </a:r>
            <a:endParaRPr b="0" i="0" sz="7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   System.out.print(temp.elem + " &lt;= ");</a:t>
            </a:r>
            <a:endParaRPr b="0" i="0" sz="7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3" name="Google Shape;1203;g3f5972311be_0_417"/>
          <p:cNvSpPr/>
          <p:nvPr/>
        </p:nvSpPr>
        <p:spPr>
          <a:xfrm>
            <a:off x="405642" y="2214486"/>
            <a:ext cx="11244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lang="en-US" sz="700">
                <a:solidFill>
                  <a:srgbClr val="5A6B85"/>
                </a:solidFill>
              </a:rPr>
              <a:t>Given </a:t>
            </a: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linked list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4" name="Google Shape;1204;g3f5972311be_0_417"/>
          <p:cNvCxnSpPr/>
          <p:nvPr/>
        </p:nvCxnSpPr>
        <p:spPr>
          <a:xfrm>
            <a:off x="656462" y="2500033"/>
            <a:ext cx="129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05" name="Google Shape;1205;g3f5972311be_0_417"/>
          <p:cNvCxnSpPr/>
          <p:nvPr/>
        </p:nvCxnSpPr>
        <p:spPr>
          <a:xfrm>
            <a:off x="1054312" y="2500033"/>
            <a:ext cx="129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6" name="Google Shape;1206;g3f5972311be_0_417"/>
          <p:cNvSpPr/>
          <p:nvPr/>
        </p:nvSpPr>
        <p:spPr>
          <a:xfrm>
            <a:off x="405643" y="2422156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g3f5972311be_0_417"/>
          <p:cNvSpPr/>
          <p:nvPr/>
        </p:nvSpPr>
        <p:spPr>
          <a:xfrm>
            <a:off x="803492" y="2422156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g3f5972311be_0_417"/>
          <p:cNvSpPr/>
          <p:nvPr/>
        </p:nvSpPr>
        <p:spPr>
          <a:xfrm>
            <a:off x="1201344" y="2422156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g3f5972311be_0_417"/>
          <p:cNvSpPr/>
          <p:nvPr/>
        </p:nvSpPr>
        <p:spPr>
          <a:xfrm>
            <a:off x="1590546" y="2452442"/>
            <a:ext cx="237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1" lang="en-US" sz="9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g3f5972311be_0_417"/>
          <p:cNvSpPr/>
          <p:nvPr/>
        </p:nvSpPr>
        <p:spPr>
          <a:xfrm>
            <a:off x="363476" y="2707524"/>
            <a:ext cx="7782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g3f5972311be_0_417"/>
          <p:cNvSpPr/>
          <p:nvPr/>
        </p:nvSpPr>
        <p:spPr>
          <a:xfrm>
            <a:off x="449177" y="2853806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g3f5972311be_0_417"/>
          <p:cNvSpPr/>
          <p:nvPr/>
        </p:nvSpPr>
        <p:spPr>
          <a:xfrm>
            <a:off x="704321" y="2853806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g3f5972311be_0_417"/>
          <p:cNvSpPr/>
          <p:nvPr/>
        </p:nvSpPr>
        <p:spPr>
          <a:xfrm>
            <a:off x="959465" y="2853806"/>
            <a:ext cx="2076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g3f5972311be_0_417"/>
          <p:cNvSpPr txBox="1"/>
          <p:nvPr>
            <p:ph idx="4294967295" type="sldNum"/>
          </p:nvPr>
        </p:nvSpPr>
        <p:spPr>
          <a:xfrm>
            <a:off x="5277770" y="2934549"/>
            <a:ext cx="3783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5" name="Google Shape;1215;g3f5972311be_0_417"/>
          <p:cNvCxnSpPr>
            <a:stCxn id="1208" idx="3"/>
            <a:endCxn id="1209" idx="1"/>
          </p:cNvCxnSpPr>
          <p:nvPr/>
        </p:nvCxnSpPr>
        <p:spPr>
          <a:xfrm flipH="1" rot="10800000">
            <a:off x="1452144" y="2499856"/>
            <a:ext cx="138300" cy="4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16" name="Google Shape;1216;g3f5972311be_0_417"/>
          <p:cNvSpPr/>
          <p:nvPr/>
        </p:nvSpPr>
        <p:spPr>
          <a:xfrm>
            <a:off x="262560" y="9845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lang="en-US" sz="800">
                <a:solidFill>
                  <a:srgbClr val="172B4D"/>
                </a:solidFill>
              </a:rPr>
              <a:t>Print before recursive call → forward order.</a:t>
            </a:r>
            <a:endParaRPr b="1" sz="800">
              <a:solidFill>
                <a:srgbClr val="172B4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t/>
            </a:r>
            <a:endParaRPr b="1" sz="800">
              <a:solidFill>
                <a:srgbClr val="172B4D"/>
              </a:solidFill>
            </a:endParaRPr>
          </a:p>
        </p:txBody>
      </p:sp>
      <p:sp>
        <p:nvSpPr>
          <p:cNvPr id="1217" name="Google Shape;1217;g3f5972311be_0_417"/>
          <p:cNvSpPr/>
          <p:nvPr/>
        </p:nvSpPr>
        <p:spPr>
          <a:xfrm>
            <a:off x="262550" y="1105675"/>
            <a:ext cx="2529900" cy="8412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printForwardRec(Node temp)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(temp == null)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System.out.println("null");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   System.out.print(temp.elem + " =&gt; ");</a:t>
            </a:r>
            <a:endParaRPr b="0" i="0" sz="7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chemeClr val="accent5"/>
                </a:solidFill>
                <a:latin typeface="Trebuchet MS"/>
                <a:ea typeface="Trebuchet MS"/>
                <a:cs typeface="Trebuchet MS"/>
                <a:sym typeface="Trebuchet MS"/>
              </a:rPr>
              <a:t>    printForwardRec(temp.next);</a:t>
            </a:r>
            <a:endParaRPr b="0" i="0" sz="7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18" name="Google Shape;1218;g3f5972311be_0_417"/>
          <p:cNvSpPr/>
          <p:nvPr/>
        </p:nvSpPr>
        <p:spPr>
          <a:xfrm>
            <a:off x="363465" y="2018080"/>
            <a:ext cx="1816200" cy="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500"/>
              <a:buFont typeface="Arial"/>
              <a:buNone/>
            </a:pPr>
            <a:r>
              <a:rPr b="0" i="0" lang="en-US" sz="8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Work happens </a:t>
            </a:r>
            <a:r>
              <a:rPr b="1" i="0" lang="en-US" sz="800" u="none" cap="none" strike="noStrike">
                <a:solidFill>
                  <a:srgbClr val="9900FF"/>
                </a:solidFill>
              </a:rPr>
              <a:t>before</a:t>
            </a:r>
            <a:r>
              <a:rPr b="0" i="0" lang="en-US" sz="8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the recursive call.</a:t>
            </a:r>
            <a:endParaRPr b="0" i="0" sz="8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g3f5972311be_0_417"/>
          <p:cNvSpPr/>
          <p:nvPr/>
        </p:nvSpPr>
        <p:spPr>
          <a:xfrm>
            <a:off x="3010015" y="2018368"/>
            <a:ext cx="1816200" cy="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500"/>
              <a:buFont typeface="Arial"/>
              <a:buNone/>
            </a:pPr>
            <a:r>
              <a:rPr b="0" i="0" lang="en-US" sz="8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Work happens </a:t>
            </a:r>
            <a:r>
              <a:rPr b="1" lang="en-US" sz="800">
                <a:solidFill>
                  <a:srgbClr val="9900FF"/>
                </a:solidFill>
              </a:rPr>
              <a:t>After</a:t>
            </a:r>
            <a:r>
              <a:rPr b="0" i="0" lang="en-US" sz="8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the recursive call.</a:t>
            </a:r>
            <a:endParaRPr b="0" i="0" sz="8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g3f5972311be_0_417"/>
          <p:cNvSpPr/>
          <p:nvPr/>
        </p:nvSpPr>
        <p:spPr>
          <a:xfrm>
            <a:off x="4109787" y="2301183"/>
            <a:ext cx="7782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Call stack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g3f5972311be_0_417"/>
          <p:cNvSpPr/>
          <p:nvPr/>
        </p:nvSpPr>
        <p:spPr>
          <a:xfrm>
            <a:off x="4109768" y="2405025"/>
            <a:ext cx="10827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10 </a:t>
            </a:r>
            <a:r>
              <a:rPr b="1" lang="en-US" sz="600">
                <a:solidFill>
                  <a:schemeClr val="hlink"/>
                </a:solidFill>
              </a:rPr>
              <a:t>(Call from main method)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g3f5972311be_0_417"/>
          <p:cNvSpPr/>
          <p:nvPr/>
        </p:nvSpPr>
        <p:spPr>
          <a:xfrm>
            <a:off x="4109768" y="2569428"/>
            <a:ext cx="10827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g3f5972311be_0_417"/>
          <p:cNvSpPr/>
          <p:nvPr/>
        </p:nvSpPr>
        <p:spPr>
          <a:xfrm>
            <a:off x="4109768" y="2733831"/>
            <a:ext cx="10827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4" name="Google Shape;1224;g3f5972311be_0_417"/>
          <p:cNvCxnSpPr/>
          <p:nvPr/>
        </p:nvCxnSpPr>
        <p:spPr>
          <a:xfrm flipH="1">
            <a:off x="4004788" y="2493750"/>
            <a:ext cx="4200" cy="5286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5" name="Google Shape;1225;g3f5972311be_0_417"/>
          <p:cNvSpPr/>
          <p:nvPr/>
        </p:nvSpPr>
        <p:spPr>
          <a:xfrm>
            <a:off x="4109768" y="2914328"/>
            <a:ext cx="10827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1F2937"/>
                </a:solidFill>
              </a:rPr>
              <a:t>null </a:t>
            </a:r>
            <a:r>
              <a:rPr b="1" lang="en-US" sz="600">
                <a:solidFill>
                  <a:schemeClr val="hlink"/>
                </a:solidFill>
              </a:rPr>
              <a:t>(Base case_returns Null)</a:t>
            </a:r>
            <a:r>
              <a:rPr b="1" lang="en-US" sz="600">
                <a:solidFill>
                  <a:srgbClr val="1F2937"/>
                </a:solidFill>
              </a:rPr>
              <a:t> 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g3f5972311be_0_417"/>
          <p:cNvSpPr txBox="1"/>
          <p:nvPr/>
        </p:nvSpPr>
        <p:spPr>
          <a:xfrm>
            <a:off x="2706571" y="2301175"/>
            <a:ext cx="1044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9900FF"/>
                </a:solidFill>
              </a:rPr>
              <a:t>main(){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……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BWPrint(head)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     ……</a:t>
            </a:r>
            <a:br>
              <a:rPr b="1" lang="en-US" sz="700">
                <a:solidFill>
                  <a:srgbClr val="9900FF"/>
                </a:solidFill>
              </a:rPr>
            </a:br>
            <a:r>
              <a:rPr b="1" lang="en-US" sz="700">
                <a:solidFill>
                  <a:srgbClr val="9900FF"/>
                </a:solidFill>
              </a:rPr>
              <a:t>}</a:t>
            </a:r>
            <a:endParaRPr b="1" sz="7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f598fb6c96_0_46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13: Print linked list backward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g3f598fb6c96_0_46"/>
          <p:cNvSpPr/>
          <p:nvPr/>
        </p:nvSpPr>
        <p:spPr>
          <a:xfrm>
            <a:off x="192300" y="412149"/>
            <a:ext cx="51894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B85"/>
                </a:solidFill>
              </a:rPr>
              <a:t>Change Recursive call order to get the backward print</a:t>
            </a:r>
            <a:endParaRPr sz="800">
              <a:solidFill>
                <a:srgbClr val="5A6B8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B85"/>
                </a:solidFill>
              </a:rPr>
              <a:t>After the base case returns,  the previous recursive calls begin returning one by one.</a:t>
            </a:r>
            <a:endParaRPr sz="800">
              <a:solidFill>
                <a:srgbClr val="5A6B8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t/>
            </a:r>
            <a:endParaRPr sz="800">
              <a:solidFill>
                <a:srgbClr val="5A6B85"/>
              </a:solidFill>
            </a:endParaRPr>
          </a:p>
        </p:txBody>
      </p:sp>
      <p:sp>
        <p:nvSpPr>
          <p:cNvPr id="1234" name="Google Shape;1234;g3f598fb6c96_0_46"/>
          <p:cNvSpPr/>
          <p:nvPr/>
        </p:nvSpPr>
        <p:spPr>
          <a:xfrm>
            <a:off x="237850" y="1444275"/>
            <a:ext cx="2529900" cy="970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void printBackwardRec(Node temp)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(temp == null)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F00FF"/>
                </a:solidFill>
                <a:latin typeface="Trebuchet MS"/>
                <a:ea typeface="Trebuchet MS"/>
                <a:cs typeface="Trebuchet MS"/>
                <a:sym typeface="Trebuchet MS"/>
              </a:rPr>
              <a:t>    printBackwardRec(temp.next);</a:t>
            </a:r>
            <a:endParaRPr b="0" i="0" sz="700" u="none" cap="none" strike="noStrike">
              <a:solidFill>
                <a:srgbClr val="FF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F00FF"/>
                </a:solidFill>
                <a:latin typeface="Trebuchet MS"/>
                <a:ea typeface="Trebuchet MS"/>
                <a:cs typeface="Trebuchet MS"/>
                <a:sym typeface="Trebuchet MS"/>
              </a:rPr>
              <a:t>    System.out.print(temp.elem + " &lt;= ");</a:t>
            </a:r>
            <a:endParaRPr b="0" i="0" sz="700" u="none" cap="none" strike="noStrike">
              <a:solidFill>
                <a:srgbClr val="FF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35" name="Google Shape;1235;g3f598fb6c96_0_46"/>
          <p:cNvSpPr/>
          <p:nvPr/>
        </p:nvSpPr>
        <p:spPr>
          <a:xfrm>
            <a:off x="401717" y="917886"/>
            <a:ext cx="11244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lang="en-US" sz="700">
                <a:solidFill>
                  <a:srgbClr val="5A6B85"/>
                </a:solidFill>
              </a:rPr>
              <a:t>Given </a:t>
            </a: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linked list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6" name="Google Shape;1236;g3f598fb6c96_0_46"/>
          <p:cNvCxnSpPr/>
          <p:nvPr/>
        </p:nvCxnSpPr>
        <p:spPr>
          <a:xfrm>
            <a:off x="652537" y="1203433"/>
            <a:ext cx="129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7" name="Google Shape;1237;g3f598fb6c96_0_46"/>
          <p:cNvCxnSpPr/>
          <p:nvPr/>
        </p:nvCxnSpPr>
        <p:spPr>
          <a:xfrm>
            <a:off x="1050387" y="1203433"/>
            <a:ext cx="129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8" name="Google Shape;1238;g3f598fb6c96_0_46"/>
          <p:cNvSpPr/>
          <p:nvPr/>
        </p:nvSpPr>
        <p:spPr>
          <a:xfrm>
            <a:off x="401718" y="1125556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g3f598fb6c96_0_46"/>
          <p:cNvSpPr/>
          <p:nvPr/>
        </p:nvSpPr>
        <p:spPr>
          <a:xfrm>
            <a:off x="799567" y="1125556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g3f598fb6c96_0_46"/>
          <p:cNvSpPr/>
          <p:nvPr/>
        </p:nvSpPr>
        <p:spPr>
          <a:xfrm>
            <a:off x="1197419" y="1125556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g3f598fb6c96_0_46"/>
          <p:cNvSpPr/>
          <p:nvPr/>
        </p:nvSpPr>
        <p:spPr>
          <a:xfrm>
            <a:off x="1586621" y="1155842"/>
            <a:ext cx="237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1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g3f598fb6c96_0_46"/>
          <p:cNvSpPr txBox="1"/>
          <p:nvPr>
            <p:ph idx="4294967295" type="sldNum"/>
          </p:nvPr>
        </p:nvSpPr>
        <p:spPr>
          <a:xfrm>
            <a:off x="5280470" y="3065299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3" name="Google Shape;1243;g3f598fb6c96_0_46"/>
          <p:cNvCxnSpPr>
            <a:stCxn id="1240" idx="3"/>
            <a:endCxn id="1241" idx="1"/>
          </p:cNvCxnSpPr>
          <p:nvPr/>
        </p:nvCxnSpPr>
        <p:spPr>
          <a:xfrm flipH="1" rot="10800000">
            <a:off x="1448219" y="1203256"/>
            <a:ext cx="138300" cy="4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4" name="Google Shape;1244;g3f598fb6c96_0_46"/>
          <p:cNvSpPr/>
          <p:nvPr/>
        </p:nvSpPr>
        <p:spPr>
          <a:xfrm>
            <a:off x="3095650" y="1212052"/>
            <a:ext cx="1051500" cy="246900"/>
          </a:xfrm>
          <a:prstGeom prst="roundRect">
            <a:avLst>
              <a:gd fmla="val 16667" name="adj"/>
            </a:avLst>
          </a:prstGeom>
          <a:solidFill>
            <a:srgbClr val="0059BE"/>
          </a:solidFill>
          <a:ln cap="flat" cmpd="sng" w="12700">
            <a:solidFill>
              <a:srgbClr val="005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Call phase: </a:t>
            </a:r>
            <a:br>
              <a:rPr b="1" i="0" lang="en-US" sz="7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output yet</a:t>
            </a:r>
            <a:endParaRPr/>
          </a:p>
        </p:txBody>
      </p:sp>
      <p:sp>
        <p:nvSpPr>
          <p:cNvPr id="1245" name="Google Shape;1245;g3f598fb6c96_0_46"/>
          <p:cNvSpPr/>
          <p:nvPr/>
        </p:nvSpPr>
        <p:spPr>
          <a:xfrm>
            <a:off x="3141360" y="1504531"/>
            <a:ext cx="1051500" cy="173700"/>
          </a:xfrm>
          <a:prstGeom prst="roundRect">
            <a:avLst>
              <a:gd fmla="val 16667" name="adj"/>
            </a:avLst>
          </a:prstGeom>
          <a:solidFill>
            <a:srgbClr val="E2EEFF"/>
          </a:solidFill>
          <a:ln cap="flat" cmpd="sng" w="12700">
            <a:solidFill>
              <a:srgbClr val="005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20" u="none" cap="none" strike="noStrike">
                <a:solidFill>
                  <a:srgbClr val="161C26"/>
                </a:solidFill>
                <a:latin typeface="Trebuchet MS"/>
                <a:ea typeface="Trebuchet MS"/>
                <a:cs typeface="Trebuchet MS"/>
                <a:sym typeface="Trebuchet MS"/>
              </a:rPr>
              <a:t>print(10)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246" name="Google Shape;1246;g3f598fb6c96_0_46"/>
          <p:cNvCxnSpPr/>
          <p:nvPr/>
        </p:nvCxnSpPr>
        <p:spPr>
          <a:xfrm>
            <a:off x="3671712" y="1678267"/>
            <a:ext cx="0" cy="45600"/>
          </a:xfrm>
          <a:prstGeom prst="straightConnector1">
            <a:avLst/>
          </a:prstGeom>
          <a:noFill/>
          <a:ln cap="flat" cmpd="sng" w="10150">
            <a:solidFill>
              <a:srgbClr val="005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247" name="Google Shape;1247;g3f598fb6c96_0_46"/>
          <p:cNvSpPr/>
          <p:nvPr/>
        </p:nvSpPr>
        <p:spPr>
          <a:xfrm>
            <a:off x="3141360" y="1733131"/>
            <a:ext cx="1051500" cy="173700"/>
          </a:xfrm>
          <a:prstGeom prst="roundRect">
            <a:avLst>
              <a:gd fmla="val 16667" name="adj"/>
            </a:avLst>
          </a:prstGeom>
          <a:solidFill>
            <a:srgbClr val="E2EEFF"/>
          </a:solidFill>
          <a:ln cap="flat" cmpd="sng" w="12700">
            <a:solidFill>
              <a:srgbClr val="005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20" u="none" cap="none" strike="noStrike">
                <a:solidFill>
                  <a:srgbClr val="161C26"/>
                </a:solidFill>
                <a:latin typeface="Trebuchet MS"/>
                <a:ea typeface="Trebuchet MS"/>
                <a:cs typeface="Trebuchet MS"/>
                <a:sym typeface="Trebuchet MS"/>
              </a:rPr>
              <a:t>print(20)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248" name="Google Shape;1248;g3f598fb6c96_0_46"/>
          <p:cNvCxnSpPr/>
          <p:nvPr/>
        </p:nvCxnSpPr>
        <p:spPr>
          <a:xfrm>
            <a:off x="3671712" y="1906867"/>
            <a:ext cx="0" cy="45600"/>
          </a:xfrm>
          <a:prstGeom prst="straightConnector1">
            <a:avLst/>
          </a:prstGeom>
          <a:noFill/>
          <a:ln cap="flat" cmpd="sng" w="10150">
            <a:solidFill>
              <a:srgbClr val="005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249" name="Google Shape;1249;g3f598fb6c96_0_46"/>
          <p:cNvSpPr/>
          <p:nvPr/>
        </p:nvSpPr>
        <p:spPr>
          <a:xfrm>
            <a:off x="3141360" y="1961731"/>
            <a:ext cx="1051500" cy="173700"/>
          </a:xfrm>
          <a:prstGeom prst="roundRect">
            <a:avLst>
              <a:gd fmla="val 16667" name="adj"/>
            </a:avLst>
          </a:prstGeom>
          <a:solidFill>
            <a:srgbClr val="E2EEFF"/>
          </a:solidFill>
          <a:ln cap="flat" cmpd="sng" w="12700">
            <a:solidFill>
              <a:srgbClr val="005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20" u="none" cap="none" strike="noStrike">
                <a:solidFill>
                  <a:srgbClr val="161C26"/>
                </a:solidFill>
                <a:latin typeface="Trebuchet MS"/>
                <a:ea typeface="Trebuchet MS"/>
                <a:cs typeface="Trebuchet MS"/>
                <a:sym typeface="Trebuchet MS"/>
              </a:rPr>
              <a:t>print(30)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250" name="Google Shape;1250;g3f598fb6c96_0_46"/>
          <p:cNvCxnSpPr/>
          <p:nvPr/>
        </p:nvCxnSpPr>
        <p:spPr>
          <a:xfrm>
            <a:off x="3671712" y="2135467"/>
            <a:ext cx="0" cy="45600"/>
          </a:xfrm>
          <a:prstGeom prst="straightConnector1">
            <a:avLst/>
          </a:prstGeom>
          <a:noFill/>
          <a:ln cap="flat" cmpd="sng" w="10150">
            <a:solidFill>
              <a:srgbClr val="0059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251" name="Google Shape;1251;g3f598fb6c96_0_46"/>
          <p:cNvSpPr/>
          <p:nvPr/>
        </p:nvSpPr>
        <p:spPr>
          <a:xfrm>
            <a:off x="3141360" y="2190331"/>
            <a:ext cx="1051500" cy="173700"/>
          </a:xfrm>
          <a:prstGeom prst="roundRect">
            <a:avLst>
              <a:gd fmla="val 16667" name="adj"/>
            </a:avLst>
          </a:prstGeom>
          <a:solidFill>
            <a:srgbClr val="FFECEC"/>
          </a:solidFill>
          <a:ln cap="flat" cmpd="sng" w="12700">
            <a:solidFill>
              <a:srgbClr val="D7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20" u="none" cap="none" strike="noStrike">
                <a:solidFill>
                  <a:srgbClr val="161C26"/>
                </a:solidFill>
                <a:latin typeface="Trebuchet MS"/>
                <a:ea typeface="Trebuchet MS"/>
                <a:cs typeface="Trebuchet MS"/>
                <a:sym typeface="Trebuchet MS"/>
              </a:rPr>
              <a:t>print(null) stops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2" name="Google Shape;1252;g3f598fb6c96_0_46"/>
          <p:cNvSpPr/>
          <p:nvPr/>
        </p:nvSpPr>
        <p:spPr>
          <a:xfrm>
            <a:off x="4375800" y="1212052"/>
            <a:ext cx="1005900" cy="246900"/>
          </a:xfrm>
          <a:prstGeom prst="roundRect">
            <a:avLst>
              <a:gd fmla="val 16667" name="adj"/>
            </a:avLst>
          </a:prstGeom>
          <a:solidFill>
            <a:srgbClr val="009660"/>
          </a:solidFill>
          <a:ln cap="flat" cmpd="sng" w="1270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Return phase: </a:t>
            </a:r>
            <a:br>
              <a:rPr b="1" i="0" lang="en-US" sz="7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print now</a:t>
            </a:r>
            <a:endParaRPr/>
          </a:p>
        </p:txBody>
      </p:sp>
      <p:sp>
        <p:nvSpPr>
          <p:cNvPr id="1253" name="Google Shape;1253;g3f598fb6c96_0_46"/>
          <p:cNvSpPr/>
          <p:nvPr/>
        </p:nvSpPr>
        <p:spPr>
          <a:xfrm>
            <a:off x="4510560" y="2181056"/>
            <a:ext cx="713100" cy="183000"/>
          </a:xfrm>
          <a:prstGeom prst="roundRect">
            <a:avLst>
              <a:gd fmla="val 16667" name="adj"/>
            </a:avLst>
          </a:prstGeom>
          <a:solidFill>
            <a:srgbClr val="E3F7EE"/>
          </a:solidFill>
          <a:ln cap="flat" cmpd="sng" w="1270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80" u="none" cap="none" strike="noStrike">
                <a:solidFill>
                  <a:srgbClr val="161C26"/>
                </a:solidFill>
                <a:latin typeface="Trebuchet MS"/>
                <a:ea typeface="Trebuchet MS"/>
                <a:cs typeface="Trebuchet MS"/>
                <a:sym typeface="Trebuchet MS"/>
              </a:rPr>
              <a:t>30 &lt;=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254" name="Google Shape;1254;g3f598fb6c96_0_46"/>
          <p:cNvCxnSpPr>
            <a:stCxn id="1255" idx="2"/>
          </p:cNvCxnSpPr>
          <p:nvPr/>
        </p:nvCxnSpPr>
        <p:spPr>
          <a:xfrm rot="10800000">
            <a:off x="4864700" y="2062100"/>
            <a:ext cx="4800" cy="36600"/>
          </a:xfrm>
          <a:prstGeom prst="straightConnector1">
            <a:avLst/>
          </a:prstGeom>
          <a:noFill/>
          <a:ln cap="flat" cmpd="sng" w="1015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255" name="Google Shape;1255;g3f598fb6c96_0_46"/>
          <p:cNvSpPr/>
          <p:nvPr/>
        </p:nvSpPr>
        <p:spPr>
          <a:xfrm>
            <a:off x="4512950" y="1934300"/>
            <a:ext cx="713100" cy="164400"/>
          </a:xfrm>
          <a:prstGeom prst="roundRect">
            <a:avLst>
              <a:gd fmla="val 16667" name="adj"/>
            </a:avLst>
          </a:prstGeom>
          <a:solidFill>
            <a:srgbClr val="E3F7EE"/>
          </a:solidFill>
          <a:ln cap="flat" cmpd="sng" w="1270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80" u="none" cap="none" strike="noStrike">
                <a:solidFill>
                  <a:srgbClr val="161C26"/>
                </a:solidFill>
                <a:latin typeface="Trebuchet MS"/>
                <a:ea typeface="Trebuchet MS"/>
                <a:cs typeface="Trebuchet MS"/>
                <a:sym typeface="Trebuchet MS"/>
              </a:rPr>
              <a:t>20 &lt;=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256" name="Google Shape;1256;g3f598fb6c96_0_46"/>
          <p:cNvCxnSpPr>
            <a:stCxn id="1255" idx="0"/>
            <a:endCxn id="1257" idx="2"/>
          </p:cNvCxnSpPr>
          <p:nvPr/>
        </p:nvCxnSpPr>
        <p:spPr>
          <a:xfrm rot="10800000">
            <a:off x="4869500" y="1861400"/>
            <a:ext cx="0" cy="72900"/>
          </a:xfrm>
          <a:prstGeom prst="straightConnector1">
            <a:avLst/>
          </a:prstGeom>
          <a:noFill/>
          <a:ln cap="flat" cmpd="sng" w="1015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257" name="Google Shape;1257;g3f598fb6c96_0_46"/>
          <p:cNvSpPr/>
          <p:nvPr/>
        </p:nvSpPr>
        <p:spPr>
          <a:xfrm>
            <a:off x="4512960" y="1678267"/>
            <a:ext cx="713100" cy="183000"/>
          </a:xfrm>
          <a:prstGeom prst="roundRect">
            <a:avLst>
              <a:gd fmla="val 16667" name="adj"/>
            </a:avLst>
          </a:prstGeom>
          <a:solidFill>
            <a:srgbClr val="E3F7EE"/>
          </a:solidFill>
          <a:ln cap="flat" cmpd="sng" w="1270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80" u="none" cap="none" strike="noStrike">
                <a:solidFill>
                  <a:srgbClr val="161C26"/>
                </a:solidFill>
                <a:latin typeface="Trebuchet MS"/>
                <a:ea typeface="Trebuchet MS"/>
                <a:cs typeface="Trebuchet MS"/>
                <a:sym typeface="Trebuchet MS"/>
              </a:rPr>
              <a:t>10 &lt;=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8" name="Google Shape;1258;g3f598fb6c96_0_46"/>
          <p:cNvSpPr/>
          <p:nvPr/>
        </p:nvSpPr>
        <p:spPr>
          <a:xfrm>
            <a:off x="3141345" y="2544875"/>
            <a:ext cx="2011800" cy="246900"/>
          </a:xfrm>
          <a:prstGeom prst="roundRect">
            <a:avLst>
              <a:gd fmla="val 16667" name="adj"/>
            </a:avLst>
          </a:prstGeom>
          <a:solidFill>
            <a:srgbClr val="E3F7EE"/>
          </a:solidFill>
          <a:ln cap="flat" cmpd="sng" w="1270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009660"/>
                </a:solidFill>
                <a:latin typeface="Arial"/>
                <a:ea typeface="Arial"/>
                <a:cs typeface="Arial"/>
                <a:sym typeface="Arial"/>
              </a:rPr>
              <a:t>Output: 30 &lt;= 20 &lt;= 10 &lt;=</a:t>
            </a:r>
            <a:endParaRPr/>
          </a:p>
        </p:txBody>
      </p:sp>
      <p:sp>
        <p:nvSpPr>
          <p:cNvPr id="1259" name="Google Shape;1259;g3f598fb6c96_0_46"/>
          <p:cNvSpPr/>
          <p:nvPr/>
        </p:nvSpPr>
        <p:spPr>
          <a:xfrm>
            <a:off x="882845" y="2972610"/>
            <a:ext cx="4251900" cy="228600"/>
          </a:xfrm>
          <a:prstGeom prst="roundRect">
            <a:avLst>
              <a:gd fmla="val 16667" name="adj"/>
            </a:avLst>
          </a:prstGeom>
          <a:solidFill>
            <a:srgbClr val="F6EEFC"/>
          </a:solidFill>
          <a:ln cap="flat" cmpd="sng" w="12700">
            <a:solidFill>
              <a:srgbClr val="7E34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7425" lIns="36575" spcFirstLastPara="1" rIns="3657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7E34AA"/>
                </a:solidFill>
                <a:latin typeface="Arial"/>
                <a:ea typeface="Arial"/>
                <a:cs typeface="Arial"/>
                <a:sym typeface="Arial"/>
              </a:rPr>
              <a:t>Key idea: print before call → forward order; print after call → backward order.</a:t>
            </a:r>
            <a:endParaRPr/>
          </a:p>
        </p:txBody>
      </p:sp>
      <p:cxnSp>
        <p:nvCxnSpPr>
          <p:cNvPr id="1260" name="Google Shape;1260;g3f598fb6c96_0_46"/>
          <p:cNvCxnSpPr>
            <a:stCxn id="1253" idx="0"/>
            <a:endCxn id="1255" idx="2"/>
          </p:cNvCxnSpPr>
          <p:nvPr/>
        </p:nvCxnSpPr>
        <p:spPr>
          <a:xfrm flipH="1" rot="10800000">
            <a:off x="4867110" y="2098556"/>
            <a:ext cx="2400" cy="82500"/>
          </a:xfrm>
          <a:prstGeom prst="straightConnector1">
            <a:avLst/>
          </a:prstGeom>
          <a:noFill/>
          <a:ln cap="flat" cmpd="sng" w="10150">
            <a:solidFill>
              <a:srgbClr val="009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1261" name="Google Shape;1261;g3f598fb6c96_0_46"/>
          <p:cNvCxnSpPr/>
          <p:nvPr/>
        </p:nvCxnSpPr>
        <p:spPr>
          <a:xfrm>
            <a:off x="3006250" y="1579875"/>
            <a:ext cx="5100" cy="6996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2" name="Google Shape;1262;g3f598fb6c96_0_46"/>
          <p:cNvCxnSpPr/>
          <p:nvPr/>
        </p:nvCxnSpPr>
        <p:spPr>
          <a:xfrm rot="10800000">
            <a:off x="5370950" y="1691425"/>
            <a:ext cx="0" cy="6720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6C5CE7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3f5972311be_0_361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1</a:t>
            </a:r>
            <a:r>
              <a:rPr b="1" lang="en-US" sz="1300">
                <a:solidFill>
                  <a:srgbClr val="172B4D"/>
                </a:solidFill>
              </a:rPr>
              <a:t>3</a:t>
            </a: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: Convert array to linked list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g3f5972311be_0_361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Create the first node, then connect each next node. Recursive version returns the current node.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g3f5972311be_0_361"/>
          <p:cNvSpPr/>
          <p:nvPr/>
        </p:nvSpPr>
        <p:spPr>
          <a:xfrm>
            <a:off x="288215" y="523599"/>
            <a:ext cx="1383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Node class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g3f5972311be_0_361"/>
          <p:cNvSpPr/>
          <p:nvPr/>
        </p:nvSpPr>
        <p:spPr>
          <a:xfrm>
            <a:off x="288215" y="644741"/>
            <a:ext cx="1383900" cy="10167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static class Node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elem;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Node next;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Node(int elem)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this.elem = elem;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this.next = null;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72" name="Google Shape;1272;g3f5972311be_0_361"/>
          <p:cNvSpPr/>
          <p:nvPr/>
        </p:nvSpPr>
        <p:spPr>
          <a:xfrm>
            <a:off x="1780156" y="523599"/>
            <a:ext cx="18378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Iterative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g3f5972311be_0_361"/>
          <p:cNvSpPr/>
          <p:nvPr/>
        </p:nvSpPr>
        <p:spPr>
          <a:xfrm>
            <a:off x="1780150" y="644749"/>
            <a:ext cx="1837800" cy="14421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Node arr2LL(int[] arr)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(arr.length == 0) return null;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Node head = new Node(arr[0]);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Node current = head;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i = 1;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while (i &lt; arr.length)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Node newNode = new Node(arr[i]);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current.next = newNode;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current = current.next;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i++;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head;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74" name="Google Shape;1274;g3f5972311be_0_361"/>
          <p:cNvSpPr/>
          <p:nvPr/>
        </p:nvSpPr>
        <p:spPr>
          <a:xfrm>
            <a:off x="3726165" y="523599"/>
            <a:ext cx="17514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Recursive Java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g3f5972311be_0_361"/>
          <p:cNvSpPr/>
          <p:nvPr/>
        </p:nvSpPr>
        <p:spPr>
          <a:xfrm>
            <a:off x="3726175" y="644750"/>
            <a:ext cx="1751400" cy="9636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Node arr2LL(int[] arr, int i)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(i == arr.length)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 null;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Node current = new Node(arr[i]);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current.next = arr2LL(arr, i + 1);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current;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76" name="Google Shape;1276;g3f5972311be_0_361"/>
          <p:cNvSpPr/>
          <p:nvPr/>
        </p:nvSpPr>
        <p:spPr>
          <a:xfrm>
            <a:off x="237855" y="2509280"/>
            <a:ext cx="11244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array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g3f5972311be_0_361"/>
          <p:cNvSpPr/>
          <p:nvPr/>
        </p:nvSpPr>
        <p:spPr>
          <a:xfrm>
            <a:off x="237855" y="2621768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6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g3f5972311be_0_361"/>
          <p:cNvSpPr/>
          <p:nvPr/>
        </p:nvSpPr>
        <p:spPr>
          <a:xfrm>
            <a:off x="237855" y="2716951"/>
            <a:ext cx="237900" cy="164400"/>
          </a:xfrm>
          <a:prstGeom prst="rect">
            <a:avLst/>
          </a:prstGeom>
          <a:solidFill>
            <a:srgbClr val="EAF3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g3f5972311be_0_361"/>
          <p:cNvSpPr/>
          <p:nvPr/>
        </p:nvSpPr>
        <p:spPr>
          <a:xfrm>
            <a:off x="501647" y="2621768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6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g3f5972311be_0_361"/>
          <p:cNvSpPr/>
          <p:nvPr/>
        </p:nvSpPr>
        <p:spPr>
          <a:xfrm>
            <a:off x="501647" y="2716951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g3f5972311be_0_361"/>
          <p:cNvSpPr/>
          <p:nvPr/>
        </p:nvSpPr>
        <p:spPr>
          <a:xfrm>
            <a:off x="765439" y="2621768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6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g3f5972311be_0_361"/>
          <p:cNvSpPr/>
          <p:nvPr/>
        </p:nvSpPr>
        <p:spPr>
          <a:xfrm>
            <a:off x="765439" y="2716951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g3f5972311be_0_361"/>
          <p:cNvSpPr/>
          <p:nvPr/>
        </p:nvSpPr>
        <p:spPr>
          <a:xfrm>
            <a:off x="1029232" y="2621768"/>
            <a:ext cx="237900" cy="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0" lang="en-US" sz="6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g3f5972311be_0_361"/>
          <p:cNvSpPr/>
          <p:nvPr/>
        </p:nvSpPr>
        <p:spPr>
          <a:xfrm>
            <a:off x="1029232" y="2716951"/>
            <a:ext cx="2379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C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"/>
              <a:buFont typeface="Arial"/>
              <a:buNone/>
            </a:pPr>
            <a:r>
              <a:rPr b="1" i="0" lang="en-US" sz="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g3f5972311be_0_361"/>
          <p:cNvSpPr/>
          <p:nvPr/>
        </p:nvSpPr>
        <p:spPr>
          <a:xfrm>
            <a:off x="1762119" y="2602276"/>
            <a:ext cx="11244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created list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6" name="Google Shape;1286;g3f5972311be_0_361"/>
          <p:cNvCxnSpPr/>
          <p:nvPr/>
        </p:nvCxnSpPr>
        <p:spPr>
          <a:xfrm>
            <a:off x="2051888" y="2813252"/>
            <a:ext cx="129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7" name="Google Shape;1287;g3f5972311be_0_361"/>
          <p:cNvCxnSpPr/>
          <p:nvPr/>
        </p:nvCxnSpPr>
        <p:spPr>
          <a:xfrm>
            <a:off x="2449739" y="2813252"/>
            <a:ext cx="129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8" name="Google Shape;1288;g3f5972311be_0_361"/>
          <p:cNvCxnSpPr/>
          <p:nvPr/>
        </p:nvCxnSpPr>
        <p:spPr>
          <a:xfrm>
            <a:off x="2847590" y="2813252"/>
            <a:ext cx="129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9" name="Google Shape;1289;g3f5972311be_0_361"/>
          <p:cNvSpPr/>
          <p:nvPr/>
        </p:nvSpPr>
        <p:spPr>
          <a:xfrm>
            <a:off x="1801069" y="2735376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g3f5972311be_0_361"/>
          <p:cNvSpPr/>
          <p:nvPr/>
        </p:nvSpPr>
        <p:spPr>
          <a:xfrm>
            <a:off x="2198920" y="2735376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g3f5972311be_0_361"/>
          <p:cNvSpPr/>
          <p:nvPr/>
        </p:nvSpPr>
        <p:spPr>
          <a:xfrm>
            <a:off x="2596771" y="2735376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g3f5972311be_0_361"/>
          <p:cNvSpPr/>
          <p:nvPr/>
        </p:nvSpPr>
        <p:spPr>
          <a:xfrm>
            <a:off x="2994622" y="2735376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g3f5972311be_0_361"/>
          <p:cNvSpPr/>
          <p:nvPr/>
        </p:nvSpPr>
        <p:spPr>
          <a:xfrm>
            <a:off x="3383824" y="2765661"/>
            <a:ext cx="237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1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4" name="Google Shape;1294;g3f5972311be_0_361"/>
          <p:cNvCxnSpPr/>
          <p:nvPr/>
        </p:nvCxnSpPr>
        <p:spPr>
          <a:xfrm>
            <a:off x="1357949" y="2795404"/>
            <a:ext cx="376200" cy="7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5" name="Google Shape;1295;g3f5972311be_0_361"/>
          <p:cNvSpPr txBox="1"/>
          <p:nvPr>
            <p:ph idx="4294967295" type="sldNum"/>
          </p:nvPr>
        </p:nvSpPr>
        <p:spPr>
          <a:xfrm>
            <a:off x="5303431" y="2961824"/>
            <a:ext cx="3960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6" name="Google Shape;1296;g3f5972311be_0_361"/>
          <p:cNvCxnSpPr>
            <a:stCxn id="1292" idx="3"/>
            <a:endCxn id="1293" idx="1"/>
          </p:cNvCxnSpPr>
          <p:nvPr/>
        </p:nvCxnSpPr>
        <p:spPr>
          <a:xfrm flipH="1" rot="10800000">
            <a:off x="3245422" y="2813076"/>
            <a:ext cx="138300" cy="4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7" name="Google Shape;1297;g3f5972311be_0_361"/>
          <p:cNvSpPr txBox="1"/>
          <p:nvPr/>
        </p:nvSpPr>
        <p:spPr>
          <a:xfrm>
            <a:off x="4684650" y="1621375"/>
            <a:ext cx="89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900FF"/>
                </a:solidFill>
              </a:rPr>
              <a:t>main(){</a:t>
            </a:r>
            <a:br>
              <a:rPr b="1" lang="en-US" sz="600">
                <a:solidFill>
                  <a:srgbClr val="9900FF"/>
                </a:solidFill>
              </a:rPr>
            </a:br>
            <a:r>
              <a:rPr b="1" lang="en-US" sz="600">
                <a:solidFill>
                  <a:srgbClr val="9900FF"/>
                </a:solidFill>
              </a:rPr>
              <a:t>     ……</a:t>
            </a:r>
            <a:br>
              <a:rPr b="1" lang="en-US" sz="600">
                <a:solidFill>
                  <a:srgbClr val="9900FF"/>
                </a:solidFill>
              </a:rPr>
            </a:br>
            <a:r>
              <a:rPr b="1" lang="en-US" sz="600">
                <a:solidFill>
                  <a:srgbClr val="9900FF"/>
                </a:solidFill>
              </a:rPr>
              <a:t>     arr2LL(arr, 0)</a:t>
            </a:r>
            <a:br>
              <a:rPr b="1" lang="en-US" sz="600">
                <a:solidFill>
                  <a:srgbClr val="9900FF"/>
                </a:solidFill>
              </a:rPr>
            </a:br>
            <a:r>
              <a:rPr b="1" lang="en-US" sz="600">
                <a:solidFill>
                  <a:srgbClr val="9900FF"/>
                </a:solidFill>
              </a:rPr>
              <a:t>     ……</a:t>
            </a:r>
            <a:br>
              <a:rPr b="1" lang="en-US" sz="600">
                <a:solidFill>
                  <a:srgbClr val="9900FF"/>
                </a:solidFill>
              </a:rPr>
            </a:br>
            <a:r>
              <a:rPr b="1" lang="en-US" sz="600">
                <a:solidFill>
                  <a:srgbClr val="9900FF"/>
                </a:solidFill>
              </a:rPr>
              <a:t>}</a:t>
            </a:r>
            <a:endParaRPr b="1" sz="600">
              <a:solidFill>
                <a:srgbClr val="9900FF"/>
              </a:solidFill>
            </a:endParaRPr>
          </a:p>
        </p:txBody>
      </p:sp>
      <p:sp>
        <p:nvSpPr>
          <p:cNvPr id="1298" name="Google Shape;1298;g3f5972311be_0_361"/>
          <p:cNvSpPr/>
          <p:nvPr/>
        </p:nvSpPr>
        <p:spPr>
          <a:xfrm>
            <a:off x="3802865" y="2155925"/>
            <a:ext cx="8145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Call stack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g3f5972311be_0_361"/>
          <p:cNvSpPr/>
          <p:nvPr/>
        </p:nvSpPr>
        <p:spPr>
          <a:xfrm>
            <a:off x="3802875" y="2280900"/>
            <a:ext cx="16374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9900FF"/>
                </a:solidFill>
              </a:rPr>
              <a:t>arr2LL(arr, 0) </a:t>
            </a:r>
            <a:r>
              <a:rPr b="1" lang="en-US" sz="600">
                <a:solidFill>
                  <a:schemeClr val="hlink"/>
                </a:solidFill>
              </a:rPr>
              <a:t>(Call from main method)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g3f5972311be_0_361"/>
          <p:cNvSpPr/>
          <p:nvPr/>
        </p:nvSpPr>
        <p:spPr>
          <a:xfrm>
            <a:off x="3802875" y="2445302"/>
            <a:ext cx="16374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1F2937"/>
                </a:solidFill>
              </a:rPr>
              <a:t>10→</a:t>
            </a:r>
            <a:r>
              <a:rPr b="1" lang="en-US" sz="600">
                <a:solidFill>
                  <a:srgbClr val="9900FF"/>
                </a:solidFill>
              </a:rPr>
              <a:t>arr2LL(arr, 1)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g3f5972311be_0_361"/>
          <p:cNvSpPr/>
          <p:nvPr/>
        </p:nvSpPr>
        <p:spPr>
          <a:xfrm>
            <a:off x="3802875" y="2609704"/>
            <a:ext cx="16374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1F2937"/>
                </a:solidFill>
              </a:rPr>
              <a:t>2</a:t>
            </a:r>
            <a:r>
              <a:rPr b="1" lang="en-US" sz="600">
                <a:solidFill>
                  <a:srgbClr val="1F2937"/>
                </a:solidFill>
              </a:rPr>
              <a:t>0→</a:t>
            </a:r>
            <a:r>
              <a:rPr b="1" lang="en-US" sz="600">
                <a:solidFill>
                  <a:srgbClr val="9900FF"/>
                </a:solidFill>
              </a:rPr>
              <a:t>arr2LL(arr, 2)</a:t>
            </a:r>
            <a:endParaRPr b="1" sz="600">
              <a:solidFill>
                <a:srgbClr val="1F2937"/>
              </a:solidFill>
            </a:endParaRPr>
          </a:p>
        </p:txBody>
      </p:sp>
      <p:cxnSp>
        <p:nvCxnSpPr>
          <p:cNvPr id="1302" name="Google Shape;1302;g3f5972311be_0_361"/>
          <p:cNvCxnSpPr/>
          <p:nvPr/>
        </p:nvCxnSpPr>
        <p:spPr>
          <a:xfrm flipH="1">
            <a:off x="3670450" y="2293575"/>
            <a:ext cx="14400" cy="7170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3" name="Google Shape;1303;g3f5972311be_0_361"/>
          <p:cNvSpPr/>
          <p:nvPr/>
        </p:nvSpPr>
        <p:spPr>
          <a:xfrm>
            <a:off x="3802875" y="2790200"/>
            <a:ext cx="16374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1F2937"/>
                </a:solidFill>
              </a:rPr>
              <a:t>3</a:t>
            </a:r>
            <a:r>
              <a:rPr b="1" lang="en-US" sz="600">
                <a:solidFill>
                  <a:srgbClr val="1F2937"/>
                </a:solidFill>
              </a:rPr>
              <a:t>0→</a:t>
            </a:r>
            <a:r>
              <a:rPr b="1" lang="en-US" sz="600">
                <a:solidFill>
                  <a:srgbClr val="9900FF"/>
                </a:solidFill>
              </a:rPr>
              <a:t>arr2LL(arr, 3)</a:t>
            </a:r>
            <a:endParaRPr b="1" sz="600">
              <a:solidFill>
                <a:srgbClr val="1F2937"/>
              </a:solidFill>
            </a:endParaRPr>
          </a:p>
        </p:txBody>
      </p:sp>
      <p:sp>
        <p:nvSpPr>
          <p:cNvPr id="1304" name="Google Shape;1304;g3f5972311be_0_361"/>
          <p:cNvSpPr/>
          <p:nvPr/>
        </p:nvSpPr>
        <p:spPr>
          <a:xfrm>
            <a:off x="3802875" y="2997350"/>
            <a:ext cx="1637400" cy="14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500"/>
              <a:buFont typeface="Arial"/>
              <a:buNone/>
            </a:pPr>
            <a:r>
              <a:rPr b="1" lang="en-US" sz="600">
                <a:solidFill>
                  <a:srgbClr val="1F2937"/>
                </a:solidFill>
              </a:rPr>
              <a:t>4</a:t>
            </a:r>
            <a:r>
              <a:rPr b="1" lang="en-US" sz="600">
                <a:solidFill>
                  <a:srgbClr val="1F2937"/>
                </a:solidFill>
              </a:rPr>
              <a:t>0→</a:t>
            </a:r>
            <a:r>
              <a:rPr b="1" lang="en-US" sz="600">
                <a:solidFill>
                  <a:srgbClr val="9900FF"/>
                </a:solidFill>
              </a:rPr>
              <a:t>arr2LL(arr, 4) </a:t>
            </a:r>
            <a:r>
              <a:rPr b="1" lang="en-US" sz="600">
                <a:solidFill>
                  <a:schemeClr val="hlink"/>
                </a:solidFill>
              </a:rPr>
              <a:t>(Base case_returns Null)</a:t>
            </a:r>
            <a:r>
              <a:rPr b="1" lang="en-US" sz="600">
                <a:solidFill>
                  <a:srgbClr val="1F2937"/>
                </a:solidFill>
              </a:rPr>
              <a:t> </a:t>
            </a:r>
            <a:endParaRPr b="1" sz="6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3f6507c2e0b_4_4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1</a:t>
            </a:r>
            <a:r>
              <a:rPr b="1" lang="en-US" sz="1300">
                <a:solidFill>
                  <a:srgbClr val="172B4D"/>
                </a:solidFill>
              </a:rPr>
              <a:t>3</a:t>
            </a: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: Convert array to linked list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g3f6507c2e0b_4_4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2" name="Google Shape;1312;g3f6507c2e0b_4_4" title="ArrToL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50" y="346150"/>
            <a:ext cx="4324777" cy="288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f597dbd1dc_2_44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14: Find maximum in linked list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g3f597dbd1dc_2_44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Recursive version compares current node with maximum from the rest.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9" name="Google Shape;1319;g3f597dbd1dc_2_44" title="max_L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825" y="595675"/>
            <a:ext cx="4619025" cy="259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20" name="Google Shape;1320;g3f597dbd1dc_2_44"/>
          <p:cNvSpPr txBox="1"/>
          <p:nvPr/>
        </p:nvSpPr>
        <p:spPr>
          <a:xfrm>
            <a:off x="4729025" y="1490700"/>
            <a:ext cx="9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">
                <a:solidFill>
                  <a:srgbClr val="9900FF"/>
                </a:solidFill>
              </a:rPr>
              <a:t>main(){</a:t>
            </a:r>
            <a:br>
              <a:rPr b="1" lang="en-US" sz="600">
                <a:solidFill>
                  <a:srgbClr val="9900FF"/>
                </a:solidFill>
              </a:rPr>
            </a:br>
            <a:r>
              <a:rPr b="1" lang="en-US" sz="600">
                <a:solidFill>
                  <a:srgbClr val="9900FF"/>
                </a:solidFill>
              </a:rPr>
              <a:t>     ……</a:t>
            </a:r>
            <a:br>
              <a:rPr b="1" lang="en-US" sz="600">
                <a:solidFill>
                  <a:srgbClr val="9900FF"/>
                </a:solidFill>
              </a:rPr>
            </a:br>
            <a:r>
              <a:rPr b="1" lang="en-US" sz="600">
                <a:solidFill>
                  <a:srgbClr val="9900FF"/>
                </a:solidFill>
              </a:rPr>
              <a:t>    method(head)</a:t>
            </a:r>
            <a:br>
              <a:rPr b="1" lang="en-US" sz="600">
                <a:solidFill>
                  <a:srgbClr val="9900FF"/>
                </a:solidFill>
              </a:rPr>
            </a:br>
            <a:r>
              <a:rPr b="1" lang="en-US" sz="600">
                <a:solidFill>
                  <a:srgbClr val="9900FF"/>
                </a:solidFill>
              </a:rPr>
              <a:t>     ……</a:t>
            </a:r>
            <a:br>
              <a:rPr b="1" lang="en-US" sz="600">
                <a:solidFill>
                  <a:srgbClr val="9900FF"/>
                </a:solidFill>
              </a:rPr>
            </a:br>
            <a:r>
              <a:rPr b="1" lang="en-US" sz="600">
                <a:solidFill>
                  <a:srgbClr val="9900FF"/>
                </a:solidFill>
              </a:rPr>
              <a:t>}</a:t>
            </a:r>
            <a:endParaRPr b="1" sz="6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3f5972311be_0_444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14: Find maximum in linked list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g3f5972311be_0_444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Recursive version compares current node with maximum from the rest.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g3f5972311be_0_444"/>
          <p:cNvSpPr/>
          <p:nvPr/>
        </p:nvSpPr>
        <p:spPr>
          <a:xfrm>
            <a:off x="281090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Iterative Java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29" name="Google Shape;1329;g3f5972311be_0_444"/>
          <p:cNvSpPr/>
          <p:nvPr/>
        </p:nvSpPr>
        <p:spPr>
          <a:xfrm>
            <a:off x="281100" y="713875"/>
            <a:ext cx="2529900" cy="16443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Integer findMaxIterative(Node head)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(head == null) return null;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maxValue = head.elem;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Node current = head.next;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while (current != null)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if (current.elem &gt; maxValue)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maxValue = current.elem;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current = current.next;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maxValue;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0" name="Google Shape;1330;g3f5972311be_0_444"/>
          <p:cNvSpPr/>
          <p:nvPr/>
        </p:nvSpPr>
        <p:spPr>
          <a:xfrm>
            <a:off x="2949285" y="592726"/>
            <a:ext cx="2529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500"/>
              <a:buFont typeface="Arial"/>
              <a:buNone/>
            </a:pPr>
            <a:r>
              <a:rPr b="1" i="0" lang="en-US" sz="800" u="none" cap="none" strike="noStrike">
                <a:solidFill>
                  <a:srgbClr val="172B4D"/>
                </a:solidFill>
                <a:latin typeface="Trebuchet MS"/>
                <a:ea typeface="Trebuchet MS"/>
                <a:cs typeface="Trebuchet MS"/>
                <a:sym typeface="Trebuchet MS"/>
              </a:rPr>
              <a:t>Recursive Java</a:t>
            </a:r>
            <a:endParaRPr b="0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1" name="Google Shape;1331;g3f5972311be_0_444"/>
          <p:cNvSpPr/>
          <p:nvPr/>
        </p:nvSpPr>
        <p:spPr>
          <a:xfrm>
            <a:off x="2949275" y="713876"/>
            <a:ext cx="2529900" cy="1492800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625" lIns="43250" spcFirstLastPara="1" rIns="43250" wrap="square" tIns="21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public static int findMaxRec(Node temp)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(temp.next == null)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 temp.elem;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int maxRest = findMaxRec(temp.next);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if (maxRest &gt; temp.elem) {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return maxRest;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    return temp.elem;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"/>
              <a:buFont typeface="Verdana"/>
              <a:buNone/>
            </a:pPr>
            <a:r>
              <a:rPr b="0" i="0" lang="en-US" sz="7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2" name="Google Shape;1332;g3f5972311be_0_444"/>
          <p:cNvSpPr/>
          <p:nvPr/>
        </p:nvSpPr>
        <p:spPr>
          <a:xfrm>
            <a:off x="360155" y="2412056"/>
            <a:ext cx="11244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1" lang="en-US" sz="700">
                <a:solidFill>
                  <a:srgbClr val="5A6B85"/>
                </a:solidFill>
              </a:rPr>
              <a:t>E</a:t>
            </a:r>
            <a:r>
              <a:rPr b="1" i="0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xample list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3" name="Google Shape;1333;g3f5972311be_0_444"/>
          <p:cNvCxnSpPr/>
          <p:nvPr/>
        </p:nvCxnSpPr>
        <p:spPr>
          <a:xfrm>
            <a:off x="610974" y="2697603"/>
            <a:ext cx="129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4" name="Google Shape;1334;g3f5972311be_0_444"/>
          <p:cNvCxnSpPr/>
          <p:nvPr/>
        </p:nvCxnSpPr>
        <p:spPr>
          <a:xfrm>
            <a:off x="1008824" y="2697603"/>
            <a:ext cx="129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5" name="Google Shape;1335;g3f5972311be_0_444"/>
          <p:cNvCxnSpPr/>
          <p:nvPr/>
        </p:nvCxnSpPr>
        <p:spPr>
          <a:xfrm>
            <a:off x="1406675" y="2697603"/>
            <a:ext cx="129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6" name="Google Shape;1336;g3f5972311be_0_444"/>
          <p:cNvCxnSpPr/>
          <p:nvPr/>
        </p:nvCxnSpPr>
        <p:spPr>
          <a:xfrm>
            <a:off x="1804526" y="2697603"/>
            <a:ext cx="129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37" name="Google Shape;1337;g3f5972311be_0_444"/>
          <p:cNvSpPr/>
          <p:nvPr/>
        </p:nvSpPr>
        <p:spPr>
          <a:xfrm>
            <a:off x="360155" y="2619727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g3f5972311be_0_444"/>
          <p:cNvSpPr/>
          <p:nvPr/>
        </p:nvSpPr>
        <p:spPr>
          <a:xfrm>
            <a:off x="758005" y="2619727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g3f5972311be_0_444"/>
          <p:cNvSpPr/>
          <p:nvPr/>
        </p:nvSpPr>
        <p:spPr>
          <a:xfrm>
            <a:off x="1155856" y="2619727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g3f5972311be_0_444"/>
          <p:cNvSpPr/>
          <p:nvPr/>
        </p:nvSpPr>
        <p:spPr>
          <a:xfrm>
            <a:off x="1553707" y="2619727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g3f5972311be_0_444"/>
          <p:cNvSpPr/>
          <p:nvPr/>
        </p:nvSpPr>
        <p:spPr>
          <a:xfrm>
            <a:off x="1951558" y="2619727"/>
            <a:ext cx="250800" cy="1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500"/>
              <a:buFont typeface="Arial"/>
              <a:buNone/>
            </a:pPr>
            <a:r>
              <a:rPr b="1" i="0" lang="en-US" sz="7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g3f5972311be_0_444"/>
          <p:cNvSpPr/>
          <p:nvPr/>
        </p:nvSpPr>
        <p:spPr>
          <a:xfrm>
            <a:off x="2340760" y="2650012"/>
            <a:ext cx="237900" cy="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400"/>
              <a:buFont typeface="Arial"/>
              <a:buNone/>
            </a:pPr>
            <a:r>
              <a:rPr b="0" i="1" lang="en-US" sz="7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g3f5972311be_0_444"/>
          <p:cNvSpPr/>
          <p:nvPr/>
        </p:nvSpPr>
        <p:spPr>
          <a:xfrm>
            <a:off x="3048748" y="2249763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max(3) = 3 </a:t>
            </a:r>
            <a:r>
              <a:rPr b="1" i="0" lang="en-US" sz="700" u="none" cap="none" strike="noStrike">
                <a:solidFill>
                  <a:srgbClr val="0000FF"/>
                </a:solidFill>
              </a:rPr>
              <a:t>(Tail is the base case)</a:t>
            </a:r>
            <a:endParaRPr b="1" i="0" sz="700" u="none" cap="none" strike="noStrike">
              <a:solidFill>
                <a:srgbClr val="0000FF"/>
              </a:solidFill>
            </a:endParaRPr>
          </a:p>
        </p:txBody>
      </p:sp>
      <p:sp>
        <p:nvSpPr>
          <p:cNvPr id="1344" name="Google Shape;1344;g3f5972311be_0_444"/>
          <p:cNvSpPr/>
          <p:nvPr/>
        </p:nvSpPr>
        <p:spPr>
          <a:xfrm>
            <a:off x="3048748" y="2396863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max(25, 3) = 25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g3f5972311be_0_444"/>
          <p:cNvSpPr/>
          <p:nvPr/>
        </p:nvSpPr>
        <p:spPr>
          <a:xfrm>
            <a:off x="3048748" y="2543962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max(5, 25) = 25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g3f5972311be_0_444"/>
          <p:cNvSpPr/>
          <p:nvPr/>
        </p:nvSpPr>
        <p:spPr>
          <a:xfrm>
            <a:off x="3048748" y="2691062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00"/>
              <a:buFont typeface="Arial"/>
              <a:buNone/>
            </a:pPr>
            <a:r>
              <a:rPr b="0" i="0" lang="en-US" sz="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max(20, 25) = 25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g3f5972311be_0_444"/>
          <p:cNvSpPr/>
          <p:nvPr/>
        </p:nvSpPr>
        <p:spPr>
          <a:xfrm>
            <a:off x="3048748" y="2838162"/>
            <a:ext cx="20757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9F6E"/>
              </a:buClr>
              <a:buSzPts val="600"/>
              <a:buFont typeface="Arial"/>
              <a:buNone/>
            </a:pPr>
            <a:r>
              <a:rPr b="1" i="0" lang="en-US" sz="700" u="none" cap="none" strike="noStrike">
                <a:solidFill>
                  <a:srgbClr val="0E9F6E"/>
                </a:solidFill>
                <a:latin typeface="Arial"/>
                <a:ea typeface="Arial"/>
                <a:cs typeface="Arial"/>
                <a:sym typeface="Arial"/>
              </a:rPr>
              <a:t>max(10, 25) = 25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g3f5972311be_0_444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9" name="Google Shape;1349;g3f5972311be_0_444"/>
          <p:cNvCxnSpPr>
            <a:stCxn id="1341" idx="3"/>
            <a:endCxn id="1342" idx="1"/>
          </p:cNvCxnSpPr>
          <p:nvPr/>
        </p:nvCxnSpPr>
        <p:spPr>
          <a:xfrm flipH="1" rot="10800000">
            <a:off x="2202358" y="2697427"/>
            <a:ext cx="138300" cy="45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0E9F6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0" name="Google Shape;1350;g3f5972311be_0_444"/>
          <p:cNvCxnSpPr/>
          <p:nvPr/>
        </p:nvCxnSpPr>
        <p:spPr>
          <a:xfrm flipH="1">
            <a:off x="2933050" y="2315925"/>
            <a:ext cx="12600" cy="6834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_clean_educational_infographic_slide_with_three_v_1.png" id="1355" name="Google Shape;1355;g3f5972311be_0_471"/>
          <p:cNvPicPr preferRelativeResize="0"/>
          <p:nvPr/>
        </p:nvPicPr>
        <p:blipFill rotWithShape="1">
          <a:blip r:embed="rId3">
            <a:alphaModFix/>
          </a:blip>
          <a:srcRect b="0" l="0" r="656" t="0"/>
          <a:stretch/>
        </p:blipFill>
        <p:spPr>
          <a:xfrm>
            <a:off x="-35175" y="14658"/>
            <a:ext cx="5765800" cy="3230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_clean_educational_infographic_slide_with_three_v_1.png" id="1360" name="Google Shape;1360;g3f597dbd1dc_2_37"/>
          <p:cNvPicPr preferRelativeResize="0"/>
          <p:nvPr/>
        </p:nvPicPr>
        <p:blipFill rotWithShape="1">
          <a:blip r:embed="rId3">
            <a:alphaModFix/>
          </a:blip>
          <a:srcRect b="38417" l="58413" r="655" t="8329"/>
          <a:stretch/>
        </p:blipFill>
        <p:spPr>
          <a:xfrm>
            <a:off x="60575" y="873487"/>
            <a:ext cx="2858426" cy="2069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_clean_educational_infographic_slide_with_three_v_1.png" id="1361" name="Google Shape;1361;g3f597dbd1dc_2_37"/>
          <p:cNvPicPr preferRelativeResize="0"/>
          <p:nvPr/>
        </p:nvPicPr>
        <p:blipFill rotWithShape="1">
          <a:blip r:embed="rId3">
            <a:alphaModFix/>
          </a:blip>
          <a:srcRect b="0" l="58413" r="655" t="60873"/>
          <a:stretch/>
        </p:blipFill>
        <p:spPr>
          <a:xfrm>
            <a:off x="2973500" y="843900"/>
            <a:ext cx="2712252" cy="1442974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g3f597dbd1dc_2_37"/>
          <p:cNvSpPr/>
          <p:nvPr/>
        </p:nvSpPr>
        <p:spPr>
          <a:xfrm>
            <a:off x="237846" y="12114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14: Find maximum in linked list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g3f597dbd1dc_2_37"/>
          <p:cNvSpPr/>
          <p:nvPr/>
        </p:nvSpPr>
        <p:spPr>
          <a:xfrm>
            <a:off x="250819" y="38072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b="0" i="0" lang="en-US" sz="800" u="none" cap="none" strike="noStrike">
                <a:solidFill>
                  <a:srgbClr val="5A6B85"/>
                </a:solidFill>
                <a:latin typeface="Arial"/>
                <a:ea typeface="Arial"/>
                <a:cs typeface="Arial"/>
                <a:sym typeface="Arial"/>
              </a:rPr>
              <a:t>Recursive version compares current node with maximum from the rest.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36"/>
          <p:cNvSpPr txBox="1"/>
          <p:nvPr>
            <p:ph type="title"/>
          </p:nvPr>
        </p:nvSpPr>
        <p:spPr>
          <a:xfrm>
            <a:off x="230300" y="198775"/>
            <a:ext cx="53052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300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Example 15: Find the tallest person in a group of N &gt; 0 students</a:t>
            </a:r>
            <a:endParaRPr/>
          </a:p>
        </p:txBody>
      </p:sp>
      <p:pic>
        <p:nvPicPr>
          <p:cNvPr id="1369" name="Google Shape;136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25" y="1287012"/>
            <a:ext cx="2862500" cy="111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36"/>
          <p:cNvSpPr txBox="1"/>
          <p:nvPr/>
        </p:nvSpPr>
        <p:spPr>
          <a:xfrm>
            <a:off x="226637" y="716466"/>
            <a:ext cx="32562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876300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36"/>
          <p:cNvSpPr txBox="1"/>
          <p:nvPr/>
        </p:nvSpPr>
        <p:spPr>
          <a:xfrm>
            <a:off x="3834362" y="928275"/>
            <a:ext cx="1086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Recursive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2" name="Google Shape;137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7489" y="1287001"/>
            <a:ext cx="2845311" cy="10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36"/>
          <p:cNvSpPr txBox="1"/>
          <p:nvPr/>
        </p:nvSpPr>
        <p:spPr>
          <a:xfrm>
            <a:off x="130860" y="3109223"/>
            <a:ext cx="345440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Recursion</a:t>
            </a:r>
            <a:endParaRPr b="0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4" name="Google Shape;1374;p36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/44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3f5972311be_0_495"/>
          <p:cNvSpPr/>
          <p:nvPr/>
        </p:nvSpPr>
        <p:spPr>
          <a:xfrm>
            <a:off x="288196" y="232391"/>
            <a:ext cx="525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Arial"/>
                <a:ea typeface="Arial"/>
                <a:cs typeface="Arial"/>
                <a:sym typeface="Arial"/>
              </a:rPr>
              <a:t>Recursion checklist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g3f5972311be_0_495"/>
          <p:cNvSpPr/>
          <p:nvPr/>
        </p:nvSpPr>
        <p:spPr>
          <a:xfrm>
            <a:off x="288194" y="501579"/>
            <a:ext cx="5189400" cy="1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i="0" lang="en-US" sz="1000" u="none" cap="none" strike="noStrike">
                <a:solidFill>
                  <a:srgbClr val="5A6B85"/>
                </a:solidFill>
                <a:latin typeface="Trebuchet MS"/>
                <a:ea typeface="Trebuchet MS"/>
                <a:cs typeface="Trebuchet MS"/>
                <a:sym typeface="Trebuchet MS"/>
              </a:rPr>
              <a:t>Before writing recursive Java code, identify these three parts.</a:t>
            </a:r>
            <a:endParaRPr i="0" sz="1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82" name="Google Shape;1382;g3f5972311be_0_495"/>
          <p:cNvSpPr/>
          <p:nvPr/>
        </p:nvSpPr>
        <p:spPr>
          <a:xfrm>
            <a:off x="686575" y="775128"/>
            <a:ext cx="225600" cy="19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700"/>
              <a:buFont typeface="Arial"/>
              <a:buNone/>
            </a:pPr>
            <a:r>
              <a:rPr b="1" i="0" lang="en-US" sz="900" u="none" cap="none" strike="noStrike">
                <a:solidFill>
                  <a:srgbClr val="2F80ED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83" name="Google Shape;1383;g3f5972311be_0_495"/>
          <p:cNvSpPr/>
          <p:nvPr/>
        </p:nvSpPr>
        <p:spPr>
          <a:xfrm>
            <a:off x="1054411" y="766475"/>
            <a:ext cx="1471200" cy="1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900"/>
              <a:buFont typeface="Arial"/>
              <a:buNone/>
            </a:pPr>
            <a:r>
              <a:rPr b="1" i="0" lang="en-US" sz="1100" u="none" cap="none" strike="noStrike">
                <a:solidFill>
                  <a:srgbClr val="172B4D"/>
                </a:solidFill>
                <a:latin typeface="Trebuchet MS"/>
                <a:ea typeface="Trebuchet MS"/>
                <a:cs typeface="Trebuchet MS"/>
                <a:sym typeface="Trebuchet MS"/>
              </a:rPr>
              <a:t>Base case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84" name="Google Shape;1384;g3f5972311be_0_495"/>
          <p:cNvSpPr/>
          <p:nvPr/>
        </p:nvSpPr>
        <p:spPr>
          <a:xfrm>
            <a:off x="1054411" y="922228"/>
            <a:ext cx="41199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i="0" lang="en-US" sz="800" u="none" cap="none" strike="noStrike">
                <a:solidFill>
                  <a:srgbClr val="5A6B85"/>
                </a:solidFill>
                <a:latin typeface="Trebuchet MS"/>
                <a:ea typeface="Trebuchet MS"/>
                <a:cs typeface="Trebuchet MS"/>
                <a:sym typeface="Trebuchet MS"/>
              </a:rPr>
              <a:t>The stopping condition that prevents infinite calls.</a:t>
            </a:r>
            <a:endParaRPr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85" name="Google Shape;1385;g3f5972311be_0_495"/>
          <p:cNvSpPr/>
          <p:nvPr/>
        </p:nvSpPr>
        <p:spPr>
          <a:xfrm>
            <a:off x="671438" y="1170169"/>
            <a:ext cx="225600" cy="19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700"/>
              <a:buFont typeface="Arial"/>
              <a:buNone/>
            </a:pPr>
            <a:r>
              <a:rPr b="1" i="0" lang="en-US" sz="900" u="none" cap="none" strike="noStrike">
                <a:solidFill>
                  <a:srgbClr val="2F80ED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86" name="Google Shape;1386;g3f5972311be_0_495"/>
          <p:cNvSpPr/>
          <p:nvPr/>
        </p:nvSpPr>
        <p:spPr>
          <a:xfrm>
            <a:off x="1039274" y="1161516"/>
            <a:ext cx="1471200" cy="1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900"/>
              <a:buFont typeface="Arial"/>
              <a:buNone/>
            </a:pPr>
            <a:r>
              <a:rPr b="1" i="0" lang="en-US" sz="1100" u="none" cap="none" strike="noStrike">
                <a:solidFill>
                  <a:srgbClr val="172B4D"/>
                </a:solidFill>
                <a:latin typeface="Trebuchet MS"/>
                <a:ea typeface="Trebuchet MS"/>
                <a:cs typeface="Trebuchet MS"/>
                <a:sym typeface="Trebuchet MS"/>
              </a:rPr>
              <a:t>Recursive case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87" name="Google Shape;1387;g3f5972311be_0_495"/>
          <p:cNvSpPr/>
          <p:nvPr/>
        </p:nvSpPr>
        <p:spPr>
          <a:xfrm>
            <a:off x="1039274" y="1317269"/>
            <a:ext cx="41199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600"/>
              <a:buFont typeface="Arial"/>
              <a:buNone/>
            </a:pPr>
            <a:r>
              <a:rPr lang="en-US" sz="800">
                <a:solidFill>
                  <a:srgbClr val="5A6B85"/>
                </a:solidFill>
                <a:latin typeface="Trebuchet MS"/>
                <a:ea typeface="Trebuchet MS"/>
                <a:cs typeface="Trebuchet MS"/>
                <a:sym typeface="Trebuchet MS"/>
              </a:rPr>
              <a:t>The method calls itself using a smaller or simpler input.</a:t>
            </a:r>
            <a:endParaRPr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88" name="Google Shape;1388;g3f5972311be_0_495"/>
          <p:cNvSpPr/>
          <p:nvPr/>
        </p:nvSpPr>
        <p:spPr>
          <a:xfrm>
            <a:off x="671425" y="1508209"/>
            <a:ext cx="225600" cy="198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700"/>
              <a:buFont typeface="Arial"/>
              <a:buNone/>
            </a:pPr>
            <a:r>
              <a:rPr b="1" i="0" lang="en-US" sz="900" u="none" cap="none" strike="noStrike">
                <a:solidFill>
                  <a:srgbClr val="2F80ED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89" name="Google Shape;1389;g3f5972311be_0_495"/>
          <p:cNvSpPr/>
          <p:nvPr/>
        </p:nvSpPr>
        <p:spPr>
          <a:xfrm>
            <a:off x="1039261" y="1499556"/>
            <a:ext cx="1471200" cy="1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B4D"/>
              </a:buClr>
              <a:buSzPts val="900"/>
              <a:buFont typeface="Arial"/>
              <a:buNone/>
            </a:pPr>
            <a:r>
              <a:rPr b="1" i="0" lang="en-US" sz="1100" u="none" cap="none" strike="noStrike">
                <a:solidFill>
                  <a:srgbClr val="172B4D"/>
                </a:solidFill>
                <a:latin typeface="Trebuchet MS"/>
                <a:ea typeface="Trebuchet MS"/>
                <a:cs typeface="Trebuchet MS"/>
                <a:sym typeface="Trebuchet MS"/>
              </a:rPr>
              <a:t>Work order</a:t>
            </a:r>
            <a:endParaRPr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90" name="Google Shape;1390;g3f5972311be_0_495"/>
          <p:cNvSpPr/>
          <p:nvPr/>
        </p:nvSpPr>
        <p:spPr>
          <a:xfrm>
            <a:off x="1039250" y="1655289"/>
            <a:ext cx="4119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079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800"/>
              <a:buFont typeface="Trebuchet MS"/>
              <a:buChar char="●"/>
            </a:pPr>
            <a:r>
              <a:rPr lang="en-US" sz="800">
                <a:solidFill>
                  <a:srgbClr val="5A6B85"/>
                </a:solidFill>
                <a:latin typeface="Trebuchet MS"/>
                <a:ea typeface="Trebuchet MS"/>
                <a:cs typeface="Trebuchet MS"/>
                <a:sym typeface="Trebuchet MS"/>
              </a:rPr>
              <a:t>Perform the </a:t>
            </a:r>
            <a:r>
              <a:rPr lang="en-US" sz="800" u="sng">
                <a:solidFill>
                  <a:srgbClr val="5A6B85"/>
                </a:solidFill>
                <a:latin typeface="Trebuchet MS"/>
                <a:ea typeface="Trebuchet MS"/>
                <a:cs typeface="Trebuchet MS"/>
                <a:sym typeface="Trebuchet MS"/>
              </a:rPr>
              <a:t>work before</a:t>
            </a:r>
            <a:r>
              <a:rPr lang="en-US" sz="800">
                <a:solidFill>
                  <a:srgbClr val="5A6B85"/>
                </a:solidFill>
                <a:latin typeface="Trebuchet MS"/>
                <a:ea typeface="Trebuchet MS"/>
                <a:cs typeface="Trebuchet MS"/>
                <a:sym typeface="Trebuchet MS"/>
              </a:rPr>
              <a:t> the recursive call for </a:t>
            </a:r>
            <a:r>
              <a:rPr lang="en-US" sz="800" u="sng">
                <a:solidFill>
                  <a:srgbClr val="5A6B85"/>
                </a:solidFill>
                <a:latin typeface="Trebuchet MS"/>
                <a:ea typeface="Trebuchet MS"/>
                <a:cs typeface="Trebuchet MS"/>
                <a:sym typeface="Trebuchet MS"/>
              </a:rPr>
              <a:t>forward order.</a:t>
            </a:r>
            <a:endParaRPr sz="800" u="sng">
              <a:solidFill>
                <a:srgbClr val="5A6B8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079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85"/>
              </a:buClr>
              <a:buSzPts val="800"/>
              <a:buFont typeface="Trebuchet MS"/>
              <a:buChar char="●"/>
            </a:pPr>
            <a:r>
              <a:rPr lang="en-US" sz="800">
                <a:solidFill>
                  <a:srgbClr val="5A6B85"/>
                </a:solidFill>
                <a:latin typeface="Trebuchet MS"/>
                <a:ea typeface="Trebuchet MS"/>
                <a:cs typeface="Trebuchet MS"/>
                <a:sym typeface="Trebuchet MS"/>
              </a:rPr>
              <a:t>Perform the </a:t>
            </a:r>
            <a:r>
              <a:rPr lang="en-US" sz="800" u="sng">
                <a:solidFill>
                  <a:srgbClr val="5A6B85"/>
                </a:solidFill>
                <a:latin typeface="Trebuchet MS"/>
                <a:ea typeface="Trebuchet MS"/>
                <a:cs typeface="Trebuchet MS"/>
                <a:sym typeface="Trebuchet MS"/>
              </a:rPr>
              <a:t>work after</a:t>
            </a:r>
            <a:r>
              <a:rPr lang="en-US" sz="800">
                <a:solidFill>
                  <a:srgbClr val="5A6B85"/>
                </a:solidFill>
                <a:latin typeface="Trebuchet MS"/>
                <a:ea typeface="Trebuchet MS"/>
                <a:cs typeface="Trebuchet MS"/>
                <a:sym typeface="Trebuchet MS"/>
              </a:rPr>
              <a:t> the recursive call for </a:t>
            </a:r>
            <a:r>
              <a:rPr lang="en-US" sz="800" u="sng">
                <a:solidFill>
                  <a:srgbClr val="5A6B85"/>
                </a:solidFill>
                <a:latin typeface="Trebuchet MS"/>
                <a:ea typeface="Trebuchet MS"/>
                <a:cs typeface="Trebuchet MS"/>
                <a:sym typeface="Trebuchet MS"/>
              </a:rPr>
              <a:t>reverse order.</a:t>
            </a:r>
            <a:endParaRPr sz="800" u="sng">
              <a:solidFill>
                <a:srgbClr val="5A6B8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91" name="Google Shape;1391;g3f5972311be_0_495"/>
          <p:cNvSpPr txBox="1"/>
          <p:nvPr>
            <p:ph idx="4294967295" type="sldNum"/>
          </p:nvPr>
        </p:nvSpPr>
        <p:spPr>
          <a:xfrm>
            <a:off x="5297470" y="3093424"/>
            <a:ext cx="378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25" lIns="43250" spcFirstLastPara="1" rIns="43250" wrap="square" tIns="21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g3f5972311be_0_495"/>
          <p:cNvSpPr txBox="1"/>
          <p:nvPr/>
        </p:nvSpPr>
        <p:spPr>
          <a:xfrm>
            <a:off x="194925" y="2241275"/>
            <a:ext cx="5189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Note: For recursive methods that return a value, choose an </a:t>
            </a:r>
            <a:r>
              <a:rPr lang="en-US" sz="800" u="sng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appropriate base-case return value</a:t>
            </a:r>
            <a:r>
              <a:rPr lang="en-US" sz="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endParaRPr sz="8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07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Trebuchet MS"/>
              <a:buChar char="●"/>
            </a:pPr>
            <a:r>
              <a:rPr lang="en-US" sz="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0 for addition</a:t>
            </a:r>
            <a:endParaRPr sz="8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07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Trebuchet MS"/>
              <a:buChar char="●"/>
            </a:pPr>
            <a:r>
              <a:rPr lang="en-US" sz="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1 for multiplication</a:t>
            </a:r>
            <a:endParaRPr sz="8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07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Trebuchet MS"/>
              <a:buChar char="●"/>
            </a:pPr>
            <a:r>
              <a:rPr lang="en-US" sz="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null for the end of linked-list construction</a:t>
            </a:r>
            <a:endParaRPr sz="8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07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Trebuchet MS"/>
              <a:buChar char="●"/>
            </a:pPr>
            <a:r>
              <a:rPr lang="en-US" sz="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might return a value</a:t>
            </a:r>
            <a:endParaRPr sz="8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49"/>
          <p:cNvSpPr txBox="1"/>
          <p:nvPr/>
        </p:nvSpPr>
        <p:spPr>
          <a:xfrm>
            <a:off x="125374" y="1412875"/>
            <a:ext cx="53601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Brad Miller and David Ranum, Problem Solving with Algorithms and Data Structures, Release 3, 2013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98" name="Google Shape;1398;p49"/>
          <p:cNvSpPr txBox="1"/>
          <p:nvPr/>
        </p:nvSpPr>
        <p:spPr>
          <a:xfrm>
            <a:off x="130860" y="3104757"/>
            <a:ext cx="103505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Object Oriented Programming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99" name="Google Shape;1399;p49"/>
          <p:cNvSpPr txBox="1"/>
          <p:nvPr>
            <p:ph idx="12" type="sldNum"/>
          </p:nvPr>
        </p:nvSpPr>
        <p:spPr>
          <a:xfrm>
            <a:off x="5368163" y="3109223"/>
            <a:ext cx="254635" cy="11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0" name="Google Shape;1400;p49"/>
          <p:cNvSpPr txBox="1"/>
          <p:nvPr>
            <p:ph type="ctrTitle"/>
          </p:nvPr>
        </p:nvSpPr>
        <p:spPr>
          <a:xfrm>
            <a:off x="2250185" y="157733"/>
            <a:ext cx="1265428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65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2024-12-03T18:09:58Z</dcterms:created>
  <dc:creator>Fadi Al Machot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2024-12-03T00:00:00Z</vt:filetime>
  </property>
  <property fmtid="{D5CDD505-2E9C-101B-9397-08002B2CF9AE}" pid="5" name="Producer">
    <vt:lpwstr>Microsoft® PowerPoint® for Microsoft 365</vt:lpwstr>
  </property>
</Properties>
</file>