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</p:sldIdLst>
  <p:sldSz cy="3244850" cx="5765800"/>
  <p:notesSz cx="5765800" cy="3244850"/>
  <p:embeddedFontLst>
    <p:embeddedFont>
      <p:font typeface="Roboto"/>
      <p:regular r:id="rId88"/>
      <p:bold r:id="rId89"/>
      <p:italic r:id="rId90"/>
      <p:boldItalic r:id="rId91"/>
    </p:embeddedFont>
    <p:embeddedFont>
      <p:font typeface="Montserrat"/>
      <p:regular r:id="rId92"/>
      <p:bold r:id="rId93"/>
      <p:italic r:id="rId94"/>
      <p:boldItalic r:id="rId95"/>
    </p:embeddedFont>
    <p:embeddedFont>
      <p:font typeface="Tahoma"/>
      <p:regular r:id="rId96"/>
      <p:bold r:id="rId97"/>
    </p:embeddedFont>
    <p:embeddedFont>
      <p:font typeface="Book Antiqua"/>
      <p:regular r:id="rId98"/>
      <p:bold r:id="rId99"/>
      <p:italic r:id="rId100"/>
      <p:boldItalic r:id="rId101"/>
    </p:embeddedFont>
    <p:embeddedFont>
      <p:font typeface="Helvetica Neue"/>
      <p:regular r:id="rId102"/>
      <p:bold r:id="rId103"/>
      <p:italic r:id="rId104"/>
      <p:boldItalic r:id="rId10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125">
          <p15:clr>
            <a:srgbClr val="747775"/>
          </p15:clr>
        </p15:guide>
        <p15:guide id="4" orient="horz" pos="55">
          <p15:clr>
            <a:srgbClr val="747775"/>
          </p15:clr>
        </p15:guide>
      </p15:sldGuideLst>
    </p:ext>
    <p:ext uri="GoogleSlidesCustomDataVersion2">
      <go:slidesCustomData xmlns:go="http://customooxmlschemas.google.com/" r:id="rId106" roundtripDataSignature="AMtx7mhZaO6J3IwKry/OY0NStsN7YsFJ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E87AE0-88CD-48EB-A4B3-02B30C1389F9}">
  <a:tblStyle styleId="{77E87AE0-88CD-48EB-A4B3-02B30C1389F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  <p:guide pos="125" orient="horz"/>
        <p:guide pos="5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6" Type="http://customschemas.google.com/relationships/presentationmetadata" Target="metadata"/><Relationship Id="rId105" Type="http://schemas.openxmlformats.org/officeDocument/2006/relationships/font" Target="fonts/HelveticaNeue-boldItalic.fntdata"/><Relationship Id="rId104" Type="http://schemas.openxmlformats.org/officeDocument/2006/relationships/font" Target="fonts/HelveticaNeue-italic.fntdata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schemas.openxmlformats.org/officeDocument/2006/relationships/font" Target="fonts/HelveticaNeue-bold.fntdata"/><Relationship Id="rId102" Type="http://schemas.openxmlformats.org/officeDocument/2006/relationships/font" Target="fonts/HelveticaNeue-regular.fntdata"/><Relationship Id="rId101" Type="http://schemas.openxmlformats.org/officeDocument/2006/relationships/font" Target="fonts/BookAntiqua-boldItalic.fntdata"/><Relationship Id="rId100" Type="http://schemas.openxmlformats.org/officeDocument/2006/relationships/font" Target="fonts/BookAntiqua-italic.fnt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font" Target="fonts/Montserrat-boldItalic.fntdata"/><Relationship Id="rId94" Type="http://schemas.openxmlformats.org/officeDocument/2006/relationships/font" Target="fonts/Montserrat-italic.fntdata"/><Relationship Id="rId97" Type="http://schemas.openxmlformats.org/officeDocument/2006/relationships/font" Target="fonts/Tahoma-bold.fntdata"/><Relationship Id="rId96" Type="http://schemas.openxmlformats.org/officeDocument/2006/relationships/font" Target="fonts/Tahoma-regular.fntdata"/><Relationship Id="rId11" Type="http://schemas.openxmlformats.org/officeDocument/2006/relationships/slide" Target="slides/slide4.xml"/><Relationship Id="rId99" Type="http://schemas.openxmlformats.org/officeDocument/2006/relationships/font" Target="fonts/BookAntiqua-bold.fntdata"/><Relationship Id="rId10" Type="http://schemas.openxmlformats.org/officeDocument/2006/relationships/slide" Target="slides/slide3.xml"/><Relationship Id="rId98" Type="http://schemas.openxmlformats.org/officeDocument/2006/relationships/font" Target="fonts/BookAntiqua-regular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font" Target="fonts/Roboto-boldItalic.fntdata"/><Relationship Id="rId90" Type="http://schemas.openxmlformats.org/officeDocument/2006/relationships/font" Target="fonts/Roboto-italic.fntdata"/><Relationship Id="rId93" Type="http://schemas.openxmlformats.org/officeDocument/2006/relationships/font" Target="fonts/Montserrat-bold.fntdata"/><Relationship Id="rId92" Type="http://schemas.openxmlformats.org/officeDocument/2006/relationships/font" Target="fonts/Montserrat-regular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font" Target="fonts/Roboto-regular.fntdata"/><Relationship Id="rId87" Type="http://schemas.openxmlformats.org/officeDocument/2006/relationships/slide" Target="slides/slide80.xml"/><Relationship Id="rId89" Type="http://schemas.openxmlformats.org/officeDocument/2006/relationships/font" Target="fonts/Roboto-bold.fntdata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39bfcf57b_16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739bfcf57b_16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f31d0a28d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1f31d0a28d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69dc5bd35_1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g3f69dc5bd35_1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1c111e20d_10_1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e1c111e20d_10_1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1f31d0a28d_0_12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1f31d0a28d_0_12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1f31d0a28d_0_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1f31d0a28d_0_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f31d0a28d_0_14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1f31d0a28d_0_14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1f31d0a28d_0_11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31f31d0a28d_0_11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1f31d0a28d_0_1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1f31d0a28d_0_1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1f31d0a28d_0_3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g31f31d0a28d_0_3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1f31d0a28d_0_4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31f31d0a28d_0_4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69dc5bd35_0_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g3f69dc5bd35_0_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75ac673496_1_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g375ac673496_1_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1f31d0a28d_0_5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g31f31d0a28d_0_5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1f31d0a28d_0_6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g31f31d0a28d_0_6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1f31d0a28d_0_9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2" name="Google Shape;302;g31f31d0a28d_0_9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p1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p1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1f31d0a28d_0_15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g31f31d0a28d_0_15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p1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69dc5bd35_0_32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f69dc5bd35_0_32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1f334dfcb5_0_9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0" name="Google Shape;360;g31f334dfcb5_0_9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1f334dfcb5_0_10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g31f334dfcb5_0_10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1e85743bab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1" name="Google Shape;381;g31e85743bab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1e85743bab_0_7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g31e85743bab_0_7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1e85743bab_0_8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9" name="Google Shape;399;g31e85743bab_0_8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1f9a8d2d1e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g31f9a8d2d1e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1f334dfcb5_0_12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9" name="Google Shape;419;g31f334dfcb5_0_12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1f334dfcb5_0_13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0" name="Google Shape;430;g31f334dfcb5_0_13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a409b67ff5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0" name="Google Shape;440;g3a409b67ff5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1ce4799104_0_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1" name="Google Shape;451;g31ce4799104_0_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1ce4799104_0_1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8" name="Google Shape;458;g31ce4799104_0_1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7543f988ef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6" name="Google Shape;466;g37543f988ef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7543f988ef_0_1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6" name="Google Shape;476;g37543f988ef_0_1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7543f988ef_0_2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6" name="Google Shape;486;g37543f988ef_0_2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1c111e20d_10_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8" name="Google Shape;498;g3e1c111e20d_10_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1f334dfcb5_0_8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4" name="Google Shape;504;g31f334dfcb5_0_8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f69dc5bd35_0_98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g3f69dc5bd35_0_98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f69dc5bd35_0_98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f69dc5bd35_0_199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g3f69dc5bd35_0_199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3f69dc5bd35_0_199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f69dc5bd35_0_254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g3f69dc5bd35_0_254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g3f69dc5bd35_0_254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f69dc5bd35_0_171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8" name="Google Shape;708;g3f69dc5bd35_0_171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g3f69dc5bd35_0_171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f69dc5bd35_0_9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f69dc5bd35_0_9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f69dc5bd35_0_21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3" name="Google Shape;773;g3f69dc5bd35_0_21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g3f69dc5bd35_0_21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1d00b2da0a_0_2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2" name="Google Shape;842;g31d00b2da0a_0_2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1d00b2da0a_0_1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1" name="Google Shape;851;g31d00b2da0a_0_1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1dcf98ffb0_0_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1" name="Google Shape;861;g31dcf98ffb0_0_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1d00b2da0a_0_3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1" name="Google Shape;871;g31d00b2da0a_0_3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2" name="Google Shape;882;p1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212967500f_1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8" name="Google Shape;888;g3212967500f_1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1d00b2da0a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5" name="Google Shape;895;g31d00b2da0a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1d6baea2bf_0_1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3" name="Google Shape;903;g31d6baea2bf_0_1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2" name="Google Shape;912;p1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1f31d0a28d_0_18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0" name="Google Shape;920;g31f31d0a28d_0_18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1f334dfcb5_0_15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7" name="Google Shape;927;g31f334dfcb5_0_15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1f334dfcb5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5" name="Google Shape;935;g31f334dfcb5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1f334dfcb5_0_1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3" name="Google Shape;943;g31f334dfcb5_0_1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1f31d0a28d_0_18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2" name="Google Shape;952;g31f31d0a28d_0_18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1f334dfcb5_0_2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0" name="Google Shape;960;g31f334dfcb5_0_2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1f334dfcb5_0_3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8" name="Google Shape;968;g31f334dfcb5_0_3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1f31d0a28d_0_19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7" name="Google Shape;977;g31f31d0a28d_0_19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1f334dfcb5_0_4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5" name="Google Shape;985;g31f334dfcb5_0_4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31f334dfcb5_0_5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3" name="Google Shape;993;g31f334dfcb5_0_5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3739bfcf57b_16_1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2" name="Google Shape;1002;g3739bfcf57b_16_1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75ac673496_1_3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0" name="Google Shape;1010;g375ac673496_1_3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2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7" name="Google Shape;1017;p2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1f31d0a28d_0_16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9" name="Google Shape;1029;g31f31d0a28d_0_16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34bf21037f4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1" name="Google Shape;1041;g34bf21037f4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34bf21037f4_0_1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9" name="Google Shape;1049;g34bf21037f4_0_1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f6b4d27415_4_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7" name="Google Shape;1057;g3f6b4d27415_4_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212967500f_1_1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3" name="Google Shape;1063;g3212967500f_1_1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3f70fde3bf3_1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8" name="Google Shape;1068;g3f70fde3bf3_1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6"/>
          <p:cNvSpPr txBox="1"/>
          <p:nvPr>
            <p:ph type="title"/>
          </p:nvPr>
        </p:nvSpPr>
        <p:spPr>
          <a:xfrm>
            <a:off x="1707260" y="94233"/>
            <a:ext cx="2350135" cy="348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6"/>
          <p:cNvSpPr txBox="1"/>
          <p:nvPr>
            <p:ph idx="1" type="body"/>
          </p:nvPr>
        </p:nvSpPr>
        <p:spPr>
          <a:xfrm>
            <a:off x="207060" y="633222"/>
            <a:ext cx="5163820" cy="12471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6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6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6"/>
          <p:cNvSpPr txBox="1"/>
          <p:nvPr>
            <p:ph idx="12" type="sldNum"/>
          </p:nvPr>
        </p:nvSpPr>
        <p:spPr>
          <a:xfrm>
            <a:off x="5347970" y="3104757"/>
            <a:ext cx="24892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7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7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7"/>
          <p:cNvSpPr txBox="1"/>
          <p:nvPr>
            <p:ph idx="12" type="sldNum"/>
          </p:nvPr>
        </p:nvSpPr>
        <p:spPr>
          <a:xfrm>
            <a:off x="5347970" y="3104757"/>
            <a:ext cx="24892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8"/>
          <p:cNvSpPr txBox="1"/>
          <p:nvPr>
            <p:ph type="title"/>
          </p:nvPr>
        </p:nvSpPr>
        <p:spPr>
          <a:xfrm>
            <a:off x="1707260" y="94233"/>
            <a:ext cx="2350135" cy="348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8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8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8"/>
          <p:cNvSpPr txBox="1"/>
          <p:nvPr>
            <p:ph idx="12" type="sldNum"/>
          </p:nvPr>
        </p:nvSpPr>
        <p:spPr>
          <a:xfrm>
            <a:off x="5347970" y="3104757"/>
            <a:ext cx="24892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9"/>
          <p:cNvSpPr txBox="1"/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1" type="subTitle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9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9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idx="12" type="sldNum"/>
          </p:nvPr>
        </p:nvSpPr>
        <p:spPr>
          <a:xfrm>
            <a:off x="5347970" y="3104757"/>
            <a:ext cx="24892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0"/>
          <p:cNvSpPr txBox="1"/>
          <p:nvPr>
            <p:ph type="title"/>
          </p:nvPr>
        </p:nvSpPr>
        <p:spPr>
          <a:xfrm>
            <a:off x="1707260" y="94233"/>
            <a:ext cx="2350135" cy="348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" type="body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0"/>
          <p:cNvSpPr txBox="1"/>
          <p:nvPr>
            <p:ph idx="2" type="body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0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0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0"/>
          <p:cNvSpPr txBox="1"/>
          <p:nvPr>
            <p:ph idx="12" type="sldNum"/>
          </p:nvPr>
        </p:nvSpPr>
        <p:spPr>
          <a:xfrm>
            <a:off x="5347970" y="3104757"/>
            <a:ext cx="24892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1e85743bab_0_103"/>
          <p:cNvSpPr txBox="1"/>
          <p:nvPr>
            <p:ph idx="11" type="ftr"/>
          </p:nvPr>
        </p:nvSpPr>
        <p:spPr>
          <a:xfrm>
            <a:off x="1960372" y="3017710"/>
            <a:ext cx="18450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31e85743bab_0_103"/>
          <p:cNvSpPr txBox="1"/>
          <p:nvPr>
            <p:ph idx="10" type="dt"/>
          </p:nvPr>
        </p:nvSpPr>
        <p:spPr>
          <a:xfrm>
            <a:off x="288290" y="3017710"/>
            <a:ext cx="13260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g31e85743bab_0_103"/>
          <p:cNvSpPr txBox="1"/>
          <p:nvPr>
            <p:ph idx="12" type="sldNum"/>
          </p:nvPr>
        </p:nvSpPr>
        <p:spPr>
          <a:xfrm>
            <a:off x="5347970" y="3104757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/27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1e85743bab_0_97"/>
          <p:cNvSpPr txBox="1"/>
          <p:nvPr>
            <p:ph type="title"/>
          </p:nvPr>
        </p:nvSpPr>
        <p:spPr>
          <a:xfrm>
            <a:off x="1565275" y="162305"/>
            <a:ext cx="2635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1e85743bab_0_97"/>
          <p:cNvSpPr txBox="1"/>
          <p:nvPr>
            <p:ph idx="1" type="body"/>
          </p:nvPr>
        </p:nvSpPr>
        <p:spPr>
          <a:xfrm>
            <a:off x="171399" y="882066"/>
            <a:ext cx="2570400" cy="16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1e85743bab_0_97"/>
          <p:cNvSpPr txBox="1"/>
          <p:nvPr>
            <p:ph idx="11" type="ftr"/>
          </p:nvPr>
        </p:nvSpPr>
        <p:spPr>
          <a:xfrm>
            <a:off x="1960372" y="3017710"/>
            <a:ext cx="18450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1e85743bab_0_97"/>
          <p:cNvSpPr txBox="1"/>
          <p:nvPr>
            <p:ph idx="10" type="dt"/>
          </p:nvPr>
        </p:nvSpPr>
        <p:spPr>
          <a:xfrm>
            <a:off x="288290" y="3017710"/>
            <a:ext cx="13260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31e85743bab_0_97"/>
          <p:cNvSpPr txBox="1"/>
          <p:nvPr>
            <p:ph idx="12" type="sldNum"/>
          </p:nvPr>
        </p:nvSpPr>
        <p:spPr>
          <a:xfrm>
            <a:off x="5347970" y="3104757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/27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1e85743bab_0_107"/>
          <p:cNvSpPr txBox="1"/>
          <p:nvPr>
            <p:ph type="ctrTitle"/>
          </p:nvPr>
        </p:nvSpPr>
        <p:spPr>
          <a:xfrm>
            <a:off x="1829180" y="165353"/>
            <a:ext cx="1934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1e85743bab_0_107"/>
          <p:cNvSpPr txBox="1"/>
          <p:nvPr>
            <p:ph idx="1" type="subTitle"/>
          </p:nvPr>
        </p:nvSpPr>
        <p:spPr>
          <a:xfrm>
            <a:off x="864870" y="1817116"/>
            <a:ext cx="40362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g31e85743bab_0_107"/>
          <p:cNvSpPr txBox="1"/>
          <p:nvPr>
            <p:ph idx="11" type="ftr"/>
          </p:nvPr>
        </p:nvSpPr>
        <p:spPr>
          <a:xfrm>
            <a:off x="1960372" y="3017710"/>
            <a:ext cx="18450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1e85743bab_0_107"/>
          <p:cNvSpPr txBox="1"/>
          <p:nvPr>
            <p:ph idx="10" type="dt"/>
          </p:nvPr>
        </p:nvSpPr>
        <p:spPr>
          <a:xfrm>
            <a:off x="288290" y="3017710"/>
            <a:ext cx="13260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1e85743bab_0_107"/>
          <p:cNvSpPr txBox="1"/>
          <p:nvPr>
            <p:ph idx="12" type="sldNum"/>
          </p:nvPr>
        </p:nvSpPr>
        <p:spPr>
          <a:xfrm>
            <a:off x="5347970" y="3104757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/27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e85743bab_0_113"/>
          <p:cNvSpPr txBox="1"/>
          <p:nvPr>
            <p:ph type="title"/>
          </p:nvPr>
        </p:nvSpPr>
        <p:spPr>
          <a:xfrm>
            <a:off x="1565275" y="162305"/>
            <a:ext cx="2635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1e85743bab_0_113"/>
          <p:cNvSpPr txBox="1"/>
          <p:nvPr>
            <p:ph idx="11" type="ftr"/>
          </p:nvPr>
        </p:nvSpPr>
        <p:spPr>
          <a:xfrm>
            <a:off x="1960372" y="3017710"/>
            <a:ext cx="18450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31e85743bab_0_113"/>
          <p:cNvSpPr txBox="1"/>
          <p:nvPr>
            <p:ph idx="10" type="dt"/>
          </p:nvPr>
        </p:nvSpPr>
        <p:spPr>
          <a:xfrm>
            <a:off x="288290" y="3017710"/>
            <a:ext cx="13260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1e85743bab_0_113"/>
          <p:cNvSpPr txBox="1"/>
          <p:nvPr>
            <p:ph idx="12" type="sldNum"/>
          </p:nvPr>
        </p:nvSpPr>
        <p:spPr>
          <a:xfrm>
            <a:off x="5347970" y="3104757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/27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e85743bab_0_118"/>
          <p:cNvSpPr txBox="1"/>
          <p:nvPr>
            <p:ph type="title"/>
          </p:nvPr>
        </p:nvSpPr>
        <p:spPr>
          <a:xfrm>
            <a:off x="1565275" y="162305"/>
            <a:ext cx="2635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1e85743bab_0_118"/>
          <p:cNvSpPr txBox="1"/>
          <p:nvPr>
            <p:ph idx="1" type="body"/>
          </p:nvPr>
        </p:nvSpPr>
        <p:spPr>
          <a:xfrm>
            <a:off x="288290" y="746315"/>
            <a:ext cx="2508000" cy="21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1e85743bab_0_118"/>
          <p:cNvSpPr txBox="1"/>
          <p:nvPr>
            <p:ph idx="2" type="body"/>
          </p:nvPr>
        </p:nvSpPr>
        <p:spPr>
          <a:xfrm>
            <a:off x="2969387" y="746315"/>
            <a:ext cx="2508000" cy="21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31e85743bab_0_118"/>
          <p:cNvSpPr txBox="1"/>
          <p:nvPr>
            <p:ph idx="11" type="ftr"/>
          </p:nvPr>
        </p:nvSpPr>
        <p:spPr>
          <a:xfrm>
            <a:off x="1960372" y="3017710"/>
            <a:ext cx="18450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31e85743bab_0_118"/>
          <p:cNvSpPr txBox="1"/>
          <p:nvPr>
            <p:ph idx="10" type="dt"/>
          </p:nvPr>
        </p:nvSpPr>
        <p:spPr>
          <a:xfrm>
            <a:off x="288290" y="3017710"/>
            <a:ext cx="13260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g31e85743bab_0_118"/>
          <p:cNvSpPr txBox="1"/>
          <p:nvPr>
            <p:ph idx="12" type="sldNum"/>
          </p:nvPr>
        </p:nvSpPr>
        <p:spPr>
          <a:xfrm>
            <a:off x="5347970" y="3104757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/27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3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5760719" cy="71932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35"/>
          <p:cNvSpPr txBox="1"/>
          <p:nvPr>
            <p:ph type="title"/>
          </p:nvPr>
        </p:nvSpPr>
        <p:spPr>
          <a:xfrm>
            <a:off x="1707260" y="94233"/>
            <a:ext cx="2350135" cy="348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5"/>
          <p:cNvSpPr txBox="1"/>
          <p:nvPr>
            <p:ph idx="1" type="body"/>
          </p:nvPr>
        </p:nvSpPr>
        <p:spPr>
          <a:xfrm>
            <a:off x="207060" y="633222"/>
            <a:ext cx="5163820" cy="12471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5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5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5"/>
          <p:cNvSpPr txBox="1"/>
          <p:nvPr>
            <p:ph idx="12" type="sldNum"/>
          </p:nvPr>
        </p:nvSpPr>
        <p:spPr>
          <a:xfrm>
            <a:off x="5347970" y="3104757"/>
            <a:ext cx="24892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/24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g31e85743bab_0_9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5760719" cy="71932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g31e85743bab_0_90"/>
          <p:cNvSpPr txBox="1"/>
          <p:nvPr>
            <p:ph type="title"/>
          </p:nvPr>
        </p:nvSpPr>
        <p:spPr>
          <a:xfrm>
            <a:off x="1565275" y="162305"/>
            <a:ext cx="2635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g31e85743bab_0_90"/>
          <p:cNvSpPr txBox="1"/>
          <p:nvPr>
            <p:ph idx="1" type="body"/>
          </p:nvPr>
        </p:nvSpPr>
        <p:spPr>
          <a:xfrm>
            <a:off x="171399" y="882066"/>
            <a:ext cx="2570400" cy="16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g31e85743bab_0_90"/>
          <p:cNvSpPr txBox="1"/>
          <p:nvPr>
            <p:ph idx="11" type="ftr"/>
          </p:nvPr>
        </p:nvSpPr>
        <p:spPr>
          <a:xfrm>
            <a:off x="1960372" y="3017710"/>
            <a:ext cx="18450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g31e85743bab_0_90"/>
          <p:cNvSpPr txBox="1"/>
          <p:nvPr>
            <p:ph idx="10" type="dt"/>
          </p:nvPr>
        </p:nvSpPr>
        <p:spPr>
          <a:xfrm>
            <a:off x="288290" y="3017710"/>
            <a:ext cx="13260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g31e85743bab_0_90"/>
          <p:cNvSpPr txBox="1"/>
          <p:nvPr>
            <p:ph idx="12" type="sldNum"/>
          </p:nvPr>
        </p:nvSpPr>
        <p:spPr>
          <a:xfrm>
            <a:off x="5347970" y="3104757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/27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2"/>
    <p:sldLayoutId id="2147483657" r:id="rId3"/>
    <p:sldLayoutId id="2147483658" r:id="rId4"/>
    <p:sldLayoutId id="2147483659" r:id="rId5"/>
    <p:sldLayoutId id="2147483660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3.xm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3.xm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3.xml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3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3.xml"/><Relationship Id="rId4" Type="http://schemas.openxmlformats.org/officeDocument/2006/relationships/image" Target="../media/image7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3.xml"/><Relationship Id="rId4" Type="http://schemas.openxmlformats.org/officeDocument/2006/relationships/image" Target="../media/image7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3.xml"/><Relationship Id="rId4" Type="http://schemas.openxmlformats.org/officeDocument/2006/relationships/image" Target="../media/image7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slide" Target="/ppt/slides/slide3.xml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Relationship Id="rId4" Type="http://schemas.openxmlformats.org/officeDocument/2006/relationships/slide" Target="/ppt/slides/slide3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slide" Target="/ppt/slides/slide3.xml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slide" Target="/ppt/slides/slide3.xml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slide" Target="/ppt/slides/slide3.xml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slide" Target="/ppt/slides/slide3.xml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slide" Target="/ppt/slides/slide3.xml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slide" Target="/ppt/slides/slide3.xml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slide" Target="/ppt/slides/slide3.xml"/><Relationship Id="rId4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slide" Target="/ppt/slides/slide3.xml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slide" Target="/ppt/slides/slide3.xml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slide" Target="/ppt/slides/slide3.xml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slide" Target="/ppt/slides/slide3.xml"/><Relationship Id="rId4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jpg"/><Relationship Id="rId4" Type="http://schemas.openxmlformats.org/officeDocument/2006/relationships/slide" Target="/ppt/slides/slide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slide" Target="/ppt/slides/slide3.xml"/><Relationship Id="rId4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slide" Target="/ppt/slides/slide3.xml"/><Relationship Id="rId4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slide" Target="/ppt/slides/slide3.xml"/><Relationship Id="rId4" Type="http://schemas.openxmlformats.org/officeDocument/2006/relationships/image" Target="../media/image19.png"/><Relationship Id="rId5" Type="http://schemas.openxmlformats.org/officeDocument/2006/relationships/image" Target="../media/image33.png"/><Relationship Id="rId6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slide" Target="/ppt/slides/slide3.xml"/><Relationship Id="rId4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slide" Target="/ppt/slides/slide3.xml"/><Relationship Id="rId4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slide" Target="/ppt/slides/slide3.xml"/><Relationship Id="rId4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slide" Target="/ppt/slides/slide3.xml"/><Relationship Id="rId4" Type="http://schemas.openxmlformats.org/officeDocument/2006/relationships/image" Target="../media/image37.png"/><Relationship Id="rId5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slide" Target="/ppt/slides/slide3.xml"/><Relationship Id="rId4" Type="http://schemas.openxmlformats.org/officeDocument/2006/relationships/image" Target="../media/image20.png"/><Relationship Id="rId5" Type="http://schemas.openxmlformats.org/officeDocument/2006/relationships/image" Target="../media/image4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slide" Target="/ppt/slides/slide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hyperlink" Target="http://www.programiz.com/dsa/complete-binary-tree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hyperlink" Target="http://www.programiz.com/dsa/complete-binary-tree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://www.programiz.com/dsa/complete-binary-tree" TargetMode="External"/><Relationship Id="rId4" Type="http://schemas.openxmlformats.org/officeDocument/2006/relationships/image" Target="../media/image29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slide" Target="/ppt/slides/slide3.xml"/><Relationship Id="rId4" Type="http://schemas.openxmlformats.org/officeDocument/2006/relationships/image" Target="../media/image30.png"/><Relationship Id="rId5" Type="http://schemas.openxmlformats.org/officeDocument/2006/relationships/image" Target="../media/image3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slide" Target="/ppt/slides/slide3.xml"/><Relationship Id="rId4" Type="http://schemas.openxmlformats.org/officeDocument/2006/relationships/image" Target="../media/image7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slide" Target="/ppt/slides/slide3.xml"/><Relationship Id="rId4" Type="http://schemas.openxmlformats.org/officeDocument/2006/relationships/image" Target="../media/image7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slide" Target="/ppt/slides/slide3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slide" Target="/ppt/slides/slide3.xml"/><Relationship Id="rId4" Type="http://schemas.openxmlformats.org/officeDocument/2006/relationships/image" Target="../media/image3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slide" Target="/ppt/slides/slide3.xml"/><Relationship Id="rId4" Type="http://schemas.openxmlformats.org/officeDocument/2006/relationships/image" Target="../media/image39.png"/><Relationship Id="rId5" Type="http://schemas.openxmlformats.org/officeDocument/2006/relationships/image" Target="../media/image38.png"/><Relationship Id="rId6" Type="http://schemas.openxmlformats.org/officeDocument/2006/relationships/image" Target="../media/image4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slide" Target="/ppt/slides/slide3.xml"/><Relationship Id="rId4" Type="http://schemas.openxmlformats.org/officeDocument/2006/relationships/image" Target="../media/image61.png"/><Relationship Id="rId5" Type="http://schemas.openxmlformats.org/officeDocument/2006/relationships/image" Target="../media/image41.png"/><Relationship Id="rId6" Type="http://schemas.openxmlformats.org/officeDocument/2006/relationships/image" Target="../media/image5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slide" Target="/ppt/slides/slide3.xml"/><Relationship Id="rId6" Type="http://schemas.openxmlformats.org/officeDocument/2006/relationships/image" Target="../media/image47.png"/><Relationship Id="rId7" Type="http://schemas.openxmlformats.org/officeDocument/2006/relationships/image" Target="../media/image45.png"/><Relationship Id="rId8" Type="http://schemas.openxmlformats.org/officeDocument/2006/relationships/image" Target="../media/image6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slide" Target="/ppt/slides/slide3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www.geeksforgeeks.org/dsa/extended-binary-tree/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slide" Target="/ppt/slides/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6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8.png"/><Relationship Id="rId4" Type="http://schemas.openxmlformats.org/officeDocument/2006/relationships/image" Target="../media/image6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2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5.gif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3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3.jpg"/><Relationship Id="rId4" Type="http://schemas.openxmlformats.org/officeDocument/2006/relationships/image" Target="../media/image56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9.gif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7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4.png"/><Relationship Id="rId4" Type="http://schemas.openxmlformats.org/officeDocument/2006/relationships/image" Target="../media/image57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5.gif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7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63.png"/><Relationship Id="rId4" Type="http://schemas.openxmlformats.org/officeDocument/2006/relationships/image" Target="../media/image67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66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66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1.jpg"/><Relationship Id="rId4" Type="http://schemas.openxmlformats.org/officeDocument/2006/relationships/hyperlink" Target="http://www.geeksforgeeks.org/" TargetMode="Externa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1.jpg"/><Relationship Id="rId4" Type="http://schemas.openxmlformats.org/officeDocument/2006/relationships/hyperlink" Target="http://www.geeksforgeeks.org/" TargetMode="Externa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68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0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/>
          <p:nvPr/>
        </p:nvSpPr>
        <p:spPr>
          <a:xfrm>
            <a:off x="1435100" y="1263416"/>
            <a:ext cx="3124200" cy="359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75">
            <a:spAutoFit/>
          </a:bodyPr>
          <a:lstStyle/>
          <a:p>
            <a:pPr indent="1904" lvl="0" marL="373380" marR="372110" rtl="0" algn="ctr">
              <a:lnSpc>
                <a:spcPct val="1282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D4452"/>
                </a:solidFill>
                <a:latin typeface="Tahoma"/>
                <a:ea typeface="Tahoma"/>
                <a:cs typeface="Tahoma"/>
                <a:sym typeface="Tahoma"/>
              </a:rPr>
              <a:t>Trees &amp; Binary Trees</a:t>
            </a:r>
            <a:endParaRPr b="0" i="0" sz="2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 txBox="1"/>
          <p:nvPr/>
        </p:nvSpPr>
        <p:spPr>
          <a:xfrm>
            <a:off x="2476624" y="157725"/>
            <a:ext cx="1266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Overview</a:t>
            </a:r>
            <a:endParaRPr b="0" i="0" sz="1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125376" y="1251050"/>
            <a:ext cx="34455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750">
            <a:spAutoFit/>
          </a:bodyPr>
          <a:lstStyle/>
          <a:p>
            <a:pPr indent="-342265" lvl="0" marL="3549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400"/>
              <a:buFont typeface="Tahoma"/>
              <a:buAutoNum type="arabicPeriod"/>
            </a:pPr>
            <a:r>
              <a:rPr b="0" i="0" lang="en-US" sz="14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Trees Ch 10.4, 12.1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265" lvl="0" marL="354965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334669"/>
              </a:buClr>
              <a:buSzPts val="1400"/>
              <a:buFont typeface="Tahoma"/>
              <a:buAutoNum type="arabicPeriod"/>
            </a:pPr>
            <a:r>
              <a:rPr b="0" i="0" lang="en-US" sz="14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Representing rooted trees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265" lvl="0" marL="354965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>
                <a:srgbClr val="334669"/>
              </a:buClr>
              <a:buSzPts val="1400"/>
              <a:buFont typeface="Tahoma"/>
              <a:buAutoNum type="arabicPeriod"/>
            </a:pPr>
            <a:r>
              <a:rPr b="0" i="0" lang="en-US" sz="14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Binary trees Ch 12.2–3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 txBox="1"/>
          <p:nvPr>
            <p:ph type="title"/>
          </p:nvPr>
        </p:nvSpPr>
        <p:spPr>
          <a:xfrm>
            <a:off x="2121106" y="157725"/>
            <a:ext cx="1077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Graphs</a:t>
            </a:r>
            <a:endParaRPr/>
          </a:p>
        </p:txBody>
      </p:sp>
      <p:sp>
        <p:nvSpPr>
          <p:cNvPr id="92" name="Google Shape;92;p3"/>
          <p:cNvSpPr txBox="1"/>
          <p:nvPr/>
        </p:nvSpPr>
        <p:spPr>
          <a:xfrm>
            <a:off x="-90075" y="533925"/>
            <a:ext cx="3792300" cy="23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750">
            <a:spAutoFit/>
          </a:bodyPr>
          <a:lstStyle/>
          <a:p>
            <a:pPr indent="-146685" lvl="0" marL="26924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Graphs have vertices (nodes) connected by edges . 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Graph,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(</a:t>
            </a:r>
            <a:r>
              <a:rPr b="0" i="1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 , 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baseline="30000" i="0" lang="en-US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 graph,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30480" rtl="0" algn="l">
              <a:lnSpc>
                <a:spcPct val="86250"/>
              </a:lnSpc>
              <a:spcBef>
                <a:spcPts val="195"/>
              </a:spcBef>
              <a:spcAft>
                <a:spcPts val="0"/>
              </a:spcAft>
              <a:buClr>
                <a:srgbClr val="334669"/>
              </a:buClr>
              <a:buSzPts val="1600"/>
              <a:buFont typeface="Arial"/>
              <a:buChar char="○"/>
            </a:pPr>
            <a:r>
              <a:rPr b="0" baseline="3000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node = Vertex, </a:t>
            </a:r>
            <a:endParaRPr b="0" baseline="30000" i="0" sz="1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1" marL="914400" marR="30480" rtl="0" algn="l">
              <a:lnSpc>
                <a:spcPct val="86250"/>
              </a:lnSpc>
              <a:spcBef>
                <a:spcPts val="195"/>
              </a:spcBef>
              <a:spcAft>
                <a:spcPts val="0"/>
              </a:spcAft>
              <a:buClr>
                <a:srgbClr val="334669"/>
              </a:buClr>
              <a:buSzPts val="1600"/>
              <a:buFont typeface="Arial"/>
              <a:buChar char="○"/>
            </a:pPr>
            <a:r>
              <a:rPr b="0" baseline="30000" i="0" lang="en-US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nodes = vertices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30480" rtl="0" algn="l">
              <a:lnSpc>
                <a:spcPct val="86250"/>
              </a:lnSpc>
              <a:spcBef>
                <a:spcPts val="195"/>
              </a:spcBef>
              <a:spcAft>
                <a:spcPts val="0"/>
              </a:spcAft>
              <a:buClr>
                <a:srgbClr val="334669"/>
              </a:buClr>
              <a:buSzPts val="1600"/>
              <a:buFont typeface="Arial"/>
              <a:buChar char="○"/>
            </a:pPr>
            <a:r>
              <a:rPr b="0" baseline="30000" i="0" lang="en-US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connection/link between 2 nodes = 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135380" rtl="0" algn="l">
              <a:lnSpc>
                <a:spcPct val="108333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t/>
            </a:r>
            <a:endParaRPr b="0" baseline="3000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264576" y="2934100"/>
            <a:ext cx="50412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Cormen, Leiserson, Rivest, Stein. Introduction to Algorithms, 3rd edition, MIT Press, 2009</a:t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130860" y="3104757"/>
            <a:ext cx="837565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96" name="Google Shape;96;p3" title="graph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2000" y="800625"/>
            <a:ext cx="3792300" cy="127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2224661" y="157725"/>
            <a:ext cx="1374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Graphs</a:t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222800" y="1628107"/>
            <a:ext cx="31158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750">
            <a:spAutoFit/>
          </a:bodyPr>
          <a:lstStyle/>
          <a:p>
            <a:pPr indent="-146685" lvl="0" marL="2698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Directed graphs: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edges have direction (</a:t>
            </a:r>
            <a:r>
              <a:rPr b="0" i="0" lang="en-US" sz="105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one-way streets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b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0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7320" lvl="0" marL="270510" marR="0" rtl="0" algn="l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Undirected/Bi-directional graphs: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edges have no direction (</a:t>
            </a:r>
            <a:r>
              <a:rPr b="0" i="0" lang="en-US" sz="105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two-way streets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br>
              <a:rPr b="0" i="0" lang="en-US" sz="10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86995" lvl="0" marL="125095" marR="113538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334669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Image:</a:t>
            </a:r>
            <a:r>
              <a:rPr b="0" baseline="30000" i="0" lang="en-US" sz="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baseline="30000" i="0" sz="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264576" y="2934100"/>
            <a:ext cx="50274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Cormen, Leiserson, Rivest, Stein. Introduction to Algorithms, 3rd edition, MIT Press, 2009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130860" y="3104757"/>
            <a:ext cx="837565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3380575" y="1766925"/>
            <a:ext cx="22659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750">
            <a:spAutoFit/>
          </a:bodyPr>
          <a:lstStyle/>
          <a:p>
            <a:pPr indent="0" lvl="0" marL="122554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baseline="30000" i="0" lang="en-US" sz="1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 graph, </a:t>
            </a:r>
            <a:br>
              <a:rPr b="0" baseline="30000" i="0" lang="en-US" sz="1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baseline="30000" i="0" lang="en-US" sz="1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node = Vertex, </a:t>
            </a:r>
            <a:br>
              <a:rPr b="0" baseline="30000" i="0" lang="en-US" sz="1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baseline="30000" i="0" lang="en-US" sz="1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nodes = vertices</a:t>
            </a:r>
            <a:br>
              <a:rPr b="0" baseline="30000" i="0" lang="en-US" sz="1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baseline="30000" i="0" lang="en-US" sz="1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connection/lin</a:t>
            </a:r>
            <a:r>
              <a:rPr baseline="30000" lang="en-US" sz="1500">
                <a:latin typeface="Tahoma"/>
                <a:ea typeface="Tahoma"/>
                <a:cs typeface="Tahoma"/>
                <a:sym typeface="Tahoma"/>
              </a:rPr>
              <a:t>k</a:t>
            </a:r>
            <a:r>
              <a:rPr b="0" baseline="30000" i="0" lang="en-US" sz="1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between 2 nodes = edge</a:t>
            </a:r>
            <a:endParaRPr b="0" baseline="30000" i="0" sz="15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07" name="Google Shape;107;p4" title="graph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7100" y="500175"/>
            <a:ext cx="3570724" cy="11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2102100" y="154500"/>
            <a:ext cx="17832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Trees and forests</a:t>
            </a:r>
            <a:endParaRPr/>
          </a:p>
        </p:txBody>
      </p:sp>
      <p:sp>
        <p:nvSpPr>
          <p:cNvPr id="113" name="Google Shape;113;p5"/>
          <p:cNvSpPr txBox="1"/>
          <p:nvPr/>
        </p:nvSpPr>
        <p:spPr>
          <a:xfrm>
            <a:off x="130860" y="3104757"/>
            <a:ext cx="837565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256743" y="565480"/>
            <a:ext cx="521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40335" lvl="0" marL="1593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Trees are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graphs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with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special properties</a:t>
            </a:r>
            <a:endParaRPr b="1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0970" lvl="0" marL="160020" marR="0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Tree is a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non-linear data structure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allows us to</a:t>
            </a:r>
            <a:r>
              <a:rPr b="0" i="0" lang="en-US" sz="11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 organize, access and update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data efficiently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representing </a:t>
            </a:r>
            <a:r>
              <a:rPr b="1" i="0" lang="en-US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non-linear data in </a:t>
            </a:r>
            <a:r>
              <a:rPr b="1" i="0" lang="en-US" sz="11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 form of hierarchy.</a:t>
            </a:r>
            <a:endParaRPr b="1" i="0" sz="1100" u="sng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0970" lvl="0" marL="160020" marR="0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graph that contains a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cycle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is </a:t>
            </a:r>
            <a:r>
              <a:rPr b="0" i="0" lang="en-US" sz="11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never a tree (</a:t>
            </a:r>
            <a:r>
              <a:rPr b="0" i="0" lang="en-US" sz="1100" u="sng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Cycle will be covered later</a:t>
            </a:r>
            <a:r>
              <a:rPr b="0" i="0" lang="en-US" sz="11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1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5" name="Google Shape;115;p5" title="tre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9975" y="1440250"/>
            <a:ext cx="3050900" cy="13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/>
        </p:nvSpPr>
        <p:spPr>
          <a:xfrm>
            <a:off x="300800" y="2958775"/>
            <a:ext cx="40896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331425" y="2762850"/>
            <a:ext cx="47205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Image: https://sites.ualberta.ca/~rosanna/books/PDSA/chapter8/tree.html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39bfcf57b_16_0"/>
          <p:cNvSpPr txBox="1"/>
          <p:nvPr>
            <p:ph type="title"/>
          </p:nvPr>
        </p:nvSpPr>
        <p:spPr>
          <a:xfrm>
            <a:off x="2102100" y="154500"/>
            <a:ext cx="17832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Trees and forests</a:t>
            </a:r>
            <a:endParaRPr/>
          </a:p>
        </p:txBody>
      </p:sp>
      <p:sp>
        <p:nvSpPr>
          <p:cNvPr id="123" name="Google Shape;123;g3739bfcf57b_16_0"/>
          <p:cNvSpPr txBox="1"/>
          <p:nvPr/>
        </p:nvSpPr>
        <p:spPr>
          <a:xfrm>
            <a:off x="130860" y="3104757"/>
            <a:ext cx="837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4" name="Google Shape;124;g3739bfcf57b_16_0"/>
          <p:cNvSpPr txBox="1"/>
          <p:nvPr/>
        </p:nvSpPr>
        <p:spPr>
          <a:xfrm>
            <a:off x="256743" y="565480"/>
            <a:ext cx="5217900" cy="24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Applications of tree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305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Continuous Sorting with Trees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Using a Binary Search Tree (BST), new data can be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inserted in a sorted manner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without re-sorting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entire array.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Folder/File System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 tree structure represents folders (branches) and files (leaf nodes) in a system, with the desktop as the root.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Electrical Circuit Design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Trees model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electricity distribution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a central point to homes and industries.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Routing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Trees are used to determine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efficient routes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packets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computer networks.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f31d0a28d_0_0"/>
          <p:cNvSpPr txBox="1"/>
          <p:nvPr>
            <p:ph type="title"/>
          </p:nvPr>
        </p:nvSpPr>
        <p:spPr>
          <a:xfrm>
            <a:off x="1259028" y="170875"/>
            <a:ext cx="20859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Trees</a:t>
            </a:r>
            <a:endParaRPr/>
          </a:p>
        </p:txBody>
      </p:sp>
      <p:sp>
        <p:nvSpPr>
          <p:cNvPr id="130" name="Google Shape;130;g31f31d0a28d_0_0"/>
          <p:cNvSpPr txBox="1"/>
          <p:nvPr/>
        </p:nvSpPr>
        <p:spPr>
          <a:xfrm>
            <a:off x="130860" y="3104757"/>
            <a:ext cx="837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1" name="Google Shape;131;g31f31d0a28d_0_0"/>
          <p:cNvSpPr txBox="1"/>
          <p:nvPr/>
        </p:nvSpPr>
        <p:spPr>
          <a:xfrm>
            <a:off x="61550" y="581575"/>
            <a:ext cx="5553000" cy="25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1445" lvl="0" marL="16002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334669"/>
              </a:buClr>
              <a:buSzPts val="950"/>
              <a:buFont typeface="Tahoma"/>
              <a:buChar char="•"/>
            </a:pPr>
            <a:r>
              <a:rPr i="0" lang="en-US" sz="9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most general type of tree</a:t>
            </a:r>
            <a:br>
              <a:rPr i="0" lang="en-US" sz="9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i="0" lang="en-US" sz="9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9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0" lang="en-US" sz="9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is a free tree (or tree)</a:t>
            </a:r>
            <a:br>
              <a:rPr i="0" lang="en-US" sz="9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i="0" lang="en-US" sz="9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i="0" sz="9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1445" lvl="0" marL="16002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334669"/>
              </a:buClr>
              <a:buSzPts val="950"/>
              <a:buFont typeface="Tahoma"/>
              <a:buChar char="•"/>
            </a:pPr>
            <a:r>
              <a:rPr b="1" i="0" lang="en-US" sz="95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Properties of free trees/tree:</a:t>
            </a:r>
            <a:endParaRPr b="1" i="0" sz="95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7475" lvl="1" marL="32385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34669"/>
              </a:buClr>
              <a:buSzPts val="950"/>
              <a:buFont typeface="Arial"/>
              <a:buChar char="•"/>
            </a:pPr>
            <a:r>
              <a:rPr b="1" lang="en-US" sz="9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</a:t>
            </a:r>
            <a:r>
              <a:rPr b="1" i="0" lang="en-US" sz="9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nique path: </a:t>
            </a:r>
            <a:r>
              <a:rPr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Any two vertices in a free tree are connected by a </a:t>
            </a:r>
            <a:r>
              <a:rPr i="0" lang="en-US" sz="95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unique path</a:t>
            </a:r>
            <a:br>
              <a:rPr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7475" lvl="1" marL="3238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950"/>
              <a:buFont typeface="Arial"/>
              <a:buChar char="•"/>
            </a:pPr>
            <a:r>
              <a:rPr b="1" lang="en-US" sz="9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r>
              <a:rPr b="1" i="0" lang="en-US" sz="9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onnected (continuous and not disjoint):</a:t>
            </a:r>
            <a:r>
              <a:rPr i="0" lang="en-US" sz="9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i="0" sz="9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6525" lvl="2" marL="590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950"/>
              <a:buFont typeface="Arial"/>
              <a:buChar char="■"/>
            </a:pPr>
            <a:r>
              <a:rPr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If a </a:t>
            </a:r>
            <a:r>
              <a:rPr b="1"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single edge </a:t>
            </a:r>
            <a:r>
              <a:rPr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is removed from a free tree, it becomes </a:t>
            </a:r>
            <a:r>
              <a:rPr i="0" lang="en-US" sz="95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disconnected.</a:t>
            </a:r>
            <a:r>
              <a:rPr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6525" lvl="2" marL="590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950"/>
              <a:buFont typeface="Tahoma"/>
              <a:buChar char="■"/>
            </a:pPr>
            <a:r>
              <a:rPr i="0" lang="en-US" sz="95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Every single node </a:t>
            </a:r>
            <a:r>
              <a:rPr i="0" lang="en-US" sz="9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must be traversable starting from the </a:t>
            </a:r>
            <a:r>
              <a:rPr i="0" lang="en-US" sz="95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root node.</a:t>
            </a:r>
            <a:br>
              <a:rPr i="0" lang="en-US" sz="9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i="0" sz="9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7475" lvl="1" marL="3238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950"/>
              <a:buFont typeface="Arial"/>
              <a:buChar char="•"/>
            </a:pPr>
            <a:r>
              <a:rPr b="1" lang="en-US" sz="9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1" i="0" lang="en-US" sz="9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cyclic: </a:t>
            </a:r>
            <a:r>
              <a:rPr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If any </a:t>
            </a:r>
            <a:r>
              <a:rPr i="0" lang="en-US" sz="95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edge is added</a:t>
            </a:r>
            <a:r>
              <a:rPr i="0" lang="en-US" sz="9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to a free tree, it becomes a </a:t>
            </a:r>
            <a:r>
              <a:rPr i="0" lang="en-US" sz="95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graph with a cycle (no longer a tree). </a:t>
            </a:r>
            <a:endParaRPr i="0" sz="95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55575" lvl="2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950"/>
              <a:buFont typeface="Tahoma"/>
              <a:buChar char="■"/>
            </a:pPr>
            <a:r>
              <a:rPr i="0" lang="en-US" sz="9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there is a cycle in a graph, then no of edges &gt;= no of nodes</a:t>
            </a:r>
            <a:endParaRPr i="0" sz="9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55575" lvl="2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950"/>
              <a:buFont typeface="Arial"/>
              <a:buChar char="■"/>
            </a:pPr>
            <a:r>
              <a:rPr i="0" lang="en-US" sz="9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tree with </a:t>
            </a:r>
            <a:r>
              <a:rPr b="1" i="0" lang="en-US" sz="9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nodes</a:t>
            </a:r>
            <a:r>
              <a:rPr i="0" lang="en-US" sz="9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will have </a:t>
            </a:r>
            <a:r>
              <a:rPr b="1" i="0" lang="en-US" sz="9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or more edges</a:t>
            </a:r>
            <a:r>
              <a:rPr i="0" lang="en-US" sz="9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if it has cycles.</a:t>
            </a:r>
            <a:endParaRPr i="0" sz="9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55575" lvl="2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950"/>
              <a:buFont typeface="Tahoma"/>
              <a:buChar char="■"/>
            </a:pPr>
            <a:r>
              <a:rPr b="1" i="0" lang="en-US" sz="95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For a tree,  no of edges == no of nodes - 1.</a:t>
            </a:r>
            <a:endParaRPr b="1" i="0" sz="950" u="none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3048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5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               </a:t>
            </a:r>
            <a:endParaRPr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32" name="Google Shape;132;g31f31d0a28d_0_0" title="tree_sample.png"/>
          <p:cNvPicPr preferRelativeResize="0"/>
          <p:nvPr/>
        </p:nvPicPr>
        <p:blipFill rotWithShape="1">
          <a:blip r:embed="rId4">
            <a:alphaModFix/>
          </a:blip>
          <a:srcRect b="29339" l="0" r="0" t="0"/>
          <a:stretch/>
        </p:blipFill>
        <p:spPr>
          <a:xfrm>
            <a:off x="2058850" y="42850"/>
            <a:ext cx="3682449" cy="1353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69dc5bd35_1_0"/>
          <p:cNvSpPr txBox="1"/>
          <p:nvPr>
            <p:ph type="title"/>
          </p:nvPr>
        </p:nvSpPr>
        <p:spPr>
          <a:xfrm>
            <a:off x="2506128" y="152700"/>
            <a:ext cx="20859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Trees</a:t>
            </a:r>
            <a:endParaRPr/>
          </a:p>
        </p:txBody>
      </p:sp>
      <p:sp>
        <p:nvSpPr>
          <p:cNvPr id="138" name="Google Shape;138;g3f69dc5bd35_1_0"/>
          <p:cNvSpPr txBox="1"/>
          <p:nvPr/>
        </p:nvSpPr>
        <p:spPr>
          <a:xfrm>
            <a:off x="130860" y="3104757"/>
            <a:ext cx="837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9" name="Google Shape;139;g3f69dc5bd35_1_0"/>
          <p:cNvSpPr txBox="1"/>
          <p:nvPr/>
        </p:nvSpPr>
        <p:spPr>
          <a:xfrm>
            <a:off x="185100" y="1654425"/>
            <a:ext cx="5553000" cy="13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br>
              <a:rPr i="0" lang="en-US" sz="9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i="0" lang="en-US" sz="9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i="0" sz="9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1445" lvl="0" marL="16002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334669"/>
              </a:buClr>
              <a:buSzPts val="950"/>
              <a:buFont typeface="Tahoma"/>
              <a:buChar char="•"/>
            </a:pPr>
            <a:r>
              <a:rPr b="1" i="0" lang="en-US" sz="95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Properties of free trees/tree: (</a:t>
            </a:r>
            <a:r>
              <a:rPr b="1" i="0" lang="en-US" sz="950" u="sng" cap="none" strike="noStrike">
                <a:solidFill>
                  <a:srgbClr val="980000"/>
                </a:solidFill>
                <a:latin typeface="Tahoma"/>
                <a:ea typeface="Tahoma"/>
                <a:cs typeface="Tahoma"/>
                <a:sym typeface="Tahoma"/>
              </a:rPr>
              <a:t>Important</a:t>
            </a:r>
            <a:r>
              <a:rPr b="1" i="0" lang="en-US" sz="95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1" i="0" sz="95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8925" lvl="0" marL="457200" rtl="0" algn="l">
              <a:spcBef>
                <a:spcPts val="100"/>
              </a:spcBef>
              <a:spcAft>
                <a:spcPts val="0"/>
              </a:spcAft>
              <a:buClr>
                <a:srgbClr val="334669"/>
              </a:buClr>
              <a:buSzPts val="950"/>
              <a:buChar char="•"/>
            </a:pPr>
            <a:r>
              <a:rPr lang="en-US" sz="9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a tree with </a:t>
            </a:r>
            <a:r>
              <a:rPr b="1" lang="en-US" sz="9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nodes</a:t>
            </a:r>
            <a:r>
              <a:rPr lang="en-US" sz="9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the </a:t>
            </a:r>
            <a:r>
              <a:rPr b="1" lang="en-US" sz="95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number of edges</a:t>
            </a:r>
            <a:r>
              <a:rPr lang="en-US" sz="9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always </a:t>
            </a:r>
            <a:r>
              <a:rPr b="1" lang="en-US" sz="9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− 1</a:t>
            </a:r>
            <a:r>
              <a:rPr lang="en-US" sz="9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9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8925" lvl="1" marL="914400" rtl="0" algn="l">
              <a:spcBef>
                <a:spcPts val="100"/>
              </a:spcBef>
              <a:spcAft>
                <a:spcPts val="0"/>
              </a:spcAft>
              <a:buClr>
                <a:srgbClr val="334669"/>
              </a:buClr>
              <a:buSzPts val="950"/>
              <a:buChar char="•"/>
            </a:pPr>
            <a:r>
              <a:rPr b="1" lang="en-US" sz="9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More than n − 1 edges</a:t>
            </a:r>
            <a:r>
              <a:rPr lang="en-US" sz="9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→ creates at </a:t>
            </a:r>
            <a:r>
              <a:rPr b="1" lang="en-US" sz="95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least one</a:t>
            </a:r>
            <a:r>
              <a:rPr lang="en-US" sz="9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en-US" sz="9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cycle</a:t>
            </a:r>
            <a:r>
              <a:rPr lang="en-US" sz="9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9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8925" lvl="1" marL="914400" rtl="0" algn="l">
              <a:spcBef>
                <a:spcPts val="100"/>
              </a:spcBef>
              <a:spcAft>
                <a:spcPts val="0"/>
              </a:spcAft>
              <a:buClr>
                <a:srgbClr val="334669"/>
              </a:buClr>
              <a:buSzPts val="950"/>
              <a:buChar char="•"/>
            </a:pPr>
            <a:r>
              <a:rPr b="1" lang="en-US" sz="9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Fewer than n − 1 edges</a:t>
            </a:r>
            <a:r>
              <a:rPr lang="en-US" sz="9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→ the graph becomes </a:t>
            </a:r>
            <a:r>
              <a:rPr b="1" lang="en-US" sz="9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disconnected</a:t>
            </a:r>
            <a:r>
              <a:rPr lang="en-US" sz="9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9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3048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0" sz="9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40" name="Google Shape;140;g3f69dc5bd35_1_0" title="tree_sample.png"/>
          <p:cNvPicPr preferRelativeResize="0"/>
          <p:nvPr/>
        </p:nvPicPr>
        <p:blipFill rotWithShape="1">
          <a:blip r:embed="rId4">
            <a:alphaModFix/>
          </a:blip>
          <a:srcRect b="29339" l="0" r="0" t="0"/>
          <a:stretch/>
        </p:blipFill>
        <p:spPr>
          <a:xfrm>
            <a:off x="738975" y="484750"/>
            <a:ext cx="4386601" cy="161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1c111e20d_10_15"/>
          <p:cNvSpPr txBox="1"/>
          <p:nvPr>
            <p:ph type="title"/>
          </p:nvPr>
        </p:nvSpPr>
        <p:spPr>
          <a:xfrm>
            <a:off x="2466303" y="95700"/>
            <a:ext cx="20859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Trees</a:t>
            </a:r>
            <a:endParaRPr/>
          </a:p>
        </p:txBody>
      </p:sp>
      <p:sp>
        <p:nvSpPr>
          <p:cNvPr id="146" name="Google Shape;146;g3e1c111e20d_10_15"/>
          <p:cNvSpPr txBox="1"/>
          <p:nvPr/>
        </p:nvSpPr>
        <p:spPr>
          <a:xfrm>
            <a:off x="130860" y="3104757"/>
            <a:ext cx="837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47" name="Google Shape;147;g3e1c111e20d_10_15" title="tree_samp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000" y="370800"/>
            <a:ext cx="5187099" cy="269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1f31d0a28d_0_124"/>
          <p:cNvSpPr txBox="1"/>
          <p:nvPr>
            <p:ph type="title"/>
          </p:nvPr>
        </p:nvSpPr>
        <p:spPr>
          <a:xfrm>
            <a:off x="2448728" y="183850"/>
            <a:ext cx="20859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Forests</a:t>
            </a:r>
            <a:endParaRPr/>
          </a:p>
        </p:txBody>
      </p:sp>
      <p:sp>
        <p:nvSpPr>
          <p:cNvPr id="153" name="Google Shape;153;g31f31d0a28d_0_124"/>
          <p:cNvSpPr txBox="1"/>
          <p:nvPr/>
        </p:nvSpPr>
        <p:spPr>
          <a:xfrm>
            <a:off x="130860" y="3104757"/>
            <a:ext cx="837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4" name="Google Shape;154;g31f31d0a28d_0_124"/>
          <p:cNvSpPr txBox="1"/>
          <p:nvPr/>
        </p:nvSpPr>
        <p:spPr>
          <a:xfrm>
            <a:off x="243700" y="458950"/>
            <a:ext cx="53031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Forest: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Forest is a </a:t>
            </a:r>
            <a:r>
              <a:rPr b="1" i="0" lang="en-US" sz="12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disjoint</a:t>
            </a:r>
            <a:r>
              <a:rPr b="0" i="0" lang="en-US" sz="12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collection of trees </a:t>
            </a:r>
            <a:endParaRPr b="0" i="0" sz="12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○"/>
            </a:pPr>
            <a:r>
              <a:rPr b="0" i="0" lang="en-US" sz="12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component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of a forest is </a:t>
            </a:r>
            <a:r>
              <a:rPr b="0" i="0" lang="en-US" sz="12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tree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 1) undirected, 2) acyclic graph that is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3) </a:t>
            </a:r>
            <a:r>
              <a:rPr b="1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 connected (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disconnected</a:t>
            </a:r>
            <a:r>
              <a:rPr b="1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a forest 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55" name="Google Shape;155;g31f31d0a28d_0_1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600" y="1675700"/>
            <a:ext cx="1483200" cy="116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1f31d0a28d_0_124"/>
          <p:cNvSpPr txBox="1"/>
          <p:nvPr/>
        </p:nvSpPr>
        <p:spPr>
          <a:xfrm>
            <a:off x="2324525" y="1737313"/>
            <a:ext cx="33585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The graph on left looks like a two sub-graphs but it is a </a:t>
            </a:r>
            <a:r>
              <a:rPr b="0" i="0" lang="en-US" sz="1150" u="sng" cap="none" strike="noStrike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single disconnected graph</a:t>
            </a:r>
            <a:r>
              <a:rPr b="0" i="0" lang="en-US" sz="115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. </a:t>
            </a:r>
            <a:br>
              <a:rPr b="0" i="0" lang="en-US" sz="115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-US" sz="115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There are no cycles in the above graph. </a:t>
            </a:r>
            <a:br>
              <a:rPr b="0" i="0" lang="en-US" sz="115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br>
              <a:rPr b="0" i="0" lang="en-US" sz="115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-US" sz="115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Therefore it is a forest.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/>
          <p:nvPr>
            <p:ph type="title"/>
          </p:nvPr>
        </p:nvSpPr>
        <p:spPr>
          <a:xfrm>
            <a:off x="875750" y="94225"/>
            <a:ext cx="417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00">
            <a:spAutoFit/>
          </a:bodyPr>
          <a:lstStyle/>
          <a:p>
            <a:pPr indent="0" lvl="0" marL="44513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Trees,forests and graph identification</a:t>
            </a:r>
            <a:endParaRPr/>
          </a:p>
        </p:txBody>
      </p:sp>
      <p:pic>
        <p:nvPicPr>
          <p:cNvPr id="162" name="Google Shape;1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367" y="979420"/>
            <a:ext cx="469392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"/>
          <p:cNvSpPr txBox="1"/>
          <p:nvPr/>
        </p:nvSpPr>
        <p:spPr>
          <a:xfrm>
            <a:off x="130847" y="2717550"/>
            <a:ext cx="7449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Image: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baseline="3000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264576" y="2934100"/>
            <a:ext cx="51426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Cormen, Leiserson, Rivest, Stein. Introduction to Algorithms, 3rd edition, MIT Press, 2009</a:t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130860" y="3104757"/>
            <a:ext cx="837565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1f31d0a28d_0_8"/>
          <p:cNvSpPr txBox="1"/>
          <p:nvPr/>
        </p:nvSpPr>
        <p:spPr>
          <a:xfrm>
            <a:off x="130847" y="2692350"/>
            <a:ext cx="711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Image: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baseline="3000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2" name="Google Shape;172;g31f31d0a28d_0_8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1f31d0a28d_0_8"/>
          <p:cNvSpPr txBox="1"/>
          <p:nvPr/>
        </p:nvSpPr>
        <p:spPr>
          <a:xfrm>
            <a:off x="264577" y="2934100"/>
            <a:ext cx="53988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Cormen, Leiserson, Rivest, Stein. Introduction to Algorithms, 3rd edition, MIT Press, 2009</a:t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4" name="Google Shape;174;g31f31d0a28d_0_8"/>
          <p:cNvSpPr txBox="1"/>
          <p:nvPr/>
        </p:nvSpPr>
        <p:spPr>
          <a:xfrm>
            <a:off x="130860" y="3104757"/>
            <a:ext cx="837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75" name="Google Shape;175;g31f31d0a28d_0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585333"/>
            <a:ext cx="5460999" cy="150598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1f31d0a28d_0_8"/>
          <p:cNvSpPr txBox="1"/>
          <p:nvPr>
            <p:ph type="title"/>
          </p:nvPr>
        </p:nvSpPr>
        <p:spPr>
          <a:xfrm>
            <a:off x="875750" y="94225"/>
            <a:ext cx="417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00">
            <a:spAutoFit/>
          </a:bodyPr>
          <a:lstStyle/>
          <a:p>
            <a:pPr indent="0" lvl="0" marL="44513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Trees,forests and graph identification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f31d0a28d_0_148"/>
          <p:cNvSpPr txBox="1"/>
          <p:nvPr>
            <p:ph type="title"/>
          </p:nvPr>
        </p:nvSpPr>
        <p:spPr>
          <a:xfrm>
            <a:off x="1158597" y="297475"/>
            <a:ext cx="1693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Rooted tree</a:t>
            </a:r>
            <a:endParaRPr/>
          </a:p>
        </p:txBody>
      </p:sp>
      <p:sp>
        <p:nvSpPr>
          <p:cNvPr id="182" name="Google Shape;182;g31f31d0a28d_0_148"/>
          <p:cNvSpPr txBox="1"/>
          <p:nvPr/>
        </p:nvSpPr>
        <p:spPr>
          <a:xfrm>
            <a:off x="130860" y="3104757"/>
            <a:ext cx="837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3" name="Google Shape;183;g31f31d0a28d_0_148"/>
          <p:cNvSpPr txBox="1"/>
          <p:nvPr/>
        </p:nvSpPr>
        <p:spPr>
          <a:xfrm>
            <a:off x="209427" y="1382123"/>
            <a:ext cx="5171400" cy="13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b="0" i="0" lang="en-US" sz="12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free tree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in which </a:t>
            </a:r>
            <a:r>
              <a:rPr b="1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one node is specially marked as root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 rooted trees, we can talk about parent, child, sibling, subtrees, leaves, internal nodes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Depth and height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are defined for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rooted trees</a:t>
            </a:r>
            <a:endParaRPr b="1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4" name="Google Shape;184;g31f31d0a28d_0_148" title="image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0375" y="86788"/>
            <a:ext cx="1373725" cy="126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1f31d0a28d_0_148" title="tree.png"/>
          <p:cNvPicPr preferRelativeResize="0"/>
          <p:nvPr/>
        </p:nvPicPr>
        <p:blipFill rotWithShape="1">
          <a:blip r:embed="rId5">
            <a:alphaModFix/>
          </a:blip>
          <a:srcRect b="0" l="58607" r="0" t="0"/>
          <a:stretch/>
        </p:blipFill>
        <p:spPr>
          <a:xfrm>
            <a:off x="3933675" y="86800"/>
            <a:ext cx="1262775" cy="13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1f31d0a28d_0_148"/>
          <p:cNvSpPr txBox="1"/>
          <p:nvPr/>
        </p:nvSpPr>
        <p:spPr>
          <a:xfrm>
            <a:off x="331425" y="2762850"/>
            <a:ext cx="47205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Image: https://sites.ualberta.ca/~rosanna/books/PDSA/chapter8/tree.html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 txBox="1"/>
          <p:nvPr>
            <p:ph type="title"/>
          </p:nvPr>
        </p:nvSpPr>
        <p:spPr>
          <a:xfrm>
            <a:off x="1707260" y="94233"/>
            <a:ext cx="2350135" cy="348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46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Terminology</a:t>
            </a:r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257948" y="465525"/>
            <a:ext cx="51384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-145415" lvl="0" marL="158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Root node 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Node </a:t>
            </a:r>
            <a:r>
              <a:rPr b="0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without any parent,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the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topmost node.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we have access to the root node, we have access to the entire tree. 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(</a:t>
            </a:r>
            <a:r>
              <a:rPr b="0" i="0" lang="en-US" sz="11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similar to head of linked list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5415" lvl="0" marL="158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Leaf: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node without child / children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125374" y="2760295"/>
            <a:ext cx="5138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716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8415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5393563" y="3104757"/>
            <a:ext cx="18288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rPr>
              <a:t>6/21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0975" y="1441299"/>
            <a:ext cx="2009951" cy="148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7" title="tree.png"/>
          <p:cNvPicPr preferRelativeResize="0"/>
          <p:nvPr/>
        </p:nvPicPr>
        <p:blipFill rotWithShape="1">
          <a:blip r:embed="rId5">
            <a:alphaModFix/>
          </a:blip>
          <a:srcRect b="0" l="58607" r="0" t="0"/>
          <a:stretch/>
        </p:blipFill>
        <p:spPr>
          <a:xfrm>
            <a:off x="1192075" y="1441300"/>
            <a:ext cx="1410188" cy="14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1f31d0a28d_0_112"/>
          <p:cNvSpPr txBox="1"/>
          <p:nvPr>
            <p:ph type="title"/>
          </p:nvPr>
        </p:nvSpPr>
        <p:spPr>
          <a:xfrm>
            <a:off x="2341004" y="94225"/>
            <a:ext cx="1540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Terminology</a:t>
            </a:r>
            <a:endParaRPr/>
          </a:p>
        </p:txBody>
      </p:sp>
      <p:sp>
        <p:nvSpPr>
          <p:cNvPr id="203" name="Google Shape;203;g31f31d0a28d_0_112"/>
          <p:cNvSpPr txBox="1"/>
          <p:nvPr/>
        </p:nvSpPr>
        <p:spPr>
          <a:xfrm>
            <a:off x="257350" y="418600"/>
            <a:ext cx="2681700" cy="22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158115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Internal nodes: 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root node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non-leaf nodes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5415" lvl="0" marL="158115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has at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least one child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Nodes A is root, and 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B, C, and F are non-leaf nodes.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5415" lvl="0" marL="158115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Thus, A, B, C, F are internal nodes.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4" name="Google Shape;204;g31f31d0a28d_0_112"/>
          <p:cNvSpPr/>
          <p:nvPr/>
        </p:nvSpPr>
        <p:spPr>
          <a:xfrm>
            <a:off x="139445" y="2939033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1f31d0a28d_0_112"/>
          <p:cNvSpPr txBox="1"/>
          <p:nvPr/>
        </p:nvSpPr>
        <p:spPr>
          <a:xfrm>
            <a:off x="125374" y="2774316"/>
            <a:ext cx="51384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7780" marR="0" rtl="0" algn="l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6" name="Google Shape;206;g31f31d0a28d_0_112"/>
          <p:cNvSpPr txBox="1"/>
          <p:nvPr/>
        </p:nvSpPr>
        <p:spPr>
          <a:xfrm>
            <a:off x="5393182" y="3104757"/>
            <a:ext cx="183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rPr>
              <a:t>7/21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7" name="Google Shape;207;g31f31d0a28d_0_1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6125" y="643700"/>
            <a:ext cx="2790826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 txBox="1"/>
          <p:nvPr/>
        </p:nvSpPr>
        <p:spPr>
          <a:xfrm>
            <a:off x="124550" y="227675"/>
            <a:ext cx="55167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Subtree</a:t>
            </a:r>
            <a:r>
              <a:rPr b="0" i="0" lang="en-US" sz="11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tree that is the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child of a Node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 tree can be further divided into subtrees with respect to a particular node.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Here, node A has three subtrees that are shown on the right side.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139445" y="2939033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 txBox="1"/>
          <p:nvPr/>
        </p:nvSpPr>
        <p:spPr>
          <a:xfrm>
            <a:off x="125374" y="2774316"/>
            <a:ext cx="51384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716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7780" marR="0" rtl="0" algn="l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5393182" y="3104757"/>
            <a:ext cx="18288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rPr>
              <a:t>7/21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6" name="Google Shape;21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325" y="1100900"/>
            <a:ext cx="5400551" cy="1809474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8"/>
          <p:cNvSpPr txBox="1"/>
          <p:nvPr>
            <p:ph type="title"/>
          </p:nvPr>
        </p:nvSpPr>
        <p:spPr>
          <a:xfrm>
            <a:off x="2204929" y="73700"/>
            <a:ext cx="1540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Terminology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1f31d0a28d_0_19"/>
          <p:cNvSpPr txBox="1"/>
          <p:nvPr>
            <p:ph type="title"/>
          </p:nvPr>
        </p:nvSpPr>
        <p:spPr>
          <a:xfrm>
            <a:off x="1707260" y="94233"/>
            <a:ext cx="2350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46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Terminology</a:t>
            </a:r>
            <a:endParaRPr/>
          </a:p>
        </p:txBody>
      </p:sp>
      <p:sp>
        <p:nvSpPr>
          <p:cNvPr id="223" name="Google Shape;223;g31f31d0a28d_0_19"/>
          <p:cNvSpPr txBox="1"/>
          <p:nvPr/>
        </p:nvSpPr>
        <p:spPr>
          <a:xfrm>
            <a:off x="255173" y="368725"/>
            <a:ext cx="5138400" cy="19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158115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Parent-Child node: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is a parent of B and B is a child of A, if an edge points from A to B. 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Any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node can have </a:t>
            </a:r>
            <a:r>
              <a:rPr b="1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only one parent</a:t>
            </a:r>
            <a:br>
              <a:rPr b="1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i="0" sz="120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1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parent, children: B, C, D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 parent, child: E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 parent, children: F, G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 parent, child: H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4" name="Google Shape;224;g31f31d0a28d_0_19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1f31d0a28d_0_19"/>
          <p:cNvSpPr txBox="1"/>
          <p:nvPr/>
        </p:nvSpPr>
        <p:spPr>
          <a:xfrm>
            <a:off x="125374" y="2760295"/>
            <a:ext cx="51384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8415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6" name="Google Shape;226;g31f31d0a28d_0_19"/>
          <p:cNvSpPr txBox="1"/>
          <p:nvPr/>
        </p:nvSpPr>
        <p:spPr>
          <a:xfrm>
            <a:off x="5393563" y="3104757"/>
            <a:ext cx="183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rPr>
              <a:t>6/21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27" name="Google Shape;227;g31f31d0a28d_0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7175" y="1185850"/>
            <a:ext cx="2026600" cy="150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1f31d0a28d_0_32"/>
          <p:cNvSpPr txBox="1"/>
          <p:nvPr>
            <p:ph type="title"/>
          </p:nvPr>
        </p:nvSpPr>
        <p:spPr>
          <a:xfrm>
            <a:off x="1707260" y="94233"/>
            <a:ext cx="2350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46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Terminology</a:t>
            </a:r>
            <a:endParaRPr/>
          </a:p>
        </p:txBody>
      </p:sp>
      <p:sp>
        <p:nvSpPr>
          <p:cNvPr id="233" name="Google Shape;233;g31f31d0a28d_0_32"/>
          <p:cNvSpPr txBox="1"/>
          <p:nvPr/>
        </p:nvSpPr>
        <p:spPr>
          <a:xfrm>
            <a:off x="255173" y="150025"/>
            <a:ext cx="5138400" cy="15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1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i="0" sz="120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158115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Siblings: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Two nodes having the </a:t>
            </a:r>
            <a:r>
              <a:rPr b="1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same parent</a:t>
            </a:r>
            <a:endParaRPr b="1" i="0" sz="120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1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1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parent, Siblings: B, C, D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 parent,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Siblings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F, G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4" name="Google Shape;234;g31f31d0a28d_0_32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1f31d0a28d_0_32"/>
          <p:cNvSpPr txBox="1"/>
          <p:nvPr/>
        </p:nvSpPr>
        <p:spPr>
          <a:xfrm>
            <a:off x="125374" y="2760295"/>
            <a:ext cx="5138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716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8415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6" name="Google Shape;236;g31f31d0a28d_0_32"/>
          <p:cNvSpPr txBox="1"/>
          <p:nvPr/>
        </p:nvSpPr>
        <p:spPr>
          <a:xfrm>
            <a:off x="5393563" y="3104757"/>
            <a:ext cx="183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rPr>
              <a:t>6/21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37" name="Google Shape;237;g31f31d0a28d_0_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9875" y="1082275"/>
            <a:ext cx="2553698" cy="189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1f31d0a28d_0_41"/>
          <p:cNvSpPr txBox="1"/>
          <p:nvPr>
            <p:ph type="title"/>
          </p:nvPr>
        </p:nvSpPr>
        <p:spPr>
          <a:xfrm>
            <a:off x="1707260" y="94233"/>
            <a:ext cx="2350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46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Terminology</a:t>
            </a:r>
            <a:endParaRPr/>
          </a:p>
        </p:txBody>
      </p:sp>
      <p:sp>
        <p:nvSpPr>
          <p:cNvPr id="243" name="Google Shape;243;g31f31d0a28d_0_41"/>
          <p:cNvSpPr txBox="1"/>
          <p:nvPr/>
        </p:nvSpPr>
        <p:spPr>
          <a:xfrm>
            <a:off x="255173" y="150025"/>
            <a:ext cx="5138400" cy="29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i="0" sz="120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link between </a:t>
            </a: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two nodes.</a:t>
            </a:r>
            <a:b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</a:t>
            </a:r>
            <a: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a tree has </a:t>
            </a:r>
            <a:r>
              <a:rPr b="1" i="0" lang="en-US" sz="11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number of nodes</a:t>
            </a:r>
            <a: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it will have </a:t>
            </a:r>
            <a:r>
              <a:rPr b="1" i="0" lang="en-US" sz="11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(n-1) number of edges</a:t>
            </a:r>
            <a: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b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Here, we have </a:t>
            </a:r>
            <a:r>
              <a:rPr i="0" lang="en-US" sz="11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 nodes</a:t>
            </a:r>
            <a: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and </a:t>
            </a:r>
            <a:r>
              <a:rPr i="0" lang="en-US" sz="11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 edges</a:t>
            </a:r>
            <a: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in total.</a:t>
            </a:r>
            <a:b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</a:t>
            </a:r>
            <a:r>
              <a:rPr b="1" lang="en-US" sz="110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For a tree,  no of edges == no of nodes - 1.</a:t>
            </a:r>
            <a:endParaRPr b="1" sz="1100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b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a tree with n nodes, the number of edges is always n − 1.</a:t>
            </a:r>
            <a:endParaRPr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9225" lvl="0" marL="4572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More than n − 1 edges → creates </a:t>
            </a:r>
            <a:r>
              <a:rPr b="1"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at least one</a:t>
            </a: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cycle.</a:t>
            </a:r>
            <a:endParaRPr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92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Fewer than n − 1 edges → the graph becomes disconnected.</a:t>
            </a:r>
            <a:endParaRPr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85725" lvl="0" marL="28575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b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</a:t>
            </a:r>
            <a:endParaRPr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4" name="Google Shape;244;g31f31d0a28d_0_41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1f31d0a28d_0_41"/>
          <p:cNvSpPr txBox="1"/>
          <p:nvPr/>
        </p:nvSpPr>
        <p:spPr>
          <a:xfrm>
            <a:off x="125374" y="2760295"/>
            <a:ext cx="5138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716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8415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6" name="Google Shape;246;g31f31d0a28d_0_41"/>
          <p:cNvSpPr txBox="1"/>
          <p:nvPr/>
        </p:nvSpPr>
        <p:spPr>
          <a:xfrm>
            <a:off x="5393563" y="3104757"/>
            <a:ext cx="183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rPr>
              <a:t>6/21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47" name="Google Shape;247;g31f31d0a28d_0_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6150" y="1028650"/>
            <a:ext cx="1587275" cy="1175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69dc5bd35_0_1"/>
          <p:cNvSpPr txBox="1"/>
          <p:nvPr>
            <p:ph type="title"/>
          </p:nvPr>
        </p:nvSpPr>
        <p:spPr>
          <a:xfrm>
            <a:off x="1707260" y="94233"/>
            <a:ext cx="2350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46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Terminology</a:t>
            </a:r>
            <a:endParaRPr/>
          </a:p>
        </p:txBody>
      </p:sp>
      <p:sp>
        <p:nvSpPr>
          <p:cNvPr id="253" name="Google Shape;253;g3f69dc5bd35_0_1"/>
          <p:cNvSpPr txBox="1"/>
          <p:nvPr/>
        </p:nvSpPr>
        <p:spPr>
          <a:xfrm>
            <a:off x="255173" y="150025"/>
            <a:ext cx="5138400" cy="12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1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Consecutive edges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the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 node to the destination node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Question: Path from node A to E? 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4" name="Google Shape;254;g3f69dc5bd35_0_1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f69dc5bd35_0_1"/>
          <p:cNvSpPr txBox="1"/>
          <p:nvPr/>
        </p:nvSpPr>
        <p:spPr>
          <a:xfrm>
            <a:off x="125374" y="2760295"/>
            <a:ext cx="5138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716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8415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6" name="Google Shape;256;g3f69dc5bd35_0_1"/>
          <p:cNvSpPr txBox="1"/>
          <p:nvPr/>
        </p:nvSpPr>
        <p:spPr>
          <a:xfrm>
            <a:off x="5393563" y="3104757"/>
            <a:ext cx="183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rPr>
              <a:t>6/21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57" name="Google Shape;257;g3f69dc5bd35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2900" y="1242350"/>
            <a:ext cx="2167476" cy="16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75ac673496_1_2"/>
          <p:cNvSpPr txBox="1"/>
          <p:nvPr>
            <p:ph type="title"/>
          </p:nvPr>
        </p:nvSpPr>
        <p:spPr>
          <a:xfrm>
            <a:off x="1707260" y="94233"/>
            <a:ext cx="2350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46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Terminology</a:t>
            </a:r>
            <a:endParaRPr/>
          </a:p>
        </p:txBody>
      </p:sp>
      <p:sp>
        <p:nvSpPr>
          <p:cNvPr id="263" name="Google Shape;263;g375ac673496_1_2"/>
          <p:cNvSpPr txBox="1"/>
          <p:nvPr/>
        </p:nvSpPr>
        <p:spPr>
          <a:xfrm>
            <a:off x="255173" y="78100"/>
            <a:ext cx="51384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1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Consecutive edges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the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 node to the destination node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Question: Path from node A to E? 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A→B→E. 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4" name="Google Shape;264;g375ac673496_1_2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75ac673496_1_2"/>
          <p:cNvSpPr txBox="1"/>
          <p:nvPr/>
        </p:nvSpPr>
        <p:spPr>
          <a:xfrm>
            <a:off x="125374" y="2760295"/>
            <a:ext cx="5138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716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8415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6" name="Google Shape;266;g375ac673496_1_2"/>
          <p:cNvSpPr txBox="1"/>
          <p:nvPr/>
        </p:nvSpPr>
        <p:spPr>
          <a:xfrm>
            <a:off x="5393563" y="3104757"/>
            <a:ext cx="183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rPr>
              <a:t>6/21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67" name="Google Shape;267;g375ac673496_1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6325" y="1159900"/>
            <a:ext cx="2137451" cy="1583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1f31d0a28d_0_50"/>
          <p:cNvSpPr txBox="1"/>
          <p:nvPr>
            <p:ph type="title"/>
          </p:nvPr>
        </p:nvSpPr>
        <p:spPr>
          <a:xfrm>
            <a:off x="1707260" y="94233"/>
            <a:ext cx="2350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46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Terminology</a:t>
            </a:r>
            <a:endParaRPr/>
          </a:p>
        </p:txBody>
      </p:sp>
      <p:sp>
        <p:nvSpPr>
          <p:cNvPr id="273" name="Google Shape;273;g31f31d0a28d_0_50"/>
          <p:cNvSpPr txBox="1"/>
          <p:nvPr/>
        </p:nvSpPr>
        <p:spPr>
          <a:xfrm>
            <a:off x="255173" y="150025"/>
            <a:ext cx="5138400" cy="30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i="0" sz="120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158115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Degree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total number of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children of a node 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5415" lvl="0" marL="158115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degree of node A is 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5415" lvl="0" marL="158115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degree of node B is 1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5415" lvl="0" marL="158115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degree of node E is 0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degree of node C is 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degree of node F is 1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degree of node H is 0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degree of node G is 0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degree of node D is 0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1f31d0a28d_0_50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1f31d0a28d_0_50"/>
          <p:cNvSpPr txBox="1"/>
          <p:nvPr/>
        </p:nvSpPr>
        <p:spPr>
          <a:xfrm>
            <a:off x="125374" y="2760295"/>
            <a:ext cx="5138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716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8415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6" name="Google Shape;276;g31f31d0a28d_0_50"/>
          <p:cNvSpPr txBox="1"/>
          <p:nvPr/>
        </p:nvSpPr>
        <p:spPr>
          <a:xfrm>
            <a:off x="5393563" y="3104757"/>
            <a:ext cx="183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rPr>
              <a:t>6/21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7" name="Google Shape;277;g31f31d0a28d_0_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7000" y="1070225"/>
            <a:ext cx="1877100" cy="139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8100" y="410350"/>
            <a:ext cx="2877525" cy="25499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9"/>
          <p:cNvSpPr txBox="1"/>
          <p:nvPr>
            <p:ph type="title"/>
          </p:nvPr>
        </p:nvSpPr>
        <p:spPr>
          <a:xfrm>
            <a:off x="1879100" y="111300"/>
            <a:ext cx="3460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Depth/Level of a tree </a:t>
            </a:r>
            <a:r>
              <a:rPr b="1" lang="en-US">
                <a:solidFill>
                  <a:srgbClr val="0000FF"/>
                </a:solidFill>
              </a:rPr>
              <a:t>(Important!)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251762" y="619578"/>
            <a:ext cx="5262300" cy="4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-144780" lvl="0" marL="157480" marR="508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level (or depth) of a node n is equal to 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</a:t>
            </a:r>
            <a:r>
              <a:rPr b="1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number of edges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from the </a:t>
            </a:r>
            <a:r>
              <a:rPr b="1" i="0" lang="en-US" sz="1200" u="sng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root to that node</a:t>
            </a:r>
            <a:endParaRPr b="0" i="0" sz="1200" u="none" cap="none" strike="noStrike">
              <a:solidFill>
                <a:srgbClr val="99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9"/>
          <p:cNvSpPr txBox="1"/>
          <p:nvPr/>
        </p:nvSpPr>
        <p:spPr>
          <a:xfrm>
            <a:off x="87274" y="2764942"/>
            <a:ext cx="52146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marR="0" rtl="0" algn="l">
              <a:lnSpc>
                <a:spcPct val="11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Image:</a:t>
            </a:r>
            <a:r>
              <a:rPr b="0" baseline="3000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 b="0" baseline="3000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1526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Brad Miller, David Ranum, Problem Solving with Algorithms and Data Structures, Release 3.0, 2013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7" name="Google Shape;287;p9"/>
          <p:cNvSpPr txBox="1"/>
          <p:nvPr/>
        </p:nvSpPr>
        <p:spPr>
          <a:xfrm>
            <a:off x="130860" y="3104757"/>
            <a:ext cx="837565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8" name="Google Shape;288;p9"/>
          <p:cNvSpPr txBox="1"/>
          <p:nvPr/>
        </p:nvSpPr>
        <p:spPr>
          <a:xfrm>
            <a:off x="5373370" y="3109223"/>
            <a:ext cx="17462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8/21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1f31d0a28d_0_60"/>
          <p:cNvSpPr txBox="1"/>
          <p:nvPr>
            <p:ph type="title"/>
          </p:nvPr>
        </p:nvSpPr>
        <p:spPr>
          <a:xfrm>
            <a:off x="1879099" y="111300"/>
            <a:ext cx="2465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Depth/Level of a tree</a:t>
            </a:r>
            <a:endParaRPr/>
          </a:p>
        </p:txBody>
      </p:sp>
      <p:sp>
        <p:nvSpPr>
          <p:cNvPr id="294" name="Google Shape;294;g31f31d0a28d_0_60"/>
          <p:cNvSpPr txBox="1"/>
          <p:nvPr/>
        </p:nvSpPr>
        <p:spPr>
          <a:xfrm>
            <a:off x="251762" y="385803"/>
            <a:ext cx="5262300" cy="4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-144780" lvl="0" marL="157480" marR="508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level (or depth) of a node n is equal to the </a:t>
            </a:r>
            <a:r>
              <a:rPr b="1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number of edges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from the </a:t>
            </a:r>
            <a:r>
              <a:rPr b="1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root to that node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5" name="Google Shape;295;g31f31d0a28d_0_60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1f31d0a28d_0_60"/>
          <p:cNvSpPr txBox="1"/>
          <p:nvPr/>
        </p:nvSpPr>
        <p:spPr>
          <a:xfrm>
            <a:off x="87274" y="2764942"/>
            <a:ext cx="52146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1526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7" name="Google Shape;297;g31f31d0a28d_0_60"/>
          <p:cNvSpPr txBox="1"/>
          <p:nvPr/>
        </p:nvSpPr>
        <p:spPr>
          <a:xfrm>
            <a:off x="130860" y="3104757"/>
            <a:ext cx="837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8" name="Google Shape;298;g31f31d0a28d_0_60"/>
          <p:cNvSpPr txBox="1"/>
          <p:nvPr/>
        </p:nvSpPr>
        <p:spPr>
          <a:xfrm>
            <a:off x="5373370" y="3109223"/>
            <a:ext cx="1746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8/21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9" name="Google Shape;299;g31f31d0a28d_0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9550" y="852675"/>
            <a:ext cx="3390124" cy="214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1f31d0a28d_0_99"/>
          <p:cNvSpPr txBox="1"/>
          <p:nvPr>
            <p:ph type="title"/>
          </p:nvPr>
        </p:nvSpPr>
        <p:spPr>
          <a:xfrm>
            <a:off x="1807674" y="100350"/>
            <a:ext cx="3209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Height of a tree </a:t>
            </a:r>
            <a:r>
              <a:rPr b="1" lang="en-US">
                <a:solidFill>
                  <a:srgbClr val="0000FF"/>
                </a:solidFill>
              </a:rPr>
              <a:t>(Important!)</a:t>
            </a:r>
            <a:endParaRPr/>
          </a:p>
        </p:txBody>
      </p:sp>
      <p:sp>
        <p:nvSpPr>
          <p:cNvPr id="305" name="Google Shape;305;g31f31d0a28d_0_99"/>
          <p:cNvSpPr txBox="1"/>
          <p:nvPr/>
        </p:nvSpPr>
        <p:spPr>
          <a:xfrm>
            <a:off x="36800" y="417575"/>
            <a:ext cx="5729100" cy="19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1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Height: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length of the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longest path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a </a:t>
            </a:r>
            <a:r>
              <a:rPr b="1" i="0" lang="en-US" sz="11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node to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of its </a:t>
            </a:r>
            <a:r>
              <a:rPr b="1" i="0" lang="en-US" sz="1100" u="sng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leaf nodes</a:t>
            </a:r>
            <a:endParaRPr b="1" i="0" sz="1100" u="sng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node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to the leaf nodes there are four paths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A→B→E (edges=2)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A→C→F→H (edges=3)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A→C→G (edges=2)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A→D (edges=1)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A→C→F→H is the longest path. (edges=3)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Hence, the height of Node A is 3.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1f31d0a28d_0_99"/>
          <p:cNvSpPr/>
          <p:nvPr/>
        </p:nvSpPr>
        <p:spPr>
          <a:xfrm>
            <a:off x="139445" y="3025901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1f31d0a28d_0_99"/>
          <p:cNvSpPr txBox="1"/>
          <p:nvPr/>
        </p:nvSpPr>
        <p:spPr>
          <a:xfrm>
            <a:off x="108508" y="2815844"/>
            <a:ext cx="5189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Image: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 b="0" baseline="3000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02565" marR="0" rtl="0" algn="l">
              <a:lnSpc>
                <a:spcPct val="11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r>
              <a:rPr b="0" i="0" lang="en-US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Brad Miller, David Ranum, Problem Solving with Algorithms and Data Structures, Release 3.0, 2013</a:t>
            </a:r>
            <a:endParaRPr b="0" i="0" sz="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8" name="Google Shape;308;g31f31d0a28d_0_99"/>
          <p:cNvSpPr txBox="1"/>
          <p:nvPr/>
        </p:nvSpPr>
        <p:spPr>
          <a:xfrm>
            <a:off x="130860" y="3104757"/>
            <a:ext cx="837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09" name="Google Shape;309;g31f31d0a28d_0_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7291" y="1215975"/>
            <a:ext cx="2573183" cy="163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31f31d0a28d_0_99"/>
          <p:cNvSpPr txBox="1"/>
          <p:nvPr/>
        </p:nvSpPr>
        <p:spPr>
          <a:xfrm>
            <a:off x="108500" y="2384375"/>
            <a:ext cx="528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Tree height means the height of Root</a:t>
            </a:r>
            <a:endParaRPr sz="1200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"/>
          <p:cNvSpPr txBox="1"/>
          <p:nvPr>
            <p:ph type="title"/>
          </p:nvPr>
        </p:nvSpPr>
        <p:spPr>
          <a:xfrm>
            <a:off x="692775" y="94225"/>
            <a:ext cx="4668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Height of a tree [This slide is needed for code]</a:t>
            </a:r>
            <a:endParaRPr/>
          </a:p>
        </p:txBody>
      </p:sp>
      <p:sp>
        <p:nvSpPr>
          <p:cNvPr id="316" name="Google Shape;316;p10"/>
          <p:cNvSpPr txBox="1"/>
          <p:nvPr/>
        </p:nvSpPr>
        <p:spPr>
          <a:xfrm>
            <a:off x="36800" y="438863"/>
            <a:ext cx="56922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39065" lvl="0" marL="158115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Arial"/>
              <a:buChar char="•"/>
            </a:pP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Height: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The length of the </a:t>
            </a:r>
            <a:r>
              <a:rPr b="1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longest path</a:t>
            </a: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from a </a:t>
            </a:r>
            <a:r>
              <a:rPr b="1" i="0" lang="en-US" sz="11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node</a:t>
            </a:r>
            <a:r>
              <a:rPr b="1" i="0" lang="en-US" sz="11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to one of its </a:t>
            </a:r>
            <a:r>
              <a:rPr b="1" i="0" lang="en-US" sz="11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leaf nodes</a:t>
            </a:r>
            <a:r>
              <a:rPr b="0" i="0" lang="en-US" sz="11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If a tree consist of </a:t>
            </a:r>
            <a:r>
              <a:rPr b="1" i="0" lang="en-US" sz="11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only the root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its </a:t>
            </a:r>
            <a:r>
              <a:rPr b="1" i="0" lang="en-US" sz="11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height is 0</a:t>
            </a:r>
            <a:endParaRPr b="1" i="0" sz="110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marR="0" rtl="0" algn="l">
              <a:lnSpc>
                <a:spcPct val="117916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Otherwise the height is 1 greater than the height of its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tallest subtrees</a:t>
            </a:r>
            <a:endParaRPr b="1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139445" y="3025901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0"/>
          <p:cNvSpPr txBox="1"/>
          <p:nvPr/>
        </p:nvSpPr>
        <p:spPr>
          <a:xfrm>
            <a:off x="108508" y="2815844"/>
            <a:ext cx="51891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Image:</a:t>
            </a:r>
            <a:r>
              <a:rPr b="0" baseline="3000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 b="0" baseline="3000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02565" marR="0" rtl="0" algn="l">
              <a:lnSpc>
                <a:spcPct val="11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Brad Miller, David Ranum, Problem Solving with Algorithms and Data Structures, Release 3.0, 2013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9" name="Google Shape;319;p10"/>
          <p:cNvSpPr txBox="1"/>
          <p:nvPr/>
        </p:nvSpPr>
        <p:spPr>
          <a:xfrm>
            <a:off x="130860" y="3104757"/>
            <a:ext cx="837565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20" name="Google Shape;320;p10"/>
          <p:cNvPicPr preferRelativeResize="0"/>
          <p:nvPr/>
        </p:nvPicPr>
        <p:blipFill rotWithShape="1">
          <a:blip r:embed="rId4">
            <a:alphaModFix/>
          </a:blip>
          <a:srcRect b="0" l="0" r="0" t="17430"/>
          <a:stretch/>
        </p:blipFill>
        <p:spPr>
          <a:xfrm>
            <a:off x="2409025" y="1124292"/>
            <a:ext cx="1211807" cy="1107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58376" y="1053975"/>
            <a:ext cx="1332183" cy="1248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0" title="height 0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4748" y="1304011"/>
            <a:ext cx="1039550" cy="894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3" name="Google Shape;323;p10"/>
          <p:cNvCxnSpPr/>
          <p:nvPr/>
        </p:nvCxnSpPr>
        <p:spPr>
          <a:xfrm>
            <a:off x="2064025" y="1207775"/>
            <a:ext cx="6000" cy="1677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p10"/>
          <p:cNvSpPr txBox="1"/>
          <p:nvPr/>
        </p:nvSpPr>
        <p:spPr>
          <a:xfrm>
            <a:off x="139450" y="2276550"/>
            <a:ext cx="155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Only 1 node, root=leaf</a:t>
            </a:r>
            <a:b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So, height = 0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5" name="Google Shape;325;p10"/>
          <p:cNvSpPr txBox="1"/>
          <p:nvPr/>
        </p:nvSpPr>
        <p:spPr>
          <a:xfrm>
            <a:off x="2064025" y="2224050"/>
            <a:ext cx="33597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height = 1+ height of tallest subtree (</a:t>
            </a:r>
            <a:r>
              <a:rPr b="0" i="0" lang="en-US" sz="8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A has 2 subtrees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= 1+ (Height of B to D/E/F)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= 1 + (1 + Height of D/E/F (single leaf node))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= 1 +  (1 + 0)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= 1 + 1 = 2</a:t>
            </a:r>
            <a:b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"/>
          <p:cNvSpPr txBox="1"/>
          <p:nvPr>
            <p:ph type="title"/>
          </p:nvPr>
        </p:nvSpPr>
        <p:spPr>
          <a:xfrm>
            <a:off x="1900172" y="281975"/>
            <a:ext cx="1693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Home work</a:t>
            </a:r>
            <a:endParaRPr/>
          </a:p>
        </p:txBody>
      </p:sp>
      <p:sp>
        <p:nvSpPr>
          <p:cNvPr id="331" name="Google Shape;331;p11"/>
          <p:cNvSpPr txBox="1"/>
          <p:nvPr/>
        </p:nvSpPr>
        <p:spPr>
          <a:xfrm>
            <a:off x="130860" y="3104757"/>
            <a:ext cx="837565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32" name="Google Shape;33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976" y="1118950"/>
            <a:ext cx="5189202" cy="175409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1"/>
          <p:cNvSpPr txBox="1"/>
          <p:nvPr/>
        </p:nvSpPr>
        <p:spPr>
          <a:xfrm>
            <a:off x="236825" y="656400"/>
            <a:ext cx="53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level, depth, height and degree of the specified nodes of the following tree.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1f31d0a28d_0_159"/>
          <p:cNvSpPr txBox="1"/>
          <p:nvPr>
            <p:ph type="title"/>
          </p:nvPr>
        </p:nvSpPr>
        <p:spPr>
          <a:xfrm>
            <a:off x="1895484" y="102475"/>
            <a:ext cx="1693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Home work</a:t>
            </a:r>
            <a:endParaRPr/>
          </a:p>
        </p:txBody>
      </p:sp>
      <p:sp>
        <p:nvSpPr>
          <p:cNvPr id="339" name="Google Shape;339;g31f31d0a28d_0_159"/>
          <p:cNvSpPr txBox="1"/>
          <p:nvPr/>
        </p:nvSpPr>
        <p:spPr>
          <a:xfrm>
            <a:off x="130860" y="3104757"/>
            <a:ext cx="837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0" name="Google Shape;340;g31f31d0a28d_0_159"/>
          <p:cNvSpPr txBox="1"/>
          <p:nvPr/>
        </p:nvSpPr>
        <p:spPr>
          <a:xfrm>
            <a:off x="202850" y="428575"/>
            <a:ext cx="53601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Depth/Level: no of edges in between root to selected node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Degree: no of children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Height: no of edges in between selected node to leaf node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g31f31d0a28d_0_159" title="tree_terminologie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826" y="1171965"/>
            <a:ext cx="5079426" cy="1754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2"/>
          <p:cNvSpPr txBox="1"/>
          <p:nvPr>
            <p:ph type="title"/>
          </p:nvPr>
        </p:nvSpPr>
        <p:spPr>
          <a:xfrm>
            <a:off x="1973054" y="97625"/>
            <a:ext cx="17277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binary tree</a:t>
            </a:r>
            <a:endParaRPr/>
          </a:p>
        </p:txBody>
      </p:sp>
      <p:sp>
        <p:nvSpPr>
          <p:cNvPr id="347" name="Google Shape;347;p12"/>
          <p:cNvSpPr txBox="1"/>
          <p:nvPr/>
        </p:nvSpPr>
        <p:spPr>
          <a:xfrm>
            <a:off x="130860" y="3104757"/>
            <a:ext cx="837565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8" name="Google Shape;348;p12"/>
          <p:cNvSpPr txBox="1"/>
          <p:nvPr/>
        </p:nvSpPr>
        <p:spPr>
          <a:xfrm>
            <a:off x="231325" y="395425"/>
            <a:ext cx="5116500" cy="14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55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tree is a binary tree if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node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has</a:t>
            </a:r>
            <a:r>
              <a:rPr b="1" i="0" lang="en-US" sz="9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i="0" lang="en-US" sz="9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at most 2 children. </a:t>
            </a:r>
            <a:r>
              <a:rPr b="1" i="0" lang="en-US" sz="9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(0 child, 1 child or 2 children)</a:t>
            </a:r>
            <a:br>
              <a:rPr b="1" i="0" lang="en-US" sz="9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binary tree is </a:t>
            </a:r>
            <a:r>
              <a:rPr b="0" i="1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rooted tree in which every node has at most two children</a:t>
            </a: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i="0" sz="9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binary tree (BT) </a:t>
            </a: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is a structure defined on a </a:t>
            </a:r>
            <a:r>
              <a:rPr b="1" i="0" lang="en-US" sz="9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finite set of nodes</a:t>
            </a: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that either</a:t>
            </a:r>
            <a:endParaRPr b="0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79375" lvl="0" marL="568325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ahoma"/>
              <a:buChar char="-"/>
            </a:pP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contains </a:t>
            </a:r>
            <a:r>
              <a:rPr b="0" i="0" lang="en-US" sz="9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 nodes (em</a:t>
            </a:r>
            <a:r>
              <a:rPr lang="en-US" sz="900" u="sng">
                <a:latin typeface="Tahoma"/>
                <a:ea typeface="Tahoma"/>
                <a:cs typeface="Tahoma"/>
                <a:sym typeface="Tahoma"/>
              </a:rPr>
              <a:t>pty tree</a:t>
            </a:r>
            <a:r>
              <a:rPr b="0" i="0" lang="en-US" sz="9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or</a:t>
            </a:r>
            <a:endParaRPr b="0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88900" lvl="0" marL="577850" marR="0" rtl="0" algn="l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ahoma"/>
              <a:buChar char="-"/>
            </a:pP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is composed of </a:t>
            </a:r>
            <a:r>
              <a:rPr b="1" i="0" lang="en-US" sz="9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three disjoint sets of nodes</a:t>
            </a: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80008" lvl="1" marL="102616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ahoma"/>
              <a:buChar char="-"/>
            </a:pP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root node</a:t>
            </a:r>
            <a:endParaRPr b="0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80008" lvl="1" marL="1026160" marR="0" rtl="0" algn="l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ahoma"/>
              <a:buChar char="-"/>
            </a:pP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b="1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binary tree</a:t>
            </a: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called </a:t>
            </a:r>
            <a:r>
              <a:rPr b="1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left subtree</a:t>
            </a:r>
            <a:endParaRPr b="1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80008" lvl="1" marL="1026160" marR="0" rtl="0" algn="l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ahoma"/>
              <a:buChar char="-"/>
            </a:pP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b="1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binary tree</a:t>
            </a: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called </a:t>
            </a:r>
            <a:r>
              <a:rPr b="1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right subtree   </a:t>
            </a:r>
            <a:endParaRPr b="1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49" name="Google Shape;34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275" y="1941925"/>
            <a:ext cx="4670874" cy="116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2"/>
          <p:cNvSpPr txBox="1"/>
          <p:nvPr/>
        </p:nvSpPr>
        <p:spPr>
          <a:xfrm>
            <a:off x="3312975" y="1480225"/>
            <a:ext cx="236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9900FF"/>
                </a:solidFill>
                <a:latin typeface="Trebuchet MS"/>
                <a:ea typeface="Trebuchet MS"/>
                <a:cs typeface="Trebuchet MS"/>
                <a:sym typeface="Trebuchet MS"/>
              </a:rPr>
              <a:t>Important:</a:t>
            </a:r>
            <a:r>
              <a:rPr lang="en-US" sz="900">
                <a:solidFill>
                  <a:srgbClr val="9900FF"/>
                </a:solidFill>
                <a:latin typeface="Trebuchet MS"/>
                <a:ea typeface="Trebuchet MS"/>
                <a:cs typeface="Trebuchet MS"/>
                <a:sym typeface="Trebuchet MS"/>
              </a:rPr>
              <a:t> The left and right subtrees are themselves also binary trees. </a:t>
            </a:r>
            <a:endParaRPr sz="900">
              <a:solidFill>
                <a:srgbClr val="99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69dc5bd35_0_329"/>
          <p:cNvSpPr txBox="1"/>
          <p:nvPr>
            <p:ph type="title"/>
          </p:nvPr>
        </p:nvSpPr>
        <p:spPr>
          <a:xfrm>
            <a:off x="2076535" y="172933"/>
            <a:ext cx="2350200" cy="2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Binary Tree examples</a:t>
            </a:r>
            <a:endParaRPr/>
          </a:p>
        </p:txBody>
      </p:sp>
      <p:sp>
        <p:nvSpPr>
          <p:cNvPr id="356" name="Google Shape;356;g3f69dc5bd35_0_329"/>
          <p:cNvSpPr txBox="1"/>
          <p:nvPr/>
        </p:nvSpPr>
        <p:spPr>
          <a:xfrm>
            <a:off x="264577" y="2934100"/>
            <a:ext cx="53988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Cormen, Leiserson, Rivest, Stein. Introduction to Algorithms, 3rd edition, MIT Press, 2009</a:t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57" name="Google Shape;357;g3f69dc5bd35_0_329"/>
          <p:cNvPicPr preferRelativeResize="0"/>
          <p:nvPr/>
        </p:nvPicPr>
        <p:blipFill rotWithShape="1">
          <a:blip r:embed="rId3">
            <a:alphaModFix/>
          </a:blip>
          <a:srcRect b="28098" l="16817" r="18505" t="25258"/>
          <a:stretch/>
        </p:blipFill>
        <p:spPr>
          <a:xfrm>
            <a:off x="865750" y="807675"/>
            <a:ext cx="3729150" cy="151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1f334dfcb5_0_93"/>
          <p:cNvSpPr txBox="1"/>
          <p:nvPr>
            <p:ph type="title"/>
          </p:nvPr>
        </p:nvSpPr>
        <p:spPr>
          <a:xfrm>
            <a:off x="1797048" y="150375"/>
            <a:ext cx="27516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SzPts val="1100"/>
              <a:buNone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Types of Binary Tree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63" name="Google Shape;363;g31f334dfcb5_0_93"/>
          <p:cNvSpPr txBox="1"/>
          <p:nvPr/>
        </p:nvSpPr>
        <p:spPr>
          <a:xfrm>
            <a:off x="130860" y="3104757"/>
            <a:ext cx="837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4" name="Google Shape;364;g31f334dfcb5_0_93"/>
          <p:cNvSpPr txBox="1"/>
          <p:nvPr/>
        </p:nvSpPr>
        <p:spPr>
          <a:xfrm>
            <a:off x="179275" y="379277"/>
            <a:ext cx="49116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Full/Strict Binary Tree: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Internal nodes (every node except the leaf nodes) have two children.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 node has either</a:t>
            </a:r>
            <a:r>
              <a:rPr b="1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0 or 2 children </a:t>
            </a:r>
            <a:endParaRPr b="1" i="0" sz="10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 binary tree that maintains the following condition is a full binary tree: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No of leaf nodes = no of internal nodes + 1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5" name="Google Shape;365;g31f334dfcb5_0_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001" y="1550625"/>
            <a:ext cx="3359401" cy="1009101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1f334dfcb5_0_93"/>
          <p:cNvSpPr txBox="1"/>
          <p:nvPr/>
        </p:nvSpPr>
        <p:spPr>
          <a:xfrm>
            <a:off x="621350" y="2415738"/>
            <a:ext cx="4523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7" name="Google Shape;367;g31f334dfcb5_0_93"/>
          <p:cNvGraphicFramePr/>
          <p:nvPr/>
        </p:nvGraphicFramePr>
        <p:xfrm>
          <a:off x="179275" y="255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{77E87AE0-88CD-48EB-A4B3-02B30C1389F9}</a:tableStyleId>
              </a:tblPr>
              <a:tblGrid>
                <a:gridCol w="1804775"/>
                <a:gridCol w="1804775"/>
                <a:gridCol w="18047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</a:rPr>
                        <a:t>In the left tree, there are 3 internal nodes and 4 leaf nodes.</a:t>
                      </a:r>
                      <a:endParaRPr sz="13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</a:rPr>
                        <a:t>In the middle tree, there are 7 internal nodes and 8 leaf nodes.</a:t>
                      </a:r>
                      <a:endParaRPr sz="13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</a:rPr>
                        <a:t>In the right tree, there are 6 internal nodes and 7 leaf nodes.</a:t>
                      </a:r>
                      <a:endParaRPr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68" name="Google Shape;368;g31f334dfcb5_0_9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22076" y="1373075"/>
            <a:ext cx="1800999" cy="104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f334dfcb5_0_107"/>
          <p:cNvSpPr txBox="1"/>
          <p:nvPr>
            <p:ph type="title"/>
          </p:nvPr>
        </p:nvSpPr>
        <p:spPr>
          <a:xfrm>
            <a:off x="1835298" y="98150"/>
            <a:ext cx="27516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SzPts val="1100"/>
              <a:buNone/>
            </a:pPr>
            <a:r>
              <a:rPr lang="en-US" sz="1400">
                <a:solidFill>
                  <a:schemeClr val="dk2"/>
                </a:solidFill>
              </a:rPr>
              <a:t>Types of Binary Tree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74" name="Google Shape;374;g31f334dfcb5_0_107"/>
          <p:cNvSpPr txBox="1"/>
          <p:nvPr/>
        </p:nvSpPr>
        <p:spPr>
          <a:xfrm>
            <a:off x="130860" y="3104757"/>
            <a:ext cx="837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5" name="Google Shape;375;g31f334dfcb5_0_107"/>
          <p:cNvSpPr txBox="1"/>
          <p:nvPr/>
        </p:nvSpPr>
        <p:spPr>
          <a:xfrm>
            <a:off x="226350" y="285625"/>
            <a:ext cx="5425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 Binary Tree: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levels are completely filled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except the lowest,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every node should reside on the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 side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can we identify a complete binary tree?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internal nodes with two children.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an internal node has one child, </a:t>
            </a:r>
            <a:r>
              <a:rPr b="1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must be on the left.</a:t>
            </a:r>
            <a:endParaRPr b="1" i="0" sz="10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6" name="Google Shape;376;g31f334dfcb5_0_107"/>
          <p:cNvGraphicFramePr/>
          <p:nvPr/>
        </p:nvGraphicFramePr>
        <p:xfrm>
          <a:off x="169775" y="241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{77E87AE0-88CD-48EB-A4B3-02B30C1389F9}</a:tableStyleId>
              </a:tblPr>
              <a:tblGrid>
                <a:gridCol w="1682800"/>
                <a:gridCol w="1782075"/>
                <a:gridCol w="17820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</a:rPr>
                        <a:t>In the leftmost tree, all internal nodes have two children.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</a:rPr>
                        <a:t>In the middle tree, all internal nodes except one have two children. The single internal node with one child has it on the left.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</a:rPr>
                        <a:t>In the rightmost tree, all internal nodes except one have two children. The single internal node with one child has it on the left.</a:t>
                      </a:r>
                      <a:endParaRPr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77" name="Google Shape;377;g31f334dfcb5_0_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50" y="1438162"/>
            <a:ext cx="3017550" cy="93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g31f334dfcb5_0_1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04500" y="1320125"/>
            <a:ext cx="1557701" cy="90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1e85743bab_0_0"/>
          <p:cNvSpPr txBox="1"/>
          <p:nvPr>
            <p:ph type="title"/>
          </p:nvPr>
        </p:nvSpPr>
        <p:spPr>
          <a:xfrm>
            <a:off x="1244351" y="98150"/>
            <a:ext cx="33426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Full</a:t>
            </a:r>
            <a:r>
              <a:rPr b="1" lang="en-US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and complete binary tree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1e85743bab_0_0"/>
          <p:cNvSpPr txBox="1"/>
          <p:nvPr/>
        </p:nvSpPr>
        <p:spPr>
          <a:xfrm>
            <a:off x="130860" y="3104757"/>
            <a:ext cx="837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5" name="Google Shape;385;g31e85743bab_0_0"/>
          <p:cNvSpPr txBox="1"/>
          <p:nvPr/>
        </p:nvSpPr>
        <p:spPr>
          <a:xfrm>
            <a:off x="261050" y="563275"/>
            <a:ext cx="54255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126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complete binary</a:t>
            </a: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tree is just like a </a:t>
            </a:r>
            <a:r>
              <a:rPr b="1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binary tree</a:t>
            </a: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but with </a:t>
            </a:r>
            <a:r>
              <a:rPr b="1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major differences</a:t>
            </a:r>
            <a:br>
              <a:rPr b="1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1445" lvl="0" marL="1441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the leaf elements must </a:t>
            </a:r>
            <a:r>
              <a:rPr b="0" i="0" lang="en-US" sz="105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lean towards the left.</a:t>
            </a:r>
            <a:endParaRPr b="0" i="0" sz="105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1445" lvl="0" marL="1441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AutoNum type="arabicPeriod"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0" i="0" lang="en-US" sz="105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 leaf element</a:t>
            </a: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might not have a </a:t>
            </a:r>
            <a:r>
              <a:rPr b="1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sibling</a:t>
            </a: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i.e. a complete binary tree doesn't have to be a full binary tree.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1e85743bab_0_0"/>
          <p:cNvSpPr txBox="1"/>
          <p:nvPr/>
        </p:nvSpPr>
        <p:spPr>
          <a:xfrm>
            <a:off x="621350" y="2415738"/>
            <a:ext cx="4523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1e85743bab_0_72"/>
          <p:cNvSpPr txBox="1"/>
          <p:nvPr/>
        </p:nvSpPr>
        <p:spPr>
          <a:xfrm>
            <a:off x="1324099" y="46625"/>
            <a:ext cx="3117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Full vs complete binary tree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92" name="Google Shape;392;g31e85743bab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075" y="1882796"/>
            <a:ext cx="1154483" cy="886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g31e85743bab_0_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3894" y="1833911"/>
            <a:ext cx="996130" cy="956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g31e85743bab_0_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34384" y="1514250"/>
            <a:ext cx="1547215" cy="1350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g31e85743bab_0_72"/>
          <p:cNvSpPr txBox="1"/>
          <p:nvPr/>
        </p:nvSpPr>
        <p:spPr>
          <a:xfrm>
            <a:off x="130860" y="2987282"/>
            <a:ext cx="2046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rPr>
              <a:t>Source: https://</a:t>
            </a:r>
            <a:r>
              <a:rPr b="0" i="0" lang="en-US" sz="600" u="sng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www.programiz.com/dsa/complete-binary-tree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6" name="Google Shape;396;g31e85743bab_0_72"/>
          <p:cNvSpPr txBox="1"/>
          <p:nvPr/>
        </p:nvSpPr>
        <p:spPr>
          <a:xfrm>
            <a:off x="130850" y="384750"/>
            <a:ext cx="5593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Full/Strict Binary Tree: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○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1) Every node has either</a:t>
            </a:r>
            <a:r>
              <a:rPr b="0" i="0" lang="en-US" sz="9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0 or 2 children. </a:t>
            </a:r>
            <a:endParaRPr b="0" i="0" sz="9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○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2) No of leaf nodes = no of internal nodes + 1</a:t>
            </a:r>
            <a:b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Complete Binary Tree: </a:t>
            </a:r>
            <a:endParaRPr b="1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○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1) All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internal nodes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with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two children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○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2) If an internal node has one child, </a:t>
            </a:r>
            <a:r>
              <a:rPr b="1" i="0" lang="en-US" sz="9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 must be on the left.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g31e85743bab_0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550" y="1474018"/>
            <a:ext cx="1123556" cy="1240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g31e85743bab_0_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48320" y="1418800"/>
            <a:ext cx="1024983" cy="1296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g31e85743bab_0_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22480" y="1418800"/>
            <a:ext cx="1285595" cy="154137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g31e85743bab_0_81"/>
          <p:cNvSpPr txBox="1"/>
          <p:nvPr/>
        </p:nvSpPr>
        <p:spPr>
          <a:xfrm>
            <a:off x="130860" y="2987282"/>
            <a:ext cx="2046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rPr>
              <a:t>Source: https://</a:t>
            </a:r>
            <a:r>
              <a:rPr b="0" i="0" lang="en-US" sz="600" u="sng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www.programiz.com/dsa/complete-binary-tree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5" name="Google Shape;405;g31e85743bab_0_81"/>
          <p:cNvSpPr txBox="1"/>
          <p:nvPr/>
        </p:nvSpPr>
        <p:spPr>
          <a:xfrm>
            <a:off x="1294924" y="40825"/>
            <a:ext cx="3117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Full vs complete binary tree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6" name="Google Shape;406;g31e85743bab_0_81"/>
          <p:cNvSpPr txBox="1"/>
          <p:nvPr/>
        </p:nvSpPr>
        <p:spPr>
          <a:xfrm>
            <a:off x="86300" y="345000"/>
            <a:ext cx="5593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Full/Strict Binary Tree: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○"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1) Every node has either</a:t>
            </a:r>
            <a:r>
              <a:rPr b="0" i="0" lang="en-US" sz="8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i="0" lang="en-US" sz="8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 or 2 children. </a:t>
            </a:r>
            <a:endParaRPr b="1" i="0" sz="8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○"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2) No of leaf nodes = no of internal nodes + 1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Complete Binary Tree: 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○"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1) All </a:t>
            </a: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internal nodes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with </a:t>
            </a: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two children.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○"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2) If an internal node has one child, </a:t>
            </a:r>
            <a:r>
              <a:rPr b="1" i="0" lang="en-US" sz="8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 must be on the left.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1f9a8d2d1e_0_0"/>
          <p:cNvSpPr txBox="1"/>
          <p:nvPr/>
        </p:nvSpPr>
        <p:spPr>
          <a:xfrm>
            <a:off x="140223" y="2968420"/>
            <a:ext cx="2046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</a:rPr>
              <a:t>Source: https://</a:t>
            </a:r>
            <a:r>
              <a:rPr b="0" i="0" lang="en-US" sz="600" u="sng" cap="none" strike="noStrike">
                <a:solidFill>
                  <a:srgbClr val="3A4661"/>
                </a:solidFill>
                <a:latin typeface="Tahoma"/>
                <a:ea typeface="Tahoma"/>
                <a:cs typeface="Tahoma"/>
                <a:sym typeface="Tahom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www.programiz.com/dsa/complete-binary-tree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2" name="Google Shape;412;g31f9a8d2d1e_0_0"/>
          <p:cNvSpPr txBox="1"/>
          <p:nvPr/>
        </p:nvSpPr>
        <p:spPr>
          <a:xfrm>
            <a:off x="1294924" y="40825"/>
            <a:ext cx="3117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Full vs complete binary tree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413" name="Google Shape;413;g31f9a8d2d1e_0_0"/>
          <p:cNvGraphicFramePr/>
          <p:nvPr/>
        </p:nvGraphicFramePr>
        <p:xfrm>
          <a:off x="267725" y="42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{77E87AE0-88CD-48EB-A4B3-02B30C1389F9}</a:tableStyleId>
              </a:tblPr>
              <a:tblGrid>
                <a:gridCol w="613800"/>
                <a:gridCol w="1521900"/>
                <a:gridCol w="1464075"/>
                <a:gridCol w="1400425"/>
              </a:tblGrid>
              <a:tr h="1439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4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Full 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Node 3 does not have 2 children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Node 2 does not have 2 children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Every node has either 0 or 2 children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0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Complete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node 3 is missing left child, and it has a right child, 5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Node 1 has 2 child, node 3 does not have any child, node 2 has child on left side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All internal nodes (1, 2) has 2 children. 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14" name="Google Shape;414;g31f9a8d2d1e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1700" y="566851"/>
            <a:ext cx="1196650" cy="1128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g31f9a8d2d1e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3550" y="528950"/>
            <a:ext cx="1138522" cy="122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g31f9a8d2d1e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33924" y="428151"/>
            <a:ext cx="1299299" cy="132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1f334dfcb5_0_122"/>
          <p:cNvSpPr txBox="1"/>
          <p:nvPr>
            <p:ph type="title"/>
          </p:nvPr>
        </p:nvSpPr>
        <p:spPr>
          <a:xfrm>
            <a:off x="1842198" y="56725"/>
            <a:ext cx="27516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SzPts val="1100"/>
              <a:buNone/>
            </a:pPr>
            <a:r>
              <a:rPr lang="en-US" sz="1400">
                <a:solidFill>
                  <a:schemeClr val="dk2"/>
                </a:solidFill>
              </a:rPr>
              <a:t>Types of Binary Tree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22" name="Google Shape;422;g31f334dfcb5_0_122"/>
          <p:cNvSpPr txBox="1"/>
          <p:nvPr/>
        </p:nvSpPr>
        <p:spPr>
          <a:xfrm>
            <a:off x="130860" y="3104757"/>
            <a:ext cx="837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3" name="Google Shape;423;g31f334dfcb5_0_122"/>
          <p:cNvSpPr txBox="1"/>
          <p:nvPr/>
        </p:nvSpPr>
        <p:spPr>
          <a:xfrm>
            <a:off x="318900" y="285625"/>
            <a:ext cx="5138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Perfect Binary Tree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 internal node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 </a:t>
            </a:r>
            <a:r>
              <a:rPr b="1" i="0" lang="en-US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exactly two child nodes 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the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leaf nodes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at the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level.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1f334dfcb5_0_122"/>
          <p:cNvSpPr txBox="1"/>
          <p:nvPr/>
        </p:nvSpPr>
        <p:spPr>
          <a:xfrm>
            <a:off x="621350" y="2415738"/>
            <a:ext cx="4523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5" name="Google Shape;425;g31f334dfcb5_0_122"/>
          <p:cNvGraphicFramePr/>
          <p:nvPr/>
        </p:nvGraphicFramePr>
        <p:xfrm>
          <a:off x="2504325" y="230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{77E87AE0-88CD-48EB-A4B3-02B30C1389F9}</a:tableStyleId>
              </a:tblPr>
              <a:tblGrid>
                <a:gridCol w="1661550"/>
                <a:gridCol w="14089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I</a:t>
                      </a: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n the middle tree, all the leaf nodes are not on the same level.</a:t>
                      </a:r>
                      <a:endParaRPr sz="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In the rightmost tree, all the leaf nodes are not on the same level.</a:t>
                      </a:r>
                      <a:endParaRPr sz="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426" name="Google Shape;426;g31f334dfcb5_0_1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550" y="1006625"/>
            <a:ext cx="520065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g31f334dfcb5_0_122"/>
          <p:cNvPicPr preferRelativeResize="0"/>
          <p:nvPr/>
        </p:nvPicPr>
        <p:blipFill rotWithShape="1">
          <a:blip r:embed="rId5">
            <a:alphaModFix/>
          </a:blip>
          <a:srcRect b="0" l="2734" r="1643" t="0"/>
          <a:stretch/>
        </p:blipFill>
        <p:spPr>
          <a:xfrm>
            <a:off x="318900" y="2044050"/>
            <a:ext cx="1852404" cy="106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1f334dfcb5_0_134"/>
          <p:cNvSpPr txBox="1"/>
          <p:nvPr>
            <p:ph type="title"/>
          </p:nvPr>
        </p:nvSpPr>
        <p:spPr>
          <a:xfrm>
            <a:off x="1719798" y="58425"/>
            <a:ext cx="27516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SzPts val="1100"/>
              <a:buNone/>
            </a:pPr>
            <a:r>
              <a:rPr lang="en-US" sz="1400">
                <a:solidFill>
                  <a:schemeClr val="dk2"/>
                </a:solidFill>
              </a:rPr>
              <a:t>Types of Binary Tree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33" name="Google Shape;433;g31f334dfcb5_0_134"/>
          <p:cNvSpPr txBox="1"/>
          <p:nvPr/>
        </p:nvSpPr>
        <p:spPr>
          <a:xfrm>
            <a:off x="130860" y="3104757"/>
            <a:ext cx="837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4" name="Google Shape;434;g31f334dfcb5_0_134"/>
          <p:cNvSpPr txBox="1"/>
          <p:nvPr/>
        </p:nvSpPr>
        <p:spPr>
          <a:xfrm>
            <a:off x="0" y="287325"/>
            <a:ext cx="573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Balanced / Height-balanced Binary Tree: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The </a:t>
            </a:r>
            <a:r>
              <a:rPr b="1" lang="en-US" sz="900">
                <a:solidFill>
                  <a:schemeClr val="dk1"/>
                </a:solidFill>
              </a:rPr>
              <a:t>height </a:t>
            </a:r>
            <a:r>
              <a:rPr lang="en-US" sz="900">
                <a:solidFill>
                  <a:schemeClr val="dk1"/>
                </a:solidFill>
              </a:rPr>
              <a:t>of the </a:t>
            </a:r>
            <a:r>
              <a:rPr b="1" lang="en-US" sz="900">
                <a:solidFill>
                  <a:srgbClr val="9900FF"/>
                </a:solidFill>
              </a:rPr>
              <a:t>left and right subtree </a:t>
            </a:r>
            <a:r>
              <a:rPr lang="en-US" sz="900">
                <a:solidFill>
                  <a:schemeClr val="dk1"/>
                </a:solidFill>
              </a:rPr>
              <a:t>of any node </a:t>
            </a:r>
            <a:r>
              <a:rPr b="1" lang="en-US" sz="900" u="sng">
                <a:solidFill>
                  <a:srgbClr val="990000"/>
                </a:solidFill>
              </a:rPr>
              <a:t>differ by not more than 1.</a:t>
            </a:r>
            <a:r>
              <a:rPr lang="en-US" sz="900">
                <a:solidFill>
                  <a:srgbClr val="990000"/>
                </a:solidFill>
              </a:rPr>
              <a:t> </a:t>
            </a:r>
            <a:r>
              <a:rPr b="1" lang="en-US" sz="900">
                <a:solidFill>
                  <a:schemeClr val="hlink"/>
                </a:solidFill>
              </a:rPr>
              <a:t>(take absolute value).</a:t>
            </a:r>
            <a:r>
              <a:rPr lang="en-US" sz="900">
                <a:solidFill>
                  <a:schemeClr val="dk1"/>
                </a:solidFill>
              </a:rPr>
              <a:t> 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Height:</a:t>
            </a: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length of the </a:t>
            </a: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longest path</a:t>
            </a: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a </a:t>
            </a: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 to one of its leaf nodes.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1f334dfcb5_0_134"/>
          <p:cNvSpPr txBox="1"/>
          <p:nvPr/>
        </p:nvSpPr>
        <p:spPr>
          <a:xfrm>
            <a:off x="621350" y="2415738"/>
            <a:ext cx="4523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6" name="Google Shape;436;g31f334dfcb5_0_134"/>
          <p:cNvGraphicFramePr/>
          <p:nvPr/>
        </p:nvGraphicFramePr>
        <p:xfrm>
          <a:off x="130850" y="255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{77E87AE0-88CD-48EB-A4B3-02B30C1389F9}</a:tableStyleId>
              </a:tblPr>
              <a:tblGrid>
                <a:gridCol w="2943850"/>
                <a:gridCol w="2607350"/>
              </a:tblGrid>
              <a:tr h="4975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</a:rPr>
                        <a:t>In the leftmost tree, the height of Node A’s left subtree is 2 and right subtree is 0. Therefore, the difference between these two is 2.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</a:rPr>
                        <a:t>In the rightmost tree, no nodes have a height difference of more than 1 in between their left and right subtrees.</a:t>
                      </a:r>
                      <a:endParaRPr sz="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437" name="Google Shape;437;g31f334dfcb5_0_134" title="BT balanced_unbalanc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2311" y="836300"/>
            <a:ext cx="3886590" cy="17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a409b67ff5_0_0"/>
          <p:cNvSpPr txBox="1"/>
          <p:nvPr>
            <p:ph type="title"/>
          </p:nvPr>
        </p:nvSpPr>
        <p:spPr>
          <a:xfrm>
            <a:off x="1719798" y="58425"/>
            <a:ext cx="27516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SzPts val="1100"/>
              <a:buNone/>
            </a:pPr>
            <a:r>
              <a:rPr lang="en-US" sz="1400">
                <a:solidFill>
                  <a:schemeClr val="dk2"/>
                </a:solidFill>
              </a:rPr>
              <a:t>Types of Binary Tree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43" name="Google Shape;443;g3a409b67ff5_0_0"/>
          <p:cNvSpPr txBox="1"/>
          <p:nvPr/>
        </p:nvSpPr>
        <p:spPr>
          <a:xfrm>
            <a:off x="130860" y="3104757"/>
            <a:ext cx="837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4" name="Google Shape;444;g3a409b67ff5_0_0"/>
          <p:cNvSpPr txBox="1"/>
          <p:nvPr/>
        </p:nvSpPr>
        <p:spPr>
          <a:xfrm>
            <a:off x="0" y="287325"/>
            <a:ext cx="573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Balanced / Height-balanced Binary Tree: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height </a:t>
            </a: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i="0" lang="en-US" sz="900" u="none" cap="none" strike="noStrike">
                <a:solidFill>
                  <a:srgbClr val="9900FF"/>
                </a:solidFill>
              </a:rPr>
              <a:t>left and right subtree </a:t>
            </a: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any node </a:t>
            </a:r>
            <a:r>
              <a:rPr b="1" i="0" lang="en-US" sz="900" u="sng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differ by not more than 1.</a:t>
            </a:r>
            <a:r>
              <a:rPr b="0" i="0" lang="en-US" sz="9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9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(take absolute value).</a:t>
            </a: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Height:</a:t>
            </a: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length of the </a:t>
            </a: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longest path</a:t>
            </a: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a </a:t>
            </a: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 to one of its leaf nodes.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g3a409b67ff5_0_0"/>
          <p:cNvSpPr txBox="1"/>
          <p:nvPr/>
        </p:nvSpPr>
        <p:spPr>
          <a:xfrm>
            <a:off x="621350" y="2415738"/>
            <a:ext cx="4523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6" name="Google Shape;446;g3a409b67ff5_0_0"/>
          <p:cNvGraphicFramePr/>
          <p:nvPr/>
        </p:nvGraphicFramePr>
        <p:xfrm>
          <a:off x="130850" y="255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{77E87AE0-88CD-48EB-A4B3-02B30C1389F9}</a:tableStyleId>
              </a:tblPr>
              <a:tblGrid>
                <a:gridCol w="2943850"/>
                <a:gridCol w="2607350"/>
              </a:tblGrid>
              <a:tr h="4975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</a:rPr>
                        <a:t>In the leftmost tree, the height of Node A’s left subtree is 2 and right subtree is 0. Therefore, the difference between these two is 2.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</a:rPr>
                        <a:t>In the rightmost tree, no nodes have a height difference of more than 1 in between their left and right subtrees.</a:t>
                      </a:r>
                      <a:endParaRPr sz="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7" name="Google Shape;447;g3a409b67ff5_0_0"/>
          <p:cNvSpPr txBox="1"/>
          <p:nvPr/>
        </p:nvSpPr>
        <p:spPr>
          <a:xfrm>
            <a:off x="65250" y="1028125"/>
            <a:ext cx="2148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Always start checking from leaf nodes</a:t>
            </a:r>
            <a:b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When df&gt;1,</a:t>
            </a:r>
            <a:b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say not balanced and STOP</a:t>
            </a:r>
            <a:b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(df=0, 1 acceptable)</a:t>
            </a:r>
            <a:b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7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If left or right subtree is missing, consider the height of that subtree to be -1</a:t>
            </a:r>
            <a:endParaRPr b="0" i="0" sz="700" u="none" cap="none" strike="noStrike">
              <a:solidFill>
                <a:srgbClr val="99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48" name="Google Shape;448;g3a409b67ff5_0_0" title="BT balanced_unbalanc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4611" y="872325"/>
            <a:ext cx="3886590" cy="17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1ce4799104_0_5"/>
          <p:cNvSpPr txBox="1"/>
          <p:nvPr>
            <p:ph type="title"/>
          </p:nvPr>
        </p:nvSpPr>
        <p:spPr>
          <a:xfrm>
            <a:off x="1872998" y="129675"/>
            <a:ext cx="27516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SzPts val="1100"/>
              <a:buNone/>
            </a:pPr>
            <a:r>
              <a:rPr lang="en-US" sz="1400">
                <a:solidFill>
                  <a:schemeClr val="dk2"/>
                </a:solidFill>
              </a:rPr>
              <a:t>Types of Binary Tree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54" name="Google Shape;454;g31ce4799104_0_5"/>
          <p:cNvSpPr txBox="1"/>
          <p:nvPr/>
        </p:nvSpPr>
        <p:spPr>
          <a:xfrm>
            <a:off x="130860" y="3104757"/>
            <a:ext cx="837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5" name="Google Shape;455;g31ce4799104_0_5"/>
          <p:cNvSpPr txBox="1"/>
          <p:nvPr/>
        </p:nvSpPr>
        <p:spPr>
          <a:xfrm>
            <a:off x="0" y="452575"/>
            <a:ext cx="5683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Full/Strict Binary Tree: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1) Every node has either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0 or 2 children. </a:t>
            </a:r>
            <a:endParaRPr b="0" i="0" sz="10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2) No of leaf nodes = no of internal nodes + 1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Complete Binary Tree: 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1) All internal nodes with two children.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2) If an internal node has one child, </a:t>
            </a:r>
            <a: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 must be on the left.</a:t>
            </a:r>
            <a:b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Perfect Binary Tree: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1) </a:t>
            </a:r>
            <a: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Every internal node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has </a:t>
            </a:r>
            <a: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exactly two child nodes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and 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2) all the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leaf nodes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are at the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same level.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0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Balanced/ Height-balanced Binary Tree: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height of the left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right subtree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of any node </a:t>
            </a:r>
            <a: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differ by not more than 1.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1ce4799104_0_15"/>
          <p:cNvSpPr txBox="1"/>
          <p:nvPr>
            <p:ph type="title"/>
          </p:nvPr>
        </p:nvSpPr>
        <p:spPr>
          <a:xfrm>
            <a:off x="1762548" y="33025"/>
            <a:ext cx="27516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SzPts val="1100"/>
              <a:buNone/>
            </a:pPr>
            <a:r>
              <a:rPr lang="en-US" sz="1400">
                <a:solidFill>
                  <a:schemeClr val="dk2"/>
                </a:solidFill>
              </a:rPr>
              <a:t>Types of Binary Tree (Homework)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61" name="Google Shape;461;g31ce4799104_0_15"/>
          <p:cNvSpPr txBox="1"/>
          <p:nvPr/>
        </p:nvSpPr>
        <p:spPr>
          <a:xfrm>
            <a:off x="130860" y="3104757"/>
            <a:ext cx="837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2" name="Google Shape;462;g31ce4799104_0_15"/>
          <p:cNvSpPr txBox="1"/>
          <p:nvPr/>
        </p:nvSpPr>
        <p:spPr>
          <a:xfrm>
            <a:off x="117350" y="261925"/>
            <a:ext cx="55386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30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ahoma"/>
              <a:buChar char="●"/>
            </a:pPr>
            <a:r>
              <a:rPr b="1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Full/Strict Binary Tree:</a:t>
            </a:r>
            <a:r>
              <a:rPr b="0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30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ahoma"/>
              <a:buChar char="○"/>
            </a:pPr>
            <a:r>
              <a:rPr b="0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1) Every node has either</a:t>
            </a:r>
            <a:r>
              <a:rPr b="0" i="0" lang="en-US" sz="7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0 or 2 children. </a:t>
            </a:r>
            <a:endParaRPr b="0" i="0" sz="7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30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ahoma"/>
              <a:buChar char="○"/>
            </a:pPr>
            <a:r>
              <a:rPr b="0" i="0" lang="en-US" sz="7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2)</a:t>
            </a:r>
            <a:r>
              <a:rPr b="0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 of leaf nodes = no of internal nodes + 1</a:t>
            </a:r>
            <a:br>
              <a:rPr b="0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30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ahoma"/>
              <a:buChar char="●"/>
            </a:pPr>
            <a:r>
              <a:rPr b="1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Complete Binary Tree: </a:t>
            </a:r>
            <a:endParaRPr b="1" i="0" sz="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30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ahoma"/>
              <a:buChar char="○"/>
            </a:pPr>
            <a:r>
              <a:rPr b="0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1) All internal nodes with two children.</a:t>
            </a:r>
            <a:endParaRPr b="0" i="0" sz="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30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ahoma"/>
              <a:buChar char="○"/>
            </a:pPr>
            <a:r>
              <a:rPr b="0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2) If an internal node has one child, </a:t>
            </a:r>
            <a:r>
              <a:rPr b="1" i="0" lang="en-US" sz="7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 must be on the left.</a:t>
            </a:r>
            <a:br>
              <a:rPr b="1" i="0" lang="en-US" sz="7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i="0" sz="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30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ahoma"/>
              <a:buChar char="●"/>
            </a:pPr>
            <a:r>
              <a:rPr b="1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Perfect Binary Tree:</a:t>
            </a:r>
            <a:endParaRPr b="1" i="0" sz="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30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ahoma"/>
              <a:buChar char="○"/>
            </a:pPr>
            <a:r>
              <a:rPr b="0" i="0" lang="en-US" sz="7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1) </a:t>
            </a:r>
            <a:r>
              <a:rPr b="1" i="0" lang="en-US" sz="7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Every internal node</a:t>
            </a:r>
            <a:r>
              <a:rPr b="0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has </a:t>
            </a:r>
            <a:r>
              <a:rPr b="1" i="0" lang="en-US" sz="7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exactly two child nodes </a:t>
            </a:r>
            <a:r>
              <a:rPr b="0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and </a:t>
            </a:r>
            <a:endParaRPr b="0" i="0" sz="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30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ahoma"/>
              <a:buChar char="○"/>
            </a:pPr>
            <a:r>
              <a:rPr b="0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2) all the </a:t>
            </a:r>
            <a:r>
              <a:rPr b="1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leaf nodes</a:t>
            </a:r>
            <a:r>
              <a:rPr b="0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are at the </a:t>
            </a:r>
            <a:r>
              <a:rPr b="1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same level.</a:t>
            </a:r>
            <a:br>
              <a:rPr b="0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7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30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ahoma"/>
              <a:buChar char="●"/>
            </a:pPr>
            <a:r>
              <a:rPr b="1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Balanced/ Height-balanced Binary Tree:</a:t>
            </a:r>
            <a:endParaRPr b="1" i="0" sz="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667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Tahoma"/>
              <a:buChar char="○"/>
            </a:pPr>
            <a:r>
              <a:rPr b="0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</a:t>
            </a:r>
            <a:r>
              <a:rPr b="0" i="0" lang="en-US" sz="7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height of the left </a:t>
            </a:r>
            <a:r>
              <a:rPr b="0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b="0" i="0" lang="en-US" sz="7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right subtree</a:t>
            </a:r>
            <a:r>
              <a:rPr b="0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of any node </a:t>
            </a:r>
            <a:r>
              <a:rPr b="1" i="0" lang="en-US" sz="7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differ by not more than 1.</a:t>
            </a:r>
            <a:r>
              <a:rPr b="1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br>
              <a:rPr b="1" i="0" lang="en-US" sz="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i="0" sz="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QUESTION: Identify which of the following trees are full, complete, perfect and balanced.</a:t>
            </a:r>
            <a:endParaRPr b="1" i="0" sz="900" u="none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63" name="Google Shape;463;g31ce4799104_0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132533"/>
            <a:ext cx="5613399" cy="882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543f988ef_0_0"/>
          <p:cNvSpPr txBox="1"/>
          <p:nvPr>
            <p:ph type="title"/>
          </p:nvPr>
        </p:nvSpPr>
        <p:spPr>
          <a:xfrm>
            <a:off x="1555075" y="44575"/>
            <a:ext cx="35064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r>
              <a:rPr lang="en-US" sz="1400">
                <a:solidFill>
                  <a:schemeClr val="dk2"/>
                </a:solidFill>
              </a:rPr>
              <a:t>Identify Types of Binary Tree (Homework)</a:t>
            </a:r>
            <a:endParaRPr>
              <a:solidFill>
                <a:schemeClr val="dk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SzPts val="1100"/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469" name="Google Shape;469;g37543f988ef_0_0"/>
          <p:cNvSpPr txBox="1"/>
          <p:nvPr/>
        </p:nvSpPr>
        <p:spPr>
          <a:xfrm>
            <a:off x="130860" y="3104757"/>
            <a:ext cx="837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470" name="Google Shape;470;g37543f988ef_0_0"/>
          <p:cNvGraphicFramePr/>
          <p:nvPr/>
        </p:nvGraphicFramePr>
        <p:xfrm>
          <a:off x="130850" y="34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{77E87AE0-88CD-48EB-A4B3-02B30C1389F9}</a:tableStyleId>
              </a:tblPr>
              <a:tblGrid>
                <a:gridCol w="583950"/>
                <a:gridCol w="1581875"/>
                <a:gridCol w="1529025"/>
                <a:gridCol w="1760575"/>
              </a:tblGrid>
              <a:tr h="67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br>
                        <a:rPr lang="en-US" sz="1400" u="none" cap="none" strike="noStrike"/>
                      </a:br>
                      <a:br>
                        <a:rPr lang="en-US" sz="1400" u="none" cap="none" strike="noStrike"/>
                      </a:br>
                      <a:br>
                        <a:rPr lang="en-US" sz="1400" u="none" cap="none" strike="noStrike"/>
                      </a:b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Full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Internal nodes 40 and 95 have 1 children. So, not full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Except for 70, all nodes have 1 or 0 children. So, not full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Node 95 has 1 children.</a:t>
                      </a:r>
                      <a:b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So, not full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Complete 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95 which is an internal node has 1 child which is on right. So, not complete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95 which is an internal node has 1 child which is on right. So, not complete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A complete tree would not have missing nodes on the left before filling right; here there are gaps. So, not complete</a:t>
                      </a:r>
                      <a:endParaRPr sz="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Perfect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Internal nodes 40 and 95 have 1 children. So, not Perfect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Internal nodes (59, 40, 90, 95) have 1 children. So, not Perfect</a:t>
                      </a:r>
                      <a:endParaRPr sz="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Internal node 95 have 1 children. Not all leaves on same level. So, not Perfect</a:t>
                      </a:r>
                      <a:endParaRPr sz="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balanced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Yes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71" name="Google Shape;471;g37543f988ef_0_0" title="T1.png"/>
          <p:cNvPicPr preferRelativeResize="0"/>
          <p:nvPr/>
        </p:nvPicPr>
        <p:blipFill rotWithShape="1">
          <a:blip r:embed="rId4">
            <a:alphaModFix/>
          </a:blip>
          <a:srcRect b="0" l="3756" r="4609" t="0"/>
          <a:stretch/>
        </p:blipFill>
        <p:spPr>
          <a:xfrm>
            <a:off x="968450" y="341550"/>
            <a:ext cx="1291500" cy="94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g37543f988ef_0_0" title="T2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08325" y="367150"/>
            <a:ext cx="1260050" cy="80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g37543f988ef_0_0" title="T3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49400" y="367150"/>
            <a:ext cx="837600" cy="878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7543f988ef_0_14"/>
          <p:cNvSpPr txBox="1"/>
          <p:nvPr/>
        </p:nvSpPr>
        <p:spPr>
          <a:xfrm>
            <a:off x="130860" y="3104757"/>
            <a:ext cx="837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479" name="Google Shape;479;g37543f988ef_0_14"/>
          <p:cNvGraphicFramePr/>
          <p:nvPr/>
        </p:nvGraphicFramePr>
        <p:xfrm>
          <a:off x="130850" y="34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{77E87AE0-88CD-48EB-A4B3-02B30C1389F9}</a:tableStyleId>
              </a:tblPr>
              <a:tblGrid>
                <a:gridCol w="571725"/>
                <a:gridCol w="1544125"/>
                <a:gridCol w="1719825"/>
                <a:gridCol w="1619750"/>
              </a:tblGrid>
              <a:tr h="67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br>
                        <a:rPr lang="en-US" sz="1400" u="none" cap="none" strike="noStrike"/>
                      </a:br>
                      <a:br>
                        <a:rPr lang="en-US" sz="1400" u="none" cap="none" strike="noStrike"/>
                      </a:br>
                      <a:br>
                        <a:rPr lang="en-US" sz="1400" u="none" cap="none" strike="noStrike"/>
                      </a:b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Full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Not a binary tree. B has 3 children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all nodes have 2 or 0 children. So, full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all internal  nodes have 1 children. So, not full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4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Complete 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Not a binary tree. B has 3 children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internal nodes (1, 2) have 2 children. So, complete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95 which is an internal node has 1 child which is on right. So, not complete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4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Perfect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Not a binary tree. B has 3 children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Internal nodes (1, 2) have 2 children. But leaf nodes (4, 5, 3) are not on same level. So, not Perfect</a:t>
                      </a:r>
                      <a:endParaRPr sz="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Internal nodes (70, 90, 95) have 1 children. So, not Perfect</a:t>
                      </a:r>
                      <a:endParaRPr sz="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balanced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Not a binary tree. B has 3 children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80" name="Google Shape;480;g37543f988ef_0_14" title="T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0575" y="376100"/>
            <a:ext cx="1133675" cy="93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g37543f988ef_0_14" title="T5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82400" y="376100"/>
            <a:ext cx="1007044" cy="93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g37543f988ef_0_14" title="T6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51000" y="376100"/>
            <a:ext cx="817322" cy="934075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g37543f988ef_0_14"/>
          <p:cNvSpPr txBox="1"/>
          <p:nvPr>
            <p:ph type="title"/>
          </p:nvPr>
        </p:nvSpPr>
        <p:spPr>
          <a:xfrm>
            <a:off x="1555075" y="44575"/>
            <a:ext cx="35064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r>
              <a:rPr lang="en-US" sz="1400">
                <a:solidFill>
                  <a:schemeClr val="dk2"/>
                </a:solidFill>
              </a:rPr>
              <a:t>Identify Types of Binary Tree (Homework)</a:t>
            </a:r>
            <a:endParaRPr>
              <a:solidFill>
                <a:schemeClr val="dk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SzPts val="1100"/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g37543f988ef_0_27" title="T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2925" y="1811050"/>
            <a:ext cx="1305406" cy="13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g37543f988ef_0_27" title="T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9835" y="1831450"/>
            <a:ext cx="1212265" cy="12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g37543f988ef_0_27"/>
          <p:cNvSpPr txBox="1"/>
          <p:nvPr>
            <p:ph type="title"/>
          </p:nvPr>
        </p:nvSpPr>
        <p:spPr>
          <a:xfrm>
            <a:off x="1478401" y="75850"/>
            <a:ext cx="39012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SzPts val="1100"/>
              <a:buNone/>
            </a:pPr>
            <a:r>
              <a:rPr lang="en-US" sz="1400">
                <a:solidFill>
                  <a:schemeClr val="dk2"/>
                </a:solidFill>
              </a:rPr>
              <a:t>Check Balanced Binary tree (Homework)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91" name="Google Shape;491;g37543f988ef_0_27"/>
          <p:cNvSpPr txBox="1"/>
          <p:nvPr/>
        </p:nvSpPr>
        <p:spPr>
          <a:xfrm>
            <a:off x="130860" y="3104757"/>
            <a:ext cx="837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92" name="Google Shape;492;g37543f988ef_0_27" title="T1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775" y="384712"/>
            <a:ext cx="1858399" cy="132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g37543f988ef_0_27" title="T3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83379" y="315220"/>
            <a:ext cx="1510983" cy="1505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g37543f988ef_0_27" title="T2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11725" y="377350"/>
            <a:ext cx="2043273" cy="132105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g37543f988ef_0_27"/>
          <p:cNvSpPr txBox="1"/>
          <p:nvPr/>
        </p:nvSpPr>
        <p:spPr>
          <a:xfrm>
            <a:off x="302600" y="1745400"/>
            <a:ext cx="1998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If left or right subtree is missing, consider the height of that subtree to be -1</a:t>
            </a:r>
            <a:endParaRPr b="0" i="0" sz="900" u="none" cap="none" strike="noStrike">
              <a:solidFill>
                <a:srgbClr val="99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99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99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You need to show, for which nodes the BT became unbalanced.</a:t>
            </a:r>
            <a:endParaRPr b="0" i="0" sz="900" u="none" cap="none" strike="noStrike">
              <a:solidFill>
                <a:srgbClr val="99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e1c111e20d_10_2"/>
          <p:cNvSpPr txBox="1"/>
          <p:nvPr>
            <p:ph type="title"/>
          </p:nvPr>
        </p:nvSpPr>
        <p:spPr>
          <a:xfrm>
            <a:off x="1478401" y="75850"/>
            <a:ext cx="39012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SzPts val="1100"/>
              <a:buNone/>
            </a:pPr>
            <a:r>
              <a:rPr lang="en-US" sz="1400">
                <a:solidFill>
                  <a:schemeClr val="dk2"/>
                </a:solidFill>
              </a:rPr>
              <a:t>Check Balanced Binary tree (Homework)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501" name="Google Shape;501;g3e1c111e20d_10_2" title="balanced_unbalanced_v2.png"/>
          <p:cNvPicPr preferRelativeResize="0"/>
          <p:nvPr/>
        </p:nvPicPr>
        <p:blipFill rotWithShape="1">
          <a:blip r:embed="rId3">
            <a:alphaModFix/>
          </a:blip>
          <a:srcRect b="15038" l="0" r="0" t="0"/>
          <a:stretch/>
        </p:blipFill>
        <p:spPr>
          <a:xfrm>
            <a:off x="394275" y="304750"/>
            <a:ext cx="4977249" cy="291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1f334dfcb5_0_82"/>
          <p:cNvSpPr txBox="1"/>
          <p:nvPr>
            <p:ph type="title"/>
          </p:nvPr>
        </p:nvSpPr>
        <p:spPr>
          <a:xfrm>
            <a:off x="1331100" y="120325"/>
            <a:ext cx="29925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B2A66"/>
                </a:solidFill>
              </a:rPr>
              <a:t>Characteristics of a Binary Tree</a:t>
            </a:r>
            <a:endParaRPr sz="1500">
              <a:solidFill>
                <a:srgbClr val="0B2A66"/>
              </a:solidFill>
            </a:endParaRPr>
          </a:p>
        </p:txBody>
      </p:sp>
      <p:sp>
        <p:nvSpPr>
          <p:cNvPr id="507" name="Google Shape;507;g31f334dfcb5_0_82"/>
          <p:cNvSpPr txBox="1"/>
          <p:nvPr/>
        </p:nvSpPr>
        <p:spPr>
          <a:xfrm>
            <a:off x="130860" y="3104757"/>
            <a:ext cx="837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Trees Ch B.5, 10.4, 12.1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8" name="Google Shape;508;g31f334dfcb5_0_82"/>
          <p:cNvSpPr txBox="1"/>
          <p:nvPr/>
        </p:nvSpPr>
        <p:spPr>
          <a:xfrm>
            <a:off x="561025" y="416127"/>
            <a:ext cx="4911600" cy="26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node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have </a:t>
            </a:r>
            <a:r>
              <a:rPr b="1" i="0" lang="en-US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most two child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nodes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 Relationships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200">
                <a:solidFill>
                  <a:srgbClr val="C00000"/>
                </a:solidFill>
              </a:rPr>
              <a:t>A</a:t>
            </a:r>
            <a:r>
              <a:rPr b="0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pplicable for </a:t>
            </a:r>
            <a:r>
              <a:rPr lang="en-US" sz="1200">
                <a:solidFill>
                  <a:srgbClr val="C00000"/>
                </a:solidFill>
              </a:rPr>
              <a:t>only Extended Binary Tree</a:t>
            </a:r>
            <a:r>
              <a:rPr b="0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Internal nodes: 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External nodes: n+1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edges: 2n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Internal edges: n−1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External edges: n+1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Tree Properties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0" lang="en-US" sz="1200" u="none" cap="none" strike="noStrike">
                <a:solidFill>
                  <a:srgbClr val="0000FF"/>
                </a:solidFill>
              </a:rPr>
              <a:t>(Important remember)</a:t>
            </a:r>
            <a:endParaRPr b="1" i="0" sz="1200" u="none" cap="none" strike="noStrike">
              <a:solidFill>
                <a:srgbClr val="0000FF"/>
              </a:solidFill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 nodes in height h: 2^(h+1)−1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 nodes at level i: 2^i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f69dc5bd35_0_98"/>
          <p:cNvSpPr/>
          <p:nvPr/>
        </p:nvSpPr>
        <p:spPr>
          <a:xfrm>
            <a:off x="151356" y="86529"/>
            <a:ext cx="54705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A66"/>
              </a:buClr>
              <a:buSzPts val="1400"/>
              <a:buFont typeface="Play"/>
              <a:buNone/>
            </a:pPr>
            <a:r>
              <a:rPr i="0" lang="en-US" sz="1500" u="none" cap="none" strike="noStrike">
                <a:solidFill>
                  <a:srgbClr val="0B2A66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an Extended Binary Tree?</a:t>
            </a:r>
            <a:endParaRPr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5" name="Google Shape;515;g3f69dc5bd35_0_98"/>
          <p:cNvSpPr/>
          <p:nvPr/>
        </p:nvSpPr>
        <p:spPr>
          <a:xfrm>
            <a:off x="104875" y="497550"/>
            <a:ext cx="2423700" cy="1524000"/>
          </a:xfrm>
          <a:prstGeom prst="roundRect">
            <a:avLst>
              <a:gd fmla="val 2250" name="adj"/>
            </a:avLst>
          </a:prstGeom>
          <a:solidFill>
            <a:srgbClr val="EAF7EA"/>
          </a:solidFill>
          <a:ln cap="flat" cmpd="sng" w="7200">
            <a:solidFill>
              <a:srgbClr val="238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f69dc5bd35_0_98"/>
          <p:cNvSpPr/>
          <p:nvPr/>
        </p:nvSpPr>
        <p:spPr>
          <a:xfrm>
            <a:off x="258530" y="598224"/>
            <a:ext cx="13839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823A"/>
              </a:buClr>
              <a:buSzPts val="900"/>
              <a:buFont typeface="Arial"/>
              <a:buNone/>
            </a:pPr>
            <a:r>
              <a:rPr b="1" i="0" lang="en-US" sz="1000" u="none" cap="none" strike="noStrike">
                <a:solidFill>
                  <a:srgbClr val="23823A"/>
                </a:solidFill>
                <a:latin typeface="Tahoma"/>
                <a:ea typeface="Tahoma"/>
                <a:cs typeface="Tahoma"/>
                <a:sym typeface="Tahoma"/>
              </a:rPr>
              <a:t>Definition</a:t>
            </a:r>
            <a:endParaRPr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7" name="Google Shape;517;g3f69dc5bd35_0_98"/>
          <p:cNvSpPr/>
          <p:nvPr/>
        </p:nvSpPr>
        <p:spPr>
          <a:xfrm>
            <a:off x="180525" y="877600"/>
            <a:ext cx="78000" cy="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823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3823A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3f69dc5bd35_0_98"/>
          <p:cNvSpPr/>
          <p:nvPr/>
        </p:nvSpPr>
        <p:spPr>
          <a:xfrm>
            <a:off x="258525" y="843650"/>
            <a:ext cx="2222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i="0" lang="en-US" sz="7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An extended binary tree is a transformation of </a:t>
            </a:r>
            <a:r>
              <a:rPr b="1" i="0" lang="en-US" sz="7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any binary tree</a:t>
            </a:r>
            <a:r>
              <a:rPr i="0" lang="en-US" sz="7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 into a </a:t>
            </a:r>
            <a:r>
              <a:rPr b="1" i="0" lang="en-US" sz="7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full binary tree representation.</a:t>
            </a:r>
            <a:br>
              <a:rPr b="1" i="0" lang="en-US" sz="7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i="0" lang="en-US" sz="7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(Not always complete)</a:t>
            </a:r>
            <a:endParaRPr i="0" sz="7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9" name="Google Shape;519;g3f69dc5bd35_0_98"/>
          <p:cNvSpPr/>
          <p:nvPr/>
        </p:nvSpPr>
        <p:spPr>
          <a:xfrm>
            <a:off x="115525" y="1304491"/>
            <a:ext cx="78000" cy="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823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3823A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g3f69dc5bd35_0_98"/>
          <p:cNvSpPr/>
          <p:nvPr/>
        </p:nvSpPr>
        <p:spPr>
          <a:xfrm>
            <a:off x="221925" y="1266010"/>
            <a:ext cx="2222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i="0" lang="en-US" sz="7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It replaces every </a:t>
            </a:r>
            <a:r>
              <a:rPr i="0" lang="en-US" sz="700" u="sng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NULL subtree / missing child</a:t>
            </a:r>
            <a:r>
              <a:rPr i="0" lang="en-US" sz="7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 with a </a:t>
            </a:r>
            <a:r>
              <a:rPr b="1" i="0" lang="en-US" sz="7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special external node (dummy nodes).</a:t>
            </a:r>
            <a:endParaRPr b="1" i="0" sz="700" u="sng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1" name="Google Shape;521;g3f69dc5bd35_0_98"/>
          <p:cNvSpPr/>
          <p:nvPr/>
        </p:nvSpPr>
        <p:spPr>
          <a:xfrm>
            <a:off x="133850" y="1632500"/>
            <a:ext cx="78000" cy="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823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3823A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f69dc5bd35_0_98"/>
          <p:cNvSpPr/>
          <p:nvPr/>
        </p:nvSpPr>
        <p:spPr>
          <a:xfrm>
            <a:off x="240250" y="1609564"/>
            <a:ext cx="22227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i="0" lang="en-US" sz="7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Nodes from the </a:t>
            </a:r>
            <a:r>
              <a:rPr i="0" lang="en-US" sz="700" u="sng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original tree</a:t>
            </a:r>
            <a:r>
              <a:rPr i="0" lang="en-US" sz="7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 become </a:t>
            </a:r>
            <a:r>
              <a:rPr i="0" lang="en-US" sz="700" u="sng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internal nodes.</a:t>
            </a:r>
            <a:endParaRPr i="0" sz="7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3" name="Google Shape;523;g3f69dc5bd35_0_98"/>
          <p:cNvSpPr/>
          <p:nvPr/>
        </p:nvSpPr>
        <p:spPr>
          <a:xfrm>
            <a:off x="133850" y="1829547"/>
            <a:ext cx="78000" cy="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823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3823A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f69dc5bd35_0_98"/>
          <p:cNvSpPr/>
          <p:nvPr/>
        </p:nvSpPr>
        <p:spPr>
          <a:xfrm>
            <a:off x="240250" y="1819047"/>
            <a:ext cx="22227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i="0" lang="en-US" sz="7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The added </a:t>
            </a:r>
            <a:r>
              <a:rPr i="0" lang="en-US" sz="700" u="sng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special nodes</a:t>
            </a:r>
            <a:r>
              <a:rPr i="0" lang="en-US" sz="7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 become </a:t>
            </a:r>
            <a:r>
              <a:rPr i="0" lang="en-US" sz="700" u="sng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external nodes.</a:t>
            </a:r>
            <a:endParaRPr i="0" sz="7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5" name="Google Shape;525;g3f69dc5bd35_0_98"/>
          <p:cNvSpPr/>
          <p:nvPr/>
        </p:nvSpPr>
        <p:spPr>
          <a:xfrm>
            <a:off x="2799064" y="490138"/>
            <a:ext cx="1025700" cy="175500"/>
          </a:xfrm>
          <a:prstGeom prst="roundRect">
            <a:avLst>
              <a:gd fmla="val 16667" name="adj"/>
            </a:avLst>
          </a:prstGeom>
          <a:solidFill>
            <a:srgbClr val="1F5FBF"/>
          </a:solidFill>
          <a:ln cap="flat" cmpd="sng" w="4175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200" lIns="40200" spcFirstLastPara="1" rIns="40200" wrap="square" tIns="40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3f69dc5bd35_0_98"/>
          <p:cNvSpPr/>
          <p:nvPr/>
        </p:nvSpPr>
        <p:spPr>
          <a:xfrm>
            <a:off x="2829454" y="512069"/>
            <a:ext cx="964800" cy="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1"/>
              <a:buFont typeface="Arial"/>
              <a:buNone/>
            </a:pPr>
            <a:r>
              <a:rPr b="1" i="0" lang="en-US" sz="6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Original Binary Tree</a:t>
            </a:r>
            <a:endParaRPr b="0" i="0" sz="6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7" name="Google Shape;527;g3f69dc5bd35_0_98"/>
          <p:cNvCxnSpPr/>
          <p:nvPr/>
        </p:nvCxnSpPr>
        <p:spPr>
          <a:xfrm flipH="1">
            <a:off x="2958726" y="844690"/>
            <a:ext cx="265800" cy="3471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8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8" name="Google Shape;528;g3f69dc5bd35_0_98"/>
          <p:cNvCxnSpPr/>
          <p:nvPr/>
        </p:nvCxnSpPr>
        <p:spPr>
          <a:xfrm>
            <a:off x="3224526" y="844690"/>
            <a:ext cx="265800" cy="3471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8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9" name="Google Shape;529;g3f69dc5bd35_0_98"/>
          <p:cNvCxnSpPr/>
          <p:nvPr/>
        </p:nvCxnSpPr>
        <p:spPr>
          <a:xfrm flipH="1">
            <a:off x="2806512" y="1191933"/>
            <a:ext cx="152100" cy="3909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8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0" name="Google Shape;530;g3f69dc5bd35_0_98"/>
          <p:cNvCxnSpPr/>
          <p:nvPr/>
        </p:nvCxnSpPr>
        <p:spPr>
          <a:xfrm>
            <a:off x="3490439" y="1191933"/>
            <a:ext cx="159600" cy="3909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8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1" name="Google Shape;531;g3f69dc5bd35_0_98"/>
          <p:cNvSpPr/>
          <p:nvPr/>
        </p:nvSpPr>
        <p:spPr>
          <a:xfrm>
            <a:off x="3140953" y="764276"/>
            <a:ext cx="167100" cy="160500"/>
          </a:xfrm>
          <a:prstGeom prst="ellipse">
            <a:avLst/>
          </a:prstGeom>
          <a:solidFill>
            <a:srgbClr val="FFFFFF"/>
          </a:solidFill>
          <a:ln cap="flat" cmpd="sng" w="67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200" lIns="40200" spcFirstLastPara="1" rIns="40200" wrap="square" tIns="40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3f69dc5bd35_0_98"/>
          <p:cNvSpPr/>
          <p:nvPr/>
        </p:nvSpPr>
        <p:spPr>
          <a:xfrm>
            <a:off x="3140953" y="767932"/>
            <a:ext cx="1671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51"/>
              <a:buFont typeface="Arial"/>
              <a:buNone/>
            </a:pPr>
            <a:r>
              <a:rPr b="1" i="0" lang="en-US" sz="65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6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3f69dc5bd35_0_98"/>
          <p:cNvSpPr/>
          <p:nvPr/>
        </p:nvSpPr>
        <p:spPr>
          <a:xfrm>
            <a:off x="2875040" y="1111519"/>
            <a:ext cx="167100" cy="160500"/>
          </a:xfrm>
          <a:prstGeom prst="ellipse">
            <a:avLst/>
          </a:prstGeom>
          <a:solidFill>
            <a:srgbClr val="FFFFFF"/>
          </a:solidFill>
          <a:ln cap="flat" cmpd="sng" w="67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200" lIns="40200" spcFirstLastPara="1" rIns="40200" wrap="square" tIns="40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3f69dc5bd35_0_98"/>
          <p:cNvSpPr/>
          <p:nvPr/>
        </p:nvSpPr>
        <p:spPr>
          <a:xfrm>
            <a:off x="2875040" y="1115174"/>
            <a:ext cx="1671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51"/>
              <a:buFont typeface="Arial"/>
              <a:buNone/>
            </a:pPr>
            <a:r>
              <a:rPr b="1" i="0" lang="en-US" sz="65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6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g3f69dc5bd35_0_98"/>
          <p:cNvSpPr/>
          <p:nvPr/>
        </p:nvSpPr>
        <p:spPr>
          <a:xfrm>
            <a:off x="3406867" y="1111519"/>
            <a:ext cx="167100" cy="160500"/>
          </a:xfrm>
          <a:prstGeom prst="ellipse">
            <a:avLst/>
          </a:prstGeom>
          <a:solidFill>
            <a:srgbClr val="FFFFFF"/>
          </a:solidFill>
          <a:ln cap="flat" cmpd="sng" w="67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200" lIns="40200" spcFirstLastPara="1" rIns="40200" wrap="square" tIns="40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g3f69dc5bd35_0_98"/>
          <p:cNvSpPr/>
          <p:nvPr/>
        </p:nvSpPr>
        <p:spPr>
          <a:xfrm>
            <a:off x="3406867" y="1115174"/>
            <a:ext cx="1671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51"/>
              <a:buFont typeface="Arial"/>
              <a:buNone/>
            </a:pPr>
            <a:r>
              <a:rPr b="1" i="0" lang="en-US" sz="65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6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3f69dc5bd35_0_98"/>
          <p:cNvSpPr/>
          <p:nvPr/>
        </p:nvSpPr>
        <p:spPr>
          <a:xfrm>
            <a:off x="2723089" y="1502624"/>
            <a:ext cx="167100" cy="160500"/>
          </a:xfrm>
          <a:prstGeom prst="ellipse">
            <a:avLst/>
          </a:prstGeom>
          <a:solidFill>
            <a:srgbClr val="FFFFFF"/>
          </a:solidFill>
          <a:ln cap="flat" cmpd="sng" w="67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200" lIns="40200" spcFirstLastPara="1" rIns="40200" wrap="square" tIns="40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f69dc5bd35_0_98"/>
          <p:cNvSpPr/>
          <p:nvPr/>
        </p:nvSpPr>
        <p:spPr>
          <a:xfrm>
            <a:off x="2723089" y="1506279"/>
            <a:ext cx="1671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51"/>
              <a:buFont typeface="Arial"/>
              <a:buNone/>
            </a:pPr>
            <a:r>
              <a:rPr b="1" i="0" lang="en-US" sz="65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6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f69dc5bd35_0_98"/>
          <p:cNvSpPr/>
          <p:nvPr/>
        </p:nvSpPr>
        <p:spPr>
          <a:xfrm>
            <a:off x="3566415" y="1502624"/>
            <a:ext cx="167100" cy="160500"/>
          </a:xfrm>
          <a:prstGeom prst="ellipse">
            <a:avLst/>
          </a:prstGeom>
          <a:solidFill>
            <a:srgbClr val="FFFFFF"/>
          </a:solidFill>
          <a:ln cap="flat" cmpd="sng" w="67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200" lIns="40200" spcFirstLastPara="1" rIns="40200" wrap="square" tIns="40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f69dc5bd35_0_98"/>
          <p:cNvSpPr/>
          <p:nvPr/>
        </p:nvSpPr>
        <p:spPr>
          <a:xfrm>
            <a:off x="3566415" y="1506279"/>
            <a:ext cx="1671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51"/>
              <a:buFont typeface="Arial"/>
              <a:buNone/>
            </a:pPr>
            <a:r>
              <a:rPr b="1" i="0" lang="en-US" sz="65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6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f69dc5bd35_0_98"/>
          <p:cNvSpPr/>
          <p:nvPr/>
        </p:nvSpPr>
        <p:spPr>
          <a:xfrm>
            <a:off x="2720225" y="1952207"/>
            <a:ext cx="1161600" cy="263400"/>
          </a:xfrm>
          <a:prstGeom prst="roundRect">
            <a:avLst>
              <a:gd fmla="val 12500" name="adj"/>
            </a:avLst>
          </a:prstGeom>
          <a:solidFill>
            <a:srgbClr val="FFF7E8"/>
          </a:solidFill>
          <a:ln cap="flat" cmpd="sng" w="6700">
            <a:solidFill>
              <a:srgbClr val="E8A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200" lIns="40200" spcFirstLastPara="1" rIns="40200" wrap="square" tIns="40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g3f69dc5bd35_0_98"/>
          <p:cNvSpPr/>
          <p:nvPr/>
        </p:nvSpPr>
        <p:spPr>
          <a:xfrm>
            <a:off x="2848448" y="2021660"/>
            <a:ext cx="9495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C00"/>
              </a:buClr>
              <a:buSzPts val="558"/>
              <a:buFont typeface="Arial"/>
              <a:buNone/>
            </a:pPr>
            <a:r>
              <a:rPr b="1" i="0" lang="en-US" sz="558" u="none" cap="none" strike="noStrike">
                <a:solidFill>
                  <a:srgbClr val="E86C00"/>
                </a:solidFill>
                <a:latin typeface="Arial"/>
                <a:ea typeface="Arial"/>
                <a:cs typeface="Arial"/>
                <a:sym typeface="Arial"/>
              </a:rPr>
              <a:t>Some child positions are NULL / missing.</a:t>
            </a:r>
            <a:endParaRPr b="0" i="0" sz="55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g3f69dc5bd35_0_98"/>
          <p:cNvSpPr/>
          <p:nvPr/>
        </p:nvSpPr>
        <p:spPr>
          <a:xfrm>
            <a:off x="3950090" y="1166347"/>
            <a:ext cx="323100" cy="21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E7B3"/>
          </a:solidFill>
          <a:ln cap="flat" cmpd="sng" w="6700">
            <a:solidFill>
              <a:srgbClr val="E8A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200" lIns="40200" spcFirstLastPara="1" rIns="40200" wrap="square" tIns="40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3f69dc5bd35_0_98"/>
          <p:cNvSpPr/>
          <p:nvPr/>
        </p:nvSpPr>
        <p:spPr>
          <a:xfrm>
            <a:off x="3942492" y="983587"/>
            <a:ext cx="342000" cy="1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C00"/>
              </a:buClr>
              <a:buSzPts val="465"/>
              <a:buFont typeface="Arial"/>
              <a:buNone/>
            </a:pPr>
            <a:r>
              <a:rPr b="1" i="0" lang="en-US" sz="651" u="none" cap="none" strike="noStrike">
                <a:solidFill>
                  <a:srgbClr val="E86C00"/>
                </a:solidFill>
                <a:latin typeface="Arial"/>
                <a:ea typeface="Arial"/>
                <a:cs typeface="Arial"/>
                <a:sym typeface="Arial"/>
              </a:rPr>
              <a:t>replace NULL</a:t>
            </a:r>
            <a:endParaRPr b="0" i="0" sz="6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g3f69dc5bd35_0_98"/>
          <p:cNvSpPr/>
          <p:nvPr/>
        </p:nvSpPr>
        <p:spPr>
          <a:xfrm>
            <a:off x="4394545" y="490138"/>
            <a:ext cx="1196700" cy="175500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41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200" lIns="40200" spcFirstLastPara="1" rIns="40200" wrap="square" tIns="40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f69dc5bd35_0_98"/>
          <p:cNvSpPr/>
          <p:nvPr/>
        </p:nvSpPr>
        <p:spPr>
          <a:xfrm>
            <a:off x="4424935" y="512069"/>
            <a:ext cx="1135800" cy="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1"/>
              <a:buFont typeface="Arial"/>
              <a:buNone/>
            </a:pPr>
            <a:r>
              <a:rPr b="1" i="0" lang="en-US" sz="6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Extended Binary Tree</a:t>
            </a:r>
            <a:endParaRPr b="0" i="0" sz="6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7" name="Google Shape;547;g3f69dc5bd35_0_98"/>
          <p:cNvCxnSpPr/>
          <p:nvPr/>
        </p:nvCxnSpPr>
        <p:spPr>
          <a:xfrm flipH="1">
            <a:off x="4677464" y="791690"/>
            <a:ext cx="273600" cy="3183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8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8" name="Google Shape;548;g3f69dc5bd35_0_98"/>
          <p:cNvCxnSpPr/>
          <p:nvPr/>
        </p:nvCxnSpPr>
        <p:spPr>
          <a:xfrm>
            <a:off x="4951064" y="791690"/>
            <a:ext cx="277200" cy="3183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8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9" name="Google Shape;549;g3f69dc5bd35_0_98"/>
          <p:cNvCxnSpPr/>
          <p:nvPr/>
        </p:nvCxnSpPr>
        <p:spPr>
          <a:xfrm flipH="1">
            <a:off x="4556053" y="1109691"/>
            <a:ext cx="121500" cy="3291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8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0" name="Google Shape;550;g3f69dc5bd35_0_98"/>
          <p:cNvCxnSpPr/>
          <p:nvPr/>
        </p:nvCxnSpPr>
        <p:spPr>
          <a:xfrm>
            <a:off x="4677553" y="1109691"/>
            <a:ext cx="132900" cy="3291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8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1" name="Google Shape;551;g3f69dc5bd35_0_98"/>
          <p:cNvCxnSpPr/>
          <p:nvPr/>
        </p:nvCxnSpPr>
        <p:spPr>
          <a:xfrm flipH="1">
            <a:off x="5102974" y="1109691"/>
            <a:ext cx="125400" cy="3291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8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2" name="Google Shape;552;g3f69dc5bd35_0_98"/>
          <p:cNvCxnSpPr/>
          <p:nvPr/>
        </p:nvCxnSpPr>
        <p:spPr>
          <a:xfrm>
            <a:off x="5228374" y="1109691"/>
            <a:ext cx="132900" cy="3291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8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3" name="Google Shape;553;g3f69dc5bd35_0_98"/>
          <p:cNvCxnSpPr/>
          <p:nvPr/>
        </p:nvCxnSpPr>
        <p:spPr>
          <a:xfrm flipH="1">
            <a:off x="4442293" y="1438658"/>
            <a:ext cx="113700" cy="3546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8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4" name="Google Shape;554;g3f69dc5bd35_0_98"/>
          <p:cNvCxnSpPr/>
          <p:nvPr/>
        </p:nvCxnSpPr>
        <p:spPr>
          <a:xfrm>
            <a:off x="4555993" y="1438658"/>
            <a:ext cx="113700" cy="3546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8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5" name="Google Shape;555;g3f69dc5bd35_0_98"/>
          <p:cNvCxnSpPr/>
          <p:nvPr/>
        </p:nvCxnSpPr>
        <p:spPr>
          <a:xfrm flipH="1">
            <a:off x="5255131" y="1438658"/>
            <a:ext cx="106200" cy="3546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8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6" name="Google Shape;556;g3f69dc5bd35_0_98"/>
          <p:cNvCxnSpPr/>
          <p:nvPr/>
        </p:nvCxnSpPr>
        <p:spPr>
          <a:xfrm>
            <a:off x="5361331" y="1438658"/>
            <a:ext cx="121500" cy="3546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8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7" name="Google Shape;557;g3f69dc5bd35_0_98"/>
          <p:cNvSpPr/>
          <p:nvPr/>
        </p:nvSpPr>
        <p:spPr>
          <a:xfrm>
            <a:off x="4876988" y="720414"/>
            <a:ext cx="148200" cy="142800"/>
          </a:xfrm>
          <a:prstGeom prst="ellipse">
            <a:avLst/>
          </a:prstGeom>
          <a:solidFill>
            <a:srgbClr val="FFFFFF"/>
          </a:solidFill>
          <a:ln cap="flat" cmpd="sng" w="67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200" lIns="40200" spcFirstLastPara="1" rIns="40200" wrap="square" tIns="40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g3f69dc5bd35_0_98"/>
          <p:cNvSpPr/>
          <p:nvPr/>
        </p:nvSpPr>
        <p:spPr>
          <a:xfrm>
            <a:off x="4876988" y="724069"/>
            <a:ext cx="1482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51"/>
              <a:buFont typeface="Arial"/>
              <a:buNone/>
            </a:pPr>
            <a:r>
              <a:rPr b="1" i="0" lang="en-US" sz="65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6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3f69dc5bd35_0_98"/>
          <p:cNvSpPr/>
          <p:nvPr/>
        </p:nvSpPr>
        <p:spPr>
          <a:xfrm>
            <a:off x="4603477" y="1038415"/>
            <a:ext cx="148200" cy="142800"/>
          </a:xfrm>
          <a:prstGeom prst="ellipse">
            <a:avLst/>
          </a:prstGeom>
          <a:solidFill>
            <a:srgbClr val="FFFFFF"/>
          </a:solidFill>
          <a:ln cap="flat" cmpd="sng" w="67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200" lIns="40200" spcFirstLastPara="1" rIns="40200" wrap="square" tIns="40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g3f69dc5bd35_0_98"/>
          <p:cNvSpPr/>
          <p:nvPr/>
        </p:nvSpPr>
        <p:spPr>
          <a:xfrm>
            <a:off x="4603477" y="1042070"/>
            <a:ext cx="1482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51"/>
              <a:buFont typeface="Arial"/>
              <a:buNone/>
            </a:pPr>
            <a:r>
              <a:rPr b="1" i="0" lang="en-US" sz="65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6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g3f69dc5bd35_0_98"/>
          <p:cNvSpPr/>
          <p:nvPr/>
        </p:nvSpPr>
        <p:spPr>
          <a:xfrm>
            <a:off x="5154298" y="1038415"/>
            <a:ext cx="148200" cy="142800"/>
          </a:xfrm>
          <a:prstGeom prst="ellipse">
            <a:avLst/>
          </a:prstGeom>
          <a:solidFill>
            <a:srgbClr val="FFFFFF"/>
          </a:solidFill>
          <a:ln cap="flat" cmpd="sng" w="67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200" lIns="40200" spcFirstLastPara="1" rIns="40200" wrap="square" tIns="40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g3f69dc5bd35_0_98"/>
          <p:cNvSpPr/>
          <p:nvPr/>
        </p:nvSpPr>
        <p:spPr>
          <a:xfrm>
            <a:off x="5154298" y="1042070"/>
            <a:ext cx="1482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51"/>
              <a:buFont typeface="Arial"/>
              <a:buNone/>
            </a:pPr>
            <a:r>
              <a:rPr b="1" i="0" lang="en-US" sz="65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6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f69dc5bd35_0_98"/>
          <p:cNvSpPr/>
          <p:nvPr/>
        </p:nvSpPr>
        <p:spPr>
          <a:xfrm>
            <a:off x="4481917" y="1367382"/>
            <a:ext cx="148200" cy="142800"/>
          </a:xfrm>
          <a:prstGeom prst="ellipse">
            <a:avLst/>
          </a:prstGeom>
          <a:solidFill>
            <a:srgbClr val="FFFFFF"/>
          </a:solidFill>
          <a:ln cap="flat" cmpd="sng" w="67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200" lIns="40200" spcFirstLastPara="1" rIns="40200" wrap="square" tIns="40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g3f69dc5bd35_0_98"/>
          <p:cNvSpPr/>
          <p:nvPr/>
        </p:nvSpPr>
        <p:spPr>
          <a:xfrm>
            <a:off x="4481917" y="1371037"/>
            <a:ext cx="1482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51"/>
              <a:buFont typeface="Arial"/>
              <a:buNone/>
            </a:pPr>
            <a:r>
              <a:rPr b="1" i="0" lang="en-US" sz="65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6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g3f69dc5bd35_0_98"/>
          <p:cNvSpPr/>
          <p:nvPr/>
        </p:nvSpPr>
        <p:spPr>
          <a:xfrm>
            <a:off x="4736434" y="1367382"/>
            <a:ext cx="148200" cy="142800"/>
          </a:xfrm>
          <a:prstGeom prst="ellipse">
            <a:avLst/>
          </a:prstGeom>
          <a:solidFill>
            <a:srgbClr val="7030A0"/>
          </a:solidFill>
          <a:ln cap="flat" cmpd="sng" w="6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200" lIns="40200" spcFirstLastPara="1" rIns="40200" wrap="square" tIns="40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g3f69dc5bd35_0_98"/>
          <p:cNvSpPr/>
          <p:nvPr/>
        </p:nvSpPr>
        <p:spPr>
          <a:xfrm>
            <a:off x="4736434" y="1371037"/>
            <a:ext cx="1482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1"/>
              <a:buFont typeface="Arial"/>
              <a:buNone/>
            </a:pPr>
            <a:r>
              <a:rPr b="1" i="0" lang="en-US" sz="6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X1</a:t>
            </a:r>
            <a:endParaRPr b="0" i="0" sz="6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g3f69dc5bd35_0_98"/>
          <p:cNvSpPr/>
          <p:nvPr/>
        </p:nvSpPr>
        <p:spPr>
          <a:xfrm>
            <a:off x="5028939" y="1367382"/>
            <a:ext cx="148200" cy="142800"/>
          </a:xfrm>
          <a:prstGeom prst="ellipse">
            <a:avLst/>
          </a:prstGeom>
          <a:solidFill>
            <a:srgbClr val="7030A0"/>
          </a:solidFill>
          <a:ln cap="flat" cmpd="sng" w="6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200" lIns="40200" spcFirstLastPara="1" rIns="40200" wrap="square" tIns="40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g3f69dc5bd35_0_98"/>
          <p:cNvSpPr/>
          <p:nvPr/>
        </p:nvSpPr>
        <p:spPr>
          <a:xfrm>
            <a:off x="5028939" y="1371037"/>
            <a:ext cx="1482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1"/>
              <a:buFont typeface="Arial"/>
              <a:buNone/>
            </a:pPr>
            <a:r>
              <a:rPr b="1" i="0" lang="en-US" sz="6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endParaRPr b="0" i="0" sz="6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g3f69dc5bd35_0_98"/>
          <p:cNvSpPr/>
          <p:nvPr/>
        </p:nvSpPr>
        <p:spPr>
          <a:xfrm>
            <a:off x="5287255" y="1367382"/>
            <a:ext cx="148200" cy="142800"/>
          </a:xfrm>
          <a:prstGeom prst="ellipse">
            <a:avLst/>
          </a:prstGeom>
          <a:solidFill>
            <a:srgbClr val="FFFFFF"/>
          </a:solidFill>
          <a:ln cap="flat" cmpd="sng" w="67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200" lIns="40200" spcFirstLastPara="1" rIns="40200" wrap="square" tIns="40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g3f69dc5bd35_0_98"/>
          <p:cNvSpPr/>
          <p:nvPr/>
        </p:nvSpPr>
        <p:spPr>
          <a:xfrm>
            <a:off x="5287255" y="1371037"/>
            <a:ext cx="1482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51"/>
              <a:buFont typeface="Arial"/>
              <a:buNone/>
            </a:pPr>
            <a:r>
              <a:rPr b="1" i="0" lang="en-US" sz="65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6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g3f69dc5bd35_0_98"/>
          <p:cNvSpPr/>
          <p:nvPr/>
        </p:nvSpPr>
        <p:spPr>
          <a:xfrm>
            <a:off x="4367954" y="1721935"/>
            <a:ext cx="148200" cy="142800"/>
          </a:xfrm>
          <a:prstGeom prst="ellipse">
            <a:avLst/>
          </a:prstGeom>
          <a:solidFill>
            <a:srgbClr val="7030A0"/>
          </a:solidFill>
          <a:ln cap="flat" cmpd="sng" w="6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200" lIns="40200" spcFirstLastPara="1" rIns="40200" wrap="square" tIns="40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3f69dc5bd35_0_98"/>
          <p:cNvSpPr/>
          <p:nvPr/>
        </p:nvSpPr>
        <p:spPr>
          <a:xfrm>
            <a:off x="4367954" y="1725590"/>
            <a:ext cx="1482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1"/>
              <a:buFont typeface="Arial"/>
              <a:buNone/>
            </a:pPr>
            <a:r>
              <a:rPr b="1" i="0" lang="en-US" sz="6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X3</a:t>
            </a:r>
            <a:endParaRPr b="0" i="0" sz="6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g3f69dc5bd35_0_98"/>
          <p:cNvSpPr/>
          <p:nvPr/>
        </p:nvSpPr>
        <p:spPr>
          <a:xfrm>
            <a:off x="4595880" y="1721935"/>
            <a:ext cx="148200" cy="142800"/>
          </a:xfrm>
          <a:prstGeom prst="ellipse">
            <a:avLst/>
          </a:prstGeom>
          <a:solidFill>
            <a:srgbClr val="7030A0"/>
          </a:solidFill>
          <a:ln cap="flat" cmpd="sng" w="6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200" lIns="40200" spcFirstLastPara="1" rIns="40200" wrap="square" tIns="40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g3f69dc5bd35_0_98"/>
          <p:cNvSpPr/>
          <p:nvPr/>
        </p:nvSpPr>
        <p:spPr>
          <a:xfrm>
            <a:off x="4595880" y="1725590"/>
            <a:ext cx="1482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1"/>
              <a:buFont typeface="Arial"/>
              <a:buNone/>
            </a:pPr>
            <a:r>
              <a:rPr b="1" i="0" lang="en-US" sz="6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endParaRPr b="0" i="0" sz="6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3f69dc5bd35_0_98"/>
          <p:cNvSpPr/>
          <p:nvPr/>
        </p:nvSpPr>
        <p:spPr>
          <a:xfrm>
            <a:off x="5180889" y="1721935"/>
            <a:ext cx="148200" cy="142800"/>
          </a:xfrm>
          <a:prstGeom prst="ellipse">
            <a:avLst/>
          </a:prstGeom>
          <a:solidFill>
            <a:srgbClr val="7030A0"/>
          </a:solidFill>
          <a:ln cap="flat" cmpd="sng" w="6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200" lIns="40200" spcFirstLastPara="1" rIns="40200" wrap="square" tIns="40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g3f69dc5bd35_0_98"/>
          <p:cNvSpPr/>
          <p:nvPr/>
        </p:nvSpPr>
        <p:spPr>
          <a:xfrm>
            <a:off x="5180889" y="1725590"/>
            <a:ext cx="1482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1"/>
              <a:buFont typeface="Arial"/>
              <a:buNone/>
            </a:pPr>
            <a:r>
              <a:rPr b="1" i="0" lang="en-US" sz="6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X5</a:t>
            </a:r>
            <a:endParaRPr b="0" i="0" sz="6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g3f69dc5bd35_0_98"/>
          <p:cNvSpPr/>
          <p:nvPr/>
        </p:nvSpPr>
        <p:spPr>
          <a:xfrm>
            <a:off x="5408815" y="1721935"/>
            <a:ext cx="148200" cy="142800"/>
          </a:xfrm>
          <a:prstGeom prst="ellipse">
            <a:avLst/>
          </a:prstGeom>
          <a:solidFill>
            <a:srgbClr val="7030A0"/>
          </a:solidFill>
          <a:ln cap="flat" cmpd="sng" w="6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200" lIns="40200" spcFirstLastPara="1" rIns="40200" wrap="square" tIns="40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f69dc5bd35_0_98"/>
          <p:cNvSpPr/>
          <p:nvPr/>
        </p:nvSpPr>
        <p:spPr>
          <a:xfrm>
            <a:off x="5408815" y="1725590"/>
            <a:ext cx="1482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1"/>
              <a:buFont typeface="Arial"/>
              <a:buNone/>
            </a:pPr>
            <a:r>
              <a:rPr b="1" i="0" lang="en-US" sz="6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X6</a:t>
            </a:r>
            <a:endParaRPr b="0" i="0" sz="6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3f69dc5bd35_0_98"/>
          <p:cNvSpPr/>
          <p:nvPr/>
        </p:nvSpPr>
        <p:spPr>
          <a:xfrm>
            <a:off x="4489502" y="2007037"/>
            <a:ext cx="1161600" cy="197400"/>
          </a:xfrm>
          <a:prstGeom prst="roundRect">
            <a:avLst>
              <a:gd fmla="val 16667" name="adj"/>
            </a:avLst>
          </a:prstGeom>
          <a:solidFill>
            <a:srgbClr val="F2E7FA"/>
          </a:solidFill>
          <a:ln cap="flat" cmpd="sng" w="6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200" lIns="40200" spcFirstLastPara="1" rIns="40200" wrap="square" tIns="40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g3f69dc5bd35_0_98"/>
          <p:cNvSpPr/>
          <p:nvPr/>
        </p:nvSpPr>
        <p:spPr>
          <a:xfrm>
            <a:off x="4573087" y="2061868"/>
            <a:ext cx="964800" cy="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558"/>
              <a:buFont typeface="Arial"/>
              <a:buNone/>
            </a:pPr>
            <a:r>
              <a:rPr b="1" i="0" lang="en-US" sz="558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External nodes are leaves.</a:t>
            </a:r>
            <a:endParaRPr b="0" i="0" sz="55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f69dc5bd35_0_98"/>
          <p:cNvSpPr/>
          <p:nvPr/>
        </p:nvSpPr>
        <p:spPr>
          <a:xfrm>
            <a:off x="4713667" y="3106403"/>
            <a:ext cx="8649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Binary Tree Basics  •  4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f69dc5bd35_0_98"/>
          <p:cNvSpPr txBox="1"/>
          <p:nvPr/>
        </p:nvSpPr>
        <p:spPr>
          <a:xfrm>
            <a:off x="104875" y="2109100"/>
            <a:ext cx="2933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Full/Strict Binary Tree:</a:t>
            </a:r>
            <a:r>
              <a:rPr b="0" i="0" lang="en-US" sz="6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6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27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Tahoma"/>
              <a:buChar char="●"/>
            </a:pPr>
            <a:r>
              <a:rPr b="0" i="0" lang="en-US" sz="6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1) Every node has either</a:t>
            </a:r>
            <a:r>
              <a:rPr b="0" i="0" lang="en-US" sz="65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i="0" lang="en-US" sz="65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 or 2 children. </a:t>
            </a:r>
            <a:endParaRPr b="1" i="0" sz="65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27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Tahoma"/>
              <a:buChar char="●"/>
            </a:pPr>
            <a:r>
              <a:rPr b="0" i="0" lang="en-US" sz="6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2) No of leaf nodes = no of internal nodes + 1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f69dc5bd35_0_98"/>
          <p:cNvSpPr txBox="1"/>
          <p:nvPr/>
        </p:nvSpPr>
        <p:spPr>
          <a:xfrm>
            <a:off x="258525" y="2555575"/>
            <a:ext cx="5547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Source: </a:t>
            </a:r>
            <a:br>
              <a:rPr lang="en-US" sz="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7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3"/>
              </a:rPr>
              <a:t>https://www.geeksforgeeks.org/dsa/extended-binary-tree/</a:t>
            </a:r>
            <a:br>
              <a:rPr lang="en-US" sz="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https://www.thedshandbook.com/binary-trees/</a:t>
            </a:r>
            <a:endParaRPr sz="7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f69dc5bd35_0_199"/>
          <p:cNvSpPr/>
          <p:nvPr/>
        </p:nvSpPr>
        <p:spPr>
          <a:xfrm>
            <a:off x="151361" y="189302"/>
            <a:ext cx="55740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A66"/>
              </a:buClr>
              <a:buSzPts val="1400"/>
              <a:buFont typeface="Play"/>
              <a:buNone/>
            </a:pPr>
            <a:r>
              <a:rPr lang="en-US" sz="1500">
                <a:solidFill>
                  <a:srgbClr val="0B2A66"/>
                </a:solidFill>
                <a:latin typeface="Trebuchet MS"/>
                <a:ea typeface="Trebuchet MS"/>
                <a:cs typeface="Trebuchet MS"/>
                <a:sym typeface="Trebuchet MS"/>
              </a:rPr>
              <a:t>Relationship Formulas in an Extended Binary Tree (Example 1)</a:t>
            </a:r>
            <a:endParaRPr sz="1500">
              <a:solidFill>
                <a:srgbClr val="0B2A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0" name="Google Shape;590;g3f69dc5bd35_0_199"/>
          <p:cNvSpPr/>
          <p:nvPr/>
        </p:nvSpPr>
        <p:spPr>
          <a:xfrm>
            <a:off x="275015" y="682651"/>
            <a:ext cx="1470300" cy="865200"/>
          </a:xfrm>
          <a:prstGeom prst="roundRect">
            <a:avLst>
              <a:gd fmla="val 4500" name="adj"/>
            </a:avLst>
          </a:prstGeom>
          <a:solidFill>
            <a:srgbClr val="EAF7EA"/>
          </a:solidFill>
          <a:ln cap="flat" cmpd="sng" w="7200">
            <a:solidFill>
              <a:srgbClr val="238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f69dc5bd35_0_199"/>
          <p:cNvSpPr/>
          <p:nvPr/>
        </p:nvSpPr>
        <p:spPr>
          <a:xfrm>
            <a:off x="404749" y="803792"/>
            <a:ext cx="11244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823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3823A"/>
                </a:solidFill>
                <a:latin typeface="Arial"/>
                <a:ea typeface="Arial"/>
                <a:cs typeface="Arial"/>
                <a:sym typeface="Arial"/>
              </a:rPr>
              <a:t>Internal edge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g3f69dc5bd35_0_199"/>
          <p:cNvSpPr/>
          <p:nvPr/>
        </p:nvSpPr>
        <p:spPr>
          <a:xfrm>
            <a:off x="404749" y="1028768"/>
            <a:ext cx="11892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i="0" lang="en-US" sz="7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Connects one </a:t>
            </a:r>
            <a:r>
              <a:rPr b="1" i="0" lang="en-US" sz="7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internal node </a:t>
            </a:r>
            <a:r>
              <a:rPr i="0" lang="en-US" sz="7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to another </a:t>
            </a:r>
            <a:r>
              <a:rPr b="1" i="0" lang="en-US" sz="7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internal node.</a:t>
            </a:r>
            <a:endParaRPr b="1" i="0" sz="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593" name="Google Shape;593;g3f69dc5bd35_0_199"/>
          <p:cNvCxnSpPr/>
          <p:nvPr/>
        </p:nvCxnSpPr>
        <p:spPr>
          <a:xfrm>
            <a:off x="577728" y="1396518"/>
            <a:ext cx="8649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12600">
            <a:solidFill>
              <a:srgbClr val="2382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4" name="Google Shape;594;g3f69dc5bd35_0_199"/>
          <p:cNvSpPr/>
          <p:nvPr/>
        </p:nvSpPr>
        <p:spPr>
          <a:xfrm>
            <a:off x="460967" y="1301336"/>
            <a:ext cx="190200" cy="190200"/>
          </a:xfrm>
          <a:prstGeom prst="ellipse">
            <a:avLst/>
          </a:prstGeom>
          <a:solidFill>
            <a:srgbClr val="FFFFFF"/>
          </a:solidFill>
          <a:ln cap="flat" cmpd="sng" w="7200">
            <a:solidFill>
              <a:srgbClr val="238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g3f69dc5bd35_0_199"/>
          <p:cNvSpPr/>
          <p:nvPr/>
        </p:nvSpPr>
        <p:spPr>
          <a:xfrm>
            <a:off x="460967" y="1305662"/>
            <a:ext cx="1902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g3f69dc5bd35_0_199"/>
          <p:cNvSpPr/>
          <p:nvPr/>
        </p:nvSpPr>
        <p:spPr>
          <a:xfrm>
            <a:off x="1433972" y="1301336"/>
            <a:ext cx="190200" cy="190200"/>
          </a:xfrm>
          <a:prstGeom prst="ellipse">
            <a:avLst/>
          </a:prstGeom>
          <a:solidFill>
            <a:srgbClr val="FFFFFF"/>
          </a:solidFill>
          <a:ln cap="flat" cmpd="sng" w="7200">
            <a:solidFill>
              <a:srgbClr val="238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f69dc5bd35_0_199"/>
          <p:cNvSpPr/>
          <p:nvPr/>
        </p:nvSpPr>
        <p:spPr>
          <a:xfrm>
            <a:off x="1433972" y="1305662"/>
            <a:ext cx="1902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g3f69dc5bd35_0_199"/>
          <p:cNvSpPr/>
          <p:nvPr/>
        </p:nvSpPr>
        <p:spPr>
          <a:xfrm>
            <a:off x="275015" y="1742635"/>
            <a:ext cx="1470300" cy="886800"/>
          </a:xfrm>
          <a:prstGeom prst="roundRect">
            <a:avLst>
              <a:gd fmla="val 4390" name="adj"/>
            </a:avLst>
          </a:prstGeom>
          <a:solidFill>
            <a:srgbClr val="F2E7FA"/>
          </a:solidFill>
          <a:ln cap="flat" cmpd="sng" w="72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g3f69dc5bd35_0_199"/>
          <p:cNvSpPr/>
          <p:nvPr/>
        </p:nvSpPr>
        <p:spPr>
          <a:xfrm>
            <a:off x="404749" y="1863776"/>
            <a:ext cx="11244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External edge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g3f69dc5bd35_0_199"/>
          <p:cNvSpPr/>
          <p:nvPr/>
        </p:nvSpPr>
        <p:spPr>
          <a:xfrm>
            <a:off x="404749" y="2080100"/>
            <a:ext cx="11892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i="0" lang="en-US" sz="7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Connects an </a:t>
            </a:r>
            <a:r>
              <a:rPr b="1" i="0" lang="en-US" sz="7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internal node</a:t>
            </a:r>
            <a:r>
              <a:rPr i="0" lang="en-US" sz="7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 to an </a:t>
            </a:r>
            <a:r>
              <a:rPr b="1" i="0" lang="en-US" sz="7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external node</a:t>
            </a:r>
            <a:r>
              <a:rPr i="0" lang="en-US" sz="7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i="0" sz="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601" name="Google Shape;601;g3f69dc5bd35_0_199"/>
          <p:cNvCxnSpPr/>
          <p:nvPr/>
        </p:nvCxnSpPr>
        <p:spPr>
          <a:xfrm>
            <a:off x="577728" y="2456502"/>
            <a:ext cx="8649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126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2" name="Google Shape;602;g3f69dc5bd35_0_199"/>
          <p:cNvSpPr/>
          <p:nvPr/>
        </p:nvSpPr>
        <p:spPr>
          <a:xfrm>
            <a:off x="460967" y="2361320"/>
            <a:ext cx="190200" cy="190200"/>
          </a:xfrm>
          <a:prstGeom prst="ellipse">
            <a:avLst/>
          </a:prstGeom>
          <a:solidFill>
            <a:srgbClr val="FFFFFF"/>
          </a:solidFill>
          <a:ln cap="flat" cmpd="sng" w="7200">
            <a:solidFill>
              <a:srgbClr val="238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g3f69dc5bd35_0_199"/>
          <p:cNvSpPr/>
          <p:nvPr/>
        </p:nvSpPr>
        <p:spPr>
          <a:xfrm>
            <a:off x="460967" y="2365647"/>
            <a:ext cx="1902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g3f69dc5bd35_0_199"/>
          <p:cNvSpPr/>
          <p:nvPr/>
        </p:nvSpPr>
        <p:spPr>
          <a:xfrm>
            <a:off x="1433972" y="2361320"/>
            <a:ext cx="190200" cy="190200"/>
          </a:xfrm>
          <a:prstGeom prst="ellipse">
            <a:avLst/>
          </a:prstGeom>
          <a:solidFill>
            <a:srgbClr val="7030A0"/>
          </a:solidFill>
          <a:ln cap="flat" cmpd="sng" w="72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g3f69dc5bd35_0_199"/>
          <p:cNvSpPr/>
          <p:nvPr/>
        </p:nvSpPr>
        <p:spPr>
          <a:xfrm>
            <a:off x="1433972" y="2365647"/>
            <a:ext cx="1902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6" name="Google Shape;606;g3f69dc5bd35_0_199"/>
          <p:cNvCxnSpPr/>
          <p:nvPr/>
        </p:nvCxnSpPr>
        <p:spPr>
          <a:xfrm flipH="1">
            <a:off x="2271678" y="881733"/>
            <a:ext cx="402300" cy="5409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10200">
            <a:solidFill>
              <a:srgbClr val="23823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7" name="Google Shape;607;g3f69dc5bd35_0_199"/>
          <p:cNvCxnSpPr/>
          <p:nvPr/>
        </p:nvCxnSpPr>
        <p:spPr>
          <a:xfrm>
            <a:off x="2673978" y="881733"/>
            <a:ext cx="402300" cy="5409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10200">
            <a:solidFill>
              <a:srgbClr val="23823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8" name="Google Shape;608;g3f69dc5bd35_0_199"/>
          <p:cNvCxnSpPr/>
          <p:nvPr/>
        </p:nvCxnSpPr>
        <p:spPr>
          <a:xfrm flipH="1">
            <a:off x="2098703" y="1422542"/>
            <a:ext cx="173100" cy="4890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102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9" name="Google Shape;609;g3f69dc5bd35_0_199"/>
          <p:cNvCxnSpPr/>
          <p:nvPr/>
        </p:nvCxnSpPr>
        <p:spPr>
          <a:xfrm>
            <a:off x="2271803" y="1422542"/>
            <a:ext cx="155700" cy="4890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102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0" name="Google Shape;610;g3f69dc5bd35_0_199"/>
          <p:cNvCxnSpPr/>
          <p:nvPr/>
        </p:nvCxnSpPr>
        <p:spPr>
          <a:xfrm flipH="1">
            <a:off x="2903053" y="1422542"/>
            <a:ext cx="173100" cy="4890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102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g3f69dc5bd35_0_199"/>
          <p:cNvCxnSpPr/>
          <p:nvPr/>
        </p:nvCxnSpPr>
        <p:spPr>
          <a:xfrm>
            <a:off x="3076153" y="1422542"/>
            <a:ext cx="155700" cy="4890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102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2" name="Google Shape;612;g3f69dc5bd35_0_199"/>
          <p:cNvSpPr/>
          <p:nvPr/>
        </p:nvSpPr>
        <p:spPr>
          <a:xfrm>
            <a:off x="2555055" y="762755"/>
            <a:ext cx="237900" cy="237900"/>
          </a:xfrm>
          <a:prstGeom prst="ellipse">
            <a:avLst/>
          </a:prstGeom>
          <a:solidFill>
            <a:srgbClr val="FFFFFF"/>
          </a:solidFill>
          <a:ln cap="flat" cmpd="sng" w="72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g3f69dc5bd35_0_199"/>
          <p:cNvSpPr/>
          <p:nvPr/>
        </p:nvSpPr>
        <p:spPr>
          <a:xfrm>
            <a:off x="2555055" y="767082"/>
            <a:ext cx="237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g3f69dc5bd35_0_199"/>
          <p:cNvSpPr/>
          <p:nvPr/>
        </p:nvSpPr>
        <p:spPr>
          <a:xfrm>
            <a:off x="2152880" y="1303564"/>
            <a:ext cx="237900" cy="237900"/>
          </a:xfrm>
          <a:prstGeom prst="ellipse">
            <a:avLst/>
          </a:prstGeom>
          <a:solidFill>
            <a:srgbClr val="FFFFFF"/>
          </a:solidFill>
          <a:ln cap="flat" cmpd="sng" w="72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g3f69dc5bd35_0_199"/>
          <p:cNvSpPr/>
          <p:nvPr/>
        </p:nvSpPr>
        <p:spPr>
          <a:xfrm>
            <a:off x="2152880" y="1307890"/>
            <a:ext cx="237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g3f69dc5bd35_0_199"/>
          <p:cNvSpPr/>
          <p:nvPr/>
        </p:nvSpPr>
        <p:spPr>
          <a:xfrm>
            <a:off x="2957230" y="1303564"/>
            <a:ext cx="237900" cy="237900"/>
          </a:xfrm>
          <a:prstGeom prst="ellipse">
            <a:avLst/>
          </a:prstGeom>
          <a:solidFill>
            <a:srgbClr val="FFFFFF"/>
          </a:solidFill>
          <a:ln cap="flat" cmpd="sng" w="72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3f69dc5bd35_0_199"/>
          <p:cNvSpPr/>
          <p:nvPr/>
        </p:nvSpPr>
        <p:spPr>
          <a:xfrm>
            <a:off x="2957230" y="1307890"/>
            <a:ext cx="237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g3f69dc5bd35_0_199"/>
          <p:cNvSpPr/>
          <p:nvPr/>
        </p:nvSpPr>
        <p:spPr>
          <a:xfrm>
            <a:off x="1979901" y="1792454"/>
            <a:ext cx="237900" cy="237900"/>
          </a:xfrm>
          <a:prstGeom prst="ellipse">
            <a:avLst/>
          </a:prstGeom>
          <a:solidFill>
            <a:srgbClr val="7030A0"/>
          </a:solidFill>
          <a:ln cap="flat" cmpd="sng" w="72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g3f69dc5bd35_0_199"/>
          <p:cNvSpPr/>
          <p:nvPr/>
        </p:nvSpPr>
        <p:spPr>
          <a:xfrm>
            <a:off x="1979901" y="1796781"/>
            <a:ext cx="237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g3f69dc5bd35_0_199"/>
          <p:cNvSpPr/>
          <p:nvPr/>
        </p:nvSpPr>
        <p:spPr>
          <a:xfrm>
            <a:off x="2308561" y="1792454"/>
            <a:ext cx="237900" cy="237900"/>
          </a:xfrm>
          <a:prstGeom prst="ellipse">
            <a:avLst/>
          </a:prstGeom>
          <a:solidFill>
            <a:srgbClr val="7030A0"/>
          </a:solidFill>
          <a:ln cap="flat" cmpd="sng" w="72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g3f69dc5bd35_0_199"/>
          <p:cNvSpPr/>
          <p:nvPr/>
        </p:nvSpPr>
        <p:spPr>
          <a:xfrm>
            <a:off x="2308561" y="1796781"/>
            <a:ext cx="237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g3f69dc5bd35_0_199"/>
          <p:cNvSpPr/>
          <p:nvPr/>
        </p:nvSpPr>
        <p:spPr>
          <a:xfrm>
            <a:off x="2784252" y="1792454"/>
            <a:ext cx="237900" cy="237900"/>
          </a:xfrm>
          <a:prstGeom prst="ellipse">
            <a:avLst/>
          </a:prstGeom>
          <a:solidFill>
            <a:srgbClr val="7030A0"/>
          </a:solidFill>
          <a:ln cap="flat" cmpd="sng" w="72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3f69dc5bd35_0_199"/>
          <p:cNvSpPr/>
          <p:nvPr/>
        </p:nvSpPr>
        <p:spPr>
          <a:xfrm>
            <a:off x="2784252" y="1796781"/>
            <a:ext cx="237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g3f69dc5bd35_0_199"/>
          <p:cNvSpPr/>
          <p:nvPr/>
        </p:nvSpPr>
        <p:spPr>
          <a:xfrm>
            <a:off x="3112911" y="1792454"/>
            <a:ext cx="237900" cy="237900"/>
          </a:xfrm>
          <a:prstGeom prst="ellipse">
            <a:avLst/>
          </a:prstGeom>
          <a:solidFill>
            <a:srgbClr val="7030A0"/>
          </a:solidFill>
          <a:ln cap="flat" cmpd="sng" w="72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g3f69dc5bd35_0_199"/>
          <p:cNvSpPr/>
          <p:nvPr/>
        </p:nvSpPr>
        <p:spPr>
          <a:xfrm>
            <a:off x="3112911" y="1796781"/>
            <a:ext cx="237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g3f69dc5bd35_0_199"/>
          <p:cNvSpPr/>
          <p:nvPr/>
        </p:nvSpPr>
        <p:spPr>
          <a:xfrm>
            <a:off x="3551700" y="601650"/>
            <a:ext cx="2026800" cy="1816200"/>
          </a:xfrm>
          <a:prstGeom prst="roundRect">
            <a:avLst>
              <a:gd fmla="val 8642" name="adj"/>
            </a:avLst>
          </a:prstGeom>
          <a:solidFill>
            <a:srgbClr val="FFF7E8"/>
          </a:solidFill>
          <a:ln cap="flat" cmpd="sng" w="7200">
            <a:solidFill>
              <a:srgbClr val="E86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7" name="Google Shape;627;g3f69dc5bd35_0_199"/>
          <p:cNvSpPr/>
          <p:nvPr/>
        </p:nvSpPr>
        <p:spPr>
          <a:xfrm>
            <a:off x="4058986" y="775913"/>
            <a:ext cx="10776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C00"/>
              </a:buClr>
              <a:buSzPts val="900"/>
              <a:buFont typeface="Arial"/>
              <a:buNone/>
            </a:pPr>
            <a:r>
              <a:rPr b="1" i="0" lang="en-US" sz="800" u="none" cap="none" strike="noStrike">
                <a:solidFill>
                  <a:srgbClr val="E86C00"/>
                </a:solidFill>
                <a:latin typeface="Tahoma"/>
                <a:ea typeface="Tahoma"/>
                <a:cs typeface="Tahoma"/>
                <a:sym typeface="Tahoma"/>
              </a:rPr>
              <a:t>Worked Example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8" name="Google Shape;628;g3f69dc5bd35_0_199"/>
          <p:cNvSpPr/>
          <p:nvPr/>
        </p:nvSpPr>
        <p:spPr>
          <a:xfrm>
            <a:off x="3670780" y="988548"/>
            <a:ext cx="1032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FBF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F5FBF"/>
                </a:solidFill>
                <a:latin typeface="Tahoma"/>
                <a:ea typeface="Tahoma"/>
                <a:cs typeface="Tahoma"/>
                <a:sym typeface="Tahoma"/>
              </a:rPr>
              <a:t>•</a:t>
            </a:r>
            <a:endParaRPr b="1" i="0" sz="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9" name="Google Shape;629;g3f69dc5bd35_0_199"/>
          <p:cNvSpPr/>
          <p:nvPr/>
        </p:nvSpPr>
        <p:spPr>
          <a:xfrm>
            <a:off x="3798334" y="984225"/>
            <a:ext cx="17346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lang="en-US" sz="75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lang="en-US" sz="75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nternal nodes = </a:t>
            </a:r>
            <a:r>
              <a:rPr i="0" lang="en-US" sz="75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n = 3</a:t>
            </a:r>
            <a:r>
              <a:rPr lang="en-US" sz="75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 (</a:t>
            </a:r>
            <a:r>
              <a:rPr i="0" lang="en-US" sz="75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A, B, C)</a:t>
            </a:r>
            <a:endParaRPr i="0" sz="7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0" name="Google Shape;630;g3f69dc5bd35_0_199"/>
          <p:cNvSpPr/>
          <p:nvPr/>
        </p:nvSpPr>
        <p:spPr>
          <a:xfrm>
            <a:off x="3670780" y="1269769"/>
            <a:ext cx="1032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7030A0"/>
                </a:solidFill>
                <a:latin typeface="Tahoma"/>
                <a:ea typeface="Tahoma"/>
                <a:cs typeface="Tahoma"/>
                <a:sym typeface="Tahoma"/>
              </a:rPr>
              <a:t>•</a:t>
            </a:r>
            <a:endParaRPr b="1" i="0" sz="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1" name="Google Shape;631;g3f69dc5bd35_0_199"/>
          <p:cNvSpPr/>
          <p:nvPr/>
        </p:nvSpPr>
        <p:spPr>
          <a:xfrm>
            <a:off x="3798335" y="1265450"/>
            <a:ext cx="18273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i="0" lang="en-US" sz="75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External nodes = n+1 = 4</a:t>
            </a:r>
            <a:r>
              <a:rPr lang="en-US" sz="75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 (</a:t>
            </a:r>
            <a:r>
              <a:rPr i="0" lang="en-US" sz="75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X1–X4)</a:t>
            </a:r>
            <a:endParaRPr i="0" sz="7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2" name="Google Shape;632;g3f69dc5bd35_0_199"/>
          <p:cNvSpPr/>
          <p:nvPr/>
        </p:nvSpPr>
        <p:spPr>
          <a:xfrm>
            <a:off x="3670780" y="1550990"/>
            <a:ext cx="1032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823A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23823A"/>
                </a:solidFill>
                <a:latin typeface="Tahoma"/>
                <a:ea typeface="Tahoma"/>
                <a:cs typeface="Tahoma"/>
                <a:sym typeface="Tahoma"/>
              </a:rPr>
              <a:t>•</a:t>
            </a:r>
            <a:endParaRPr b="1" i="0" sz="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3" name="Google Shape;633;g3f69dc5bd35_0_199"/>
          <p:cNvSpPr/>
          <p:nvPr/>
        </p:nvSpPr>
        <p:spPr>
          <a:xfrm>
            <a:off x="3798325" y="1546664"/>
            <a:ext cx="15459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i="0" lang="en-US" sz="75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Internal edges = </a:t>
            </a:r>
            <a:r>
              <a:rPr lang="en-US" sz="750">
                <a:solidFill>
                  <a:srgbClr val="C00000"/>
                </a:solidFill>
              </a:rPr>
              <a:t>= n − 1</a:t>
            </a:r>
            <a:r>
              <a:rPr lang="en-US" sz="750">
                <a:solidFill>
                  <a:schemeClr val="dk1"/>
                </a:solidFill>
              </a:rPr>
              <a:t> = 3 - 1 =</a:t>
            </a:r>
            <a:r>
              <a:rPr i="0" lang="en-US" sz="75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 2</a:t>
            </a:r>
            <a:endParaRPr i="0" sz="7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4" name="Google Shape;634;g3f69dc5bd35_0_199"/>
          <p:cNvSpPr/>
          <p:nvPr/>
        </p:nvSpPr>
        <p:spPr>
          <a:xfrm>
            <a:off x="3670780" y="1832211"/>
            <a:ext cx="1032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7030A0"/>
                </a:solidFill>
                <a:latin typeface="Tahoma"/>
                <a:ea typeface="Tahoma"/>
                <a:cs typeface="Tahoma"/>
                <a:sym typeface="Tahoma"/>
              </a:rPr>
              <a:t>•</a:t>
            </a:r>
            <a:endParaRPr b="1" i="0" sz="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5" name="Google Shape;635;g3f69dc5bd35_0_199"/>
          <p:cNvSpPr/>
          <p:nvPr/>
        </p:nvSpPr>
        <p:spPr>
          <a:xfrm>
            <a:off x="3798331" y="1827877"/>
            <a:ext cx="16746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i="0" lang="en-US" sz="75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External edges = n+1 =3+ 1 = 4  </a:t>
            </a:r>
            <a:endParaRPr i="0" sz="7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6" name="Google Shape;636;g3f69dc5bd35_0_199"/>
          <p:cNvSpPr/>
          <p:nvPr/>
        </p:nvSpPr>
        <p:spPr>
          <a:xfrm>
            <a:off x="3670780" y="2113432"/>
            <a:ext cx="1032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C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E86C00"/>
                </a:solidFill>
                <a:latin typeface="Tahoma"/>
                <a:ea typeface="Tahoma"/>
                <a:cs typeface="Tahoma"/>
                <a:sym typeface="Tahoma"/>
              </a:rPr>
              <a:t>•</a:t>
            </a:r>
            <a:endParaRPr b="1" i="0" sz="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7" name="Google Shape;637;g3f69dc5bd35_0_199"/>
          <p:cNvSpPr/>
          <p:nvPr/>
        </p:nvSpPr>
        <p:spPr>
          <a:xfrm>
            <a:off x="3798325" y="2109100"/>
            <a:ext cx="15459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i="0" lang="en-US" sz="75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Total edges =  2n</a:t>
            </a:r>
            <a:r>
              <a:rPr lang="en-US" sz="75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 =2x3= </a:t>
            </a:r>
            <a:r>
              <a:rPr i="0" lang="en-US" sz="75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 6</a:t>
            </a:r>
            <a:endParaRPr i="0" sz="7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8" name="Google Shape;638;g3f69dc5bd35_0_199"/>
          <p:cNvSpPr/>
          <p:nvPr/>
        </p:nvSpPr>
        <p:spPr>
          <a:xfrm>
            <a:off x="4713667" y="3106403"/>
            <a:ext cx="8649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Binary Tree Basics  •  5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f69dc5bd35_0_254"/>
          <p:cNvSpPr/>
          <p:nvPr/>
        </p:nvSpPr>
        <p:spPr>
          <a:xfrm>
            <a:off x="33956" y="157596"/>
            <a:ext cx="56979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B2A66"/>
              </a:buClr>
              <a:buSzPts val="1400"/>
              <a:buFont typeface="Play"/>
              <a:buNone/>
            </a:pPr>
            <a:r>
              <a:rPr lang="en-US" sz="1500">
                <a:solidFill>
                  <a:srgbClr val="0B2A66"/>
                </a:solidFill>
                <a:latin typeface="Trebuchet MS"/>
                <a:ea typeface="Trebuchet MS"/>
                <a:cs typeface="Trebuchet MS"/>
                <a:sym typeface="Trebuchet MS"/>
              </a:rPr>
              <a:t>Relationship Formulas in an Extended Binary Tree (Example 2)</a:t>
            </a:r>
            <a:endParaRPr sz="1500">
              <a:solidFill>
                <a:srgbClr val="0B2A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5" name="Google Shape;645;g3f69dc5bd35_0_254"/>
          <p:cNvSpPr/>
          <p:nvPr/>
        </p:nvSpPr>
        <p:spPr>
          <a:xfrm>
            <a:off x="168216" y="691258"/>
            <a:ext cx="1715700" cy="162900"/>
          </a:xfrm>
          <a:prstGeom prst="roundRect">
            <a:avLst>
              <a:gd fmla="val 16667" name="adj"/>
            </a:avLst>
          </a:prstGeom>
          <a:solidFill>
            <a:srgbClr val="1F5FBF"/>
          </a:solidFill>
          <a:ln cap="flat" cmpd="sng" w="45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g3f69dc5bd35_0_254"/>
          <p:cNvSpPr/>
          <p:nvPr/>
        </p:nvSpPr>
        <p:spPr>
          <a:xfrm>
            <a:off x="195128" y="711624"/>
            <a:ext cx="16617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Original Binary Tree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7" name="Google Shape;647;g3f69dc5bd35_0_254"/>
          <p:cNvCxnSpPr/>
          <p:nvPr/>
        </p:nvCxnSpPr>
        <p:spPr>
          <a:xfrm>
            <a:off x="151396" y="1040885"/>
            <a:ext cx="17325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45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8" name="Google Shape;648;g3f69dc5bd35_0_254"/>
          <p:cNvCxnSpPr/>
          <p:nvPr/>
        </p:nvCxnSpPr>
        <p:spPr>
          <a:xfrm>
            <a:off x="151396" y="1404091"/>
            <a:ext cx="17325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45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9" name="Google Shape;649;g3f69dc5bd35_0_254"/>
          <p:cNvCxnSpPr/>
          <p:nvPr/>
        </p:nvCxnSpPr>
        <p:spPr>
          <a:xfrm>
            <a:off x="151396" y="1760507"/>
            <a:ext cx="17325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45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0" name="Google Shape;650;g3f69dc5bd35_0_254"/>
          <p:cNvSpPr/>
          <p:nvPr/>
        </p:nvSpPr>
        <p:spPr>
          <a:xfrm>
            <a:off x="208584" y="986574"/>
            <a:ext cx="235500" cy="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FBF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1F5FBF"/>
                </a:solidFill>
                <a:latin typeface="Arial"/>
                <a:ea typeface="Arial"/>
                <a:cs typeface="Arial"/>
                <a:sym typeface="Arial"/>
              </a:rPr>
              <a:t>Level 0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f69dc5bd35_0_254"/>
          <p:cNvSpPr/>
          <p:nvPr/>
        </p:nvSpPr>
        <p:spPr>
          <a:xfrm>
            <a:off x="208584" y="1353174"/>
            <a:ext cx="235500" cy="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823A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23823A"/>
                </a:solidFill>
                <a:latin typeface="Arial"/>
                <a:ea typeface="Arial"/>
                <a:cs typeface="Arial"/>
                <a:sym typeface="Arial"/>
              </a:rPr>
              <a:t>Level 1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f69dc5bd35_0_254"/>
          <p:cNvSpPr/>
          <p:nvPr/>
        </p:nvSpPr>
        <p:spPr>
          <a:xfrm>
            <a:off x="208584" y="1712985"/>
            <a:ext cx="235500" cy="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C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E86C00"/>
                </a:solidFill>
                <a:latin typeface="Arial"/>
                <a:ea typeface="Arial"/>
                <a:cs typeface="Arial"/>
                <a:sym typeface="Arial"/>
              </a:rPr>
              <a:t>Level 2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3" name="Google Shape;653;g3f69dc5bd35_0_254"/>
          <p:cNvCxnSpPr/>
          <p:nvPr/>
        </p:nvCxnSpPr>
        <p:spPr>
          <a:xfrm flipH="1">
            <a:off x="777131" y="1051069"/>
            <a:ext cx="285900" cy="3564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8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g3f69dc5bd35_0_254"/>
          <p:cNvCxnSpPr/>
          <p:nvPr/>
        </p:nvCxnSpPr>
        <p:spPr>
          <a:xfrm>
            <a:off x="1063031" y="1051069"/>
            <a:ext cx="285900" cy="3564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8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g3f69dc5bd35_0_254"/>
          <p:cNvCxnSpPr/>
          <p:nvPr/>
        </p:nvCxnSpPr>
        <p:spPr>
          <a:xfrm flipH="1">
            <a:off x="625594" y="1407485"/>
            <a:ext cx="151500" cy="3564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8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6" name="Google Shape;656;g3f69dc5bd35_0_254"/>
          <p:cNvSpPr/>
          <p:nvPr/>
        </p:nvSpPr>
        <p:spPr>
          <a:xfrm>
            <a:off x="975568" y="962813"/>
            <a:ext cx="174900" cy="176700"/>
          </a:xfrm>
          <a:prstGeom prst="ellipse">
            <a:avLst/>
          </a:prstGeom>
          <a:solidFill>
            <a:srgbClr val="FFFFFF"/>
          </a:solidFill>
          <a:ln cap="flat" cmpd="sng" w="72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g3f69dc5bd35_0_254"/>
          <p:cNvSpPr/>
          <p:nvPr/>
        </p:nvSpPr>
        <p:spPr>
          <a:xfrm>
            <a:off x="975568" y="966208"/>
            <a:ext cx="1749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g3f69dc5bd35_0_254"/>
          <p:cNvSpPr/>
          <p:nvPr/>
        </p:nvSpPr>
        <p:spPr>
          <a:xfrm>
            <a:off x="689631" y="1319230"/>
            <a:ext cx="174900" cy="176700"/>
          </a:xfrm>
          <a:prstGeom prst="ellipse">
            <a:avLst/>
          </a:prstGeom>
          <a:solidFill>
            <a:srgbClr val="FFFFFF"/>
          </a:solidFill>
          <a:ln cap="flat" cmpd="sng" w="72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g3f69dc5bd35_0_254"/>
          <p:cNvSpPr/>
          <p:nvPr/>
        </p:nvSpPr>
        <p:spPr>
          <a:xfrm>
            <a:off x="689631" y="1322624"/>
            <a:ext cx="1749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3f69dc5bd35_0_254"/>
          <p:cNvSpPr/>
          <p:nvPr/>
        </p:nvSpPr>
        <p:spPr>
          <a:xfrm>
            <a:off x="1261505" y="1319230"/>
            <a:ext cx="174900" cy="176700"/>
          </a:xfrm>
          <a:prstGeom prst="ellipse">
            <a:avLst/>
          </a:prstGeom>
          <a:solidFill>
            <a:srgbClr val="FFFFFF"/>
          </a:solidFill>
          <a:ln cap="flat" cmpd="sng" w="72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g3f69dc5bd35_0_254"/>
          <p:cNvSpPr/>
          <p:nvPr/>
        </p:nvSpPr>
        <p:spPr>
          <a:xfrm>
            <a:off x="1261505" y="1322624"/>
            <a:ext cx="1749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g3f69dc5bd35_0_254"/>
          <p:cNvSpPr/>
          <p:nvPr/>
        </p:nvSpPr>
        <p:spPr>
          <a:xfrm>
            <a:off x="538252" y="1675646"/>
            <a:ext cx="174900" cy="176700"/>
          </a:xfrm>
          <a:prstGeom prst="ellipse">
            <a:avLst/>
          </a:prstGeom>
          <a:solidFill>
            <a:srgbClr val="FFFFFF"/>
          </a:solidFill>
          <a:ln cap="flat" cmpd="sng" w="72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f69dc5bd35_0_254"/>
          <p:cNvSpPr/>
          <p:nvPr/>
        </p:nvSpPr>
        <p:spPr>
          <a:xfrm>
            <a:off x="538252" y="1679041"/>
            <a:ext cx="1749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g3f69dc5bd35_0_254"/>
          <p:cNvSpPr/>
          <p:nvPr/>
        </p:nvSpPr>
        <p:spPr>
          <a:xfrm>
            <a:off x="2035216" y="691258"/>
            <a:ext cx="1805700" cy="150900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41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25" lIns="40025" spcFirstLastPara="1" rIns="40025" wrap="square" tIns="4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g3f69dc5bd35_0_254"/>
          <p:cNvSpPr/>
          <p:nvPr/>
        </p:nvSpPr>
        <p:spPr>
          <a:xfrm>
            <a:off x="2060125" y="710109"/>
            <a:ext cx="1755900" cy="1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Extended Binary Tree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6" name="Google Shape;666;g3f69dc5bd35_0_254"/>
          <p:cNvCxnSpPr/>
          <p:nvPr/>
        </p:nvCxnSpPr>
        <p:spPr>
          <a:xfrm flipH="1">
            <a:off x="2559715" y="994455"/>
            <a:ext cx="348900" cy="2985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775">
            <a:solidFill>
              <a:srgbClr val="23823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7" name="Google Shape;667;g3f69dc5bd35_0_254"/>
          <p:cNvCxnSpPr/>
          <p:nvPr/>
        </p:nvCxnSpPr>
        <p:spPr>
          <a:xfrm>
            <a:off x="2908615" y="994455"/>
            <a:ext cx="361200" cy="2985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775">
            <a:solidFill>
              <a:srgbClr val="23823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8" name="Google Shape;668;g3f69dc5bd35_0_254"/>
          <p:cNvCxnSpPr/>
          <p:nvPr/>
        </p:nvCxnSpPr>
        <p:spPr>
          <a:xfrm flipH="1">
            <a:off x="2398178" y="1292939"/>
            <a:ext cx="161700" cy="2952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775">
            <a:solidFill>
              <a:srgbClr val="23823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9" name="Google Shape;669;g3f69dc5bd35_0_254"/>
          <p:cNvCxnSpPr/>
          <p:nvPr/>
        </p:nvCxnSpPr>
        <p:spPr>
          <a:xfrm>
            <a:off x="2559878" y="1292939"/>
            <a:ext cx="161700" cy="2952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7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0" name="Google Shape;670;g3f69dc5bd35_0_254"/>
          <p:cNvCxnSpPr/>
          <p:nvPr/>
        </p:nvCxnSpPr>
        <p:spPr>
          <a:xfrm flipH="1">
            <a:off x="3145307" y="1292939"/>
            <a:ext cx="124500" cy="2952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7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1" name="Google Shape;671;g3f69dc5bd35_0_254"/>
          <p:cNvCxnSpPr/>
          <p:nvPr/>
        </p:nvCxnSpPr>
        <p:spPr>
          <a:xfrm>
            <a:off x="3269807" y="1292939"/>
            <a:ext cx="136800" cy="2952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7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2" name="Google Shape;672;g3f69dc5bd35_0_254"/>
          <p:cNvCxnSpPr/>
          <p:nvPr/>
        </p:nvCxnSpPr>
        <p:spPr>
          <a:xfrm flipH="1">
            <a:off x="2279764" y="1588281"/>
            <a:ext cx="118200" cy="3078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7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3" name="Google Shape;673;g3f69dc5bd35_0_254"/>
          <p:cNvCxnSpPr/>
          <p:nvPr/>
        </p:nvCxnSpPr>
        <p:spPr>
          <a:xfrm>
            <a:off x="2397964" y="1588281"/>
            <a:ext cx="118200" cy="3078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7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4" name="Google Shape;674;g3f69dc5bd35_0_254"/>
          <p:cNvSpPr/>
          <p:nvPr/>
        </p:nvSpPr>
        <p:spPr>
          <a:xfrm>
            <a:off x="2835443" y="920619"/>
            <a:ext cx="146400" cy="147600"/>
          </a:xfrm>
          <a:prstGeom prst="ellipse">
            <a:avLst/>
          </a:prstGeom>
          <a:solidFill>
            <a:srgbClr val="FFFFFF"/>
          </a:solidFill>
          <a:ln cap="flat" cmpd="sng" w="6675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25" lIns="40025" spcFirstLastPara="1" rIns="40025" wrap="square" tIns="4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g3f69dc5bd35_0_254"/>
          <p:cNvSpPr/>
          <p:nvPr/>
        </p:nvSpPr>
        <p:spPr>
          <a:xfrm>
            <a:off x="2835443" y="923761"/>
            <a:ext cx="1464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g3f69dc5bd35_0_254"/>
          <p:cNvSpPr/>
          <p:nvPr/>
        </p:nvSpPr>
        <p:spPr>
          <a:xfrm>
            <a:off x="2486706" y="1219103"/>
            <a:ext cx="146400" cy="147600"/>
          </a:xfrm>
          <a:prstGeom prst="ellipse">
            <a:avLst/>
          </a:prstGeom>
          <a:solidFill>
            <a:srgbClr val="FFFFFF"/>
          </a:solidFill>
          <a:ln cap="flat" cmpd="sng" w="6675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25" lIns="40025" spcFirstLastPara="1" rIns="40025" wrap="square" tIns="4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g3f69dc5bd35_0_254"/>
          <p:cNvSpPr/>
          <p:nvPr/>
        </p:nvSpPr>
        <p:spPr>
          <a:xfrm>
            <a:off x="2486706" y="1222245"/>
            <a:ext cx="1464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g3f69dc5bd35_0_254"/>
          <p:cNvSpPr/>
          <p:nvPr/>
        </p:nvSpPr>
        <p:spPr>
          <a:xfrm>
            <a:off x="3196635" y="1219103"/>
            <a:ext cx="146400" cy="147600"/>
          </a:xfrm>
          <a:prstGeom prst="ellipse">
            <a:avLst/>
          </a:prstGeom>
          <a:solidFill>
            <a:srgbClr val="FFFFFF"/>
          </a:solidFill>
          <a:ln cap="flat" cmpd="sng" w="6675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25" lIns="40025" spcFirstLastPara="1" rIns="40025" wrap="square" tIns="4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g3f69dc5bd35_0_254"/>
          <p:cNvSpPr/>
          <p:nvPr/>
        </p:nvSpPr>
        <p:spPr>
          <a:xfrm>
            <a:off x="3196635" y="1222245"/>
            <a:ext cx="1464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g3f69dc5bd35_0_254"/>
          <p:cNvSpPr/>
          <p:nvPr/>
        </p:nvSpPr>
        <p:spPr>
          <a:xfrm>
            <a:off x="2324792" y="1514446"/>
            <a:ext cx="146400" cy="147600"/>
          </a:xfrm>
          <a:prstGeom prst="ellipse">
            <a:avLst/>
          </a:prstGeom>
          <a:solidFill>
            <a:srgbClr val="FFFFFF"/>
          </a:solidFill>
          <a:ln cap="flat" cmpd="sng" w="6675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25" lIns="40025" spcFirstLastPara="1" rIns="40025" wrap="square" tIns="4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g3f69dc5bd35_0_254"/>
          <p:cNvSpPr/>
          <p:nvPr/>
        </p:nvSpPr>
        <p:spPr>
          <a:xfrm>
            <a:off x="2324792" y="1517588"/>
            <a:ext cx="1464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g3f69dc5bd35_0_254"/>
          <p:cNvSpPr/>
          <p:nvPr/>
        </p:nvSpPr>
        <p:spPr>
          <a:xfrm>
            <a:off x="2648619" y="1514446"/>
            <a:ext cx="146400" cy="147600"/>
          </a:xfrm>
          <a:prstGeom prst="ellipse">
            <a:avLst/>
          </a:prstGeom>
          <a:solidFill>
            <a:srgbClr val="7030A0"/>
          </a:solidFill>
          <a:ln cap="flat" cmpd="sng" w="66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25" lIns="40025" spcFirstLastPara="1" rIns="40025" wrap="square" tIns="4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g3f69dc5bd35_0_254"/>
          <p:cNvSpPr/>
          <p:nvPr/>
        </p:nvSpPr>
        <p:spPr>
          <a:xfrm>
            <a:off x="2648619" y="1517588"/>
            <a:ext cx="1464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g3f69dc5bd35_0_254"/>
          <p:cNvSpPr/>
          <p:nvPr/>
        </p:nvSpPr>
        <p:spPr>
          <a:xfrm>
            <a:off x="3072086" y="1514446"/>
            <a:ext cx="146400" cy="147600"/>
          </a:xfrm>
          <a:prstGeom prst="ellipse">
            <a:avLst/>
          </a:prstGeom>
          <a:solidFill>
            <a:srgbClr val="7030A0"/>
          </a:solidFill>
          <a:ln cap="flat" cmpd="sng" w="66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25" lIns="40025" spcFirstLastPara="1" rIns="40025" wrap="square" tIns="4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g3f69dc5bd35_0_254"/>
          <p:cNvSpPr/>
          <p:nvPr/>
        </p:nvSpPr>
        <p:spPr>
          <a:xfrm>
            <a:off x="3072086" y="1517588"/>
            <a:ext cx="1464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3f69dc5bd35_0_254"/>
          <p:cNvSpPr/>
          <p:nvPr/>
        </p:nvSpPr>
        <p:spPr>
          <a:xfrm>
            <a:off x="3333638" y="1514446"/>
            <a:ext cx="146400" cy="147600"/>
          </a:xfrm>
          <a:prstGeom prst="ellipse">
            <a:avLst/>
          </a:prstGeom>
          <a:solidFill>
            <a:srgbClr val="7030A0"/>
          </a:solidFill>
          <a:ln cap="flat" cmpd="sng" w="66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25" lIns="40025" spcFirstLastPara="1" rIns="40025" wrap="square" tIns="4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g3f69dc5bd35_0_254"/>
          <p:cNvSpPr/>
          <p:nvPr/>
        </p:nvSpPr>
        <p:spPr>
          <a:xfrm>
            <a:off x="3333638" y="1517588"/>
            <a:ext cx="1464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g3f69dc5bd35_0_254"/>
          <p:cNvSpPr/>
          <p:nvPr/>
        </p:nvSpPr>
        <p:spPr>
          <a:xfrm>
            <a:off x="2206470" y="1822356"/>
            <a:ext cx="146400" cy="147600"/>
          </a:xfrm>
          <a:prstGeom prst="ellipse">
            <a:avLst/>
          </a:prstGeom>
          <a:solidFill>
            <a:srgbClr val="7030A0"/>
          </a:solidFill>
          <a:ln cap="flat" cmpd="sng" w="66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25" lIns="40025" spcFirstLastPara="1" rIns="40025" wrap="square" tIns="4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g3f69dc5bd35_0_254"/>
          <p:cNvSpPr/>
          <p:nvPr/>
        </p:nvSpPr>
        <p:spPr>
          <a:xfrm>
            <a:off x="2206470" y="1825498"/>
            <a:ext cx="1464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g3f69dc5bd35_0_254"/>
          <p:cNvSpPr/>
          <p:nvPr/>
        </p:nvSpPr>
        <p:spPr>
          <a:xfrm>
            <a:off x="2443113" y="1822356"/>
            <a:ext cx="146400" cy="147600"/>
          </a:xfrm>
          <a:prstGeom prst="ellipse">
            <a:avLst/>
          </a:prstGeom>
          <a:solidFill>
            <a:srgbClr val="7030A0"/>
          </a:solidFill>
          <a:ln cap="flat" cmpd="sng" w="66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25" lIns="40025" spcFirstLastPara="1" rIns="40025" wrap="square" tIns="4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g3f69dc5bd35_0_254"/>
          <p:cNvSpPr/>
          <p:nvPr/>
        </p:nvSpPr>
        <p:spPr>
          <a:xfrm>
            <a:off x="2443113" y="1825498"/>
            <a:ext cx="1464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g3f69dc5bd35_0_254"/>
          <p:cNvSpPr/>
          <p:nvPr/>
        </p:nvSpPr>
        <p:spPr>
          <a:xfrm>
            <a:off x="1971229" y="2115209"/>
            <a:ext cx="18717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NULL positions become external leaf nodes X1–X5.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g3f69dc5bd35_0_254"/>
          <p:cNvSpPr/>
          <p:nvPr/>
        </p:nvSpPr>
        <p:spPr>
          <a:xfrm>
            <a:off x="4713667" y="3106403"/>
            <a:ext cx="8649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Binary Tree Basics  •  7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g3f69dc5bd35_0_254"/>
          <p:cNvSpPr/>
          <p:nvPr/>
        </p:nvSpPr>
        <p:spPr>
          <a:xfrm>
            <a:off x="4048975" y="691250"/>
            <a:ext cx="1661700" cy="1548000"/>
          </a:xfrm>
          <a:prstGeom prst="roundRect">
            <a:avLst>
              <a:gd fmla="val 2045" name="adj"/>
            </a:avLst>
          </a:prstGeom>
          <a:solidFill>
            <a:srgbClr val="EAF3FF"/>
          </a:solidFill>
          <a:ln cap="flat" cmpd="sng" w="665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900" lIns="39900" spcFirstLastPara="1" rIns="39900" wrap="square" tIns="3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5" name="Google Shape;695;g3f69dc5bd35_0_254"/>
          <p:cNvSpPr/>
          <p:nvPr/>
        </p:nvSpPr>
        <p:spPr>
          <a:xfrm>
            <a:off x="4094453" y="799068"/>
            <a:ext cx="14766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5FBF"/>
              </a:buClr>
              <a:buSzPts val="900"/>
              <a:buFont typeface="Arial"/>
              <a:buNone/>
            </a:pPr>
            <a:r>
              <a:rPr b="1" i="0" lang="en-US" sz="800" u="none" cap="none" strike="noStrike">
                <a:solidFill>
                  <a:srgbClr val="1F5FBF"/>
                </a:solidFill>
                <a:latin typeface="Tahoma"/>
                <a:ea typeface="Tahoma"/>
                <a:cs typeface="Tahoma"/>
                <a:sym typeface="Tahoma"/>
              </a:rPr>
              <a:t>Formula Summary</a:t>
            </a:r>
            <a:endParaRPr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6" name="Google Shape;696;g3f69dc5bd35_0_254"/>
          <p:cNvSpPr/>
          <p:nvPr/>
        </p:nvSpPr>
        <p:spPr>
          <a:xfrm>
            <a:off x="4134364" y="1030656"/>
            <a:ext cx="878100" cy="1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Internal nodes</a:t>
            </a:r>
            <a:endParaRPr i="0" sz="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7" name="Google Shape;697;g3f69dc5bd35_0_254"/>
          <p:cNvSpPr/>
          <p:nvPr/>
        </p:nvSpPr>
        <p:spPr>
          <a:xfrm>
            <a:off x="5100554" y="1030660"/>
            <a:ext cx="470700" cy="1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700"/>
              <a:buFont typeface="Arial"/>
              <a:buNone/>
            </a:pPr>
            <a:r>
              <a:rPr b="1" i="0" lang="en-US" sz="6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= n = 4</a:t>
            </a:r>
            <a:endParaRPr i="0" sz="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8" name="Google Shape;698;g3f69dc5bd35_0_254"/>
          <p:cNvSpPr/>
          <p:nvPr/>
        </p:nvSpPr>
        <p:spPr>
          <a:xfrm>
            <a:off x="4134364" y="1278215"/>
            <a:ext cx="878100" cy="1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External nodes</a:t>
            </a:r>
            <a:endParaRPr i="0" sz="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9" name="Google Shape;699;g3f69dc5bd35_0_254"/>
          <p:cNvSpPr/>
          <p:nvPr/>
        </p:nvSpPr>
        <p:spPr>
          <a:xfrm>
            <a:off x="5100554" y="1278218"/>
            <a:ext cx="470700" cy="1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700"/>
              <a:buFont typeface="Arial"/>
              <a:buNone/>
            </a:pPr>
            <a:r>
              <a:rPr b="1" i="0" lang="en-US" sz="600" u="none" cap="none" strike="noStrike">
                <a:solidFill>
                  <a:srgbClr val="7030A0"/>
                </a:solidFill>
                <a:latin typeface="Tahoma"/>
                <a:ea typeface="Tahoma"/>
                <a:cs typeface="Tahoma"/>
                <a:sym typeface="Tahoma"/>
              </a:rPr>
              <a:t>= n + 1 = 5</a:t>
            </a:r>
            <a:endParaRPr i="0" sz="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0" name="Google Shape;700;g3f69dc5bd35_0_254"/>
          <p:cNvSpPr/>
          <p:nvPr/>
        </p:nvSpPr>
        <p:spPr>
          <a:xfrm>
            <a:off x="4134364" y="1525775"/>
            <a:ext cx="878100" cy="1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Total edges</a:t>
            </a:r>
            <a:endParaRPr i="0" sz="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1" name="Google Shape;701;g3f69dc5bd35_0_254"/>
          <p:cNvSpPr/>
          <p:nvPr/>
        </p:nvSpPr>
        <p:spPr>
          <a:xfrm>
            <a:off x="5100554" y="1525777"/>
            <a:ext cx="470700" cy="1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700"/>
              <a:buFont typeface="Arial"/>
              <a:buNone/>
            </a:pPr>
            <a:r>
              <a:rPr b="1" i="0" lang="en-US" sz="6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= 2n = 8</a:t>
            </a:r>
            <a:endParaRPr i="0" sz="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2" name="Google Shape;702;g3f69dc5bd35_0_254"/>
          <p:cNvSpPr/>
          <p:nvPr/>
        </p:nvSpPr>
        <p:spPr>
          <a:xfrm>
            <a:off x="4134364" y="1773334"/>
            <a:ext cx="878100" cy="1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Internal edges</a:t>
            </a:r>
            <a:endParaRPr i="0" sz="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3" name="Google Shape;703;g3f69dc5bd35_0_254"/>
          <p:cNvSpPr/>
          <p:nvPr/>
        </p:nvSpPr>
        <p:spPr>
          <a:xfrm>
            <a:off x="5100554" y="1773335"/>
            <a:ext cx="470700" cy="1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700"/>
              <a:buFont typeface="Arial"/>
              <a:buNone/>
            </a:pPr>
            <a:r>
              <a:rPr b="1" i="0" lang="en-US" sz="6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= n − 1 = </a:t>
            </a:r>
            <a:r>
              <a:rPr b="1" lang="en-US" sz="600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i="0" sz="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4" name="Google Shape;704;g3f69dc5bd35_0_254"/>
          <p:cNvSpPr/>
          <p:nvPr/>
        </p:nvSpPr>
        <p:spPr>
          <a:xfrm>
            <a:off x="4134364" y="2020893"/>
            <a:ext cx="878100" cy="1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6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External edges</a:t>
            </a:r>
            <a:endParaRPr i="0" sz="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5" name="Google Shape;705;g3f69dc5bd35_0_254"/>
          <p:cNvSpPr/>
          <p:nvPr/>
        </p:nvSpPr>
        <p:spPr>
          <a:xfrm>
            <a:off x="5100554" y="2020893"/>
            <a:ext cx="470700" cy="1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700"/>
              <a:buFont typeface="Arial"/>
              <a:buNone/>
            </a:pPr>
            <a:r>
              <a:rPr b="1" i="0" lang="en-US" sz="600" u="none" cap="none" strike="noStrike">
                <a:solidFill>
                  <a:srgbClr val="7030A0"/>
                </a:solidFill>
                <a:latin typeface="Tahoma"/>
                <a:ea typeface="Tahoma"/>
                <a:cs typeface="Tahoma"/>
                <a:sym typeface="Tahoma"/>
              </a:rPr>
              <a:t>= n + 1 = </a:t>
            </a:r>
            <a:r>
              <a:rPr b="1" lang="en-US" sz="600">
                <a:solidFill>
                  <a:srgbClr val="7030A0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 i="0" sz="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f69dc5bd35_0_171"/>
          <p:cNvSpPr/>
          <p:nvPr/>
        </p:nvSpPr>
        <p:spPr>
          <a:xfrm>
            <a:off x="147656" y="165229"/>
            <a:ext cx="54705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A66"/>
              </a:buClr>
              <a:buSzPts val="1400"/>
              <a:buFont typeface="Play"/>
              <a:buNone/>
            </a:pPr>
            <a:r>
              <a:rPr i="0" lang="en-US" sz="1500" u="none" cap="none" strike="noStrike">
                <a:solidFill>
                  <a:srgbClr val="0B2A66"/>
                </a:solidFill>
                <a:latin typeface="Trebuchet MS"/>
                <a:ea typeface="Trebuchet MS"/>
                <a:cs typeface="Trebuchet MS"/>
                <a:sym typeface="Trebuchet MS"/>
              </a:rPr>
              <a:t>Relationship Formulas in an Extended Binary Tree (example3)</a:t>
            </a:r>
            <a:endParaRPr i="0" sz="1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2" name="Google Shape;712;g3f69dc5bd35_0_171"/>
          <p:cNvSpPr/>
          <p:nvPr/>
        </p:nvSpPr>
        <p:spPr>
          <a:xfrm>
            <a:off x="147650" y="473625"/>
            <a:ext cx="1928700" cy="1616100"/>
          </a:xfrm>
          <a:prstGeom prst="roundRect">
            <a:avLst>
              <a:gd fmla="val 2045" name="adj"/>
            </a:avLst>
          </a:prstGeom>
          <a:solidFill>
            <a:srgbClr val="EAF3FF"/>
          </a:solidFill>
          <a:ln cap="flat" cmpd="sng" w="6925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675" lIns="41675" spcFirstLastPara="1" rIns="41675" wrap="square" tIns="41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/>
          </a:p>
        </p:txBody>
      </p:sp>
      <p:sp>
        <p:nvSpPr>
          <p:cNvPr id="713" name="Google Shape;713;g3f69dc5bd35_0_171"/>
          <p:cNvSpPr/>
          <p:nvPr/>
        </p:nvSpPr>
        <p:spPr>
          <a:xfrm>
            <a:off x="301067" y="586176"/>
            <a:ext cx="16218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5FBF"/>
              </a:buClr>
              <a:buSzPts val="867"/>
              <a:buFont typeface="Arial"/>
              <a:buNone/>
            </a:pPr>
            <a:r>
              <a:rPr b="1" i="0" lang="en-US" sz="750" u="none" cap="none" strike="noStrike">
                <a:solidFill>
                  <a:srgbClr val="1F5FBF"/>
                </a:solidFill>
                <a:latin typeface="Trebuchet MS"/>
                <a:ea typeface="Trebuchet MS"/>
                <a:cs typeface="Trebuchet MS"/>
                <a:sym typeface="Trebuchet MS"/>
              </a:rPr>
              <a:t>Formula Summary</a:t>
            </a:r>
            <a:endParaRPr i="0" sz="75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4" name="Google Shape;714;g3f69dc5bd35_0_171"/>
          <p:cNvSpPr/>
          <p:nvPr/>
        </p:nvSpPr>
        <p:spPr>
          <a:xfrm>
            <a:off x="344899" y="827951"/>
            <a:ext cx="9642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74"/>
              <a:buFont typeface="Arial"/>
              <a:buNone/>
            </a:pPr>
            <a:r>
              <a:rPr b="1" i="0" lang="en-US" sz="750" u="none" cap="none" strike="noStrike">
                <a:solidFill>
                  <a:srgbClr val="111111"/>
                </a:solidFill>
                <a:latin typeface="Trebuchet MS"/>
                <a:ea typeface="Trebuchet MS"/>
                <a:cs typeface="Trebuchet MS"/>
                <a:sym typeface="Trebuchet MS"/>
              </a:rPr>
              <a:t>Internal nodes</a:t>
            </a:r>
            <a:endParaRPr i="0" sz="75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5" name="Google Shape;715;g3f69dc5bd35_0_171"/>
          <p:cNvSpPr/>
          <p:nvPr/>
        </p:nvSpPr>
        <p:spPr>
          <a:xfrm>
            <a:off x="1102761" y="827950"/>
            <a:ext cx="8202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771"/>
              <a:buFont typeface="Arial"/>
              <a:buNone/>
            </a:pPr>
            <a:r>
              <a:rPr b="1" i="0" lang="en-US" sz="750" u="none" cap="none" strike="noStrike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= n = 5</a:t>
            </a:r>
            <a:endParaRPr i="0" sz="75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6" name="Google Shape;716;g3f69dc5bd35_0_171"/>
          <p:cNvSpPr/>
          <p:nvPr/>
        </p:nvSpPr>
        <p:spPr>
          <a:xfrm>
            <a:off x="344899" y="1086401"/>
            <a:ext cx="9642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74"/>
              <a:buFont typeface="Arial"/>
              <a:buNone/>
            </a:pPr>
            <a:r>
              <a:rPr b="1" i="0" lang="en-US" sz="750" u="none" cap="none" strike="noStrike">
                <a:solidFill>
                  <a:srgbClr val="111111"/>
                </a:solidFill>
                <a:latin typeface="Trebuchet MS"/>
                <a:ea typeface="Trebuchet MS"/>
                <a:cs typeface="Trebuchet MS"/>
                <a:sym typeface="Trebuchet MS"/>
              </a:rPr>
              <a:t>External nodes</a:t>
            </a:r>
            <a:endParaRPr i="0" sz="75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7" name="Google Shape;717;g3f69dc5bd35_0_171"/>
          <p:cNvSpPr/>
          <p:nvPr/>
        </p:nvSpPr>
        <p:spPr>
          <a:xfrm>
            <a:off x="1102761" y="1086400"/>
            <a:ext cx="8202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771"/>
              <a:buFont typeface="Arial"/>
              <a:buNone/>
            </a:pPr>
            <a:r>
              <a:rPr b="1" i="0" lang="en-US" sz="750" u="none" cap="none" strike="noStrike">
                <a:solidFill>
                  <a:srgbClr val="7030A0"/>
                </a:solidFill>
                <a:latin typeface="Trebuchet MS"/>
                <a:ea typeface="Trebuchet MS"/>
                <a:cs typeface="Trebuchet MS"/>
                <a:sym typeface="Trebuchet MS"/>
              </a:rPr>
              <a:t>= n + 1 = 6</a:t>
            </a:r>
            <a:endParaRPr i="0" sz="75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8" name="Google Shape;718;g3f69dc5bd35_0_171"/>
          <p:cNvSpPr/>
          <p:nvPr/>
        </p:nvSpPr>
        <p:spPr>
          <a:xfrm>
            <a:off x="344899" y="1344850"/>
            <a:ext cx="9642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74"/>
              <a:buFont typeface="Arial"/>
              <a:buNone/>
            </a:pPr>
            <a:r>
              <a:rPr b="1" i="0" lang="en-US" sz="750" u="none" cap="none" strike="noStrike">
                <a:solidFill>
                  <a:srgbClr val="111111"/>
                </a:solidFill>
                <a:latin typeface="Trebuchet MS"/>
                <a:ea typeface="Trebuchet MS"/>
                <a:cs typeface="Trebuchet MS"/>
                <a:sym typeface="Trebuchet MS"/>
              </a:rPr>
              <a:t>Total edges</a:t>
            </a:r>
            <a:endParaRPr i="0" sz="75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9" name="Google Shape;719;g3f69dc5bd35_0_171"/>
          <p:cNvSpPr/>
          <p:nvPr/>
        </p:nvSpPr>
        <p:spPr>
          <a:xfrm>
            <a:off x="1102761" y="1344849"/>
            <a:ext cx="8202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771"/>
              <a:buFont typeface="Arial"/>
              <a:buNone/>
            </a:pPr>
            <a:r>
              <a:rPr b="1" i="0" lang="en-US" sz="750" u="none" cap="none" strike="noStrike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= 2n = 2x5 = 10</a:t>
            </a:r>
            <a:endParaRPr i="0" sz="75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0" name="Google Shape;720;g3f69dc5bd35_0_171"/>
          <p:cNvSpPr/>
          <p:nvPr/>
        </p:nvSpPr>
        <p:spPr>
          <a:xfrm>
            <a:off x="344899" y="1603300"/>
            <a:ext cx="9642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74"/>
              <a:buFont typeface="Arial"/>
              <a:buNone/>
            </a:pPr>
            <a:r>
              <a:rPr b="1" i="0" lang="en-US" sz="750" u="none" cap="none" strike="noStrike">
                <a:solidFill>
                  <a:srgbClr val="111111"/>
                </a:solidFill>
                <a:latin typeface="Trebuchet MS"/>
                <a:ea typeface="Trebuchet MS"/>
                <a:cs typeface="Trebuchet MS"/>
                <a:sym typeface="Trebuchet MS"/>
              </a:rPr>
              <a:t>Internal edges</a:t>
            </a:r>
            <a:endParaRPr i="0" sz="75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1" name="Google Shape;721;g3f69dc5bd35_0_171"/>
          <p:cNvSpPr/>
          <p:nvPr/>
        </p:nvSpPr>
        <p:spPr>
          <a:xfrm>
            <a:off x="1102761" y="1603299"/>
            <a:ext cx="8202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771"/>
              <a:buFont typeface="Arial"/>
              <a:buNone/>
            </a:pPr>
            <a:r>
              <a:rPr b="1" i="0" lang="en-US" sz="750" u="none" cap="none" strike="noStrike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= n − 1 = 5 - 1= 4</a:t>
            </a:r>
            <a:endParaRPr i="0" sz="75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2" name="Google Shape;722;g3f69dc5bd35_0_171"/>
          <p:cNvSpPr/>
          <p:nvPr/>
        </p:nvSpPr>
        <p:spPr>
          <a:xfrm>
            <a:off x="344899" y="1861749"/>
            <a:ext cx="9642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74"/>
              <a:buFont typeface="Arial"/>
              <a:buNone/>
            </a:pPr>
            <a:r>
              <a:rPr b="1" i="0" lang="en-US" sz="750" u="none" cap="none" strike="noStrike">
                <a:solidFill>
                  <a:srgbClr val="111111"/>
                </a:solidFill>
                <a:latin typeface="Trebuchet MS"/>
                <a:ea typeface="Trebuchet MS"/>
                <a:cs typeface="Trebuchet MS"/>
                <a:sym typeface="Trebuchet MS"/>
              </a:rPr>
              <a:t>External edges</a:t>
            </a:r>
            <a:endParaRPr i="0" sz="75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3" name="Google Shape;723;g3f69dc5bd35_0_171"/>
          <p:cNvSpPr/>
          <p:nvPr/>
        </p:nvSpPr>
        <p:spPr>
          <a:xfrm>
            <a:off x="1102761" y="1861749"/>
            <a:ext cx="8202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771"/>
              <a:buFont typeface="Arial"/>
              <a:buNone/>
            </a:pPr>
            <a:r>
              <a:rPr b="1" i="0" lang="en-US" sz="750" u="none" cap="none" strike="noStrike">
                <a:solidFill>
                  <a:srgbClr val="7030A0"/>
                </a:solidFill>
                <a:latin typeface="Trebuchet MS"/>
                <a:ea typeface="Trebuchet MS"/>
                <a:cs typeface="Trebuchet MS"/>
                <a:sym typeface="Trebuchet MS"/>
              </a:rPr>
              <a:t>= n + 1 = 5+ 1 = 6</a:t>
            </a:r>
            <a:endParaRPr i="0" sz="75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4" name="Google Shape;724;g3f69dc5bd35_0_171"/>
          <p:cNvSpPr/>
          <p:nvPr/>
        </p:nvSpPr>
        <p:spPr>
          <a:xfrm>
            <a:off x="2206025" y="1507250"/>
            <a:ext cx="3398100" cy="519300"/>
          </a:xfrm>
          <a:prstGeom prst="roundRect">
            <a:avLst>
              <a:gd fmla="val 7500" name="adj"/>
            </a:avLst>
          </a:prstGeom>
          <a:solidFill>
            <a:srgbClr val="EAF7EA"/>
          </a:solidFill>
          <a:ln cap="flat" cmpd="sng" w="7200">
            <a:solidFill>
              <a:srgbClr val="238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g3f69dc5bd35_0_171"/>
          <p:cNvSpPr/>
          <p:nvPr/>
        </p:nvSpPr>
        <p:spPr>
          <a:xfrm>
            <a:off x="2378393" y="1606759"/>
            <a:ext cx="30780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823A"/>
              </a:buClr>
              <a:buSzPts val="900"/>
              <a:buFont typeface="Arial"/>
              <a:buNone/>
            </a:pPr>
            <a:r>
              <a:rPr b="1" i="0" lang="en-US" sz="800" u="none" cap="none" strike="noStrike">
                <a:solidFill>
                  <a:srgbClr val="23823A"/>
                </a:solidFill>
                <a:latin typeface="Tahoma"/>
                <a:ea typeface="Tahoma"/>
                <a:cs typeface="Tahoma"/>
                <a:sym typeface="Tahoma"/>
              </a:rPr>
              <a:t>Why total edges = 2n?</a:t>
            </a:r>
            <a:endParaRPr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6" name="Google Shape;726;g3f69dc5bd35_0_171"/>
          <p:cNvSpPr/>
          <p:nvPr/>
        </p:nvSpPr>
        <p:spPr>
          <a:xfrm>
            <a:off x="2378393" y="1753860"/>
            <a:ext cx="30285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i="0" lang="en-US" sz="75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Every internal node has exactly two children in the extended tree. </a:t>
            </a:r>
            <a:br>
              <a:rPr i="0" lang="en-US" sz="75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i="0" lang="en-US" sz="75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So each internal node contributes </a:t>
            </a:r>
            <a:r>
              <a:rPr i="0" lang="en-US" sz="750" u="sng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2 outgoing child edges.</a:t>
            </a:r>
            <a:endParaRPr i="0" sz="75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7" name="Google Shape;727;g3f69dc5bd35_0_171"/>
          <p:cNvSpPr/>
          <p:nvPr/>
        </p:nvSpPr>
        <p:spPr>
          <a:xfrm>
            <a:off x="2206025" y="2097700"/>
            <a:ext cx="3398100" cy="519300"/>
          </a:xfrm>
          <a:prstGeom prst="roundRect">
            <a:avLst>
              <a:gd fmla="val 7500" name="adj"/>
            </a:avLst>
          </a:prstGeom>
          <a:solidFill>
            <a:srgbClr val="F2E7FA"/>
          </a:solidFill>
          <a:ln cap="flat" cmpd="sng" w="72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g3f69dc5bd35_0_171"/>
          <p:cNvSpPr/>
          <p:nvPr/>
        </p:nvSpPr>
        <p:spPr>
          <a:xfrm>
            <a:off x="2378393" y="2197209"/>
            <a:ext cx="30780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900"/>
              <a:buFont typeface="Arial"/>
              <a:buNone/>
            </a:pPr>
            <a:r>
              <a:rPr b="1" i="0" lang="en-US" sz="800" u="none" cap="none" strike="noStrike">
                <a:solidFill>
                  <a:srgbClr val="7030A0"/>
                </a:solidFill>
                <a:latin typeface="Tahoma"/>
                <a:ea typeface="Tahoma"/>
                <a:cs typeface="Tahoma"/>
                <a:sym typeface="Tahoma"/>
              </a:rPr>
              <a:t>Why internal edges = n − 1?</a:t>
            </a:r>
            <a:endParaRPr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9" name="Google Shape;729;g3f69dc5bd35_0_171"/>
          <p:cNvSpPr/>
          <p:nvPr/>
        </p:nvSpPr>
        <p:spPr>
          <a:xfrm>
            <a:off x="2378393" y="2344310"/>
            <a:ext cx="30285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"/>
              <a:buFont typeface="Arial"/>
              <a:buNone/>
            </a:pPr>
            <a:r>
              <a:rPr i="0" lang="en-US" sz="75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Among original/internal nodes, every node </a:t>
            </a:r>
            <a:r>
              <a:rPr b="1" i="0" lang="en-US" sz="750" u="sng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except the root</a:t>
            </a:r>
            <a:r>
              <a:rPr i="0" lang="en-US" sz="75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 has </a:t>
            </a:r>
            <a:r>
              <a:rPr b="1" i="0" lang="en-US" sz="75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exactly one parent</a:t>
            </a:r>
            <a:r>
              <a:rPr i="0" lang="en-US" sz="75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. So internal edges = internal nodes − 1.</a:t>
            </a:r>
            <a:endParaRPr i="0" sz="7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0" name="Google Shape;730;g3f69dc5bd35_0_171"/>
          <p:cNvSpPr/>
          <p:nvPr/>
        </p:nvSpPr>
        <p:spPr>
          <a:xfrm>
            <a:off x="2218350" y="2714325"/>
            <a:ext cx="3398100" cy="408900"/>
          </a:xfrm>
          <a:prstGeom prst="roundRect">
            <a:avLst>
              <a:gd fmla="val 7500" name="adj"/>
            </a:avLst>
          </a:prstGeom>
          <a:solidFill>
            <a:srgbClr val="FFF1DA"/>
          </a:solidFill>
          <a:ln cap="flat" cmpd="sng" w="7200">
            <a:solidFill>
              <a:srgbClr val="E86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g3f69dc5bd35_0_171"/>
          <p:cNvSpPr/>
          <p:nvPr/>
        </p:nvSpPr>
        <p:spPr>
          <a:xfrm>
            <a:off x="2390718" y="2813834"/>
            <a:ext cx="30780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C00"/>
              </a:buClr>
              <a:buSzPts val="900"/>
              <a:buFont typeface="Arial"/>
              <a:buNone/>
            </a:pPr>
            <a:r>
              <a:rPr b="1" i="0" lang="en-US" sz="800" u="none" cap="none" strike="noStrike">
                <a:solidFill>
                  <a:srgbClr val="E86C00"/>
                </a:solidFill>
                <a:latin typeface="Tahoma"/>
                <a:ea typeface="Tahoma"/>
                <a:cs typeface="Tahoma"/>
                <a:sym typeface="Tahoma"/>
              </a:rPr>
              <a:t>Why external edges = n + 1?</a:t>
            </a:r>
            <a:endParaRPr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2" name="Google Shape;732;g3f69dc5bd35_0_171"/>
          <p:cNvSpPr/>
          <p:nvPr/>
        </p:nvSpPr>
        <p:spPr>
          <a:xfrm>
            <a:off x="2378393" y="2934739"/>
            <a:ext cx="3028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i="0" lang="en-US" sz="75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External edges are the remaining child edges: 2n − (n − 1) = n + 1.</a:t>
            </a:r>
            <a:endParaRPr i="0" sz="7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3" name="Google Shape;733;g3f69dc5bd35_0_171"/>
          <p:cNvSpPr/>
          <p:nvPr/>
        </p:nvSpPr>
        <p:spPr>
          <a:xfrm>
            <a:off x="4713667" y="3106403"/>
            <a:ext cx="8649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Binary Tree Basics  •  6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4" name="Google Shape;734;g3f69dc5bd35_0_171"/>
          <p:cNvCxnSpPr/>
          <p:nvPr/>
        </p:nvCxnSpPr>
        <p:spPr>
          <a:xfrm flipH="1">
            <a:off x="3572395" y="457522"/>
            <a:ext cx="258300" cy="3006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3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5" name="Google Shape;735;g3f69dc5bd35_0_171"/>
          <p:cNvCxnSpPr/>
          <p:nvPr/>
        </p:nvCxnSpPr>
        <p:spPr>
          <a:xfrm>
            <a:off x="3830695" y="457522"/>
            <a:ext cx="261900" cy="3006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3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6" name="Google Shape;736;g3f69dc5bd35_0_171"/>
          <p:cNvCxnSpPr/>
          <p:nvPr/>
        </p:nvCxnSpPr>
        <p:spPr>
          <a:xfrm flipH="1">
            <a:off x="3457847" y="757766"/>
            <a:ext cx="114600" cy="3108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3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7" name="Google Shape;737;g3f69dc5bd35_0_171"/>
          <p:cNvCxnSpPr/>
          <p:nvPr/>
        </p:nvCxnSpPr>
        <p:spPr>
          <a:xfrm>
            <a:off x="3572447" y="757766"/>
            <a:ext cx="125400" cy="3108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3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8" name="Google Shape;738;g3f69dc5bd35_0_171"/>
          <p:cNvCxnSpPr/>
          <p:nvPr/>
        </p:nvCxnSpPr>
        <p:spPr>
          <a:xfrm flipH="1">
            <a:off x="3974329" y="757766"/>
            <a:ext cx="118200" cy="3108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3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9" name="Google Shape;739;g3f69dc5bd35_0_171"/>
          <p:cNvCxnSpPr/>
          <p:nvPr/>
        </p:nvCxnSpPr>
        <p:spPr>
          <a:xfrm>
            <a:off x="4092529" y="757766"/>
            <a:ext cx="125400" cy="3108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3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0" name="Google Shape;740;g3f69dc5bd35_0_171"/>
          <p:cNvCxnSpPr/>
          <p:nvPr/>
        </p:nvCxnSpPr>
        <p:spPr>
          <a:xfrm flipH="1">
            <a:off x="3350270" y="1068363"/>
            <a:ext cx="107400" cy="3345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3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1" name="Google Shape;741;g3f69dc5bd35_0_171"/>
          <p:cNvCxnSpPr/>
          <p:nvPr/>
        </p:nvCxnSpPr>
        <p:spPr>
          <a:xfrm>
            <a:off x="3457670" y="1068363"/>
            <a:ext cx="107400" cy="3345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3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2" name="Google Shape;742;g3f69dc5bd35_0_171"/>
          <p:cNvCxnSpPr/>
          <p:nvPr/>
        </p:nvCxnSpPr>
        <p:spPr>
          <a:xfrm flipH="1">
            <a:off x="4117566" y="1068363"/>
            <a:ext cx="100500" cy="3345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3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3" name="Google Shape;743;g3f69dc5bd35_0_171"/>
          <p:cNvCxnSpPr/>
          <p:nvPr/>
        </p:nvCxnSpPr>
        <p:spPr>
          <a:xfrm>
            <a:off x="4218066" y="1068363"/>
            <a:ext cx="114600" cy="3345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3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4" name="Google Shape;744;g3f69dc5bd35_0_171"/>
          <p:cNvSpPr/>
          <p:nvPr/>
        </p:nvSpPr>
        <p:spPr>
          <a:xfrm>
            <a:off x="3760753" y="390226"/>
            <a:ext cx="139800" cy="134700"/>
          </a:xfrm>
          <a:prstGeom prst="ellipse">
            <a:avLst/>
          </a:prstGeom>
          <a:solidFill>
            <a:srgbClr val="FFFFFF"/>
          </a:solidFill>
          <a:ln cap="flat" cmpd="sng" w="63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950" lIns="37950" spcFirstLastPara="1" rIns="37950" wrap="square" tIns="3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g3f69dc5bd35_0_171"/>
          <p:cNvSpPr/>
          <p:nvPr/>
        </p:nvSpPr>
        <p:spPr>
          <a:xfrm>
            <a:off x="3760753" y="393677"/>
            <a:ext cx="139800" cy="1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14"/>
              <a:buFont typeface="Arial"/>
              <a:buNone/>
            </a:pPr>
            <a:r>
              <a:rPr b="1" i="0" lang="en-US" sz="614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6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g3f69dc5bd35_0_171"/>
          <p:cNvSpPr/>
          <p:nvPr/>
        </p:nvSpPr>
        <p:spPr>
          <a:xfrm>
            <a:off x="3502505" y="690470"/>
            <a:ext cx="139800" cy="134700"/>
          </a:xfrm>
          <a:prstGeom prst="ellipse">
            <a:avLst/>
          </a:prstGeom>
          <a:solidFill>
            <a:srgbClr val="FFFFFF"/>
          </a:solidFill>
          <a:ln cap="flat" cmpd="sng" w="63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950" lIns="37950" spcFirstLastPara="1" rIns="37950" wrap="square" tIns="3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g3f69dc5bd35_0_171"/>
          <p:cNvSpPr/>
          <p:nvPr/>
        </p:nvSpPr>
        <p:spPr>
          <a:xfrm>
            <a:off x="3502505" y="693921"/>
            <a:ext cx="139800" cy="1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14"/>
              <a:buFont typeface="Arial"/>
              <a:buNone/>
            </a:pPr>
            <a:r>
              <a:rPr b="1" i="0" lang="en-US" sz="614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6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f69dc5bd35_0_171"/>
          <p:cNvSpPr/>
          <p:nvPr/>
        </p:nvSpPr>
        <p:spPr>
          <a:xfrm>
            <a:off x="4022587" y="690470"/>
            <a:ext cx="139800" cy="134700"/>
          </a:xfrm>
          <a:prstGeom prst="ellipse">
            <a:avLst/>
          </a:prstGeom>
          <a:solidFill>
            <a:srgbClr val="FFFFFF"/>
          </a:solidFill>
          <a:ln cap="flat" cmpd="sng" w="63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950" lIns="37950" spcFirstLastPara="1" rIns="37950" wrap="square" tIns="3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g3f69dc5bd35_0_171"/>
          <p:cNvSpPr/>
          <p:nvPr/>
        </p:nvSpPr>
        <p:spPr>
          <a:xfrm>
            <a:off x="4022587" y="693921"/>
            <a:ext cx="139800" cy="1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14"/>
              <a:buFont typeface="Arial"/>
              <a:buNone/>
            </a:pPr>
            <a:r>
              <a:rPr b="1" i="0" lang="en-US" sz="614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6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g3f69dc5bd35_0_171"/>
          <p:cNvSpPr/>
          <p:nvPr/>
        </p:nvSpPr>
        <p:spPr>
          <a:xfrm>
            <a:off x="3387728" y="1001067"/>
            <a:ext cx="139800" cy="134700"/>
          </a:xfrm>
          <a:prstGeom prst="ellipse">
            <a:avLst/>
          </a:prstGeom>
          <a:solidFill>
            <a:srgbClr val="FFFFFF"/>
          </a:solidFill>
          <a:ln cap="flat" cmpd="sng" w="63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950" lIns="37950" spcFirstLastPara="1" rIns="37950" wrap="square" tIns="3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g3f69dc5bd35_0_171"/>
          <p:cNvSpPr/>
          <p:nvPr/>
        </p:nvSpPr>
        <p:spPr>
          <a:xfrm>
            <a:off x="3387728" y="1004518"/>
            <a:ext cx="139800" cy="1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14"/>
              <a:buFont typeface="Arial"/>
              <a:buNone/>
            </a:pPr>
            <a:r>
              <a:rPr b="1" i="0" lang="en-US" sz="614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6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g3f69dc5bd35_0_171"/>
          <p:cNvSpPr/>
          <p:nvPr/>
        </p:nvSpPr>
        <p:spPr>
          <a:xfrm>
            <a:off x="3628042" y="1001067"/>
            <a:ext cx="139800" cy="134700"/>
          </a:xfrm>
          <a:prstGeom prst="ellipse">
            <a:avLst/>
          </a:prstGeom>
          <a:solidFill>
            <a:srgbClr val="7030A0"/>
          </a:solidFill>
          <a:ln cap="flat" cmpd="sng" w="63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950" lIns="37950" spcFirstLastPara="1" rIns="37950" wrap="square" tIns="3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g3f69dc5bd35_0_171"/>
          <p:cNvSpPr/>
          <p:nvPr/>
        </p:nvSpPr>
        <p:spPr>
          <a:xfrm>
            <a:off x="3628042" y="1004518"/>
            <a:ext cx="139800" cy="1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4"/>
              <a:buFont typeface="Arial"/>
              <a:buNone/>
            </a:pPr>
            <a:r>
              <a:rPr b="1" i="0" lang="en-US" sz="61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X1</a:t>
            </a:r>
            <a:endParaRPr b="0" i="0" sz="6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g3f69dc5bd35_0_171"/>
          <p:cNvSpPr/>
          <p:nvPr/>
        </p:nvSpPr>
        <p:spPr>
          <a:xfrm>
            <a:off x="3904224" y="1001067"/>
            <a:ext cx="139800" cy="134700"/>
          </a:xfrm>
          <a:prstGeom prst="ellipse">
            <a:avLst/>
          </a:prstGeom>
          <a:solidFill>
            <a:srgbClr val="7030A0"/>
          </a:solidFill>
          <a:ln cap="flat" cmpd="sng" w="63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950" lIns="37950" spcFirstLastPara="1" rIns="37950" wrap="square" tIns="3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g3f69dc5bd35_0_171"/>
          <p:cNvSpPr/>
          <p:nvPr/>
        </p:nvSpPr>
        <p:spPr>
          <a:xfrm>
            <a:off x="3904224" y="1004518"/>
            <a:ext cx="139800" cy="1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4"/>
              <a:buFont typeface="Arial"/>
              <a:buNone/>
            </a:pPr>
            <a:r>
              <a:rPr b="1" i="0" lang="en-US" sz="61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endParaRPr b="0" i="0" sz="6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g3f69dc5bd35_0_171"/>
          <p:cNvSpPr/>
          <p:nvPr/>
        </p:nvSpPr>
        <p:spPr>
          <a:xfrm>
            <a:off x="4148124" y="1001067"/>
            <a:ext cx="139800" cy="134700"/>
          </a:xfrm>
          <a:prstGeom prst="ellipse">
            <a:avLst/>
          </a:prstGeom>
          <a:solidFill>
            <a:srgbClr val="FFFFFF"/>
          </a:solidFill>
          <a:ln cap="flat" cmpd="sng" w="63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950" lIns="37950" spcFirstLastPara="1" rIns="37950" wrap="square" tIns="3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g3f69dc5bd35_0_171"/>
          <p:cNvSpPr/>
          <p:nvPr/>
        </p:nvSpPr>
        <p:spPr>
          <a:xfrm>
            <a:off x="4148124" y="1004518"/>
            <a:ext cx="139800" cy="1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14"/>
              <a:buFont typeface="Arial"/>
              <a:buNone/>
            </a:pPr>
            <a:r>
              <a:rPr b="1" i="0" lang="en-US" sz="614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6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g3f69dc5bd35_0_171"/>
          <p:cNvSpPr/>
          <p:nvPr/>
        </p:nvSpPr>
        <p:spPr>
          <a:xfrm>
            <a:off x="3280125" y="1335821"/>
            <a:ext cx="139800" cy="134700"/>
          </a:xfrm>
          <a:prstGeom prst="ellipse">
            <a:avLst/>
          </a:prstGeom>
          <a:solidFill>
            <a:srgbClr val="7030A0"/>
          </a:solidFill>
          <a:ln cap="flat" cmpd="sng" w="63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950" lIns="37950" spcFirstLastPara="1" rIns="37950" wrap="square" tIns="3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g3f69dc5bd35_0_171"/>
          <p:cNvSpPr/>
          <p:nvPr/>
        </p:nvSpPr>
        <p:spPr>
          <a:xfrm>
            <a:off x="3280125" y="1339272"/>
            <a:ext cx="139800" cy="1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4"/>
              <a:buFont typeface="Arial"/>
              <a:buNone/>
            </a:pPr>
            <a:r>
              <a:rPr b="1" i="0" lang="en-US" sz="61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X3</a:t>
            </a:r>
            <a:endParaRPr b="0" i="0" sz="6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g3f69dc5bd35_0_171"/>
          <p:cNvSpPr/>
          <p:nvPr/>
        </p:nvSpPr>
        <p:spPr>
          <a:xfrm>
            <a:off x="3495331" y="1335821"/>
            <a:ext cx="139800" cy="134700"/>
          </a:xfrm>
          <a:prstGeom prst="ellipse">
            <a:avLst/>
          </a:prstGeom>
          <a:solidFill>
            <a:srgbClr val="7030A0"/>
          </a:solidFill>
          <a:ln cap="flat" cmpd="sng" w="63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950" lIns="37950" spcFirstLastPara="1" rIns="37950" wrap="square" tIns="3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g3f69dc5bd35_0_171"/>
          <p:cNvSpPr/>
          <p:nvPr/>
        </p:nvSpPr>
        <p:spPr>
          <a:xfrm>
            <a:off x="3495331" y="1339272"/>
            <a:ext cx="139800" cy="1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4"/>
              <a:buFont typeface="Arial"/>
              <a:buNone/>
            </a:pPr>
            <a:r>
              <a:rPr b="1" i="0" lang="en-US" sz="61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endParaRPr b="0" i="0" sz="6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g3f69dc5bd35_0_171"/>
          <p:cNvSpPr/>
          <p:nvPr/>
        </p:nvSpPr>
        <p:spPr>
          <a:xfrm>
            <a:off x="4047695" y="1335821"/>
            <a:ext cx="139800" cy="134700"/>
          </a:xfrm>
          <a:prstGeom prst="ellipse">
            <a:avLst/>
          </a:prstGeom>
          <a:solidFill>
            <a:srgbClr val="7030A0"/>
          </a:solidFill>
          <a:ln cap="flat" cmpd="sng" w="63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950" lIns="37950" spcFirstLastPara="1" rIns="37950" wrap="square" tIns="3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g3f69dc5bd35_0_171"/>
          <p:cNvSpPr/>
          <p:nvPr/>
        </p:nvSpPr>
        <p:spPr>
          <a:xfrm>
            <a:off x="4047695" y="1339272"/>
            <a:ext cx="139800" cy="1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4"/>
              <a:buFont typeface="Arial"/>
              <a:buNone/>
            </a:pPr>
            <a:r>
              <a:rPr b="1" i="0" lang="en-US" sz="61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X5</a:t>
            </a:r>
            <a:endParaRPr b="0" i="0" sz="6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g3f69dc5bd35_0_171"/>
          <p:cNvSpPr/>
          <p:nvPr/>
        </p:nvSpPr>
        <p:spPr>
          <a:xfrm>
            <a:off x="4262901" y="1335821"/>
            <a:ext cx="139800" cy="134700"/>
          </a:xfrm>
          <a:prstGeom prst="ellipse">
            <a:avLst/>
          </a:prstGeom>
          <a:solidFill>
            <a:srgbClr val="7030A0"/>
          </a:solidFill>
          <a:ln cap="flat" cmpd="sng" w="63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950" lIns="37950" spcFirstLastPara="1" rIns="37950" wrap="square" tIns="3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g3f69dc5bd35_0_171"/>
          <p:cNvSpPr/>
          <p:nvPr/>
        </p:nvSpPr>
        <p:spPr>
          <a:xfrm>
            <a:off x="4262901" y="1339272"/>
            <a:ext cx="139800" cy="1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4"/>
              <a:buFont typeface="Arial"/>
              <a:buNone/>
            </a:pPr>
            <a:r>
              <a:rPr b="1" i="0" lang="en-US" sz="61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X6</a:t>
            </a:r>
            <a:endParaRPr b="0" i="0" sz="6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g3f69dc5bd35_0_92" title="relationships in B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76" y="0"/>
            <a:ext cx="4867246" cy="324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f69dc5bd35_0_21"/>
          <p:cNvSpPr/>
          <p:nvPr/>
        </p:nvSpPr>
        <p:spPr>
          <a:xfrm>
            <a:off x="151356" y="86529"/>
            <a:ext cx="54705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A66"/>
              </a:buClr>
              <a:buSzPts val="1400"/>
              <a:buFont typeface="Play"/>
              <a:buNone/>
            </a:pPr>
            <a:r>
              <a:rPr b="1" i="0" lang="en-US" sz="1400" u="none" cap="none" strike="noStrike">
                <a:solidFill>
                  <a:srgbClr val="0B2A66"/>
                </a:solidFill>
                <a:latin typeface="Trebuchet MS"/>
                <a:ea typeface="Trebuchet MS"/>
                <a:cs typeface="Trebuchet MS"/>
                <a:sym typeface="Trebuchet MS"/>
              </a:rPr>
              <a:t>Binary Tree Properties </a:t>
            </a:r>
            <a:r>
              <a:rPr b="1" i="0" lang="en-US" sz="1400" u="none" cap="none" strike="noStrike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(Important remember!!)</a:t>
            </a:r>
            <a:endParaRPr b="1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77" name="Google Shape;777;g3f69dc5bd35_0_21"/>
          <p:cNvSpPr/>
          <p:nvPr/>
        </p:nvSpPr>
        <p:spPr>
          <a:xfrm>
            <a:off x="134200" y="566775"/>
            <a:ext cx="2343600" cy="1650900"/>
          </a:xfrm>
          <a:prstGeom prst="roundRect">
            <a:avLst>
              <a:gd fmla="val 2647" name="adj"/>
            </a:avLst>
          </a:prstGeom>
          <a:solidFill>
            <a:srgbClr val="EAF7EA"/>
          </a:solidFill>
          <a:ln cap="flat" cmpd="sng" w="7200">
            <a:solidFill>
              <a:srgbClr val="238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78" name="Google Shape;778;g3f69dc5bd35_0_21"/>
          <p:cNvSpPr/>
          <p:nvPr/>
        </p:nvSpPr>
        <p:spPr>
          <a:xfrm>
            <a:off x="441095" y="640317"/>
            <a:ext cx="17298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823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3823A"/>
                </a:solidFill>
                <a:latin typeface="Arial"/>
                <a:ea typeface="Arial"/>
                <a:cs typeface="Arial"/>
                <a:sym typeface="Arial"/>
              </a:rPr>
              <a:t>Must Remember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g3f69dc5bd35_0_21"/>
          <p:cNvSpPr/>
          <p:nvPr/>
        </p:nvSpPr>
        <p:spPr>
          <a:xfrm>
            <a:off x="294675" y="933875"/>
            <a:ext cx="84600" cy="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823A"/>
              </a:buClr>
              <a:buSzPts val="900"/>
              <a:buFont typeface="Arial"/>
              <a:buNone/>
            </a:pPr>
            <a:r>
              <a:rPr b="1" i="0" lang="en-US" sz="800" u="none" cap="none" strike="noStrike">
                <a:solidFill>
                  <a:srgbClr val="23823A"/>
                </a:solidFill>
                <a:latin typeface="Trebuchet MS"/>
                <a:ea typeface="Trebuchet MS"/>
                <a:cs typeface="Trebuchet MS"/>
                <a:sym typeface="Trebuchet MS"/>
              </a:rPr>
              <a:t>•</a:t>
            </a:r>
            <a:endParaRPr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0" name="Google Shape;780;g3f69dc5bd35_0_21"/>
          <p:cNvSpPr/>
          <p:nvPr/>
        </p:nvSpPr>
        <p:spPr>
          <a:xfrm>
            <a:off x="364570" y="930200"/>
            <a:ext cx="19791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Arial"/>
              <a:buNone/>
            </a:pPr>
            <a:r>
              <a:rPr i="0" lang="en-US" sz="900" u="none" cap="none" strike="noStrike">
                <a:solidFill>
                  <a:srgbClr val="111111"/>
                </a:solidFill>
                <a:latin typeface="Trebuchet MS"/>
                <a:ea typeface="Trebuchet MS"/>
                <a:cs typeface="Trebuchet MS"/>
                <a:sym typeface="Trebuchet MS"/>
              </a:rPr>
              <a:t>Max nodes at level i = 2ⁱ</a:t>
            </a:r>
            <a:endParaRPr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1" name="Google Shape;781;g3f69dc5bd35_0_21"/>
          <p:cNvSpPr/>
          <p:nvPr/>
        </p:nvSpPr>
        <p:spPr>
          <a:xfrm>
            <a:off x="294675" y="1246917"/>
            <a:ext cx="84600" cy="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823A"/>
              </a:buClr>
              <a:buSzPts val="900"/>
              <a:buFont typeface="Arial"/>
              <a:buNone/>
            </a:pPr>
            <a:r>
              <a:rPr b="1" i="0" lang="en-US" sz="800" u="none" cap="none" strike="noStrike">
                <a:solidFill>
                  <a:srgbClr val="23823A"/>
                </a:solidFill>
                <a:latin typeface="Trebuchet MS"/>
                <a:ea typeface="Trebuchet MS"/>
                <a:cs typeface="Trebuchet MS"/>
                <a:sym typeface="Trebuchet MS"/>
              </a:rPr>
              <a:t>•</a:t>
            </a:r>
            <a:endParaRPr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2" name="Google Shape;782;g3f69dc5bd35_0_21"/>
          <p:cNvSpPr/>
          <p:nvPr/>
        </p:nvSpPr>
        <p:spPr>
          <a:xfrm>
            <a:off x="364570" y="1243240"/>
            <a:ext cx="19791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Arial"/>
              <a:buNone/>
            </a:pPr>
            <a:r>
              <a:rPr i="0" lang="en-US" sz="900" u="none" cap="none" strike="noStrike">
                <a:solidFill>
                  <a:srgbClr val="111111"/>
                </a:solidFill>
                <a:latin typeface="Trebuchet MS"/>
                <a:ea typeface="Trebuchet MS"/>
                <a:cs typeface="Trebuchet MS"/>
                <a:sym typeface="Trebuchet MS"/>
              </a:rPr>
              <a:t>Max nodes in height h = 2^(h+1) − 1</a:t>
            </a:r>
            <a:endParaRPr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3" name="Google Shape;783;g3f69dc5bd35_0_21"/>
          <p:cNvSpPr/>
          <p:nvPr/>
        </p:nvSpPr>
        <p:spPr>
          <a:xfrm>
            <a:off x="294675" y="1578374"/>
            <a:ext cx="84600" cy="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823A"/>
              </a:buClr>
              <a:buSzPts val="900"/>
              <a:buFont typeface="Arial"/>
              <a:buNone/>
            </a:pPr>
            <a:r>
              <a:rPr b="1" i="0" lang="en-US" sz="800" u="none" cap="none" strike="noStrike">
                <a:solidFill>
                  <a:srgbClr val="23823A"/>
                </a:solidFill>
                <a:latin typeface="Trebuchet MS"/>
                <a:ea typeface="Trebuchet MS"/>
                <a:cs typeface="Trebuchet MS"/>
                <a:sym typeface="Trebuchet MS"/>
              </a:rPr>
              <a:t>•</a:t>
            </a:r>
            <a:endParaRPr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4" name="Google Shape;784;g3f69dc5bd35_0_21"/>
          <p:cNvSpPr/>
          <p:nvPr/>
        </p:nvSpPr>
        <p:spPr>
          <a:xfrm>
            <a:off x="364570" y="1574694"/>
            <a:ext cx="1979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lang="en-US" sz="900">
                <a:solidFill>
                  <a:srgbClr val="111111"/>
                </a:solidFill>
                <a:latin typeface="Trebuchet MS"/>
                <a:ea typeface="Trebuchet MS"/>
                <a:cs typeface="Trebuchet MS"/>
                <a:sym typeface="Trebuchet MS"/>
              </a:rPr>
              <a:t>Min array length in height h = 2^(h+1)</a:t>
            </a:r>
            <a:endParaRPr sz="900">
              <a:solidFill>
                <a:srgbClr val="11111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t/>
            </a:r>
            <a:endParaRPr sz="900">
              <a:solidFill>
                <a:srgbClr val="11111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5" name="Google Shape;785;g3f69dc5bd35_0_21"/>
          <p:cNvSpPr/>
          <p:nvPr/>
        </p:nvSpPr>
        <p:spPr>
          <a:xfrm>
            <a:off x="332959" y="2457426"/>
            <a:ext cx="1946100" cy="337500"/>
          </a:xfrm>
          <a:prstGeom prst="roundRect">
            <a:avLst>
              <a:gd fmla="val 11538" name="adj"/>
            </a:avLst>
          </a:prstGeom>
          <a:solidFill>
            <a:srgbClr val="FFF7E8"/>
          </a:solidFill>
          <a:ln cap="flat" cmpd="sng" w="7200">
            <a:solidFill>
              <a:srgbClr val="E8A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g3f69dc5bd35_0_21"/>
          <p:cNvSpPr/>
          <p:nvPr/>
        </p:nvSpPr>
        <p:spPr>
          <a:xfrm>
            <a:off x="419444" y="2552613"/>
            <a:ext cx="1686600" cy="1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C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E86C00"/>
                </a:solidFill>
                <a:latin typeface="Arial"/>
                <a:ea typeface="Arial"/>
                <a:cs typeface="Arial"/>
                <a:sym typeface="Arial"/>
              </a:rPr>
              <a:t>Memory trick: levels grow as 1, 2, 4, 8, ...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7" name="Google Shape;787;g3f69dc5bd35_0_21"/>
          <p:cNvCxnSpPr/>
          <p:nvPr/>
        </p:nvCxnSpPr>
        <p:spPr>
          <a:xfrm flipH="1">
            <a:off x="3161209" y="566767"/>
            <a:ext cx="605400" cy="4542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8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8" name="Google Shape;788;g3f69dc5bd35_0_21"/>
          <p:cNvCxnSpPr/>
          <p:nvPr/>
        </p:nvCxnSpPr>
        <p:spPr>
          <a:xfrm>
            <a:off x="3766609" y="566767"/>
            <a:ext cx="605400" cy="4542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8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9" name="Google Shape;789;g3f69dc5bd35_0_21"/>
          <p:cNvCxnSpPr/>
          <p:nvPr/>
        </p:nvCxnSpPr>
        <p:spPr>
          <a:xfrm flipH="1">
            <a:off x="2858484" y="1021046"/>
            <a:ext cx="302700" cy="4542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8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0" name="Google Shape;790;g3f69dc5bd35_0_21"/>
          <p:cNvCxnSpPr/>
          <p:nvPr/>
        </p:nvCxnSpPr>
        <p:spPr>
          <a:xfrm>
            <a:off x="3161184" y="1021046"/>
            <a:ext cx="302700" cy="4542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8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1" name="Google Shape;791;g3f69dc5bd35_0_21"/>
          <p:cNvCxnSpPr/>
          <p:nvPr/>
        </p:nvCxnSpPr>
        <p:spPr>
          <a:xfrm flipH="1">
            <a:off x="4069334" y="1021046"/>
            <a:ext cx="302700" cy="4542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8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2" name="Google Shape;792;g3f69dc5bd35_0_21"/>
          <p:cNvCxnSpPr/>
          <p:nvPr/>
        </p:nvCxnSpPr>
        <p:spPr>
          <a:xfrm>
            <a:off x="4372034" y="1021046"/>
            <a:ext cx="302700" cy="4542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8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3" name="Google Shape;793;g3f69dc5bd35_0_21"/>
          <p:cNvCxnSpPr/>
          <p:nvPr/>
        </p:nvCxnSpPr>
        <p:spPr>
          <a:xfrm flipH="1">
            <a:off x="2706972" y="1475325"/>
            <a:ext cx="151500" cy="4542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8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4" name="Google Shape;794;g3f69dc5bd35_0_21"/>
          <p:cNvCxnSpPr/>
          <p:nvPr/>
        </p:nvCxnSpPr>
        <p:spPr>
          <a:xfrm>
            <a:off x="2858472" y="1475325"/>
            <a:ext cx="151500" cy="4542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8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5" name="Google Shape;795;g3f69dc5bd35_0_21"/>
          <p:cNvCxnSpPr/>
          <p:nvPr/>
        </p:nvCxnSpPr>
        <p:spPr>
          <a:xfrm flipH="1">
            <a:off x="3312397" y="1475325"/>
            <a:ext cx="151500" cy="4542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8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6" name="Google Shape;796;g3f69dc5bd35_0_21"/>
          <p:cNvCxnSpPr/>
          <p:nvPr/>
        </p:nvCxnSpPr>
        <p:spPr>
          <a:xfrm>
            <a:off x="3463897" y="1475325"/>
            <a:ext cx="151500" cy="4542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8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7" name="Google Shape;797;g3f69dc5bd35_0_21"/>
          <p:cNvCxnSpPr/>
          <p:nvPr/>
        </p:nvCxnSpPr>
        <p:spPr>
          <a:xfrm flipH="1">
            <a:off x="3917822" y="1475325"/>
            <a:ext cx="151500" cy="4542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8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8" name="Google Shape;798;g3f69dc5bd35_0_21"/>
          <p:cNvCxnSpPr/>
          <p:nvPr/>
        </p:nvCxnSpPr>
        <p:spPr>
          <a:xfrm>
            <a:off x="4069322" y="1475325"/>
            <a:ext cx="151500" cy="4542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8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9" name="Google Shape;799;g3f69dc5bd35_0_21"/>
          <p:cNvCxnSpPr/>
          <p:nvPr/>
        </p:nvCxnSpPr>
        <p:spPr>
          <a:xfrm flipH="1">
            <a:off x="4523247" y="1475325"/>
            <a:ext cx="151500" cy="4542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8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0" name="Google Shape;800;g3f69dc5bd35_0_21"/>
          <p:cNvCxnSpPr/>
          <p:nvPr/>
        </p:nvCxnSpPr>
        <p:spPr>
          <a:xfrm>
            <a:off x="4674747" y="1475325"/>
            <a:ext cx="151500" cy="4542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8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1" name="Google Shape;801;g3f69dc5bd35_0_21"/>
          <p:cNvSpPr/>
          <p:nvPr/>
        </p:nvSpPr>
        <p:spPr>
          <a:xfrm>
            <a:off x="3675795" y="475911"/>
            <a:ext cx="181500" cy="181800"/>
          </a:xfrm>
          <a:prstGeom prst="ellipse">
            <a:avLst/>
          </a:prstGeom>
          <a:solidFill>
            <a:srgbClr val="DCEBFF"/>
          </a:solidFill>
          <a:ln cap="flat" cmpd="sng" w="72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g3f69dc5bd35_0_21"/>
          <p:cNvSpPr/>
          <p:nvPr/>
        </p:nvSpPr>
        <p:spPr>
          <a:xfrm>
            <a:off x="3675795" y="480238"/>
            <a:ext cx="181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g3f69dc5bd35_0_21"/>
          <p:cNvSpPr/>
          <p:nvPr/>
        </p:nvSpPr>
        <p:spPr>
          <a:xfrm>
            <a:off x="3070370" y="930190"/>
            <a:ext cx="181500" cy="181800"/>
          </a:xfrm>
          <a:prstGeom prst="ellipse">
            <a:avLst/>
          </a:prstGeom>
          <a:solidFill>
            <a:srgbClr val="E7F6E8"/>
          </a:solidFill>
          <a:ln cap="flat" cmpd="sng" w="72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g3f69dc5bd35_0_21"/>
          <p:cNvSpPr/>
          <p:nvPr/>
        </p:nvSpPr>
        <p:spPr>
          <a:xfrm>
            <a:off x="3070370" y="934517"/>
            <a:ext cx="181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g3f69dc5bd35_0_21"/>
          <p:cNvSpPr/>
          <p:nvPr/>
        </p:nvSpPr>
        <p:spPr>
          <a:xfrm>
            <a:off x="4281221" y="930190"/>
            <a:ext cx="181500" cy="181800"/>
          </a:xfrm>
          <a:prstGeom prst="ellipse">
            <a:avLst/>
          </a:prstGeom>
          <a:solidFill>
            <a:srgbClr val="E7F6E8"/>
          </a:solidFill>
          <a:ln cap="flat" cmpd="sng" w="72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g3f69dc5bd35_0_21"/>
          <p:cNvSpPr/>
          <p:nvPr/>
        </p:nvSpPr>
        <p:spPr>
          <a:xfrm>
            <a:off x="4281221" y="934517"/>
            <a:ext cx="181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g3f69dc5bd35_0_21"/>
          <p:cNvSpPr/>
          <p:nvPr/>
        </p:nvSpPr>
        <p:spPr>
          <a:xfrm>
            <a:off x="2767658" y="1384469"/>
            <a:ext cx="181500" cy="181800"/>
          </a:xfrm>
          <a:prstGeom prst="ellipse">
            <a:avLst/>
          </a:prstGeom>
          <a:solidFill>
            <a:srgbClr val="F3E9FF"/>
          </a:solidFill>
          <a:ln cap="flat" cmpd="sng" w="72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g3f69dc5bd35_0_21"/>
          <p:cNvSpPr/>
          <p:nvPr/>
        </p:nvSpPr>
        <p:spPr>
          <a:xfrm>
            <a:off x="2767658" y="1388796"/>
            <a:ext cx="181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g3f69dc5bd35_0_21"/>
          <p:cNvSpPr/>
          <p:nvPr/>
        </p:nvSpPr>
        <p:spPr>
          <a:xfrm>
            <a:off x="3373083" y="1384469"/>
            <a:ext cx="181500" cy="181800"/>
          </a:xfrm>
          <a:prstGeom prst="ellipse">
            <a:avLst/>
          </a:prstGeom>
          <a:solidFill>
            <a:srgbClr val="F3E9FF"/>
          </a:solidFill>
          <a:ln cap="flat" cmpd="sng" w="72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g3f69dc5bd35_0_21"/>
          <p:cNvSpPr/>
          <p:nvPr/>
        </p:nvSpPr>
        <p:spPr>
          <a:xfrm>
            <a:off x="3373083" y="1388796"/>
            <a:ext cx="181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g3f69dc5bd35_0_21"/>
          <p:cNvSpPr/>
          <p:nvPr/>
        </p:nvSpPr>
        <p:spPr>
          <a:xfrm>
            <a:off x="3978508" y="1384469"/>
            <a:ext cx="181500" cy="181800"/>
          </a:xfrm>
          <a:prstGeom prst="ellipse">
            <a:avLst/>
          </a:prstGeom>
          <a:solidFill>
            <a:srgbClr val="F3E9FF"/>
          </a:solidFill>
          <a:ln cap="flat" cmpd="sng" w="72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g3f69dc5bd35_0_21"/>
          <p:cNvSpPr/>
          <p:nvPr/>
        </p:nvSpPr>
        <p:spPr>
          <a:xfrm>
            <a:off x="3978508" y="1388796"/>
            <a:ext cx="181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g3f69dc5bd35_0_21"/>
          <p:cNvSpPr/>
          <p:nvPr/>
        </p:nvSpPr>
        <p:spPr>
          <a:xfrm>
            <a:off x="4583933" y="1384469"/>
            <a:ext cx="181500" cy="181800"/>
          </a:xfrm>
          <a:prstGeom prst="ellipse">
            <a:avLst/>
          </a:prstGeom>
          <a:solidFill>
            <a:srgbClr val="F3E9FF"/>
          </a:solidFill>
          <a:ln cap="flat" cmpd="sng" w="72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g3f69dc5bd35_0_21"/>
          <p:cNvSpPr/>
          <p:nvPr/>
        </p:nvSpPr>
        <p:spPr>
          <a:xfrm>
            <a:off x="4583933" y="1388796"/>
            <a:ext cx="181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g3f69dc5bd35_0_21"/>
          <p:cNvSpPr/>
          <p:nvPr/>
        </p:nvSpPr>
        <p:spPr>
          <a:xfrm>
            <a:off x="2616301" y="1838748"/>
            <a:ext cx="181500" cy="181800"/>
          </a:xfrm>
          <a:prstGeom prst="ellipse">
            <a:avLst/>
          </a:prstGeom>
          <a:solidFill>
            <a:srgbClr val="FFF1DA"/>
          </a:solidFill>
          <a:ln cap="flat" cmpd="sng" w="72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g3f69dc5bd35_0_21"/>
          <p:cNvSpPr/>
          <p:nvPr/>
        </p:nvSpPr>
        <p:spPr>
          <a:xfrm>
            <a:off x="2616301" y="1843075"/>
            <a:ext cx="181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g3f69dc5bd35_0_21"/>
          <p:cNvSpPr/>
          <p:nvPr/>
        </p:nvSpPr>
        <p:spPr>
          <a:xfrm>
            <a:off x="2919014" y="1838748"/>
            <a:ext cx="181500" cy="181800"/>
          </a:xfrm>
          <a:prstGeom prst="ellipse">
            <a:avLst/>
          </a:prstGeom>
          <a:solidFill>
            <a:srgbClr val="FFF1DA"/>
          </a:solidFill>
          <a:ln cap="flat" cmpd="sng" w="72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g3f69dc5bd35_0_21"/>
          <p:cNvSpPr/>
          <p:nvPr/>
        </p:nvSpPr>
        <p:spPr>
          <a:xfrm>
            <a:off x="2919014" y="1843075"/>
            <a:ext cx="181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g3f69dc5bd35_0_21"/>
          <p:cNvSpPr/>
          <p:nvPr/>
        </p:nvSpPr>
        <p:spPr>
          <a:xfrm>
            <a:off x="3221727" y="1838748"/>
            <a:ext cx="181500" cy="181800"/>
          </a:xfrm>
          <a:prstGeom prst="ellipse">
            <a:avLst/>
          </a:prstGeom>
          <a:solidFill>
            <a:srgbClr val="FFF1DA"/>
          </a:solidFill>
          <a:ln cap="flat" cmpd="sng" w="72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g3f69dc5bd35_0_21"/>
          <p:cNvSpPr/>
          <p:nvPr/>
        </p:nvSpPr>
        <p:spPr>
          <a:xfrm>
            <a:off x="3221727" y="1843075"/>
            <a:ext cx="181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g3f69dc5bd35_0_21"/>
          <p:cNvSpPr/>
          <p:nvPr/>
        </p:nvSpPr>
        <p:spPr>
          <a:xfrm>
            <a:off x="3524439" y="1838748"/>
            <a:ext cx="181500" cy="181800"/>
          </a:xfrm>
          <a:prstGeom prst="ellipse">
            <a:avLst/>
          </a:prstGeom>
          <a:solidFill>
            <a:srgbClr val="FFF1DA"/>
          </a:solidFill>
          <a:ln cap="flat" cmpd="sng" w="72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g3f69dc5bd35_0_21"/>
          <p:cNvSpPr/>
          <p:nvPr/>
        </p:nvSpPr>
        <p:spPr>
          <a:xfrm>
            <a:off x="3524439" y="1843075"/>
            <a:ext cx="181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g3f69dc5bd35_0_21"/>
          <p:cNvSpPr/>
          <p:nvPr/>
        </p:nvSpPr>
        <p:spPr>
          <a:xfrm>
            <a:off x="3827152" y="1838748"/>
            <a:ext cx="181500" cy="181800"/>
          </a:xfrm>
          <a:prstGeom prst="ellipse">
            <a:avLst/>
          </a:prstGeom>
          <a:solidFill>
            <a:srgbClr val="FFF1DA"/>
          </a:solidFill>
          <a:ln cap="flat" cmpd="sng" w="72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g3f69dc5bd35_0_21"/>
          <p:cNvSpPr/>
          <p:nvPr/>
        </p:nvSpPr>
        <p:spPr>
          <a:xfrm>
            <a:off x="3827152" y="1843075"/>
            <a:ext cx="181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g3f69dc5bd35_0_21"/>
          <p:cNvSpPr/>
          <p:nvPr/>
        </p:nvSpPr>
        <p:spPr>
          <a:xfrm>
            <a:off x="4129864" y="1838748"/>
            <a:ext cx="181500" cy="181800"/>
          </a:xfrm>
          <a:prstGeom prst="ellipse">
            <a:avLst/>
          </a:prstGeom>
          <a:solidFill>
            <a:srgbClr val="FFF1DA"/>
          </a:solidFill>
          <a:ln cap="flat" cmpd="sng" w="72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g3f69dc5bd35_0_21"/>
          <p:cNvSpPr/>
          <p:nvPr/>
        </p:nvSpPr>
        <p:spPr>
          <a:xfrm>
            <a:off x="4129864" y="1843075"/>
            <a:ext cx="181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g3f69dc5bd35_0_21"/>
          <p:cNvSpPr/>
          <p:nvPr/>
        </p:nvSpPr>
        <p:spPr>
          <a:xfrm>
            <a:off x="4432577" y="1838748"/>
            <a:ext cx="181500" cy="181800"/>
          </a:xfrm>
          <a:prstGeom prst="ellipse">
            <a:avLst/>
          </a:prstGeom>
          <a:solidFill>
            <a:srgbClr val="FFF1DA"/>
          </a:solidFill>
          <a:ln cap="flat" cmpd="sng" w="72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g3f69dc5bd35_0_21"/>
          <p:cNvSpPr/>
          <p:nvPr/>
        </p:nvSpPr>
        <p:spPr>
          <a:xfrm>
            <a:off x="4432577" y="1843075"/>
            <a:ext cx="181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g3f69dc5bd35_0_21"/>
          <p:cNvSpPr/>
          <p:nvPr/>
        </p:nvSpPr>
        <p:spPr>
          <a:xfrm>
            <a:off x="4735289" y="1838748"/>
            <a:ext cx="181500" cy="181800"/>
          </a:xfrm>
          <a:prstGeom prst="ellipse">
            <a:avLst/>
          </a:prstGeom>
          <a:solidFill>
            <a:srgbClr val="FFF1DA"/>
          </a:solidFill>
          <a:ln cap="flat" cmpd="sng" w="72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g3f69dc5bd35_0_21"/>
          <p:cNvSpPr/>
          <p:nvPr/>
        </p:nvSpPr>
        <p:spPr>
          <a:xfrm>
            <a:off x="4735289" y="1843075"/>
            <a:ext cx="181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g3f69dc5bd35_0_21"/>
          <p:cNvSpPr/>
          <p:nvPr/>
        </p:nvSpPr>
        <p:spPr>
          <a:xfrm>
            <a:off x="5016374" y="553800"/>
            <a:ext cx="5622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FBF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1F5FBF"/>
                </a:solidFill>
                <a:latin typeface="Arial"/>
                <a:ea typeface="Arial"/>
                <a:cs typeface="Arial"/>
                <a:sym typeface="Arial"/>
              </a:rPr>
              <a:t>Level 0: 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g3f69dc5bd35_0_21"/>
          <p:cNvSpPr/>
          <p:nvPr/>
        </p:nvSpPr>
        <p:spPr>
          <a:xfrm>
            <a:off x="5016374" y="1008075"/>
            <a:ext cx="5622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823A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23823A"/>
                </a:solidFill>
                <a:latin typeface="Arial"/>
                <a:ea typeface="Arial"/>
                <a:cs typeface="Arial"/>
                <a:sym typeface="Arial"/>
              </a:rPr>
              <a:t>Level 1: 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g3f69dc5bd35_0_21"/>
          <p:cNvSpPr/>
          <p:nvPr/>
        </p:nvSpPr>
        <p:spPr>
          <a:xfrm>
            <a:off x="5016374" y="1462351"/>
            <a:ext cx="5622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Level 2: 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g3f69dc5bd35_0_21"/>
          <p:cNvSpPr/>
          <p:nvPr/>
        </p:nvSpPr>
        <p:spPr>
          <a:xfrm>
            <a:off x="5016374" y="1916626"/>
            <a:ext cx="5622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C00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E86C00"/>
                </a:solidFill>
                <a:latin typeface="Arial"/>
                <a:ea typeface="Arial"/>
                <a:cs typeface="Arial"/>
                <a:sym typeface="Arial"/>
              </a:rPr>
              <a:t>Level 3: 8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g3f69dc5bd35_0_21"/>
          <p:cNvSpPr/>
          <p:nvPr/>
        </p:nvSpPr>
        <p:spPr>
          <a:xfrm>
            <a:off x="2637875" y="2500275"/>
            <a:ext cx="2940600" cy="501300"/>
          </a:xfrm>
          <a:prstGeom prst="roundRect">
            <a:avLst>
              <a:gd fmla="val 13846" name="adj"/>
            </a:avLst>
          </a:prstGeom>
          <a:solidFill>
            <a:srgbClr val="EAF3FF"/>
          </a:solidFill>
          <a:ln cap="flat" cmpd="sng" w="7200">
            <a:solidFill>
              <a:srgbClr val="1F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250" lIns="43250" spcFirstLastPara="1" rIns="43250" wrap="square" tIns="43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g3f69dc5bd35_0_21"/>
          <p:cNvSpPr/>
          <p:nvPr/>
        </p:nvSpPr>
        <p:spPr>
          <a:xfrm>
            <a:off x="2706975" y="2606475"/>
            <a:ext cx="2940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A66"/>
              </a:buClr>
              <a:buSzPts val="700"/>
              <a:buFont typeface="Arial"/>
              <a:buNone/>
            </a:pPr>
            <a:r>
              <a:rPr b="1" i="0" lang="en-US" sz="800" u="none" cap="none" strike="noStrike">
                <a:solidFill>
                  <a:srgbClr val="0B2A66"/>
                </a:solidFill>
                <a:latin typeface="Arial"/>
                <a:ea typeface="Arial"/>
                <a:cs typeface="Arial"/>
                <a:sym typeface="Arial"/>
              </a:rPr>
              <a:t>If h = 3, max nodes = 2^(3+1) − 1 = </a:t>
            </a:r>
            <a:r>
              <a:rPr b="1" lang="en-US" sz="800">
                <a:solidFill>
                  <a:srgbClr val="0B2A66"/>
                </a:solidFill>
              </a:rPr>
              <a:t> 2^4 − 1 =</a:t>
            </a:r>
            <a:r>
              <a:rPr b="1" i="0" lang="en-US" sz="800" u="none" cap="none" strike="noStrike">
                <a:solidFill>
                  <a:srgbClr val="0B2A6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br>
              <a:rPr b="1" i="0" lang="en-US" sz="800" u="none" cap="none" strike="noStrike">
                <a:solidFill>
                  <a:srgbClr val="0B2A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800">
                <a:solidFill>
                  <a:srgbClr val="0B2A66"/>
                </a:solidFill>
              </a:rPr>
              <a:t>If h = 3, min array length = 2^(3+1) = </a:t>
            </a:r>
            <a:r>
              <a:rPr b="1" lang="en-US" sz="800">
                <a:solidFill>
                  <a:srgbClr val="0B2A66"/>
                </a:solidFill>
              </a:rPr>
              <a:t> 2^4 =</a:t>
            </a:r>
            <a:r>
              <a:rPr b="1" lang="en-US" sz="800">
                <a:solidFill>
                  <a:srgbClr val="0B2A66"/>
                </a:solidFill>
              </a:rPr>
              <a:t>16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A66"/>
              </a:buClr>
              <a:buSzPts val="700"/>
              <a:buFont typeface="Arial"/>
              <a:buNone/>
            </a:pPr>
            <a:r>
              <a:t/>
            </a:r>
            <a:endParaRPr b="1" sz="800">
              <a:solidFill>
                <a:srgbClr val="0B2A66"/>
              </a:solidFill>
            </a:endParaRPr>
          </a:p>
        </p:txBody>
      </p:sp>
      <p:sp>
        <p:nvSpPr>
          <p:cNvPr id="837" name="Google Shape;837;g3f69dc5bd35_0_21"/>
          <p:cNvSpPr/>
          <p:nvPr/>
        </p:nvSpPr>
        <p:spPr>
          <a:xfrm>
            <a:off x="4713667" y="3106403"/>
            <a:ext cx="8649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Binary Tree Basics  •  8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g3f69dc5bd35_0_21"/>
          <p:cNvSpPr/>
          <p:nvPr/>
        </p:nvSpPr>
        <p:spPr>
          <a:xfrm>
            <a:off x="264350" y="1889761"/>
            <a:ext cx="84600" cy="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823A"/>
              </a:buClr>
              <a:buSzPts val="900"/>
              <a:buFont typeface="Arial"/>
              <a:buNone/>
            </a:pPr>
            <a:r>
              <a:rPr b="1" i="0" lang="en-US" sz="800" u="none" cap="none" strike="noStrike">
                <a:solidFill>
                  <a:srgbClr val="23823A"/>
                </a:solidFill>
                <a:latin typeface="Trebuchet MS"/>
                <a:ea typeface="Trebuchet MS"/>
                <a:cs typeface="Trebuchet MS"/>
                <a:sym typeface="Trebuchet MS"/>
              </a:rPr>
              <a:t>•</a:t>
            </a:r>
            <a:endParaRPr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39" name="Google Shape;839;g3f69dc5bd35_0_21"/>
          <p:cNvSpPr/>
          <p:nvPr/>
        </p:nvSpPr>
        <p:spPr>
          <a:xfrm>
            <a:off x="334245" y="1886081"/>
            <a:ext cx="1979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Arial"/>
              <a:buNone/>
            </a:pPr>
            <a:r>
              <a:rPr i="0" lang="en-US" sz="900" u="none" cap="none" strike="noStrike">
                <a:solidFill>
                  <a:srgbClr val="111111"/>
                </a:solidFill>
                <a:latin typeface="Trebuchet MS"/>
                <a:ea typeface="Trebuchet MS"/>
                <a:cs typeface="Trebuchet MS"/>
                <a:sym typeface="Trebuchet MS"/>
              </a:rPr>
              <a:t>Each new level can have twice as many nodes as the previous level.</a:t>
            </a:r>
            <a:endParaRPr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1d00b2da0a_0_21"/>
          <p:cNvSpPr txBox="1"/>
          <p:nvPr/>
        </p:nvSpPr>
        <p:spPr>
          <a:xfrm>
            <a:off x="1419599" y="260750"/>
            <a:ext cx="32904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US" sz="1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Binary tree representation</a:t>
            </a:r>
            <a:endParaRPr i="0" sz="140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45" name="Google Shape;845;g31d00b2da0a_0_21"/>
          <p:cNvSpPr/>
          <p:nvPr/>
        </p:nvSpPr>
        <p:spPr>
          <a:xfrm>
            <a:off x="139445" y="2946653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g31d00b2da0a_0_21"/>
          <p:cNvSpPr txBox="1"/>
          <p:nvPr/>
        </p:nvSpPr>
        <p:spPr>
          <a:xfrm>
            <a:off x="87275" y="2781400"/>
            <a:ext cx="55095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15265" marR="0" rtl="0" algn="l">
              <a:lnSpc>
                <a:spcPct val="11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7" name="Google Shape;847;g31d00b2da0a_0_21"/>
          <p:cNvSpPr txBox="1"/>
          <p:nvPr/>
        </p:nvSpPr>
        <p:spPr>
          <a:xfrm>
            <a:off x="130845" y="3104750"/>
            <a:ext cx="12888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Representing rooted trees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8" name="Google Shape;848;g31d00b2da0a_0_21"/>
          <p:cNvSpPr txBox="1"/>
          <p:nvPr/>
        </p:nvSpPr>
        <p:spPr>
          <a:xfrm>
            <a:off x="941025" y="980350"/>
            <a:ext cx="45099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There are two ways to represent binary trees:</a:t>
            </a:r>
            <a:endParaRPr b="0" i="0" sz="1200" u="none" cap="none" strike="noStrike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b="1" i="0" lang="en-US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Dynamic</a:t>
            </a:r>
            <a:r>
              <a:rPr b="0" i="0" lang="en-US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Representation (Using Linked List)</a:t>
            </a:r>
            <a:endParaRPr b="0" i="0" sz="1200" u="none" cap="none" strike="noStrike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b="1" i="0" lang="en-US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Sequential</a:t>
            </a:r>
            <a:r>
              <a:rPr b="0" i="0" lang="en-US" sz="12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Representation (Using Array)</a:t>
            </a:r>
            <a:endParaRPr b="0" i="0" sz="1200" u="none" cap="none" strike="noStrike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1d00b2da0a_0_12"/>
          <p:cNvSpPr txBox="1"/>
          <p:nvPr/>
        </p:nvSpPr>
        <p:spPr>
          <a:xfrm>
            <a:off x="860371" y="233113"/>
            <a:ext cx="43425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Sequential Representation (Using Array)</a:t>
            </a:r>
            <a:endParaRPr i="0" sz="1200" u="none" cap="none" strike="noStrike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54" name="Google Shape;854;g31d00b2da0a_0_12"/>
          <p:cNvSpPr/>
          <p:nvPr/>
        </p:nvSpPr>
        <p:spPr>
          <a:xfrm>
            <a:off x="139445" y="2946653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g31d00b2da0a_0_12"/>
          <p:cNvSpPr txBox="1"/>
          <p:nvPr/>
        </p:nvSpPr>
        <p:spPr>
          <a:xfrm>
            <a:off x="87275" y="2781400"/>
            <a:ext cx="55095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Image: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endParaRPr b="0" baseline="3000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15265" marR="0" rtl="0" algn="l">
              <a:lnSpc>
                <a:spcPct val="11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r>
              <a:rPr b="0" i="0" lang="en-US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https://www.youtube.com/watch?v=0iHD18D072c</a:t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56" name="Google Shape;856;g31d00b2da0a_0_12"/>
          <p:cNvPicPr preferRelativeResize="0"/>
          <p:nvPr/>
        </p:nvPicPr>
        <p:blipFill rotWithShape="1">
          <a:blip r:embed="rId3">
            <a:alphaModFix/>
          </a:blip>
          <a:srcRect b="0" l="0" r="0" t="23564"/>
          <a:stretch/>
        </p:blipFill>
        <p:spPr>
          <a:xfrm>
            <a:off x="343075" y="513625"/>
            <a:ext cx="5079640" cy="2184663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g31d00b2da0a_0_12"/>
          <p:cNvSpPr txBox="1"/>
          <p:nvPr/>
        </p:nvSpPr>
        <p:spPr>
          <a:xfrm>
            <a:off x="457450" y="683725"/>
            <a:ext cx="16200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left=2*i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right= 2*i+1</a:t>
            </a:r>
            <a:b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i= parent_index</a:t>
            </a:r>
            <a:b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parent = child_index//2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[floor division]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58" name="Google Shape;858;g31d00b2da0a_0_12"/>
          <p:cNvSpPr txBox="1"/>
          <p:nvPr/>
        </p:nvSpPr>
        <p:spPr>
          <a:xfrm>
            <a:off x="3768950" y="513625"/>
            <a:ext cx="205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5100" lvl="0" marL="1714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800">
                <a:solidFill>
                  <a:schemeClr val="dk1"/>
                </a:solidFill>
              </a:rPr>
              <a:t>Max array length in height h: 2^(h+1)</a:t>
            </a:r>
            <a:endParaRPr sz="800">
              <a:solidFill>
                <a:schemeClr val="dk1"/>
              </a:solidFill>
            </a:endParaRPr>
          </a:p>
          <a:p>
            <a:pPr indent="-16510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800">
                <a:solidFill>
                  <a:schemeClr val="dk1"/>
                </a:solidFill>
              </a:rPr>
              <a:t>Max nodes in height h: 2^(h+1)−1</a:t>
            </a:r>
            <a:br>
              <a:rPr lang="en-US" sz="800">
                <a:solidFill>
                  <a:schemeClr val="dk1"/>
                </a:solidFill>
              </a:rPr>
            </a:b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Here, h = 3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Max array length: 2^(3+1) = 2^4 =16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Max nodes: 2^(3+1) - 1 = 2^4 -1  =15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1dcf98ffb0_0_2"/>
          <p:cNvSpPr txBox="1"/>
          <p:nvPr/>
        </p:nvSpPr>
        <p:spPr>
          <a:xfrm>
            <a:off x="842196" y="160488"/>
            <a:ext cx="43425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Sequential Representation (Using Array)</a:t>
            </a:r>
            <a:endParaRPr i="0" sz="120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64" name="Google Shape;864;g31dcf98ffb0_0_2"/>
          <p:cNvSpPr/>
          <p:nvPr/>
        </p:nvSpPr>
        <p:spPr>
          <a:xfrm>
            <a:off x="139445" y="2946653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g31dcf98ffb0_0_2"/>
          <p:cNvSpPr txBox="1"/>
          <p:nvPr/>
        </p:nvSpPr>
        <p:spPr>
          <a:xfrm>
            <a:off x="87275" y="2781400"/>
            <a:ext cx="55095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Image: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endParaRPr b="0" baseline="3000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15265" marR="0" rtl="0" algn="l">
              <a:lnSpc>
                <a:spcPct val="11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r>
              <a:rPr b="0" i="0" lang="en-US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https://www.youtube.com/watch?v=0iHD18D072c</a:t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6" name="Google Shape;866;g31dcf98ffb0_0_2"/>
          <p:cNvSpPr txBox="1"/>
          <p:nvPr/>
        </p:nvSpPr>
        <p:spPr>
          <a:xfrm>
            <a:off x="318150" y="430500"/>
            <a:ext cx="5002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36525" lvl="0" marL="257175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Balanced Binary Tree: 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Left and right subtrees are kept </a:t>
            </a: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roughly equal in height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○"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Ensures </a:t>
            </a: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optimal performance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6525" lvl="0" marL="25717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Unbalanced Binary Tree: 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Height difference between subtrees increases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○"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the </a:t>
            </a: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worst case,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the tree becomes </a:t>
            </a:r>
            <a:r>
              <a:rPr b="0" i="0" lang="en-US" sz="8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completely skewed</a:t>
            </a:r>
            <a:endParaRPr b="0" i="0" sz="800" u="none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6525" lvl="0" marL="25717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Skewed Binary Tree: 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Most nodes have </a:t>
            </a:r>
            <a:r>
              <a:rPr b="0" i="0" lang="en-US" sz="8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only one child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○"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Forms a linear, linked-list–like structure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867" name="Google Shape;867;g31dcf98ffb0_0_2"/>
          <p:cNvPicPr preferRelativeResize="0"/>
          <p:nvPr/>
        </p:nvPicPr>
        <p:blipFill rotWithShape="1">
          <a:blip r:embed="rId3">
            <a:alphaModFix/>
          </a:blip>
          <a:srcRect b="0" l="0" r="0" t="18599"/>
          <a:stretch/>
        </p:blipFill>
        <p:spPr>
          <a:xfrm>
            <a:off x="2284329" y="1662025"/>
            <a:ext cx="3116146" cy="123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g31dcf98ffb0_0_2" title="balanced_binary_tre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050" y="1782811"/>
            <a:ext cx="1279949" cy="104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1d00b2da0a_0_36"/>
          <p:cNvSpPr txBox="1"/>
          <p:nvPr/>
        </p:nvSpPr>
        <p:spPr>
          <a:xfrm>
            <a:off x="860371" y="178638"/>
            <a:ext cx="43425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Sequential Representation (Using Array)</a:t>
            </a:r>
            <a:endParaRPr i="0" sz="120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74" name="Google Shape;874;g31d00b2da0a_0_36"/>
          <p:cNvSpPr/>
          <p:nvPr/>
        </p:nvSpPr>
        <p:spPr>
          <a:xfrm>
            <a:off x="139445" y="2946653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g31d00b2da0a_0_36"/>
          <p:cNvSpPr txBox="1"/>
          <p:nvPr/>
        </p:nvSpPr>
        <p:spPr>
          <a:xfrm>
            <a:off x="87275" y="2781400"/>
            <a:ext cx="55095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Image:</a:t>
            </a:r>
            <a:r>
              <a:rPr b="0" baseline="30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endParaRPr b="0" baseline="30000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15265" marR="0" rtl="0" algn="l">
              <a:lnSpc>
                <a:spcPct val="11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r>
              <a:rPr b="0" i="0" lang="en-US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https://www.youtube.com/watch?v=0iHD18D072c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76" name="Google Shape;876;g31d00b2da0a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500" y="501550"/>
            <a:ext cx="3896026" cy="1980226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g31d00b2da0a_0_36"/>
          <p:cNvSpPr txBox="1"/>
          <p:nvPr/>
        </p:nvSpPr>
        <p:spPr>
          <a:xfrm>
            <a:off x="270275" y="2231450"/>
            <a:ext cx="51435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0" i="0" lang="en-US" sz="11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Problem: A left/right skewed binary tree has </a:t>
            </a:r>
            <a:r>
              <a:rPr b="1" i="0" lang="en-US" sz="11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many empty array slots.</a:t>
            </a:r>
            <a:br>
              <a:rPr b="1" i="0" lang="en-US" sz="11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i="0" lang="en-US" sz="11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(Memory wastage)</a:t>
            </a:r>
            <a:endParaRPr i="0" sz="1100" u="none" cap="none" strike="noStrike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8" name="Google Shape;878;g31d00b2da0a_0_36"/>
          <p:cNvSpPr txBox="1"/>
          <p:nvPr/>
        </p:nvSpPr>
        <p:spPr>
          <a:xfrm>
            <a:off x="87275" y="459075"/>
            <a:ext cx="16200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left=2*i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right= 2*i+1</a:t>
            </a:r>
            <a:b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i= parent_index</a:t>
            </a:r>
            <a:b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parent = child_index//2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[floor division]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79" name="Google Shape;879;g31d00b2da0a_0_36"/>
          <p:cNvSpPr txBox="1"/>
          <p:nvPr/>
        </p:nvSpPr>
        <p:spPr>
          <a:xfrm>
            <a:off x="3768950" y="513625"/>
            <a:ext cx="205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5100" lvl="0" marL="1714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800">
                <a:solidFill>
                  <a:schemeClr val="dk1"/>
                </a:solidFill>
              </a:rPr>
              <a:t>Max array length in height h: 2^(h+1)</a:t>
            </a:r>
            <a:endParaRPr sz="800">
              <a:solidFill>
                <a:schemeClr val="dk1"/>
              </a:solidFill>
            </a:endParaRPr>
          </a:p>
          <a:p>
            <a:pPr indent="-16510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800">
                <a:solidFill>
                  <a:schemeClr val="dk1"/>
                </a:solidFill>
              </a:rPr>
              <a:t>Max nodes in height h: 2^(h+1)−1</a:t>
            </a:r>
            <a:br>
              <a:rPr lang="en-US" sz="800">
                <a:solidFill>
                  <a:schemeClr val="dk1"/>
                </a:solidFill>
              </a:rPr>
            </a:b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Here, h = 3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Max array length: 2^(3+1) = 2^4 =16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Max nodes: 2^(3+1) - 1 = 2^4 -1  =15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6"/>
          <p:cNvSpPr txBox="1"/>
          <p:nvPr/>
        </p:nvSpPr>
        <p:spPr>
          <a:xfrm>
            <a:off x="453227" y="521148"/>
            <a:ext cx="50907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node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has </a:t>
            </a:r>
            <a:r>
              <a:rPr b="1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two child references (link)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left and right.</a:t>
            </a:r>
            <a:b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If a node has </a:t>
            </a:r>
            <a:r>
              <a:rPr b="1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fewer than two children,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unused child reference is set to NIL (Null/None).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5" name="Google Shape;885;p16"/>
          <p:cNvSpPr txBox="1"/>
          <p:nvPr/>
        </p:nvSpPr>
        <p:spPr>
          <a:xfrm>
            <a:off x="900071" y="248663"/>
            <a:ext cx="43425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3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Dynamic Representation (Using Linked List)</a:t>
            </a:r>
            <a:endParaRPr i="0" sz="130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212967500f_1_0"/>
          <p:cNvSpPr txBox="1"/>
          <p:nvPr/>
        </p:nvSpPr>
        <p:spPr>
          <a:xfrm>
            <a:off x="900071" y="248663"/>
            <a:ext cx="43425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Dynamic Representation (Using Linked List)</a:t>
            </a:r>
            <a:endParaRPr i="0" sz="120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91" name="Google Shape;891;g3212967500f_1_0"/>
          <p:cNvSpPr/>
          <p:nvPr/>
        </p:nvSpPr>
        <p:spPr>
          <a:xfrm>
            <a:off x="139445" y="2946653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92" name="Google Shape;892;g3212967500f_1_0"/>
          <p:cNvGraphicFramePr/>
          <p:nvPr/>
        </p:nvGraphicFramePr>
        <p:xfrm>
          <a:off x="139450" y="76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{77E87AE0-88CD-48EB-A4B3-02B30C1389F9}</a:tableStyleId>
              </a:tblPr>
              <a:tblGrid>
                <a:gridCol w="2611050"/>
                <a:gridCol w="2870475"/>
              </a:tblGrid>
              <a:tr h="2978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Binary tree </a:t>
                      </a:r>
                      <a:r>
                        <a:rPr b="1" lang="en-US" sz="1200" u="none" cap="none" strike="noStrike"/>
                        <a:t>Node class</a:t>
                      </a:r>
                      <a:r>
                        <a:rPr lang="en-US" sz="1200" u="none" cap="none" strike="noStrike"/>
                        <a:t> design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 hMerge="1"/>
              </a:tr>
              <a:tr h="277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Style01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Style02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-128270" lvl="0" marL="29083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669"/>
                        </a:buClr>
                        <a:buSzPts val="900"/>
                        <a:buFont typeface="Tahoma"/>
                        <a:buChar char="•"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 reference to its left child (may be NIL)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28270" lvl="0" marL="29083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669"/>
                        </a:buClr>
                        <a:buSzPts val="900"/>
                        <a:buFont typeface="Tahoma"/>
                        <a:buChar char="•"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 reference to its right child (may be NIL)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27635" lvl="0" marL="290195" marR="0" rtl="0" algn="l">
                        <a:lnSpc>
                          <a:spcPct val="11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669"/>
                        </a:buClr>
                        <a:buSzPts val="900"/>
                        <a:buFont typeface="Tahoma"/>
                        <a:buChar char="•"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 key/value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128270" lvl="0" marL="290830" marR="0" rtl="0" algn="l">
                        <a:lnSpc>
                          <a:spcPct val="117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669"/>
                        </a:buClr>
                        <a:buSzPts val="900"/>
                        <a:buFont typeface="Tahoma"/>
                        <a:buChar char="•"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 reference to its parent (NIL for root)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28270" lvl="0" marL="29083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669"/>
                        </a:buClr>
                        <a:buSzPts val="900"/>
                        <a:buFont typeface="Tahoma"/>
                        <a:buChar char="•"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 reference to its left child (may be NIL)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28270" lvl="0" marL="29083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669"/>
                        </a:buClr>
                        <a:buSzPts val="900"/>
                        <a:buFont typeface="Tahoma"/>
                        <a:buChar char="•"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 reference to its right child (may be NIL)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27635" lvl="0" marL="290195" marR="0" rtl="0" algn="l">
                        <a:lnSpc>
                          <a:spcPct val="11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669"/>
                        </a:buClr>
                        <a:buSzPts val="900"/>
                        <a:buFont typeface="Tahoma"/>
                        <a:buChar char="•"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 key/value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1d00b2da0a_0_0"/>
          <p:cNvSpPr txBox="1"/>
          <p:nvPr/>
        </p:nvSpPr>
        <p:spPr>
          <a:xfrm>
            <a:off x="866421" y="178613"/>
            <a:ext cx="43425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Dynamic Representation (Using Linked List) (style1)</a:t>
            </a:r>
            <a:endParaRPr i="0" sz="120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98" name="Google Shape;898;g31d00b2da0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5200" y="680125"/>
            <a:ext cx="3567175" cy="2101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9" name="Google Shape;899;g31d00b2da0a_0_0"/>
          <p:cNvGraphicFramePr/>
          <p:nvPr/>
        </p:nvGraphicFramePr>
        <p:xfrm>
          <a:off x="87275" y="613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{77E87AE0-88CD-48EB-A4B3-02B30C1389F9}</a:tableStyleId>
              </a:tblPr>
              <a:tblGrid>
                <a:gridCol w="1880975"/>
              </a:tblGrid>
              <a:tr h="277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Node class structure (style 1)</a:t>
                      </a:r>
                      <a:endParaRPr b="1"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-114300" lvl="0" marL="11430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ahoma"/>
                        <a:buChar char="●"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 reference to its left child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14300" lvl="0" marL="11430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ahoma"/>
                        <a:buChar char="●"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 reference to its right child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14300" lvl="0" marL="11430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ahoma"/>
                        <a:buChar char="●"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 key/value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Traversal: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• Only downward (left/right)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• No upward path to root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Problem: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• Cannot go upward 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00" name="Google Shape;900;g31d00b2da0a_0_0"/>
          <p:cNvSpPr txBox="1"/>
          <p:nvPr/>
        </p:nvSpPr>
        <p:spPr>
          <a:xfrm>
            <a:off x="87275" y="2781400"/>
            <a:ext cx="55095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Image: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endParaRPr b="0" baseline="3000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15265" marR="0" rtl="0" algn="l">
              <a:lnSpc>
                <a:spcPct val="11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r>
              <a:rPr b="0" i="0" lang="en-US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Cormen, Leiserson, Rivest, Stein. Introduction to Algorithms, 3rd edition, MIT Press, 2009</a:t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1d6baea2bf_0_10"/>
          <p:cNvSpPr txBox="1"/>
          <p:nvPr/>
        </p:nvSpPr>
        <p:spPr>
          <a:xfrm>
            <a:off x="860371" y="154413"/>
            <a:ext cx="43425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Dynamic Representation (Using Linked List) (style2)</a:t>
            </a:r>
            <a:endParaRPr i="0" sz="120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06" name="Google Shape;906;g31d6baea2bf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5157" y="708251"/>
            <a:ext cx="3217369" cy="1778075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g31d6baea2bf_0_10"/>
          <p:cNvSpPr/>
          <p:nvPr/>
        </p:nvSpPr>
        <p:spPr>
          <a:xfrm>
            <a:off x="139445" y="2946653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g31d6baea2bf_0_10"/>
          <p:cNvSpPr txBox="1"/>
          <p:nvPr/>
        </p:nvSpPr>
        <p:spPr>
          <a:xfrm>
            <a:off x="87275" y="2781400"/>
            <a:ext cx="55095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Image: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endParaRPr b="0" baseline="3000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15265" marR="0" rtl="0" algn="l">
              <a:lnSpc>
                <a:spcPct val="11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r>
              <a:rPr b="0" i="0" lang="en-US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Cormen, Leiserson, Rivest, Stein. Introduction to Algorithms, 3rd edition, MIT Press, 2009</a:t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909" name="Google Shape;909;g31d6baea2bf_0_10"/>
          <p:cNvGraphicFramePr/>
          <p:nvPr/>
        </p:nvGraphicFramePr>
        <p:xfrm>
          <a:off x="113363" y="510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{77E87AE0-88CD-48EB-A4B3-02B30C1389F9}</a:tableStyleId>
              </a:tblPr>
              <a:tblGrid>
                <a:gridCol w="2076925"/>
              </a:tblGrid>
              <a:tr h="277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Node class structure (style 2)</a:t>
                      </a:r>
                      <a:endParaRPr b="1"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-114300" lvl="0" marL="11430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ahoma"/>
                        <a:buChar char="●"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 reference to its parent 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14300" lvl="0" marL="11430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ahoma"/>
                        <a:buChar char="●"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 reference to its left child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14300" lvl="0" marL="11430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ahoma"/>
                        <a:buChar char="●"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 reference to its right child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14300" lvl="0" marL="11430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Tahoma"/>
                        <a:buChar char="●"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 key/value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Traversal</a:t>
                      </a: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: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279400" lvl="0" marL="45720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Tahoma"/>
                        <a:buChar char="●"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Downward (left/right)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279400" lvl="0" marL="45720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Tahoma"/>
                        <a:buChar char="●"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Upward to root via parent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Problem: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• Requires extra memory to keep parent </a:t>
                      </a:r>
                      <a:endParaRPr b="1" sz="7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14"/>
          <p:cNvSpPr txBox="1"/>
          <p:nvPr>
            <p:ph type="title"/>
          </p:nvPr>
        </p:nvSpPr>
        <p:spPr>
          <a:xfrm>
            <a:off x="1865650" y="157725"/>
            <a:ext cx="2326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Navigating trees</a:t>
            </a:r>
            <a:endParaRPr/>
          </a:p>
        </p:txBody>
      </p:sp>
      <p:sp>
        <p:nvSpPr>
          <p:cNvPr id="915" name="Google Shape;915;p14"/>
          <p:cNvSpPr txBox="1"/>
          <p:nvPr/>
        </p:nvSpPr>
        <p:spPr>
          <a:xfrm>
            <a:off x="130845" y="3104750"/>
            <a:ext cx="1320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Representing rooted trees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6" name="Google Shape;916;p14"/>
          <p:cNvSpPr txBox="1"/>
          <p:nvPr/>
        </p:nvSpPr>
        <p:spPr>
          <a:xfrm>
            <a:off x="366950" y="603575"/>
            <a:ext cx="5031900" cy="24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7320" lvl="0" marL="29083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Each tree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has exactly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one root</a:t>
            </a:r>
            <a:endParaRPr b="1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7320" lvl="0" marL="290830" marR="0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Each node of the tree has exactly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one parent </a:t>
            </a:r>
            <a:endParaRPr b="1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○"/>
            </a:pPr>
            <a:r>
              <a:rPr b="1" i="0" lang="en-US" sz="1200" u="none" cap="none" strike="noStrike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rPr>
              <a:t>Except root, which has no parent</a:t>
            </a:r>
            <a:endParaRPr b="1" i="0" sz="1200" u="none" cap="none" strike="noStrike">
              <a:solidFill>
                <a:srgbClr val="CC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CC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7320" lvl="0" marL="29083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Starting from the root, there is </a:t>
            </a:r>
            <a:r>
              <a:rPr b="1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(at least) one way</a:t>
            </a:r>
            <a:r>
              <a:rPr b="0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to reach each/every node in a tree</a:t>
            </a:r>
            <a:endParaRPr b="0" i="0" sz="120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6685" lvl="0" marL="29019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root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of the tree can be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reached from any node</a:t>
            </a:r>
            <a:endParaRPr b="1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917" name="Google Shape;9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2150" y="814021"/>
            <a:ext cx="1154483" cy="886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1f31d0a28d_0_180"/>
          <p:cNvSpPr txBox="1"/>
          <p:nvPr>
            <p:ph type="title"/>
          </p:nvPr>
        </p:nvSpPr>
        <p:spPr>
          <a:xfrm>
            <a:off x="1331125" y="94225"/>
            <a:ext cx="31077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900">
            <a:spAutoFit/>
          </a:bodyPr>
          <a:lstStyle/>
          <a:p>
            <a:pPr indent="0" lvl="0" marL="5346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394663"/>
                </a:solidFill>
                <a:latin typeface="Trebuchet MS"/>
                <a:ea typeface="Trebuchet MS"/>
                <a:cs typeface="Trebuchet MS"/>
                <a:sym typeface="Trebuchet MS"/>
              </a:rPr>
              <a:t>Tree Traversal </a:t>
            </a:r>
            <a:r>
              <a:rPr b="1" lang="en-US" sz="14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(Important!!!)</a:t>
            </a:r>
            <a:endParaRPr sz="14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3" name="Google Shape;923;g31f31d0a28d_0_180"/>
          <p:cNvSpPr txBox="1"/>
          <p:nvPr>
            <p:ph idx="1" type="body"/>
          </p:nvPr>
        </p:nvSpPr>
        <p:spPr>
          <a:xfrm>
            <a:off x="208950" y="442850"/>
            <a:ext cx="5375400" cy="20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78740" lvl="0" marL="1041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00"/>
              <a:t>For </a:t>
            </a:r>
            <a:r>
              <a:rPr b="1" lang="en-US" sz="1000"/>
              <a:t>Inorder</a:t>
            </a:r>
            <a:r>
              <a:rPr lang="en-US" sz="1000"/>
              <a:t>, you traverse from the </a:t>
            </a:r>
            <a:r>
              <a:rPr b="1" lang="en-US" sz="1000"/>
              <a:t>left subtree</a:t>
            </a:r>
            <a:r>
              <a:rPr lang="en-US" sz="1000"/>
              <a:t> to the </a:t>
            </a:r>
            <a:r>
              <a:rPr b="1" lang="en-US" sz="1000"/>
              <a:t>root</a:t>
            </a:r>
            <a:r>
              <a:rPr lang="en-US" sz="1000"/>
              <a:t> then to the </a:t>
            </a:r>
            <a:r>
              <a:rPr b="1" lang="en-US" sz="1000"/>
              <a:t>right subtree</a:t>
            </a:r>
            <a:r>
              <a:rPr lang="en-US" sz="1000"/>
              <a:t>.</a:t>
            </a:r>
            <a:endParaRPr sz="1000"/>
          </a:p>
          <a:p>
            <a:pPr indent="-78740" lvl="0" marL="1041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00"/>
              <a:t>For </a:t>
            </a:r>
            <a:r>
              <a:rPr b="1" lang="en-US" sz="1000"/>
              <a:t>Preorder</a:t>
            </a:r>
            <a:r>
              <a:rPr lang="en-US" sz="1000"/>
              <a:t>, you traverse from the </a:t>
            </a:r>
            <a:r>
              <a:rPr b="1" lang="en-US" sz="1000"/>
              <a:t>root</a:t>
            </a:r>
            <a:r>
              <a:rPr lang="en-US" sz="1000"/>
              <a:t> to the </a:t>
            </a:r>
            <a:r>
              <a:rPr b="1" lang="en-US" sz="1000"/>
              <a:t>left subtree</a:t>
            </a:r>
            <a:r>
              <a:rPr lang="en-US" sz="1000"/>
              <a:t> then to the </a:t>
            </a:r>
            <a:r>
              <a:rPr b="1" lang="en-US" sz="1000"/>
              <a:t>right subtree</a:t>
            </a:r>
            <a:r>
              <a:rPr lang="en-US" sz="1000"/>
              <a:t>.</a:t>
            </a:r>
            <a:endParaRPr sz="1000"/>
          </a:p>
          <a:p>
            <a:pPr indent="-78740" lvl="0" marL="1041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00"/>
              <a:t>For </a:t>
            </a:r>
            <a:r>
              <a:rPr b="1" lang="en-US" sz="1000"/>
              <a:t>Post order</a:t>
            </a:r>
            <a:r>
              <a:rPr lang="en-US" sz="1000"/>
              <a:t>, you traverse from the </a:t>
            </a:r>
            <a:r>
              <a:rPr b="1" lang="en-US" sz="1000"/>
              <a:t>left subtree</a:t>
            </a:r>
            <a:r>
              <a:rPr lang="en-US" sz="1000"/>
              <a:t> to the </a:t>
            </a:r>
            <a:r>
              <a:rPr b="1" lang="en-US" sz="1000"/>
              <a:t>right subtree</a:t>
            </a:r>
            <a:r>
              <a:rPr lang="en-US" sz="1000"/>
              <a:t> then to the </a:t>
            </a:r>
            <a:r>
              <a:rPr b="1" lang="en-US" sz="1000"/>
              <a:t>root</a:t>
            </a:r>
            <a:r>
              <a:rPr lang="en-US" sz="1000"/>
              <a:t>.</a:t>
            </a:r>
            <a:br>
              <a:rPr lang="en-US" sz="1000"/>
            </a:br>
            <a:br>
              <a:rPr lang="en-US" sz="1000"/>
            </a:br>
            <a:endParaRPr sz="1000"/>
          </a:p>
          <a:p>
            <a:pPr indent="0" lvl="0" marL="15240" marR="1632106" rtl="0" algn="l">
              <a:lnSpc>
                <a:spcPct val="97000"/>
              </a:lnSpc>
              <a:spcBef>
                <a:spcPts val="405"/>
              </a:spcBef>
              <a:spcAft>
                <a:spcPts val="0"/>
              </a:spcAft>
              <a:buSzPts val="1400"/>
              <a:buNone/>
            </a:pPr>
            <a:r>
              <a:rPr b="1" lang="en-US" sz="1000"/>
              <a:t>Inorder </a:t>
            </a:r>
            <a:r>
              <a:rPr lang="en-US" sz="1000"/>
              <a:t>=&gt; Left, </a:t>
            </a:r>
            <a:r>
              <a:rPr b="1" lang="en-US" sz="1000"/>
              <a:t>Root,</a:t>
            </a:r>
            <a:r>
              <a:rPr lang="en-US" sz="1000"/>
              <a:t> Right. </a:t>
            </a:r>
            <a:br>
              <a:rPr lang="en-US" sz="1000"/>
            </a:br>
            <a:r>
              <a:rPr b="1" lang="en-US" sz="1000"/>
              <a:t>Preorder </a:t>
            </a:r>
            <a:r>
              <a:rPr lang="en-US" sz="1000"/>
              <a:t>=&gt;</a:t>
            </a:r>
            <a:r>
              <a:rPr b="1" lang="en-US" sz="1000"/>
              <a:t> Root, </a:t>
            </a:r>
            <a:r>
              <a:rPr lang="en-US" sz="1000"/>
              <a:t>Left,Right.</a:t>
            </a:r>
            <a:br>
              <a:rPr lang="en-US" sz="1000"/>
            </a:br>
            <a:r>
              <a:rPr b="1" lang="en-US" sz="1000"/>
              <a:t>Post order </a:t>
            </a:r>
            <a:r>
              <a:rPr lang="en-US" sz="1000"/>
              <a:t>=&gt; Left, Right, </a:t>
            </a:r>
            <a:r>
              <a:rPr b="1" lang="en-US" sz="1000"/>
              <a:t>Root.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g31f31d0a28d_0_180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1f334dfcb5_0_152"/>
          <p:cNvSpPr txBox="1"/>
          <p:nvPr>
            <p:ph type="title"/>
          </p:nvPr>
        </p:nvSpPr>
        <p:spPr>
          <a:xfrm>
            <a:off x="1331123" y="94225"/>
            <a:ext cx="2726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900">
            <a:spAutoFit/>
          </a:bodyPr>
          <a:lstStyle/>
          <a:p>
            <a:pPr indent="0" lvl="0" marL="5346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394663"/>
                </a:solidFill>
                <a:latin typeface="Trebuchet MS"/>
                <a:ea typeface="Trebuchet MS"/>
                <a:cs typeface="Trebuchet MS"/>
                <a:sym typeface="Trebuchet MS"/>
              </a:rPr>
              <a:t>Tree Traversal (In order)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30" name="Google Shape;930;g31f334dfcb5_0_152"/>
          <p:cNvSpPr txBox="1"/>
          <p:nvPr>
            <p:ph idx="1" type="body"/>
          </p:nvPr>
        </p:nvSpPr>
        <p:spPr>
          <a:xfrm>
            <a:off x="85600" y="442838"/>
            <a:ext cx="5680200" cy="19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85089" lvl="0" marL="1041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Inorder</a:t>
            </a:r>
            <a:r>
              <a:rPr lang="en-US" sz="1100"/>
              <a:t>, you traverse from the left subtree to the root then to the right subtree.</a:t>
            </a:r>
            <a:endParaRPr sz="1100"/>
          </a:p>
          <a:p>
            <a:pPr indent="-85089" lvl="0" marL="1041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Preorder</a:t>
            </a:r>
            <a:r>
              <a:rPr lang="en-US" sz="1100"/>
              <a:t>, you traverse from the root to the left subtree then to the right subtree.</a:t>
            </a:r>
            <a:endParaRPr sz="1100"/>
          </a:p>
          <a:p>
            <a:pPr indent="-85089" lvl="0" marL="1041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Post order</a:t>
            </a:r>
            <a:r>
              <a:rPr lang="en-US" sz="1100"/>
              <a:t>, you traverse from the left subtree to the right subtree then to the root.</a:t>
            </a:r>
            <a:br>
              <a:rPr lang="en-US" sz="1100"/>
            </a:br>
            <a:endParaRPr sz="1100"/>
          </a:p>
          <a:p>
            <a:pPr indent="0" lvl="0" marL="15240" marR="3190240" rtl="0" algn="l">
              <a:lnSpc>
                <a:spcPct val="97000"/>
              </a:lnSpc>
              <a:spcBef>
                <a:spcPts val="405"/>
              </a:spcBef>
              <a:spcAft>
                <a:spcPts val="0"/>
              </a:spcAft>
              <a:buSzPts val="1400"/>
              <a:buNone/>
            </a:pPr>
            <a:r>
              <a:rPr b="1" lang="en-US" sz="1000"/>
              <a:t>Inorder </a:t>
            </a:r>
            <a:r>
              <a:rPr lang="en-US" sz="1000"/>
              <a:t>=&gt; Left, </a:t>
            </a:r>
            <a:r>
              <a:rPr b="1" lang="en-US" sz="1000"/>
              <a:t>Root,</a:t>
            </a:r>
            <a:r>
              <a:rPr lang="en-US" sz="1000"/>
              <a:t> Right. </a:t>
            </a:r>
            <a:br>
              <a:rPr lang="en-US" sz="1000"/>
            </a:br>
            <a:r>
              <a:rPr b="1" lang="en-US" sz="1000"/>
              <a:t>Preorder </a:t>
            </a:r>
            <a:r>
              <a:rPr lang="en-US" sz="1000"/>
              <a:t>=&gt;</a:t>
            </a:r>
            <a:r>
              <a:rPr b="1" lang="en-US" sz="1000"/>
              <a:t> Root, </a:t>
            </a:r>
            <a:r>
              <a:rPr lang="en-US" sz="1000"/>
              <a:t>Left,Right.</a:t>
            </a:r>
            <a:br>
              <a:rPr lang="en-US" sz="1000"/>
            </a:br>
            <a:r>
              <a:rPr b="1" lang="en-US" sz="1000"/>
              <a:t>Post order </a:t>
            </a:r>
            <a:r>
              <a:rPr lang="en-US" sz="1000"/>
              <a:t>=&gt; Left, Right, </a:t>
            </a:r>
            <a:r>
              <a:rPr b="1" lang="en-US" sz="1000"/>
              <a:t>Root.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g31f334dfcb5_0_152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32" name="Google Shape;932;g31f334dfcb5_0_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8452" y="1028150"/>
            <a:ext cx="2117948" cy="217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1f334dfcb5_0_0"/>
          <p:cNvSpPr txBox="1"/>
          <p:nvPr>
            <p:ph idx="1" type="body"/>
          </p:nvPr>
        </p:nvSpPr>
        <p:spPr>
          <a:xfrm>
            <a:off x="85600" y="442838"/>
            <a:ext cx="5680200" cy="21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85089" lvl="0" marL="1041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Inorder</a:t>
            </a:r>
            <a:r>
              <a:rPr lang="en-US" sz="1100"/>
              <a:t>, you traverse from the left subtree to the root then to the right subtree.</a:t>
            </a:r>
            <a:endParaRPr sz="1100"/>
          </a:p>
          <a:p>
            <a:pPr indent="-85089" lvl="0" marL="1041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Preorder</a:t>
            </a:r>
            <a:r>
              <a:rPr lang="en-US" sz="1100"/>
              <a:t>, you traverse from the root to the left subtree then to the right subtree.</a:t>
            </a:r>
            <a:endParaRPr sz="1100"/>
          </a:p>
          <a:p>
            <a:pPr indent="-85089" lvl="0" marL="1041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Post order</a:t>
            </a:r>
            <a:r>
              <a:rPr lang="en-US" sz="1100"/>
              <a:t>, you traverse from the left subtree to the right subtree then to the root.</a:t>
            </a:r>
            <a:br>
              <a:rPr lang="en-US" sz="1100"/>
            </a:br>
            <a:endParaRPr sz="1100"/>
          </a:p>
          <a:p>
            <a:pPr indent="0" lvl="0" marL="15240" marR="3190240" rtl="0" algn="l">
              <a:lnSpc>
                <a:spcPct val="97000"/>
              </a:lnSpc>
              <a:spcBef>
                <a:spcPts val="405"/>
              </a:spcBef>
              <a:spcAft>
                <a:spcPts val="0"/>
              </a:spcAft>
              <a:buSzPts val="1400"/>
              <a:buNone/>
            </a:pPr>
            <a:r>
              <a:rPr b="1" lang="en-US" sz="1000"/>
              <a:t>Inorder </a:t>
            </a:r>
            <a:r>
              <a:rPr lang="en-US" sz="1000"/>
              <a:t>=&gt; Left, </a:t>
            </a:r>
            <a:r>
              <a:rPr b="1" lang="en-US" sz="1000"/>
              <a:t>Root,</a:t>
            </a:r>
            <a:r>
              <a:rPr lang="en-US" sz="1000"/>
              <a:t> Right. </a:t>
            </a:r>
            <a:br>
              <a:rPr lang="en-US" sz="1000"/>
            </a:br>
            <a:r>
              <a:rPr b="1" lang="en-US" sz="1000"/>
              <a:t>Preorder </a:t>
            </a:r>
            <a:r>
              <a:rPr lang="en-US" sz="1000"/>
              <a:t>=&gt;</a:t>
            </a:r>
            <a:r>
              <a:rPr b="1" lang="en-US" sz="1000"/>
              <a:t> Root, </a:t>
            </a:r>
            <a:r>
              <a:rPr lang="en-US" sz="1000"/>
              <a:t>Left,Right.</a:t>
            </a:r>
            <a:br>
              <a:rPr lang="en-US" sz="1000"/>
            </a:br>
            <a:r>
              <a:rPr b="1" lang="en-US" sz="1000"/>
              <a:t>Post order </a:t>
            </a:r>
            <a:r>
              <a:rPr lang="en-US" sz="1000"/>
              <a:t>=&gt; Left, Right, </a:t>
            </a:r>
            <a:r>
              <a:rPr b="1" lang="en-US" sz="1000"/>
              <a:t>Root.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Inorder answer:Homework</a:t>
            </a:r>
            <a:br>
              <a:rPr lang="en-US" sz="14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–solve it own your own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8" name="Google Shape;938;g31f334dfcb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3675" y="1263050"/>
            <a:ext cx="2912100" cy="1841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g31f334dfcb5_0_0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0" name="Google Shape;940;g31f334dfcb5_0_0"/>
          <p:cNvSpPr txBox="1"/>
          <p:nvPr>
            <p:ph type="title"/>
          </p:nvPr>
        </p:nvSpPr>
        <p:spPr>
          <a:xfrm>
            <a:off x="1331123" y="94225"/>
            <a:ext cx="2726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900">
            <a:spAutoFit/>
          </a:bodyPr>
          <a:lstStyle/>
          <a:p>
            <a:pPr indent="0" lvl="0" marL="5346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394663"/>
                </a:solidFill>
                <a:latin typeface="Trebuchet MS"/>
                <a:ea typeface="Trebuchet MS"/>
                <a:cs typeface="Trebuchet MS"/>
                <a:sym typeface="Trebuchet MS"/>
              </a:rPr>
              <a:t>Tree Traversal (In order)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1f334dfcb5_0_11"/>
          <p:cNvSpPr txBox="1"/>
          <p:nvPr>
            <p:ph idx="1" type="body"/>
          </p:nvPr>
        </p:nvSpPr>
        <p:spPr>
          <a:xfrm>
            <a:off x="85600" y="442838"/>
            <a:ext cx="5680200" cy="19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85089" lvl="0" marL="1041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Inorder</a:t>
            </a:r>
            <a:r>
              <a:rPr lang="en-US" sz="1100"/>
              <a:t>, you traverse from the left subtree to the root then to the right subtree.</a:t>
            </a:r>
            <a:endParaRPr sz="1100"/>
          </a:p>
          <a:p>
            <a:pPr indent="-85089" lvl="0" marL="1041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Preorder</a:t>
            </a:r>
            <a:r>
              <a:rPr lang="en-US" sz="1100"/>
              <a:t>, you traverse from the root to the left subtree then to the right subtree.</a:t>
            </a:r>
            <a:endParaRPr sz="1100"/>
          </a:p>
          <a:p>
            <a:pPr indent="-85089" lvl="0" marL="1041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Post order</a:t>
            </a:r>
            <a:r>
              <a:rPr lang="en-US" sz="1100"/>
              <a:t>, you traverse from the left subtree to the right subtree then to the root.</a:t>
            </a:r>
            <a:br>
              <a:rPr lang="en-US" sz="1100"/>
            </a:br>
            <a:endParaRPr sz="1100"/>
          </a:p>
          <a:p>
            <a:pPr indent="0" lvl="0" marL="15240" marR="3190240" rtl="0" algn="l">
              <a:lnSpc>
                <a:spcPct val="97000"/>
              </a:lnSpc>
              <a:spcBef>
                <a:spcPts val="405"/>
              </a:spcBef>
              <a:spcAft>
                <a:spcPts val="0"/>
              </a:spcAft>
              <a:buSzPts val="1400"/>
              <a:buNone/>
            </a:pPr>
            <a:r>
              <a:rPr b="1" lang="en-US" sz="1000"/>
              <a:t>Inorder </a:t>
            </a:r>
            <a:r>
              <a:rPr lang="en-US" sz="1000"/>
              <a:t>=&gt; Left, </a:t>
            </a:r>
            <a:r>
              <a:rPr b="1" lang="en-US" sz="1000"/>
              <a:t>Root,</a:t>
            </a:r>
            <a:r>
              <a:rPr lang="en-US" sz="1000"/>
              <a:t> Right. </a:t>
            </a:r>
            <a:br>
              <a:rPr lang="en-US" sz="1000"/>
            </a:br>
            <a:r>
              <a:rPr b="1" lang="en-US" sz="1000"/>
              <a:t>Preorder </a:t>
            </a:r>
            <a:r>
              <a:rPr lang="en-US" sz="1000"/>
              <a:t>=&gt;</a:t>
            </a:r>
            <a:r>
              <a:rPr b="1" lang="en-US" sz="1000"/>
              <a:t> Root, </a:t>
            </a:r>
            <a:r>
              <a:rPr lang="en-US" sz="1000"/>
              <a:t>Left,Right.</a:t>
            </a:r>
            <a:br>
              <a:rPr lang="en-US" sz="1000"/>
            </a:br>
            <a:r>
              <a:rPr b="1" lang="en-US" sz="1000"/>
              <a:t>Post order </a:t>
            </a:r>
            <a:r>
              <a:rPr lang="en-US" sz="1000"/>
              <a:t>=&gt; Left, Right, </a:t>
            </a:r>
            <a:r>
              <a:rPr b="1" lang="en-US" sz="1000"/>
              <a:t>Root.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Inorder answer: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6" name="Google Shape;946;g31f334dfcb5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6364" y="1321662"/>
            <a:ext cx="2819400" cy="1783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g31f334dfcb5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408" y="2505281"/>
            <a:ext cx="1466850" cy="199808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g31f334dfcb5_0_11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9" name="Google Shape;949;g31f334dfcb5_0_11"/>
          <p:cNvSpPr txBox="1"/>
          <p:nvPr>
            <p:ph type="title"/>
          </p:nvPr>
        </p:nvSpPr>
        <p:spPr>
          <a:xfrm>
            <a:off x="1331123" y="94225"/>
            <a:ext cx="2726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900">
            <a:spAutoFit/>
          </a:bodyPr>
          <a:lstStyle/>
          <a:p>
            <a:pPr indent="0" lvl="0" marL="5346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394663"/>
                </a:solidFill>
                <a:latin typeface="Trebuchet MS"/>
                <a:ea typeface="Trebuchet MS"/>
                <a:cs typeface="Trebuchet MS"/>
                <a:sym typeface="Trebuchet MS"/>
              </a:rPr>
              <a:t>Tree Traversal (In order)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1f31d0a28d_0_189"/>
          <p:cNvSpPr txBox="1"/>
          <p:nvPr>
            <p:ph type="title"/>
          </p:nvPr>
        </p:nvSpPr>
        <p:spPr>
          <a:xfrm>
            <a:off x="1325323" y="94225"/>
            <a:ext cx="27321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900">
            <a:spAutoFit/>
          </a:bodyPr>
          <a:lstStyle/>
          <a:p>
            <a:pPr indent="0" lvl="0" marL="5346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394663"/>
                </a:solidFill>
                <a:latin typeface="Trebuchet MS"/>
                <a:ea typeface="Trebuchet MS"/>
                <a:cs typeface="Trebuchet MS"/>
                <a:sym typeface="Trebuchet MS"/>
              </a:rPr>
              <a:t>Tree Traversal (</a:t>
            </a:r>
            <a:r>
              <a:rPr b="1" lang="en-US" sz="1400">
                <a:solidFill>
                  <a:srgbClr val="394663"/>
                </a:solidFill>
              </a:rPr>
              <a:t>Pre-order</a:t>
            </a:r>
            <a:r>
              <a:rPr b="1" lang="en-US" sz="1400">
                <a:solidFill>
                  <a:srgbClr val="394663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55" name="Google Shape;955;g31f31d0a28d_0_189"/>
          <p:cNvSpPr txBox="1"/>
          <p:nvPr>
            <p:ph idx="1" type="body"/>
          </p:nvPr>
        </p:nvSpPr>
        <p:spPr>
          <a:xfrm>
            <a:off x="85600" y="442838"/>
            <a:ext cx="5680200" cy="19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85090" lvl="0" marL="1041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Inorder</a:t>
            </a:r>
            <a:r>
              <a:rPr lang="en-US" sz="1100"/>
              <a:t>, you traverse from the left subtree to the root then to the right subtree.</a:t>
            </a:r>
            <a:endParaRPr sz="1100"/>
          </a:p>
          <a:p>
            <a:pPr indent="-85090" lvl="0" marL="1041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Preorder</a:t>
            </a:r>
            <a:r>
              <a:rPr lang="en-US" sz="1100"/>
              <a:t>, you traverse from the root to the left subtree then to the right subtree.</a:t>
            </a:r>
            <a:endParaRPr sz="1100"/>
          </a:p>
          <a:p>
            <a:pPr indent="-85090" lvl="0" marL="1041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Post order</a:t>
            </a:r>
            <a:r>
              <a:rPr lang="en-US" sz="1100"/>
              <a:t>, you traverse from the left subtree to the right subtree then to the root.</a:t>
            </a:r>
            <a:br>
              <a:rPr lang="en-US" sz="1100"/>
            </a:br>
            <a:endParaRPr sz="1100"/>
          </a:p>
          <a:p>
            <a:pPr indent="0" lvl="0" marL="15240" marR="3190240" rtl="0" algn="l">
              <a:lnSpc>
                <a:spcPct val="97000"/>
              </a:lnSpc>
              <a:spcBef>
                <a:spcPts val="405"/>
              </a:spcBef>
              <a:spcAft>
                <a:spcPts val="0"/>
              </a:spcAft>
              <a:buSzPts val="1400"/>
              <a:buNone/>
            </a:pPr>
            <a:r>
              <a:rPr b="1" lang="en-US" sz="1000"/>
              <a:t>Inorder </a:t>
            </a:r>
            <a:r>
              <a:rPr lang="en-US" sz="1000"/>
              <a:t>=&gt; Left, </a:t>
            </a:r>
            <a:r>
              <a:rPr b="1" lang="en-US" sz="1000"/>
              <a:t>Root,</a:t>
            </a:r>
            <a:r>
              <a:rPr lang="en-US" sz="1000"/>
              <a:t> Right. </a:t>
            </a:r>
            <a:br>
              <a:rPr lang="en-US" sz="1000"/>
            </a:br>
            <a:r>
              <a:rPr b="1" lang="en-US" sz="1000"/>
              <a:t>Preorder </a:t>
            </a:r>
            <a:r>
              <a:rPr lang="en-US" sz="1000"/>
              <a:t>=&gt;</a:t>
            </a:r>
            <a:r>
              <a:rPr b="1" lang="en-US" sz="1000"/>
              <a:t> Root, </a:t>
            </a:r>
            <a:r>
              <a:rPr lang="en-US" sz="1000"/>
              <a:t>Left,Right.</a:t>
            </a:r>
            <a:br>
              <a:rPr lang="en-US" sz="1000"/>
            </a:br>
            <a:r>
              <a:rPr b="1" lang="en-US" sz="1000"/>
              <a:t>Post order </a:t>
            </a:r>
            <a:r>
              <a:rPr lang="en-US" sz="1000"/>
              <a:t>=&gt; Left, Right, </a:t>
            </a:r>
            <a:r>
              <a:rPr b="1" lang="en-US" sz="1000"/>
              <a:t>Root.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g31f31d0a28d_0_189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57" name="Google Shape;957;g31f31d0a28d_0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350" y="1070075"/>
            <a:ext cx="2094125" cy="21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1f334dfcb5_0_21"/>
          <p:cNvSpPr txBox="1"/>
          <p:nvPr>
            <p:ph idx="1" type="body"/>
          </p:nvPr>
        </p:nvSpPr>
        <p:spPr>
          <a:xfrm>
            <a:off x="85600" y="442838"/>
            <a:ext cx="5680200" cy="21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85089" lvl="0" marL="1041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Inorder</a:t>
            </a:r>
            <a:r>
              <a:rPr lang="en-US" sz="1100"/>
              <a:t>, you traverse from the left subtree to the root then to the right subtree.</a:t>
            </a:r>
            <a:endParaRPr sz="1100"/>
          </a:p>
          <a:p>
            <a:pPr indent="-85089" lvl="0" marL="1041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Preorder</a:t>
            </a:r>
            <a:r>
              <a:rPr lang="en-US" sz="1100"/>
              <a:t>, you traverse from the root to the left subtree then to the right subtree.</a:t>
            </a:r>
            <a:endParaRPr sz="1100"/>
          </a:p>
          <a:p>
            <a:pPr indent="-85089" lvl="0" marL="1041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Post order</a:t>
            </a:r>
            <a:r>
              <a:rPr lang="en-US" sz="1100"/>
              <a:t>, you traverse from the left subtree to the right subtree then to the root.</a:t>
            </a:r>
            <a:br>
              <a:rPr lang="en-US" sz="1100"/>
            </a:br>
            <a:endParaRPr sz="1100"/>
          </a:p>
          <a:p>
            <a:pPr indent="0" lvl="0" marL="15240" marR="3190240" rtl="0" algn="l">
              <a:lnSpc>
                <a:spcPct val="97000"/>
              </a:lnSpc>
              <a:spcBef>
                <a:spcPts val="405"/>
              </a:spcBef>
              <a:spcAft>
                <a:spcPts val="0"/>
              </a:spcAft>
              <a:buSzPts val="1400"/>
              <a:buNone/>
            </a:pPr>
            <a:r>
              <a:rPr b="1" lang="en-US" sz="1000"/>
              <a:t>Inorder </a:t>
            </a:r>
            <a:r>
              <a:rPr lang="en-US" sz="1000"/>
              <a:t>=&gt; Left, </a:t>
            </a:r>
            <a:r>
              <a:rPr b="1" lang="en-US" sz="1000"/>
              <a:t>Root,</a:t>
            </a:r>
            <a:r>
              <a:rPr lang="en-US" sz="1000"/>
              <a:t> Right. </a:t>
            </a:r>
            <a:br>
              <a:rPr lang="en-US" sz="1000"/>
            </a:br>
            <a:r>
              <a:rPr b="1" lang="en-US" sz="1000"/>
              <a:t>Preorder </a:t>
            </a:r>
            <a:r>
              <a:rPr lang="en-US" sz="1000"/>
              <a:t>=&gt;</a:t>
            </a:r>
            <a:r>
              <a:rPr b="1" lang="en-US" sz="1000"/>
              <a:t> Root, </a:t>
            </a:r>
            <a:r>
              <a:rPr lang="en-US" sz="1000"/>
              <a:t>Left,Right.</a:t>
            </a:r>
            <a:br>
              <a:rPr lang="en-US" sz="1000"/>
            </a:br>
            <a:r>
              <a:rPr b="1" lang="en-US" sz="1000"/>
              <a:t>Post order </a:t>
            </a:r>
            <a:r>
              <a:rPr lang="en-US" sz="1000"/>
              <a:t>=&gt; Left, Right, </a:t>
            </a:r>
            <a:r>
              <a:rPr b="1" lang="en-US" sz="1000"/>
              <a:t>Root.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Preorder answer:Homework</a:t>
            </a:r>
            <a:br>
              <a:rPr lang="en-US" sz="14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–solve it own your own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g31f334dfcb5_0_21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64" name="Google Shape;964;g31f334dfcb5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2137" y="1358996"/>
            <a:ext cx="2618853" cy="1633026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g31f334dfcb5_0_21"/>
          <p:cNvSpPr txBox="1"/>
          <p:nvPr>
            <p:ph type="title"/>
          </p:nvPr>
        </p:nvSpPr>
        <p:spPr>
          <a:xfrm>
            <a:off x="1325323" y="94225"/>
            <a:ext cx="27321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900">
            <a:spAutoFit/>
          </a:bodyPr>
          <a:lstStyle/>
          <a:p>
            <a:pPr indent="0" lvl="0" marL="5346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394663"/>
                </a:solidFill>
                <a:latin typeface="Trebuchet MS"/>
                <a:ea typeface="Trebuchet MS"/>
                <a:cs typeface="Trebuchet MS"/>
                <a:sym typeface="Trebuchet MS"/>
              </a:rPr>
              <a:t>Tree Traversal (</a:t>
            </a:r>
            <a:r>
              <a:rPr b="1" lang="en-US" sz="1400">
                <a:solidFill>
                  <a:srgbClr val="394663"/>
                </a:solidFill>
              </a:rPr>
              <a:t>Pre-order</a:t>
            </a:r>
            <a:r>
              <a:rPr b="1" lang="en-US" sz="1400">
                <a:solidFill>
                  <a:srgbClr val="394663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1f334dfcb5_0_31"/>
          <p:cNvSpPr txBox="1"/>
          <p:nvPr>
            <p:ph idx="1" type="body"/>
          </p:nvPr>
        </p:nvSpPr>
        <p:spPr>
          <a:xfrm>
            <a:off x="85600" y="442838"/>
            <a:ext cx="5680200" cy="19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85089" lvl="0" marL="1041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Inorder</a:t>
            </a:r>
            <a:r>
              <a:rPr lang="en-US" sz="1100"/>
              <a:t>, you traverse from the left subtree to the root then to the right subtree.</a:t>
            </a:r>
            <a:endParaRPr sz="1100"/>
          </a:p>
          <a:p>
            <a:pPr indent="-85089" lvl="0" marL="1041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Preorder</a:t>
            </a:r>
            <a:r>
              <a:rPr lang="en-US" sz="1100"/>
              <a:t>, you traverse from the root to the left subtree then to the right subtree.</a:t>
            </a:r>
            <a:endParaRPr sz="1100"/>
          </a:p>
          <a:p>
            <a:pPr indent="-85089" lvl="0" marL="1041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Post order</a:t>
            </a:r>
            <a:r>
              <a:rPr lang="en-US" sz="1100"/>
              <a:t>, you traverse from the left subtree to the right subtree then to the root.</a:t>
            </a:r>
            <a:br>
              <a:rPr lang="en-US" sz="1100"/>
            </a:br>
            <a:endParaRPr sz="1100"/>
          </a:p>
          <a:p>
            <a:pPr indent="0" lvl="0" marL="15240" marR="3190240" rtl="0" algn="l">
              <a:lnSpc>
                <a:spcPct val="97000"/>
              </a:lnSpc>
              <a:spcBef>
                <a:spcPts val="405"/>
              </a:spcBef>
              <a:spcAft>
                <a:spcPts val="0"/>
              </a:spcAft>
              <a:buSzPts val="1400"/>
              <a:buNone/>
            </a:pPr>
            <a:r>
              <a:rPr b="1" lang="en-US" sz="1000"/>
              <a:t>Inorder </a:t>
            </a:r>
            <a:r>
              <a:rPr lang="en-US" sz="1000"/>
              <a:t>=&gt; Left, </a:t>
            </a:r>
            <a:r>
              <a:rPr b="1" lang="en-US" sz="1000"/>
              <a:t>Root,</a:t>
            </a:r>
            <a:r>
              <a:rPr lang="en-US" sz="1000"/>
              <a:t> Right. </a:t>
            </a:r>
            <a:br>
              <a:rPr lang="en-US" sz="1000"/>
            </a:br>
            <a:r>
              <a:rPr b="1" lang="en-US" sz="1000"/>
              <a:t>Preorder </a:t>
            </a:r>
            <a:r>
              <a:rPr lang="en-US" sz="1000"/>
              <a:t>=&gt;</a:t>
            </a:r>
            <a:r>
              <a:rPr b="1" lang="en-US" sz="1000"/>
              <a:t> Root, </a:t>
            </a:r>
            <a:r>
              <a:rPr lang="en-US" sz="1000"/>
              <a:t>Left,Right.</a:t>
            </a:r>
            <a:br>
              <a:rPr lang="en-US" sz="1000"/>
            </a:br>
            <a:r>
              <a:rPr b="1" lang="en-US" sz="1000"/>
              <a:t>Post order </a:t>
            </a:r>
            <a:r>
              <a:rPr lang="en-US" sz="1000"/>
              <a:t>=&gt; Left, Right, </a:t>
            </a:r>
            <a:r>
              <a:rPr b="1" lang="en-US" sz="1000"/>
              <a:t>Root.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Preorder answer: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g31f334dfcb5_0_31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72" name="Google Shape;972;g31f334dfcb5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783" y="2388216"/>
            <a:ext cx="1475645" cy="199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g31f334dfcb5_0_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2137" y="1301171"/>
            <a:ext cx="2618853" cy="1633026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g31f334dfcb5_0_31"/>
          <p:cNvSpPr txBox="1"/>
          <p:nvPr>
            <p:ph type="title"/>
          </p:nvPr>
        </p:nvSpPr>
        <p:spPr>
          <a:xfrm>
            <a:off x="1325323" y="94225"/>
            <a:ext cx="27321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900">
            <a:spAutoFit/>
          </a:bodyPr>
          <a:lstStyle/>
          <a:p>
            <a:pPr indent="0" lvl="0" marL="5346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394663"/>
                </a:solidFill>
                <a:latin typeface="Trebuchet MS"/>
                <a:ea typeface="Trebuchet MS"/>
                <a:cs typeface="Trebuchet MS"/>
                <a:sym typeface="Trebuchet MS"/>
              </a:rPr>
              <a:t>Tree Traversal (</a:t>
            </a:r>
            <a:r>
              <a:rPr b="1" lang="en-US" sz="1400">
                <a:solidFill>
                  <a:srgbClr val="394663"/>
                </a:solidFill>
              </a:rPr>
              <a:t>Pre-order</a:t>
            </a:r>
            <a:r>
              <a:rPr b="1" lang="en-US" sz="1400">
                <a:solidFill>
                  <a:srgbClr val="394663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1f31d0a28d_0_199"/>
          <p:cNvSpPr txBox="1"/>
          <p:nvPr>
            <p:ph type="title"/>
          </p:nvPr>
        </p:nvSpPr>
        <p:spPr>
          <a:xfrm>
            <a:off x="1279048" y="94225"/>
            <a:ext cx="27783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900">
            <a:spAutoFit/>
          </a:bodyPr>
          <a:lstStyle/>
          <a:p>
            <a:pPr indent="0" lvl="0" marL="5346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394663"/>
                </a:solidFill>
                <a:latin typeface="Trebuchet MS"/>
                <a:ea typeface="Trebuchet MS"/>
                <a:cs typeface="Trebuchet MS"/>
                <a:sym typeface="Trebuchet MS"/>
              </a:rPr>
              <a:t>Tree Traversal (post order)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0" name="Google Shape;980;g31f31d0a28d_0_199"/>
          <p:cNvSpPr txBox="1"/>
          <p:nvPr>
            <p:ph idx="1" type="body"/>
          </p:nvPr>
        </p:nvSpPr>
        <p:spPr>
          <a:xfrm>
            <a:off x="85600" y="442838"/>
            <a:ext cx="5680200" cy="17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85090" lvl="0" marL="1041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Inorder</a:t>
            </a:r>
            <a:r>
              <a:rPr lang="en-US" sz="1100"/>
              <a:t>, you traverse from the left subtree to the root then to the right subtree.</a:t>
            </a:r>
            <a:endParaRPr sz="1100"/>
          </a:p>
          <a:p>
            <a:pPr indent="-85090" lvl="0" marL="1041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Preorder</a:t>
            </a:r>
            <a:r>
              <a:rPr lang="en-US" sz="1100"/>
              <a:t>, you traverse from the root to the left subtree then to the right subtree.</a:t>
            </a:r>
            <a:endParaRPr sz="1100"/>
          </a:p>
          <a:p>
            <a:pPr indent="-85090" lvl="0" marL="1041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Post order</a:t>
            </a:r>
            <a:r>
              <a:rPr lang="en-US" sz="1100"/>
              <a:t>, you traverse from the left subtree to the right subtree then to the root.</a:t>
            </a:r>
            <a:br>
              <a:rPr lang="en-US" sz="1100"/>
            </a:br>
            <a:endParaRPr sz="1100"/>
          </a:p>
          <a:p>
            <a:pPr indent="0" lvl="0" marL="15240" marR="3190240" rtl="0" algn="l">
              <a:lnSpc>
                <a:spcPct val="97000"/>
              </a:lnSpc>
              <a:spcBef>
                <a:spcPts val="405"/>
              </a:spcBef>
              <a:spcAft>
                <a:spcPts val="0"/>
              </a:spcAft>
              <a:buSzPts val="1400"/>
              <a:buNone/>
            </a:pPr>
            <a:r>
              <a:rPr b="1" lang="en-US" sz="1000"/>
              <a:t>Inorder </a:t>
            </a:r>
            <a:r>
              <a:rPr lang="en-US" sz="1000"/>
              <a:t>=&gt; Left, </a:t>
            </a:r>
            <a:r>
              <a:rPr b="1" lang="en-US" sz="1000"/>
              <a:t>Root,</a:t>
            </a:r>
            <a:r>
              <a:rPr lang="en-US" sz="1000"/>
              <a:t> Right. </a:t>
            </a:r>
            <a:br>
              <a:rPr lang="en-US" sz="1000"/>
            </a:br>
            <a:r>
              <a:rPr b="1" lang="en-US" sz="1000"/>
              <a:t>Preorder </a:t>
            </a:r>
            <a:r>
              <a:rPr lang="en-US" sz="1000"/>
              <a:t>=&gt;</a:t>
            </a:r>
            <a:r>
              <a:rPr b="1" lang="en-US" sz="1000"/>
              <a:t> Root, </a:t>
            </a:r>
            <a:r>
              <a:rPr lang="en-US" sz="1000"/>
              <a:t>Left,Right.</a:t>
            </a:r>
            <a:br>
              <a:rPr lang="en-US" sz="1000"/>
            </a:br>
            <a:r>
              <a:rPr b="1" lang="en-US" sz="1000"/>
              <a:t>Post order </a:t>
            </a:r>
            <a:r>
              <a:rPr lang="en-US" sz="1000"/>
              <a:t>=&gt; Left, Right, </a:t>
            </a:r>
            <a:r>
              <a:rPr b="1" lang="en-US" sz="1000"/>
              <a:t>Root.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g31f31d0a28d_0_199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82" name="Google Shape;982;g31f31d0a28d_0_1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7500" y="1098950"/>
            <a:ext cx="1901875" cy="195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1f334dfcb5_0_41"/>
          <p:cNvSpPr txBox="1"/>
          <p:nvPr>
            <p:ph idx="1" type="body"/>
          </p:nvPr>
        </p:nvSpPr>
        <p:spPr>
          <a:xfrm>
            <a:off x="85600" y="442838"/>
            <a:ext cx="5680200" cy="21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85089" lvl="0" marL="1041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Inorder</a:t>
            </a:r>
            <a:r>
              <a:rPr lang="en-US" sz="1100"/>
              <a:t>, you traverse from the left subtree to the root then to the right subtree.</a:t>
            </a:r>
            <a:endParaRPr sz="1100"/>
          </a:p>
          <a:p>
            <a:pPr indent="-85089" lvl="0" marL="1041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Preorder</a:t>
            </a:r>
            <a:r>
              <a:rPr lang="en-US" sz="1100"/>
              <a:t>, you traverse from the root to the left subtree then to the right subtree.</a:t>
            </a:r>
            <a:endParaRPr sz="1100"/>
          </a:p>
          <a:p>
            <a:pPr indent="-85089" lvl="0" marL="1041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Post order</a:t>
            </a:r>
            <a:r>
              <a:rPr lang="en-US" sz="1100"/>
              <a:t>, you traverse from the left subtree to the right subtree then to the root.</a:t>
            </a:r>
            <a:br>
              <a:rPr lang="en-US" sz="1100"/>
            </a:br>
            <a:endParaRPr sz="1100"/>
          </a:p>
          <a:p>
            <a:pPr indent="0" lvl="0" marL="15240" marR="3190240" rtl="0" algn="l">
              <a:lnSpc>
                <a:spcPct val="97000"/>
              </a:lnSpc>
              <a:spcBef>
                <a:spcPts val="405"/>
              </a:spcBef>
              <a:spcAft>
                <a:spcPts val="0"/>
              </a:spcAft>
              <a:buSzPts val="1400"/>
              <a:buNone/>
            </a:pPr>
            <a:r>
              <a:rPr b="1" lang="en-US" sz="1000"/>
              <a:t>Inorder </a:t>
            </a:r>
            <a:r>
              <a:rPr lang="en-US" sz="1000"/>
              <a:t>=&gt; Left, </a:t>
            </a:r>
            <a:r>
              <a:rPr b="1" lang="en-US" sz="1000"/>
              <a:t>Root,</a:t>
            </a:r>
            <a:r>
              <a:rPr lang="en-US" sz="1000"/>
              <a:t> Right. </a:t>
            </a:r>
            <a:br>
              <a:rPr lang="en-US" sz="1000"/>
            </a:br>
            <a:r>
              <a:rPr b="1" lang="en-US" sz="1000"/>
              <a:t>Preorder </a:t>
            </a:r>
            <a:r>
              <a:rPr lang="en-US" sz="1000"/>
              <a:t>=&gt;</a:t>
            </a:r>
            <a:r>
              <a:rPr b="1" lang="en-US" sz="1000"/>
              <a:t> Root, </a:t>
            </a:r>
            <a:r>
              <a:rPr lang="en-US" sz="1000"/>
              <a:t>Left,Right.</a:t>
            </a:r>
            <a:br>
              <a:rPr lang="en-US" sz="1000"/>
            </a:br>
            <a:r>
              <a:rPr b="1" lang="en-US" sz="1000"/>
              <a:t>Post order </a:t>
            </a:r>
            <a:r>
              <a:rPr lang="en-US" sz="1000"/>
              <a:t>=&gt; Left, Right, </a:t>
            </a:r>
            <a:r>
              <a:rPr b="1" lang="en-US" sz="1000"/>
              <a:t>Root.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Post order answer:Homework</a:t>
            </a:r>
            <a:br>
              <a:rPr lang="en-US" sz="14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–solve it own your own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g31f334dfcb5_0_41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89" name="Google Shape;989;g31f334dfcb5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4700" y="1220326"/>
            <a:ext cx="2766700" cy="1740400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g31f334dfcb5_0_41"/>
          <p:cNvSpPr txBox="1"/>
          <p:nvPr>
            <p:ph type="title"/>
          </p:nvPr>
        </p:nvSpPr>
        <p:spPr>
          <a:xfrm>
            <a:off x="1279048" y="94225"/>
            <a:ext cx="27783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900">
            <a:spAutoFit/>
          </a:bodyPr>
          <a:lstStyle/>
          <a:p>
            <a:pPr indent="0" lvl="0" marL="5346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394663"/>
                </a:solidFill>
                <a:latin typeface="Trebuchet MS"/>
                <a:ea typeface="Trebuchet MS"/>
                <a:cs typeface="Trebuchet MS"/>
                <a:sym typeface="Trebuchet MS"/>
              </a:rPr>
              <a:t>Tree Traversal (post order)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1f334dfcb5_0_51"/>
          <p:cNvSpPr txBox="1"/>
          <p:nvPr>
            <p:ph idx="1" type="body"/>
          </p:nvPr>
        </p:nvSpPr>
        <p:spPr>
          <a:xfrm>
            <a:off x="85600" y="442838"/>
            <a:ext cx="5680200" cy="19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85089" lvl="0" marL="1041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Inorder</a:t>
            </a:r>
            <a:r>
              <a:rPr lang="en-US" sz="1100"/>
              <a:t>, you traverse from the left subtree to the root then to the right subtree.</a:t>
            </a:r>
            <a:endParaRPr sz="1100"/>
          </a:p>
          <a:p>
            <a:pPr indent="-85089" lvl="0" marL="1041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Preorder</a:t>
            </a:r>
            <a:r>
              <a:rPr lang="en-US" sz="1100"/>
              <a:t>, you traverse from the root to the left subtree then to the right subtree.</a:t>
            </a:r>
            <a:endParaRPr sz="1100"/>
          </a:p>
          <a:p>
            <a:pPr indent="-85089" lvl="0" marL="10413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For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Post order</a:t>
            </a:r>
            <a:r>
              <a:rPr lang="en-US" sz="1100"/>
              <a:t>, you traverse from the left subtree to the right subtree then to the root.</a:t>
            </a:r>
            <a:br>
              <a:rPr lang="en-US" sz="1100"/>
            </a:br>
            <a:endParaRPr sz="1100"/>
          </a:p>
          <a:p>
            <a:pPr indent="0" lvl="0" marL="15240" marR="3190240" rtl="0" algn="l">
              <a:lnSpc>
                <a:spcPct val="97000"/>
              </a:lnSpc>
              <a:spcBef>
                <a:spcPts val="405"/>
              </a:spcBef>
              <a:spcAft>
                <a:spcPts val="0"/>
              </a:spcAft>
              <a:buSzPts val="1400"/>
              <a:buNone/>
            </a:pPr>
            <a:r>
              <a:rPr b="1" lang="en-US" sz="1000"/>
              <a:t>Inorder </a:t>
            </a:r>
            <a:r>
              <a:rPr lang="en-US" sz="1000"/>
              <a:t>=&gt; Left, </a:t>
            </a:r>
            <a:r>
              <a:rPr b="1" lang="en-US" sz="1000"/>
              <a:t>Root,</a:t>
            </a:r>
            <a:r>
              <a:rPr lang="en-US" sz="1000"/>
              <a:t> Right. </a:t>
            </a:r>
            <a:br>
              <a:rPr lang="en-US" sz="1000"/>
            </a:br>
            <a:r>
              <a:rPr b="1" lang="en-US" sz="1000"/>
              <a:t>Preorder </a:t>
            </a:r>
            <a:r>
              <a:rPr lang="en-US" sz="1000"/>
              <a:t>=&gt;</a:t>
            </a:r>
            <a:r>
              <a:rPr b="1" lang="en-US" sz="1000"/>
              <a:t> Root, </a:t>
            </a:r>
            <a:r>
              <a:rPr lang="en-US" sz="1000"/>
              <a:t>Left,Right.</a:t>
            </a:r>
            <a:br>
              <a:rPr lang="en-US" sz="1000"/>
            </a:br>
            <a:r>
              <a:rPr b="1" lang="en-US" sz="1000"/>
              <a:t>Post order </a:t>
            </a:r>
            <a:r>
              <a:rPr lang="en-US" sz="1000"/>
              <a:t>=&gt; Left, Right, </a:t>
            </a:r>
            <a:r>
              <a:rPr b="1" lang="en-US" sz="1000"/>
              <a:t>Root.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Post order answer: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g31f334dfcb5_0_51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97" name="Google Shape;997;g31f334dfcb5_0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226" y="2417917"/>
            <a:ext cx="1476017" cy="200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g31f334dfcb5_0_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7850" y="1272376"/>
            <a:ext cx="2785625" cy="1752325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g31f334dfcb5_0_51"/>
          <p:cNvSpPr txBox="1"/>
          <p:nvPr>
            <p:ph type="title"/>
          </p:nvPr>
        </p:nvSpPr>
        <p:spPr>
          <a:xfrm>
            <a:off x="1279048" y="94225"/>
            <a:ext cx="27783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900">
            <a:spAutoFit/>
          </a:bodyPr>
          <a:lstStyle/>
          <a:p>
            <a:pPr indent="0" lvl="0" marL="5346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394663"/>
                </a:solidFill>
                <a:latin typeface="Trebuchet MS"/>
                <a:ea typeface="Trebuchet MS"/>
                <a:cs typeface="Trebuchet MS"/>
                <a:sym typeface="Trebuchet MS"/>
              </a:rPr>
              <a:t>Tree Traversal (post order)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3739bfcf57b_16_13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5" name="Google Shape;1005;g3739bfcf57b_16_13"/>
          <p:cNvSpPr txBox="1"/>
          <p:nvPr>
            <p:ph type="title"/>
          </p:nvPr>
        </p:nvSpPr>
        <p:spPr>
          <a:xfrm>
            <a:off x="1390050" y="113650"/>
            <a:ext cx="36672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900">
            <a:spAutoFit/>
          </a:bodyPr>
          <a:lstStyle/>
          <a:p>
            <a:pPr indent="0" lvl="0" marL="5346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394663"/>
                </a:solidFill>
                <a:latin typeface="Trebuchet MS"/>
                <a:ea typeface="Trebuchet MS"/>
                <a:cs typeface="Trebuchet MS"/>
                <a:sym typeface="Trebuchet MS"/>
              </a:rPr>
              <a:t>Tree Traversal (</a:t>
            </a:r>
            <a:r>
              <a:rPr lang="en-US"/>
              <a:t>Home work</a:t>
            </a:r>
            <a:r>
              <a:rPr b="1" lang="en-US" sz="1400">
                <a:solidFill>
                  <a:srgbClr val="394663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06" name="Google Shape;1006;g3739bfcf57b_16_13" title="Traversal.png"/>
          <p:cNvPicPr preferRelativeResize="0"/>
          <p:nvPr/>
        </p:nvPicPr>
        <p:blipFill rotWithShape="1">
          <a:blip r:embed="rId3">
            <a:alphaModFix/>
          </a:blip>
          <a:srcRect b="30166" l="0" r="0" t="0"/>
          <a:stretch/>
        </p:blipFill>
        <p:spPr>
          <a:xfrm>
            <a:off x="20963" y="1137575"/>
            <a:ext cx="5723873" cy="138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g3739bfcf57b_16_13"/>
          <p:cNvSpPr txBox="1"/>
          <p:nvPr/>
        </p:nvSpPr>
        <p:spPr>
          <a:xfrm>
            <a:off x="1217150" y="2705575"/>
            <a:ext cx="3948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" marR="1015916" rtl="0" algn="l">
              <a:lnSpc>
                <a:spcPct val="97000"/>
              </a:lnSpc>
              <a:spcBef>
                <a:spcPts val="40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–solve it own your own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375ac673496_1_37"/>
          <p:cNvSpPr txBox="1"/>
          <p:nvPr/>
        </p:nvSpPr>
        <p:spPr>
          <a:xfrm>
            <a:off x="130860" y="3109223"/>
            <a:ext cx="788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 Ch 12.2–3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3" name="Google Shape;1013;g375ac673496_1_37"/>
          <p:cNvSpPr txBox="1"/>
          <p:nvPr>
            <p:ph type="title"/>
          </p:nvPr>
        </p:nvSpPr>
        <p:spPr>
          <a:xfrm>
            <a:off x="1279050" y="94225"/>
            <a:ext cx="3603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900">
            <a:spAutoFit/>
          </a:bodyPr>
          <a:lstStyle/>
          <a:p>
            <a:pPr indent="0" lvl="0" marL="5346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394663"/>
                </a:solidFill>
                <a:latin typeface="Trebuchet MS"/>
                <a:ea typeface="Trebuchet MS"/>
                <a:cs typeface="Trebuchet MS"/>
                <a:sym typeface="Trebuchet MS"/>
              </a:rPr>
              <a:t>Tree Traversal (</a:t>
            </a:r>
            <a:r>
              <a:rPr lang="en-US"/>
              <a:t>Home work</a:t>
            </a:r>
            <a:r>
              <a:rPr b="1" lang="en-US" sz="1400">
                <a:solidFill>
                  <a:srgbClr val="394663"/>
                </a:solidFill>
                <a:latin typeface="Trebuchet MS"/>
                <a:ea typeface="Trebuchet MS"/>
                <a:cs typeface="Trebuchet MS"/>
                <a:sym typeface="Trebuchet MS"/>
              </a:rPr>
              <a:t>) 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14" name="Google Shape;1014;g375ac673496_1_37" title="Travers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50" y="688900"/>
            <a:ext cx="5600200" cy="1853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26"/>
          <p:cNvSpPr txBox="1"/>
          <p:nvPr>
            <p:ph type="title"/>
          </p:nvPr>
        </p:nvSpPr>
        <p:spPr>
          <a:xfrm>
            <a:off x="1707260" y="94233"/>
            <a:ext cx="2350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108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Home work</a:t>
            </a:r>
            <a:endParaRPr/>
          </a:p>
        </p:txBody>
      </p:sp>
      <p:sp>
        <p:nvSpPr>
          <p:cNvPr id="1020" name="Google Shape;1020;p26"/>
          <p:cNvSpPr txBox="1"/>
          <p:nvPr/>
        </p:nvSpPr>
        <p:spPr>
          <a:xfrm>
            <a:off x="257347" y="896200"/>
            <a:ext cx="19662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021" name="Google Shape;102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4025" y="1614319"/>
            <a:ext cx="3377185" cy="11506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26"/>
          <p:cNvSpPr/>
          <p:nvPr/>
        </p:nvSpPr>
        <p:spPr>
          <a:xfrm>
            <a:off x="61722" y="2919222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26"/>
          <p:cNvSpPr txBox="1"/>
          <p:nvPr/>
        </p:nvSpPr>
        <p:spPr>
          <a:xfrm>
            <a:off x="5373370" y="3103270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28/24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4" name="Google Shape;1024;p26"/>
          <p:cNvSpPr txBox="1"/>
          <p:nvPr/>
        </p:nvSpPr>
        <p:spPr>
          <a:xfrm>
            <a:off x="99974" y="2764942"/>
            <a:ext cx="551180" cy="208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Image: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b="0" baseline="3000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5" name="Google Shape;1025;p26"/>
          <p:cNvSpPr txBox="1"/>
          <p:nvPr/>
        </p:nvSpPr>
        <p:spPr>
          <a:xfrm>
            <a:off x="264566" y="2980435"/>
            <a:ext cx="949325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baseline="30000" i="0" lang="en-US" sz="45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5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https://www.geeksfo</a:t>
            </a:r>
            <a:r>
              <a:rPr b="0" i="0" lang="en-US" sz="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rgeeks.org</a:t>
            </a:r>
            <a:endParaRPr b="0" i="0" sz="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6" name="Google Shape;1026;p26"/>
          <p:cNvSpPr txBox="1"/>
          <p:nvPr/>
        </p:nvSpPr>
        <p:spPr>
          <a:xfrm>
            <a:off x="99975" y="392350"/>
            <a:ext cx="33771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Inorder =&gt; Left, Root, Right.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Preorder =&gt; Root, Left, Right.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Post order =&gt; Left, Right, Root.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1f31d0a28d_0_169"/>
          <p:cNvSpPr txBox="1"/>
          <p:nvPr>
            <p:ph type="title"/>
          </p:nvPr>
        </p:nvSpPr>
        <p:spPr>
          <a:xfrm>
            <a:off x="1707260" y="94233"/>
            <a:ext cx="2350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108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Home work</a:t>
            </a:r>
            <a:endParaRPr/>
          </a:p>
        </p:txBody>
      </p:sp>
      <p:sp>
        <p:nvSpPr>
          <p:cNvPr id="1032" name="Google Shape;1032;g31f31d0a28d_0_169"/>
          <p:cNvSpPr txBox="1"/>
          <p:nvPr/>
        </p:nvSpPr>
        <p:spPr>
          <a:xfrm>
            <a:off x="257347" y="896200"/>
            <a:ext cx="19662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033" name="Google Shape;1033;g31f31d0a28d_0_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4025" y="1614319"/>
            <a:ext cx="3377185" cy="11506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g31f31d0a28d_0_169"/>
          <p:cNvSpPr/>
          <p:nvPr/>
        </p:nvSpPr>
        <p:spPr>
          <a:xfrm>
            <a:off x="61722" y="2919222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g31f31d0a28d_0_169"/>
          <p:cNvSpPr txBox="1"/>
          <p:nvPr/>
        </p:nvSpPr>
        <p:spPr>
          <a:xfrm>
            <a:off x="5373370" y="3103270"/>
            <a:ext cx="2235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28/24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6" name="Google Shape;1036;g31f31d0a28d_0_169"/>
          <p:cNvSpPr txBox="1"/>
          <p:nvPr/>
        </p:nvSpPr>
        <p:spPr>
          <a:xfrm>
            <a:off x="99976" y="2764950"/>
            <a:ext cx="1199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Image: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b="0" baseline="3000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7" name="Google Shape;1037;g31f31d0a28d_0_169"/>
          <p:cNvSpPr txBox="1"/>
          <p:nvPr/>
        </p:nvSpPr>
        <p:spPr>
          <a:xfrm>
            <a:off x="264566" y="2980435"/>
            <a:ext cx="949200" cy="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baseline="30000" i="0" lang="en-US" sz="45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5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https://www.geeksfo</a:t>
            </a:r>
            <a:r>
              <a:rPr b="0" i="0" lang="en-US" sz="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rgeeks.org</a:t>
            </a:r>
            <a:endParaRPr b="0" i="0" sz="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8" name="Google Shape;1038;g31f31d0a28d_0_169"/>
          <p:cNvSpPr txBox="1"/>
          <p:nvPr/>
        </p:nvSpPr>
        <p:spPr>
          <a:xfrm>
            <a:off x="128813" y="481525"/>
            <a:ext cx="56076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Inorder =&gt; Left, Root, Right. (4 10 12 | 15| 18 22 24| 25| 31 35 44| 50| 66 70 90)</a:t>
            </a:r>
            <a:endParaRPr b="1" i="0" sz="9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Preorder =&gt; Root, Left, Right. (25 15 10| 4 12 | 22 18 24 | 50| 35| 31 44| 70 66 90)</a:t>
            </a:r>
            <a:endParaRPr b="1" i="0" sz="9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Post order =&gt; Left, Right, Root. (4 12 10 | 18 24 22| 15 | 31 44| 35| 66 90 70| 50 25)</a:t>
            </a:r>
            <a:endParaRPr b="1" i="0" sz="9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4bf21037f4_0_0"/>
          <p:cNvSpPr txBox="1"/>
          <p:nvPr>
            <p:ph type="title"/>
          </p:nvPr>
        </p:nvSpPr>
        <p:spPr>
          <a:xfrm>
            <a:off x="1707260" y="94233"/>
            <a:ext cx="2350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108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Home work</a:t>
            </a:r>
            <a:endParaRPr/>
          </a:p>
        </p:txBody>
      </p:sp>
      <p:sp>
        <p:nvSpPr>
          <p:cNvPr id="1044" name="Google Shape;1044;g34bf21037f4_0_0"/>
          <p:cNvSpPr txBox="1"/>
          <p:nvPr/>
        </p:nvSpPr>
        <p:spPr>
          <a:xfrm>
            <a:off x="5373370" y="3103270"/>
            <a:ext cx="2235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28/24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45" name="Google Shape;1045;g34bf21037f4_0_0" title="traversal_p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9000" y="676238"/>
            <a:ext cx="3124722" cy="203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g34bf21037f4_0_0"/>
          <p:cNvSpPr txBox="1"/>
          <p:nvPr/>
        </p:nvSpPr>
        <p:spPr>
          <a:xfrm>
            <a:off x="147925" y="676250"/>
            <a:ext cx="27612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Inorder =&gt; Left, Root, Right.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Preorder =&gt; Root, Left, Right.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Post order =&gt; Left, Right, Root.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4bf21037f4_0_12"/>
          <p:cNvSpPr txBox="1"/>
          <p:nvPr>
            <p:ph type="title"/>
          </p:nvPr>
        </p:nvSpPr>
        <p:spPr>
          <a:xfrm>
            <a:off x="1707260" y="94233"/>
            <a:ext cx="2350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108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Home work</a:t>
            </a:r>
            <a:endParaRPr/>
          </a:p>
        </p:txBody>
      </p:sp>
      <p:sp>
        <p:nvSpPr>
          <p:cNvPr id="1052" name="Google Shape;1052;g34bf21037f4_0_12"/>
          <p:cNvSpPr txBox="1"/>
          <p:nvPr/>
        </p:nvSpPr>
        <p:spPr>
          <a:xfrm>
            <a:off x="257347" y="896200"/>
            <a:ext cx="19662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53" name="Google Shape;1053;g34bf21037f4_0_12"/>
          <p:cNvSpPr txBox="1"/>
          <p:nvPr/>
        </p:nvSpPr>
        <p:spPr>
          <a:xfrm>
            <a:off x="5373370" y="3103270"/>
            <a:ext cx="2235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28/24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54" name="Google Shape;1054;g34bf21037f4_0_12" title="travers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000" y="368725"/>
            <a:ext cx="3895425" cy="261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3f6b4d27415_4_5"/>
          <p:cNvSpPr txBox="1"/>
          <p:nvPr>
            <p:ph type="title"/>
          </p:nvPr>
        </p:nvSpPr>
        <p:spPr>
          <a:xfrm>
            <a:off x="945950" y="1104300"/>
            <a:ext cx="47133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Try out Interactive Simulation by Visualgo.net (https://visualgo.net/en/bst)</a:t>
            </a:r>
            <a:endParaRPr sz="2450"/>
          </a:p>
        </p:txBody>
      </p:sp>
      <p:sp>
        <p:nvSpPr>
          <p:cNvPr id="1060" name="Google Shape;1060;g3f6b4d27415_4_5"/>
          <p:cNvSpPr txBox="1"/>
          <p:nvPr/>
        </p:nvSpPr>
        <p:spPr>
          <a:xfrm>
            <a:off x="1688477" y="325125"/>
            <a:ext cx="24411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Interactive simulations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212967500f_1_16"/>
          <p:cNvSpPr txBox="1"/>
          <p:nvPr/>
        </p:nvSpPr>
        <p:spPr>
          <a:xfrm>
            <a:off x="313950" y="1130900"/>
            <a:ext cx="51630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lang="en-US" sz="1350">
                <a:latin typeface="Trebuchet MS"/>
                <a:ea typeface="Trebuchet MS"/>
                <a:cs typeface="Trebuchet MS"/>
                <a:sym typeface="Trebuchet MS"/>
              </a:rPr>
              <a:t>Recordings: </a:t>
            </a:r>
            <a:br>
              <a:rPr lang="en-US" sz="1350"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1350">
                <a:latin typeface="Trebuchet MS"/>
                <a:ea typeface="Trebuchet MS"/>
                <a:cs typeface="Trebuchet MS"/>
                <a:sym typeface="Trebuchet MS"/>
              </a:rPr>
              <a:t>https://www.youtube.com/playlist?list=PLVMWGcuvXYt0</a:t>
            </a:r>
            <a:endParaRPr sz="13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t/>
            </a:r>
            <a:endParaRPr sz="135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f70fde3bf3_1_0"/>
          <p:cNvSpPr txBox="1"/>
          <p:nvPr/>
        </p:nvSpPr>
        <p:spPr>
          <a:xfrm>
            <a:off x="2243704" y="1130900"/>
            <a:ext cx="14703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b="0" i="0" lang="en-US" sz="245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The End</a:t>
            </a:r>
            <a:endParaRPr b="0" i="0" sz="2450" u="none" cap="none" strike="noStrike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2024-12-06T08:18:48Z</dcterms:created>
  <dc:creator>Fadi Al Machot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2023-03-19T00:00:00Z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2024-12-06T00:00:00Z</vt:filetime>
  </property>
  <property fmtid="{D5CDD505-2E9C-101B-9397-08002B2CF9AE}" pid="5" name="Producer">
    <vt:lpwstr>Microsoft® PowerPoint® 2019</vt:lpwstr>
  </property>
</Properties>
</file>