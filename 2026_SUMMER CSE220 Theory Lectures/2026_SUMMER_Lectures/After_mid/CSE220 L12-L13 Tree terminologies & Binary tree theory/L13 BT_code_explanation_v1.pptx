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bMBnWDropBUmm40dNDWo3lPfU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99975a625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g3f99975a625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99abbcf5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f99abbcf5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f99abbcf5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99abbcf54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99abbcf54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f99abbcf54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bb91db0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6bb91db0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f6bb91db0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9975a625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99975a625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f99975a625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bb91db0b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6bb91db0b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f6bb91db0b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6bb91db0b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6bb91db0b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f6bb91db0b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c6a4004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6c6a4004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f6c6a4004e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c6a4004e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6c6a4004e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f6c6a4004e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9975a625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f99975a625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f99975a625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6c6a4004e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f6c6a4004e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f6c6a4004e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6bb91db0b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f6bb91db0b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f6bb91db0b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bb91db0b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6bb91db0b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f6bb91db0b_0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6bb91db0b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6bb91db0b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f6bb91db0b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6bb91db0b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f6bb91db0b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f6bb91db0b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6bb91db0b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6bb91db0b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f6bb91db0b_0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6bb91db0b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6bb91db0b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6bb91db0b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70f83a6af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70f83a6a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70f83a6a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502935" y="2509885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F2937"/>
                </a:solidFill>
              </a:rPr>
              <a:t>Lecture: </a:t>
            </a:r>
            <a:r>
              <a:rPr b="1" i="0" lang="en-US" sz="4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Binary Tree Implementation in Java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30367" y="3332845"/>
            <a:ext cx="10515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B6470"/>
                </a:solidFill>
                <a:latin typeface="Arial"/>
                <a:ea typeface="Arial"/>
                <a:cs typeface="Arial"/>
                <a:sym typeface="Arial"/>
              </a:rPr>
              <a:t>Array representation, array-to-tree conversion, traversal, level, height, and size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 Java Lecture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Binary Tree Representation Using Array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T_array1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12080"/>
          <a:stretch/>
        </p:blipFill>
        <p:spPr>
          <a:xfrm>
            <a:off x="456125" y="723163"/>
            <a:ext cx="5379551" cy="541167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5995600" y="749788"/>
            <a:ext cx="5623500" cy="12984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rules:</a:t>
            </a:r>
            <a:endParaRPr b="1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Root is stored at index 1.</a:t>
            </a:r>
            <a:r>
              <a:rPr b="0" i="0" lang="en-US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Index 0 is unused.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node at index i: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5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left child = 2i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5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right child = 2i + 1.</a:t>
            </a:r>
            <a:endParaRPr b="0" i="0" sz="165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For height h, maximum array length = 2^(h+1).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113300" y="2048200"/>
            <a:ext cx="6055200" cy="4698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 Tree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Object[] tree;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public Tree(Object root, int length)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// 1-based indexing: index 0 unused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 = new Object[length];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tree[1] = root;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public void setChild(int parentIndex,</a:t>
            </a:r>
            <a:r>
              <a:rPr b="0" i="0" lang="en-US" sz="15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side,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Object child)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int childIndex;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(side.equals("left"))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childIndex = parentIndex * 2;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childIndex = parentIndex * 2 + 1;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tree[childIndex] = child;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99975a625_0_4"/>
          <p:cNvSpPr txBox="1"/>
          <p:nvPr/>
        </p:nvSpPr>
        <p:spPr>
          <a:xfrm>
            <a:off x="320040" y="137160"/>
            <a:ext cx="116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Array Representation: Driver Code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f99975a625_0_4"/>
          <p:cNvSpPr txBox="1"/>
          <p:nvPr/>
        </p:nvSpPr>
        <p:spPr>
          <a:xfrm>
            <a:off x="5653200" y="777300"/>
            <a:ext cx="6603600" cy="5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D7B20"/>
                </a:solidFill>
                <a:latin typeface="Courier New"/>
                <a:ea typeface="Courier New"/>
                <a:cs typeface="Courier New"/>
                <a:sym typeface="Courier New"/>
              </a:rPr>
              <a:t># Driver Code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tree = Tree(root=11, length=8)  </a:t>
            </a:r>
            <a:b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# Length is 8 to accommodate up to 7 nodes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  11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  /    \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 22      33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  /  \    /  \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 44   55  66   77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9191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1" i="0" lang="en-US" sz="1600" u="none" cap="none" strike="noStrike">
                <a:solidFill>
                  <a:srgbClr val="3D7B2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i="0" lang="en-US" sz="1600" u="none" cap="none" strike="noStrike">
                <a:solidFill>
                  <a:srgbClr val="3D7B2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600" u="none" cap="none" strike="noStrike">
                <a:solidFill>
                  <a:srgbClr val="3D7B20"/>
                </a:solidFill>
                <a:latin typeface="Courier New"/>
                <a:ea typeface="Courier New"/>
                <a:cs typeface="Courier New"/>
                <a:sym typeface="Courier New"/>
              </a:rPr>
              <a:t># Set children for each node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tree.set_child(parent_index=1, side='left', child_val=22)</a:t>
            </a:r>
            <a:endParaRPr b="0" i="0" sz="19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tree.set_child(parent_index=1, side='right', child_val=33)</a:t>
            </a:r>
            <a:endParaRPr b="0" i="0" sz="19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91919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tree.set_child(parent_index=2, side='left', child_val=44)</a:t>
            </a:r>
            <a:endParaRPr b="0" i="0" sz="1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91919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tree.set_child(parent_index=2, side='right', child_val=55)</a:t>
            </a:r>
            <a:endParaRPr b="0" i="0" sz="1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tree.set_child(parent_index=3, side='left', child_val=66)</a:t>
            </a:r>
            <a:endParaRPr b="0" i="0" sz="19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tree.set_child(parent_index=3, side='right', child_val=77)</a:t>
            </a:r>
            <a:endParaRPr b="0" i="0" sz="19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9191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D7B20"/>
                </a:solidFill>
                <a:latin typeface="Trebuchet MS"/>
                <a:ea typeface="Trebuchet MS"/>
                <a:cs typeface="Trebuchet MS"/>
                <a:sym typeface="Trebuchet MS"/>
              </a:rPr>
              <a:t># Print the tree structure with indices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Trebuchet MS"/>
                <a:ea typeface="Trebuchet MS"/>
                <a:cs typeface="Trebuchet MS"/>
                <a:sym typeface="Trebuchet MS"/>
              </a:rPr>
              <a:t>tree.print_tree_array()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g3f99975a625_0_4"/>
          <p:cNvSpPr/>
          <p:nvPr/>
        </p:nvSpPr>
        <p:spPr>
          <a:xfrm>
            <a:off x="138300" y="915025"/>
            <a:ext cx="5294100" cy="4946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 Tree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Object[] tree;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public Tree(Object root, int length)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// 1-based indexing: index 0 unused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 = new Object[length];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tree[1] = root;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public void setChild(int parentIndex,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String side,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Object child)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int childIndex;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(side.equals("left"))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childIndex = parentIndex * 2;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childIndex = parentIndex * 2 + 1;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tree[childIndex] = child;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nsolas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T_array1.png" id="41" name="Google Shape;41;g3f99975a625_0_4"/>
          <p:cNvPicPr preferRelativeResize="0"/>
          <p:nvPr/>
        </p:nvPicPr>
        <p:blipFill rotWithShape="1">
          <a:blip r:embed="rId3">
            <a:alphaModFix/>
          </a:blip>
          <a:srcRect b="14764" l="0" r="0" t="24678"/>
          <a:stretch/>
        </p:blipFill>
        <p:spPr>
          <a:xfrm>
            <a:off x="5653200" y="807250"/>
            <a:ext cx="4274601" cy="29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Printing the Array Representation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T_array1.png"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11095"/>
          <a:stretch/>
        </p:blipFill>
        <p:spPr>
          <a:xfrm>
            <a:off x="948275" y="1689350"/>
            <a:ext cx="4417849" cy="449382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430663" y="828488"/>
            <a:ext cx="11410800" cy="645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array stores tree nodes level by level. </a:t>
            </a:r>
            <a:b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Null or empty positions can be printed as "-" to show missing children clearly.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172200" y="2057400"/>
            <a:ext cx="5623560" cy="4069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void printTreeArray() {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tree.length; i++) {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(tree[i] != null) {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System.out.print(tree[i] + " ");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System.out.print("- ");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System.out.println();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Output for the example: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- 11 22 33 44 55 66 77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Recursive Function: arrToTree()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42963" y="834475"/>
            <a:ext cx="11475600" cy="8229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Purpose: convert the array representation into linked nodes. </a:t>
            </a:r>
            <a:br>
              <a:rPr b="0" i="0" lang="en-US" sz="1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Each recursive call creates one node and then builds its left and right subtrees.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161025" y="1714600"/>
            <a:ext cx="5820300" cy="5029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TNode arrToTree(String[] arr, int i) {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Base Case: Check if index is out of bounds or </a:t>
            </a:r>
            <a:b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the current element is None</a:t>
            </a:r>
            <a:endParaRPr b="0" i="0" sz="146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(i &gt;= arr.length || arr[i] == null) 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null;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Recursive Case:</a:t>
            </a:r>
            <a:endParaRPr b="0" i="0" sz="146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1. Create a node for the current index</a:t>
            </a:r>
            <a:endParaRPr b="0" i="0" sz="146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TNode root = new TNode(arr[i]);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2. Set the left child by </a:t>
            </a:r>
            <a:b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     recursively calling for index 2 * i</a:t>
            </a:r>
            <a:endParaRPr b="0" i="0" sz="146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root.left  = arrToTree(arr, 2 * i);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4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3. Set the right child by </a:t>
            </a:r>
            <a:br>
              <a:rPr b="1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     recursively calling for index 2 * i + 1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root.right = arrToTree(arr, 2 * i + 1);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root;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4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Driver</a:t>
            </a:r>
            <a:r>
              <a:rPr b="0" i="0" lang="en-US" sz="14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part #</a:t>
            </a:r>
            <a:r>
              <a:rPr b="0" i="0" lang="en-US" sz="14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6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arrToTree(arr, 1)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9023325" y="66475"/>
            <a:ext cx="2958000" cy="164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 TNode {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String val;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TNode left, right;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TNode(String val) {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this.val = val;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4" title="arrayToB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75" y="2085425"/>
            <a:ext cx="6102149" cy="387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9abbcf54_0_0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Recursive Function: arrToTree() (Show simulation)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f99abbcf54_0_0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99abbcf54_0_0"/>
          <p:cNvSpPr/>
          <p:nvPr/>
        </p:nvSpPr>
        <p:spPr>
          <a:xfrm>
            <a:off x="6161025" y="2220850"/>
            <a:ext cx="5820300" cy="45237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TNode arrToTree(String[] arr, int i) {</a:t>
            </a: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Base Case: Check if index is out of bounds or </a:t>
            </a:r>
            <a:b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the current element is None</a:t>
            </a:r>
            <a:endParaRPr b="0" i="0" sz="126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(i &gt;= arr.length || arr[i] == null) {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null;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Recursive Case:</a:t>
            </a:r>
            <a:endParaRPr b="0" i="0" sz="126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1. Create a node for the current index</a:t>
            </a:r>
            <a:endParaRPr b="0" i="0" sz="126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TNode root = new TNode(arr[i]);</a:t>
            </a: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2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2. Set the left child by </a:t>
            </a:r>
            <a:b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     recursively calling for index 2 * i</a:t>
            </a:r>
            <a:endParaRPr b="0" i="0" sz="126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root.left  = arrToTree(arr, 2 * i);</a:t>
            </a: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2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3. Set the right child by </a:t>
            </a:r>
            <a:br>
              <a:rPr b="1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     recursively calling for index 2 * i + 1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root.right = arrToTree(arr, 2 * i + 1);</a:t>
            </a: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root;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2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Driver</a:t>
            </a:r>
            <a:r>
              <a:rPr b="0" i="0" lang="en-US" sz="12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part #</a:t>
            </a:r>
            <a:r>
              <a:rPr b="0" i="0" lang="en-US" sz="12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6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arrToTree(arr, 1)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99abbcf54_0_0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99abbcf54_0_0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g3f99abbcf54_0_0" title="arrayToBT.png"/>
          <p:cNvPicPr preferRelativeResize="0"/>
          <p:nvPr/>
        </p:nvPicPr>
        <p:blipFill rotWithShape="1">
          <a:blip r:embed="rId3">
            <a:alphaModFix/>
          </a:blip>
          <a:srcRect b="0" l="0" r="0" t="75400"/>
          <a:stretch/>
        </p:blipFill>
        <p:spPr>
          <a:xfrm>
            <a:off x="342975" y="5987625"/>
            <a:ext cx="5273533" cy="8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9abbcf54_0_12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Recursive Function: arrToTree() (Show simulation)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f99abbcf54_0_12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99abbcf54_0_12"/>
          <p:cNvSpPr/>
          <p:nvPr/>
        </p:nvSpPr>
        <p:spPr>
          <a:xfrm>
            <a:off x="6961325" y="914125"/>
            <a:ext cx="5230200" cy="5029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TNode arrToTree(String[] arr, int i) {</a:t>
            </a: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3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Base Case: Check if index is out of bounds or </a:t>
            </a:r>
            <a:b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the current element is None</a:t>
            </a:r>
            <a:endParaRPr b="0" i="0" sz="136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(i &gt;= arr.length || arr[i] == null) {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null;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3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Recursive Case:</a:t>
            </a:r>
            <a:endParaRPr b="0" i="0" sz="136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3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1. Create a node for the current index</a:t>
            </a:r>
            <a:endParaRPr b="0" i="0" sz="136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TNode root = new TNode(arr[i]);</a:t>
            </a: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3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2. Set the left child by </a:t>
            </a:r>
            <a:b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     recursively calling for index 2 * i</a:t>
            </a:r>
            <a:endParaRPr b="0" i="0" sz="136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root.left  = arrToTree(arr, 2 * i);</a:t>
            </a: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3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3. Set the right child by </a:t>
            </a:r>
            <a:br>
              <a:rPr b="1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     recursively calling for index 2 * i + 1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root.right = arrToTree(arr, 2 * i + 1);</a:t>
            </a: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root;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"/>
              <a:buFont typeface="Consolas"/>
              <a:buNone/>
            </a:pP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36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Driver</a:t>
            </a:r>
            <a:r>
              <a:rPr b="0" i="0" lang="en-US" sz="136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part #</a:t>
            </a:r>
            <a:r>
              <a:rPr b="0" i="0" lang="en-US" sz="136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36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arrToTree(arr, 1)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99abbcf54_0_12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99abbcf54_0_12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3f99abbcf54_0_12" title="arrayToBT.png"/>
          <p:cNvPicPr preferRelativeResize="0"/>
          <p:nvPr/>
        </p:nvPicPr>
        <p:blipFill rotWithShape="1">
          <a:blip r:embed="rId3">
            <a:alphaModFix/>
          </a:blip>
          <a:srcRect b="0" l="0" r="0" t="75400"/>
          <a:stretch/>
        </p:blipFill>
        <p:spPr>
          <a:xfrm>
            <a:off x="811800" y="5936450"/>
            <a:ext cx="5273533" cy="8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f99abbcf54_0_12" title="arrtoLL_simulation - Cop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048" y="828275"/>
            <a:ext cx="6707677" cy="5108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bb91db0b_0_2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Binary Tree Traversal: Preorder, Inorder, Postorder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6bb91db0b_0_2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6bb91db0b_0_2"/>
          <p:cNvSpPr/>
          <p:nvPr/>
        </p:nvSpPr>
        <p:spPr>
          <a:xfrm>
            <a:off x="193300" y="960125"/>
            <a:ext cx="11675700" cy="567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30"/>
              <a:buFont typeface="Arial"/>
              <a:buNone/>
            </a:pPr>
            <a:r>
              <a:rPr b="0" i="0" lang="en-US" sz="1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Traversal means </a:t>
            </a:r>
            <a:r>
              <a:rPr b="1" i="0" lang="en-US" sz="1830" u="none" cap="none" strike="noStrike">
                <a:solidFill>
                  <a:srgbClr val="1F2937"/>
                </a:solidFill>
              </a:rPr>
              <a:t>visiting all nodes</a:t>
            </a:r>
            <a:r>
              <a:rPr b="0" i="0" lang="en-US" sz="1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in a </a:t>
            </a:r>
            <a:r>
              <a:rPr b="1" i="0" lang="en-US" sz="1830" u="none" cap="none" strike="noStrike">
                <a:solidFill>
                  <a:srgbClr val="1F2937"/>
                </a:solidFill>
              </a:rPr>
              <a:t>specific order</a:t>
            </a:r>
            <a:r>
              <a:rPr b="0" i="0" lang="en-US" sz="1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 The</a:t>
            </a:r>
            <a:r>
              <a:rPr b="1" i="0" lang="en-US" sz="1830" u="none" cap="none" strike="noStrike">
                <a:solidFill>
                  <a:srgbClr val="1F2937"/>
                </a:solidFill>
              </a:rPr>
              <a:t> position of the root</a:t>
            </a:r>
            <a:r>
              <a:rPr b="0" i="0" lang="en-US" sz="1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determines the </a:t>
            </a:r>
            <a:r>
              <a:rPr b="1" i="0" lang="en-US" sz="1830" u="none" cap="none" strike="noStrike">
                <a:solidFill>
                  <a:srgbClr val="1F2937"/>
                </a:solidFill>
              </a:rPr>
              <a:t>traversal type.</a:t>
            </a:r>
            <a:endParaRPr b="1" i="0" sz="1830" u="none" cap="none" strike="noStrike">
              <a:solidFill>
                <a:schemeClr val="dk1"/>
              </a:solidFill>
            </a:endParaRPr>
          </a:p>
        </p:txBody>
      </p:sp>
      <p:sp>
        <p:nvSpPr>
          <p:cNvPr id="97" name="Google Shape;97;g3f6bb91db0b_0_2"/>
          <p:cNvSpPr/>
          <p:nvPr/>
        </p:nvSpPr>
        <p:spPr>
          <a:xfrm>
            <a:off x="6446150" y="1710150"/>
            <a:ext cx="5638200" cy="49743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void printPreOrder(TNode root) {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2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Base case</a:t>
            </a: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</a:t>
            </a: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return;</a:t>
            </a: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2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b="1" i="0" lang="en-US" sz="152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ecursive case</a:t>
            </a:r>
            <a:endParaRPr b="1" i="0" sz="152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System.out.print(root.val + " ");  // Root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printPreOrder(root.left);           // Left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printPreOrder(root.right);          // Right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rPr lang="en-US" sz="1520">
                <a:solidFill>
                  <a:schemeClr val="dk1"/>
                </a:solidFill>
              </a:rPr>
              <a:t>1</a:t>
            </a:r>
            <a:br>
              <a:rPr lang="en-US" sz="1520">
                <a:solidFill>
                  <a:schemeClr val="dk1"/>
                </a:solidFill>
              </a:rPr>
            </a:b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void printInOrder(TNode root) {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Base case</a:t>
            </a:r>
            <a:b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(root == null) return;</a:t>
            </a: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Recursive case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printInOrder(root.left);            // Left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System.out.print(root.val + " ");  // Root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printInOrder(root.right);           // Right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6bb91db0b_0_2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6bb91db0b_0_2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f6bb91db0b_0_2" title="arrayToB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00" y="2011850"/>
            <a:ext cx="6102149" cy="387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99975a625_0_32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Binary Tree Traversal: Preorder, Inorder, Postorder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99975a625_0_32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99975a625_0_32"/>
          <p:cNvSpPr/>
          <p:nvPr/>
        </p:nvSpPr>
        <p:spPr>
          <a:xfrm>
            <a:off x="193300" y="960125"/>
            <a:ext cx="11675700" cy="567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30"/>
              <a:buFont typeface="Arial"/>
              <a:buNone/>
            </a:pPr>
            <a:r>
              <a:rPr b="0" i="0" lang="en-US" sz="1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Traversal means </a:t>
            </a:r>
            <a:r>
              <a:rPr b="1" i="0" lang="en-US" sz="1830" u="none" cap="none" strike="noStrike">
                <a:solidFill>
                  <a:srgbClr val="1F2937"/>
                </a:solidFill>
              </a:rPr>
              <a:t>visiting all nodes</a:t>
            </a:r>
            <a:r>
              <a:rPr b="0" i="0" lang="en-US" sz="1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in a </a:t>
            </a:r>
            <a:r>
              <a:rPr b="1" i="0" lang="en-US" sz="1830" u="none" cap="none" strike="noStrike">
                <a:solidFill>
                  <a:srgbClr val="1F2937"/>
                </a:solidFill>
              </a:rPr>
              <a:t>specific order</a:t>
            </a:r>
            <a:r>
              <a:rPr b="0" i="0" lang="en-US" sz="1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 The</a:t>
            </a:r>
            <a:r>
              <a:rPr b="1" i="0" lang="en-US" sz="1830" u="none" cap="none" strike="noStrike">
                <a:solidFill>
                  <a:srgbClr val="1F2937"/>
                </a:solidFill>
              </a:rPr>
              <a:t> position of the root</a:t>
            </a:r>
            <a:r>
              <a:rPr b="0" i="0" lang="en-US" sz="1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determines the </a:t>
            </a:r>
            <a:r>
              <a:rPr b="1" i="0" lang="en-US" sz="1830" u="none" cap="none" strike="noStrike">
                <a:solidFill>
                  <a:srgbClr val="1F2937"/>
                </a:solidFill>
              </a:rPr>
              <a:t>traversal type.</a:t>
            </a:r>
            <a:endParaRPr b="1" i="0" sz="1830" u="none" cap="none" strike="noStrike">
              <a:solidFill>
                <a:schemeClr val="dk1"/>
              </a:solidFill>
            </a:endParaRPr>
          </a:p>
        </p:txBody>
      </p:sp>
      <p:sp>
        <p:nvSpPr>
          <p:cNvPr id="109" name="Google Shape;109;g3f99975a625_0_32"/>
          <p:cNvSpPr/>
          <p:nvPr/>
        </p:nvSpPr>
        <p:spPr>
          <a:xfrm>
            <a:off x="6553475" y="2214550"/>
            <a:ext cx="5638200" cy="3076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void printPostOrder(TNode root) {</a:t>
            </a: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Base case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return;</a:t>
            </a: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lang="en-US" sz="152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Recursive case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printPostOrder(root.left);          // Left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printPostOrder(root.right);         // Right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System.out.print(root.val + " ");  // Root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nsolas"/>
              <a:buNone/>
            </a:pPr>
            <a:r>
              <a:rPr b="0" i="0" lang="en-US" sz="152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99975a625_0_32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99975a625_0_32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f99975a625_0_32" title="arrayToB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00" y="2011850"/>
            <a:ext cx="6102149" cy="387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Get Level of a Node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54950" y="4143050"/>
            <a:ext cx="4803600" cy="22938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1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Level = number of edges from the </a:t>
            </a:r>
            <a:r>
              <a:rPr b="1" i="0" lang="en-US" sz="1600" u="none" cap="none" strike="noStrike">
                <a:solidFill>
                  <a:srgbClr val="1F2937"/>
                </a:solidFill>
              </a:rPr>
              <a:t>root to the node.</a:t>
            </a:r>
            <a:br>
              <a:rPr b="1" i="0" lang="en-US" sz="1600" u="none" cap="none" strike="noStrike">
                <a:solidFill>
                  <a:srgbClr val="1F2937"/>
                </a:solidFill>
              </a:rPr>
            </a:br>
            <a:r>
              <a:rPr b="1" i="0" lang="en-US" sz="1600" u="none" cap="none" strike="noStrike">
                <a:solidFill>
                  <a:srgbClr val="1F2937"/>
                </a:solidFill>
              </a:rPr>
              <a:t> </a:t>
            </a:r>
            <a:r>
              <a:rPr b="1" lang="en-US" sz="1600">
                <a:solidFill>
                  <a:srgbClr val="1F2937"/>
                </a:solidFill>
              </a:rPr>
              <a:t> </a:t>
            </a:r>
            <a:br>
              <a:rPr b="1" lang="en-US" sz="1600">
                <a:solidFill>
                  <a:srgbClr val="1F2937"/>
                </a:solidFill>
              </a:rPr>
            </a:br>
            <a:r>
              <a:rPr b="0" i="0" lang="en-US" sz="1600" u="sng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Start with level 0 at the root</a:t>
            </a: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b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increase by 1 in each recursive call.</a:t>
            </a:r>
            <a:b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232323"/>
                </a:solidFill>
              </a:rPr>
              <a:t>Example: </a:t>
            </a:r>
            <a:br>
              <a:rPr lang="en-US" sz="1600">
                <a:solidFill>
                  <a:srgbClr val="232323"/>
                </a:solidFill>
              </a:rPr>
            </a:br>
            <a:r>
              <a:rPr lang="en-US" sz="1600">
                <a:solidFill>
                  <a:srgbClr val="232323"/>
                </a:solidFill>
              </a:rPr>
              <a:t>level(E) = 2, </a:t>
            </a:r>
            <a:br>
              <a:rPr lang="en-US" sz="1600">
                <a:solidFill>
                  <a:srgbClr val="232323"/>
                </a:solidFill>
              </a:rPr>
            </a:br>
            <a:r>
              <a:rPr lang="en-US" sz="1600">
                <a:solidFill>
                  <a:srgbClr val="232323"/>
                </a:solidFill>
              </a:rPr>
              <a:t>level(C) = 1, </a:t>
            </a:r>
            <a:br>
              <a:rPr lang="en-US" sz="1600">
                <a:solidFill>
                  <a:srgbClr val="232323"/>
                </a:solidFill>
              </a:rPr>
            </a:br>
            <a:r>
              <a:rPr lang="en-US" sz="1600">
                <a:solidFill>
                  <a:srgbClr val="232323"/>
                </a:solidFill>
              </a:rPr>
              <a:t>level(P) = -1 (value not found).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361350" y="749800"/>
            <a:ext cx="6883500" cy="6006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getLevel(TNode root,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value,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level){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Base case: value not found</a:t>
            </a:r>
            <a:b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{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-1;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       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lang="en-US" sz="1500">
                <a:solidFill>
                  <a:srgbClr val="00FFFF"/>
                </a:solidFill>
              </a:rPr>
              <a:t>//</a:t>
            </a:r>
            <a:r>
              <a:rPr b="1" lang="en-US" sz="1500">
                <a:solidFill>
                  <a:srgbClr val="00FFFF"/>
                </a:solidFill>
              </a:rPr>
              <a:t> If the current node matches the value, return the current level</a:t>
            </a:r>
            <a:endParaRPr b="1" i="0" sz="150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(root.val.equals(value)) {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level;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Recursive case: Search in the left subtree</a:t>
            </a:r>
            <a:endParaRPr b="1" i="0" sz="150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leftLevel = getLevel(root.left,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value,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level + 1);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Recursive case: Search in the right subtree</a:t>
            </a:r>
            <a:endParaRPr b="1" i="0" sz="150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rightLevel = getLevel(root.right,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value,level + 1);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If value was not found in either subtree, return -1</a:t>
            </a:r>
            <a:endParaRPr b="1" i="0" sz="150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Leaf node--one which has left and right node to be None</a:t>
            </a:r>
            <a:endParaRPr b="1" i="0" sz="150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left_level == -1 and right_level == -1:</a:t>
            </a:r>
            <a:endParaRPr b="0" i="0" sz="15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-1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Return the level where the value was found,</a:t>
            </a:r>
            <a:endParaRPr b="1" i="0" sz="150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either in the left or right subtree (whichever is not -1)</a:t>
            </a:r>
            <a:endParaRPr b="1" i="0" sz="150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--because -1 means not found in that sub tree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Math.max(leftLevel, rightLevel);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621749" y="914400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5" name="Google Shape;125;p6"/>
          <p:cNvSpPr txBox="1"/>
          <p:nvPr/>
        </p:nvSpPr>
        <p:spPr>
          <a:xfrm>
            <a:off x="129875" y="1023700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0</a:t>
            </a:r>
            <a:endParaRPr sz="1973"/>
          </a:p>
        </p:txBody>
      </p:sp>
      <p:cxnSp>
        <p:nvCxnSpPr>
          <p:cNvPr id="126" name="Google Shape;126;p6"/>
          <p:cNvCxnSpPr/>
          <p:nvPr/>
        </p:nvCxnSpPr>
        <p:spPr>
          <a:xfrm>
            <a:off x="621749" y="2153899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7" name="Google Shape;127;p6"/>
          <p:cNvSpPr txBox="1"/>
          <p:nvPr/>
        </p:nvSpPr>
        <p:spPr>
          <a:xfrm>
            <a:off x="129875" y="2263199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1</a:t>
            </a:r>
            <a:endParaRPr sz="1973"/>
          </a:p>
        </p:txBody>
      </p:sp>
      <p:cxnSp>
        <p:nvCxnSpPr>
          <p:cNvPr id="128" name="Google Shape;128;p6"/>
          <p:cNvCxnSpPr/>
          <p:nvPr/>
        </p:nvCxnSpPr>
        <p:spPr>
          <a:xfrm>
            <a:off x="621749" y="3334375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9" name="Google Shape;129;p6"/>
          <p:cNvSpPr txBox="1"/>
          <p:nvPr/>
        </p:nvSpPr>
        <p:spPr>
          <a:xfrm>
            <a:off x="129875" y="3443674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2</a:t>
            </a:r>
            <a:endParaRPr sz="1973"/>
          </a:p>
        </p:txBody>
      </p:sp>
      <p:cxnSp>
        <p:nvCxnSpPr>
          <p:cNvPr id="130" name="Google Shape;130;p6"/>
          <p:cNvCxnSpPr/>
          <p:nvPr/>
        </p:nvCxnSpPr>
        <p:spPr>
          <a:xfrm flipH="1">
            <a:off x="1852466" y="1481027"/>
            <a:ext cx="944400" cy="6966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1" name="Google Shape;131;p6"/>
          <p:cNvCxnSpPr/>
          <p:nvPr/>
        </p:nvCxnSpPr>
        <p:spPr>
          <a:xfrm>
            <a:off x="2796866" y="1481027"/>
            <a:ext cx="944400" cy="6966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2" name="Google Shape;132;p6"/>
          <p:cNvCxnSpPr/>
          <p:nvPr/>
        </p:nvCxnSpPr>
        <p:spPr>
          <a:xfrm flipH="1">
            <a:off x="1262089" y="2720522"/>
            <a:ext cx="590400" cy="6375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3" name="Google Shape;133;p6"/>
          <p:cNvCxnSpPr/>
          <p:nvPr/>
        </p:nvCxnSpPr>
        <p:spPr>
          <a:xfrm>
            <a:off x="1852489" y="2720522"/>
            <a:ext cx="590400" cy="6375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4" name="Google Shape;134;p6"/>
          <p:cNvSpPr/>
          <p:nvPr/>
        </p:nvSpPr>
        <p:spPr>
          <a:xfrm>
            <a:off x="2513552" y="926206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673"/>
          </a:p>
        </p:txBody>
      </p:sp>
      <p:sp>
        <p:nvSpPr>
          <p:cNvPr id="135" name="Google Shape;135;p6"/>
          <p:cNvSpPr/>
          <p:nvPr/>
        </p:nvSpPr>
        <p:spPr>
          <a:xfrm>
            <a:off x="1569175" y="2165701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673"/>
          </a:p>
        </p:txBody>
      </p:sp>
      <p:sp>
        <p:nvSpPr>
          <p:cNvPr id="136" name="Google Shape;136;p6"/>
          <p:cNvSpPr/>
          <p:nvPr/>
        </p:nvSpPr>
        <p:spPr>
          <a:xfrm>
            <a:off x="3457929" y="2165701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673"/>
          </a:p>
        </p:txBody>
      </p:sp>
      <p:sp>
        <p:nvSpPr>
          <p:cNvPr id="137" name="Google Shape;137;p6"/>
          <p:cNvSpPr/>
          <p:nvPr/>
        </p:nvSpPr>
        <p:spPr>
          <a:xfrm>
            <a:off x="978940" y="3346173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673"/>
          </a:p>
        </p:txBody>
      </p:sp>
      <p:sp>
        <p:nvSpPr>
          <p:cNvPr id="138" name="Google Shape;138;p6"/>
          <p:cNvSpPr/>
          <p:nvPr/>
        </p:nvSpPr>
        <p:spPr>
          <a:xfrm>
            <a:off x="2159410" y="3346173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673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bb91db0b_0_46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F2937"/>
                </a:solidFill>
              </a:rPr>
              <a:t>Finding the Node Before Computing Level with parent</a:t>
            </a:r>
            <a:endParaRPr b="1" sz="3000">
              <a:solidFill>
                <a:srgbClr val="1F2937"/>
              </a:solidFill>
            </a:endParaRPr>
          </a:p>
        </p:txBody>
      </p:sp>
      <p:sp>
        <p:nvSpPr>
          <p:cNvPr id="145" name="Google Shape;145;g3f6bb91db0b_0_46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evel3_parent.png" id="146" name="Google Shape;146;g3f6bb91db0b_0_46"/>
          <p:cNvPicPr preferRelativeResize="0"/>
          <p:nvPr/>
        </p:nvPicPr>
        <p:blipFill rotWithShape="1">
          <a:blip r:embed="rId3">
            <a:alphaModFix/>
          </a:blip>
          <a:srcRect b="71473" l="0" r="0" t="10976"/>
          <a:stretch/>
        </p:blipFill>
        <p:spPr>
          <a:xfrm>
            <a:off x="320050" y="1523775"/>
            <a:ext cx="8578443" cy="119892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6bb91db0b_0_46"/>
          <p:cNvSpPr/>
          <p:nvPr/>
        </p:nvSpPr>
        <p:spPr>
          <a:xfrm>
            <a:off x="468275" y="868650"/>
            <a:ext cx="11723400" cy="567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20"/>
              <a:buFont typeface="Arial"/>
              <a:buNone/>
            </a:pPr>
            <a:r>
              <a:rPr b="0" i="0" lang="en-US" sz="1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First search the node by value.  If found, compute the level by moving through parent pointers.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6bb91db0b_0_46"/>
          <p:cNvSpPr/>
          <p:nvPr/>
        </p:nvSpPr>
        <p:spPr>
          <a:xfrm>
            <a:off x="5024075" y="2810813"/>
            <a:ext cx="6849000" cy="3871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TPNode findNode(TPNode root,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target) {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"" 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if node found will return the node, otherwise None"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b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1" i="0" sz="150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b="0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Base case: target not found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 null;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Base case: </a:t>
            </a:r>
            <a:r>
              <a:rPr b="1" i="0" lang="en-US" sz="15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Target found</a:t>
            </a:r>
            <a:endParaRPr b="1" i="0" sz="150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(root.val.equals(target)) return root;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00FFFF"/>
                </a:solidFill>
              </a:rPr>
              <a:t>       // Search in the left subtree</a:t>
            </a:r>
            <a:endParaRPr b="1" i="0" sz="150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TPNode left = findNode(root.left, target);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(left != null) return left;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br>
              <a:rPr lang="en-US" sz="1500">
                <a:solidFill>
                  <a:schemeClr val="dk1"/>
                </a:solidFill>
              </a:rPr>
            </a:br>
            <a:r>
              <a:rPr b="1" lang="en-US" sz="1500">
                <a:solidFill>
                  <a:srgbClr val="00FFFF"/>
                </a:solidFill>
              </a:rPr>
              <a:t>       // If not found in left subtree, search in the right subtree</a:t>
            </a:r>
            <a:endParaRPr b="1" i="0" sz="150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findNode(root.right, target);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6bb91db0b_0_46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6bb91db0b_0_46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g3f6bb91db0b_0_46"/>
          <p:cNvCxnSpPr/>
          <p:nvPr/>
        </p:nvCxnSpPr>
        <p:spPr>
          <a:xfrm>
            <a:off x="960149" y="3355600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2" name="Google Shape;152;g3f6bb91db0b_0_46"/>
          <p:cNvSpPr txBox="1"/>
          <p:nvPr/>
        </p:nvSpPr>
        <p:spPr>
          <a:xfrm>
            <a:off x="468275" y="3464900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0</a:t>
            </a:r>
            <a:endParaRPr sz="1973"/>
          </a:p>
        </p:txBody>
      </p:sp>
      <p:cxnSp>
        <p:nvCxnSpPr>
          <p:cNvPr id="153" name="Google Shape;153;g3f6bb91db0b_0_46"/>
          <p:cNvCxnSpPr/>
          <p:nvPr/>
        </p:nvCxnSpPr>
        <p:spPr>
          <a:xfrm>
            <a:off x="960149" y="4595099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4" name="Google Shape;154;g3f6bb91db0b_0_46"/>
          <p:cNvSpPr txBox="1"/>
          <p:nvPr/>
        </p:nvSpPr>
        <p:spPr>
          <a:xfrm>
            <a:off x="468275" y="4704399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1</a:t>
            </a:r>
            <a:endParaRPr sz="1973"/>
          </a:p>
        </p:txBody>
      </p:sp>
      <p:cxnSp>
        <p:nvCxnSpPr>
          <p:cNvPr id="155" name="Google Shape;155;g3f6bb91db0b_0_46"/>
          <p:cNvCxnSpPr/>
          <p:nvPr/>
        </p:nvCxnSpPr>
        <p:spPr>
          <a:xfrm>
            <a:off x="960149" y="5775575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6" name="Google Shape;156;g3f6bb91db0b_0_46"/>
          <p:cNvSpPr txBox="1"/>
          <p:nvPr/>
        </p:nvSpPr>
        <p:spPr>
          <a:xfrm>
            <a:off x="468275" y="5884874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2</a:t>
            </a:r>
            <a:endParaRPr sz="1973"/>
          </a:p>
        </p:txBody>
      </p:sp>
      <p:cxnSp>
        <p:nvCxnSpPr>
          <p:cNvPr id="157" name="Google Shape;157;g3f6bb91db0b_0_46"/>
          <p:cNvCxnSpPr/>
          <p:nvPr/>
        </p:nvCxnSpPr>
        <p:spPr>
          <a:xfrm flipH="1">
            <a:off x="2190866" y="3922227"/>
            <a:ext cx="944400" cy="6966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8" name="Google Shape;158;g3f6bb91db0b_0_46"/>
          <p:cNvCxnSpPr/>
          <p:nvPr/>
        </p:nvCxnSpPr>
        <p:spPr>
          <a:xfrm>
            <a:off x="3135266" y="3922227"/>
            <a:ext cx="944400" cy="6966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9" name="Google Shape;159;g3f6bb91db0b_0_46"/>
          <p:cNvCxnSpPr/>
          <p:nvPr/>
        </p:nvCxnSpPr>
        <p:spPr>
          <a:xfrm flipH="1">
            <a:off x="1600489" y="5161722"/>
            <a:ext cx="590400" cy="6375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0" name="Google Shape;160;g3f6bb91db0b_0_46"/>
          <p:cNvCxnSpPr/>
          <p:nvPr/>
        </p:nvCxnSpPr>
        <p:spPr>
          <a:xfrm>
            <a:off x="2190889" y="5161722"/>
            <a:ext cx="590400" cy="6375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1" name="Google Shape;161;g3f6bb91db0b_0_46"/>
          <p:cNvSpPr/>
          <p:nvPr/>
        </p:nvSpPr>
        <p:spPr>
          <a:xfrm>
            <a:off x="2851952" y="3367406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673"/>
          </a:p>
        </p:txBody>
      </p:sp>
      <p:sp>
        <p:nvSpPr>
          <p:cNvPr id="162" name="Google Shape;162;g3f6bb91db0b_0_46"/>
          <p:cNvSpPr/>
          <p:nvPr/>
        </p:nvSpPr>
        <p:spPr>
          <a:xfrm>
            <a:off x="1907575" y="4606901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673"/>
          </a:p>
        </p:txBody>
      </p:sp>
      <p:sp>
        <p:nvSpPr>
          <p:cNvPr id="163" name="Google Shape;163;g3f6bb91db0b_0_46"/>
          <p:cNvSpPr/>
          <p:nvPr/>
        </p:nvSpPr>
        <p:spPr>
          <a:xfrm>
            <a:off x="3796329" y="4606901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673"/>
          </a:p>
        </p:txBody>
      </p:sp>
      <p:sp>
        <p:nvSpPr>
          <p:cNvPr id="164" name="Google Shape;164;g3f6bb91db0b_0_46"/>
          <p:cNvSpPr/>
          <p:nvPr/>
        </p:nvSpPr>
        <p:spPr>
          <a:xfrm>
            <a:off x="1317340" y="5787373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673"/>
          </a:p>
        </p:txBody>
      </p:sp>
      <p:sp>
        <p:nvSpPr>
          <p:cNvPr id="165" name="Google Shape;165;g3f6bb91db0b_0_46"/>
          <p:cNvSpPr/>
          <p:nvPr/>
        </p:nvSpPr>
        <p:spPr>
          <a:xfrm>
            <a:off x="2497810" y="5787373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673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bb91db0b_0_72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Finding the Node Before Computing Level with parent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6bb91db0b_0_72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evel3_parent.png" id="173" name="Google Shape;173;g3f6bb91db0b_0_72"/>
          <p:cNvPicPr preferRelativeResize="0"/>
          <p:nvPr/>
        </p:nvPicPr>
        <p:blipFill rotWithShape="1">
          <a:blip r:embed="rId3">
            <a:alphaModFix/>
          </a:blip>
          <a:srcRect b="72265" l="3439" r="2858" t="10977"/>
          <a:stretch/>
        </p:blipFill>
        <p:spPr>
          <a:xfrm>
            <a:off x="633400" y="1429000"/>
            <a:ext cx="8546800" cy="12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f6bb91db0b_0_72"/>
          <p:cNvSpPr/>
          <p:nvPr/>
        </p:nvSpPr>
        <p:spPr>
          <a:xfrm>
            <a:off x="468275" y="868650"/>
            <a:ext cx="11723400" cy="567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20"/>
              <a:buFont typeface="Arial"/>
              <a:buNone/>
            </a:pPr>
            <a:r>
              <a:rPr b="0" i="0" lang="en-US" sz="1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First search the node by value.  If found, compute the level by moving through parent pointers.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6bb91db0b_0_72"/>
          <p:cNvSpPr/>
          <p:nvPr/>
        </p:nvSpPr>
        <p:spPr>
          <a:xfrm>
            <a:off x="5685075" y="2812475"/>
            <a:ext cx="6110700" cy="3871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getLevelWithParent(TPNode node) {</a:t>
            </a: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Base case: Target not found</a:t>
            </a:r>
            <a:endParaRPr sz="15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(node == null) return -1;</a:t>
            </a: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Base case: Root node has level 0</a:t>
            </a:r>
            <a:endParaRPr sz="15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(node.parent == null) return 0;</a:t>
            </a: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Recursive case</a:t>
            </a:r>
            <a:endParaRPr sz="15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1 + getLevelWithParent(node.parent);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Use together: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TPNode node = findNode(root, "D");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int level = getLevelWithParent(node); 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t/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" name="Google Shape;176;g3f6bb91db0b_0_72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6bb91db0b_0_72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g3f6bb91db0b_0_72"/>
          <p:cNvCxnSpPr/>
          <p:nvPr/>
        </p:nvCxnSpPr>
        <p:spPr>
          <a:xfrm>
            <a:off x="960149" y="3355600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9" name="Google Shape;179;g3f6bb91db0b_0_72"/>
          <p:cNvSpPr txBox="1"/>
          <p:nvPr/>
        </p:nvSpPr>
        <p:spPr>
          <a:xfrm>
            <a:off x="468275" y="3464900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0</a:t>
            </a:r>
            <a:endParaRPr sz="1973"/>
          </a:p>
        </p:txBody>
      </p:sp>
      <p:cxnSp>
        <p:nvCxnSpPr>
          <p:cNvPr id="180" name="Google Shape;180;g3f6bb91db0b_0_72"/>
          <p:cNvCxnSpPr/>
          <p:nvPr/>
        </p:nvCxnSpPr>
        <p:spPr>
          <a:xfrm>
            <a:off x="960149" y="4595099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1" name="Google Shape;181;g3f6bb91db0b_0_72"/>
          <p:cNvSpPr txBox="1"/>
          <p:nvPr/>
        </p:nvSpPr>
        <p:spPr>
          <a:xfrm>
            <a:off x="468275" y="4704399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1</a:t>
            </a:r>
            <a:endParaRPr sz="1973"/>
          </a:p>
        </p:txBody>
      </p:sp>
      <p:cxnSp>
        <p:nvCxnSpPr>
          <p:cNvPr id="182" name="Google Shape;182;g3f6bb91db0b_0_72"/>
          <p:cNvCxnSpPr/>
          <p:nvPr/>
        </p:nvCxnSpPr>
        <p:spPr>
          <a:xfrm>
            <a:off x="960149" y="5775575"/>
            <a:ext cx="3663000" cy="0"/>
          </a:xfrm>
          <a:prstGeom prst="straightConnector1">
            <a:avLst/>
          </a:prstGeom>
          <a:noFill/>
          <a:ln cap="flat" cmpd="sng" w="18200">
            <a:solidFill>
              <a:srgbClr val="7814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3" name="Google Shape;183;g3f6bb91db0b_0_72"/>
          <p:cNvSpPr txBox="1"/>
          <p:nvPr/>
        </p:nvSpPr>
        <p:spPr>
          <a:xfrm>
            <a:off x="468275" y="5884874"/>
            <a:ext cx="94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850" lIns="54625" spcFirstLastPara="1" rIns="54625" wrap="square" tIns="21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6">
                <a:solidFill>
                  <a:srgbClr val="781423"/>
                </a:solidFill>
                <a:latin typeface="Arial"/>
                <a:ea typeface="Arial"/>
                <a:cs typeface="Arial"/>
                <a:sym typeface="Arial"/>
              </a:rPr>
              <a:t>Level 2</a:t>
            </a:r>
            <a:endParaRPr sz="1973"/>
          </a:p>
        </p:txBody>
      </p:sp>
      <p:cxnSp>
        <p:nvCxnSpPr>
          <p:cNvPr id="184" name="Google Shape;184;g3f6bb91db0b_0_72"/>
          <p:cNvCxnSpPr/>
          <p:nvPr/>
        </p:nvCxnSpPr>
        <p:spPr>
          <a:xfrm flipH="1">
            <a:off x="2190866" y="3922227"/>
            <a:ext cx="944400" cy="6966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5" name="Google Shape;185;g3f6bb91db0b_0_72"/>
          <p:cNvCxnSpPr/>
          <p:nvPr/>
        </p:nvCxnSpPr>
        <p:spPr>
          <a:xfrm>
            <a:off x="3135266" y="3922227"/>
            <a:ext cx="944400" cy="6966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6" name="Google Shape;186;g3f6bb91db0b_0_72"/>
          <p:cNvCxnSpPr/>
          <p:nvPr/>
        </p:nvCxnSpPr>
        <p:spPr>
          <a:xfrm flipH="1">
            <a:off x="1600489" y="5161722"/>
            <a:ext cx="590400" cy="6375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7" name="Google Shape;187;g3f6bb91db0b_0_72"/>
          <p:cNvCxnSpPr/>
          <p:nvPr/>
        </p:nvCxnSpPr>
        <p:spPr>
          <a:xfrm>
            <a:off x="2190889" y="5161722"/>
            <a:ext cx="590400" cy="637500"/>
          </a:xfrm>
          <a:prstGeom prst="straightConnector1">
            <a:avLst/>
          </a:prstGeom>
          <a:noFill/>
          <a:ln cap="flat" cmpd="sng" w="24275">
            <a:solidFill>
              <a:srgbClr val="5A5A5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8" name="Google Shape;188;g3f6bb91db0b_0_72"/>
          <p:cNvSpPr/>
          <p:nvPr/>
        </p:nvSpPr>
        <p:spPr>
          <a:xfrm>
            <a:off x="2851952" y="3367406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673"/>
          </a:p>
        </p:txBody>
      </p:sp>
      <p:sp>
        <p:nvSpPr>
          <p:cNvPr id="189" name="Google Shape;189;g3f6bb91db0b_0_72"/>
          <p:cNvSpPr/>
          <p:nvPr/>
        </p:nvSpPr>
        <p:spPr>
          <a:xfrm>
            <a:off x="1907575" y="4606901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673"/>
          </a:p>
        </p:txBody>
      </p:sp>
      <p:sp>
        <p:nvSpPr>
          <p:cNvPr id="190" name="Google Shape;190;g3f6bb91db0b_0_72"/>
          <p:cNvSpPr/>
          <p:nvPr/>
        </p:nvSpPr>
        <p:spPr>
          <a:xfrm>
            <a:off x="3796329" y="4606901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673"/>
          </a:p>
        </p:txBody>
      </p:sp>
      <p:sp>
        <p:nvSpPr>
          <p:cNvPr id="191" name="Google Shape;191;g3f6bb91db0b_0_72"/>
          <p:cNvSpPr/>
          <p:nvPr/>
        </p:nvSpPr>
        <p:spPr>
          <a:xfrm>
            <a:off x="1317340" y="5787373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673"/>
          </a:p>
        </p:txBody>
      </p:sp>
      <p:sp>
        <p:nvSpPr>
          <p:cNvPr id="192" name="Google Shape;192;g3f6bb91db0b_0_72"/>
          <p:cNvSpPr/>
          <p:nvPr/>
        </p:nvSpPr>
        <p:spPr>
          <a:xfrm>
            <a:off x="2497810" y="5787373"/>
            <a:ext cx="566700" cy="566700"/>
          </a:xfrm>
          <a:prstGeom prst="ellipse">
            <a:avLst/>
          </a:prstGeom>
          <a:solidFill>
            <a:srgbClr val="D6EAF4"/>
          </a:solidFill>
          <a:ln cap="flat" cmpd="sng" w="11400">
            <a:solidFill>
              <a:srgbClr val="AECED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4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673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c6a4004e_0_5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Finding the Node Before Computing Level with parent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6c6a4004e_0_5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evel3_parent.png" id="200" name="Google Shape;200;g3f6c6a4004e_0_5"/>
          <p:cNvPicPr preferRelativeResize="0"/>
          <p:nvPr/>
        </p:nvPicPr>
        <p:blipFill rotWithShape="1">
          <a:blip r:embed="rId3">
            <a:alphaModFix/>
          </a:blip>
          <a:srcRect b="72265" l="3439" r="2858" t="10977"/>
          <a:stretch/>
        </p:blipFill>
        <p:spPr>
          <a:xfrm>
            <a:off x="320050" y="749800"/>
            <a:ext cx="8546800" cy="12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f6c6a4004e_0_5"/>
          <p:cNvSpPr/>
          <p:nvPr/>
        </p:nvSpPr>
        <p:spPr>
          <a:xfrm>
            <a:off x="6461975" y="2302825"/>
            <a:ext cx="5729700" cy="3871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getLevelWithParent(TPNode node) {</a:t>
            </a: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Base case: Target not found</a:t>
            </a:r>
            <a:endParaRPr sz="15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(node == null) return -1;</a:t>
            </a: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Base case: Root node has level 0</a:t>
            </a:r>
            <a:endParaRPr sz="15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(node.parent == null) return 0;</a:t>
            </a: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5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Recursive case</a:t>
            </a:r>
            <a:endParaRPr sz="15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1 + getLevelWithParent(node.parent);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Use together: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TPNode node = findNode(root, "D");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int level = getLevelWithParent(node); 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t/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g3f6c6a4004e_0_5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g3f6c6a4004e_0_5" title="level_with_par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000" y="1966950"/>
            <a:ext cx="6348975" cy="488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6c6a4004e_0_44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Finding the Node Before Computing Level with parent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6c6a4004e_0_44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6c6a4004e_0_44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f6c6a4004e_0_44" title="level_with_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850" y="988550"/>
            <a:ext cx="7634861" cy="58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9975a625_0_20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Get Height of a Node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99975a625_0_20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height1.png" id="220" name="Google Shape;220;g3f99975a625_0_20"/>
          <p:cNvPicPr preferRelativeResize="0"/>
          <p:nvPr/>
        </p:nvPicPr>
        <p:blipFill rotWithShape="1">
          <a:blip r:embed="rId3">
            <a:alphaModFix/>
          </a:blip>
          <a:srcRect b="69970" l="2439" r="0" t="16240"/>
          <a:stretch/>
        </p:blipFill>
        <p:spPr>
          <a:xfrm>
            <a:off x="158175" y="1672225"/>
            <a:ext cx="7009852" cy="95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99975a625_0_20"/>
          <p:cNvSpPr/>
          <p:nvPr/>
        </p:nvSpPr>
        <p:spPr>
          <a:xfrm>
            <a:off x="332810" y="803425"/>
            <a:ext cx="11450100" cy="8688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20"/>
              <a:buFont typeface="Arial"/>
              <a:buNone/>
            </a:pPr>
            <a:r>
              <a:rPr b="1" i="0" lang="en-US" sz="16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Height = length of the </a:t>
            </a:r>
            <a:r>
              <a:rPr b="1" i="0" lang="en-US" sz="1620" u="sng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longest path</a:t>
            </a:r>
            <a:r>
              <a:rPr b="1" i="0" lang="en-US" sz="16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i="0" lang="en-US" sz="1620" u="sng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 node</a:t>
            </a:r>
            <a:r>
              <a:rPr b="1" i="0" lang="en-US" sz="162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to one of its </a:t>
            </a:r>
            <a:r>
              <a:rPr b="1" i="0" lang="en-US" sz="1620" u="sng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leaf nodes. </a:t>
            </a:r>
            <a:br>
              <a:rPr b="1" i="0" lang="en-US" sz="162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2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Empty subtree height is -1,</a:t>
            </a:r>
            <a:r>
              <a:rPr b="1" i="0" lang="en-US" sz="16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so a </a:t>
            </a:r>
            <a:r>
              <a:rPr b="1" i="0" lang="en-US" sz="162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leaf node has height 0.</a:t>
            </a:r>
            <a:endParaRPr b="1" i="0" sz="162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99975a625_0_20"/>
          <p:cNvSpPr/>
          <p:nvPr/>
        </p:nvSpPr>
        <p:spPr>
          <a:xfrm>
            <a:off x="6536875" y="2624225"/>
            <a:ext cx="5739300" cy="416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getHeight(TNode node) {</a:t>
            </a:r>
            <a:b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58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58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i="0" lang="en-US" sz="158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Base Case: empty tree</a:t>
            </a:r>
            <a:endParaRPr b="1" i="0" sz="158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(node == null) return -1;</a:t>
            </a:r>
            <a:b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rPr b="1" lang="en-US" sz="1580">
                <a:solidFill>
                  <a:srgbClr val="00FFFF"/>
                </a:solidFill>
              </a:rPr>
              <a:t>        // Recursive Case: </a:t>
            </a:r>
            <a:br>
              <a:rPr b="1" lang="en-US" sz="1580">
                <a:solidFill>
                  <a:srgbClr val="00FFFF"/>
                </a:solidFill>
              </a:rPr>
            </a:br>
            <a:r>
              <a:rPr b="1" lang="en-US" sz="1580">
                <a:solidFill>
                  <a:srgbClr val="00FFFF"/>
                </a:solidFill>
              </a:rPr>
              <a:t>        // Get the heights of the left and right subtrees</a:t>
            </a:r>
            <a:endParaRPr b="1" i="0" sz="158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leftHeight = getHeight(node.left);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rightHeight = getHeight(node.right);</a:t>
            </a:r>
            <a:b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rPr lang="en-US" sz="1580">
                <a:solidFill>
                  <a:schemeClr val="dk1"/>
                </a:solidFill>
              </a:rPr>
              <a:t>       </a:t>
            </a:r>
            <a:r>
              <a:rPr b="1" lang="en-US" sz="1580">
                <a:solidFill>
                  <a:srgbClr val="00FFFF"/>
                </a:solidFill>
              </a:rPr>
              <a:t>// Compute the height of the current subtree</a:t>
            </a:r>
            <a:endParaRPr b="1" i="0" sz="1580" u="none" cap="none" strike="noStrike">
              <a:solidFill>
                <a:srgbClr val="00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1 + Math.max(leftHeight,rightHeight);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t/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Example: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Height of </a:t>
            </a:r>
            <a:r>
              <a:rPr lang="en-US" sz="158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2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Height of </a:t>
            </a:r>
            <a:r>
              <a:rPr lang="en-US" sz="158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B, C</a:t>
            </a: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1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Consolas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Height of leaf (D, </a:t>
            </a:r>
            <a:r>
              <a:rPr lang="en-US" sz="158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-US" sz="15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 = 0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99975a625_0_20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99975a625_0_20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g3f99975a625_0_20" title="height_calcu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175" y="2750375"/>
            <a:ext cx="6131922" cy="406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6c6a4004e_0_32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Get Height of a Node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6c6a4004e_0_32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6c6a4004e_0_32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6c6a4004e_0_32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3f6c6a4004e_0_32" title="height_calcu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925" y="914125"/>
            <a:ext cx="8661742" cy="573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/>
          <p:nvPr/>
        </p:nvSpPr>
        <p:spPr>
          <a:xfrm>
            <a:off x="320040" y="201168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Get Size of a Binary Tree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ize1.png"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13689"/>
          <a:stretch/>
        </p:blipFill>
        <p:spPr>
          <a:xfrm>
            <a:off x="320050" y="1600200"/>
            <a:ext cx="4223341" cy="477063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5806440" y="960120"/>
            <a:ext cx="594360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850" u="none" cap="none" strike="noStrike">
                <a:solidFill>
                  <a:srgbClr val="1F2937"/>
                </a:solidFill>
                <a:latin typeface="Trebuchet MS"/>
                <a:ea typeface="Trebuchet MS"/>
                <a:cs typeface="Trebuchet MS"/>
                <a:sym typeface="Trebuchet MS"/>
              </a:rPr>
              <a:t>Size = total number of </a:t>
            </a:r>
            <a:r>
              <a:rPr b="1" i="0" lang="en-US" sz="1850" u="none" cap="none" strike="noStrike">
                <a:solidFill>
                  <a:srgbClr val="1F2937"/>
                </a:solidFill>
                <a:latin typeface="Trebuchet MS"/>
                <a:ea typeface="Trebuchet MS"/>
                <a:cs typeface="Trebuchet MS"/>
                <a:sym typeface="Trebuchet MS"/>
              </a:rPr>
              <a:t>actual nodes</a:t>
            </a:r>
            <a:r>
              <a:rPr b="0" i="0" lang="en-US" sz="1850" u="none" cap="none" strike="noStrike">
                <a:solidFill>
                  <a:srgbClr val="1F2937"/>
                </a:solidFill>
                <a:latin typeface="Trebuchet MS"/>
                <a:ea typeface="Trebuchet MS"/>
                <a:cs typeface="Trebuchet MS"/>
                <a:sym typeface="Trebuchet MS"/>
              </a:rPr>
              <a:t> in the tree. </a:t>
            </a:r>
            <a:br>
              <a:rPr b="0" i="0" lang="en-US" sz="1850" u="none" cap="none" strike="noStrike">
                <a:solidFill>
                  <a:srgbClr val="1F2937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50" u="none" cap="none" strike="noStrike">
                <a:solidFill>
                  <a:srgbClr val="1F2937"/>
                </a:solidFill>
                <a:latin typeface="Trebuchet MS"/>
                <a:ea typeface="Trebuchet MS"/>
                <a:cs typeface="Trebuchet MS"/>
                <a:sym typeface="Trebuchet MS"/>
              </a:rPr>
              <a:t>Null links are not counted as nodes.</a:t>
            </a:r>
            <a:endParaRPr b="0" i="0" sz="18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892100" y="2640127"/>
            <a:ext cx="7063500" cy="317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getSize(TNode node) {</a:t>
            </a:r>
            <a:b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7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Base case</a:t>
            </a:r>
            <a:endParaRPr b="1" i="0" sz="170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(node == null) return 0;</a:t>
            </a:r>
            <a:b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// Recursive case: </a:t>
            </a:r>
            <a:br>
              <a:rPr b="1" lang="en-US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 The size is the current node (1) </a:t>
            </a:r>
            <a:br>
              <a:rPr b="1" lang="en-US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    + size of left subtree + size of right subtree</a:t>
            </a:r>
            <a:endParaRPr b="1" i="0" sz="170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1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getSize(node.left)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getSize(node.right);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700" u="none" cap="none" strike="noStrike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Output: Size of the tree: 5</a:t>
            </a:r>
            <a:endParaRPr b="0" i="0" sz="1700" u="none" cap="none" strike="noStrike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20040" y="651967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>
            <p:ph idx="4294967295" type="sldNum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t_full_tree.png" id="253" name="Google Shape;253;g3f6bb91db0b_0_169"/>
          <p:cNvPicPr preferRelativeResize="0"/>
          <p:nvPr/>
        </p:nvPicPr>
        <p:blipFill rotWithShape="1">
          <a:blip r:embed="rId3">
            <a:alphaModFix/>
          </a:blip>
          <a:srcRect b="8349" l="9996" r="10733" t="0"/>
          <a:stretch/>
        </p:blipFill>
        <p:spPr>
          <a:xfrm>
            <a:off x="39525" y="983788"/>
            <a:ext cx="5218223" cy="366300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f6bb91db0b_0_169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F2937"/>
                </a:solidFill>
              </a:rPr>
              <a:t>Practice problem:</a:t>
            </a:r>
            <a:r>
              <a:rPr b="1" lang="en-US" sz="3000">
                <a:solidFill>
                  <a:srgbClr val="1F2937"/>
                </a:solidFill>
              </a:rPr>
              <a:t> Full Binary Tree Check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f6bb91db0b_0_169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6bb91db0b_0_169"/>
          <p:cNvSpPr/>
          <p:nvPr/>
        </p:nvSpPr>
        <p:spPr>
          <a:xfrm>
            <a:off x="5309950" y="2097825"/>
            <a:ext cx="6680100" cy="4517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Returns true if the tree is a full binary tree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boolean isFullTree(TNode root)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Empty tree is full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// Leaf node is valid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(root.left == null &amp;&amp; root.right ==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Node with two children: both subtrees must also be full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(root.left != null &amp;&amp; root.right !=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isFullTree(root.left) &amp;&amp; isFullTree(root.right);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Node with only one child: not full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false;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g3f6bb91db0b_0_169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f6bb91db0b_0_169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6bb91db0b_0_169"/>
          <p:cNvSpPr/>
          <p:nvPr/>
        </p:nvSpPr>
        <p:spPr>
          <a:xfrm>
            <a:off x="425550" y="5017800"/>
            <a:ext cx="4349100" cy="1492800"/>
          </a:xfrm>
          <a:prstGeom prst="roundRect">
            <a:avLst>
              <a:gd fmla="val 16667" name="adj"/>
            </a:avLst>
          </a:prstGeom>
          <a:solidFill>
            <a:srgbClr val="EFF5FC"/>
          </a:solidFill>
          <a:ln cap="flat" cmpd="sng" w="9525">
            <a:solidFill>
              <a:srgbClr val="B4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  <a:t>Expected result</a:t>
            </a:r>
            <a:b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1E1E"/>
                </a:solidFill>
              </a:rPr>
              <a:t>The tree is NOT a full binary tree.</a:t>
            </a:r>
            <a:endParaRPr sz="1700"/>
          </a:p>
        </p:txBody>
      </p:sp>
      <p:sp>
        <p:nvSpPr>
          <p:cNvPr id="260" name="Google Shape;260;g3f6bb91db0b_0_169"/>
          <p:cNvSpPr/>
          <p:nvPr/>
        </p:nvSpPr>
        <p:spPr>
          <a:xfrm>
            <a:off x="5257750" y="846200"/>
            <a:ext cx="6784500" cy="1018200"/>
          </a:xfrm>
          <a:prstGeom prst="roundRect">
            <a:avLst>
              <a:gd fmla="val 16667" name="adj"/>
            </a:avLst>
          </a:prstGeom>
          <a:solidFill>
            <a:srgbClr val="EFF5FC"/>
          </a:solidFill>
          <a:ln cap="flat" cmpd="sng" w="9525">
            <a:solidFill>
              <a:srgbClr val="B4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  <a:t>Rule of a full binary tree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Every node has either exactly </a:t>
            </a:r>
            <a:r>
              <a:rPr b="1" lang="en-US" sz="1700" u="sng">
                <a:solidFill>
                  <a:srgbClr val="1E1E1E"/>
                </a:solidFill>
              </a:rPr>
              <a:t>0 children or exactly 2 children</a:t>
            </a:r>
            <a:r>
              <a:rPr lang="en-US" sz="17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6bb91db0b_0_156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F2937"/>
                </a:solidFill>
              </a:rPr>
              <a:t>Practice problem:</a:t>
            </a:r>
            <a:r>
              <a:rPr b="1" lang="en-US" sz="3000">
                <a:solidFill>
                  <a:srgbClr val="1F2937"/>
                </a:solidFill>
              </a:rPr>
              <a:t> </a:t>
            </a:r>
            <a:r>
              <a:rPr b="1" lang="en-US" sz="3000">
                <a:solidFill>
                  <a:srgbClr val="1F2937"/>
                </a:solidFill>
              </a:rPr>
              <a:t>Full Binary Tree Check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6bb91db0b_0_156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6bb91db0b_0_156"/>
          <p:cNvSpPr/>
          <p:nvPr/>
        </p:nvSpPr>
        <p:spPr>
          <a:xfrm>
            <a:off x="5309950" y="1993425"/>
            <a:ext cx="6680100" cy="4517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Returns true if the tree is a full binary tree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boolean isFullTree(TNode root)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Empty tree is full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 // Leaf node is valid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(root.left == null &amp;&amp; root.right ==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Node with two children: both subtrees must also be full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(root.left != null &amp;&amp; root.right !=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isFullTree(root.left) &amp;&amp; isFullTree(root.right);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Node with only one child: not full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false;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" name="Google Shape;269;g3f6bb91db0b_0_156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6bb91db0b_0_156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6bb91db0b_0_156"/>
          <p:cNvSpPr/>
          <p:nvPr/>
        </p:nvSpPr>
        <p:spPr>
          <a:xfrm>
            <a:off x="425550" y="5017800"/>
            <a:ext cx="4349100" cy="1492800"/>
          </a:xfrm>
          <a:prstGeom prst="roundRect">
            <a:avLst>
              <a:gd fmla="val 16667" name="adj"/>
            </a:avLst>
          </a:prstGeom>
          <a:solidFill>
            <a:srgbClr val="EFF5FC"/>
          </a:solidFill>
          <a:ln cap="flat" cmpd="sng" w="9525">
            <a:solidFill>
              <a:srgbClr val="B4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  <a:t>Expected result</a:t>
            </a:r>
            <a:b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1E1E"/>
                </a:solidFill>
              </a:rPr>
              <a:t>The tree is a full binary tree.</a:t>
            </a:r>
            <a:endParaRPr sz="1700"/>
          </a:p>
        </p:txBody>
      </p:sp>
      <p:sp>
        <p:nvSpPr>
          <p:cNvPr id="272" name="Google Shape;272;g3f6bb91db0b_0_156"/>
          <p:cNvSpPr/>
          <p:nvPr/>
        </p:nvSpPr>
        <p:spPr>
          <a:xfrm>
            <a:off x="5257750" y="846200"/>
            <a:ext cx="6784500" cy="950700"/>
          </a:xfrm>
          <a:prstGeom prst="roundRect">
            <a:avLst>
              <a:gd fmla="val 16667" name="adj"/>
            </a:avLst>
          </a:prstGeom>
          <a:solidFill>
            <a:srgbClr val="EFF5FC"/>
          </a:solidFill>
          <a:ln cap="flat" cmpd="sng" w="9525">
            <a:solidFill>
              <a:srgbClr val="B4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  <a:t>Rule of a full binary tree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Every node has either exactly </a:t>
            </a:r>
            <a:r>
              <a:rPr b="1" lang="en-US" sz="1700" u="sng">
                <a:solidFill>
                  <a:srgbClr val="1E1E1E"/>
                </a:solidFill>
              </a:rPr>
              <a:t>0 children or exactly 2 children</a:t>
            </a:r>
            <a:r>
              <a:rPr lang="en-US" sz="17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</p:txBody>
      </p:sp>
      <p:pic>
        <p:nvPicPr>
          <p:cNvPr descr="full_tree.png" id="273" name="Google Shape;273;g3f6bb91db0b_0_156"/>
          <p:cNvPicPr preferRelativeResize="0"/>
          <p:nvPr/>
        </p:nvPicPr>
        <p:blipFill rotWithShape="1">
          <a:blip r:embed="rId3">
            <a:alphaModFix/>
          </a:blip>
          <a:srcRect b="12427" l="13385" r="14460" t="0"/>
          <a:stretch/>
        </p:blipFill>
        <p:spPr>
          <a:xfrm>
            <a:off x="45625" y="1105025"/>
            <a:ext cx="5108950" cy="3764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6bb91db0b_0_119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F2937"/>
                </a:solidFill>
              </a:rPr>
              <a:t>Practice problem: Check whether the tree is Balanced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f6bb91db0b_0_119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6bb91db0b_0_119"/>
          <p:cNvSpPr/>
          <p:nvPr/>
        </p:nvSpPr>
        <p:spPr>
          <a:xfrm>
            <a:off x="4950875" y="749800"/>
            <a:ext cx="7240800" cy="6060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Calculates the height difference between left and right subtrees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getDf(TNode node)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Base case: if node is null, return -1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(node ==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-1;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Get the height of left and right subtrees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leftHeight = getHeight(node.left);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rightHeight = getHeight(node.right);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Return the absolute difference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Math.abs(leftHeight - rightHeight);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Returns true if the tree is height-balanced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boolean isBalanced(TNode root)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 true;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df = getDf(root);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(df &gt; 1)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isBalanced(root.left) &amp;&amp; isBalanced(root.right);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g3f6bb91db0b_0_119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6bb91db0b_0_119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6bb91db0b_0_119"/>
          <p:cNvSpPr/>
          <p:nvPr/>
        </p:nvSpPr>
        <p:spPr>
          <a:xfrm>
            <a:off x="292736" y="5566850"/>
            <a:ext cx="4086600" cy="822900"/>
          </a:xfrm>
          <a:prstGeom prst="roundRect">
            <a:avLst>
              <a:gd fmla="val 16667" name="adj"/>
            </a:avLst>
          </a:prstGeom>
          <a:solidFill>
            <a:srgbClr val="EFF5FC"/>
          </a:solidFill>
          <a:ln cap="flat" cmpd="sng" w="9525">
            <a:solidFill>
              <a:srgbClr val="B4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  <a:t>Expected result</a:t>
            </a:r>
            <a:b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The tree is balanced.</a:t>
            </a:r>
            <a:endParaRPr sz="1700"/>
          </a:p>
        </p:txBody>
      </p:sp>
      <p:pic>
        <p:nvPicPr>
          <p:cNvPr descr="single_node.png" id="285" name="Google Shape;285;g3f6bb91db0b_0_119"/>
          <p:cNvPicPr preferRelativeResize="0"/>
          <p:nvPr/>
        </p:nvPicPr>
        <p:blipFill rotWithShape="1">
          <a:blip r:embed="rId3">
            <a:alphaModFix/>
          </a:blip>
          <a:srcRect b="76989" l="33013" r="31119" t="0"/>
          <a:stretch/>
        </p:blipFill>
        <p:spPr>
          <a:xfrm>
            <a:off x="347562" y="3887800"/>
            <a:ext cx="3976927" cy="15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f6bb91db0b_0_119"/>
          <p:cNvSpPr txBox="1"/>
          <p:nvPr/>
        </p:nvSpPr>
        <p:spPr>
          <a:xfrm>
            <a:off x="260450" y="1110450"/>
            <a:ext cx="46905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Balanced / Height-balanced Binary Tree:</a:t>
            </a:r>
            <a:br>
              <a:rPr b="1" lang="en-U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The </a:t>
            </a:r>
            <a:r>
              <a:rPr b="1" lang="en-US" sz="1800">
                <a:solidFill>
                  <a:schemeClr val="dk1"/>
                </a:solidFill>
              </a:rPr>
              <a:t>height </a:t>
            </a:r>
            <a:r>
              <a:rPr lang="en-US" sz="1800">
                <a:solidFill>
                  <a:schemeClr val="dk1"/>
                </a:solidFill>
              </a:rPr>
              <a:t>of the </a:t>
            </a:r>
            <a:r>
              <a:rPr b="1" lang="en-US" sz="1800">
                <a:solidFill>
                  <a:srgbClr val="9900FF"/>
                </a:solidFill>
              </a:rPr>
              <a:t>left and right subtree </a:t>
            </a:r>
            <a:r>
              <a:rPr lang="en-US" sz="1800">
                <a:solidFill>
                  <a:schemeClr val="dk1"/>
                </a:solidFill>
              </a:rPr>
              <a:t>of any node </a:t>
            </a:r>
            <a:r>
              <a:rPr b="1" lang="en-US" sz="1800" u="sng">
                <a:solidFill>
                  <a:srgbClr val="990000"/>
                </a:solidFill>
              </a:rPr>
              <a:t>differ by not more than 1.</a:t>
            </a:r>
            <a:r>
              <a:rPr lang="en-US" sz="1800">
                <a:solidFill>
                  <a:srgbClr val="990000"/>
                </a:solidFill>
              </a:rPr>
              <a:t> </a:t>
            </a:r>
            <a:br>
              <a:rPr lang="en-US" sz="1800">
                <a:solidFill>
                  <a:srgbClr val="990000"/>
                </a:solidFill>
              </a:rPr>
            </a:br>
            <a:br>
              <a:rPr b="1" lang="en-US" sz="1800">
                <a:solidFill>
                  <a:srgbClr val="0000FF"/>
                </a:solidFill>
              </a:rPr>
            </a:br>
            <a:r>
              <a:rPr b="1" lang="en-US" sz="1800">
                <a:solidFill>
                  <a:srgbClr val="0000FF"/>
                </a:solidFill>
              </a:rPr>
              <a:t>    </a:t>
            </a:r>
            <a:r>
              <a:rPr b="1" lang="en-US" sz="1800">
                <a:solidFill>
                  <a:srgbClr val="9900FF"/>
                </a:solidFill>
              </a:rPr>
              <a:t>  df = | height(left) - </a:t>
            </a:r>
            <a:r>
              <a:rPr b="1" lang="en-US" sz="1800">
                <a:solidFill>
                  <a:srgbClr val="9900FF"/>
                </a:solidFill>
              </a:rPr>
              <a:t>height(right) </a:t>
            </a:r>
            <a:r>
              <a:rPr b="1" lang="en-US" sz="1800">
                <a:solidFill>
                  <a:srgbClr val="9900FF"/>
                </a:solidFill>
              </a:rPr>
              <a:t>|</a:t>
            </a:r>
            <a:br>
              <a:rPr b="1" lang="en-US" sz="1800">
                <a:solidFill>
                  <a:srgbClr val="9900FF"/>
                </a:solidFill>
              </a:rPr>
            </a:br>
            <a:br>
              <a:rPr b="1" lang="en-US" sz="1800">
                <a:solidFill>
                  <a:srgbClr val="9900FF"/>
                </a:solidFill>
              </a:rPr>
            </a:br>
            <a:r>
              <a:rPr b="1" lang="en-US" sz="1800">
                <a:solidFill>
                  <a:srgbClr val="9900FF"/>
                </a:solidFill>
              </a:rPr>
              <a:t>     </a:t>
            </a:r>
            <a:r>
              <a:rPr b="1" lang="en-US" sz="1800">
                <a:solidFill>
                  <a:srgbClr val="0000FF"/>
                </a:solidFill>
              </a:rPr>
              <a:t>Acceptable values of df = 0, 1 </a:t>
            </a:r>
            <a:br>
              <a:rPr b="1" lang="en-US" sz="1800">
                <a:solidFill>
                  <a:srgbClr val="0000FF"/>
                </a:solidFill>
              </a:rPr>
            </a:br>
            <a:r>
              <a:rPr b="1" lang="en-US" sz="1800">
                <a:solidFill>
                  <a:srgbClr val="0000FF"/>
                </a:solidFill>
              </a:rPr>
              <a:t>        If df&gt;1, then not balanced</a:t>
            </a:r>
            <a:br>
              <a:rPr b="1" lang="en-US" sz="1800">
                <a:solidFill>
                  <a:srgbClr val="0000FF"/>
                </a:solidFill>
              </a:rPr>
            </a:br>
            <a:endParaRPr b="1" sz="23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6bb91db0b_0_132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F2937"/>
                </a:solidFill>
              </a:rPr>
              <a:t>Practice problem:</a:t>
            </a:r>
            <a:r>
              <a:rPr b="1" lang="en-US" sz="3000">
                <a:solidFill>
                  <a:srgbClr val="1F2937"/>
                </a:solidFill>
              </a:rPr>
              <a:t> Check whether the tree is Balanced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6bb91db0b_0_132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6bb91db0b_0_132"/>
          <p:cNvSpPr/>
          <p:nvPr/>
        </p:nvSpPr>
        <p:spPr>
          <a:xfrm>
            <a:off x="4950875" y="749800"/>
            <a:ext cx="7240800" cy="6060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Calculates the height difference between left and right subtrees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getDf(TNode node)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Base case: if node is null, return -1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(node ==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-1;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Get the height of left and right subtrees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leftHeight = getHeight(node.left);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rightHeight = getHeight(node.right);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Return the absolute difference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Math.abs(leftHeight - rightHeight);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Returns true if the tree is height-balanced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boolean isBalanced(TNode root)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 true;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df = getDf(root);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(df &gt; 1)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isBalanced(root.left) &amp;&amp; isBalanced(root.right);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5" name="Google Shape;295;g3f6bb91db0b_0_132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6bb91db0b_0_132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lanced_tree.png" id="297" name="Google Shape;297;g3f6bb91db0b_0_132"/>
          <p:cNvPicPr preferRelativeResize="0"/>
          <p:nvPr/>
        </p:nvPicPr>
        <p:blipFill rotWithShape="1">
          <a:blip r:embed="rId3">
            <a:alphaModFix/>
          </a:blip>
          <a:srcRect b="11086" l="14632" r="14921" t="3040"/>
          <a:stretch/>
        </p:blipFill>
        <p:spPr>
          <a:xfrm>
            <a:off x="0" y="1046275"/>
            <a:ext cx="4937699" cy="36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6bb91db0b_0_132"/>
          <p:cNvSpPr/>
          <p:nvPr/>
        </p:nvSpPr>
        <p:spPr>
          <a:xfrm>
            <a:off x="425549" y="5198813"/>
            <a:ext cx="4086600" cy="822900"/>
          </a:xfrm>
          <a:prstGeom prst="roundRect">
            <a:avLst>
              <a:gd fmla="val 16667" name="adj"/>
            </a:avLst>
          </a:prstGeom>
          <a:solidFill>
            <a:srgbClr val="EFF5FC"/>
          </a:solidFill>
          <a:ln cap="flat" cmpd="sng" w="9525">
            <a:solidFill>
              <a:srgbClr val="B4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  <a:t>Expected result</a:t>
            </a:r>
            <a:b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The tree is balanced.</a:t>
            </a:r>
            <a:endParaRPr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6bb91db0b_0_144"/>
          <p:cNvSpPr/>
          <p:nvPr/>
        </p:nvSpPr>
        <p:spPr>
          <a:xfrm>
            <a:off x="320040" y="201168"/>
            <a:ext cx="11521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F2937"/>
                </a:solidFill>
              </a:rPr>
              <a:t>Practice problem:</a:t>
            </a:r>
            <a:r>
              <a:rPr b="1" lang="en-US" sz="3000">
                <a:solidFill>
                  <a:srgbClr val="1F2937"/>
                </a:solidFill>
              </a:rPr>
              <a:t> Check whether the tree is Balanced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6bb91db0b_0_144"/>
          <p:cNvSpPr/>
          <p:nvPr/>
        </p:nvSpPr>
        <p:spPr>
          <a:xfrm>
            <a:off x="320040" y="749808"/>
            <a:ext cx="11475600" cy="27300"/>
          </a:xfrm>
          <a:prstGeom prst="rect">
            <a:avLst/>
          </a:prstGeom>
          <a:solidFill>
            <a:srgbClr val="8B1D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6bb91db0b_0_144"/>
          <p:cNvSpPr/>
          <p:nvPr/>
        </p:nvSpPr>
        <p:spPr>
          <a:xfrm>
            <a:off x="4950875" y="749800"/>
            <a:ext cx="7240800" cy="6060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Calculates the height difference between left and right subtrees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int getDf(TNode node)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Base case: if node is null, return -1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(node == null)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-1;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Get the height of left and right subtrees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leftHeight = getHeight(node.left);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rightHeight = getHeight(node.right);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Return the absolute difference</a:t>
            </a:r>
            <a:endParaRPr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Math.abs(leftHeight - rightHeight);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5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// Returns true if the tree is height-balanced</a:t>
            </a:r>
            <a:endParaRPr b="1" sz="145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boolean isBalanced(TNode root)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(root == null) return true;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df = getDf(root);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(df &gt; 1) {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isBalanced(root.left) &amp;&amp; isBalanced(root.right);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t/>
            </a:r>
            <a:endParaRPr sz="14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g3f6bb91db0b_0_144"/>
          <p:cNvSpPr/>
          <p:nvPr/>
        </p:nvSpPr>
        <p:spPr>
          <a:xfrm>
            <a:off x="320040" y="6519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CSE220 | Binary Tree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6bb91db0b_0_144"/>
          <p:cNvSpPr txBox="1"/>
          <p:nvPr>
            <p:ph idx="4294967295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6bb91db0b_0_144"/>
          <p:cNvSpPr/>
          <p:nvPr/>
        </p:nvSpPr>
        <p:spPr>
          <a:xfrm>
            <a:off x="425550" y="5017800"/>
            <a:ext cx="4349100" cy="1492800"/>
          </a:xfrm>
          <a:prstGeom prst="roundRect">
            <a:avLst>
              <a:gd fmla="val 16667" name="adj"/>
            </a:avLst>
          </a:prstGeom>
          <a:solidFill>
            <a:srgbClr val="EFF5FC"/>
          </a:solidFill>
          <a:ln cap="flat" cmpd="sng" w="9525">
            <a:solidFill>
              <a:srgbClr val="B4BE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  <a:t>Expected result</a:t>
            </a:r>
            <a:br>
              <a:rPr b="1" lang="en-US" sz="1800">
                <a:solidFill>
                  <a:srgbClr val="102C6E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1E1E"/>
                </a:solidFill>
              </a:rPr>
              <a:t>The tree is not balanced. </a:t>
            </a:r>
            <a:br>
              <a:rPr lang="en-US" sz="1600">
                <a:solidFill>
                  <a:srgbClr val="1E1E1E"/>
                </a:solidFill>
              </a:rPr>
            </a:br>
            <a:r>
              <a:rPr lang="en-US" sz="1600">
                <a:solidFill>
                  <a:srgbClr val="1E1E1E"/>
                </a:solidFill>
              </a:rPr>
              <a:t>(At node A, the height difference becomes greater than 1.)</a:t>
            </a:r>
            <a:endParaRPr sz="1700"/>
          </a:p>
        </p:txBody>
      </p:sp>
      <p:pic>
        <p:nvPicPr>
          <p:cNvPr descr="unbalanced_tree.png" id="310" name="Google Shape;310;g3f6bb91db0b_0_144"/>
          <p:cNvPicPr preferRelativeResize="0"/>
          <p:nvPr/>
        </p:nvPicPr>
        <p:blipFill rotWithShape="1">
          <a:blip r:embed="rId3">
            <a:alphaModFix/>
          </a:blip>
          <a:srcRect b="12319" l="8921" r="32996" t="0"/>
          <a:stretch/>
        </p:blipFill>
        <p:spPr>
          <a:xfrm>
            <a:off x="246625" y="793813"/>
            <a:ext cx="4608552" cy="42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6bb91db0b_0_105"/>
          <p:cNvSpPr txBox="1"/>
          <p:nvPr/>
        </p:nvSpPr>
        <p:spPr>
          <a:xfrm>
            <a:off x="1581349" y="2746250"/>
            <a:ext cx="97134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n-US" sz="2450">
                <a:latin typeface="Trebuchet MS"/>
                <a:ea typeface="Trebuchet MS"/>
                <a:cs typeface="Trebuchet MS"/>
                <a:sym typeface="Trebuchet MS"/>
              </a:rPr>
              <a:t>Recordings</a:t>
            </a:r>
            <a:r>
              <a:rPr lang="en-US" sz="2450"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br>
              <a:rPr lang="en-US" sz="2450"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450">
                <a:latin typeface="Trebuchet MS"/>
                <a:ea typeface="Trebuchet MS"/>
                <a:cs typeface="Trebuchet MS"/>
                <a:sym typeface="Trebuchet MS"/>
              </a:rPr>
              <a:t>https://www.youtube.com/playlist?list=PLMGLE8uIDUqo</a:t>
            </a:r>
            <a:endParaRPr b="0" i="0" sz="245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70f83a6af_0_4"/>
          <p:cNvSpPr txBox="1"/>
          <p:nvPr/>
        </p:nvSpPr>
        <p:spPr>
          <a:xfrm>
            <a:off x="5577254" y="2746250"/>
            <a:ext cx="1470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End</a:t>
            </a:r>
            <a:endParaRPr b="0" i="0" sz="245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2026-08-09T18:26:55Z</dcterms:created>
  <dc:creator>OpenAI</dc:creator>
</cp:coreProperties>
</file>