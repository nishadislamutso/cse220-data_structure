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A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A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8755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Tree Implementation in Java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21792" y="1783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representation, driver code, array-to-tree conversion, traversal, level, height, and size</a:t>
            </a:r>
            <a:endParaRPr lang="en-US" sz="2000" dirty="0"/>
          </a:p>
        </p:txBody>
      </p:sp>
      <p:pic>
        <p:nvPicPr>
          <p:cNvPr id="4" name="Image 0" descr="/mnt/data/arr2Tre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7334" y="2615184"/>
            <a:ext cx="4132573" cy="34564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CSE220 | Binary Tree Java Lecture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A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Tree Representation Using Array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 w="12700">
            <a:solidFill>
              <a:srgbClr val="8B1D2C"/>
            </a:solidFill>
            <a:prstDash val="solid"/>
          </a:ln>
        </p:spPr>
      </p:sp>
      <p:pic>
        <p:nvPicPr>
          <p:cNvPr id="4" name="Image 0" descr="/mnt/data/BT_array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038" y="960120"/>
            <a:ext cx="4779005" cy="5468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63640" y="932688"/>
            <a:ext cx="5577840" cy="1417320"/>
          </a:xfrm>
          <a:prstGeom prst="rect">
            <a:avLst/>
          </a:prstGeom>
          <a:solidFill>
            <a:srgbClr val="F4F6F8"/>
          </a:solidFill>
          <a:ln>
            <a:solidFill>
              <a:srgbClr val="D8DE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rules: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Root is stored at index 1.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Index 0 is unused.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 a node at index i: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left child = 2i, right child = 2i + 1.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 height h, maximum array length = 2^(h+1).</a:t>
            </a:r>
            <a:endParaRPr lang="en-US" sz="1340" dirty="0"/>
          </a:p>
        </p:txBody>
      </p:sp>
      <p:sp>
        <p:nvSpPr>
          <p:cNvPr id="6" name="Text 3"/>
          <p:cNvSpPr/>
          <p:nvPr/>
        </p:nvSpPr>
        <p:spPr>
          <a:xfrm>
            <a:off x="6263640" y="2542032"/>
            <a:ext cx="5577840" cy="3785616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Tree {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Object[] tree;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Tree(Object root, int length) {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Index 0 is unused; 1-based indexing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tree = new Object[length];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tree[1] = root;    // root at index 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setChild(int parentIndex,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String side,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Object child) {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childIndex;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(side.equals("left")) {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childIndex = parentIndex * 2;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if (side.equals("right")) {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childIndex = parentIndex * 2 + 1;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{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tree[childIndex] = child;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70" dirty="0"/>
          </a:p>
        </p:txBody>
      </p:sp>
      <p:sp>
        <p:nvSpPr>
          <p:cNvPr id="7" name="Text 4"/>
          <p:cNvSpPr/>
          <p:nvPr/>
        </p:nvSpPr>
        <p:spPr>
          <a:xfrm>
            <a:off x="32004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CSE220 | Binary Tree Java Implementation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A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Code for Array Representation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 w="12700">
            <a:solidFill>
              <a:srgbClr val="8B1D2C"/>
            </a:solidFill>
            <a:prstDash val="solid"/>
          </a:ln>
        </p:spPr>
      </p:sp>
      <p:pic>
        <p:nvPicPr>
          <p:cNvPr id="4" name="Image 0" descr="/mnt/data/BT_array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544" y="960120"/>
            <a:ext cx="4715071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06440" y="932688"/>
            <a:ext cx="6080760" cy="566928"/>
          </a:xfrm>
          <a:prstGeom prst="rect">
            <a:avLst/>
          </a:prstGeom>
          <a:solidFill>
            <a:srgbClr val="F4F6F8"/>
          </a:solidFill>
          <a:ln>
            <a:solidFill>
              <a:srgbClr val="D8DE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9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driver creates the tree, inserts children using the 2i / 2i+1 rule, and prints the final array representation.</a:t>
            </a:r>
            <a:endParaRPr lang="en-US" sz="1390" dirty="0"/>
          </a:p>
        </p:txBody>
      </p:sp>
      <p:sp>
        <p:nvSpPr>
          <p:cNvPr id="6" name="Text 3"/>
          <p:cNvSpPr/>
          <p:nvPr/>
        </p:nvSpPr>
        <p:spPr>
          <a:xfrm>
            <a:off x="5806440" y="1737360"/>
            <a:ext cx="6080760" cy="452628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Driver code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main(String[] args) 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 tree = new Tree(11, 8); // 0 to 7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Set children for each node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tree.setChild(1, "left", 22);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tree.setChild(1, "right", 33);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tree.setChild(2, "left", 44);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tree.setChild(2, "right", 55);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tree.setChild(3, "left", 66);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tree.setChild(3, "right", 77);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Print the tree array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tree.printTreeArray();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- 11 22 33 44 55 66 77</a:t>
            </a:r>
            <a:endParaRPr lang="en-US" sz="1060" dirty="0"/>
          </a:p>
        </p:txBody>
      </p:sp>
      <p:sp>
        <p:nvSpPr>
          <p:cNvPr id="7" name="Text 4"/>
          <p:cNvSpPr/>
          <p:nvPr/>
        </p:nvSpPr>
        <p:spPr>
          <a:xfrm>
            <a:off x="32004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CSE220 | Binary Tree Java Implementation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A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Printing the Tree Array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 w="12700">
            <a:solidFill>
              <a:srgbClr val="8B1D2C"/>
            </a:solidFill>
            <a:prstDash val="solid"/>
          </a:ln>
        </p:spPr>
      </p:sp>
      <p:pic>
        <p:nvPicPr>
          <p:cNvPr id="4" name="Image 0" descr="/mnt/data/BT_array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585" y="960120"/>
            <a:ext cx="4755030" cy="5440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72200" y="960120"/>
            <a:ext cx="5623560" cy="822960"/>
          </a:xfrm>
          <a:prstGeom prst="rect">
            <a:avLst/>
          </a:prstGeom>
          <a:solidFill>
            <a:srgbClr val="F4F6F8"/>
          </a:solidFill>
          <a:ln>
            <a:solidFill>
              <a:srgbClr val="D8DE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 scans the whole array. Actual values are printed normally; null positions are printed as "-" to show empty locations.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172200" y="2057400"/>
            <a:ext cx="5623560" cy="406908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printTreeArray()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tree.length; i++)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(tree[i] != null)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System.out.print(tree[i] + " 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System.out.print("- 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CSE220 | Binary Tree Java Implementation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A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Function: arrToTree()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 w="12700">
            <a:solidFill>
              <a:srgbClr val="8B1D2C"/>
            </a:solidFill>
            <a:prstDash val="solid"/>
          </a:ln>
        </p:spPr>
      </p:sp>
      <p:pic>
        <p:nvPicPr>
          <p:cNvPr id="4" name="Image 0" descr="/mnt/data/arr2Tre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14004"/>
            <a:ext cx="5897880" cy="49329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46520" y="960120"/>
            <a:ext cx="5440680" cy="822960"/>
          </a:xfrm>
          <a:prstGeom prst="rect">
            <a:avLst/>
          </a:prstGeom>
          <a:solidFill>
            <a:srgbClr val="F4F6F8"/>
          </a:solidFill>
          <a:ln>
            <a:solidFill>
              <a:srgbClr val="D8DE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convert the array representation into linked nodes. Each recursive call creates one node and then builds its left and right subtrees.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46520" y="2011680"/>
            <a:ext cx="5440680" cy="425196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TNode {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val;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TNode left, right;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TNode(String val) {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this.val = val;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TNode arrToTree(String[] arr, int i) {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Base case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 &gt;= arr.length || arr[i] == null) {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null;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Recursive case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TNode root = new TNode(arr[i]);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root.left  = arrToTree(arr, 2 * i);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root.right = arrToTree(arr, 2 * i + 1);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root;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70" dirty="0"/>
          </a:p>
        </p:txBody>
      </p:sp>
      <p:sp>
        <p:nvSpPr>
          <p:cNvPr id="7" name="Text 4"/>
          <p:cNvSpPr/>
          <p:nvPr/>
        </p:nvSpPr>
        <p:spPr>
          <a:xfrm>
            <a:off x="32004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CSE220 | Binary Tree Java Implementation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A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Tree Traversal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 w="12700">
            <a:solidFill>
              <a:srgbClr val="8B1D2C"/>
            </a:solidFill>
            <a:prstDash val="solid"/>
          </a:ln>
        </p:spPr>
      </p:sp>
      <p:pic>
        <p:nvPicPr>
          <p:cNvPr id="4" name="Image 0" descr="/mnt/data/arr2Tre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96400"/>
            <a:ext cx="4983480" cy="4168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960120"/>
            <a:ext cx="6291072" cy="566928"/>
          </a:xfrm>
          <a:prstGeom prst="rect">
            <a:avLst/>
          </a:prstGeom>
          <a:solidFill>
            <a:srgbClr val="F4F6F8"/>
          </a:solidFill>
          <a:ln>
            <a:solidFill>
              <a:srgbClr val="D8DE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Traversal means visiting all nodes in a specific order. The position of the root determines the traversal type.</a:t>
            </a:r>
            <a:endParaRPr lang="en-US" sz="1430" dirty="0"/>
          </a:p>
        </p:txBody>
      </p:sp>
      <p:sp>
        <p:nvSpPr>
          <p:cNvPr id="6" name="Text 3"/>
          <p:cNvSpPr/>
          <p:nvPr/>
        </p:nvSpPr>
        <p:spPr>
          <a:xfrm>
            <a:off x="5577840" y="1737360"/>
            <a:ext cx="6291072" cy="461772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Preorder: Root, Left, Right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printPreOrder(TNode root) {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(root == null) return;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System.out.print(root.val + " ");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printPreOrder(root.left);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printPreOrder(root.right);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Inorder: Left, Root, Right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printInOrder(TNode root) {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(root == null) return;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printInOrder(root.left);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System.out.print(root.val + " ");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printInOrder(root.right);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Postorder: Left, Right, Root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printPostOrder(TNode root) {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(root == null) return;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printPostOrder(root.left);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printPostOrder(root.right);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System.out.print(root.val + " ");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90" dirty="0"/>
          </a:p>
        </p:txBody>
      </p:sp>
      <p:sp>
        <p:nvSpPr>
          <p:cNvPr id="7" name="Text 4"/>
          <p:cNvSpPr/>
          <p:nvPr/>
        </p:nvSpPr>
        <p:spPr>
          <a:xfrm>
            <a:off x="32004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CSE220 | Binary Tree Java Implementation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A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Level of a Node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 w="12700">
            <a:solidFill>
              <a:srgbClr val="8B1D2C"/>
            </a:solidFill>
            <a:prstDash val="solid"/>
          </a:ln>
        </p:spPr>
      </p:sp>
      <p:pic>
        <p:nvPicPr>
          <p:cNvPr id="4" name="Image 0" descr="/mnt/data/level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99"/>
            <a:ext cx="5897880" cy="52851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46520" y="932688"/>
            <a:ext cx="5440680" cy="804672"/>
          </a:xfrm>
          <a:prstGeom prst="rect">
            <a:avLst/>
          </a:prstGeom>
          <a:solidFill>
            <a:srgbClr val="F4F6F8"/>
          </a:solidFill>
          <a:ln>
            <a:solidFill>
              <a:srgbClr val="D8DE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Level/depth = number of edges from the root to the node. Start with level 0 at the root and increase by 1 in each recursive call.</a:t>
            </a:r>
            <a:endParaRPr lang="en-US" sz="1410" dirty="0"/>
          </a:p>
        </p:txBody>
      </p:sp>
      <p:sp>
        <p:nvSpPr>
          <p:cNvPr id="6" name="Text 3"/>
          <p:cNvSpPr/>
          <p:nvPr/>
        </p:nvSpPr>
        <p:spPr>
          <a:xfrm>
            <a:off x="6446520" y="1993392"/>
            <a:ext cx="5440680" cy="434340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int getLevel(TNode root,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String value,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int level) 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(root == null) return -1;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(root.val.equals(value)) 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level;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leftLevel = getLevel(root.left,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value,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level + 1);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rightLevel = getLevel(root.right,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value,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level + 1);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Math.max(leftLevel, rightLevel);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32004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CSE220 | Binary Tree Java Implementation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A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Level Using Parent Pointer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 w="12700">
            <a:solidFill>
              <a:srgbClr val="8B1D2C"/>
            </a:solidFill>
            <a:prstDash val="solid"/>
          </a:ln>
        </p:spPr>
      </p:sp>
      <p:pic>
        <p:nvPicPr>
          <p:cNvPr id="4" name="Image 0" descr="/mnt/data/level3_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95485"/>
            <a:ext cx="5806440" cy="46236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960120"/>
            <a:ext cx="5486400" cy="658368"/>
          </a:xfrm>
          <a:prstGeom prst="rect">
            <a:avLst/>
          </a:prstGeom>
          <a:solidFill>
            <a:srgbClr val="F4F1E6"/>
          </a:solidFill>
          <a:ln>
            <a:solidFill>
              <a:srgbClr val="F4F1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B1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level(n) = 0, if n is the root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8B1D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level(n) = 1 + level(parent(n)), otherwise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0" y="1828800"/>
            <a:ext cx="5486400" cy="443484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TPNode {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val;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TPNode left, right, parent;</a:t>
            </a:r>
            <a:endParaRPr lang="en-US" sz="1090" dirty="0"/>
          </a:p>
          <a:p>
            <a:pPr indent="0" marL="0">
              <a:buNone/>
            </a:pP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TPNode(String val, TPNode parent) {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this.val = val;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this.parent = parent;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90" dirty="0"/>
          </a:p>
          <a:p>
            <a:pPr indent="0" marL="0">
              <a:buNone/>
            </a:pP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int getLevelWithParent(TPNode node) {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(node == null) return -1;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(node.parent == null) return 0;</a:t>
            </a:r>
            <a:endParaRPr lang="en-US" sz="1090" dirty="0"/>
          </a:p>
          <a:p>
            <a:pPr indent="0" marL="0">
              <a:buNone/>
            </a:pP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1 + getLevelWithParent(node.parent);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32004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CSE220 | Binary Tree Java Implementation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A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Node Before Computing Parent-Based Level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 w="12700">
            <a:solidFill>
              <a:srgbClr val="8B1D2C"/>
            </a:solidFill>
            <a:prstDash val="solid"/>
          </a:ln>
        </p:spPr>
      </p:sp>
      <p:pic>
        <p:nvPicPr>
          <p:cNvPr id="4" name="Image 0" descr="/mnt/data/level3_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595882"/>
            <a:ext cx="5074920" cy="40411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3560" y="960120"/>
            <a:ext cx="6263640" cy="566928"/>
          </a:xfrm>
          <a:prstGeom prst="rect">
            <a:avLst/>
          </a:prstGeom>
          <a:solidFill>
            <a:srgbClr val="F4F6F8"/>
          </a:solidFill>
          <a:ln>
            <a:solidFill>
              <a:srgbClr val="D8DE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only the target value is known, first find the node. Then compute its level by using the parent pointer.</a:t>
            </a:r>
            <a:endParaRPr lang="en-US" sz="1420" dirty="0"/>
          </a:p>
        </p:txBody>
      </p:sp>
      <p:sp>
        <p:nvSpPr>
          <p:cNvPr id="6" name="Text 3"/>
          <p:cNvSpPr/>
          <p:nvPr/>
        </p:nvSpPr>
        <p:spPr>
          <a:xfrm>
            <a:off x="5623560" y="1691640"/>
            <a:ext cx="6263640" cy="452628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TPNode findNode(TPNode root,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String target) {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(root == null) return null;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(root.val.equals(target)) return root;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TPNode left = findNode(root.left, target);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(left != null) return left;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findNode(root.right, target);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TPNode node = findNode(root, "H");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level = getLevelWithParent(node);</a:t>
            </a:r>
            <a:endParaRPr lang="en-US" sz="1140" dirty="0"/>
          </a:p>
        </p:txBody>
      </p:sp>
      <p:sp>
        <p:nvSpPr>
          <p:cNvPr id="7" name="Text 4"/>
          <p:cNvSpPr/>
          <p:nvPr/>
        </p:nvSpPr>
        <p:spPr>
          <a:xfrm>
            <a:off x="32004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CSE220 | Binary Tree Java Implementation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A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Height of a Node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 w="12700">
            <a:solidFill>
              <a:srgbClr val="8B1D2C"/>
            </a:solidFill>
            <a:prstDash val="solid"/>
          </a:ln>
        </p:spPr>
      </p:sp>
      <p:pic>
        <p:nvPicPr>
          <p:cNvPr id="4" name="Image 0" descr="/mnt/data/heigh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998" y="960120"/>
            <a:ext cx="5567411" cy="5349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29400" y="960120"/>
            <a:ext cx="5212080" cy="868680"/>
          </a:xfrm>
          <a:prstGeom prst="rect">
            <a:avLst/>
          </a:prstGeom>
          <a:solidFill>
            <a:srgbClr val="F4F6F8"/>
          </a:solidFill>
          <a:ln>
            <a:solidFill>
              <a:srgbClr val="D8DE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 = length of the longest path from a node to one of its leaf nodes. Empty subtree height is -1; therefore, a leaf node has height 0.</a:t>
            </a:r>
            <a:endParaRPr lang="en-US" sz="1420" dirty="0"/>
          </a:p>
        </p:txBody>
      </p:sp>
      <p:sp>
        <p:nvSpPr>
          <p:cNvPr id="6" name="Text 3"/>
          <p:cNvSpPr/>
          <p:nvPr/>
        </p:nvSpPr>
        <p:spPr>
          <a:xfrm>
            <a:off x="6629400" y="2057400"/>
            <a:ext cx="5212080" cy="416052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int getHeight(TNode node) {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(node == null) {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leftHeight = getHeight(node.left);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rightHeight = getHeight(node.right);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1 + Math.max(leftHeight,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rightHeight);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Example: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Height of A = 3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Height of B = 2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Height of F = 1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Height of leaf = 0</a:t>
            </a:r>
            <a:endParaRPr lang="en-US" sz="1140" dirty="0"/>
          </a:p>
        </p:txBody>
      </p:sp>
      <p:sp>
        <p:nvSpPr>
          <p:cNvPr id="7" name="Text 4"/>
          <p:cNvSpPr/>
          <p:nvPr/>
        </p:nvSpPr>
        <p:spPr>
          <a:xfrm>
            <a:off x="32004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CSE220 | Binary Tree Java Implementation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A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Size of a Binary Tree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 w="12700">
            <a:solidFill>
              <a:srgbClr val="8B1D2C"/>
            </a:solidFill>
            <a:prstDash val="solid"/>
          </a:ln>
        </p:spPr>
      </p:sp>
      <p:pic>
        <p:nvPicPr>
          <p:cNvPr id="4" name="Image 0" descr="/mnt/data/siz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28" y="960120"/>
            <a:ext cx="4087423" cy="5349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06440" y="960120"/>
            <a:ext cx="5943600" cy="640080"/>
          </a:xfrm>
          <a:prstGeom prst="rect">
            <a:avLst/>
          </a:prstGeom>
          <a:solidFill>
            <a:srgbClr val="F4F6F8"/>
          </a:solidFill>
          <a:ln>
            <a:solidFill>
              <a:srgbClr val="D8DE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= total number of actual nodes in the tree. Null links are not counted as nodes.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806440" y="1828800"/>
            <a:ext cx="5943600" cy="443484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int getSize(TNode node) {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(node == null) {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0;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10" dirty="0"/>
          </a:p>
          <a:p>
            <a:pPr indent="0" marL="0">
              <a:buNone/>
            </a:pP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1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 getSize(node.left)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 getSize(node.right);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10" dirty="0"/>
          </a:p>
          <a:p>
            <a:pPr indent="0" marL="0">
              <a:buNone/>
            </a:pP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Meaning: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current node + left subtree size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+ right subtree size</a:t>
            </a:r>
            <a:endParaRPr lang="en-US" sz="1310" dirty="0"/>
          </a:p>
        </p:txBody>
      </p:sp>
      <p:sp>
        <p:nvSpPr>
          <p:cNvPr id="7" name="Text 4"/>
          <p:cNvSpPr/>
          <p:nvPr/>
        </p:nvSpPr>
        <p:spPr>
          <a:xfrm>
            <a:off x="32004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CSE220 | Binary Tree Java Implementation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A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Tree Java Methods: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11475720" cy="27432"/>
          </a:xfrm>
          <a:prstGeom prst="rect">
            <a:avLst/>
          </a:prstGeom>
          <a:solidFill>
            <a:srgbClr val="8B1D2C"/>
          </a:solidFill>
          <a:ln w="12700">
            <a:solidFill>
              <a:srgbClr val="8B1D2C"/>
            </a:solidFill>
            <a:prstDash val="solid"/>
          </a:ln>
        </p:spPr>
      </p:sp>
      <p:pic>
        <p:nvPicPr>
          <p:cNvPr id="4" name="Image 0" descr="/mnt/data/arr2Tre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6720"/>
            <a:ext cx="5074920" cy="42445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06440" y="1234440"/>
            <a:ext cx="598932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Array representation: root at index 1; left = 2i; right = 2i + 1.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Driver code: builds the tree by assigning children to parent indices.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arrToTree(): recursively converts array entries into linked nodes.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Traversal: preorder, inorder, and postorder.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Level: number of edges from root to target.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Height: longest path from node to leaf.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Size: total number of actual nodes.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806440" y="5532120"/>
            <a:ext cx="5989320" cy="685800"/>
          </a:xfrm>
          <a:prstGeom prst="rect">
            <a:avLst/>
          </a:prstGeom>
          <a:solidFill>
            <a:srgbClr val="F4F6F8"/>
          </a:solidFill>
          <a:ln>
            <a:solidFill>
              <a:srgbClr val="D8DEE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recursion pattern: check the base case first, then recursively process the left and right subtrees.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0040" y="6519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CSE220 | Binary Tree Java Implementation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A7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Tree Java Implementation</dc:title>
  <dc:subject>CSE220 Binary Tree Java Lecture</dc:subject>
  <dc:creator>OpenAI</dc:creator>
  <cp:lastModifiedBy>OpenAI</cp:lastModifiedBy>
  <cp:revision>1</cp:revision>
  <dcterms:created xsi:type="dcterms:W3CDTF">2026-08-09T18:32:48Z</dcterms:created>
  <dcterms:modified xsi:type="dcterms:W3CDTF">2026-08-09T18:32:48Z</dcterms:modified>
</cp:coreProperties>
</file>