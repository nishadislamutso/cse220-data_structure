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ZWqa5f4mBE+V+xYi30/V1wrtZ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99975a625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f99975a625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99975a625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f99975a625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f99975a625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9975a625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99975a625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99975a625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594360" y="10515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Binary Tree Implementation in Java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21792" y="18745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Array representation, array-to-tree conversion, traversal, level, height, and size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rr2Tree1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10007"/>
          <a:stretch/>
        </p:blipFill>
        <p:spPr>
          <a:xfrm>
            <a:off x="3392401" y="2495200"/>
            <a:ext cx="5346942" cy="4024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320040" y="651967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 Java Lecture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Binary Tree Representation Using Array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T_array1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12080"/>
          <a:stretch/>
        </p:blipFill>
        <p:spPr>
          <a:xfrm>
            <a:off x="0" y="749800"/>
            <a:ext cx="6055325" cy="609147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5995600" y="749788"/>
            <a:ext cx="5623500" cy="12984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</a:rPr>
              <a:t>Key rules:</a:t>
            </a:r>
            <a:endParaRPr b="1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Root is stored at index 1.</a:t>
            </a:r>
            <a:r>
              <a:rPr lang="en-US" sz="1650">
                <a:solidFill>
                  <a:schemeClr val="dk1"/>
                </a:solidFill>
              </a:rPr>
              <a:t> </a:t>
            </a: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Index 0 is unused.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650" u="none" cap="none" strike="noStrike">
                <a:solidFill>
                  <a:srgbClr val="1F2937"/>
                </a:solidFill>
              </a:rPr>
              <a:t>For node at index i: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5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left child = 2i</a:t>
            </a: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5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right child = 2i + 1.</a:t>
            </a:r>
            <a:endParaRPr b="0" i="0" sz="165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For height h, maximum array length = 2^(h+1).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113300" y="2048200"/>
            <a:ext cx="6055200" cy="4698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class Tree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Object[] tree;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t/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public Tree(Object root, int length)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// 1-based indexing: index 0 unused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 = new Object[length];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tree[1] = root;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t/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public void setChild(int parentIndex,</a:t>
            </a:r>
            <a:r>
              <a:rPr lang="en-US" sz="1510">
                <a:solidFill>
                  <a:schemeClr val="dk1"/>
                </a:solidFill>
              </a:rPr>
              <a:t> </a:t>
            </a: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side,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Object child)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int childIndex;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(side.equals("left"))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childIndex = parentIndex * 2;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 else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childIndex = parentIndex * 2 + 1;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tree[childIndex] = child;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f99975a625_0_4"/>
          <p:cNvSpPr txBox="1"/>
          <p:nvPr/>
        </p:nvSpPr>
        <p:spPr>
          <a:xfrm>
            <a:off x="320040" y="137160"/>
            <a:ext cx="116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Array Representation: Driver Code Example</a:t>
            </a:r>
            <a:endParaRPr/>
          </a:p>
        </p:txBody>
      </p:sp>
      <p:sp>
        <p:nvSpPr>
          <p:cNvPr id="40" name="Google Shape;40;g3f99975a625_0_4"/>
          <p:cNvSpPr txBox="1"/>
          <p:nvPr/>
        </p:nvSpPr>
        <p:spPr>
          <a:xfrm>
            <a:off x="5653200" y="777300"/>
            <a:ext cx="66036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D7B20"/>
                </a:solidFill>
                <a:latin typeface="Courier New"/>
                <a:ea typeface="Courier New"/>
                <a:cs typeface="Courier New"/>
                <a:sym typeface="Courier New"/>
              </a:rPr>
              <a:t># Driver Code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tree = Tree(root=11, length=8)  </a:t>
            </a:r>
            <a:br>
              <a:rPr lang="en-US" sz="1600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# Length is 8 to accommodate up to 7 nodes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11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/    \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22      33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/  \    /  \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44   55  66   77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9191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600">
                <a:solidFill>
                  <a:srgbClr val="3D7B2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en-US" sz="1600">
                <a:solidFill>
                  <a:srgbClr val="3D7B2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rgbClr val="3D7B20"/>
                </a:solidFill>
                <a:latin typeface="Courier New"/>
                <a:ea typeface="Courier New"/>
                <a:cs typeface="Courier New"/>
                <a:sym typeface="Courier New"/>
              </a:rPr>
              <a:t># Set children for each node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tree.set_child(parent_index=1, side='left', child_val=22)</a:t>
            </a:r>
            <a:endParaRPr sz="19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tree.set_child(parent_index=1, side='right', child_val=33)</a:t>
            </a:r>
            <a:endParaRPr sz="19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91919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tree.set_child(parent_index=2, side='left', child_val=44)</a:t>
            </a:r>
            <a:endParaRPr sz="1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91919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tree.set_child(parent_index=2, side='right', child_val=55)</a:t>
            </a:r>
            <a:endParaRPr sz="1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tree.set_child(parent_index=3, side='left', child_val=66)</a:t>
            </a:r>
            <a:endParaRPr sz="19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tree.set_child(parent_index=3, side='right', child_val=77)</a:t>
            </a:r>
            <a:endParaRPr sz="19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9191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D7B20"/>
                </a:solidFill>
                <a:latin typeface="Trebuchet MS"/>
                <a:ea typeface="Trebuchet MS"/>
                <a:cs typeface="Trebuchet MS"/>
                <a:sym typeface="Trebuchet MS"/>
              </a:rPr>
              <a:t># Print the tree structure with indices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91919"/>
                </a:solidFill>
                <a:latin typeface="Trebuchet MS"/>
                <a:ea typeface="Trebuchet MS"/>
                <a:cs typeface="Trebuchet MS"/>
                <a:sym typeface="Trebuchet MS"/>
              </a:rPr>
              <a:t>tree.print_tree_array()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g3f99975a625_0_4"/>
          <p:cNvSpPr/>
          <p:nvPr/>
        </p:nvSpPr>
        <p:spPr>
          <a:xfrm>
            <a:off x="138300" y="915025"/>
            <a:ext cx="5294100" cy="4946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class Tree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Object[] tree;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t/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public Tree(Object root, int length)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// 1-based indexing: index 0 unused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 = new Object[length];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tree[1] = root;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t/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public void setChild(int parentIndex,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String side,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Object child)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int childIndex;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(side.equals("left"))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childIndex = parentIndex * 2;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 else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childIndex = parentIndex * 2 + 1;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tree[childIndex] = child;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T_array1.png" id="42" name="Google Shape;42;g3f99975a625_0_4"/>
          <p:cNvPicPr preferRelativeResize="0"/>
          <p:nvPr/>
        </p:nvPicPr>
        <p:blipFill rotWithShape="1">
          <a:blip r:embed="rId3">
            <a:alphaModFix/>
          </a:blip>
          <a:srcRect b="14764" l="0" r="0" t="24678"/>
          <a:stretch/>
        </p:blipFill>
        <p:spPr>
          <a:xfrm>
            <a:off x="5653200" y="807250"/>
            <a:ext cx="4274601" cy="29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Printing the Array Representation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T_array1.png" id="50" name="Google Shape;50;p3"/>
          <p:cNvPicPr preferRelativeResize="0"/>
          <p:nvPr/>
        </p:nvPicPr>
        <p:blipFill rotWithShape="1">
          <a:blip r:embed="rId3">
            <a:alphaModFix/>
          </a:blip>
          <a:srcRect b="0" l="0" r="0" t="11095"/>
          <a:stretch/>
        </p:blipFill>
        <p:spPr>
          <a:xfrm>
            <a:off x="384825" y="1524725"/>
            <a:ext cx="5180099" cy="52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430663" y="828488"/>
            <a:ext cx="11410800" cy="645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array stores tree nodes level by level. </a:t>
            </a:r>
            <a:b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Null or empty positions can be printed as "-" to show missing children clearly.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172200" y="2057400"/>
            <a:ext cx="5623560" cy="4069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void printTreeArray() {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tree.length; i++) {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(tree[i] != null) {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System.out.print(tree[i] + " ");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 else {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System.out.print("- ");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System.out.println();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Output for the example: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- 11 22 33 44 55 66 77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Recursive Function: arrToTree()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42963" y="834475"/>
            <a:ext cx="11475600" cy="8229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Purpose: convert the array representation into linked nodes. </a:t>
            </a:r>
            <a:br>
              <a:rPr b="0" i="0" lang="en-US" sz="1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recursive call creates one node and then builds its left and right subtrees.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355075" y="1714600"/>
            <a:ext cx="5836500" cy="5029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TNode arrToTree(String[] arr, int i) {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# Base Case: Check if index is out of bounds or </a:t>
            </a:r>
            <a:b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the</a:t>
            </a:r>
            <a:r>
              <a:rPr lang="en-US" sz="14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current element is None</a:t>
            </a:r>
            <a:endParaRPr b="0" i="0" sz="146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(i &gt;= arr.length || arr[i] == null) {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null;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# Recursive Case:</a:t>
            </a:r>
            <a:endParaRPr b="0" i="0" sz="146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# 1. Create a node for the current index</a:t>
            </a:r>
            <a:endParaRPr sz="146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TNode root = new TNode(arr[i]);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# 2. Set the left child by recursively calling for index 2 * i</a:t>
            </a:r>
            <a:endParaRPr b="0" i="0" sz="146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root.left  = arrToTree(arr, 2 * i);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# 3. Set the right child by recursively calling for index 2 * i + 1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root.right = arrToTree(arr, 2 * i + 1);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root;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20040" y="651967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rr2Tree1.png" id="65" name="Google Shape;65;p4"/>
          <p:cNvPicPr preferRelativeResize="0"/>
          <p:nvPr/>
        </p:nvPicPr>
        <p:blipFill rotWithShape="1">
          <a:blip r:embed="rId3">
            <a:alphaModFix/>
          </a:blip>
          <a:srcRect b="0" l="1816" r="0" t="11583"/>
          <a:stretch/>
        </p:blipFill>
        <p:spPr>
          <a:xfrm>
            <a:off x="0" y="1714600"/>
            <a:ext cx="6431425" cy="48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 txBox="1"/>
          <p:nvPr/>
        </p:nvSpPr>
        <p:spPr>
          <a:xfrm>
            <a:off x="9023325" y="66475"/>
            <a:ext cx="2958000" cy="159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class TNode {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    String val;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    TNode left, right;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    TNode(String val) {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        this.val = val;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    }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}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9975a625_0_32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Binary Tree Traversal: Preorder, Inorder, Postorder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99975a625_0_32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rr2Tree1.png" id="74" name="Google Shape;74;g3f99975a625_0_32"/>
          <p:cNvPicPr preferRelativeResize="0"/>
          <p:nvPr/>
        </p:nvPicPr>
        <p:blipFill rotWithShape="1">
          <a:blip r:embed="rId3">
            <a:alphaModFix/>
          </a:blip>
          <a:srcRect b="0" l="1816" r="0" t="11583"/>
          <a:stretch/>
        </p:blipFill>
        <p:spPr>
          <a:xfrm>
            <a:off x="0" y="1714600"/>
            <a:ext cx="6431425" cy="48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f99975a625_0_32"/>
          <p:cNvSpPr/>
          <p:nvPr/>
        </p:nvSpPr>
        <p:spPr>
          <a:xfrm>
            <a:off x="347465" y="960125"/>
            <a:ext cx="11521500" cy="567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30"/>
              <a:buFont typeface="Arial"/>
              <a:buNone/>
            </a:pPr>
            <a:r>
              <a:rPr b="0" i="0" lang="en-US" sz="17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Traversal means visiting all nodes in a specific order. The position of the root determines the traversal type.</a:t>
            </a:r>
            <a:endParaRPr b="0" i="0" sz="1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f99975a625_0_32"/>
          <p:cNvSpPr/>
          <p:nvPr/>
        </p:nvSpPr>
        <p:spPr>
          <a:xfrm>
            <a:off x="6431424" y="1710025"/>
            <a:ext cx="5638200" cy="461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void printPreOrder(TNode root) {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return;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System.out.print(root.val + " ");  // Root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printPreOrder(root.left);           // Left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printPreOrder(root.right);          // Right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void printInOrder(TNode root) {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return;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printInOrder(root.left);            // Left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System.out.print(root.val + " ");  // Root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printInOrder(root.right);           // Right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void printPostOrder(TNode root) {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return;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printPostOrder(root.left);          // Left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printPostOrder(root.right);         // Right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System.out.print(root.val + " ");  // Root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f99975a625_0_32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f99975a625_0_32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Get Level of a Node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evel1.png" id="86" name="Google Shape;86;p6"/>
          <p:cNvPicPr preferRelativeResize="0"/>
          <p:nvPr/>
        </p:nvPicPr>
        <p:blipFill rotWithShape="1">
          <a:blip r:embed="rId3">
            <a:alphaModFix/>
          </a:blip>
          <a:srcRect b="4242" l="9332" r="4580" t="23362"/>
          <a:stretch/>
        </p:blipFill>
        <p:spPr>
          <a:xfrm>
            <a:off x="73600" y="1952225"/>
            <a:ext cx="6470347" cy="48762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255425" y="880138"/>
            <a:ext cx="11475600" cy="804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10"/>
              <a:buFont typeface="Arial"/>
              <a:buNone/>
            </a:pPr>
            <a:r>
              <a:rPr b="0" i="0" lang="en-US" sz="16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Level/depth = number of edges from the root to the node. Start with level 0 at the root and increase by 1 in each recursive call.</a:t>
            </a:r>
            <a:endParaRPr b="0" i="0" sz="1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608395" y="1952230"/>
            <a:ext cx="5440800" cy="4343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getLevel(TNode root,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value,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int level) {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{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-1;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(root.val.equals(value)) {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level;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leftLevel = getLevel(root.left,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value,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level + 1);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rightLevel = getLevel(root.right,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value,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level + 1);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Math.max(leftLevel, rightLevel);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20040" y="651967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Finding the Node Before Computing Level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evel3_parent.png" id="98" name="Google Shape;98;p8"/>
          <p:cNvPicPr preferRelativeResize="0"/>
          <p:nvPr/>
        </p:nvPicPr>
        <p:blipFill rotWithShape="1">
          <a:blip r:embed="rId3">
            <a:alphaModFix/>
          </a:blip>
          <a:srcRect b="0" l="0" r="0" t="10977"/>
          <a:stretch/>
        </p:blipFill>
        <p:spPr>
          <a:xfrm>
            <a:off x="588625" y="1246602"/>
            <a:ext cx="7848811" cy="556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468275" y="868650"/>
            <a:ext cx="11723400" cy="567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20"/>
              <a:buFont typeface="Arial"/>
              <a:buNone/>
            </a:pPr>
            <a:r>
              <a:rPr b="0" i="0" lang="en-US" sz="16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First search the node by value.  If found, compute the level by moving through parent pointers.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6650750" y="2812475"/>
            <a:ext cx="5145000" cy="3871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TPNode findNode(TPNode root,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String target) {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return null;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(root.val.equals(target)) return root;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TPNode left = findNode(root.left, target);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(left != null) return left;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findNode(root.right, target);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Use together: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TPNode node = findNode(root, "H");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int level = getLevelWithParent(node);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320040" y="651967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99975a625_0_20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Get Height of a Node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99975a625_0_20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height1.png" id="110" name="Google Shape;110;g3f99975a625_0_20"/>
          <p:cNvPicPr preferRelativeResize="0"/>
          <p:nvPr/>
        </p:nvPicPr>
        <p:blipFill rotWithShape="1">
          <a:blip r:embed="rId3">
            <a:alphaModFix/>
          </a:blip>
          <a:srcRect b="69970" l="2439" r="0" t="16240"/>
          <a:stretch/>
        </p:blipFill>
        <p:spPr>
          <a:xfrm>
            <a:off x="158175" y="1672225"/>
            <a:ext cx="7009852" cy="95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f99975a625_0_20"/>
          <p:cNvSpPr/>
          <p:nvPr/>
        </p:nvSpPr>
        <p:spPr>
          <a:xfrm>
            <a:off x="332810" y="803425"/>
            <a:ext cx="11450100" cy="8688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20"/>
              <a:buFont typeface="Arial"/>
              <a:buNone/>
            </a:pPr>
            <a:r>
              <a:rPr b="1" i="0" lang="en-US" sz="1620" u="none" cap="none" strike="noStrike">
                <a:solidFill>
                  <a:srgbClr val="1F2937"/>
                </a:solidFill>
              </a:rPr>
              <a:t>Height = length of the longest path from a node to one of its leaf nodes. </a:t>
            </a:r>
            <a:br>
              <a:rPr b="1" i="0" lang="en-US" sz="1620" u="none" cap="none" strike="noStrike">
                <a:solidFill>
                  <a:srgbClr val="1F2937"/>
                </a:solidFill>
              </a:rPr>
            </a:br>
            <a:r>
              <a:rPr b="1" i="0" lang="en-US" sz="1620" u="none" cap="none" strike="noStrike">
                <a:solidFill>
                  <a:srgbClr val="1F2937"/>
                </a:solidFill>
              </a:rPr>
              <a:t>Empty subtree height is -1, so a leaf node has height 0.</a:t>
            </a:r>
            <a:endParaRPr b="1" i="0" sz="1620" u="none" cap="none" strike="noStrike">
              <a:solidFill>
                <a:schemeClr val="dk1"/>
              </a:solidFill>
            </a:endParaRPr>
          </a:p>
        </p:txBody>
      </p:sp>
      <p:sp>
        <p:nvSpPr>
          <p:cNvPr id="112" name="Google Shape;112;g3f99975a625_0_20"/>
          <p:cNvSpPr/>
          <p:nvPr/>
        </p:nvSpPr>
        <p:spPr>
          <a:xfrm>
            <a:off x="7242625" y="1939675"/>
            <a:ext cx="4790400" cy="416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getHeight(TNode node) {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(node == null) {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-1;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Font typeface="Arial"/>
              <a:buNone/>
            </a:pPr>
            <a:r>
              <a:t/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leftHeight = getHeight(node.left);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rightHeight = getHeight(node.right);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Font typeface="Arial"/>
              <a:buNone/>
            </a:pPr>
            <a:r>
              <a:t/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1 + Math.max(leftHeight,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rightHeight);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Font typeface="Arial"/>
              <a:buNone/>
            </a:pPr>
            <a:r>
              <a:t/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Example: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Height of A = 3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Height of B = 2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Height of F = 1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4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Height of leaf = 0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99975a625_0_20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99975a625_0_20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height1.png" id="115" name="Google Shape;115;g3f99975a625_0_20"/>
          <p:cNvPicPr preferRelativeResize="0"/>
          <p:nvPr/>
        </p:nvPicPr>
        <p:blipFill rotWithShape="1">
          <a:blip r:embed="rId3">
            <a:alphaModFix/>
          </a:blip>
          <a:srcRect b="0" l="0" r="16199" t="35128"/>
          <a:stretch/>
        </p:blipFill>
        <p:spPr>
          <a:xfrm>
            <a:off x="915563" y="2726600"/>
            <a:ext cx="5495075" cy="4087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Get Size of a Binary Tree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ize1.png"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925" y="955688"/>
            <a:ext cx="4115174" cy="5385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/>
          <p:nvPr/>
        </p:nvSpPr>
        <p:spPr>
          <a:xfrm>
            <a:off x="5806440" y="960120"/>
            <a:ext cx="594360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i="0" lang="en-US" sz="1850" u="none" cap="none" strike="noStrike">
                <a:solidFill>
                  <a:srgbClr val="1F2937"/>
                </a:solidFill>
                <a:latin typeface="Trebuchet MS"/>
                <a:ea typeface="Trebuchet MS"/>
                <a:cs typeface="Trebuchet MS"/>
                <a:sym typeface="Trebuchet MS"/>
              </a:rPr>
              <a:t>Size = total number of actual nodes in the tree. </a:t>
            </a:r>
            <a:br>
              <a:rPr i="0" lang="en-US" sz="1850" u="none" cap="none" strike="noStrike">
                <a:solidFill>
                  <a:srgbClr val="1F2937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i="0" lang="en-US" sz="1850" u="none" cap="none" strike="noStrike">
                <a:solidFill>
                  <a:srgbClr val="1F2937"/>
                </a:solidFill>
                <a:latin typeface="Trebuchet MS"/>
                <a:ea typeface="Trebuchet MS"/>
                <a:cs typeface="Trebuchet MS"/>
                <a:sym typeface="Trebuchet MS"/>
              </a:rPr>
              <a:t>Null links are not counted as nodes.</a:t>
            </a:r>
            <a:endParaRPr i="0" sz="18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5806440" y="1828800"/>
            <a:ext cx="5943600" cy="4434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getSize(TNode node) {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(node == null) {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0;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1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+ getSize(node.left)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+ getSize(node.right);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Meaning: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current node + left subtree size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             + right subtree size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320040" y="651967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2026-08-09T18:26:55Z</dcterms:created>
  <dc:creator>OpenAI</dc:creator>
</cp:coreProperties>
</file>