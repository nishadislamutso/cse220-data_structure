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3244850" cx="5765800"/>
  <p:notesSz cx="5765800" cy="3244850"/>
  <p:embeddedFontLst>
    <p:embeddedFont>
      <p:font typeface="Roboto"/>
      <p:regular r:id="rId40"/>
      <p:bold r:id="rId41"/>
      <p:italic r:id="rId42"/>
      <p:boldItalic r:id="rId43"/>
    </p:embeddedFont>
    <p:embeddedFont>
      <p:font typeface="Tahoma"/>
      <p:regular r:id="rId44"/>
      <p:bold r:id="rId45"/>
    </p:embeddedFont>
    <p:embeddedFont>
      <p:font typeface="Book Antiqua"/>
      <p:regular r:id="rId46"/>
      <p:bold r:id="rId47"/>
      <p:italic r:id="rId48"/>
      <p:boldItalic r:id="rId49"/>
    </p:embeddedFon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g0FbgINODWmsnUDCf6XpT/53jD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Tahoma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BookAntiqua-regular.fntdata"/><Relationship Id="rId45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ookAntiqua-italic.fntdata"/><Relationship Id="rId47" Type="http://schemas.openxmlformats.org/officeDocument/2006/relationships/font" Target="fonts/BookAntiqua-bold.fntdata"/><Relationship Id="rId49" Type="http://schemas.openxmlformats.org/officeDocument/2006/relationships/font" Target="fonts/BookAntiqu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d046b6c19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1d046b6c19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dcfbc4525_0_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1dcfbc4525_0_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b595435c_1_1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f6b595435c_1_1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b595435c_1_10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f6b595435c_1_10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b595435c_1_1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6b595435c_1_1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b595435c_1_1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f6b595435c_1_1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b595435c_1_2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6b595435c_1_2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b7e3925e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b7e3925e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b595435c_1_3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f6b595435c_1_3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d046b6c19_0_4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1d046b6c19_0_4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d046b6c19_0_2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1d046b6c19_0_2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83a50b7c1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583a50b7c1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d046b6c19_0_3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1d046b6c19_0_3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d046b6c19_0_10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1d046b6c19_0_10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d046b6c19_0_10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1d046b6c19_0_10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5aec838c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75aec838c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3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d046b6c19_0_6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1d046b6c19_0_6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d046b6c19_0_7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1d046b6c19_0_7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d046b6c19_0_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1d046b6c19_0_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d046b6c19_0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1d046b6c19_0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d046b6c19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1d046b6c19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d046b6c19_0_8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1d046b6c19_0_8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54398bc3f_1_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754398bc3f_1_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7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7"/>
          <p:cNvSpPr txBox="1"/>
          <p:nvPr>
            <p:ph idx="1" type="body"/>
          </p:nvPr>
        </p:nvSpPr>
        <p:spPr>
          <a:xfrm>
            <a:off x="0" y="624839"/>
            <a:ext cx="2654935" cy="15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8" y="708659"/>
            <a:ext cx="1981200" cy="8168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9"/>
          <p:cNvSpPr txBox="1"/>
          <p:nvPr>
            <p:ph type="ctrTitle"/>
          </p:nvPr>
        </p:nvSpPr>
        <p:spPr>
          <a:xfrm>
            <a:off x="1957832" y="60197"/>
            <a:ext cx="17367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6"/>
          <p:cNvSpPr txBox="1"/>
          <p:nvPr>
            <p:ph type="title"/>
          </p:nvPr>
        </p:nvSpPr>
        <p:spPr>
          <a:xfrm>
            <a:off x="1751202" y="94233"/>
            <a:ext cx="226339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" type="body"/>
          </p:nvPr>
        </p:nvSpPr>
        <p:spPr>
          <a:xfrm>
            <a:off x="0" y="624839"/>
            <a:ext cx="2654935" cy="15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3.xml"/><Relationship Id="rId4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3.xml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3.xml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3.xml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slide" Target="/ppt/slides/slide3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3.xml"/><Relationship Id="rId4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slide" Target="/ppt/slides/slide3.xml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3.xml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3.xml"/><Relationship Id="rId4" Type="http://schemas.openxmlformats.org/officeDocument/2006/relationships/image" Target="../media/image15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slide" Target="/ppt/slides/slide3.xml"/><Relationship Id="rId5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3.xml"/><Relationship Id="rId4" Type="http://schemas.openxmlformats.org/officeDocument/2006/relationships/hyperlink" Target="https://www.geeksforgeeks.org/binary-search-tree-set-1-search-and-insertion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3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3.xml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3.xml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3.xml"/><Relationship Id="rId4" Type="http://schemas.openxmlformats.org/officeDocument/2006/relationships/image" Target="../media/image2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3.xml"/><Relationship Id="rId4" Type="http://schemas.openxmlformats.org/officeDocument/2006/relationships/image" Target="../media/image6.png"/><Relationship Id="rId5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slide" Target="/ppt/slides/slide3.xml"/><Relationship Id="rId6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jpg"/><Relationship Id="rId4" Type="http://schemas.openxmlformats.org/officeDocument/2006/relationships/slide" Target="/ppt/slides/slide3.xml"/><Relationship Id="rId5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Relationship Id="rId4" Type="http://schemas.openxmlformats.org/officeDocument/2006/relationships/image" Target="../media/image20.png"/><Relationship Id="rId5" Type="http://schemas.openxmlformats.org/officeDocument/2006/relationships/slide" Target="/ppt/slides/slide3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.xml"/><Relationship Id="rId4" Type="http://schemas.openxmlformats.org/officeDocument/2006/relationships/image" Target="../media/image25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title"/>
          </p:nvPr>
        </p:nvSpPr>
        <p:spPr>
          <a:xfrm>
            <a:off x="423025" y="1133525"/>
            <a:ext cx="51738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50">
                <a:solidFill>
                  <a:srgbClr val="394663"/>
                </a:solidFill>
              </a:rPr>
              <a:t>Binary Search Tree (BST)</a:t>
            </a:r>
            <a:br>
              <a:rPr lang="en-US" sz="2050">
                <a:solidFill>
                  <a:srgbClr val="394663"/>
                </a:solidFill>
              </a:rPr>
            </a:br>
            <a:r>
              <a:rPr lang="en-US" sz="1250">
                <a:solidFill>
                  <a:srgbClr val="394663"/>
                </a:solidFill>
              </a:rPr>
              <a:t>(Properties, insertion</a:t>
            </a:r>
            <a:r>
              <a:rPr b="1" lang="en-US" sz="1250">
                <a:solidFill>
                  <a:srgbClr val="394663"/>
                </a:solidFill>
              </a:rPr>
              <a:t>,</a:t>
            </a:r>
            <a:r>
              <a:rPr lang="en-US" sz="1250">
                <a:solidFill>
                  <a:srgbClr val="394663"/>
                </a:solidFill>
              </a:rPr>
              <a:t> sorting, traversals, min, max, search, balancing)</a:t>
            </a:r>
            <a:endParaRPr sz="1250"/>
          </a:p>
          <a:p>
            <a:pPr indent="0" lvl="0" marL="0" marR="127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" name="Google Shape;47;p1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/>
        </p:nvSpPr>
        <p:spPr>
          <a:xfrm>
            <a:off x="2476625" y="157725"/>
            <a:ext cx="119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125375" y="1251050"/>
            <a:ext cx="2649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216534" lvl="0" marL="2292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6534" lvl="0" marL="229234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10.4, 12.1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type="title"/>
          </p:nvPr>
        </p:nvSpPr>
        <p:spPr>
          <a:xfrm>
            <a:off x="1267300" y="94225"/>
            <a:ext cx="2747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56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Binary-search-tree (BST)</a:t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130860" y="3109223"/>
            <a:ext cx="7887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3"/>
          <p:cNvSpPr txBox="1"/>
          <p:nvPr>
            <p:ph idx="12" type="sldNum"/>
          </p:nvPr>
        </p:nvSpPr>
        <p:spPr>
          <a:xfrm>
            <a:off x="5347970" y="3109223"/>
            <a:ext cx="2490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98750" y="250100"/>
            <a:ext cx="54243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4620" lvl="0" marL="29083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Powerful data structures for dynamic-set operations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4620" lvl="0" marL="29083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E.g., dictionaries or priority queues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3985" lvl="0" marL="290195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•"/>
            </a:pPr>
            <a:r>
              <a:rPr b="0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Basic operations (insert, delete, search)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take time proportional to </a:t>
            </a: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height of tree, O(h)</a:t>
            </a:r>
            <a:endParaRPr b="1" i="0" sz="10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 </a:t>
            </a:r>
            <a:endParaRPr b="1" i="0" sz="10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0810" lvl="1" marL="563880" marR="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Char char="•"/>
            </a:pPr>
            <a:r>
              <a:rPr lang="en-US" sz="10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balanced BST with n nodes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: O(h)= O(</a:t>
            </a:r>
            <a:r>
              <a:rPr b="0" i="1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logn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)→ operations take O(log n).</a:t>
            </a:r>
            <a:endParaRPr b="0" i="0" sz="10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0810" lvl="1" marL="56388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Char char="•"/>
            </a:pPr>
            <a:r>
              <a:rPr lang="en-US" sz="10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skewed tree/unbalanced BST with n nodes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: O(h)=O(</a:t>
            </a:r>
            <a:r>
              <a:rPr b="0" i="1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→ operations take O(n).</a:t>
            </a:r>
            <a:endParaRPr b="0" i="0" sz="10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3" name="Google Shape;63;p3" title="balanced_binary_tr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02" y="1889225"/>
            <a:ext cx="1534650" cy="12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"/>
          <p:cNvPicPr preferRelativeResize="0"/>
          <p:nvPr/>
        </p:nvPicPr>
        <p:blipFill rotWithShape="1">
          <a:blip r:embed="rId5">
            <a:alphaModFix/>
          </a:blip>
          <a:srcRect b="0" l="0" r="0" t="18599"/>
          <a:stretch/>
        </p:blipFill>
        <p:spPr>
          <a:xfrm>
            <a:off x="2161050" y="1861475"/>
            <a:ext cx="2951950" cy="11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d046b6c19_0_0"/>
          <p:cNvSpPr txBox="1"/>
          <p:nvPr>
            <p:ph type="title"/>
          </p:nvPr>
        </p:nvSpPr>
        <p:spPr>
          <a:xfrm>
            <a:off x="1646324" y="145050"/>
            <a:ext cx="295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56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Binary-search-tree (BST)</a:t>
            </a:r>
            <a:endParaRPr/>
          </a:p>
        </p:txBody>
      </p:sp>
      <p:sp>
        <p:nvSpPr>
          <p:cNvPr id="70" name="Google Shape;70;g31d046b6c19_0_0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g31d046b6c19_0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72" name="Google Shape;72;g31d046b6c19_0_0"/>
          <p:cNvSpPr txBox="1"/>
          <p:nvPr/>
        </p:nvSpPr>
        <p:spPr>
          <a:xfrm>
            <a:off x="341425" y="419550"/>
            <a:ext cx="51534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0335" lvl="0" marL="290195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practice, more </a:t>
            </a:r>
            <a:r>
              <a:rPr b="0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advanced binary trees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required to keep trees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balanced over time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(not skewed), 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e.g. B-trees, red-black-trees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0970" lvl="0" marL="290830" marR="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 BST, nodes will have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style2 </a:t>
            </a:r>
            <a:r>
              <a:rPr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[Discussed in previous lecture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BT basics)]</a:t>
            </a:r>
            <a:endParaRPr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0810" lvl="1" marL="56388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key or value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0810" lvl="1" marL="563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parent</a:t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0810" lvl="1" marL="5638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left child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4460" lvl="1" marL="563880" marR="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right child</a:t>
            </a:r>
            <a:b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919525" y="50975"/>
            <a:ext cx="4353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Binary-search-tree property (BSTP) </a:t>
            </a:r>
            <a:r>
              <a:rPr lang="en-US" sz="1500">
                <a:solidFill>
                  <a:srgbClr val="990000"/>
                </a:solidFill>
              </a:rPr>
              <a:t>(Important!!)</a:t>
            </a:r>
            <a:endParaRPr sz="1500">
              <a:solidFill>
                <a:srgbClr val="990000"/>
              </a:solidFill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30200" y="414788"/>
            <a:ext cx="53571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Binary tree with the following property is called BST: 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for any two elements x and y the following holds: -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Property1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If y is in the left subtree of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then: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≤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0" lang="en-US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</a:t>
            </a:r>
            <a:endParaRPr b="0" i="0" sz="1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Property2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y is in the right subtree of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then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≥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b="0" i="0" lang="en-US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key</a:t>
            </a:r>
            <a:endParaRPr b="0"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75" y="1962950"/>
            <a:ext cx="2006325" cy="11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9825" y="1893912"/>
            <a:ext cx="2560321" cy="1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title="property1 and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8650" y="294575"/>
            <a:ext cx="2124787" cy="15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dcfbc4525_0_3"/>
          <p:cNvSpPr txBox="1"/>
          <p:nvPr>
            <p:ph type="title"/>
          </p:nvPr>
        </p:nvSpPr>
        <p:spPr>
          <a:xfrm>
            <a:off x="1076500" y="99175"/>
            <a:ext cx="4207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Binary-search-tree property (BSTP) </a:t>
            </a:r>
            <a:r>
              <a:rPr lang="en-US" sz="1500">
                <a:solidFill>
                  <a:srgbClr val="990000"/>
                </a:solidFill>
              </a:rPr>
              <a:t>(Important!!)</a:t>
            </a:r>
            <a:endParaRPr sz="1500"/>
          </a:p>
        </p:txBody>
      </p:sp>
      <p:sp>
        <p:nvSpPr>
          <p:cNvPr id="89" name="Google Shape;89;g31dcfbc4525_0_3"/>
          <p:cNvSpPr txBox="1"/>
          <p:nvPr/>
        </p:nvSpPr>
        <p:spPr>
          <a:xfrm>
            <a:off x="51350" y="588825"/>
            <a:ext cx="5663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Binary tree with the following property is called BST: 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Property 3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left and right subtree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each must also be a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binary search tree.</a:t>
            </a:r>
            <a:endParaRPr b="0" i="0" sz="10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Property 4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Each node must have a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distinct key,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meaning duplicate values are not allowed, though this is an </a:t>
            </a:r>
            <a:r>
              <a:rPr b="1" i="0" lang="en-US" sz="1000" u="sng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optional property.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g31dcfbc4525_0_3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1dcfbc4525_0_3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92" name="Google Shape;92;g31dcfbc4525_0_3" title="peroprty3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75" y="1554900"/>
            <a:ext cx="5060048" cy="1336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b595435c_1_115"/>
          <p:cNvSpPr txBox="1"/>
          <p:nvPr>
            <p:ph type="title"/>
          </p:nvPr>
        </p:nvSpPr>
        <p:spPr>
          <a:xfrm>
            <a:off x="1423100" y="99175"/>
            <a:ext cx="3297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Binary-search-tree property (BSTP)</a:t>
            </a:r>
            <a:endParaRPr sz="1500"/>
          </a:p>
        </p:txBody>
      </p:sp>
      <p:sp>
        <p:nvSpPr>
          <p:cNvPr id="98" name="Google Shape;98;g3f6b595435c_1_115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f6b595435c_1_115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100" name="Google Shape;100;g3f6b595435c_1_115" title="BST property.png"/>
          <p:cNvPicPr preferRelativeResize="0"/>
          <p:nvPr/>
        </p:nvPicPr>
        <p:blipFill rotWithShape="1">
          <a:blip r:embed="rId4">
            <a:alphaModFix/>
          </a:blip>
          <a:srcRect b="0" l="1749" r="2134" t="0"/>
          <a:stretch/>
        </p:blipFill>
        <p:spPr>
          <a:xfrm>
            <a:off x="0" y="383275"/>
            <a:ext cx="5765800" cy="2551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b595435c_1_102"/>
          <p:cNvSpPr txBox="1"/>
          <p:nvPr>
            <p:ph type="title"/>
          </p:nvPr>
        </p:nvSpPr>
        <p:spPr>
          <a:xfrm>
            <a:off x="1234400" y="137800"/>
            <a:ext cx="3297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Goal of Using a BST</a:t>
            </a:r>
            <a:endParaRPr sz="1500"/>
          </a:p>
        </p:txBody>
      </p:sp>
      <p:sp>
        <p:nvSpPr>
          <p:cNvPr id="106" name="Google Shape;106;g3f6b595435c_1_102"/>
          <p:cNvSpPr txBox="1"/>
          <p:nvPr/>
        </p:nvSpPr>
        <p:spPr>
          <a:xfrm>
            <a:off x="436700" y="561250"/>
            <a:ext cx="499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 of a BST is to search elements efficiently in </a:t>
            </a:r>
            <a:r>
              <a:rPr b="1" lang="en-US" sz="10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O(h) time.</a:t>
            </a:r>
            <a:endParaRPr b="1" sz="1000"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a </a:t>
            </a:r>
            <a:r>
              <a:rPr lang="en-US" sz="1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balanced BST,</a:t>
            </a: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h=O(logn), so searching takes O(log n).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an </a:t>
            </a:r>
            <a:r>
              <a:rPr lang="en-US" sz="1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unbalanced/skewed BST</a:t>
            </a: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h=O(n), so, </a:t>
            </a: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searching may take O(n).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Therefore, </a:t>
            </a:r>
            <a:r>
              <a:rPr lang="en-US" sz="1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keeping the </a:t>
            </a:r>
            <a:r>
              <a:rPr b="1" lang="en-US" sz="10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 balanced</a:t>
            </a:r>
            <a:r>
              <a:rPr lang="en-US" sz="1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important for </a:t>
            </a:r>
            <a:r>
              <a:rPr b="1" lang="en-US" sz="10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maintaining efficiency.</a:t>
            </a:r>
            <a:endParaRPr b="1" sz="1000"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g3f6b595435c_1_102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f6b595435c_1_102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109" name="Google Shape;109;g3f6b595435c_1_102" title="Screenshot 2024-12-13 135300.png"/>
          <p:cNvPicPr preferRelativeResize="0"/>
          <p:nvPr/>
        </p:nvPicPr>
        <p:blipFill rotWithShape="1">
          <a:blip r:embed="rId4">
            <a:alphaModFix/>
          </a:blip>
          <a:srcRect b="0" l="0" r="4644" t="0"/>
          <a:stretch/>
        </p:blipFill>
        <p:spPr>
          <a:xfrm>
            <a:off x="1755600" y="1600600"/>
            <a:ext cx="4010202" cy="160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6b595435c_1_102"/>
          <p:cNvSpPr txBox="1"/>
          <p:nvPr/>
        </p:nvSpPr>
        <p:spPr>
          <a:xfrm>
            <a:off x="28625" y="1954625"/>
            <a:ext cx="214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Always start checking from leaf nodes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When df&gt;1,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say not balanced and STOP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(df=0, 1 acceptable)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If left or right subtree is missing, 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consider the height of that subtree to be -1</a:t>
            </a:r>
            <a:endParaRPr b="0" i="0" sz="7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b595435c_1_13"/>
          <p:cNvSpPr txBox="1"/>
          <p:nvPr/>
        </p:nvSpPr>
        <p:spPr>
          <a:xfrm>
            <a:off x="252500" y="297550"/>
            <a:ext cx="5373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Maintaining Efficiency in BSTs (Importance of Balanced BST )</a:t>
            </a:r>
            <a:endParaRPr b="0" i="0" sz="17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g3f6b595435c_1_13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117" name="Google Shape;117;g3f6b595435c_1_13"/>
          <p:cNvSpPr txBox="1"/>
          <p:nvPr/>
        </p:nvSpPr>
        <p:spPr>
          <a:xfrm>
            <a:off x="176900" y="498775"/>
            <a:ext cx="5524500" cy="23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Always work with </a:t>
            </a:r>
            <a:r>
              <a:rPr b="1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balanced BSTs</a:t>
            </a: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to ensure optimal performance.</a:t>
            </a: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○"/>
            </a:pP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In balanced BST, </a:t>
            </a: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■"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nsert, delete, search → O(h)→O(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logn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After </a:t>
            </a:r>
            <a:r>
              <a:rPr b="1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insert</a:t>
            </a: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delete</a:t>
            </a: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operations,</a:t>
            </a: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200" u="sng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height of BST might change</a:t>
            </a: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check if the BST has become </a:t>
            </a:r>
            <a:r>
              <a:rPr b="1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unbalanced</a:t>
            </a: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○"/>
            </a:pP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If unbalanced, </a:t>
            </a:r>
            <a:r>
              <a:rPr b="1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rebalance</a:t>
            </a:r>
            <a:r>
              <a:rPr b="0" i="0" lang="en-US" sz="12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the BST to restore efficiency.</a:t>
            </a:r>
            <a:endParaRPr b="0" i="0" sz="12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b595435c_1_19"/>
          <p:cNvSpPr txBox="1"/>
          <p:nvPr/>
        </p:nvSpPr>
        <p:spPr>
          <a:xfrm>
            <a:off x="65925" y="59400"/>
            <a:ext cx="5167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Converting an Unbalanced BST into a Balanced BST </a:t>
            </a:r>
            <a:r>
              <a:rPr b="1" i="0" lang="en-US" sz="1300" u="none" cap="none" strike="noStrike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(Important!!)</a:t>
            </a:r>
            <a:endParaRPr b="1" i="0" sz="15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Google Shape;123;g3f6b595435c_1_1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124" name="Google Shape;124;g3f6b595435c_1_19" title="Screenshot 2024-12-13 1354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8" y="332975"/>
            <a:ext cx="5721923" cy="271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b595435c_1_25"/>
          <p:cNvSpPr txBox="1"/>
          <p:nvPr/>
        </p:nvSpPr>
        <p:spPr>
          <a:xfrm>
            <a:off x="602325" y="157725"/>
            <a:ext cx="4569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Converting an Unbalanced BST into a Balanced BST</a:t>
            </a:r>
            <a:endParaRPr b="0" i="0" sz="17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g3f6b595435c_1_25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sp>
        <p:nvSpPr>
          <p:cNvPr id="131" name="Google Shape;131;g3f6b595435c_1_25"/>
          <p:cNvSpPr txBox="1"/>
          <p:nvPr/>
        </p:nvSpPr>
        <p:spPr>
          <a:xfrm>
            <a:off x="-79300" y="401325"/>
            <a:ext cx="5924400" cy="2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Traverse and Store Data: 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Inorder Traversal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Store BST elements in ascending array.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Step 2: Reconstruct the BST: 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Choose the middle element using the </a:t>
            </a:r>
            <a:r>
              <a:rPr b="0" i="0" lang="en-US" sz="1000" u="sng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current index bounds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Roboto"/>
              <a:buChar char="○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Compute mid = (left + right) // 2.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Roboto"/>
              <a:buChar char="○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Create the root from arr[mid].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Roboto"/>
              <a:buChar char="○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000" u="sng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left subtree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uses the subarray from </a:t>
            </a:r>
            <a:r>
              <a:rPr b="1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left to mid - 1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Roboto"/>
              <a:buChar char="○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000" u="sng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right subtree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uses the subarray from </a:t>
            </a:r>
            <a:r>
              <a:rPr b="1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mid + 1 to right.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Step 3: Recursive Subtree Construction</a:t>
            </a:r>
            <a:endParaRPr b="1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Base case</a:t>
            </a: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: if left &gt; right, return None.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Recursively build:</a:t>
            </a:r>
            <a:endParaRPr b="0" i="0" sz="1000" u="sng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Tahoma"/>
              <a:buChar char="■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root.left = sortedArrayToBSTRecur(arr, left, mid - 1)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Tahoma"/>
              <a:buChar char="■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root.right = sortedArrayToBSTRecur(arr, mid + 1, right)</a:t>
            </a: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Repeat until all ranges are exhausted.</a:t>
            </a:r>
            <a:br>
              <a:rPr b="0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rgbClr val="1F1F1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1F1F"/>
                </a:solidFill>
                <a:latin typeface="Tahoma"/>
                <a:ea typeface="Tahoma"/>
                <a:cs typeface="Tahoma"/>
                <a:sym typeface="Tahoma"/>
              </a:rPr>
              <a:t>               This process ensures the BST becomes balanced with optimal height.</a:t>
            </a:r>
            <a:endParaRPr b="0" i="0" sz="1000" u="none" cap="none" strike="noStrike">
              <a:solidFill>
                <a:srgbClr val="1F1F1F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b7e3925e_0_0"/>
          <p:cNvSpPr txBox="1"/>
          <p:nvPr/>
        </p:nvSpPr>
        <p:spPr>
          <a:xfrm>
            <a:off x="598250" y="46300"/>
            <a:ext cx="4569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Converting an Unbalanced BST into a Balanced BST</a:t>
            </a:r>
            <a:endParaRPr b="0" i="0" sz="17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g3f6b7e3925e_0_0"/>
          <p:cNvSpPr txBox="1"/>
          <p:nvPr/>
        </p:nvSpPr>
        <p:spPr>
          <a:xfrm>
            <a:off x="320550" y="289900"/>
            <a:ext cx="5278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 Method to convert a sorted array to a balanced BST using recursion</a:t>
            </a:r>
            <a:endParaRPr b="1" sz="3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sortedArrayToBSTRecur(arr, left, right)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left &gt; right </a:t>
            </a:r>
            <a:r>
              <a:rPr lang="en-US" sz="7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7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5B5B2A"/>
                </a:solidFill>
                <a:latin typeface="Consolas"/>
                <a:ea typeface="Consolas"/>
                <a:cs typeface="Consolas"/>
                <a:sym typeface="Consolas"/>
              </a:rPr>
              <a:t>// Find the middle element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mid &lt;- (right + left) / 2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5B5B2A"/>
                </a:solidFill>
                <a:latin typeface="Consolas"/>
                <a:ea typeface="Consolas"/>
                <a:cs typeface="Consolas"/>
                <a:sym typeface="Consolas"/>
              </a:rPr>
              <a:t>// Create the root node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root &lt;- new TNode(arr[mid])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5B5B2A"/>
                </a:solidFill>
                <a:latin typeface="Consolas"/>
                <a:ea typeface="Consolas"/>
                <a:cs typeface="Consolas"/>
                <a:sym typeface="Consolas"/>
              </a:rPr>
              <a:t>// Recursively create the left and right subtrees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root.left &lt;- sortedArrayToBSTRecur(arr, left, mid - 1)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root.right &lt;- sortedArrayToBSTRecur(arr, mid + 1, right)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root</a:t>
            </a: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_____________________________________________________________________________________________</a:t>
            </a:r>
            <a:endParaRPr sz="600">
              <a:solidFill>
                <a:srgbClr val="5B5B2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inorder_traversal(root) </a:t>
            </a:r>
            <a:r>
              <a:rPr lang="en-US" sz="600">
                <a:solidFill>
                  <a:srgbClr val="5B5B2A"/>
                </a:solidFill>
                <a:latin typeface="Consolas"/>
                <a:ea typeface="Consolas"/>
                <a:cs typeface="Consolas"/>
                <a:sym typeface="Consolas"/>
              </a:rPr>
              <a:t># In-order Traversal (Left, Root, Right)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root is not None </a:t>
            </a: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CALL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inorder_traversal(root.left)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root.val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CALL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inorder_traversal(root.right)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_____________________________________________________________________________________________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arr &lt;- [40, 50, 70, 90, 95, 99]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root &lt;- sortedArrayToBSTRecur(arr, left = 0, right = length(arr) - 1)</a:t>
            </a:r>
            <a:endParaRPr sz="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CALL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inorder_traversal(root)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b595435c_1_31"/>
          <p:cNvSpPr txBox="1"/>
          <p:nvPr/>
        </p:nvSpPr>
        <p:spPr>
          <a:xfrm>
            <a:off x="1525425" y="215225"/>
            <a:ext cx="4569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3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Sorted Array to Binary Search Tree</a:t>
            </a:r>
            <a:endParaRPr i="0" sz="15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3f6b595435c_1_31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144" name="Google Shape;144;g3f6b595435c_1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00" y="598350"/>
            <a:ext cx="3923244" cy="25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252700" y="304375"/>
            <a:ext cx="5344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have some new node z with z.key = v to insert into tree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Char char="•"/>
            </a:pP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Always insert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as a </a:t>
            </a:r>
            <a:r>
              <a:rPr b="1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new leaf </a:t>
            </a:r>
            <a:endParaRPr b="1" i="0" sz="12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maintain binary-search-tree property (BSTP)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to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all nodes with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larger key</a:t>
            </a:r>
            <a:endParaRPr b="1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to the</a:t>
            </a: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left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all nodes with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smaller key</a:t>
            </a:r>
            <a:endParaRPr b="0" i="1" sz="1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782" y="1547334"/>
            <a:ext cx="2620546" cy="144322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51152" y="125358"/>
            <a:ext cx="2263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Insertion</a:t>
            </a:r>
            <a:endParaRPr b="1"/>
          </a:p>
        </p:txBody>
      </p:sp>
      <p:sp>
        <p:nvSpPr>
          <p:cNvPr id="152" name="Google Shape;152;p15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d046b6c19_0_48"/>
          <p:cNvSpPr txBox="1"/>
          <p:nvPr>
            <p:ph type="title"/>
          </p:nvPr>
        </p:nvSpPr>
        <p:spPr>
          <a:xfrm>
            <a:off x="1751202" y="94233"/>
            <a:ext cx="2263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Insertion 7</a:t>
            </a:r>
            <a:endParaRPr/>
          </a:p>
        </p:txBody>
      </p:sp>
      <p:sp>
        <p:nvSpPr>
          <p:cNvPr id="159" name="Google Shape;159;g31d046b6c19_0_48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1d046b6c19_0_48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pic>
        <p:nvPicPr>
          <p:cNvPr id="161" name="Google Shape;161;g31d046b6c19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2835" y="493383"/>
            <a:ext cx="2549816" cy="257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d046b6c19_0_27"/>
          <p:cNvSpPr txBox="1"/>
          <p:nvPr/>
        </p:nvSpPr>
        <p:spPr>
          <a:xfrm>
            <a:off x="191200" y="157775"/>
            <a:ext cx="54696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0970" lvl="0" marL="29083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parent of node we currently inspect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0970" lvl="0" marL="29083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While loop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descends through tree moving into correct subtree at each step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0335" lvl="0" marL="29019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Last part links node and parent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7" name="Google Shape;167;g31d046b6c19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432" y="1275284"/>
            <a:ext cx="2620546" cy="144322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1d046b6c19_0_27"/>
          <p:cNvSpPr txBox="1"/>
          <p:nvPr>
            <p:ph type="title"/>
          </p:nvPr>
        </p:nvSpPr>
        <p:spPr>
          <a:xfrm>
            <a:off x="1043800" y="0"/>
            <a:ext cx="3609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Insertion (code explanation)</a:t>
            </a:r>
            <a:endParaRPr/>
          </a:p>
        </p:txBody>
      </p:sp>
      <p:sp>
        <p:nvSpPr>
          <p:cNvPr id="169" name="Google Shape;169;g31d046b6c19_0_27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1d046b6c19_0_27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pic>
        <p:nvPicPr>
          <p:cNvPr id="171" name="Google Shape;171;g31d046b6c19_0_27" title="Tree_insert_CLR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850" y="1054263"/>
            <a:ext cx="2149011" cy="188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583a50b7c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5401" y="1515480"/>
            <a:ext cx="2022914" cy="111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583a50b7c1_0_0"/>
          <p:cNvSpPr txBox="1"/>
          <p:nvPr>
            <p:ph type="title"/>
          </p:nvPr>
        </p:nvSpPr>
        <p:spPr>
          <a:xfrm>
            <a:off x="1043800" y="0"/>
            <a:ext cx="3609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Insertion (code explanation)</a:t>
            </a:r>
            <a:endParaRPr/>
          </a:p>
        </p:txBody>
      </p:sp>
      <p:sp>
        <p:nvSpPr>
          <p:cNvPr id="178" name="Google Shape;178;g3583a50b7c1_0_0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sp>
        <p:nvSpPr>
          <p:cNvPr id="179" name="Google Shape;179;g3583a50b7c1_0_0"/>
          <p:cNvSpPr txBox="1"/>
          <p:nvPr/>
        </p:nvSpPr>
        <p:spPr>
          <a:xfrm>
            <a:off x="4442925" y="-66525"/>
            <a:ext cx="18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Insert 13</a:t>
            </a:r>
            <a:endParaRPr b="0" i="0" sz="14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3583a50b7c1_0_0" title="insert13.png"/>
          <p:cNvPicPr preferRelativeResize="0"/>
          <p:nvPr/>
        </p:nvPicPr>
        <p:blipFill rotWithShape="1">
          <a:blip r:embed="rId4">
            <a:alphaModFix/>
          </a:blip>
          <a:srcRect b="0" l="0" r="0" t="8324"/>
          <a:stretch/>
        </p:blipFill>
        <p:spPr>
          <a:xfrm>
            <a:off x="3652275" y="333675"/>
            <a:ext cx="2103576" cy="115257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583a50b7c1_0_0"/>
          <p:cNvSpPr txBox="1"/>
          <p:nvPr/>
        </p:nvSpPr>
        <p:spPr>
          <a:xfrm>
            <a:off x="0" y="275100"/>
            <a:ext cx="4178100" cy="28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700" u="none" cap="none" strike="noStrike">
                <a:solidFill>
                  <a:srgbClr val="7C6A29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(root, key)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new_node &lt;- TNode(key)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z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6B8E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1" i="0" lang="en-US" sz="70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# Find the parent node to attach the new node</a:t>
            </a:r>
            <a:endParaRPr b="1" sz="400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parent &lt;-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Tracks the parent node y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current &lt;- root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Start from the root x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6B8E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current is not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DO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finding parent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parent &lt;- current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key &lt; current.val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THEN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Go left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current &lt;- current.left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key &gt; current.val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THEN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Go right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current &lt;- current.right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</a:t>
            </a:r>
            <a:r>
              <a:rPr b="1" i="0" lang="en-US" sz="70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 # Set the parent of the new node</a:t>
            </a:r>
            <a:endParaRPr b="1" sz="400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new_node.parent &lt;- parent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1" i="0" lang="en-US" sz="70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# Attach the new node to the left or right of the parent</a:t>
            </a:r>
            <a:endParaRPr b="1" sz="400">
              <a:solidFill>
                <a:srgbClr val="99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parent is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None THEN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If tree is empty, make new_node the root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root &lt;- new_node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key &lt; parent.val 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THEN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Attach new_node to the left of the parent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parent.left &lt;- new_node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700" u="none" cap="none" strike="noStrike">
                <a:solidFill>
                  <a:srgbClr val="6B8E23"/>
                </a:solidFill>
                <a:latin typeface="Consolas"/>
                <a:ea typeface="Consolas"/>
                <a:cs typeface="Consolas"/>
                <a:sym typeface="Consolas"/>
              </a:rPr>
              <a:t># Attach new_node to the right of the parent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parent.right &lt;- new_node</a:t>
            </a:r>
            <a:endParaRPr sz="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700" u="none" cap="none" strike="noStrike">
                <a:solidFill>
                  <a:srgbClr val="4C4FE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root</a:t>
            </a:r>
            <a:endParaRPr sz="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d046b6c19_0_38"/>
          <p:cNvSpPr txBox="1"/>
          <p:nvPr>
            <p:ph type="title"/>
          </p:nvPr>
        </p:nvSpPr>
        <p:spPr>
          <a:xfrm>
            <a:off x="943625" y="126100"/>
            <a:ext cx="3372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BST creation using insertion</a:t>
            </a:r>
            <a:endParaRPr/>
          </a:p>
        </p:txBody>
      </p:sp>
      <p:sp>
        <p:nvSpPr>
          <p:cNvPr id="187" name="Google Shape;187;g31d046b6c19_0_38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g31d046b6c19_0_38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pic>
        <p:nvPicPr>
          <p:cNvPr id="189" name="Google Shape;189;g31d046b6c19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5" y="629175"/>
            <a:ext cx="5408627" cy="235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1d046b6c19_0_38"/>
          <p:cNvSpPr txBox="1"/>
          <p:nvPr/>
        </p:nvSpPr>
        <p:spPr>
          <a:xfrm>
            <a:off x="73625" y="346600"/>
            <a:ext cx="326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(Process of creating a BST from a Random array)</a:t>
            </a:r>
            <a:endParaRPr sz="1000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d046b6c19_0_101"/>
          <p:cNvSpPr txBox="1"/>
          <p:nvPr>
            <p:ph type="title"/>
          </p:nvPr>
        </p:nvSpPr>
        <p:spPr>
          <a:xfrm>
            <a:off x="943625" y="126100"/>
            <a:ext cx="3372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BST creation using insertion</a:t>
            </a:r>
            <a:endParaRPr/>
          </a:p>
        </p:txBody>
      </p:sp>
      <p:sp>
        <p:nvSpPr>
          <p:cNvPr id="196" name="Google Shape;196;g31d046b6c19_0_10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31d046b6c19_0_101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pic>
        <p:nvPicPr>
          <p:cNvPr id="198" name="Google Shape;198;g31d046b6c19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675" y="808849"/>
            <a:ext cx="3608450" cy="23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1d046b6c19_0_101"/>
          <p:cNvSpPr txBox="1"/>
          <p:nvPr/>
        </p:nvSpPr>
        <p:spPr>
          <a:xfrm>
            <a:off x="573650" y="456175"/>
            <a:ext cx="4618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Values to be inserted:  21    28    14    32    25   18   11   30   19    15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d046b6c19_0_109"/>
          <p:cNvSpPr txBox="1"/>
          <p:nvPr>
            <p:ph type="title"/>
          </p:nvPr>
        </p:nvSpPr>
        <p:spPr>
          <a:xfrm>
            <a:off x="2038576" y="166000"/>
            <a:ext cx="1999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Inorder tree walk</a:t>
            </a:r>
            <a:endParaRPr/>
          </a:p>
        </p:txBody>
      </p:sp>
      <p:sp>
        <p:nvSpPr>
          <p:cNvPr id="205" name="Google Shape;205;g31d046b6c19_0_109"/>
          <p:cNvSpPr txBox="1"/>
          <p:nvPr/>
        </p:nvSpPr>
        <p:spPr>
          <a:xfrm>
            <a:off x="382575" y="489000"/>
            <a:ext cx="53118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-125729" lvl="0" marL="15748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Trebuchet M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Start at the root and recursively process: </a:t>
            </a:r>
            <a:r>
              <a:rPr b="0" i="0" lang="en-US" sz="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Left → </a:t>
            </a:r>
            <a:r>
              <a:rPr b="1" i="0" lang="en-US" sz="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Root</a:t>
            </a:r>
            <a:r>
              <a:rPr b="0" i="0" lang="en-US" sz="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→ Right.</a:t>
            </a:r>
            <a:endParaRPr b="0" i="0" sz="9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5729" lvl="0" marL="15748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Trebuchet M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Visits nodes between their left and right subtrees.</a:t>
            </a:r>
            <a:endParaRPr b="0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5729" lvl="0" marL="15748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Trebuchet M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a BST, this prints </a:t>
            </a:r>
            <a:r>
              <a:rPr b="0" i="0" lang="en-US" sz="9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all keys in</a:t>
            </a:r>
            <a:r>
              <a:rPr b="1" i="0" lang="en-US" sz="9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ascending order.</a:t>
            </a:r>
            <a:endParaRPr b="1" i="0" sz="9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6365" lvl="0" marL="158115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Trebuchet MS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Time complexity: </a:t>
            </a:r>
            <a:endParaRPr b="1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Arial"/>
              <a:buChar char="○"/>
            </a:pPr>
            <a:r>
              <a:rPr b="1" i="0" lang="en-US" sz="9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Each node is visited exactly once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Arial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i="0" lang="en-US" sz="9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single operation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performed 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Arial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Thus,  time complexity will b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b="1" i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b="1" i="1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1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6" name="Google Shape;206;g31d046b6c19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380" y="1953450"/>
            <a:ext cx="2146220" cy="11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1d046b6c19_0_10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31d046b6c19_0_10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  <p:pic>
        <p:nvPicPr>
          <p:cNvPr id="209" name="Google Shape;209;g31d046b6c19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861" y="2016213"/>
            <a:ext cx="2825489" cy="11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type="title"/>
          </p:nvPr>
        </p:nvSpPr>
        <p:spPr>
          <a:xfrm>
            <a:off x="957900" y="206650"/>
            <a:ext cx="4339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walk (Pre-order and post-order walks)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30850" y="581150"/>
            <a:ext cx="5466000" cy="12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5725" lvl="1" marL="85725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Pre-order: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each node before visiting left, then right subtree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Root,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Left, Right)</a:t>
            </a:r>
            <a:b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85725" lvl="1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Post-order: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visit left, then right subtree, then output node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(Left, Right,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Root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7620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5725" lvl="1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visit 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node exactly once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 a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 operation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thus time complexity will b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7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5aec838c7_0_8"/>
          <p:cNvSpPr txBox="1"/>
          <p:nvPr>
            <p:ph idx="1" type="body"/>
          </p:nvPr>
        </p:nvSpPr>
        <p:spPr>
          <a:xfrm>
            <a:off x="130850" y="852488"/>
            <a:ext cx="56802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1150" lvl="0" marL="457200" marR="251932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 traversal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generates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Ordered values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marR="251932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-"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300">
                <a:solidFill>
                  <a:srgbClr val="0000FF"/>
                </a:solidFill>
              </a:rPr>
              <a:t>Left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root </a:t>
            </a:r>
            <a:r>
              <a:rPr b="1" lang="en-US" sz="1300">
                <a:solidFill>
                  <a:srgbClr val="0000FF"/>
                </a:solidFill>
              </a:rPr>
              <a:t>right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1300">
                <a:latin typeface="Calibri"/>
                <a:ea typeface="Calibri"/>
                <a:cs typeface="Calibri"/>
                <a:sym typeface="Calibri"/>
              </a:rPr>
            </a:b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251932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 In-order traversal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generates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Ordered values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marR="251932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-"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300">
                <a:solidFill>
                  <a:srgbClr val="0000FF"/>
                </a:solidFill>
              </a:rPr>
              <a:t>Right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root </a:t>
            </a:r>
            <a:r>
              <a:rPr b="1" lang="en-US" sz="1300">
                <a:solidFill>
                  <a:srgbClr val="0000FF"/>
                </a:solidFill>
              </a:rPr>
              <a:t>Left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75aec838c7_0_8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g375aec838c7_0_8"/>
          <p:cNvSpPr txBox="1"/>
          <p:nvPr>
            <p:ph type="title"/>
          </p:nvPr>
        </p:nvSpPr>
        <p:spPr>
          <a:xfrm>
            <a:off x="1023450" y="181650"/>
            <a:ext cx="3997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394663"/>
                </a:solidFill>
              </a:rPr>
              <a:t>BST</a:t>
            </a:r>
            <a:r>
              <a:rPr b="1" lang="en-US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 Traversal </a:t>
            </a:r>
            <a:r>
              <a:rPr b="1" lang="en-US">
                <a:solidFill>
                  <a:srgbClr val="980000"/>
                </a:solidFill>
                <a:latin typeface="Trebuchet MS"/>
                <a:ea typeface="Trebuchet MS"/>
                <a:cs typeface="Trebuchet MS"/>
                <a:sym typeface="Trebuchet MS"/>
              </a:rPr>
              <a:t>(Important)</a:t>
            </a:r>
            <a:r>
              <a:rPr b="1" lang="en-US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2235821" y="94225"/>
            <a:ext cx="1166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Sort</a:t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33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36/24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288300" y="485025"/>
            <a:ext cx="5221500" cy="21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Tree sort is a sorting algorithm that is based on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Binary Search Tree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data structure. 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It first creates a binary search tree from the elements of the input list or array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Then performs an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inorder traversal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on the created binary search tree to get the elements in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sorted order.</a:t>
            </a:r>
            <a:endParaRPr b="1" i="0" sz="11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39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425" lvl="0" marL="3429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</a:rPr>
              <a:t>Step 1: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Take the elements input in an </a:t>
            </a:r>
            <a:r>
              <a:rPr b="0" i="0" lang="en-US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 </a:t>
            </a:r>
            <a:endParaRPr sz="1100" u="sng"/>
          </a:p>
          <a:p>
            <a:pPr indent="-98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</a:rPr>
              <a:t>Step 2: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 a </a:t>
            </a:r>
            <a:r>
              <a:rPr b="0" i="0" lang="en-US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search tree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0" lang="en-US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inserting data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items from the array into</a:t>
            </a:r>
            <a:r>
              <a:rPr lang="en-US" sz="1100"/>
              <a:t>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binary search tree.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</a:rPr>
              <a:t>Step 3: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in-order traversal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tree to get the elements in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sorted order. </a:t>
            </a:r>
            <a:r>
              <a:rPr b="1" lang="en-US" sz="1100"/>
              <a:t>(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Ascending)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d046b6c19_0_69"/>
          <p:cNvSpPr txBox="1"/>
          <p:nvPr>
            <p:ph type="title"/>
          </p:nvPr>
        </p:nvSpPr>
        <p:spPr>
          <a:xfrm>
            <a:off x="943625" y="126100"/>
            <a:ext cx="3372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BST creation using insertion</a:t>
            </a:r>
            <a:endParaRPr/>
          </a:p>
        </p:txBody>
      </p:sp>
      <p:sp>
        <p:nvSpPr>
          <p:cNvPr id="238" name="Google Shape;238;g31d046b6c19_0_6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g31d046b6c19_0_6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sp>
        <p:nvSpPr>
          <p:cNvPr id="240" name="Google Shape;240;g31d046b6c19_0_69"/>
          <p:cNvSpPr txBox="1"/>
          <p:nvPr/>
        </p:nvSpPr>
        <p:spPr>
          <a:xfrm>
            <a:off x="382575" y="1119400"/>
            <a:ext cx="4702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11175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Step01: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Take the elements input in an array.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</a:rPr>
              <a:t>[</a:t>
            </a:r>
            <a:r>
              <a:rPr lang="en-US" sz="1100" u="sng">
                <a:solidFill>
                  <a:schemeClr val="dk1"/>
                </a:solidFill>
              </a:rPr>
              <a:t>this is a regular array, not a binary tree representation</a:t>
            </a:r>
            <a:r>
              <a:rPr lang="en-US" sz="1100">
                <a:solidFill>
                  <a:schemeClr val="dk1"/>
                </a:solidFill>
              </a:rPr>
              <a:t>]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(70, 50, 40, 90,  20, 95, 99,  80,  85, 75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0     1    2     3    4    5    6    7     8    9 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d046b6c19_0_79"/>
          <p:cNvSpPr txBox="1"/>
          <p:nvPr>
            <p:ph type="title"/>
          </p:nvPr>
        </p:nvSpPr>
        <p:spPr>
          <a:xfrm>
            <a:off x="943625" y="126100"/>
            <a:ext cx="3372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8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BST creation using insertion</a:t>
            </a:r>
            <a:endParaRPr/>
          </a:p>
        </p:txBody>
      </p:sp>
      <p:sp>
        <p:nvSpPr>
          <p:cNvPr id="246" name="Google Shape;246;g31d046b6c19_0_7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g31d046b6c19_0_7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sp>
        <p:nvSpPr>
          <p:cNvPr id="248" name="Google Shape;248;g31d046b6c19_0_79"/>
          <p:cNvSpPr txBox="1"/>
          <p:nvPr/>
        </p:nvSpPr>
        <p:spPr>
          <a:xfrm>
            <a:off x="210375" y="439275"/>
            <a:ext cx="5207400" cy="1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3975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Step02: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Create a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tree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data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items from the array into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3975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binary search tree.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</a:rPr>
              <a:t>     (70, 50, 40, 90,  20, 95, 99,  80,  85, 75)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      </a:t>
            </a:r>
            <a:r>
              <a:rPr lang="en-US" sz="1100">
                <a:solidFill>
                  <a:schemeClr val="hlink"/>
                </a:solidFill>
              </a:rPr>
              <a:t>0     1    2     3    4    5    6    7     8    9 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31d046b6c19_0_79"/>
          <p:cNvPicPr preferRelativeResize="0"/>
          <p:nvPr/>
        </p:nvPicPr>
        <p:blipFill rotWithShape="1">
          <a:blip r:embed="rId4">
            <a:alphaModFix/>
          </a:blip>
          <a:srcRect b="0" l="0" r="0" t="13992"/>
          <a:stretch/>
        </p:blipFill>
        <p:spPr>
          <a:xfrm>
            <a:off x="395838" y="1234375"/>
            <a:ext cx="4974124" cy="18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d046b6c19_0_59"/>
          <p:cNvSpPr txBox="1"/>
          <p:nvPr>
            <p:ph type="title"/>
          </p:nvPr>
        </p:nvSpPr>
        <p:spPr>
          <a:xfrm>
            <a:off x="2070100" y="161525"/>
            <a:ext cx="3372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Sort</a:t>
            </a:r>
            <a:endParaRPr/>
          </a:p>
        </p:txBody>
      </p:sp>
      <p:sp>
        <p:nvSpPr>
          <p:cNvPr id="255" name="Google Shape;255;g31d046b6c19_0_5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g31d046b6c19_0_5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16/24</a:t>
            </a:r>
            <a:endParaRPr/>
          </a:p>
        </p:txBody>
      </p:sp>
      <p:sp>
        <p:nvSpPr>
          <p:cNvPr id="257" name="Google Shape;257;g31d046b6c19_0_59"/>
          <p:cNvSpPr txBox="1"/>
          <p:nvPr/>
        </p:nvSpPr>
        <p:spPr>
          <a:xfrm>
            <a:off x="403850" y="478225"/>
            <a:ext cx="4911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397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Perform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in-order traversal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(Left, root, right)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tree to get the elements in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order.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20 40 50 70 | 75 80 85 | 90 | 95 99 </a:t>
            </a:r>
            <a:b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1d046b6c19_0_59" title="sort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723" y="1373425"/>
            <a:ext cx="2469275" cy="16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d046b6c19_0_16"/>
          <p:cNvSpPr txBox="1"/>
          <p:nvPr>
            <p:ph type="title"/>
          </p:nvPr>
        </p:nvSpPr>
        <p:spPr>
          <a:xfrm>
            <a:off x="2235821" y="94225"/>
            <a:ext cx="1166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Sort</a:t>
            </a:r>
            <a:endParaRPr/>
          </a:p>
        </p:txBody>
      </p:sp>
      <p:sp>
        <p:nvSpPr>
          <p:cNvPr id="264" name="Google Shape;264;g31d046b6c19_0_16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g31d046b6c19_0_16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36/24</a:t>
            </a:r>
            <a:endParaRPr/>
          </a:p>
        </p:txBody>
      </p:sp>
      <p:pic>
        <p:nvPicPr>
          <p:cNvPr id="266" name="Google Shape;266;g31d046b6c19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4311" y="2052150"/>
            <a:ext cx="2825489" cy="11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1d046b6c19_0_16"/>
          <p:cNvSpPr txBox="1"/>
          <p:nvPr/>
        </p:nvSpPr>
        <p:spPr>
          <a:xfrm>
            <a:off x="375475" y="552650"/>
            <a:ext cx="52215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97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complexity: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Complexity of </a:t>
            </a:r>
            <a:r>
              <a:rPr b="0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element </a:t>
            </a:r>
            <a:r>
              <a:rPr b="1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insertion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tree is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balanced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O(h) =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O(logn)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397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Hence, the complexity of </a:t>
            </a:r>
            <a:r>
              <a:rPr b="0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element insertion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be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x logn) = O(nlogn)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 of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element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tree is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unbalanced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(skewed) is O(h) =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397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the complexity of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element insertion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be O(n) x O(n) = O(n^2)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&amp; average case: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O(n*logn), if tree nearly balanced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Worst case: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O(n^2), if its is a skewed tree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d046b6c19_0_7"/>
          <p:cNvSpPr txBox="1"/>
          <p:nvPr>
            <p:ph type="title"/>
          </p:nvPr>
        </p:nvSpPr>
        <p:spPr>
          <a:xfrm>
            <a:off x="1873097" y="140250"/>
            <a:ext cx="227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 and Max of BST</a:t>
            </a:r>
            <a:endParaRPr/>
          </a:p>
        </p:txBody>
      </p:sp>
      <p:sp>
        <p:nvSpPr>
          <p:cNvPr id="273" name="Google Shape;273;g31d046b6c19_0_7"/>
          <p:cNvSpPr txBox="1"/>
          <p:nvPr/>
        </p:nvSpPr>
        <p:spPr>
          <a:xfrm>
            <a:off x="155150" y="252500"/>
            <a:ext cx="57141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Minimum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leftmost leaf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334669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(Time is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O(logn) [when balanced])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334669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(Time is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O(n) [when unbalanced])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Maximum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rightmost leaf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334669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(Time is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O(logn) [when balanced])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334669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(Time is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O(n) [when unbalanced])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g31d046b6c19_0_7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g31d046b6c19_0_7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11/24</a:t>
            </a:r>
            <a:endParaRPr/>
          </a:p>
        </p:txBody>
      </p:sp>
      <p:pic>
        <p:nvPicPr>
          <p:cNvPr id="276" name="Google Shape;276;g31d046b6c19_0_7"/>
          <p:cNvPicPr preferRelativeResize="0"/>
          <p:nvPr/>
        </p:nvPicPr>
        <p:blipFill rotWithShape="1">
          <a:blip r:embed="rId4">
            <a:alphaModFix/>
          </a:blip>
          <a:srcRect b="0" l="0" r="0" t="18599"/>
          <a:stretch/>
        </p:blipFill>
        <p:spPr>
          <a:xfrm>
            <a:off x="199250" y="1887100"/>
            <a:ext cx="2847007" cy="11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1d046b6c19_0_7" title="sort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600" y="1712900"/>
            <a:ext cx="1994062" cy="13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>
            <p:ph type="title"/>
          </p:nvPr>
        </p:nvSpPr>
        <p:spPr>
          <a:xfrm>
            <a:off x="2048874" y="157725"/>
            <a:ext cx="1584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Minimum of BST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547155" y="536325"/>
            <a:ext cx="2994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 solution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499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4" name="Google Shape;284;p11"/>
          <p:cNvGrpSpPr/>
          <p:nvPr/>
        </p:nvGrpSpPr>
        <p:grpSpPr>
          <a:xfrm>
            <a:off x="382142" y="908915"/>
            <a:ext cx="3502048" cy="1221865"/>
            <a:chOff x="1257300" y="1427987"/>
            <a:chExt cx="3147060" cy="830579"/>
          </a:xfrm>
        </p:grpSpPr>
        <p:pic>
          <p:nvPicPr>
            <p:cNvPr id="285" name="Google Shape;28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7300" y="1427987"/>
              <a:ext cx="3147060" cy="830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6560" y="2133599"/>
              <a:ext cx="304800" cy="7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11"/>
          <p:cNvSpPr txBox="1"/>
          <p:nvPr/>
        </p:nvSpPr>
        <p:spPr>
          <a:xfrm>
            <a:off x="382149" y="2425604"/>
            <a:ext cx="53472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270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algorithm is an example of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tail recursion.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Since </a:t>
            </a:r>
            <a:r>
              <a:rPr b="0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function call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comes with an</a:t>
            </a:r>
            <a:r>
              <a:rPr b="0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overhead,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it is often more efficient to</a:t>
            </a: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eliminate tail recursion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and replace it by a</a:t>
            </a: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loop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11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12/24</a:t>
            </a:r>
            <a:endParaRPr/>
          </a:p>
        </p:txBody>
      </p:sp>
      <p:pic>
        <p:nvPicPr>
          <p:cNvPr id="290" name="Google Shape;290;p11" title="sort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2850" y="1376150"/>
            <a:ext cx="1994062" cy="13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"/>
          <p:cNvSpPr txBox="1"/>
          <p:nvPr/>
        </p:nvSpPr>
        <p:spPr>
          <a:xfrm>
            <a:off x="2117725" y="210875"/>
            <a:ext cx="1941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Minimum of BST</a:t>
            </a:r>
            <a:endParaRPr b="0" i="0" sz="17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519300" y="810025"/>
            <a:ext cx="168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Iterative solution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04" y="1209804"/>
            <a:ext cx="4727176" cy="13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2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12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13/24</a:t>
            </a:r>
            <a:endParaRPr/>
          </a:p>
        </p:txBody>
      </p:sp>
      <p:pic>
        <p:nvPicPr>
          <p:cNvPr id="300" name="Google Shape;300;p12" title="sort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600" y="1712900"/>
            <a:ext cx="1994062" cy="13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700" y="488453"/>
            <a:ext cx="2466900" cy="19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 txBox="1"/>
          <p:nvPr>
            <p:ph type="title"/>
          </p:nvPr>
        </p:nvSpPr>
        <p:spPr>
          <a:xfrm>
            <a:off x="2473356" y="107100"/>
            <a:ext cx="14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Search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391025" y="530250"/>
            <a:ext cx="3318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76" y="910601"/>
            <a:ext cx="2713426" cy="11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 txBox="1"/>
          <p:nvPr/>
        </p:nvSpPr>
        <p:spPr>
          <a:xfrm>
            <a:off x="162500" y="2307550"/>
            <a:ext cx="38262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 complexity is </a:t>
            </a:r>
            <a:r>
              <a:rPr b="0" i="1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O(logn) [when balanced]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complexity is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O(n) [when unbalanced],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where h is height of tree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130860" y="3109223"/>
            <a:ext cx="78867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10"/>
          <p:cNvSpPr txBox="1"/>
          <p:nvPr>
            <p:ph idx="12" type="sldNum"/>
          </p:nvPr>
        </p:nvSpPr>
        <p:spPr>
          <a:xfrm>
            <a:off x="5347970" y="3109223"/>
            <a:ext cx="2489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11/24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4295810" y="199500"/>
            <a:ext cx="7887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Find Key=5</a:t>
            </a:r>
            <a:endParaRPr b="0" i="0" sz="11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d046b6c19_0_89"/>
          <p:cNvSpPr txBox="1"/>
          <p:nvPr>
            <p:ph type="title"/>
          </p:nvPr>
        </p:nvSpPr>
        <p:spPr>
          <a:xfrm>
            <a:off x="2482356" y="157725"/>
            <a:ext cx="1448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 27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8" name="Google Shape;318;g31d046b6c19_0_89"/>
          <p:cNvSpPr txBox="1"/>
          <p:nvPr/>
        </p:nvSpPr>
        <p:spPr>
          <a:xfrm>
            <a:off x="391025" y="530250"/>
            <a:ext cx="3318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1d046b6c19_0_8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g31d046b6c19_0_89"/>
          <p:cNvSpPr txBox="1"/>
          <p:nvPr>
            <p:ph idx="12" type="sldNum"/>
          </p:nvPr>
        </p:nvSpPr>
        <p:spPr>
          <a:xfrm>
            <a:off x="5347970" y="3109223"/>
            <a:ext cx="2490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/>
              <a:t>11/24</a:t>
            </a:r>
            <a:endParaRPr/>
          </a:p>
        </p:txBody>
      </p:sp>
      <p:pic>
        <p:nvPicPr>
          <p:cNvPr id="321" name="Google Shape;321;g31d046b6c19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850" y="397163"/>
            <a:ext cx="3178600" cy="26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1d046b6c19_0_89"/>
          <p:cNvSpPr txBox="1"/>
          <p:nvPr/>
        </p:nvSpPr>
        <p:spPr>
          <a:xfrm>
            <a:off x="3374225" y="966425"/>
            <a:ext cx="2222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Height of this tree is =3</a:t>
            </a: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In BST, comparisons/steps = 4</a:t>
            </a: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In array, comparisons/steps = 11</a:t>
            </a: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C6244E"/>
                </a:solidFill>
                <a:latin typeface="Calibri"/>
                <a:ea typeface="Calibri"/>
                <a:cs typeface="Calibri"/>
                <a:sym typeface="Calibri"/>
              </a:rPr>
              <a:t>For search, BST is Better</a:t>
            </a:r>
            <a:endParaRPr b="1" i="0" sz="1200" u="none" cap="none" strike="noStrike">
              <a:solidFill>
                <a:srgbClr val="C624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54398bc3f_1_5"/>
          <p:cNvSpPr txBox="1"/>
          <p:nvPr>
            <p:ph type="title"/>
          </p:nvPr>
        </p:nvSpPr>
        <p:spPr>
          <a:xfrm>
            <a:off x="688825" y="1104300"/>
            <a:ext cx="471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Try out Interactive Simulation by Visualgo.net (https://visualgo.net/en/bst)</a:t>
            </a:r>
            <a:endParaRPr sz="2450"/>
          </a:p>
        </p:txBody>
      </p:sp>
      <p:sp>
        <p:nvSpPr>
          <p:cNvPr id="328" name="Google Shape;328;g3754398bc3f_1_5"/>
          <p:cNvSpPr txBox="1"/>
          <p:nvPr/>
        </p:nvSpPr>
        <p:spPr>
          <a:xfrm>
            <a:off x="1688477" y="325125"/>
            <a:ext cx="2441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Interactive simulations</a:t>
            </a:r>
            <a:endParaRPr b="0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>
            <p:ph type="title"/>
          </p:nvPr>
        </p:nvSpPr>
        <p:spPr>
          <a:xfrm>
            <a:off x="2243704" y="1130900"/>
            <a:ext cx="1470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chemeClr val="dk2"/>
                </a:solidFill>
              </a:rPr>
              <a:t>The End</a:t>
            </a:r>
            <a:endParaRPr sz="24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2024-12-06T08:18:28Z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for Microsoft 365</vt:lpwstr>
  </property>
</Properties>
</file>