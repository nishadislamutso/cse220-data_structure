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3244850" cx="5765800"/>
  <p:notesSz cx="5765800" cy="3244850"/>
  <p:embeddedFontLst>
    <p:embeddedFont>
      <p:font typeface="Roboto"/>
      <p:regular r:id="rId46"/>
      <p:bold r:id="rId47"/>
      <p:italic r:id="rId48"/>
      <p:boldItalic r:id="rId49"/>
    </p:embeddedFont>
    <p:embeddedFont>
      <p:font typeface="Tahoma"/>
      <p:regular r:id="rId50"/>
      <p:bold r:id="rId51"/>
    </p:embeddedFont>
    <p:embeddedFont>
      <p:font typeface="Helvetica Neue"/>
      <p:regular r:id="rId52"/>
      <p:bold r:id="rId53"/>
      <p:italic r:id="rId54"/>
      <p:boldItalic r:id="rId55"/>
    </p:embeddedFont>
    <p:embeddedFont>
      <p:font typeface="Roboto Mono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60" roundtripDataSignature="AMtx7mhIlzDQVguRge1mBXZVB43YtP27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D958E01-B03A-4D76-A893-4EB355C840E5}">
  <a:tblStyle styleId="{1D958E01-B03A-4D76-A893-4EB355C840E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Roboto-regular.fntdata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Roboto-italic.fntdata"/><Relationship Id="rId47" Type="http://schemas.openxmlformats.org/officeDocument/2006/relationships/font" Target="fonts/Roboto-bold.fntdata"/><Relationship Id="rId49" Type="http://schemas.openxmlformats.org/officeDocument/2006/relationships/font" Target="fonts/Robo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customschemas.google.com/relationships/presentationmetadata" Target="meta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Tahoma-bold.fntdata"/><Relationship Id="rId50" Type="http://schemas.openxmlformats.org/officeDocument/2006/relationships/font" Target="fonts/Tahoma-regular.fntdata"/><Relationship Id="rId53" Type="http://schemas.openxmlformats.org/officeDocument/2006/relationships/font" Target="fonts/HelveticaNeue-bold.fntdata"/><Relationship Id="rId52" Type="http://schemas.openxmlformats.org/officeDocument/2006/relationships/font" Target="fonts/HelveticaNeue-regular.fntdata"/><Relationship Id="rId11" Type="http://schemas.openxmlformats.org/officeDocument/2006/relationships/slide" Target="slides/slide5.xml"/><Relationship Id="rId55" Type="http://schemas.openxmlformats.org/officeDocument/2006/relationships/font" Target="fonts/HelveticaNeue-boldItalic.fntdata"/><Relationship Id="rId10" Type="http://schemas.openxmlformats.org/officeDocument/2006/relationships/slide" Target="slides/slide4.xml"/><Relationship Id="rId54" Type="http://schemas.openxmlformats.org/officeDocument/2006/relationships/font" Target="fonts/HelveticaNeue-italic.fntdata"/><Relationship Id="rId13" Type="http://schemas.openxmlformats.org/officeDocument/2006/relationships/slide" Target="slides/slide7.xml"/><Relationship Id="rId57" Type="http://schemas.openxmlformats.org/officeDocument/2006/relationships/font" Target="fonts/RobotoMono-bold.fntdata"/><Relationship Id="rId12" Type="http://schemas.openxmlformats.org/officeDocument/2006/relationships/slide" Target="slides/slide6.xml"/><Relationship Id="rId56" Type="http://schemas.openxmlformats.org/officeDocument/2006/relationships/font" Target="fonts/RobotoMono-regular.fntdata"/><Relationship Id="rId15" Type="http://schemas.openxmlformats.org/officeDocument/2006/relationships/slide" Target="slides/slide9.xml"/><Relationship Id="rId59" Type="http://schemas.openxmlformats.org/officeDocument/2006/relationships/font" Target="fonts/RobotoMono-boldItalic.fntdata"/><Relationship Id="rId14" Type="http://schemas.openxmlformats.org/officeDocument/2006/relationships/slide" Target="slides/slide8.xml"/><Relationship Id="rId58" Type="http://schemas.openxmlformats.org/officeDocument/2006/relationships/font" Target="fonts/RobotoMono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" name="Google Shape;44;p2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1e7e9de2c2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g31e7e9de2c2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" name="Google Shape;58;p13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1e7e9de2c2_0_46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g31e7e9de2c2_0_46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1e9353764e_1_25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" name="Google Shape;75;g31e9353764e_1_25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1e7e9de2c2_0_16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g31e7e9de2c2_0_16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1e9353764e_1_15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g31e9353764e_1_15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1e9353764e_1_4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g31e9353764e_1_4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6b57ffc93_0_76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g3f6b57ffc93_0_76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1e9353764e_1_36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g31e9353764e_1_36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1e9353764e_1_5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g31e9353764e_1_5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1e9353764e_1_6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g31e9353764e_1_6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4f2ff74c1b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g34f2ff74c1b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1e7e9de2c2_0_123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g31e7e9de2c2_0_123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572374979f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g3572374979f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7b299a943c_1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g37b299a943c_1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7b299a943c_1_1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g37b299a943c_1_1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7b299a943c_1_2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g37b299a943c_1_2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1e7e9de2c2_0_7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g31e7e9de2c2_0_7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7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p17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1e7e9de2c2_0_97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g31e7e9de2c2_0_97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8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p18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1e7e9de2c2_0_106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g31e7e9de2c2_0_106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0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p20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9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5" name="Google Shape;255;p19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1e7e9de2c2_0_115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3" name="Google Shape;263;g31e7e9de2c2_0_115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6b57ffc93_0_46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f6b57ffc93_0_46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6b57ffc93_0_36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f6b57ffc93_0_36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f6b57ffc93_0_4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f6b57ffc93_0_4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f6b57ffc93_0_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f6b57ffc93_0_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f6b57ffc93_0_3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f6b57ffc93_0_3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f6b57ffc93_0_23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f6b57ffc93_0_23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f6b57ffc93_0_5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f6b57ffc93_0_5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f6b57ffc93_0_63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f6b57ffc93_0_63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f6b57ffc93_0_5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f6b57ffc93_0_5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f6b57ffc93_0_1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f6b57ffc93_0_1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f6b57ffc93_0_9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f6b57ffc93_0_9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754431239b_0_3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6" name="Google Shape;336;g3754431239b_0_3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5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2" name="Google Shape;342;p35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8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8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8"/>
          <p:cNvSpPr txBox="1"/>
          <p:nvPr>
            <p:ph idx="12" type="sldNum"/>
          </p:nvPr>
        </p:nvSpPr>
        <p:spPr>
          <a:xfrm>
            <a:off x="5347970" y="3109223"/>
            <a:ext cx="24892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/24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7"/>
          <p:cNvSpPr txBox="1"/>
          <p:nvPr>
            <p:ph type="title"/>
          </p:nvPr>
        </p:nvSpPr>
        <p:spPr>
          <a:xfrm>
            <a:off x="1751202" y="94233"/>
            <a:ext cx="2263394" cy="285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7"/>
          <p:cNvSpPr txBox="1"/>
          <p:nvPr>
            <p:ph idx="1" type="body"/>
          </p:nvPr>
        </p:nvSpPr>
        <p:spPr>
          <a:xfrm>
            <a:off x="0" y="624839"/>
            <a:ext cx="2654935" cy="1584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">
                <a:solidFill>
                  <a:srgbClr val="C6244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7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7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7"/>
          <p:cNvSpPr txBox="1"/>
          <p:nvPr>
            <p:ph idx="12" type="sldNum"/>
          </p:nvPr>
        </p:nvSpPr>
        <p:spPr>
          <a:xfrm>
            <a:off x="5347970" y="3109223"/>
            <a:ext cx="24892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/24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0"/>
          <p:cNvSpPr txBox="1"/>
          <p:nvPr>
            <p:ph type="title"/>
          </p:nvPr>
        </p:nvSpPr>
        <p:spPr>
          <a:xfrm>
            <a:off x="1751202" y="94233"/>
            <a:ext cx="2263394" cy="285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0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0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0"/>
          <p:cNvSpPr txBox="1"/>
          <p:nvPr>
            <p:ph idx="12" type="sldNum"/>
          </p:nvPr>
        </p:nvSpPr>
        <p:spPr>
          <a:xfrm>
            <a:off x="5347970" y="3109223"/>
            <a:ext cx="24892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/24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5760719" cy="719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208" y="708659"/>
            <a:ext cx="1981200" cy="816863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39"/>
          <p:cNvSpPr txBox="1"/>
          <p:nvPr>
            <p:ph type="ctrTitle"/>
          </p:nvPr>
        </p:nvSpPr>
        <p:spPr>
          <a:xfrm>
            <a:off x="1957832" y="60197"/>
            <a:ext cx="1736725" cy="285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9"/>
          <p:cNvSpPr txBox="1"/>
          <p:nvPr>
            <p:ph idx="1" type="subTitle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">
                <a:solidFill>
                  <a:srgbClr val="C6244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9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9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9"/>
          <p:cNvSpPr txBox="1"/>
          <p:nvPr>
            <p:ph idx="12" type="sldNum"/>
          </p:nvPr>
        </p:nvSpPr>
        <p:spPr>
          <a:xfrm>
            <a:off x="5347970" y="3109223"/>
            <a:ext cx="24892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/24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1"/>
          <p:cNvSpPr txBox="1"/>
          <p:nvPr>
            <p:ph type="title"/>
          </p:nvPr>
        </p:nvSpPr>
        <p:spPr>
          <a:xfrm>
            <a:off x="1751202" y="94233"/>
            <a:ext cx="2263394" cy="285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1"/>
          <p:cNvSpPr txBox="1"/>
          <p:nvPr>
            <p:ph idx="1" type="body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1"/>
          <p:cNvSpPr txBox="1"/>
          <p:nvPr>
            <p:ph idx="2" type="body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1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1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1"/>
          <p:cNvSpPr txBox="1"/>
          <p:nvPr>
            <p:ph idx="12" type="sldNum"/>
          </p:nvPr>
        </p:nvSpPr>
        <p:spPr>
          <a:xfrm>
            <a:off x="5347970" y="3109223"/>
            <a:ext cx="24892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/24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3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5760719" cy="71932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36"/>
          <p:cNvSpPr txBox="1"/>
          <p:nvPr>
            <p:ph type="title"/>
          </p:nvPr>
        </p:nvSpPr>
        <p:spPr>
          <a:xfrm>
            <a:off x="1751202" y="94233"/>
            <a:ext cx="2263394" cy="285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6"/>
          <p:cNvSpPr txBox="1"/>
          <p:nvPr>
            <p:ph idx="1" type="body"/>
          </p:nvPr>
        </p:nvSpPr>
        <p:spPr>
          <a:xfrm>
            <a:off x="0" y="624839"/>
            <a:ext cx="2654935" cy="1584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00" u="none" cap="none" strike="noStrike">
                <a:solidFill>
                  <a:srgbClr val="C6244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6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36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6"/>
          <p:cNvSpPr txBox="1"/>
          <p:nvPr>
            <p:ph idx="12" type="sldNum"/>
          </p:nvPr>
        </p:nvSpPr>
        <p:spPr>
          <a:xfrm>
            <a:off x="5347970" y="3109223"/>
            <a:ext cx="24892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/24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jpg"/><Relationship Id="rId4" Type="http://schemas.openxmlformats.org/officeDocument/2006/relationships/hyperlink" Target="http://www.guru99.com/binary-search-tree-data-structure.html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gif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jpg"/><Relationship Id="rId4" Type="http://schemas.openxmlformats.org/officeDocument/2006/relationships/hyperlink" Target="http://www.guru99.com/binary-search-tree-data-structure.html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gif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jpg"/><Relationship Id="rId4" Type="http://schemas.openxmlformats.org/officeDocument/2006/relationships/hyperlink" Target="http://www.guru99.com/binary-search-tree-data-structure.html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jpg"/><Relationship Id="rId4" Type="http://schemas.openxmlformats.org/officeDocument/2006/relationships/hyperlink" Target="http://www.guru99.com/binary-search-tree-data-structure.html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gif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 txBox="1"/>
          <p:nvPr/>
        </p:nvSpPr>
        <p:spPr>
          <a:xfrm>
            <a:off x="764275" y="1117900"/>
            <a:ext cx="46272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2050" u="none" cap="none" strike="noStrike">
                <a:solidFill>
                  <a:srgbClr val="394663"/>
                </a:solidFill>
                <a:latin typeface="Trebuchet MS"/>
                <a:ea typeface="Trebuchet MS"/>
                <a:cs typeface="Trebuchet MS"/>
                <a:sym typeface="Trebuchet MS"/>
              </a:rPr>
              <a:t>Binary Search Tree (BST)</a:t>
            </a:r>
            <a:br>
              <a:rPr b="0" i="0" lang="en-US" sz="17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0" i="0" lang="en-US" sz="16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(Successor, predecessor, Deletion)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" name="Google Shape;47;p2"/>
          <p:cNvSpPr txBox="1"/>
          <p:nvPr>
            <p:ph idx="12" type="sldNum"/>
          </p:nvPr>
        </p:nvSpPr>
        <p:spPr>
          <a:xfrm>
            <a:off x="5347970" y="3109223"/>
            <a:ext cx="24892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/24</a:t>
            </a:r>
            <a:endParaRPr/>
          </a:p>
        </p:txBody>
      </p:sp>
      <p:sp>
        <p:nvSpPr>
          <p:cNvPr id="48" name="Google Shape;48;p2"/>
          <p:cNvSpPr txBox="1"/>
          <p:nvPr/>
        </p:nvSpPr>
        <p:spPr>
          <a:xfrm>
            <a:off x="258400" y="342825"/>
            <a:ext cx="42192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7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1e7e9de2c2_0_0"/>
          <p:cNvSpPr txBox="1"/>
          <p:nvPr/>
        </p:nvSpPr>
        <p:spPr>
          <a:xfrm>
            <a:off x="2476625" y="157725"/>
            <a:ext cx="1198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Overview</a:t>
            </a:r>
            <a:endParaRPr b="0" i="0" sz="17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4" name="Google Shape;54;g31e7e9de2c2_0_0"/>
          <p:cNvSpPr txBox="1"/>
          <p:nvPr>
            <p:ph idx="12" type="sldNum"/>
          </p:nvPr>
        </p:nvSpPr>
        <p:spPr>
          <a:xfrm>
            <a:off x="5347970" y="3109223"/>
            <a:ext cx="2490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/24</a:t>
            </a:r>
            <a:endParaRPr/>
          </a:p>
        </p:txBody>
      </p:sp>
      <p:sp>
        <p:nvSpPr>
          <p:cNvPr id="55" name="Google Shape;55;g31e7e9de2c2_0_0"/>
          <p:cNvSpPr txBox="1"/>
          <p:nvPr/>
        </p:nvSpPr>
        <p:spPr>
          <a:xfrm>
            <a:off x="125375" y="1251050"/>
            <a:ext cx="26496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750">
            <a:spAutoFit/>
          </a:bodyPr>
          <a:lstStyle/>
          <a:p>
            <a:pPr indent="-216533" lvl="0" marL="22923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400"/>
              <a:buFont typeface="Tahoma"/>
              <a:buAutoNum type="arabicPeriod"/>
            </a:pPr>
            <a:r>
              <a:rPr b="0" i="0" lang="en-US" sz="14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Binary trees Ch 12.2–3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16533" lvl="0" marL="229233" marR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334669"/>
              </a:buClr>
              <a:buSzPts val="1400"/>
              <a:buFont typeface="Tahoma"/>
              <a:buAutoNum type="arabicPeriod"/>
            </a:pPr>
            <a:r>
              <a:rPr b="0" i="0" lang="en-US" sz="14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Trees Ch 10.4, 12.1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title"/>
          </p:nvPr>
        </p:nvSpPr>
        <p:spPr>
          <a:xfrm>
            <a:off x="1073275" y="144100"/>
            <a:ext cx="34953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Successor and predecessor in BST</a:t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20575" y="515800"/>
            <a:ext cx="5610000" cy="8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45415" lvl="0" marL="158115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Defined in terms of order of </a:t>
            </a:r>
            <a:r>
              <a:rPr b="0" i="0" lang="en-US" sz="12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in-order tree walk</a:t>
            </a:r>
            <a:endParaRPr b="0" i="0" sz="1200" u="sng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158115" marR="0" rtl="0" algn="l">
              <a:lnSpc>
                <a:spcPct val="115416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Assume unique keys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1" marL="914400" marR="0" rtl="0" algn="l">
              <a:lnSpc>
                <a:spcPct val="115416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○"/>
            </a:pPr>
            <a:r>
              <a:rPr b="1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Successor of x: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 node with the </a:t>
            </a:r>
            <a:r>
              <a:rPr b="0" i="0" lang="en-US" sz="12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smallest key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greater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than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x</a:t>
            </a:r>
            <a:r>
              <a:rPr b="0" i="1" lang="en-US" sz="12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r>
              <a:rPr b="0" i="1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key</a:t>
            </a:r>
            <a:endParaRPr b="0" i="0" sz="12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04800" lvl="1" marL="914400" marR="0" rtl="0" algn="l">
              <a:lnSpc>
                <a:spcPct val="115416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○"/>
            </a:pPr>
            <a:r>
              <a:rPr b="1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Predecessor of x: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 node with the</a:t>
            </a:r>
            <a:r>
              <a:rPr b="0" i="0" lang="en-US" sz="12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largest key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smaller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than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x</a:t>
            </a:r>
            <a:r>
              <a:rPr b="0" i="1" lang="en-US" sz="12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r>
              <a:rPr b="0" i="1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key</a:t>
            </a:r>
            <a:endParaRPr b="0" i="0" sz="12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9975" y="1455400"/>
            <a:ext cx="3151203" cy="121832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 txBox="1"/>
          <p:nvPr/>
        </p:nvSpPr>
        <p:spPr>
          <a:xfrm>
            <a:off x="130860" y="3109223"/>
            <a:ext cx="78867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5347970" y="3109223"/>
            <a:ext cx="24892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US"/>
              <a:t>14/24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1e7e9de2c2_0_46"/>
          <p:cNvSpPr txBox="1"/>
          <p:nvPr>
            <p:ph type="title"/>
          </p:nvPr>
        </p:nvSpPr>
        <p:spPr>
          <a:xfrm>
            <a:off x="1751202" y="94233"/>
            <a:ext cx="22635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972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Tree Successor</a:t>
            </a:r>
            <a:endParaRPr/>
          </a:p>
        </p:txBody>
      </p:sp>
      <p:sp>
        <p:nvSpPr>
          <p:cNvPr id="70" name="Google Shape;70;g31e7e9de2c2_0_46"/>
          <p:cNvSpPr txBox="1"/>
          <p:nvPr/>
        </p:nvSpPr>
        <p:spPr>
          <a:xfrm>
            <a:off x="130860" y="3109223"/>
            <a:ext cx="788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" name="Google Shape;71;g31e7e9de2c2_0_46"/>
          <p:cNvSpPr txBox="1"/>
          <p:nvPr>
            <p:ph idx="12" type="sldNum"/>
          </p:nvPr>
        </p:nvSpPr>
        <p:spPr>
          <a:xfrm>
            <a:off x="5347970" y="3109223"/>
            <a:ext cx="2490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US"/>
              <a:t>15/24</a:t>
            </a:r>
            <a:endParaRPr/>
          </a:p>
        </p:txBody>
      </p:sp>
      <p:pic>
        <p:nvPicPr>
          <p:cNvPr id="72" name="Google Shape;72;g31e7e9de2c2_0_46" title="succeso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850" y="611650"/>
            <a:ext cx="5596675" cy="166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1e9353764e_1_25"/>
          <p:cNvSpPr txBox="1"/>
          <p:nvPr>
            <p:ph type="title"/>
          </p:nvPr>
        </p:nvSpPr>
        <p:spPr>
          <a:xfrm>
            <a:off x="1751202" y="94233"/>
            <a:ext cx="22635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972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Tree Successor</a:t>
            </a:r>
            <a:endParaRPr/>
          </a:p>
        </p:txBody>
      </p:sp>
      <p:sp>
        <p:nvSpPr>
          <p:cNvPr id="78" name="Google Shape;78;g31e9353764e_1_25"/>
          <p:cNvSpPr txBox="1"/>
          <p:nvPr/>
        </p:nvSpPr>
        <p:spPr>
          <a:xfrm>
            <a:off x="130860" y="3109223"/>
            <a:ext cx="788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" name="Google Shape;79;g31e9353764e_1_25"/>
          <p:cNvSpPr txBox="1"/>
          <p:nvPr>
            <p:ph idx="12" type="sldNum"/>
          </p:nvPr>
        </p:nvSpPr>
        <p:spPr>
          <a:xfrm>
            <a:off x="5347970" y="3109223"/>
            <a:ext cx="2490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US"/>
              <a:t>15/24</a:t>
            </a:r>
            <a:endParaRPr/>
          </a:p>
        </p:txBody>
      </p:sp>
      <p:sp>
        <p:nvSpPr>
          <p:cNvPr id="80" name="Google Shape;80;g31e9353764e_1_25"/>
          <p:cNvSpPr txBox="1"/>
          <p:nvPr/>
        </p:nvSpPr>
        <p:spPr>
          <a:xfrm>
            <a:off x="722150" y="517375"/>
            <a:ext cx="4786800" cy="25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lang="en-US" sz="1000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ALGORITHM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>
                <a:solidFill>
                  <a:srgbClr val="7C6A29"/>
                </a:solidFill>
                <a:latin typeface="Consolas"/>
                <a:ea typeface="Consolas"/>
                <a:cs typeface="Consolas"/>
                <a:sym typeface="Consolas"/>
              </a:rPr>
              <a:t>inOrder_successor</a:t>
            </a:r>
            <a:r>
              <a:rPr lang="en-US" sz="1000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(root, x)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lang="en-US" sz="1000">
                <a:solidFill>
                  <a:srgbClr val="6B8E23"/>
                </a:solidFill>
                <a:latin typeface="Consolas"/>
                <a:ea typeface="Consolas"/>
                <a:cs typeface="Consolas"/>
                <a:sym typeface="Consolas"/>
              </a:rPr>
              <a:t># here, y is the successor and x is the current node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lang="en-US" sz="1000">
                <a:solidFill>
                  <a:srgbClr val="6B8E23"/>
                </a:solidFill>
                <a:latin typeface="Consolas"/>
                <a:ea typeface="Consolas"/>
                <a:cs typeface="Consolas"/>
                <a:sym typeface="Consolas"/>
              </a:rPr>
              <a:t># Case 1 - Right Subtree of X Exists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lang="en-US" sz="1000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x.right != </a:t>
            </a:r>
            <a:r>
              <a:rPr lang="en-US" sz="1000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Null THEN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lang="en-US" sz="1000">
                <a:solidFill>
                  <a:srgbClr val="6B8E23"/>
                </a:solidFill>
                <a:latin typeface="Consolas"/>
                <a:ea typeface="Consolas"/>
                <a:cs typeface="Consolas"/>
                <a:sym typeface="Consolas"/>
              </a:rPr>
              <a:t># Successor is the leftmost node of the right subtree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lang="en-US" sz="1000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get_min(x.right)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lang="en-US" sz="1000">
                <a:solidFill>
                  <a:srgbClr val="6B8E23"/>
                </a:solidFill>
                <a:latin typeface="Consolas"/>
                <a:ea typeface="Consolas"/>
                <a:cs typeface="Consolas"/>
                <a:sym typeface="Consolas"/>
              </a:rPr>
              <a:t># Case 2 - Right Subtree of X Doesn't Exist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lang="en-US" sz="1000">
                <a:solidFill>
                  <a:srgbClr val="6B8E23"/>
                </a:solidFill>
                <a:latin typeface="Consolas"/>
                <a:ea typeface="Consolas"/>
                <a:cs typeface="Consolas"/>
                <a:sym typeface="Consolas"/>
              </a:rPr>
              <a:t># Move up the tree as long as the node is a right child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14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   y &lt;- x.parent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lang="en-US" sz="1000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y is not </a:t>
            </a:r>
            <a:r>
              <a:rPr lang="en-US" sz="1000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and x == y.right DO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       x &lt;- y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17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       y &lt;- y.parent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18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lang="en-US" sz="1000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y </a:t>
            </a:r>
            <a:r>
              <a:rPr lang="en-US" sz="1000">
                <a:solidFill>
                  <a:srgbClr val="6B8E23"/>
                </a:solidFill>
                <a:latin typeface="Consolas"/>
                <a:ea typeface="Consolas"/>
                <a:cs typeface="Consolas"/>
                <a:sym typeface="Consolas"/>
              </a:rPr>
              <a:t>## Case3--if x is parents's left child,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19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        </a:t>
            </a:r>
            <a:r>
              <a:rPr lang="en-US" sz="1000">
                <a:solidFill>
                  <a:srgbClr val="6B8E23"/>
                </a:solidFill>
                <a:latin typeface="Consolas"/>
                <a:ea typeface="Consolas"/>
                <a:cs typeface="Consolas"/>
                <a:sym typeface="Consolas"/>
              </a:rPr>
              <a:t>##then parent is the successor</a:t>
            </a:r>
            <a:endParaRPr sz="200">
              <a:solidFill>
                <a:srgbClr val="55555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1e7e9de2c2_0_16"/>
          <p:cNvSpPr txBox="1"/>
          <p:nvPr>
            <p:ph type="title"/>
          </p:nvPr>
        </p:nvSpPr>
        <p:spPr>
          <a:xfrm>
            <a:off x="2060301" y="166800"/>
            <a:ext cx="28737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Successor </a:t>
            </a:r>
            <a:r>
              <a:rPr lang="en-US">
                <a:solidFill>
                  <a:srgbClr val="990000"/>
                </a:solidFill>
              </a:rPr>
              <a:t>(Important!)</a:t>
            </a:r>
            <a:endParaRPr>
              <a:solidFill>
                <a:srgbClr val="990000"/>
              </a:solidFill>
            </a:endParaRPr>
          </a:p>
        </p:txBody>
      </p:sp>
      <p:sp>
        <p:nvSpPr>
          <p:cNvPr id="86" name="Google Shape;86;g31e7e9de2c2_0_16"/>
          <p:cNvSpPr txBox="1"/>
          <p:nvPr/>
        </p:nvSpPr>
        <p:spPr>
          <a:xfrm>
            <a:off x="20575" y="515800"/>
            <a:ext cx="5610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57200" marR="0" rtl="0" algn="l">
              <a:lnSpc>
                <a:spcPct val="1154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7" name="Google Shape;87;g31e7e9de2c2_0_16"/>
          <p:cNvSpPr txBox="1"/>
          <p:nvPr/>
        </p:nvSpPr>
        <p:spPr>
          <a:xfrm>
            <a:off x="130860" y="3109223"/>
            <a:ext cx="788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" name="Google Shape;88;g31e7e9de2c2_0_16"/>
          <p:cNvSpPr txBox="1"/>
          <p:nvPr>
            <p:ph idx="12" type="sldNum"/>
          </p:nvPr>
        </p:nvSpPr>
        <p:spPr>
          <a:xfrm>
            <a:off x="5347970" y="3109223"/>
            <a:ext cx="2490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US"/>
              <a:t>14/24</a:t>
            </a:r>
            <a:endParaRPr/>
          </a:p>
        </p:txBody>
      </p:sp>
      <p:pic>
        <p:nvPicPr>
          <p:cNvPr id="89" name="Google Shape;89;g31e7e9de2c2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9150" y="1192600"/>
            <a:ext cx="2200949" cy="166767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31e7e9de2c2_0_16"/>
          <p:cNvSpPr txBox="1"/>
          <p:nvPr/>
        </p:nvSpPr>
        <p:spPr>
          <a:xfrm>
            <a:off x="130850" y="1319538"/>
            <a:ext cx="2139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find successor(17)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find successor(23)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find successor(19)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find successor(76)</a:t>
            </a:r>
            <a:endParaRPr b="0" i="0" sz="1000" u="none" cap="none" strike="noStrike">
              <a:solidFill>
                <a:srgbClr val="C624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1e9353764e_1_15"/>
          <p:cNvSpPr txBox="1"/>
          <p:nvPr>
            <p:ph type="title"/>
          </p:nvPr>
        </p:nvSpPr>
        <p:spPr>
          <a:xfrm>
            <a:off x="2089176" y="72175"/>
            <a:ext cx="28737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Successor</a:t>
            </a:r>
            <a:endParaRPr/>
          </a:p>
        </p:txBody>
      </p:sp>
      <p:sp>
        <p:nvSpPr>
          <p:cNvPr id="96" name="Google Shape;96;g31e9353764e_1_15"/>
          <p:cNvSpPr txBox="1"/>
          <p:nvPr/>
        </p:nvSpPr>
        <p:spPr>
          <a:xfrm>
            <a:off x="20575" y="515800"/>
            <a:ext cx="5610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57200" marR="0" rtl="0" algn="l">
              <a:lnSpc>
                <a:spcPct val="1154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7" name="Google Shape;97;g31e9353764e_1_15"/>
          <p:cNvSpPr txBox="1"/>
          <p:nvPr/>
        </p:nvSpPr>
        <p:spPr>
          <a:xfrm>
            <a:off x="130860" y="3109223"/>
            <a:ext cx="788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" name="Google Shape;98;g31e9353764e_1_15"/>
          <p:cNvSpPr txBox="1"/>
          <p:nvPr>
            <p:ph idx="12" type="sldNum"/>
          </p:nvPr>
        </p:nvSpPr>
        <p:spPr>
          <a:xfrm>
            <a:off x="5347970" y="3109223"/>
            <a:ext cx="2490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US"/>
              <a:t>14/24</a:t>
            </a:r>
            <a:endParaRPr/>
          </a:p>
        </p:txBody>
      </p:sp>
      <p:pic>
        <p:nvPicPr>
          <p:cNvPr id="99" name="Google Shape;99;g31e9353764e_1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850" y="1089875"/>
            <a:ext cx="2044549" cy="154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1e9353764e_1_15"/>
          <p:cNvSpPr txBox="1"/>
          <p:nvPr/>
        </p:nvSpPr>
        <p:spPr>
          <a:xfrm>
            <a:off x="2305875" y="319150"/>
            <a:ext cx="3349200" cy="29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find successor(17): </a:t>
            </a:r>
            <a:r>
              <a:rPr b="1" i="0" lang="en-US" sz="90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[Case01]</a:t>
            </a:r>
            <a:endParaRPr b="1" i="0" sz="900" u="none" cap="none" strike="noStrike">
              <a:solidFill>
                <a:srgbClr val="A3151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b="0" i="0" lang="en-US" sz="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right sub-tree exists</a:t>
            </a:r>
            <a:endParaRPr b="0" i="0" sz="9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b="0" i="0" lang="en-US" sz="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get the leftmost node (min value) of the right subtree</a:t>
            </a:r>
            <a:endParaRPr b="0" i="0" sz="9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b="0" i="0" lang="en-US" sz="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ans:18</a:t>
            </a:r>
            <a:endParaRPr b="0" i="0" sz="9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find successor(23): </a:t>
            </a:r>
            <a:r>
              <a:rPr b="1" i="0" lang="en-US" sz="90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[Case02]</a:t>
            </a:r>
            <a:endParaRPr b="1" i="0" sz="900" u="none" cap="none" strike="noStrike">
              <a:solidFill>
                <a:srgbClr val="A3151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b="0" i="0" lang="en-US" sz="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right sub-tree does not exist</a:t>
            </a:r>
            <a:endParaRPr b="0" i="0" sz="9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b="0" i="0" lang="en-US" sz="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Loop: right child--Then, start going to the parent as long as it's the left child of its parents </a:t>
            </a:r>
            <a:r>
              <a:rPr b="0" i="0" lang="en-US" sz="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or y becomes Null.</a:t>
            </a:r>
            <a:endParaRPr b="0" i="0" sz="9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b="0" i="0" lang="en-US" sz="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Here, x = current node, y=successor</a:t>
            </a:r>
            <a:endParaRPr b="0" i="0" sz="9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- </a:t>
            </a:r>
            <a:r>
              <a:rPr b="0" i="0" lang="en-US" sz="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Step01:  x(current)=23, y(successor)=17</a:t>
            </a:r>
            <a:endParaRPr b="0" i="0" sz="9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- </a:t>
            </a:r>
            <a:r>
              <a:rPr b="0" i="0" lang="en-US" sz="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Step02:  x(current)=17, y(successor)=50 (end of loop left branching--loop exits)</a:t>
            </a:r>
            <a:endParaRPr b="0" i="0" sz="9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b="0" i="0" lang="en-US" sz="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ans:50</a:t>
            </a:r>
            <a:endParaRPr b="0" i="0" sz="9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1e9353764e_1_4"/>
          <p:cNvSpPr txBox="1"/>
          <p:nvPr>
            <p:ph type="title"/>
          </p:nvPr>
        </p:nvSpPr>
        <p:spPr>
          <a:xfrm>
            <a:off x="1918801" y="53225"/>
            <a:ext cx="28737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Successor</a:t>
            </a:r>
            <a:endParaRPr/>
          </a:p>
        </p:txBody>
      </p:sp>
      <p:sp>
        <p:nvSpPr>
          <p:cNvPr id="106" name="Google Shape;106;g31e9353764e_1_4"/>
          <p:cNvSpPr txBox="1"/>
          <p:nvPr/>
        </p:nvSpPr>
        <p:spPr>
          <a:xfrm>
            <a:off x="20575" y="515800"/>
            <a:ext cx="5610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57200" marR="0" rtl="0" algn="l">
              <a:lnSpc>
                <a:spcPct val="1154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7" name="Google Shape;107;g31e9353764e_1_4"/>
          <p:cNvSpPr txBox="1"/>
          <p:nvPr/>
        </p:nvSpPr>
        <p:spPr>
          <a:xfrm>
            <a:off x="130860" y="3109223"/>
            <a:ext cx="788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" name="Google Shape;108;g31e9353764e_1_4"/>
          <p:cNvSpPr txBox="1"/>
          <p:nvPr>
            <p:ph idx="12" type="sldNum"/>
          </p:nvPr>
        </p:nvSpPr>
        <p:spPr>
          <a:xfrm>
            <a:off x="5347970" y="3109223"/>
            <a:ext cx="2490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US"/>
              <a:t>14/24</a:t>
            </a:r>
            <a:endParaRPr/>
          </a:p>
        </p:txBody>
      </p:sp>
      <p:pic>
        <p:nvPicPr>
          <p:cNvPr id="109" name="Google Shape;109;g31e9353764e_1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850" y="1492700"/>
            <a:ext cx="2166300" cy="1641424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31e9353764e_1_4"/>
          <p:cNvSpPr txBox="1"/>
          <p:nvPr/>
        </p:nvSpPr>
        <p:spPr>
          <a:xfrm>
            <a:off x="2538025" y="267025"/>
            <a:ext cx="3177300" cy="28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find successor(19): </a:t>
            </a:r>
            <a:r>
              <a:rPr b="1" i="0" lang="en-US" sz="90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[Case03]</a:t>
            </a:r>
            <a:endParaRPr b="1" i="0" sz="900" u="none" cap="none" strike="noStrike">
              <a:solidFill>
                <a:srgbClr val="A3151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b="0" i="0" lang="en-US" sz="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right sub-tree does not exist</a:t>
            </a:r>
            <a:endParaRPr b="0" i="0" sz="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b="0" i="0" lang="en-US" sz="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 is left child of parent</a:t>
            </a:r>
            <a:br>
              <a:rPr b="0" i="0" lang="en-US" sz="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--Then, the successor is the parent of 19 which is 23</a:t>
            </a:r>
            <a:endParaRPr b="0" i="0" sz="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b="0" i="0" lang="en-US" sz="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ans:23</a:t>
            </a:r>
            <a:endParaRPr b="0" i="0" sz="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find successor(76): </a:t>
            </a:r>
            <a:r>
              <a:rPr b="1" i="0" lang="en-US" sz="90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[Case02]</a:t>
            </a:r>
            <a:endParaRPr b="1" i="0" sz="900" u="none" cap="none" strike="noStrike">
              <a:solidFill>
                <a:srgbClr val="A3151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b="0" i="0" lang="en-US" sz="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right sub-tree does not exist</a:t>
            </a:r>
            <a:endParaRPr b="0" i="0" sz="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b="0" i="0" lang="en-US" sz="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right child--Then, start going to the parent as long as left branching exists or y becomes Null.</a:t>
            </a:r>
            <a:endParaRPr b="0" i="0" sz="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b="0" i="0" lang="en-US" sz="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Here, x = current node, y=successor</a:t>
            </a:r>
            <a:endParaRPr b="0" i="0" sz="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- </a:t>
            </a:r>
            <a:r>
              <a:rPr b="0" i="0" lang="en-US" sz="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Step01:  x(current)=76, y(successor)=72</a:t>
            </a:r>
            <a:endParaRPr b="0" i="0" sz="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- </a:t>
            </a:r>
            <a:r>
              <a:rPr b="0" i="0" lang="en-US" sz="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Step02:  x(current)=72, y(successor)=50</a:t>
            </a:r>
            <a:endParaRPr b="0" i="0" sz="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- </a:t>
            </a:r>
            <a:r>
              <a:rPr b="0" i="0" lang="en-US" sz="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Step03:  x(current)=50, y(successor)=N</a:t>
            </a:r>
            <a:r>
              <a:rPr lang="en-US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ull</a:t>
            </a:r>
            <a:r>
              <a:rPr b="0" i="0" lang="en-US" sz="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(y==N</a:t>
            </a:r>
            <a:r>
              <a:rPr lang="en-US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ull</a:t>
            </a:r>
            <a:r>
              <a:rPr b="0" i="0" lang="en-US" sz="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loop will end)</a:t>
            </a:r>
            <a:endParaRPr b="0" i="0" sz="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b="0" i="0" lang="en-US" sz="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ans:None/Null</a:t>
            </a:r>
            <a:endParaRPr b="0" i="0" sz="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6b57ffc93_0_76"/>
          <p:cNvSpPr txBox="1"/>
          <p:nvPr>
            <p:ph type="title"/>
          </p:nvPr>
        </p:nvSpPr>
        <p:spPr>
          <a:xfrm>
            <a:off x="2071251" y="68900"/>
            <a:ext cx="28737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Predecessor</a:t>
            </a:r>
            <a:endParaRPr/>
          </a:p>
        </p:txBody>
      </p:sp>
      <p:sp>
        <p:nvSpPr>
          <p:cNvPr id="116" name="Google Shape;116;g3f6b57ffc93_0_76"/>
          <p:cNvSpPr txBox="1"/>
          <p:nvPr/>
        </p:nvSpPr>
        <p:spPr>
          <a:xfrm>
            <a:off x="20575" y="515800"/>
            <a:ext cx="5610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57200" marR="0" rtl="0" algn="l">
              <a:lnSpc>
                <a:spcPct val="1154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7" name="Google Shape;117;g3f6b57ffc93_0_76"/>
          <p:cNvSpPr txBox="1"/>
          <p:nvPr/>
        </p:nvSpPr>
        <p:spPr>
          <a:xfrm>
            <a:off x="130860" y="3109223"/>
            <a:ext cx="788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" name="Google Shape;118;g3f6b57ffc93_0_76"/>
          <p:cNvSpPr txBox="1"/>
          <p:nvPr>
            <p:ph idx="12" type="sldNum"/>
          </p:nvPr>
        </p:nvSpPr>
        <p:spPr>
          <a:xfrm>
            <a:off x="5347970" y="3109223"/>
            <a:ext cx="2490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US"/>
              <a:t>14/24</a:t>
            </a:r>
            <a:endParaRPr/>
          </a:p>
        </p:txBody>
      </p:sp>
      <p:sp>
        <p:nvSpPr>
          <p:cNvPr id="119" name="Google Shape;119;g3f6b57ffc93_0_76"/>
          <p:cNvSpPr txBox="1"/>
          <p:nvPr/>
        </p:nvSpPr>
        <p:spPr>
          <a:xfrm>
            <a:off x="489500" y="456175"/>
            <a:ext cx="4786800" cy="25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i="0" lang="en-US" sz="1000" u="none" cap="none" strike="noStrike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ALGORITHM</a:t>
            </a:r>
            <a:r>
              <a:rPr b="0" i="0" lang="en-US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000" u="none" cap="none" strike="noStrike">
                <a:solidFill>
                  <a:srgbClr val="7C6A29"/>
                </a:solidFill>
                <a:latin typeface="Consolas"/>
                <a:ea typeface="Consolas"/>
                <a:cs typeface="Consolas"/>
                <a:sym typeface="Consolas"/>
              </a:rPr>
              <a:t>inOrder_predecessor</a:t>
            </a:r>
            <a:r>
              <a:rPr b="0" i="0" lang="en-US" sz="1000" u="none" cap="none" strike="noStrike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(root, x)</a:t>
            </a:r>
            <a:endParaRPr sz="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-US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i="0" lang="en-US" sz="1000" u="none" cap="none" strike="noStrike">
                <a:solidFill>
                  <a:srgbClr val="6B8E23"/>
                </a:solidFill>
                <a:latin typeface="Consolas"/>
                <a:ea typeface="Consolas"/>
                <a:cs typeface="Consolas"/>
                <a:sym typeface="Consolas"/>
              </a:rPr>
              <a:t># here, y is the predecessor and x is the current node</a:t>
            </a:r>
            <a:endParaRPr sz="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b="0" i="0" lang="en-US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i="0" lang="en-US" sz="1000" u="none" cap="none" strike="noStrike">
                <a:solidFill>
                  <a:srgbClr val="6B8E23"/>
                </a:solidFill>
                <a:latin typeface="Consolas"/>
                <a:ea typeface="Consolas"/>
                <a:cs typeface="Consolas"/>
                <a:sym typeface="Consolas"/>
              </a:rPr>
              <a:t># Case 1 - Left Subtree of X Exists</a:t>
            </a:r>
            <a:endParaRPr sz="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b="0" i="0" lang="en-US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i="0" lang="en-US" sz="1000" u="none" cap="none" strike="noStrike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x.left != </a:t>
            </a:r>
            <a:r>
              <a:rPr b="0" i="0" lang="en-US" sz="1000" u="none" cap="none" strike="noStrike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1000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ull</a:t>
            </a:r>
            <a:r>
              <a:rPr b="0" i="0" lang="en-US" sz="1000" u="none" cap="none" strike="noStrike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 THEN</a:t>
            </a:r>
            <a:endParaRPr sz="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r>
              <a:rPr b="0" i="0" lang="en-US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i="0" lang="en-US" sz="1000" u="none" cap="none" strike="noStrike">
                <a:solidFill>
                  <a:srgbClr val="6B8E23"/>
                </a:solidFill>
                <a:latin typeface="Consolas"/>
                <a:ea typeface="Consolas"/>
                <a:cs typeface="Consolas"/>
                <a:sym typeface="Consolas"/>
              </a:rPr>
              <a:t># predecessor is the right most node of the left subtree</a:t>
            </a:r>
            <a:endParaRPr sz="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-US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i="0" lang="en-US" sz="1000" u="none" cap="none" strike="noStrike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get_max(x.left)</a:t>
            </a:r>
            <a:endParaRPr sz="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endParaRPr sz="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r>
              <a:rPr b="0" i="0" lang="en-US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i="0" lang="en-US" sz="1000" u="none" cap="none" strike="noStrike">
                <a:solidFill>
                  <a:srgbClr val="6B8E23"/>
                </a:solidFill>
                <a:latin typeface="Consolas"/>
                <a:ea typeface="Consolas"/>
                <a:cs typeface="Consolas"/>
                <a:sym typeface="Consolas"/>
              </a:rPr>
              <a:t># Case 2 - Left Subtree of X Doesn't Exist</a:t>
            </a:r>
            <a:endParaRPr sz="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r>
              <a:rPr b="0" i="0" lang="en-US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i="0" lang="en-US" sz="1000" u="none" cap="none" strike="noStrike">
                <a:solidFill>
                  <a:srgbClr val="6B8E23"/>
                </a:solidFill>
                <a:latin typeface="Consolas"/>
                <a:ea typeface="Consolas"/>
                <a:cs typeface="Consolas"/>
                <a:sym typeface="Consolas"/>
              </a:rPr>
              <a:t># Move up the tree as long as the node is a left child</a:t>
            </a:r>
            <a:endParaRPr sz="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14</a:t>
            </a:r>
            <a:r>
              <a:rPr b="0" i="0" lang="en-US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y &lt;- x.parent</a:t>
            </a:r>
            <a:endParaRPr sz="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r>
              <a:rPr b="0" i="0" lang="en-US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i="0" lang="en-US" sz="1000" u="none" cap="none" strike="noStrike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n-US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y is not </a:t>
            </a:r>
            <a:r>
              <a:rPr b="0" i="0" lang="en-US" sz="1000" u="none" cap="none" strike="noStrike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1000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ull</a:t>
            </a:r>
            <a:r>
              <a:rPr b="0" i="0" lang="en-US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and x == y.left DO</a:t>
            </a:r>
            <a:endParaRPr sz="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r>
              <a:rPr b="0" i="0" lang="en-US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    x &lt;- y</a:t>
            </a:r>
            <a:endParaRPr sz="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17</a:t>
            </a:r>
            <a:r>
              <a:rPr b="0" i="0" lang="en-US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    y &lt;- y.parent</a:t>
            </a:r>
            <a:endParaRPr sz="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18</a:t>
            </a:r>
            <a:r>
              <a:rPr b="0" i="0" lang="en-US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i="0" lang="en-US" sz="1000" u="none" cap="none" strike="noStrike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y </a:t>
            </a:r>
            <a:r>
              <a:rPr b="0" i="0" lang="en-US" sz="1000" u="none" cap="none" strike="noStrike">
                <a:solidFill>
                  <a:srgbClr val="6B8E23"/>
                </a:solidFill>
                <a:latin typeface="Consolas"/>
                <a:ea typeface="Consolas"/>
                <a:cs typeface="Consolas"/>
                <a:sym typeface="Consolas"/>
              </a:rPr>
              <a:t>## Case3--if x is parents's right child,</a:t>
            </a:r>
            <a:endParaRPr sz="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19</a:t>
            </a:r>
            <a:r>
              <a:rPr b="0" i="0" lang="en-US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            </a:t>
            </a:r>
            <a:r>
              <a:rPr b="0" i="0" lang="en-US" sz="1000" u="none" cap="none" strike="noStrike">
                <a:solidFill>
                  <a:srgbClr val="6B8E23"/>
                </a:solidFill>
                <a:latin typeface="Consolas"/>
                <a:ea typeface="Consolas"/>
                <a:cs typeface="Consolas"/>
                <a:sym typeface="Consolas"/>
              </a:rPr>
              <a:t>## then parent is the predecessor</a:t>
            </a:r>
            <a:endParaRPr sz="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1e9353764e_1_36"/>
          <p:cNvSpPr txBox="1"/>
          <p:nvPr>
            <p:ph type="title"/>
          </p:nvPr>
        </p:nvSpPr>
        <p:spPr>
          <a:xfrm>
            <a:off x="2019201" y="184575"/>
            <a:ext cx="28737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Predecessor </a:t>
            </a:r>
            <a:r>
              <a:rPr lang="en-US">
                <a:solidFill>
                  <a:srgbClr val="990000"/>
                </a:solidFill>
              </a:rPr>
              <a:t>(Important!)</a:t>
            </a:r>
            <a:endParaRPr/>
          </a:p>
        </p:txBody>
      </p:sp>
      <p:sp>
        <p:nvSpPr>
          <p:cNvPr id="125" name="Google Shape;125;g31e9353764e_1_36"/>
          <p:cNvSpPr txBox="1"/>
          <p:nvPr/>
        </p:nvSpPr>
        <p:spPr>
          <a:xfrm>
            <a:off x="20575" y="515800"/>
            <a:ext cx="5610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57200" marR="0" rtl="0" algn="l">
              <a:lnSpc>
                <a:spcPct val="1154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6" name="Google Shape;126;g31e9353764e_1_36"/>
          <p:cNvSpPr txBox="1"/>
          <p:nvPr/>
        </p:nvSpPr>
        <p:spPr>
          <a:xfrm>
            <a:off x="130860" y="3109223"/>
            <a:ext cx="788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7" name="Google Shape;127;g31e9353764e_1_36"/>
          <p:cNvSpPr txBox="1"/>
          <p:nvPr>
            <p:ph idx="12" type="sldNum"/>
          </p:nvPr>
        </p:nvSpPr>
        <p:spPr>
          <a:xfrm>
            <a:off x="5347970" y="3109223"/>
            <a:ext cx="2490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US"/>
              <a:t>14/24</a:t>
            </a:r>
            <a:endParaRPr/>
          </a:p>
        </p:txBody>
      </p:sp>
      <p:pic>
        <p:nvPicPr>
          <p:cNvPr id="128" name="Google Shape;128;g31e9353764e_1_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150" y="1159100"/>
            <a:ext cx="2573725" cy="195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31e9353764e_1_36"/>
          <p:cNvSpPr txBox="1"/>
          <p:nvPr/>
        </p:nvSpPr>
        <p:spPr>
          <a:xfrm>
            <a:off x="3286325" y="1491500"/>
            <a:ext cx="2139300" cy="13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find predecessor(17)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find predecessor(23)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find predecessor(19)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find predecessor(76)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find predecessor(9)</a:t>
            </a:r>
            <a:endParaRPr b="0" i="0" sz="1000" u="none" cap="none" strike="noStrike">
              <a:solidFill>
                <a:srgbClr val="C624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1e9353764e_1_52"/>
          <p:cNvSpPr txBox="1"/>
          <p:nvPr>
            <p:ph type="title"/>
          </p:nvPr>
        </p:nvSpPr>
        <p:spPr>
          <a:xfrm>
            <a:off x="1920876" y="161450"/>
            <a:ext cx="28737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Predecessor</a:t>
            </a:r>
            <a:endParaRPr/>
          </a:p>
        </p:txBody>
      </p:sp>
      <p:sp>
        <p:nvSpPr>
          <p:cNvPr id="135" name="Google Shape;135;g31e9353764e_1_52"/>
          <p:cNvSpPr txBox="1"/>
          <p:nvPr/>
        </p:nvSpPr>
        <p:spPr>
          <a:xfrm>
            <a:off x="20575" y="515800"/>
            <a:ext cx="5610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57200" marR="0" rtl="0" algn="l">
              <a:lnSpc>
                <a:spcPct val="1154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6" name="Google Shape;136;g31e9353764e_1_52"/>
          <p:cNvSpPr txBox="1"/>
          <p:nvPr/>
        </p:nvSpPr>
        <p:spPr>
          <a:xfrm>
            <a:off x="130860" y="3109223"/>
            <a:ext cx="788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" name="Google Shape;137;g31e9353764e_1_52"/>
          <p:cNvSpPr txBox="1"/>
          <p:nvPr>
            <p:ph idx="12" type="sldNum"/>
          </p:nvPr>
        </p:nvSpPr>
        <p:spPr>
          <a:xfrm>
            <a:off x="5347970" y="3109223"/>
            <a:ext cx="2490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US"/>
              <a:t>14/24</a:t>
            </a:r>
            <a:endParaRPr/>
          </a:p>
        </p:txBody>
      </p:sp>
      <p:pic>
        <p:nvPicPr>
          <p:cNvPr id="138" name="Google Shape;138;g31e9353764e_1_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300" y="1031250"/>
            <a:ext cx="2322700" cy="175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1e9353764e_1_52"/>
          <p:cNvSpPr txBox="1"/>
          <p:nvPr/>
        </p:nvSpPr>
        <p:spPr>
          <a:xfrm>
            <a:off x="2505275" y="672525"/>
            <a:ext cx="3125400" cy="17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find predecessor(17): [Case01]</a:t>
            </a:r>
            <a:endParaRPr b="1" i="0" sz="950" u="none" cap="none" strike="noStrike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800"/>
              <a:buFont typeface="Roboto"/>
              <a:buChar char="●"/>
            </a:pPr>
            <a:r>
              <a:rPr b="0" i="0" lang="en-US" sz="800" u="none" cap="none" strike="noStrike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Left sub-tree exists</a:t>
            </a:r>
            <a:endParaRPr b="0" i="0" sz="800" u="none" cap="none" strike="noStrike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800"/>
              <a:buFont typeface="Roboto"/>
              <a:buChar char="●"/>
            </a:pPr>
            <a:r>
              <a:rPr b="0" i="0" lang="en-US" sz="800" u="none" cap="none" strike="noStrike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Get the rightmost node (max value) of the left subtree.</a:t>
            </a:r>
            <a:endParaRPr b="0" i="0" sz="800" u="none" cap="none" strike="noStrike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800"/>
              <a:buFont typeface="Roboto"/>
              <a:buChar char="●"/>
            </a:pPr>
            <a:r>
              <a:rPr b="1" i="0" lang="en-US" sz="800" u="none" cap="none" strike="noStrike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Answer:</a:t>
            </a:r>
            <a:r>
              <a:rPr b="0" i="0" lang="en-US" sz="800" u="none" cap="none" strike="noStrike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14</a:t>
            </a:r>
            <a:br>
              <a:rPr b="0" i="0" lang="en-US" sz="800" u="none" cap="none" strike="noStrike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800" u="none" cap="none" strike="noStrike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find predecessor(23): [Case01]</a:t>
            </a:r>
            <a:endParaRPr b="1" i="0" sz="950" u="none" cap="none" strike="noStrike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800"/>
              <a:buFont typeface="Roboto"/>
              <a:buChar char="●"/>
            </a:pPr>
            <a:r>
              <a:rPr b="0" i="0" lang="en-US" sz="800" u="none" cap="none" strike="noStrike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Left sub-tree exists</a:t>
            </a:r>
            <a:endParaRPr b="0" i="0" sz="800" u="none" cap="none" strike="noStrike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800"/>
              <a:buFont typeface="Roboto"/>
              <a:buChar char="●"/>
            </a:pPr>
            <a:r>
              <a:rPr b="0" i="0" lang="en-US" sz="800" u="none" cap="none" strike="noStrike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Get the rightmost node (max value) of the left subtree.</a:t>
            </a:r>
            <a:endParaRPr b="0" i="0" sz="800" u="none" cap="none" strike="noStrike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800"/>
              <a:buFont typeface="Roboto"/>
              <a:buChar char="●"/>
            </a:pPr>
            <a:r>
              <a:rPr b="1" i="0" lang="en-US" sz="800" u="none" cap="none" strike="noStrike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Answer:</a:t>
            </a:r>
            <a:r>
              <a:rPr b="0" i="0" lang="en-US" sz="800" u="none" cap="none" strike="noStrike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19</a:t>
            </a:r>
            <a:endParaRPr b="0" i="0" sz="800" u="none" cap="none" strike="noStrike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1e9353764e_1_68"/>
          <p:cNvSpPr txBox="1"/>
          <p:nvPr>
            <p:ph type="title"/>
          </p:nvPr>
        </p:nvSpPr>
        <p:spPr>
          <a:xfrm>
            <a:off x="1920876" y="161450"/>
            <a:ext cx="28737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Predecessor</a:t>
            </a:r>
            <a:endParaRPr/>
          </a:p>
        </p:txBody>
      </p:sp>
      <p:sp>
        <p:nvSpPr>
          <p:cNvPr id="145" name="Google Shape;145;g31e9353764e_1_68"/>
          <p:cNvSpPr txBox="1"/>
          <p:nvPr/>
        </p:nvSpPr>
        <p:spPr>
          <a:xfrm>
            <a:off x="20575" y="515800"/>
            <a:ext cx="5610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57200" marR="0" rtl="0" algn="l">
              <a:lnSpc>
                <a:spcPct val="1154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6" name="Google Shape;146;g31e9353764e_1_68"/>
          <p:cNvSpPr txBox="1"/>
          <p:nvPr/>
        </p:nvSpPr>
        <p:spPr>
          <a:xfrm>
            <a:off x="130860" y="3109223"/>
            <a:ext cx="788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" name="Google Shape;147;g31e9353764e_1_68"/>
          <p:cNvSpPr txBox="1"/>
          <p:nvPr>
            <p:ph idx="12" type="sldNum"/>
          </p:nvPr>
        </p:nvSpPr>
        <p:spPr>
          <a:xfrm>
            <a:off x="5347970" y="3109223"/>
            <a:ext cx="2490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US"/>
              <a:t>14/24</a:t>
            </a:r>
            <a:endParaRPr/>
          </a:p>
        </p:txBody>
      </p:sp>
      <p:pic>
        <p:nvPicPr>
          <p:cNvPr id="148" name="Google Shape;148;g31e9353764e_1_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350" y="1075450"/>
            <a:ext cx="2322700" cy="175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31e9353764e_1_68"/>
          <p:cNvSpPr txBox="1"/>
          <p:nvPr/>
        </p:nvSpPr>
        <p:spPr>
          <a:xfrm>
            <a:off x="2596975" y="597325"/>
            <a:ext cx="3000000" cy="20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find predecessor(19): [Case01]</a:t>
            </a:r>
            <a:endParaRPr b="1" i="0" sz="950" u="none" cap="none" strike="noStrike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800"/>
              <a:buFont typeface="Roboto"/>
              <a:buChar char="●"/>
            </a:pPr>
            <a:r>
              <a:rPr b="0" i="0" lang="en-US" sz="800" u="none" cap="none" strike="noStrike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Left sub-tree exists</a:t>
            </a:r>
            <a:endParaRPr b="0" i="0" sz="800" u="none" cap="none" strike="noStrike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800"/>
              <a:buFont typeface="Roboto"/>
              <a:buChar char="●"/>
            </a:pPr>
            <a:r>
              <a:rPr b="0" i="0" lang="en-US" sz="800" u="none" cap="none" strike="noStrike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Get the rightmost node (max value) of the left subtree.</a:t>
            </a:r>
            <a:endParaRPr b="0" i="0" sz="800" u="none" cap="none" strike="noStrike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800"/>
              <a:buFont typeface="Roboto"/>
              <a:buChar char="●"/>
            </a:pPr>
            <a:r>
              <a:rPr b="1" i="0" lang="en-US" sz="800" u="none" cap="none" strike="noStrike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Answer:</a:t>
            </a:r>
            <a:r>
              <a:rPr b="0" i="0" lang="en-US" sz="800" u="none" cap="none" strike="noStrike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18</a:t>
            </a:r>
            <a:endParaRPr b="0" i="0" sz="800" u="none" cap="none" strike="noStrike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find predecessor(76): [Case03]</a:t>
            </a:r>
            <a:endParaRPr b="1" i="0" sz="950" u="none" cap="none" strike="noStrike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800"/>
              <a:buFont typeface="Roboto"/>
              <a:buChar char="●"/>
            </a:pPr>
            <a:r>
              <a:rPr b="0" i="0" lang="en-US" sz="800" u="none" cap="none" strike="noStrike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Left sub-tree does not exist</a:t>
            </a:r>
            <a:endParaRPr b="0" i="0" sz="800" u="none" cap="none" strike="noStrike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800"/>
              <a:buFont typeface="Roboto"/>
              <a:buChar char="●"/>
            </a:pPr>
            <a:r>
              <a:rPr b="0" i="0" lang="en-US" sz="800" u="none" cap="none" strike="noStrike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right child of parent--Then, predecessor is the parent which is 72.</a:t>
            </a:r>
            <a:endParaRPr b="0" i="0" sz="800" u="none" cap="none" strike="noStrike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800"/>
              <a:buFont typeface="Roboto"/>
              <a:buChar char="●"/>
            </a:pPr>
            <a:r>
              <a:rPr b="1" i="0" lang="en-US" sz="800" u="none" cap="none" strike="noStrike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Answer:</a:t>
            </a:r>
            <a:r>
              <a:rPr b="0" i="0" lang="en-US" sz="800" u="none" cap="none" strike="noStrike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72</a:t>
            </a:r>
            <a:endParaRPr b="0" i="0" sz="800" u="none" cap="none" strike="noStrike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f2ff74c1b_0_0"/>
          <p:cNvSpPr txBox="1"/>
          <p:nvPr>
            <p:ph type="title"/>
          </p:nvPr>
        </p:nvSpPr>
        <p:spPr>
          <a:xfrm>
            <a:off x="1920876" y="161450"/>
            <a:ext cx="28737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Predecessor</a:t>
            </a:r>
            <a:endParaRPr/>
          </a:p>
        </p:txBody>
      </p:sp>
      <p:sp>
        <p:nvSpPr>
          <p:cNvPr id="155" name="Google Shape;155;g34f2ff74c1b_0_0"/>
          <p:cNvSpPr txBox="1"/>
          <p:nvPr/>
        </p:nvSpPr>
        <p:spPr>
          <a:xfrm>
            <a:off x="20575" y="515800"/>
            <a:ext cx="5610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57200" marR="0" rtl="0" algn="l">
              <a:lnSpc>
                <a:spcPct val="1154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6" name="Google Shape;156;g34f2ff74c1b_0_0"/>
          <p:cNvSpPr txBox="1"/>
          <p:nvPr/>
        </p:nvSpPr>
        <p:spPr>
          <a:xfrm>
            <a:off x="130860" y="3109223"/>
            <a:ext cx="788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" name="Google Shape;157;g34f2ff74c1b_0_0"/>
          <p:cNvSpPr txBox="1"/>
          <p:nvPr>
            <p:ph idx="12" type="sldNum"/>
          </p:nvPr>
        </p:nvSpPr>
        <p:spPr>
          <a:xfrm>
            <a:off x="5347970" y="3109223"/>
            <a:ext cx="2490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US"/>
              <a:t>14/24</a:t>
            </a:r>
            <a:endParaRPr/>
          </a:p>
        </p:txBody>
      </p:sp>
      <p:pic>
        <p:nvPicPr>
          <p:cNvPr id="158" name="Google Shape;158;g34f2ff74c1b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350" y="1075450"/>
            <a:ext cx="2322700" cy="175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34f2ff74c1b_0_0"/>
          <p:cNvSpPr txBox="1"/>
          <p:nvPr/>
        </p:nvSpPr>
        <p:spPr>
          <a:xfrm>
            <a:off x="2494050" y="597325"/>
            <a:ext cx="3102900" cy="21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find predecessor(9): [Case02]</a:t>
            </a:r>
            <a:endParaRPr b="1" i="0" sz="950" u="none" cap="none" strike="noStrike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800"/>
              <a:buFont typeface="Roboto"/>
              <a:buChar char="●"/>
            </a:pPr>
            <a:r>
              <a:rPr b="0" i="0" lang="en-US" sz="800" u="none" cap="none" strike="noStrike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Left sub-tree does not exist</a:t>
            </a:r>
            <a:endParaRPr b="0" i="0" sz="800" u="none" cap="none" strike="noStrike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800"/>
              <a:buFont typeface="Roboto"/>
              <a:buChar char="●"/>
            </a:pPr>
            <a:r>
              <a:rPr b="0" i="0" lang="en-US" sz="800" u="none" cap="none" strike="noStrike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LOOP: left child of its parent--Then, start going to the parent as long as its the left child  or y becomes Null.</a:t>
            </a:r>
            <a:endParaRPr b="0" i="0" sz="800" u="none" cap="none" strike="noStrike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800"/>
              <a:buFont typeface="Roboto"/>
              <a:buChar char="●"/>
            </a:pPr>
            <a:r>
              <a:rPr b="0" i="0" lang="en-US" sz="800" u="none" cap="none" strike="noStrike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- Here, x = current node, y=predecessor</a:t>
            </a:r>
            <a:endParaRPr b="0" i="0" sz="800" u="none" cap="none" strike="noStrike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800"/>
              <a:buFont typeface="Roboto"/>
              <a:buChar char="●"/>
            </a:pPr>
            <a:r>
              <a:rPr b="0" i="0" lang="en-US" sz="800" u="none" cap="none" strike="noStrike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  - Step01:  x(current)=9, y(predecessor)=12</a:t>
            </a:r>
            <a:endParaRPr b="0" i="0" sz="800" u="none" cap="none" strike="noStrike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800"/>
              <a:buFont typeface="Roboto"/>
              <a:buChar char="●"/>
            </a:pPr>
            <a:r>
              <a:rPr b="0" i="0" lang="en-US" sz="800" u="none" cap="none" strike="noStrike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  - Step02:  x(current)=12, y(predecessor)=17</a:t>
            </a:r>
            <a:endParaRPr b="0" i="0" sz="800" u="none" cap="none" strike="noStrike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800"/>
              <a:buFont typeface="Roboto"/>
              <a:buChar char="●"/>
            </a:pPr>
            <a:r>
              <a:rPr b="0" i="0" lang="en-US" sz="800" u="none" cap="none" strike="noStrike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  - Step03:  x(current)=17, y(predecessor)=50</a:t>
            </a:r>
            <a:endParaRPr b="0" i="0" sz="800" u="none" cap="none" strike="noStrike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800"/>
              <a:buFont typeface="Roboto"/>
              <a:buChar char="●"/>
            </a:pPr>
            <a:r>
              <a:rPr b="0" i="0" lang="en-US" sz="800" u="none" cap="none" strike="noStrike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  - Step04:  x(current)=50, y(predecessor)=N</a:t>
            </a:r>
            <a:r>
              <a:rPr lang="en-US" sz="8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ull</a:t>
            </a:r>
            <a:r>
              <a:rPr b="0" i="0" lang="en-US" sz="800" u="none" cap="none" strike="noStrike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br>
              <a:rPr b="0" i="0" lang="en-US" sz="800" u="none" cap="none" strike="noStrike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800" u="none" cap="none" strike="noStrike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(y==N</a:t>
            </a:r>
            <a:r>
              <a:rPr lang="en-US" sz="8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ull</a:t>
            </a:r>
            <a:r>
              <a:rPr b="0" i="0" lang="en-US" sz="800" u="none" cap="none" strike="noStrike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, loop will end)</a:t>
            </a:r>
            <a:endParaRPr b="0" i="0" sz="800" u="none" cap="none" strike="noStrike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800"/>
              <a:buFont typeface="Roboto"/>
              <a:buChar char="●"/>
            </a:pPr>
            <a:r>
              <a:rPr b="1" i="0" lang="en-US" sz="800" u="none" cap="none" strike="noStrike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Answer:</a:t>
            </a:r>
            <a:r>
              <a:rPr b="0" i="0" lang="en-US" sz="800" u="none" cap="none" strike="noStrike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None/Null</a:t>
            </a:r>
            <a:endParaRPr b="0" i="0" sz="800" u="none" cap="none" strike="noStrike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1e7e9de2c2_0_123"/>
          <p:cNvSpPr txBox="1"/>
          <p:nvPr>
            <p:ph type="title"/>
          </p:nvPr>
        </p:nvSpPr>
        <p:spPr>
          <a:xfrm>
            <a:off x="1388726" y="144100"/>
            <a:ext cx="28737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Successor and Predecessor</a:t>
            </a:r>
            <a:endParaRPr/>
          </a:p>
        </p:txBody>
      </p:sp>
      <p:sp>
        <p:nvSpPr>
          <p:cNvPr id="165" name="Google Shape;165;g31e7e9de2c2_0_123"/>
          <p:cNvSpPr txBox="1"/>
          <p:nvPr/>
        </p:nvSpPr>
        <p:spPr>
          <a:xfrm>
            <a:off x="20575" y="515800"/>
            <a:ext cx="5610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57200" marR="0" rtl="0" algn="l">
              <a:lnSpc>
                <a:spcPct val="1154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6" name="Google Shape;166;g31e7e9de2c2_0_123"/>
          <p:cNvSpPr txBox="1"/>
          <p:nvPr>
            <p:ph idx="12" type="sldNum"/>
          </p:nvPr>
        </p:nvSpPr>
        <p:spPr>
          <a:xfrm>
            <a:off x="5347970" y="3109223"/>
            <a:ext cx="2490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US"/>
              <a:t>14/24</a:t>
            </a:r>
            <a:endParaRPr/>
          </a:p>
        </p:txBody>
      </p:sp>
      <p:pic>
        <p:nvPicPr>
          <p:cNvPr id="167" name="Google Shape;167;g31e7e9de2c2_0_123"/>
          <p:cNvPicPr preferRelativeResize="0"/>
          <p:nvPr/>
        </p:nvPicPr>
        <p:blipFill rotWithShape="1">
          <a:blip r:embed="rId3">
            <a:alphaModFix/>
          </a:blip>
          <a:srcRect b="5970" l="0" r="0" t="0"/>
          <a:stretch/>
        </p:blipFill>
        <p:spPr>
          <a:xfrm>
            <a:off x="1598325" y="464850"/>
            <a:ext cx="2328125" cy="24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31e7e9de2c2_0_123"/>
          <p:cNvSpPr txBox="1"/>
          <p:nvPr/>
        </p:nvSpPr>
        <p:spPr>
          <a:xfrm>
            <a:off x="3" y="3037675"/>
            <a:ext cx="3014400" cy="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Image Source: https://www.javatpoint.com/inorder-predecessor-and-successor-in-a-binary-search-tree</a:t>
            </a:r>
            <a:endParaRPr b="0" i="0" sz="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572374979f_0_0"/>
          <p:cNvSpPr txBox="1"/>
          <p:nvPr>
            <p:ph type="title"/>
          </p:nvPr>
        </p:nvSpPr>
        <p:spPr>
          <a:xfrm>
            <a:off x="1388726" y="144100"/>
            <a:ext cx="28737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Successor and Predecessor</a:t>
            </a:r>
            <a:endParaRPr/>
          </a:p>
        </p:txBody>
      </p:sp>
      <p:sp>
        <p:nvSpPr>
          <p:cNvPr id="174" name="Google Shape;174;g3572374979f_0_0"/>
          <p:cNvSpPr txBox="1"/>
          <p:nvPr/>
        </p:nvSpPr>
        <p:spPr>
          <a:xfrm>
            <a:off x="516475" y="828025"/>
            <a:ext cx="5610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57200" marR="0" rtl="0" algn="l">
              <a:lnSpc>
                <a:spcPct val="1154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IMPORTANT: REMEMBER THIS!!!!!</a:t>
            </a:r>
            <a:endParaRPr b="0" i="0" sz="1200" u="none" cap="none" strike="noStrike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5" name="Google Shape;175;g3572374979f_0_0"/>
          <p:cNvSpPr txBox="1"/>
          <p:nvPr>
            <p:ph idx="12" type="sldNum"/>
          </p:nvPr>
        </p:nvSpPr>
        <p:spPr>
          <a:xfrm>
            <a:off x="5347970" y="3109223"/>
            <a:ext cx="2490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US"/>
              <a:t>14/24</a:t>
            </a:r>
            <a:endParaRPr/>
          </a:p>
        </p:txBody>
      </p:sp>
      <p:sp>
        <p:nvSpPr>
          <p:cNvPr id="176" name="Google Shape;176;g3572374979f_0_0"/>
          <p:cNvSpPr txBox="1"/>
          <p:nvPr/>
        </p:nvSpPr>
        <p:spPr>
          <a:xfrm>
            <a:off x="3" y="3037675"/>
            <a:ext cx="3014400" cy="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Image Source: https://www.javatpoint.com/inorder-predecessor-and-successor-in-a-binary-search-tree</a:t>
            </a:r>
            <a:endParaRPr b="0" i="0" sz="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7" name="Google Shape;177;g3572374979f_0_0"/>
          <p:cNvSpPr txBox="1"/>
          <p:nvPr/>
        </p:nvSpPr>
        <p:spPr>
          <a:xfrm>
            <a:off x="919100" y="1074675"/>
            <a:ext cx="4360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6244E"/>
                </a:solidFill>
                <a:latin typeface="Calibri"/>
                <a:ea typeface="Calibri"/>
                <a:cs typeface="Calibri"/>
                <a:sym typeface="Calibri"/>
              </a:rPr>
              <a:t>Largest </a:t>
            </a:r>
            <a:r>
              <a:rPr b="0" i="0" lang="en-US" sz="1200" u="none" cap="none" strike="noStrike">
                <a:solidFill>
                  <a:srgbClr val="C6244E"/>
                </a:solidFill>
                <a:latin typeface="Calibri"/>
                <a:ea typeface="Calibri"/>
                <a:cs typeface="Calibri"/>
                <a:sym typeface="Calibri"/>
              </a:rPr>
              <a:t>element in BST does </a:t>
            </a:r>
            <a:r>
              <a:rPr b="1" i="0" lang="en-US" sz="1200" u="none" cap="none" strike="noStrike">
                <a:solidFill>
                  <a:srgbClr val="C6244E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b="0" i="0" lang="en-US" sz="1200" u="none" cap="none" strike="noStrike">
                <a:solidFill>
                  <a:srgbClr val="C6244E"/>
                </a:solidFill>
                <a:latin typeface="Calibri"/>
                <a:ea typeface="Calibri"/>
                <a:cs typeface="Calibri"/>
                <a:sym typeface="Calibri"/>
              </a:rPr>
              <a:t> have </a:t>
            </a:r>
            <a:r>
              <a:rPr b="1" i="0" lang="en-US" sz="1200" u="none" cap="none" strike="noStrike">
                <a:solidFill>
                  <a:srgbClr val="C6244E"/>
                </a:solidFill>
                <a:latin typeface="Calibri"/>
                <a:ea typeface="Calibri"/>
                <a:cs typeface="Calibri"/>
                <a:sym typeface="Calibri"/>
              </a:rPr>
              <a:t>successor </a:t>
            </a:r>
            <a:r>
              <a:rPr b="0" i="0" lang="en-US" sz="1200" u="none" cap="none" strike="noStrike">
                <a:solidFill>
                  <a:srgbClr val="C6244E"/>
                </a:solidFill>
                <a:latin typeface="Calibri"/>
                <a:ea typeface="Calibri"/>
                <a:cs typeface="Calibri"/>
                <a:sym typeface="Calibri"/>
              </a:rPr>
              <a:t>(None/Null)</a:t>
            </a:r>
            <a:br>
              <a:rPr b="0" i="0" lang="en-US" sz="1200" u="none" cap="none" strike="noStrike">
                <a:solidFill>
                  <a:srgbClr val="C6244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C6244E"/>
                </a:solidFill>
                <a:latin typeface="Calibri"/>
                <a:ea typeface="Calibri"/>
                <a:cs typeface="Calibri"/>
                <a:sym typeface="Calibri"/>
              </a:rPr>
              <a:t>Smallest</a:t>
            </a:r>
            <a:r>
              <a:rPr b="0" i="0" lang="en-US" sz="1200" u="none" cap="none" strike="noStrike">
                <a:solidFill>
                  <a:srgbClr val="C6244E"/>
                </a:solidFill>
                <a:latin typeface="Calibri"/>
                <a:ea typeface="Calibri"/>
                <a:cs typeface="Calibri"/>
                <a:sym typeface="Calibri"/>
              </a:rPr>
              <a:t> element in BST does </a:t>
            </a:r>
            <a:r>
              <a:rPr b="1" i="0" lang="en-US" sz="1200" u="none" cap="none" strike="noStrike">
                <a:solidFill>
                  <a:srgbClr val="C6244E"/>
                </a:solidFill>
                <a:latin typeface="Calibri"/>
                <a:ea typeface="Calibri"/>
                <a:cs typeface="Calibri"/>
                <a:sym typeface="Calibri"/>
              </a:rPr>
              <a:t>not </a:t>
            </a:r>
            <a:r>
              <a:rPr b="0" i="0" lang="en-US" sz="1200" u="none" cap="none" strike="noStrike">
                <a:solidFill>
                  <a:srgbClr val="C6244E"/>
                </a:solidFill>
                <a:latin typeface="Calibri"/>
                <a:ea typeface="Calibri"/>
                <a:cs typeface="Calibri"/>
                <a:sym typeface="Calibri"/>
              </a:rPr>
              <a:t>have </a:t>
            </a:r>
            <a:r>
              <a:rPr b="1" i="0" lang="en-US" sz="1200" u="none" cap="none" strike="noStrike">
                <a:solidFill>
                  <a:srgbClr val="C6244E"/>
                </a:solidFill>
                <a:latin typeface="Calibri"/>
                <a:ea typeface="Calibri"/>
                <a:cs typeface="Calibri"/>
                <a:sym typeface="Calibri"/>
              </a:rPr>
              <a:t>predecessor</a:t>
            </a:r>
            <a:r>
              <a:rPr b="0" i="0" lang="en-US" sz="1200" u="none" cap="none" strike="noStrike">
                <a:solidFill>
                  <a:srgbClr val="C6244E"/>
                </a:solidFill>
                <a:latin typeface="Calibri"/>
                <a:ea typeface="Calibri"/>
                <a:cs typeface="Calibri"/>
                <a:sym typeface="Calibri"/>
              </a:rPr>
              <a:t> (None/Null)</a:t>
            </a:r>
            <a:endParaRPr b="0" i="0" sz="1200" u="none" cap="none" strike="noStrike">
              <a:solidFill>
                <a:srgbClr val="C624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7b299a943c_1_0"/>
          <p:cNvSpPr txBox="1"/>
          <p:nvPr>
            <p:ph type="title"/>
          </p:nvPr>
        </p:nvSpPr>
        <p:spPr>
          <a:xfrm>
            <a:off x="631050" y="131850"/>
            <a:ext cx="52653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Shortcut to Find Successor &amp; Predecessor in BST</a:t>
            </a:r>
            <a:endParaRPr/>
          </a:p>
        </p:txBody>
      </p:sp>
      <p:sp>
        <p:nvSpPr>
          <p:cNvPr id="183" name="Google Shape;183;g37b299a943c_1_0"/>
          <p:cNvSpPr txBox="1"/>
          <p:nvPr/>
        </p:nvSpPr>
        <p:spPr>
          <a:xfrm>
            <a:off x="377900" y="785175"/>
            <a:ext cx="5010600" cy="9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98450" lvl="0" marL="457200" marR="0" rtl="0" algn="l">
              <a:lnSpc>
                <a:spcPct val="1154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Step1: 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 </a:t>
            </a:r>
            <a:r>
              <a:rPr b="1" i="0" lang="en-US" sz="1100" u="none" cap="none" strike="noStrike">
                <a:solidFill>
                  <a:schemeClr val="dk1"/>
                </a:solidFill>
              </a:rPr>
              <a:t>inorder traversal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yields nodes in ascending order.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4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Step2: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a node </a:t>
            </a:r>
            <a:r>
              <a:rPr b="0" i="0" lang="en-US" sz="11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4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Successor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element immediately </a:t>
            </a: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1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endParaRPr b="0" i="0" sz="1100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1" marL="914400" marR="0" rtl="0" algn="l">
              <a:lnSpc>
                <a:spcPct val="1154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Predecessor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element immediately </a:t>
            </a: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1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endParaRPr b="0" i="0" sz="1100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4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4" name="Google Shape;184;g37b299a943c_1_0"/>
          <p:cNvSpPr txBox="1"/>
          <p:nvPr>
            <p:ph idx="12" type="sldNum"/>
          </p:nvPr>
        </p:nvSpPr>
        <p:spPr>
          <a:xfrm>
            <a:off x="5347970" y="3109223"/>
            <a:ext cx="2490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US"/>
              <a:t>14/24</a:t>
            </a:r>
            <a:endParaRPr/>
          </a:p>
        </p:txBody>
      </p:sp>
      <p:sp>
        <p:nvSpPr>
          <p:cNvPr id="185" name="Google Shape;185;g37b299a943c_1_0"/>
          <p:cNvSpPr txBox="1"/>
          <p:nvPr/>
        </p:nvSpPr>
        <p:spPr>
          <a:xfrm>
            <a:off x="3" y="3037675"/>
            <a:ext cx="3014400" cy="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Image Source: https://www.javatpoint.com/inorder-predecessor-and-successor-in-a-binary-search-tree</a:t>
            </a:r>
            <a:endParaRPr b="0" i="0" sz="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7b299a943c_1_10"/>
          <p:cNvSpPr txBox="1"/>
          <p:nvPr>
            <p:ph type="title"/>
          </p:nvPr>
        </p:nvSpPr>
        <p:spPr>
          <a:xfrm>
            <a:off x="594300" y="139950"/>
            <a:ext cx="52653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Shortcut to Find Successor &amp; Predecessor in BST</a:t>
            </a:r>
            <a:endParaRPr/>
          </a:p>
        </p:txBody>
      </p:sp>
      <p:sp>
        <p:nvSpPr>
          <p:cNvPr id="191" name="Google Shape;191;g37b299a943c_1_10"/>
          <p:cNvSpPr txBox="1"/>
          <p:nvPr>
            <p:ph idx="12" type="sldNum"/>
          </p:nvPr>
        </p:nvSpPr>
        <p:spPr>
          <a:xfrm>
            <a:off x="5347970" y="3109223"/>
            <a:ext cx="2490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US"/>
              <a:t>14/24</a:t>
            </a:r>
            <a:endParaRPr/>
          </a:p>
        </p:txBody>
      </p:sp>
      <p:sp>
        <p:nvSpPr>
          <p:cNvPr id="192" name="Google Shape;192;g37b299a943c_1_10"/>
          <p:cNvSpPr txBox="1"/>
          <p:nvPr/>
        </p:nvSpPr>
        <p:spPr>
          <a:xfrm>
            <a:off x="3" y="3037675"/>
            <a:ext cx="3014400" cy="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Image Source: https://www.javatpoint.com/inorder-predecessor-and-successor-in-a-binary-search-tree</a:t>
            </a:r>
            <a:endParaRPr b="0" i="0" sz="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93" name="Google Shape;193;g37b299a943c_1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950" y="539500"/>
            <a:ext cx="2219825" cy="168197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37b299a943c_1_10"/>
          <p:cNvSpPr txBox="1"/>
          <p:nvPr/>
        </p:nvSpPr>
        <p:spPr>
          <a:xfrm>
            <a:off x="2878075" y="539500"/>
            <a:ext cx="2688000" cy="10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find successor(17)= 18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find successor(23)= 50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find successor(19)= 23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find successor(76)= N</a:t>
            </a: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ull</a:t>
            </a:r>
            <a:endParaRPr b="0" i="0" sz="1000" u="none" cap="none" strike="noStrike">
              <a:solidFill>
                <a:srgbClr val="C624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7b299a943c_1_10"/>
          <p:cNvSpPr txBox="1"/>
          <p:nvPr/>
        </p:nvSpPr>
        <p:spPr>
          <a:xfrm>
            <a:off x="202825" y="2346525"/>
            <a:ext cx="514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In-order traversal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1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ull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9  12  14  17  18  19  23  50  54  67  72  76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1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ull</a:t>
            </a:r>
            <a:endParaRPr b="0" i="0" sz="12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7b299a943c_1_20"/>
          <p:cNvSpPr txBox="1"/>
          <p:nvPr>
            <p:ph type="title"/>
          </p:nvPr>
        </p:nvSpPr>
        <p:spPr>
          <a:xfrm>
            <a:off x="796350" y="113500"/>
            <a:ext cx="52653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Shortcut to Find Successor &amp; Predecessor in BST</a:t>
            </a:r>
            <a:endParaRPr/>
          </a:p>
        </p:txBody>
      </p:sp>
      <p:sp>
        <p:nvSpPr>
          <p:cNvPr id="201" name="Google Shape;201;g37b299a943c_1_20"/>
          <p:cNvSpPr txBox="1"/>
          <p:nvPr>
            <p:ph idx="12" type="sldNum"/>
          </p:nvPr>
        </p:nvSpPr>
        <p:spPr>
          <a:xfrm>
            <a:off x="5347970" y="3109223"/>
            <a:ext cx="2490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US"/>
              <a:t>14/24</a:t>
            </a:r>
            <a:endParaRPr/>
          </a:p>
        </p:txBody>
      </p:sp>
      <p:sp>
        <p:nvSpPr>
          <p:cNvPr id="202" name="Google Shape;202;g37b299a943c_1_20"/>
          <p:cNvSpPr txBox="1"/>
          <p:nvPr/>
        </p:nvSpPr>
        <p:spPr>
          <a:xfrm>
            <a:off x="3" y="3037675"/>
            <a:ext cx="3014400" cy="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Image Source: https://www.javatpoint.com/inorder-predecessor-and-successor-in-a-binary-search-tree</a:t>
            </a:r>
            <a:endParaRPr b="0" i="0" sz="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3" name="Google Shape;203;g37b299a943c_1_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950" y="539500"/>
            <a:ext cx="2219825" cy="1681976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g37b299a943c_1_20"/>
          <p:cNvSpPr txBox="1"/>
          <p:nvPr/>
        </p:nvSpPr>
        <p:spPr>
          <a:xfrm>
            <a:off x="2878075" y="539500"/>
            <a:ext cx="2688000" cy="13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find predecessor(17)= 14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find predecessor(23)= 19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find predecessor(19)= 18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find predecessor(76)= 72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find predecessor(9)= N</a:t>
            </a: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ull</a:t>
            </a:r>
            <a:endParaRPr b="0" i="0" sz="1000" u="none" cap="none" strike="noStrike">
              <a:solidFill>
                <a:srgbClr val="C624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7b299a943c_1_20"/>
          <p:cNvSpPr txBox="1"/>
          <p:nvPr/>
        </p:nvSpPr>
        <p:spPr>
          <a:xfrm>
            <a:off x="202825" y="2346525"/>
            <a:ext cx="514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In-order traversal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None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9  12  14  17  18  19  23  50  54  67  72  76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None</a:t>
            </a:r>
            <a:endParaRPr b="0" i="0" sz="12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1e7e9de2c2_0_7"/>
          <p:cNvSpPr txBox="1"/>
          <p:nvPr/>
        </p:nvSpPr>
        <p:spPr>
          <a:xfrm>
            <a:off x="193300" y="464425"/>
            <a:ext cx="5379300" cy="25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6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Deletion</a:t>
            </a:r>
            <a:endParaRPr b="0" i="0" sz="12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47320" lvl="0" marL="290830" marR="0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Let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z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be the node to delete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b="0" i="0" sz="12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46685" lvl="0" marL="290195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Trebuchet MS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Three basic cases</a:t>
            </a:r>
            <a:endParaRPr b="0" i="0" sz="12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30808" lvl="1" marL="565150" marR="0" rtl="0" algn="l">
              <a:lnSpc>
                <a:spcPct val="100000"/>
              </a:lnSpc>
              <a:spcBef>
                <a:spcPts val="175"/>
              </a:spcBef>
              <a:spcAft>
                <a:spcPts val="0"/>
              </a:spcAft>
              <a:buClr>
                <a:srgbClr val="334669"/>
              </a:buClr>
              <a:buSzPts val="1000"/>
              <a:buFont typeface="Arial"/>
              <a:buChar char="•"/>
            </a:pPr>
            <a:r>
              <a:rPr b="1" i="0" lang="en-US" sz="1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Case1: </a:t>
            </a:r>
            <a:r>
              <a:rPr b="0" i="1" lang="en-US" sz="1000" u="sng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z </a:t>
            </a:r>
            <a:r>
              <a:rPr b="0" i="0" lang="en-US" sz="1000" u="sng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has no children:</a:t>
            </a:r>
            <a:r>
              <a:rPr b="0" i="0" lang="en-US" sz="1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delete </a:t>
            </a:r>
            <a:r>
              <a:rPr b="0" i="1" lang="en-US" sz="1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z</a:t>
            </a:r>
            <a:r>
              <a:rPr b="0" i="0" lang="en-US" sz="1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, set corresponding child pointer in z.p to </a:t>
            </a:r>
            <a:r>
              <a:rPr b="0" i="1" lang="en-US" sz="1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NIL</a:t>
            </a:r>
            <a:br>
              <a:rPr b="0" i="1" lang="en-US" sz="1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b="0" i="0" sz="1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30808" lvl="1" marL="565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000"/>
              <a:buFont typeface="Arial"/>
              <a:buChar char="•"/>
            </a:pPr>
            <a:r>
              <a:rPr b="1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Case2:</a:t>
            </a:r>
            <a:r>
              <a:rPr b="0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0" i="1" lang="en-US" sz="1000" u="sng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z </a:t>
            </a:r>
            <a:r>
              <a:rPr b="0" i="0" lang="en-US" sz="1000" u="sng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has one child y:</a:t>
            </a:r>
            <a:r>
              <a:rPr b="0" i="0" lang="en-US" sz="1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Ensure the deleted </a:t>
            </a:r>
            <a:r>
              <a:rPr b="1" i="0" lang="en-US" sz="1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node's child </a:t>
            </a:r>
            <a:r>
              <a:rPr b="0" i="0" lang="en-US" sz="1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is connected to the deleted</a:t>
            </a:r>
            <a:r>
              <a:rPr b="1" i="0" lang="en-US" sz="1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node's parent. 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b="0" i="0" sz="1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30808" lvl="1" marL="565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000"/>
              <a:buFont typeface="Arial"/>
              <a:buChar char="•"/>
            </a:pPr>
            <a:r>
              <a:rPr b="1" i="0" lang="en-US" sz="1000" u="none" cap="none" strike="noStrike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Case3:</a:t>
            </a:r>
            <a:r>
              <a:rPr b="0" i="0" lang="en-US" sz="1000" u="none" cap="none" strike="noStrike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0" i="1" lang="en-US" sz="1000" u="sng" cap="none" strike="noStrike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z </a:t>
            </a:r>
            <a:r>
              <a:rPr b="0" i="0" lang="en-US" sz="1000" u="sng" cap="none" strike="noStrike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has two children:</a:t>
            </a:r>
            <a:r>
              <a:rPr b="0" i="0" lang="en-US" sz="1000" u="none" cap="none" strike="noStrike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 replace </a:t>
            </a:r>
            <a:r>
              <a:rPr b="0" i="1" lang="en-US" sz="1000" u="none" cap="none" strike="noStrike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z </a:t>
            </a:r>
            <a:r>
              <a:rPr b="0" i="0" lang="en-US" sz="1000" u="none" cap="none" strike="noStrike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by either its    (</a:t>
            </a:r>
            <a:r>
              <a:rPr lang="en-US" sz="12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IMPORTANT!!!)</a:t>
            </a:r>
            <a:endParaRPr sz="100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21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000"/>
              <a:buFont typeface="Arial"/>
              <a:buChar char="■"/>
            </a:pPr>
            <a:r>
              <a:rPr b="0" i="0" lang="en-US" sz="1000" u="none" cap="none" strike="noStrike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I</a:t>
            </a:r>
            <a:r>
              <a:rPr b="0" i="0" lang="en-US" sz="1100" u="none" cap="none" strike="noStrike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norder successor </a:t>
            </a:r>
            <a:endParaRPr b="0" i="0" sz="1000" u="none" cap="none" strike="noStrike">
              <a:solidFill>
                <a:srgbClr val="CC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21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000"/>
              <a:buFont typeface="Arial"/>
              <a:buChar char="■"/>
            </a:pPr>
            <a:r>
              <a:rPr b="0" i="0" lang="en-US" sz="1000" u="none" cap="none" strike="noStrike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I</a:t>
            </a:r>
            <a:r>
              <a:rPr b="0" i="0" lang="en-US" sz="1100" u="none" cap="none" strike="noStrike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norder predecessor </a:t>
            </a:r>
            <a:endParaRPr b="0" i="0" sz="1100" u="none" cap="none" strike="noStrike">
              <a:solidFill>
                <a:srgbClr val="CC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100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US" sz="1100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  Then, recursively call that duplicate value to be deleted from the sub-tree.</a:t>
            </a:r>
            <a:endParaRPr sz="1100">
              <a:solidFill>
                <a:srgbClr val="CC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1" name="Google Shape;211;g31e7e9de2c2_0_7"/>
          <p:cNvSpPr txBox="1"/>
          <p:nvPr/>
        </p:nvSpPr>
        <p:spPr>
          <a:xfrm>
            <a:off x="130860" y="3109223"/>
            <a:ext cx="788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2" name="Google Shape;212;g31e7e9de2c2_0_7"/>
          <p:cNvSpPr txBox="1"/>
          <p:nvPr>
            <p:ph idx="12" type="sldNum"/>
          </p:nvPr>
        </p:nvSpPr>
        <p:spPr>
          <a:xfrm>
            <a:off x="5347970" y="3109223"/>
            <a:ext cx="2490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US"/>
              <a:t>18/24</a:t>
            </a:r>
            <a:endParaRPr/>
          </a:p>
        </p:txBody>
      </p:sp>
      <p:sp>
        <p:nvSpPr>
          <p:cNvPr id="213" name="Google Shape;213;g31e7e9de2c2_0_7"/>
          <p:cNvSpPr txBox="1"/>
          <p:nvPr>
            <p:ph type="title"/>
          </p:nvPr>
        </p:nvSpPr>
        <p:spPr>
          <a:xfrm>
            <a:off x="1273925" y="122050"/>
            <a:ext cx="35628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7124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Deletion in BST </a:t>
            </a:r>
            <a:r>
              <a:rPr lang="en-US">
                <a:solidFill>
                  <a:srgbClr val="990000"/>
                </a:solidFill>
              </a:rPr>
              <a:t>(Important!)</a:t>
            </a:r>
            <a:endParaRPr/>
          </a:p>
        </p:txBody>
      </p:sp>
      <p:sp>
        <p:nvSpPr>
          <p:cNvPr id="214" name="Google Shape;214;g31e7e9de2c2_0_7"/>
          <p:cNvSpPr txBox="1"/>
          <p:nvPr/>
        </p:nvSpPr>
        <p:spPr>
          <a:xfrm>
            <a:off x="1784525" y="1100025"/>
            <a:ext cx="28149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1450" marR="0" rtl="0" algn="l">
              <a:lnSpc>
                <a:spcPct val="1154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IMPORTANT: REMEMBER CASES!!!!!</a:t>
            </a:r>
            <a:endParaRPr b="0" i="0" sz="1200" u="none" cap="none" strike="noStrike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5276" y="462388"/>
            <a:ext cx="3855237" cy="25404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7"/>
          <p:cNvSpPr txBox="1"/>
          <p:nvPr>
            <p:ph idx="12" type="sldNum"/>
          </p:nvPr>
        </p:nvSpPr>
        <p:spPr>
          <a:xfrm>
            <a:off x="5347970" y="3109223"/>
            <a:ext cx="24892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US"/>
              <a:t>19/24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-7" y="3037681"/>
            <a:ext cx="21597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Image Source: https://</a:t>
            </a:r>
            <a:r>
              <a:rPr b="0" i="0" lang="en-US" sz="500" u="sng" cap="none" strike="noStrik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/>
              </a:rPr>
              <a:t>www.guru99.com/binary-search-tree-data-structure.html</a:t>
            </a:r>
            <a:endParaRPr b="0" i="0" sz="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2" name="Google Shape;222;p17"/>
          <p:cNvSpPr txBox="1"/>
          <p:nvPr/>
        </p:nvSpPr>
        <p:spPr>
          <a:xfrm>
            <a:off x="480850" y="152425"/>
            <a:ext cx="44883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Deletion (Case01:If No Children (Leaf Node))</a:t>
            </a:r>
            <a:endParaRPr b="0" i="0" sz="17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1e7e9de2c2_0_97"/>
          <p:cNvSpPr txBox="1"/>
          <p:nvPr/>
        </p:nvSpPr>
        <p:spPr>
          <a:xfrm>
            <a:off x="480850" y="152425"/>
            <a:ext cx="44883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Deletion (Case01:If No Children (Leaf Node))</a:t>
            </a:r>
            <a:endParaRPr b="0" i="0" sz="17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8" name="Google Shape;228;g31e7e9de2c2_0_97"/>
          <p:cNvSpPr txBox="1"/>
          <p:nvPr>
            <p:ph idx="12" type="sldNum"/>
          </p:nvPr>
        </p:nvSpPr>
        <p:spPr>
          <a:xfrm>
            <a:off x="5347970" y="3109223"/>
            <a:ext cx="2490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US"/>
              <a:t>19/24</a:t>
            </a:r>
            <a:endParaRPr/>
          </a:p>
        </p:txBody>
      </p:sp>
      <p:pic>
        <p:nvPicPr>
          <p:cNvPr id="229" name="Google Shape;229;g31e7e9de2c2_0_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075" y="579925"/>
            <a:ext cx="3204942" cy="24037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426" y="519138"/>
            <a:ext cx="4093949" cy="248477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8"/>
          <p:cNvSpPr txBox="1"/>
          <p:nvPr>
            <p:ph idx="12" type="sldNum"/>
          </p:nvPr>
        </p:nvSpPr>
        <p:spPr>
          <a:xfrm>
            <a:off x="5347970" y="3109223"/>
            <a:ext cx="24892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US"/>
              <a:t>20/24</a:t>
            </a:r>
            <a:endParaRPr/>
          </a:p>
        </p:txBody>
      </p:sp>
      <p:sp>
        <p:nvSpPr>
          <p:cNvPr id="236" name="Google Shape;236;p18"/>
          <p:cNvSpPr txBox="1"/>
          <p:nvPr/>
        </p:nvSpPr>
        <p:spPr>
          <a:xfrm>
            <a:off x="-507" y="3136031"/>
            <a:ext cx="2159635" cy="98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Image Source: https://</a:t>
            </a:r>
            <a:r>
              <a:rPr b="0" i="0" lang="en-US" sz="500" u="sng" cap="none" strike="noStrik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/>
              </a:rPr>
              <a:t>www.guru99.com/binary-search-tree-data-structure.html</a:t>
            </a:r>
            <a:endParaRPr b="0" i="0" sz="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7" name="Google Shape;237;p18"/>
          <p:cNvSpPr txBox="1"/>
          <p:nvPr/>
        </p:nvSpPr>
        <p:spPr>
          <a:xfrm>
            <a:off x="719725" y="135050"/>
            <a:ext cx="44883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5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Deletion (Case02: If Only One Children exists)</a:t>
            </a:r>
            <a:endParaRPr b="0" i="0" sz="1500" u="none" cap="none" strike="noStrike">
              <a:solidFill>
                <a:srgbClr val="33466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334669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1e7e9de2c2_0_106"/>
          <p:cNvSpPr txBox="1"/>
          <p:nvPr/>
        </p:nvSpPr>
        <p:spPr>
          <a:xfrm>
            <a:off x="777575" y="192900"/>
            <a:ext cx="44883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5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Deletion (Case02: If Only One Children exists)</a:t>
            </a:r>
            <a:endParaRPr b="0" i="0" sz="1500" u="none" cap="none" strike="noStrike">
              <a:solidFill>
                <a:srgbClr val="33466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334669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3" name="Google Shape;243;g31e7e9de2c2_0_106"/>
          <p:cNvSpPr txBox="1"/>
          <p:nvPr>
            <p:ph idx="12" type="sldNum"/>
          </p:nvPr>
        </p:nvSpPr>
        <p:spPr>
          <a:xfrm>
            <a:off x="5347970" y="3109223"/>
            <a:ext cx="2490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US"/>
              <a:t>19/24</a:t>
            </a:r>
            <a:endParaRPr/>
          </a:p>
        </p:txBody>
      </p:sp>
      <p:pic>
        <p:nvPicPr>
          <p:cNvPr id="244" name="Google Shape;244;g31e7e9de2c2_0_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7600" y="516275"/>
            <a:ext cx="3385475" cy="253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425" y="480300"/>
            <a:ext cx="4020351" cy="260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0"/>
          <p:cNvSpPr txBox="1"/>
          <p:nvPr>
            <p:ph idx="12" type="sldNum"/>
          </p:nvPr>
        </p:nvSpPr>
        <p:spPr>
          <a:xfrm>
            <a:off x="5347970" y="3109223"/>
            <a:ext cx="24892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US"/>
              <a:t>22/24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-507" y="3136031"/>
            <a:ext cx="2159635" cy="98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Image Source: https://</a:t>
            </a:r>
            <a:r>
              <a:rPr b="0" i="0" lang="en-US" sz="500" u="sng" cap="none" strike="noStrik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/>
              </a:rPr>
              <a:t>www.guru99.com/binary-search-tree-data-structure.html</a:t>
            </a:r>
            <a:endParaRPr b="0" i="0" sz="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956875" y="187125"/>
            <a:ext cx="44883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5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Deletion (Case03: If both Children exists)</a:t>
            </a:r>
            <a:endParaRPr b="0" i="0" sz="1500" u="none" cap="none" strike="noStrike">
              <a:solidFill>
                <a:srgbClr val="334669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5825" y="507235"/>
            <a:ext cx="4047147" cy="2412662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9"/>
          <p:cNvSpPr txBox="1"/>
          <p:nvPr>
            <p:ph idx="12" type="sldNum"/>
          </p:nvPr>
        </p:nvSpPr>
        <p:spPr>
          <a:xfrm>
            <a:off x="5347970" y="3109223"/>
            <a:ext cx="24892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US"/>
              <a:t>21/24</a:t>
            </a:r>
            <a:endParaRPr/>
          </a:p>
        </p:txBody>
      </p:sp>
      <p:sp>
        <p:nvSpPr>
          <p:cNvPr id="259" name="Google Shape;259;p19"/>
          <p:cNvSpPr txBox="1"/>
          <p:nvPr/>
        </p:nvSpPr>
        <p:spPr>
          <a:xfrm>
            <a:off x="-507" y="3136031"/>
            <a:ext cx="2159635" cy="98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Image Source: https://</a:t>
            </a:r>
            <a:r>
              <a:rPr b="0" i="0" lang="en-US" sz="500" u="sng" cap="none" strike="noStrik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/>
              </a:rPr>
              <a:t>www.guru99.com/binary-search-tree-data-structure.html</a:t>
            </a:r>
            <a:endParaRPr b="0" i="0" sz="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0" name="Google Shape;260;p19"/>
          <p:cNvSpPr txBox="1"/>
          <p:nvPr/>
        </p:nvSpPr>
        <p:spPr>
          <a:xfrm>
            <a:off x="985800" y="163975"/>
            <a:ext cx="44883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5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Deletion (Case03: If both Children exists)</a:t>
            </a:r>
            <a:endParaRPr b="0" i="0" sz="1500" u="none" cap="none" strike="noStrike">
              <a:solidFill>
                <a:srgbClr val="334669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1e7e9de2c2_0_115"/>
          <p:cNvSpPr txBox="1"/>
          <p:nvPr/>
        </p:nvSpPr>
        <p:spPr>
          <a:xfrm>
            <a:off x="956875" y="187125"/>
            <a:ext cx="44883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5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Deletion (Case03: If both Children exists)</a:t>
            </a:r>
            <a:endParaRPr b="0" i="0" sz="1500" u="none" cap="none" strike="noStrike">
              <a:solidFill>
                <a:srgbClr val="334669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6" name="Google Shape;266;g31e7e9de2c2_0_115"/>
          <p:cNvSpPr txBox="1"/>
          <p:nvPr>
            <p:ph idx="12" type="sldNum"/>
          </p:nvPr>
        </p:nvSpPr>
        <p:spPr>
          <a:xfrm>
            <a:off x="5347970" y="3109223"/>
            <a:ext cx="2490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US"/>
              <a:t>19/24</a:t>
            </a:r>
            <a:endParaRPr/>
          </a:p>
        </p:txBody>
      </p:sp>
      <p:pic>
        <p:nvPicPr>
          <p:cNvPr id="267" name="Google Shape;267;g31e7e9de2c2_0_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6175" y="744300"/>
            <a:ext cx="3259385" cy="244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6b57ffc93_0_46"/>
          <p:cNvSpPr txBox="1"/>
          <p:nvPr/>
        </p:nvSpPr>
        <p:spPr>
          <a:xfrm>
            <a:off x="742600" y="39100"/>
            <a:ext cx="4488300" cy="2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3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Deletion </a:t>
            </a:r>
            <a:r>
              <a:rPr lang="en-US" sz="1300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in BST (Basic Steps)</a:t>
            </a:r>
            <a:r>
              <a:rPr lang="en-US" sz="1300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b="0" i="0" sz="1300" u="none" cap="none" strike="noStrike">
              <a:solidFill>
                <a:srgbClr val="334669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3" name="Google Shape;273;g3f6b57ffc93_0_46"/>
          <p:cNvSpPr txBox="1"/>
          <p:nvPr/>
        </p:nvSpPr>
        <p:spPr>
          <a:xfrm>
            <a:off x="0" y="318325"/>
            <a:ext cx="5627400" cy="26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11125" lvl="0" marL="314325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FF"/>
              </a:buClr>
              <a:buSzPts val="850"/>
              <a:buFont typeface="Trebuchet MS"/>
              <a:buAutoNum type="arabicPeriod"/>
            </a:pPr>
            <a:r>
              <a:rPr b="1" lang="en-US" sz="85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Find the node to delete</a:t>
            </a:r>
            <a:endParaRPr b="1" sz="85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25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Trebuchet MS"/>
              <a:buChar char="○"/>
            </a:pPr>
            <a:r>
              <a:rPr lang="en-US" sz="8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Start from the root.</a:t>
            </a:r>
            <a:endParaRPr sz="85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25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Char char="○"/>
            </a:pPr>
            <a:r>
              <a:rPr lang="en-US" sz="8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If </a:t>
            </a:r>
            <a:r>
              <a:rPr lang="en-US" sz="850">
                <a:solidFill>
                  <a:srgbClr val="188038"/>
                </a:solidFill>
                <a:latin typeface="Trebuchet MS"/>
                <a:ea typeface="Trebuchet MS"/>
                <a:cs typeface="Trebuchet MS"/>
                <a:sym typeface="Trebuchet MS"/>
              </a:rPr>
              <a:t>key &lt; current.val</a:t>
            </a:r>
            <a:r>
              <a:rPr lang="en-US" sz="8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→ go </a:t>
            </a:r>
            <a:r>
              <a:rPr b="1" lang="en-US" sz="8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left</a:t>
            </a:r>
            <a:r>
              <a:rPr lang="en-US" sz="8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85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25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Char char="○"/>
            </a:pPr>
            <a:r>
              <a:rPr lang="en-US" sz="8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If </a:t>
            </a:r>
            <a:r>
              <a:rPr lang="en-US" sz="850">
                <a:solidFill>
                  <a:srgbClr val="188038"/>
                </a:solidFill>
                <a:latin typeface="Trebuchet MS"/>
                <a:ea typeface="Trebuchet MS"/>
                <a:cs typeface="Trebuchet MS"/>
                <a:sym typeface="Trebuchet MS"/>
              </a:rPr>
              <a:t>key &gt; current.val</a:t>
            </a:r>
            <a:r>
              <a:rPr lang="en-US" sz="8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→ go </a:t>
            </a:r>
            <a:r>
              <a:rPr b="1" lang="en-US" sz="8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right</a:t>
            </a:r>
            <a:r>
              <a:rPr lang="en-US" sz="8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85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25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Trebuchet MS"/>
              <a:buChar char="○"/>
            </a:pPr>
            <a:r>
              <a:rPr lang="en-US" sz="8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Continue until the target node is found.</a:t>
            </a:r>
            <a:endParaRPr sz="85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11125" lvl="0" marL="31432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850"/>
              <a:buFont typeface="Trebuchet MS"/>
              <a:buAutoNum type="arabicPeriod"/>
            </a:pPr>
            <a:r>
              <a:rPr b="1" lang="en-US" sz="85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Delete the node based on its case</a:t>
            </a:r>
            <a:endParaRPr b="1" sz="85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25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Trebuchet MS"/>
              <a:buChar char="○"/>
            </a:pPr>
            <a:r>
              <a:rPr b="1" lang="en-US" sz="8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Case 1: No child</a:t>
            </a:r>
            <a:endParaRPr b="1" sz="85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2575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Trebuchet MS"/>
              <a:buChar char="■"/>
            </a:pPr>
            <a:r>
              <a:rPr lang="en-US" sz="8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Remove the node directly.</a:t>
            </a:r>
            <a:endParaRPr sz="85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25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Trebuchet MS"/>
              <a:buChar char="○"/>
            </a:pPr>
            <a:r>
              <a:rPr b="1" lang="en-US" sz="8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Case 2: One child</a:t>
            </a:r>
            <a:endParaRPr b="1" sz="85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2575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Char char="■"/>
            </a:pPr>
            <a:r>
              <a:rPr lang="en-US" sz="8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Connect the node’s </a:t>
            </a:r>
            <a:r>
              <a:rPr b="1" lang="en-US" sz="8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parent directly to its child</a:t>
            </a:r>
            <a:r>
              <a:rPr lang="en-US" sz="8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85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25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Trebuchet MS"/>
              <a:buChar char="○"/>
            </a:pPr>
            <a:r>
              <a:rPr b="1" lang="en-US" sz="8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Case 3: Two children</a:t>
            </a:r>
            <a:endParaRPr b="1" sz="85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2575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Trebuchet MS"/>
              <a:buChar char="■"/>
            </a:pPr>
            <a:r>
              <a:rPr lang="en-US" sz="8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Find either:</a:t>
            </a:r>
            <a:endParaRPr sz="85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2575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Char char="■"/>
            </a:pPr>
            <a:r>
              <a:rPr b="1" lang="en-US" sz="8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Predecessor</a:t>
            </a:r>
            <a:r>
              <a:rPr lang="en-US" sz="8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→ maximum node in the </a:t>
            </a:r>
            <a:r>
              <a:rPr b="1" lang="en-US" sz="8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left subtree</a:t>
            </a:r>
            <a:r>
              <a:rPr lang="en-US" sz="8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or</a:t>
            </a:r>
            <a:endParaRPr sz="85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2575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Char char="■"/>
            </a:pPr>
            <a:r>
              <a:rPr b="1" lang="en-US" sz="8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Successor</a:t>
            </a:r>
            <a:r>
              <a:rPr lang="en-US" sz="8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→ minimum node in the </a:t>
            </a:r>
            <a:r>
              <a:rPr b="1" lang="en-US" sz="8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right subtree</a:t>
            </a:r>
            <a:r>
              <a:rPr lang="en-US" sz="8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85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2575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Trebuchet MS"/>
              <a:buChar char="■"/>
            </a:pPr>
            <a:r>
              <a:rPr lang="en-US" sz="8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Replace the target node’s value with the predecessor/successor value.</a:t>
            </a:r>
            <a:endParaRPr sz="85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2575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Char char="■"/>
            </a:pPr>
            <a:r>
              <a:rPr b="1" lang="en-US" sz="8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Recursively delete the duplicate predecessor/successor node</a:t>
            </a:r>
            <a:r>
              <a:rPr lang="en-US" sz="8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from its original subtree.</a:t>
            </a:r>
            <a:endParaRPr sz="850">
              <a:solidFill>
                <a:srgbClr val="C6244E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6b57ffc93_0_36"/>
          <p:cNvSpPr txBox="1"/>
          <p:nvPr/>
        </p:nvSpPr>
        <p:spPr>
          <a:xfrm>
            <a:off x="742600" y="39100"/>
            <a:ext cx="4488300" cy="2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3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Deletion </a:t>
            </a:r>
            <a:r>
              <a:rPr lang="en-US" sz="1300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Using In-order-successor </a:t>
            </a:r>
            <a:endParaRPr b="0" i="0" sz="1300" u="none" cap="none" strike="noStrike">
              <a:solidFill>
                <a:srgbClr val="334669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9" name="Google Shape;279;g3f6b57ffc93_0_36"/>
          <p:cNvSpPr txBox="1"/>
          <p:nvPr/>
        </p:nvSpPr>
        <p:spPr>
          <a:xfrm>
            <a:off x="1073300" y="314525"/>
            <a:ext cx="3619200" cy="28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TNode delete_with_successor(TNode root, int key) {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    if (root == null) {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        return root;  </a:t>
            </a:r>
            <a:r>
              <a:rPr b="1" i="0" lang="en-US" sz="900" u="none" cap="none" strike="noStrike">
                <a:solidFill>
                  <a:srgbClr val="188038"/>
                </a:solidFill>
                <a:latin typeface="Trebuchet MS"/>
                <a:ea typeface="Trebuchet MS"/>
                <a:cs typeface="Trebuchet MS"/>
                <a:sym typeface="Trebuchet MS"/>
              </a:rPr>
              <a:t>// Base case: Tree is empty or node not found</a:t>
            </a:r>
            <a:endParaRPr b="1" sz="900">
              <a:solidFill>
                <a:srgbClr val="18803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    }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9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   </a:t>
            </a:r>
            <a:r>
              <a:rPr b="1" i="0" lang="en-US" sz="900" u="none" cap="none" strike="noStrike">
                <a:solidFill>
                  <a:srgbClr val="188038"/>
                </a:solidFill>
                <a:latin typeface="Trebuchet MS"/>
                <a:ea typeface="Trebuchet MS"/>
                <a:cs typeface="Trebuchet MS"/>
                <a:sym typeface="Trebuchet MS"/>
              </a:rPr>
              <a:t> // Traverse to the left subtree if key is smaller</a:t>
            </a:r>
            <a:endParaRPr b="1" sz="900">
              <a:solidFill>
                <a:srgbClr val="18803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    if (key &lt; root.val) {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        root.left = delete_with_successor(root.left, key);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    }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9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   </a:t>
            </a:r>
            <a:r>
              <a:rPr b="1" i="0" lang="en-US" sz="900" u="none" cap="none" strike="noStrike">
                <a:solidFill>
                  <a:srgbClr val="188038"/>
                </a:solidFill>
                <a:latin typeface="Trebuchet MS"/>
                <a:ea typeface="Trebuchet MS"/>
                <a:cs typeface="Trebuchet MS"/>
                <a:sym typeface="Trebuchet MS"/>
              </a:rPr>
              <a:t> // Traverse to the right subtree if key is larger</a:t>
            </a:r>
            <a:endParaRPr b="1" sz="900">
              <a:solidFill>
                <a:srgbClr val="18803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    else if (key &gt; root.val) {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        root.right = delete_with_successor(root.right, key);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    }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9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    else {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rebuchet MS"/>
                <a:ea typeface="Trebuchet MS"/>
                <a:cs typeface="Trebuchet MS"/>
                <a:sym typeface="Trebuchet MS"/>
              </a:rPr>
              <a:t>           //</a:t>
            </a:r>
            <a:r>
              <a:rPr lang="en-US" sz="9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Match found—delete it </a:t>
            </a:r>
            <a:r>
              <a:rPr b="1" lang="en-US" sz="900">
                <a:solidFill>
                  <a:srgbClr val="9900FF"/>
                </a:solidFill>
                <a:latin typeface="Trebuchet MS"/>
                <a:ea typeface="Trebuchet MS"/>
                <a:cs typeface="Trebuchet MS"/>
                <a:sym typeface="Trebuchet MS"/>
              </a:rPr>
              <a:t>(In next slide)</a:t>
            </a:r>
            <a:endParaRPr b="1" sz="900">
              <a:solidFill>
                <a:srgbClr val="99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    }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9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    return root;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f6b57ffc93_0_41"/>
          <p:cNvSpPr txBox="1"/>
          <p:nvPr/>
        </p:nvSpPr>
        <p:spPr>
          <a:xfrm>
            <a:off x="742600" y="39100"/>
            <a:ext cx="4488300" cy="2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3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Deletion </a:t>
            </a:r>
            <a:r>
              <a:rPr lang="en-US" sz="1300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Using In-order-successor </a:t>
            </a:r>
            <a:endParaRPr b="0" i="0" sz="1300" u="none" cap="none" strike="noStrike">
              <a:solidFill>
                <a:srgbClr val="334669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5" name="Google Shape;285;g3f6b57ffc93_0_41"/>
          <p:cNvSpPr txBox="1"/>
          <p:nvPr/>
        </p:nvSpPr>
        <p:spPr>
          <a:xfrm>
            <a:off x="1285675" y="363500"/>
            <a:ext cx="3802800" cy="28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7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TNode delete_with_successor(TNode root, int key) {</a:t>
            </a:r>
            <a:endParaRPr i="0" sz="7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7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    else { </a:t>
            </a:r>
            <a:r>
              <a:rPr lang="en-US" sz="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//</a:t>
            </a:r>
            <a:r>
              <a:rPr lang="en-US" sz="8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Match found—delete it 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        </a:t>
            </a:r>
            <a:r>
              <a:rPr b="1" lang="en-US" sz="700">
                <a:solidFill>
                  <a:srgbClr val="9900FF"/>
                </a:solidFill>
                <a:latin typeface="Trebuchet MS"/>
                <a:ea typeface="Trebuchet MS"/>
                <a:cs typeface="Trebuchet MS"/>
                <a:sym typeface="Trebuchet MS"/>
              </a:rPr>
              <a:t>// ==== Case 1 | No subtree or children ====</a:t>
            </a:r>
            <a:endParaRPr b="1" sz="700">
              <a:solidFill>
                <a:srgbClr val="99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        if (root.left == null &amp;&amp; root.right == null) {</a:t>
            </a:r>
            <a:endParaRPr sz="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            return null;  </a:t>
            </a:r>
            <a:r>
              <a:rPr b="1" lang="en-US" sz="700">
                <a:solidFill>
                  <a:srgbClr val="188038"/>
                </a:solidFill>
                <a:latin typeface="Trebuchet MS"/>
                <a:ea typeface="Trebuchet MS"/>
                <a:cs typeface="Trebuchet MS"/>
                <a:sym typeface="Trebuchet MS"/>
              </a:rPr>
              <a:t>// Simply delete the node</a:t>
            </a:r>
            <a:endParaRPr b="1" sz="700">
              <a:solidFill>
                <a:srgbClr val="18803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        }</a:t>
            </a:r>
            <a:endParaRPr sz="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       </a:t>
            </a:r>
            <a:r>
              <a:rPr b="1" lang="en-US" sz="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 </a:t>
            </a:r>
            <a:r>
              <a:rPr b="1" lang="en-US" sz="700">
                <a:solidFill>
                  <a:srgbClr val="9900FF"/>
                </a:solidFill>
                <a:latin typeface="Trebuchet MS"/>
                <a:ea typeface="Trebuchet MS"/>
                <a:cs typeface="Trebuchet MS"/>
                <a:sym typeface="Trebuchet MS"/>
              </a:rPr>
              <a:t>// ==== Case 2 | One subtree (one child) ====</a:t>
            </a:r>
            <a:endParaRPr b="1" sz="700">
              <a:solidFill>
                <a:srgbClr val="99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        else if (root.left == null) { </a:t>
            </a:r>
            <a:r>
              <a:rPr lang="en-US" sz="7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// Only right child exists</a:t>
            </a:r>
            <a:endParaRPr sz="70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            root.right.parent = root.parent;  </a:t>
            </a:r>
            <a:r>
              <a:rPr b="1" lang="en-US" sz="700">
                <a:solidFill>
                  <a:srgbClr val="188038"/>
                </a:solidFill>
                <a:latin typeface="Trebuchet MS"/>
                <a:ea typeface="Trebuchet MS"/>
                <a:cs typeface="Trebuchet MS"/>
                <a:sym typeface="Trebuchet MS"/>
              </a:rPr>
              <a:t>// Connect child to parent</a:t>
            </a:r>
            <a:endParaRPr b="1" sz="700">
              <a:solidFill>
                <a:srgbClr val="18803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            return root.right;</a:t>
            </a:r>
            <a:endParaRPr sz="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        }</a:t>
            </a:r>
            <a:endParaRPr sz="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        else if (root.right == null) {</a:t>
            </a:r>
            <a:r>
              <a:rPr lang="en-US" sz="7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 // Only left child exists</a:t>
            </a:r>
            <a:endParaRPr sz="70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            root.left.parent = root.parent;  </a:t>
            </a:r>
            <a:r>
              <a:rPr b="1" lang="en-US" sz="700">
                <a:solidFill>
                  <a:srgbClr val="188038"/>
                </a:solidFill>
                <a:latin typeface="Trebuchet MS"/>
                <a:ea typeface="Trebuchet MS"/>
                <a:cs typeface="Trebuchet MS"/>
                <a:sym typeface="Trebuchet MS"/>
              </a:rPr>
              <a:t>// Connect child to parent</a:t>
            </a:r>
            <a:endParaRPr b="1" sz="700">
              <a:solidFill>
                <a:srgbClr val="18803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            return root.left;</a:t>
            </a:r>
            <a:endParaRPr sz="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        }</a:t>
            </a:r>
            <a:endParaRPr sz="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        </a:t>
            </a:r>
            <a:r>
              <a:rPr b="1" lang="en-US" sz="700">
                <a:solidFill>
                  <a:srgbClr val="9900FF"/>
                </a:solidFill>
                <a:latin typeface="Trebuchet MS"/>
                <a:ea typeface="Trebuchet MS"/>
                <a:cs typeface="Trebuchet MS"/>
                <a:sym typeface="Trebuchet MS"/>
              </a:rPr>
              <a:t>// ==== Case 3 | Two subtrees (two children) ====</a:t>
            </a:r>
            <a:endParaRPr b="1" sz="700">
              <a:solidFill>
                <a:srgbClr val="99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        else {</a:t>
            </a:r>
            <a:endParaRPr sz="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            </a:t>
            </a:r>
            <a:r>
              <a:rPr b="1" lang="en-US" sz="700">
                <a:solidFill>
                  <a:srgbClr val="188038"/>
                </a:solidFill>
                <a:latin typeface="Trebuchet MS"/>
                <a:ea typeface="Trebuchet MS"/>
                <a:cs typeface="Trebuchet MS"/>
                <a:sym typeface="Trebuchet MS"/>
              </a:rPr>
              <a:t>// Find in-order successor (leftmost node in right subtree)</a:t>
            </a:r>
            <a:endParaRPr b="1" sz="700">
              <a:solidFill>
                <a:srgbClr val="18803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            TNode succ = BSTDemo.getMin(root.right);</a:t>
            </a:r>
            <a:endParaRPr sz="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            root.val = succ.val;  </a:t>
            </a:r>
            <a:r>
              <a:rPr b="1" lang="en-US" sz="700">
                <a:solidFill>
                  <a:srgbClr val="188038"/>
                </a:solidFill>
                <a:latin typeface="Trebuchet MS"/>
                <a:ea typeface="Trebuchet MS"/>
                <a:cs typeface="Trebuchet MS"/>
                <a:sym typeface="Trebuchet MS"/>
              </a:rPr>
              <a:t>// Replace value with successor's value</a:t>
            </a:r>
            <a:endParaRPr b="1" sz="700">
              <a:solidFill>
                <a:srgbClr val="18803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            </a:t>
            </a:r>
            <a:r>
              <a:rPr b="1" lang="en-US" sz="700">
                <a:solidFill>
                  <a:srgbClr val="188038"/>
                </a:solidFill>
                <a:latin typeface="Trebuchet MS"/>
                <a:ea typeface="Trebuchet MS"/>
                <a:cs typeface="Trebuchet MS"/>
                <a:sym typeface="Trebuchet MS"/>
              </a:rPr>
              <a:t>// Delete the in-order successor node recursively</a:t>
            </a:r>
            <a:endParaRPr b="1" sz="700">
              <a:solidFill>
                <a:srgbClr val="18803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            root.right = delete_with_successor(root.right, succ.val);</a:t>
            </a:r>
            <a:endParaRPr sz="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        }</a:t>
            </a:r>
            <a:endParaRPr sz="7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7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    }</a:t>
            </a:r>
            <a:endParaRPr i="0" sz="7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7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    return root;</a:t>
            </a:r>
            <a:endParaRPr sz="7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7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sz="7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f6b57ffc93_0_1"/>
          <p:cNvSpPr txBox="1"/>
          <p:nvPr/>
        </p:nvSpPr>
        <p:spPr>
          <a:xfrm>
            <a:off x="742600" y="39100"/>
            <a:ext cx="4488300" cy="2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3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Deletion </a:t>
            </a:r>
            <a:r>
              <a:rPr lang="en-US" sz="1300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Using In-order-successor </a:t>
            </a:r>
            <a:endParaRPr b="0" i="0" sz="1300" u="none" cap="none" strike="noStrike">
              <a:solidFill>
                <a:srgbClr val="334669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291" name="Google Shape;291;g3f6b57ffc93_0_1"/>
          <p:cNvGraphicFramePr/>
          <p:nvPr/>
        </p:nvGraphicFramePr>
        <p:xfrm>
          <a:off x="61650" y="354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{1D958E01-B03A-4D76-A893-4EB355C840E5}</a:tableStyleId>
              </a:tblPr>
              <a:tblGrid>
                <a:gridCol w="2830425"/>
                <a:gridCol w="2830425"/>
              </a:tblGrid>
              <a:tr h="2646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public static TNode delete_with_successor(TNode root, int key) {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   if (root == null) {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       return root;  </a:t>
                      </a:r>
                      <a:r>
                        <a:rPr b="1" lang="en-US" sz="650">
                          <a:solidFill>
                            <a:srgbClr val="18803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// Base case: Tree is empty or node not found</a:t>
                      </a:r>
                      <a:endParaRPr b="1" sz="650">
                        <a:solidFill>
                          <a:srgbClr val="188038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   }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 </a:t>
                      </a:r>
                      <a:r>
                        <a:rPr b="1" lang="en-US" sz="650">
                          <a:solidFill>
                            <a:srgbClr val="18803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 // Traverse to the left subtree if key is smaller</a:t>
                      </a:r>
                      <a:endParaRPr b="1" sz="650">
                        <a:solidFill>
                          <a:srgbClr val="188038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   if (key &lt; root.val) {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       root.left = delete_with_successor(root.left, key);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   }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   </a:t>
                      </a:r>
                      <a:r>
                        <a:rPr b="1" lang="en-US" sz="650">
                          <a:solidFill>
                            <a:srgbClr val="18803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// Traverse to the right subtree if key is larger</a:t>
                      </a:r>
                      <a:endParaRPr b="1" sz="650">
                        <a:solidFill>
                          <a:srgbClr val="188038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   else if (key &gt; root.val) {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       root.right = delete_with_successor(root.right, key);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   }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   else {        </a:t>
                      </a:r>
                      <a:b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</a:b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   </a:t>
                      </a:r>
                      <a:r>
                        <a:rPr b="1" lang="en-US" sz="650">
                          <a:solidFill>
                            <a:srgbClr val="18803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// ==== Case 1 | No subtree or children ====</a:t>
                      </a:r>
                      <a:endParaRPr b="1" sz="650">
                        <a:solidFill>
                          <a:srgbClr val="188038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       if (root.left == null &amp;&amp; root.right == null) {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           return null;  </a:t>
                      </a:r>
                      <a:r>
                        <a:rPr b="1" lang="en-US" sz="650">
                          <a:solidFill>
                            <a:srgbClr val="18803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// Simply delete the node</a:t>
                      </a:r>
                      <a:endParaRPr b="1" sz="650">
                        <a:solidFill>
                          <a:srgbClr val="188038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       }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       </a:t>
                      </a:r>
                      <a:r>
                        <a:rPr b="1" lang="en-US" sz="650">
                          <a:solidFill>
                            <a:srgbClr val="18803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// ==== Case 2 | One subtree (one child) ====</a:t>
                      </a:r>
                      <a:endParaRPr b="1" sz="650">
                        <a:solidFill>
                          <a:srgbClr val="188038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       else if (root.left == null) {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          </a:t>
                      </a:r>
                      <a:r>
                        <a:rPr b="1" lang="en-US" sz="650">
                          <a:solidFill>
                            <a:srgbClr val="18803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// Only right child exists</a:t>
                      </a:r>
                      <a:endParaRPr b="1" sz="650">
                        <a:solidFill>
                          <a:srgbClr val="188038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           root.right.parent = root.parent;  </a:t>
                      </a:r>
                      <a:r>
                        <a:rPr b="1" lang="en-US" sz="650">
                          <a:solidFill>
                            <a:srgbClr val="18803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// Connect child to parent</a:t>
                      </a:r>
                      <a:endParaRPr b="1" sz="650">
                        <a:solidFill>
                          <a:srgbClr val="188038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           return root.right;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       }</a:t>
                      </a:r>
                      <a:b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</a:b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       else if (root.right == null) {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           </a:t>
                      </a:r>
                      <a:r>
                        <a:rPr b="1" lang="en-US" sz="650">
                          <a:solidFill>
                            <a:srgbClr val="18803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// Only left child exists</a:t>
                      </a:r>
                      <a:endParaRPr b="1" sz="650">
                        <a:solidFill>
                          <a:srgbClr val="188038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           root.left.parent = root.parent;  </a:t>
                      </a:r>
                      <a:r>
                        <a:rPr b="1" lang="en-US" sz="650">
                          <a:solidFill>
                            <a:srgbClr val="18803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// Connect child to parent</a:t>
                      </a:r>
                      <a:endParaRPr b="1" sz="650">
                        <a:solidFill>
                          <a:srgbClr val="188038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           return root.left;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       }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       </a:t>
                      </a:r>
                      <a:r>
                        <a:rPr b="1" lang="en-US" sz="650">
                          <a:solidFill>
                            <a:srgbClr val="18803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// ==== Case 3 | Two subtrees (two children) ====</a:t>
                      </a:r>
                      <a:endParaRPr b="1" sz="650">
                        <a:solidFill>
                          <a:srgbClr val="188038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       else {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         </a:t>
                      </a:r>
                      <a:r>
                        <a:rPr b="1" lang="en-US" sz="650">
                          <a:solidFill>
                            <a:srgbClr val="18803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 // Find in-order successor (leftmost node in right subtree)</a:t>
                      </a:r>
                      <a:endParaRPr b="1" sz="650">
                        <a:solidFill>
                          <a:srgbClr val="188038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           TNode succ = BSTDemo.getMin(root.right);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           root.val = succ.val;  </a:t>
                      </a:r>
                      <a:r>
                        <a:rPr b="1" lang="en-US" sz="650">
                          <a:solidFill>
                            <a:srgbClr val="18803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// Replace value with successor's value</a:t>
                      </a:r>
                      <a:endParaRPr b="1" sz="650">
                        <a:solidFill>
                          <a:srgbClr val="188038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           </a:t>
                      </a:r>
                      <a:r>
                        <a:rPr b="1" lang="en-US" sz="650">
                          <a:solidFill>
                            <a:srgbClr val="18803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// Delete the in-order successor node recursively</a:t>
                      </a:r>
                      <a:endParaRPr b="1" sz="650">
                        <a:solidFill>
                          <a:srgbClr val="188038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           root.right = delete_with_successor(root.right, succ.val);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       }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   }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   return root;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}</a:t>
                      </a:r>
                      <a:endParaRPr sz="65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f6b57ffc93_0_30"/>
          <p:cNvSpPr txBox="1"/>
          <p:nvPr/>
        </p:nvSpPr>
        <p:spPr>
          <a:xfrm>
            <a:off x="742600" y="39100"/>
            <a:ext cx="44883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5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Deletion </a:t>
            </a:r>
            <a:r>
              <a:rPr lang="en-US" sz="1500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Using In-order-successor (Delete(2))</a:t>
            </a:r>
            <a:endParaRPr b="0" i="0" sz="1500" u="none" cap="none" strike="noStrike">
              <a:solidFill>
                <a:srgbClr val="334669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97" name="Google Shape;297;g3f6b57ffc93_0_30" title="succ_del2.png"/>
          <p:cNvPicPr preferRelativeResize="0"/>
          <p:nvPr/>
        </p:nvPicPr>
        <p:blipFill rotWithShape="1">
          <a:blip r:embed="rId3">
            <a:alphaModFix/>
          </a:blip>
          <a:srcRect b="2162" l="0" r="0" t="0"/>
          <a:stretch/>
        </p:blipFill>
        <p:spPr>
          <a:xfrm>
            <a:off x="819775" y="283300"/>
            <a:ext cx="4036076" cy="2961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f6b57ffc93_0_23"/>
          <p:cNvSpPr txBox="1"/>
          <p:nvPr/>
        </p:nvSpPr>
        <p:spPr>
          <a:xfrm>
            <a:off x="742600" y="39100"/>
            <a:ext cx="44883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5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Deletion </a:t>
            </a:r>
            <a:r>
              <a:rPr lang="en-US" sz="1500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Using In-order-successor (Delete(33))</a:t>
            </a:r>
            <a:endParaRPr b="0" i="0" sz="1500" u="none" cap="none" strike="noStrike">
              <a:solidFill>
                <a:srgbClr val="334669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03" name="Google Shape;303;g3f6b57ffc93_0_23" title="succ_del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925" y="283300"/>
            <a:ext cx="4028133" cy="2950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f6b57ffc93_0_52"/>
          <p:cNvSpPr txBox="1"/>
          <p:nvPr/>
        </p:nvSpPr>
        <p:spPr>
          <a:xfrm>
            <a:off x="742600" y="39100"/>
            <a:ext cx="4488300" cy="2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3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Deletion </a:t>
            </a:r>
            <a:r>
              <a:rPr lang="en-US" sz="1300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Using In-order-</a:t>
            </a:r>
            <a:r>
              <a:rPr lang="en-US" sz="1300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predecessor</a:t>
            </a:r>
            <a:r>
              <a:rPr lang="en-US" sz="1300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b="0" i="0" sz="1300" u="none" cap="none" strike="noStrike">
              <a:solidFill>
                <a:srgbClr val="334669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9" name="Google Shape;309;g3f6b57ffc93_0_52"/>
          <p:cNvSpPr txBox="1"/>
          <p:nvPr/>
        </p:nvSpPr>
        <p:spPr>
          <a:xfrm>
            <a:off x="997950" y="339025"/>
            <a:ext cx="3619200" cy="28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TNode </a:t>
            </a:r>
            <a:r>
              <a:rPr lang="en-US" sz="900">
                <a:latin typeface="Trebuchet MS"/>
                <a:ea typeface="Trebuchet MS"/>
                <a:cs typeface="Trebuchet MS"/>
                <a:sym typeface="Trebuchet MS"/>
              </a:rPr>
              <a:t>delete_with_predecessor</a:t>
            </a:r>
            <a:r>
              <a:rPr i="0" lang="en-US" sz="9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(TNode root, int key) {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rebuchet MS"/>
                <a:ea typeface="Trebuchet MS"/>
                <a:cs typeface="Trebuchet MS"/>
                <a:sym typeface="Trebuchet MS"/>
              </a:rPr>
              <a:t>   if (root == null) {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rebuchet MS"/>
                <a:ea typeface="Trebuchet MS"/>
                <a:cs typeface="Trebuchet MS"/>
                <a:sym typeface="Trebuchet MS"/>
              </a:rPr>
              <a:t>        return root;  </a:t>
            </a:r>
            <a:r>
              <a:rPr b="1" lang="en-US" sz="900">
                <a:solidFill>
                  <a:srgbClr val="188038"/>
                </a:solidFill>
                <a:latin typeface="Trebuchet MS"/>
                <a:ea typeface="Trebuchet MS"/>
                <a:cs typeface="Trebuchet MS"/>
                <a:sym typeface="Trebuchet MS"/>
              </a:rPr>
              <a:t>// Base case: Tree is empty or node not found</a:t>
            </a:r>
            <a:endParaRPr b="1" sz="900">
              <a:solidFill>
                <a:srgbClr val="18803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rebuchet MS"/>
                <a:ea typeface="Trebuchet MS"/>
                <a:cs typeface="Trebuchet MS"/>
                <a:sym typeface="Trebuchet MS"/>
              </a:rPr>
              <a:t>    </a:t>
            </a:r>
            <a:r>
              <a:rPr b="1" lang="en-US" sz="900">
                <a:solidFill>
                  <a:srgbClr val="188038"/>
                </a:solidFill>
                <a:latin typeface="Trebuchet MS"/>
                <a:ea typeface="Trebuchet MS"/>
                <a:cs typeface="Trebuchet MS"/>
                <a:sym typeface="Trebuchet MS"/>
              </a:rPr>
              <a:t>// Traverse to the left subtree if key is smaller</a:t>
            </a:r>
            <a:endParaRPr b="1" sz="900">
              <a:solidFill>
                <a:srgbClr val="18803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rebuchet MS"/>
                <a:ea typeface="Trebuchet MS"/>
                <a:cs typeface="Trebuchet MS"/>
                <a:sym typeface="Trebuchet MS"/>
              </a:rPr>
              <a:t>    if (key &lt; root.val) {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rebuchet MS"/>
                <a:ea typeface="Trebuchet MS"/>
                <a:cs typeface="Trebuchet MS"/>
                <a:sym typeface="Trebuchet MS"/>
              </a:rPr>
              <a:t>        root.left = delete_with_predecessor(root.left, key);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rebuchet MS"/>
                <a:ea typeface="Trebuchet MS"/>
                <a:cs typeface="Trebuchet MS"/>
                <a:sym typeface="Trebuchet MS"/>
              </a:rPr>
              <a:t>    </a:t>
            </a:r>
            <a:r>
              <a:rPr b="1" lang="en-US" sz="900">
                <a:solidFill>
                  <a:srgbClr val="188038"/>
                </a:solidFill>
                <a:latin typeface="Trebuchet MS"/>
                <a:ea typeface="Trebuchet MS"/>
                <a:cs typeface="Trebuchet MS"/>
                <a:sym typeface="Trebuchet MS"/>
              </a:rPr>
              <a:t>// Traverse to the right subtree if key is larger</a:t>
            </a:r>
            <a:endParaRPr b="1" sz="900">
              <a:solidFill>
                <a:srgbClr val="18803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rebuchet MS"/>
                <a:ea typeface="Trebuchet MS"/>
                <a:cs typeface="Trebuchet MS"/>
                <a:sym typeface="Trebuchet MS"/>
              </a:rPr>
              <a:t>    else if (key &gt; root.val) {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rebuchet MS"/>
                <a:ea typeface="Trebuchet MS"/>
                <a:cs typeface="Trebuchet MS"/>
                <a:sym typeface="Trebuchet MS"/>
              </a:rPr>
              <a:t>        root.right = delete_with_predecessor(root.right, key);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    else {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rebuchet MS"/>
                <a:ea typeface="Trebuchet MS"/>
                <a:cs typeface="Trebuchet MS"/>
                <a:sym typeface="Trebuchet MS"/>
              </a:rPr>
              <a:t>           //</a:t>
            </a:r>
            <a:r>
              <a:rPr lang="en-US" sz="9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Match found—delete it </a:t>
            </a:r>
            <a:r>
              <a:rPr b="1" lang="en-US" sz="900">
                <a:solidFill>
                  <a:srgbClr val="9900FF"/>
                </a:solidFill>
                <a:latin typeface="Trebuchet MS"/>
                <a:ea typeface="Trebuchet MS"/>
                <a:cs typeface="Trebuchet MS"/>
                <a:sym typeface="Trebuchet MS"/>
              </a:rPr>
              <a:t>(In next slide)</a:t>
            </a:r>
            <a:endParaRPr b="1" sz="900">
              <a:solidFill>
                <a:srgbClr val="99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    }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9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    return root;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6b57ffc93_0_63"/>
          <p:cNvSpPr txBox="1"/>
          <p:nvPr/>
        </p:nvSpPr>
        <p:spPr>
          <a:xfrm>
            <a:off x="742600" y="39100"/>
            <a:ext cx="4488300" cy="2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3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Deletion </a:t>
            </a:r>
            <a:r>
              <a:rPr lang="en-US" sz="1300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Using In-order-predecessor </a:t>
            </a:r>
            <a:endParaRPr b="0" i="0" sz="1300" u="none" cap="none" strike="noStrike">
              <a:solidFill>
                <a:srgbClr val="334669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5" name="Google Shape;315;g3f6b57ffc93_0_63"/>
          <p:cNvSpPr txBox="1"/>
          <p:nvPr/>
        </p:nvSpPr>
        <p:spPr>
          <a:xfrm>
            <a:off x="973475" y="277800"/>
            <a:ext cx="3619200" cy="28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Trebuchet MS"/>
                <a:ea typeface="Trebuchet MS"/>
                <a:cs typeface="Trebuchet MS"/>
                <a:sym typeface="Trebuchet MS"/>
              </a:rPr>
              <a:t>   else {</a:t>
            </a:r>
            <a:r>
              <a:rPr lang="en-US" sz="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//</a:t>
            </a:r>
            <a:r>
              <a:rPr lang="en-US" sz="9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Match found—delete it</a:t>
            </a:r>
            <a:endParaRPr sz="6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Trebuchet MS"/>
                <a:ea typeface="Trebuchet MS"/>
                <a:cs typeface="Trebuchet MS"/>
                <a:sym typeface="Trebuchet MS"/>
              </a:rPr>
              <a:t>        // ==== Case 1 | No subtree or children ====</a:t>
            </a:r>
            <a:endParaRPr sz="6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Trebuchet MS"/>
                <a:ea typeface="Trebuchet MS"/>
                <a:cs typeface="Trebuchet MS"/>
                <a:sym typeface="Trebuchet MS"/>
              </a:rPr>
              <a:t>        if (root.left == null &amp;&amp; root.right == null) {</a:t>
            </a:r>
            <a:endParaRPr sz="6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Trebuchet MS"/>
                <a:ea typeface="Trebuchet MS"/>
                <a:cs typeface="Trebuchet MS"/>
                <a:sym typeface="Trebuchet MS"/>
              </a:rPr>
              <a:t>            return null;  // Simply delete the node</a:t>
            </a:r>
            <a:endParaRPr sz="6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Trebuchet MS"/>
                <a:ea typeface="Trebuchet MS"/>
                <a:cs typeface="Trebuchet MS"/>
                <a:sym typeface="Trebuchet MS"/>
              </a:rPr>
              <a:t>        }</a:t>
            </a:r>
            <a:endParaRPr sz="6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Trebuchet MS"/>
                <a:ea typeface="Trebuchet MS"/>
                <a:cs typeface="Trebuchet MS"/>
                <a:sym typeface="Trebuchet MS"/>
              </a:rPr>
              <a:t>        // ==== Case 2 | One subtree (one child) ====</a:t>
            </a:r>
            <a:endParaRPr sz="6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Trebuchet MS"/>
                <a:ea typeface="Trebuchet MS"/>
                <a:cs typeface="Trebuchet MS"/>
                <a:sym typeface="Trebuchet MS"/>
              </a:rPr>
              <a:t>        else if (root.left == null) {</a:t>
            </a:r>
            <a:endParaRPr sz="6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Trebuchet MS"/>
                <a:ea typeface="Trebuchet MS"/>
                <a:cs typeface="Trebuchet MS"/>
                <a:sym typeface="Trebuchet MS"/>
              </a:rPr>
              <a:t>            root.right.parent = root.parent;</a:t>
            </a:r>
            <a:endParaRPr sz="6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Trebuchet MS"/>
                <a:ea typeface="Trebuchet MS"/>
                <a:cs typeface="Trebuchet MS"/>
                <a:sym typeface="Trebuchet MS"/>
              </a:rPr>
              <a:t>            return root.right;</a:t>
            </a:r>
            <a:endParaRPr sz="6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Trebuchet MS"/>
                <a:ea typeface="Trebuchet MS"/>
                <a:cs typeface="Trebuchet MS"/>
                <a:sym typeface="Trebuchet MS"/>
              </a:rPr>
              <a:t>        }</a:t>
            </a:r>
            <a:endParaRPr sz="6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Trebuchet MS"/>
                <a:ea typeface="Trebuchet MS"/>
                <a:cs typeface="Trebuchet MS"/>
                <a:sym typeface="Trebuchet MS"/>
              </a:rPr>
              <a:t>        else if (root.right == null) {</a:t>
            </a:r>
            <a:endParaRPr sz="6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Trebuchet MS"/>
                <a:ea typeface="Trebuchet MS"/>
                <a:cs typeface="Trebuchet MS"/>
                <a:sym typeface="Trebuchet MS"/>
              </a:rPr>
              <a:t>            root.left.parent = root.parent;</a:t>
            </a:r>
            <a:endParaRPr sz="6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Trebuchet MS"/>
                <a:ea typeface="Trebuchet MS"/>
                <a:cs typeface="Trebuchet MS"/>
                <a:sym typeface="Trebuchet MS"/>
              </a:rPr>
              <a:t>            return root.left;</a:t>
            </a:r>
            <a:endParaRPr sz="6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Trebuchet MS"/>
                <a:ea typeface="Trebuchet MS"/>
                <a:cs typeface="Trebuchet MS"/>
                <a:sym typeface="Trebuchet MS"/>
              </a:rPr>
              <a:t>        }</a:t>
            </a:r>
            <a:endParaRPr sz="6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Trebuchet MS"/>
                <a:ea typeface="Trebuchet MS"/>
                <a:cs typeface="Trebuchet MS"/>
                <a:sym typeface="Trebuchet MS"/>
              </a:rPr>
              <a:t>        // ==== Case 3 | Two subtrees (two children) ====</a:t>
            </a:r>
            <a:endParaRPr sz="6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Trebuchet MS"/>
                <a:ea typeface="Trebuchet MS"/>
                <a:cs typeface="Trebuchet MS"/>
                <a:sym typeface="Trebuchet MS"/>
              </a:rPr>
              <a:t>        else {</a:t>
            </a:r>
            <a:endParaRPr sz="6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Trebuchet MS"/>
                <a:ea typeface="Trebuchet MS"/>
                <a:cs typeface="Trebuchet MS"/>
                <a:sym typeface="Trebuchet MS"/>
              </a:rPr>
              <a:t>            // Find in-order predecessor (rightmost node in left subtree)</a:t>
            </a:r>
            <a:endParaRPr sz="6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Trebuchet MS"/>
                <a:ea typeface="Trebuchet MS"/>
                <a:cs typeface="Trebuchet MS"/>
                <a:sym typeface="Trebuchet MS"/>
              </a:rPr>
              <a:t>            TNode pred = BSTDemo.getMax(root.left);</a:t>
            </a:r>
            <a:endParaRPr sz="6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Trebuchet MS"/>
                <a:ea typeface="Trebuchet MS"/>
                <a:cs typeface="Trebuchet MS"/>
                <a:sym typeface="Trebuchet MS"/>
              </a:rPr>
              <a:t>            root.val = pred.val;  // Replace value with predecessor's value</a:t>
            </a:r>
            <a:endParaRPr sz="6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Trebuchet MS"/>
                <a:ea typeface="Trebuchet MS"/>
                <a:cs typeface="Trebuchet MS"/>
                <a:sym typeface="Trebuchet MS"/>
              </a:rPr>
              <a:t>            // Delete the in-order predecessor node recursively</a:t>
            </a:r>
            <a:endParaRPr sz="6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Trebuchet MS"/>
                <a:ea typeface="Trebuchet MS"/>
                <a:cs typeface="Trebuchet MS"/>
                <a:sym typeface="Trebuchet MS"/>
              </a:rPr>
              <a:t>            root.left = delete_with_predecessor(root.left, pred.val);</a:t>
            </a:r>
            <a:endParaRPr sz="6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Trebuchet MS"/>
                <a:ea typeface="Trebuchet MS"/>
                <a:cs typeface="Trebuchet MS"/>
                <a:sym typeface="Trebuchet MS"/>
              </a:rPr>
              <a:t>        }</a:t>
            </a:r>
            <a:endParaRPr sz="6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sz="6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Trebuchet MS"/>
                <a:ea typeface="Trebuchet MS"/>
                <a:cs typeface="Trebuchet MS"/>
                <a:sym typeface="Trebuchet MS"/>
              </a:rPr>
              <a:t>    return root;</a:t>
            </a:r>
            <a:endParaRPr sz="6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sz="6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f6b57ffc93_0_58"/>
          <p:cNvSpPr txBox="1"/>
          <p:nvPr/>
        </p:nvSpPr>
        <p:spPr>
          <a:xfrm>
            <a:off x="742600" y="39100"/>
            <a:ext cx="4488300" cy="2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3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Deletion </a:t>
            </a:r>
            <a:r>
              <a:rPr lang="en-US" sz="1300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Using In-order-</a:t>
            </a:r>
            <a:r>
              <a:rPr lang="en-US" sz="1300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predecessor</a:t>
            </a:r>
            <a:endParaRPr b="0" i="0" sz="1300" u="none" cap="none" strike="noStrike">
              <a:solidFill>
                <a:srgbClr val="334669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321" name="Google Shape;321;g3f6b57ffc93_0_58"/>
          <p:cNvGraphicFramePr/>
          <p:nvPr/>
        </p:nvGraphicFramePr>
        <p:xfrm>
          <a:off x="24925" y="336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{1D958E01-B03A-4D76-A893-4EB355C840E5}</a:tableStyleId>
              </a:tblPr>
              <a:tblGrid>
                <a:gridCol w="2654875"/>
                <a:gridCol w="3005975"/>
              </a:tblGrid>
              <a:tr h="2646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public static TNode delete_with_predecessor(TNode root, int key) {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if (root == null) {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    return root;  </a:t>
                      </a:r>
                      <a:r>
                        <a:rPr b="1" lang="en-US" sz="650">
                          <a:solidFill>
                            <a:srgbClr val="18803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// Base case: Tree is empty or node not found</a:t>
                      </a:r>
                      <a:endParaRPr b="1" sz="650">
                        <a:solidFill>
                          <a:srgbClr val="188038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}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</a:t>
                      </a:r>
                      <a:r>
                        <a:rPr b="1" lang="en-US" sz="650">
                          <a:solidFill>
                            <a:srgbClr val="18803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// Traverse to the left subtree if key is smaller</a:t>
                      </a:r>
                      <a:endParaRPr b="1" sz="650">
                        <a:solidFill>
                          <a:srgbClr val="188038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if (key &lt; root.val) {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    root.left = delete_with_predecessor(root.left, key);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}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</a:t>
                      </a:r>
                      <a:r>
                        <a:rPr b="1" lang="en-US" sz="650">
                          <a:solidFill>
                            <a:srgbClr val="18803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// Traverse to the right subtree if key is larger</a:t>
                      </a:r>
                      <a:endParaRPr b="1" sz="650">
                        <a:solidFill>
                          <a:srgbClr val="188038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else if (key &gt; root.val) {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    root.right = delete_with_predecessor(root.right, key);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}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else {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   </a:t>
                      </a:r>
                      <a:r>
                        <a:rPr b="1" lang="en-US" sz="650">
                          <a:solidFill>
                            <a:srgbClr val="18803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// ==== Case 1 | No subtree or children ====</a:t>
                      </a:r>
                      <a:endParaRPr b="1" sz="650">
                        <a:solidFill>
                          <a:srgbClr val="188038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    if (root.left == null &amp;&amp; root.right == null) {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        return null;  // Simply delete the node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    }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  </a:t>
                      </a:r>
                      <a:r>
                        <a:rPr b="1" lang="en-US" sz="650">
                          <a:solidFill>
                            <a:srgbClr val="18803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// ==== Case 2 | One subtree (one child) ====</a:t>
                      </a:r>
                      <a:endParaRPr b="1" sz="650">
                        <a:solidFill>
                          <a:srgbClr val="188038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    else if (root.left == null) {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        root.right.parent = root.parent;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        return root.right;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    }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    else if (root.right == null) {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        root.left.parent = root.parent;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        return root.left;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    }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    </a:t>
                      </a:r>
                      <a:r>
                        <a:rPr b="1" lang="en-US" sz="650">
                          <a:solidFill>
                            <a:srgbClr val="18803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// ==== Case 3 | Two subtrees (two children) ====</a:t>
                      </a:r>
                      <a:endParaRPr b="1" sz="650">
                        <a:solidFill>
                          <a:srgbClr val="188038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    else {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        </a:t>
                      </a:r>
                      <a:r>
                        <a:rPr b="1" lang="en-US" sz="650">
                          <a:solidFill>
                            <a:srgbClr val="18803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// Find in-order predecessor (rightmost node in left subtree)</a:t>
                      </a:r>
                      <a:endParaRPr b="1" sz="650">
                        <a:solidFill>
                          <a:srgbClr val="188038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        TNode pred = BSTDemo.getMax(root.left);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        root.val = pred.val;  </a:t>
                      </a:r>
                      <a:r>
                        <a:rPr b="1" lang="en-US" sz="650">
                          <a:solidFill>
                            <a:srgbClr val="18803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// Replace value with predecessor's value</a:t>
                      </a:r>
                      <a:endParaRPr b="1" sz="650">
                        <a:solidFill>
                          <a:srgbClr val="188038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        // Delete the in-order predecessor node recursively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        root.left = delete_with_predecessor(root.left, pred.val);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    }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}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return root;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}</a:t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5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g3f6b57ffc93_0_18" title="pred_del2.png"/>
          <p:cNvPicPr preferRelativeResize="0"/>
          <p:nvPr/>
        </p:nvPicPr>
        <p:blipFill rotWithShape="1">
          <a:blip r:embed="rId3">
            <a:alphaModFix/>
          </a:blip>
          <a:srcRect b="4382" l="0" r="0" t="4709"/>
          <a:stretch/>
        </p:blipFill>
        <p:spPr>
          <a:xfrm>
            <a:off x="711050" y="283300"/>
            <a:ext cx="4343692" cy="2961549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g3f6b57ffc93_0_18"/>
          <p:cNvSpPr txBox="1"/>
          <p:nvPr/>
        </p:nvSpPr>
        <p:spPr>
          <a:xfrm>
            <a:off x="742600" y="39100"/>
            <a:ext cx="44883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5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Deletion </a:t>
            </a:r>
            <a:r>
              <a:rPr lang="en-US" sz="1500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Using In-order-predecessor (Delete(2))</a:t>
            </a:r>
            <a:endParaRPr b="0" i="0" sz="1500" u="none" cap="none" strike="noStrike">
              <a:solidFill>
                <a:srgbClr val="334669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f6b57ffc93_0_9"/>
          <p:cNvSpPr txBox="1"/>
          <p:nvPr/>
        </p:nvSpPr>
        <p:spPr>
          <a:xfrm>
            <a:off x="742600" y="39100"/>
            <a:ext cx="44883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5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Deletion </a:t>
            </a:r>
            <a:r>
              <a:rPr lang="en-US" sz="1500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Using In-order-predecessor (Delete(33))</a:t>
            </a:r>
            <a:endParaRPr b="0" i="0" sz="1500" u="none" cap="none" strike="noStrike">
              <a:solidFill>
                <a:srgbClr val="334669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33" name="Google Shape;333;g3f6b57ffc93_0_9" title="pred_del33.png"/>
          <p:cNvPicPr preferRelativeResize="0"/>
          <p:nvPr/>
        </p:nvPicPr>
        <p:blipFill rotWithShape="1">
          <a:blip r:embed="rId3">
            <a:alphaModFix/>
          </a:blip>
          <a:srcRect b="6840" l="0" r="0" t="5124"/>
          <a:stretch/>
        </p:blipFill>
        <p:spPr>
          <a:xfrm>
            <a:off x="705688" y="283300"/>
            <a:ext cx="4354426" cy="2875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54431239b_0_3"/>
          <p:cNvSpPr txBox="1"/>
          <p:nvPr>
            <p:ph type="title"/>
          </p:nvPr>
        </p:nvSpPr>
        <p:spPr>
          <a:xfrm>
            <a:off x="848450" y="1153050"/>
            <a:ext cx="47133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Try out Interactive Simulation by Visualgo.net (https://visualgo.net/en/bst)</a:t>
            </a:r>
            <a:endParaRPr sz="2450"/>
          </a:p>
        </p:txBody>
      </p:sp>
      <p:sp>
        <p:nvSpPr>
          <p:cNvPr id="339" name="Google Shape;339;g3754431239b_0_3"/>
          <p:cNvSpPr txBox="1"/>
          <p:nvPr/>
        </p:nvSpPr>
        <p:spPr>
          <a:xfrm>
            <a:off x="1688477" y="325125"/>
            <a:ext cx="24411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Interactive simulations</a:t>
            </a:r>
            <a:endParaRPr i="0" sz="1600" u="none" cap="none" strike="noStrike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5"/>
          <p:cNvSpPr txBox="1"/>
          <p:nvPr>
            <p:ph type="title"/>
          </p:nvPr>
        </p:nvSpPr>
        <p:spPr>
          <a:xfrm>
            <a:off x="2243704" y="1130900"/>
            <a:ext cx="14703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50">
                <a:solidFill>
                  <a:schemeClr val="dk2"/>
                </a:solidFill>
              </a:rPr>
              <a:t>The End</a:t>
            </a:r>
            <a:endParaRPr sz="245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2024-12-06T08:18:28Z</dcterms:created>
  <dc:creator>Fadi Al Machot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2023-03-22T00:00:00Z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2024-12-06T00:00:00Z</vt:filetime>
  </property>
  <property fmtid="{D5CDD505-2E9C-101B-9397-08002B2CF9AE}" pid="5" name="Producer">
    <vt:lpwstr>Microsoft® PowerPoint® for Microsoft 365</vt:lpwstr>
  </property>
</Properties>
</file>