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</p:sldIdLst>
  <p:sldSz cy="3244850" cx="5765800"/>
  <p:notesSz cx="5765800" cy="3244850"/>
  <p:embeddedFontLst>
    <p:embeddedFont>
      <p:font typeface="Play"/>
      <p:regular r:id="rId117"/>
      <p:bold r:id="rId118"/>
    </p:embeddedFont>
    <p:embeddedFont>
      <p:font typeface="Tahoma"/>
      <p:regular r:id="rId119"/>
      <p:bold r:id="rId120"/>
    </p:embeddedFont>
    <p:embeddedFont>
      <p:font typeface="Book Antiqua"/>
      <p:regular r:id="rId121"/>
      <p:bold r:id="rId122"/>
      <p:italic r:id="rId123"/>
      <p:boldItalic r:id="rId124"/>
    </p:embeddedFont>
    <p:embeddedFont>
      <p:font typeface="Roboto Mono"/>
      <p:regular r:id="rId125"/>
      <p:bold r:id="rId126"/>
      <p:italic r:id="rId127"/>
      <p:boldItalic r:id="rId128"/>
    </p:embeddedFont>
    <p:embeddedFont>
      <p:font typeface="Cambria Math"/>
      <p:regular r:id="rId1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30" roundtripDataSignature="AMtx7mifK1/GgBFIADNroGTZxTP5T8Mb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990354-3967-4FDC-927E-2DF509835202}">
  <a:tblStyle styleId="{77990354-3967-4FDC-927E-2DF50983520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F97DBB60-1C3A-4EF9-BB29-DE84DEF50062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9B85AE13-7DBD-492C-A57F-0A71FF106FDA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font" Target="fonts/CambriaMath-regular.fntdata"/><Relationship Id="rId128" Type="http://schemas.openxmlformats.org/officeDocument/2006/relationships/font" Target="fonts/RobotoMono-boldItalic.fntdata"/><Relationship Id="rId127" Type="http://schemas.openxmlformats.org/officeDocument/2006/relationships/font" Target="fonts/RobotoMono-italic.fntdata"/><Relationship Id="rId126" Type="http://schemas.openxmlformats.org/officeDocument/2006/relationships/font" Target="fonts/RobotoMono-bold.fntdata"/><Relationship Id="rId26" Type="http://schemas.openxmlformats.org/officeDocument/2006/relationships/slide" Target="slides/slide20.xml"/><Relationship Id="rId121" Type="http://schemas.openxmlformats.org/officeDocument/2006/relationships/font" Target="fonts/BookAntiqua-regular.fntdata"/><Relationship Id="rId25" Type="http://schemas.openxmlformats.org/officeDocument/2006/relationships/slide" Target="slides/slide19.xml"/><Relationship Id="rId120" Type="http://schemas.openxmlformats.org/officeDocument/2006/relationships/font" Target="fonts/Tahoma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font" Target="fonts/RobotoMono-regular.fntdata"/><Relationship Id="rId29" Type="http://schemas.openxmlformats.org/officeDocument/2006/relationships/slide" Target="slides/slide23.xml"/><Relationship Id="rId124" Type="http://schemas.openxmlformats.org/officeDocument/2006/relationships/font" Target="fonts/BookAntiqua-boldItalic.fntdata"/><Relationship Id="rId123" Type="http://schemas.openxmlformats.org/officeDocument/2006/relationships/font" Target="fonts/BookAntiqua-italic.fntdata"/><Relationship Id="rId122" Type="http://schemas.openxmlformats.org/officeDocument/2006/relationships/font" Target="fonts/BookAntiqua-bold.fntdata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font" Target="fonts/Play-bold.fntdata"/><Relationship Id="rId117" Type="http://schemas.openxmlformats.org/officeDocument/2006/relationships/font" Target="fonts/Play-regular.fntdata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font" Target="fonts/Tahoma-regular.fntdata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0" Type="http://customschemas.google.com/relationships/presentationmetadata" Target="metadata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af06b01e0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faf06b01e0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1f8cdc83de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" name="Google Shape;53;g31f8cdc83de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1f8cdc83de_0_155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g31f8cdc83de_0_155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p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1f8cdc83de_0_3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1f8cdc83de_0_3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1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1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1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f8cdc83de_0_2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1f8cdc83de_0_2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08c8cad62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208c8cad62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754e1449f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f754e1449f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1f8cdc83de_0_3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1f8cdc83de_0_38:notes"/>
          <p:cNvSpPr/>
          <p:nvPr>
            <p:ph idx="2" type="sldImg"/>
          </p:nvPr>
        </p:nvSpPr>
        <p:spPr>
          <a:xfrm>
            <a:off x="1801813" y="242888"/>
            <a:ext cx="2162175" cy="1217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1f8cdc83de_0_56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1f8cdc83de_0_56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1f8cdc83de_0_145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1f8cdc83de_0_145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1f8cdc83de_0_153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31f8cdc83de_0_153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1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1f8cdc83de_0_949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1f8cdc83de_0_949:notes"/>
          <p:cNvSpPr/>
          <p:nvPr>
            <p:ph idx="2" type="sldImg"/>
          </p:nvPr>
        </p:nvSpPr>
        <p:spPr>
          <a:xfrm>
            <a:off x="1801813" y="242888"/>
            <a:ext cx="2162175" cy="1217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1f8cdc83de_0_867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1f8cdc83de_0_867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1f8cdc83de_0_1017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g31f8cdc83de_0_1017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1f8cdc83de_0_1024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g31f8cdc83de_0_1024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1f8cdc83de_0_1030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g31f8cdc83de_0_1030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1f8cdc83de_0_158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g31f8cdc83de_0_158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1f8cdc83de_0_163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g31f8cdc83de_0_163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1f8cdc83de_0_165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g31f8cdc83de_0_1652:notes"/>
          <p:cNvSpPr/>
          <p:nvPr>
            <p:ph idx="2" type="sldImg"/>
          </p:nvPr>
        </p:nvSpPr>
        <p:spPr>
          <a:xfrm>
            <a:off x="1801813" y="242888"/>
            <a:ext cx="2162175" cy="1217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1f8cdc83de_0_166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g31f8cdc83de_0_166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1f8cdc83de_0_167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g31f8cdc83de_0_167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1f8cdc83de_0_168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g31f8cdc83de_0_168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1f8cdc83de_0_169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g31f8cdc83de_0_169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1ff6e4d82b_0_3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g31ff6e4d82b_0_3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1ff6e4d82b_0_4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g31ff6e4d82b_0_4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1f8cdc83de_0_1631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g31f8cdc83de_0_1631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1f8cdc83de_0_1234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1" name="Google Shape;311;g31f8cdc83de_0_1234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1f8cdc83de_0_1241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g31f8cdc83de_0_1241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1f8cdc83de_0_1247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7" name="Google Shape;327;g31f8cdc83de_0_1247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1f8cdc83de_0_1253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g31f8cdc83de_0_1253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1f8cdc83de_0_1161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3" name="Google Shape;343;g31f8cdc83de_0_1161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1f8cdc83de_0_174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6" name="Google Shape;356;g31f8cdc83de_0_174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1f8cdc83de_0_175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4" name="Google Shape;364;g31f8cdc83de_0_1755:notes"/>
          <p:cNvSpPr/>
          <p:nvPr>
            <p:ph idx="2" type="sldImg"/>
          </p:nvPr>
        </p:nvSpPr>
        <p:spPr>
          <a:xfrm>
            <a:off x="1801813" y="242888"/>
            <a:ext cx="2162175" cy="1217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1f8cdc83de_0_2011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g31f8cdc83de_0_2011:notes"/>
          <p:cNvSpPr/>
          <p:nvPr>
            <p:ph idx="2" type="sldImg"/>
          </p:nvPr>
        </p:nvSpPr>
        <p:spPr>
          <a:xfrm>
            <a:off x="1801813" y="242888"/>
            <a:ext cx="2162175" cy="1217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1f8cdc83de_0_176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1" name="Google Shape;391;g31f8cdc83de_0_176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1f8cdc83de_0_177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1" name="Google Shape;401;g31f8cdc83de_0_177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1f8cdc83de_0_178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0" name="Google Shape;410;g31f8cdc83de_0_178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1f8cdc83de_0_179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9" name="Google Shape;419;g31f8cdc83de_0_179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1f8cdc83de_0_180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8" name="Google Shape;428;g31f8cdc83de_0_180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1ff6e4d82b_0_11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7" name="Google Shape;437;g31ff6e4d82b_0_11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1f8cdc83de_0_1887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5" name="Google Shape;445;g31f8cdc83de_0_1887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1f8cdc83de_0_2081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3" name="Google Shape;453;g31f8cdc83de_0_2081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1f8cdc83de_0_2092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3" name="Google Shape;463;g31f8cdc83de_0_2092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1f8cdc83de_0_2099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3" name="Google Shape;473;g31f8cdc83de_0_2099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1f8cdc83de_0_2105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3" name="Google Shape;483;g31f8cdc83de_0_2105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1f8cdc83de_0_2111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3" name="Google Shape;493;g31f8cdc83de_0_2111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1f8cdc83de_0_2126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3" name="Google Shape;503;g31f8cdc83de_0_2126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df82a1067e_0_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3" name="Google Shape;513;g3df82a1067e_0_4:notes"/>
          <p:cNvSpPr/>
          <p:nvPr>
            <p:ph idx="2" type="sldImg"/>
          </p:nvPr>
        </p:nvSpPr>
        <p:spPr>
          <a:xfrm>
            <a:off x="1801813" y="242888"/>
            <a:ext cx="2162100" cy="121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defd360268_6_1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0" name="Google Shape;520;g3defd360268_6_16:notes"/>
          <p:cNvSpPr/>
          <p:nvPr>
            <p:ph idx="2" type="sldImg"/>
          </p:nvPr>
        </p:nvSpPr>
        <p:spPr>
          <a:xfrm>
            <a:off x="1801813" y="242888"/>
            <a:ext cx="2162100" cy="121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8" name="Google Shape;528;p17:notes"/>
          <p:cNvSpPr/>
          <p:nvPr>
            <p:ph idx="2" type="sldImg"/>
          </p:nvPr>
        </p:nvSpPr>
        <p:spPr>
          <a:xfrm>
            <a:off x="1801813" y="242888"/>
            <a:ext cx="2162175" cy="1217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1ff6e4d82b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7" name="Google Shape;537;g31ff6e4d82b_0_0:notes"/>
          <p:cNvSpPr/>
          <p:nvPr>
            <p:ph idx="2" type="sldImg"/>
          </p:nvPr>
        </p:nvSpPr>
        <p:spPr>
          <a:xfrm>
            <a:off x="1801813" y="242888"/>
            <a:ext cx="2162175" cy="1217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6" name="Google Shape;546;p19:notes"/>
          <p:cNvSpPr/>
          <p:nvPr>
            <p:ph idx="2" type="sldImg"/>
          </p:nvPr>
        </p:nvSpPr>
        <p:spPr>
          <a:xfrm>
            <a:off x="1801813" y="242888"/>
            <a:ext cx="2162175" cy="1217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1f8cdc83de_0_1328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6" name="Google Shape;556;g31f8cdc83de_0_1328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1f8cdc83de_0_1512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3" name="Google Shape;563;g31f8cdc83de_0_1512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1f8cdc83de_0_1518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0" name="Google Shape;570;g31f8cdc83de_0_1518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1f8cdc83de_0_1523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7" name="Google Shape;577;g31f8cdc83de_0_1523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1f8cdc83de_0_1528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4" name="Google Shape;584;g31f8cdc83de_0_1528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1f8cdc83de_0_1533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1" name="Google Shape;591;g31f8cdc83de_0_1533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e7c2f84b32_0_0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8" name="Google Shape;598;g3e7c2f84b32_0_0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f72bb4c946_0_4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5" name="Google Shape;605;g3f72bb4c946_0_4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f9709021b8_0_15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g3f9709021b8_0_15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g3f9709021b8_0_15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f9709021b8_0_56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" name="Google Shape;653;g3f9709021b8_0_56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g3f9709021b8_0_56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f9709021b8_0_121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" name="Google Shape;716;g3f9709021b8_0_121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g3f9709021b8_0_121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f9709021b8_0_186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1" name="Google Shape;781;g3f9709021b8_0_186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g3f9709021b8_0_186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f9709021b8_0_252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7" name="Google Shape;847;g3f9709021b8_0_252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g3f9709021b8_0_252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f9709021b8_0_317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2" name="Google Shape;912;g3f9709021b8_0_317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g3f9709021b8_0_317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f9709021b8_0_385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0" name="Google Shape;980;g3f9709021b8_0_385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g3f9709021b8_0_385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f9709021b8_0_453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8" name="Google Shape;1048;g3f9709021b8_0_453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g3f9709021b8_0_453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3defd360268_6_2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6" name="Google Shape;1096;g3defd360268_6_22:notes"/>
          <p:cNvSpPr/>
          <p:nvPr>
            <p:ph idx="2" type="sldImg"/>
          </p:nvPr>
        </p:nvSpPr>
        <p:spPr>
          <a:xfrm>
            <a:off x="1801813" y="242888"/>
            <a:ext cx="2162100" cy="121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31f8cdc83de_0_187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3" name="Google Shape;1103;g31f8cdc83de_0_187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321ef0433ab_4_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0" name="Google Shape;1110;g321ef0433ab_4_2:notes"/>
          <p:cNvSpPr/>
          <p:nvPr>
            <p:ph idx="2" type="sldImg"/>
          </p:nvPr>
        </p:nvSpPr>
        <p:spPr>
          <a:xfrm>
            <a:off x="1801813" y="242888"/>
            <a:ext cx="2162175" cy="1217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2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8" name="Google Shape;1118;p2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7543373484_0_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7" name="Google Shape;1127;g37543373484_0_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f83a41d1fb_2_24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4" name="Google Shape;1134;g3f83a41d1fb_2_24:notes"/>
          <p:cNvSpPr/>
          <p:nvPr>
            <p:ph idx="2" type="sldImg"/>
          </p:nvPr>
        </p:nvSpPr>
        <p:spPr>
          <a:xfrm>
            <a:off x="1801813" y="242888"/>
            <a:ext cx="2162100" cy="121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3f83a41d1fb_2_32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3" name="Google Shape;1143;g3f83a41d1fb_2_32:notes"/>
          <p:cNvSpPr/>
          <p:nvPr>
            <p:ph idx="2" type="sldImg"/>
          </p:nvPr>
        </p:nvSpPr>
        <p:spPr>
          <a:xfrm>
            <a:off x="1801813" y="242888"/>
            <a:ext cx="2162100" cy="121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3f83a41d1fb_2_0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2" name="Google Shape;1152;g3f83a41d1fb_2_0:notes"/>
          <p:cNvSpPr/>
          <p:nvPr>
            <p:ph idx="2" type="sldImg"/>
          </p:nvPr>
        </p:nvSpPr>
        <p:spPr>
          <a:xfrm>
            <a:off x="1801813" y="242888"/>
            <a:ext cx="2162100" cy="121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7543373484_0_18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3" name="Google Shape;1173;g37543373484_0_18:notes"/>
          <p:cNvSpPr/>
          <p:nvPr>
            <p:ph idx="2" type="sldImg"/>
          </p:nvPr>
        </p:nvSpPr>
        <p:spPr>
          <a:xfrm>
            <a:off x="1801813" y="242888"/>
            <a:ext cx="2162100" cy="121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31f8cdc83de_0_168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2" name="Google Shape;1182;g31f8cdc83de_0_168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31f8cdc83de_0_455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0" name="Google Shape;1190;g31f8cdc83de_0_455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31f8cdc83de_0_463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8" name="Google Shape;1198;g31f8cdc83de_0_463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31f8cdc83de_0_471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6" name="Google Shape;1206;g31f8cdc83de_0_471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31f8cdc83de_0_479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4" name="Google Shape;1214;g31f8cdc83de_0_479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31f8cdc83de_0_487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2" name="Google Shape;1222;g31f8cdc83de_0_487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31f8cdc83de_0_494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0" name="Google Shape;1230;g31f8cdc83de_0_494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31f8cdc83de_0_500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8" name="Google Shape;1238;g31f8cdc83de_0_500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31f8cdc83de_0_506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6" name="Google Shape;1246;g31f8cdc83de_0_506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31f8cdc83de_0_512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4" name="Google Shape;1254;g31f8cdc83de_0_512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31f8cdc83de_0_518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2" name="Google Shape;1262;g31f8cdc83de_0_518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31f8cdc83de_0_524:notes"/>
          <p:cNvSpPr txBox="1"/>
          <p:nvPr>
            <p:ph idx="1" type="body"/>
          </p:nvPr>
        </p:nvSpPr>
        <p:spPr>
          <a:xfrm>
            <a:off x="576567" y="1541298"/>
            <a:ext cx="4612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0" name="Google Shape;1270;g31f8cdc83de_0_524:notes"/>
          <p:cNvSpPr/>
          <p:nvPr>
            <p:ph idx="2" type="sldImg"/>
          </p:nvPr>
        </p:nvSpPr>
        <p:spPr>
          <a:xfrm>
            <a:off x="319391" y="243358"/>
            <a:ext cx="51276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2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8" name="Google Shape;1278;p22:notes"/>
          <p:cNvSpPr/>
          <p:nvPr>
            <p:ph idx="2" type="sldImg"/>
          </p:nvPr>
        </p:nvSpPr>
        <p:spPr>
          <a:xfrm>
            <a:off x="1801813" y="242888"/>
            <a:ext cx="2162175" cy="1217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3defd360268_6_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5" name="Google Shape;1285;g3defd360268_6_3:notes"/>
          <p:cNvSpPr/>
          <p:nvPr>
            <p:ph idx="2" type="sldImg"/>
          </p:nvPr>
        </p:nvSpPr>
        <p:spPr>
          <a:xfrm>
            <a:off x="1801813" y="242888"/>
            <a:ext cx="2162100" cy="121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3df82a1067e_0_1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2" name="Google Shape;1292;g3df82a1067e_0_12:notes"/>
          <p:cNvSpPr/>
          <p:nvPr>
            <p:ph idx="2" type="sldImg"/>
          </p:nvPr>
        </p:nvSpPr>
        <p:spPr>
          <a:xfrm>
            <a:off x="1801813" y="242888"/>
            <a:ext cx="2162100" cy="121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3df82a1067e_0_2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9" name="Google Shape;1299;g3df82a1067e_0_20:notes"/>
          <p:cNvSpPr/>
          <p:nvPr>
            <p:ph idx="2" type="sldImg"/>
          </p:nvPr>
        </p:nvSpPr>
        <p:spPr>
          <a:xfrm>
            <a:off x="1801813" y="242888"/>
            <a:ext cx="2162100" cy="121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3f83a41d1fb_2_4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6" name="Google Shape;1306;g3f83a41d1fb_2_48:notes"/>
          <p:cNvSpPr/>
          <p:nvPr>
            <p:ph idx="2" type="sldImg"/>
          </p:nvPr>
        </p:nvSpPr>
        <p:spPr>
          <a:xfrm>
            <a:off x="1801813" y="242888"/>
            <a:ext cx="2162100" cy="121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3f83a41d1fb_3_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4" name="Google Shape;1314;g3f83a41d1fb_3_1:notes"/>
          <p:cNvSpPr/>
          <p:nvPr>
            <p:ph idx="2" type="sldImg"/>
          </p:nvPr>
        </p:nvSpPr>
        <p:spPr>
          <a:xfrm>
            <a:off x="1801813" y="242888"/>
            <a:ext cx="2162100" cy="121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3df82a1067e_0_6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2" name="Google Shape;1322;g3df82a1067e_0_61:notes"/>
          <p:cNvSpPr/>
          <p:nvPr>
            <p:ph idx="2" type="sldImg"/>
          </p:nvPr>
        </p:nvSpPr>
        <p:spPr>
          <a:xfrm>
            <a:off x="1801813" y="242888"/>
            <a:ext cx="2162100" cy="121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3df82a1067e_0_4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8" name="Google Shape;1328;g3df82a1067e_0_46:notes"/>
          <p:cNvSpPr/>
          <p:nvPr>
            <p:ph idx="2" type="sldImg"/>
          </p:nvPr>
        </p:nvSpPr>
        <p:spPr>
          <a:xfrm>
            <a:off x="1801813" y="242888"/>
            <a:ext cx="2162100" cy="121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3f83a41d1fb_3_1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5" name="Google Shape;1335;g3f83a41d1fb_3_10:notes"/>
          <p:cNvSpPr/>
          <p:nvPr>
            <p:ph idx="2" type="sldImg"/>
          </p:nvPr>
        </p:nvSpPr>
        <p:spPr>
          <a:xfrm>
            <a:off x="1801813" y="242888"/>
            <a:ext cx="2162100" cy="121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g3df82a1067e_0_3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3" name="Google Shape;1343;g3df82a1067e_0_35:notes"/>
          <p:cNvSpPr/>
          <p:nvPr>
            <p:ph idx="2" type="sldImg"/>
          </p:nvPr>
        </p:nvSpPr>
        <p:spPr>
          <a:xfrm>
            <a:off x="1801813" y="242888"/>
            <a:ext cx="2162100" cy="121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2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0" name="Google Shape;1350;p2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321adffe467_0_1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7" name="Google Shape;1357;g321adffe467_0_1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7"/>
          <p:cNvSpPr txBox="1"/>
          <p:nvPr>
            <p:ph type="title"/>
          </p:nvPr>
        </p:nvSpPr>
        <p:spPr>
          <a:xfrm>
            <a:off x="1565275" y="162305"/>
            <a:ext cx="2635250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7"/>
          <p:cNvSpPr txBox="1"/>
          <p:nvPr>
            <p:ph idx="1" type="body"/>
          </p:nvPr>
        </p:nvSpPr>
        <p:spPr>
          <a:xfrm>
            <a:off x="171399" y="882066"/>
            <a:ext cx="2570480" cy="1697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7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7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2" type="sldNum"/>
          </p:nvPr>
        </p:nvSpPr>
        <p:spPr>
          <a:xfrm>
            <a:off x="5347970" y="3104757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/27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8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8"/>
          <p:cNvSpPr txBox="1"/>
          <p:nvPr>
            <p:ph idx="12" type="sldNum"/>
          </p:nvPr>
        </p:nvSpPr>
        <p:spPr>
          <a:xfrm>
            <a:off x="5347970" y="3104757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/27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/>
          <p:nvPr>
            <p:ph type="title"/>
          </p:nvPr>
        </p:nvSpPr>
        <p:spPr>
          <a:xfrm>
            <a:off x="1565275" y="162305"/>
            <a:ext cx="2635250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2" type="sldNum"/>
          </p:nvPr>
        </p:nvSpPr>
        <p:spPr>
          <a:xfrm>
            <a:off x="5347970" y="3104757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/27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ctrTitle"/>
          </p:nvPr>
        </p:nvSpPr>
        <p:spPr>
          <a:xfrm>
            <a:off x="1829180" y="165353"/>
            <a:ext cx="1934845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subTitle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9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2" type="sldNum"/>
          </p:nvPr>
        </p:nvSpPr>
        <p:spPr>
          <a:xfrm>
            <a:off x="5347970" y="3104757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/27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/>
          <p:nvPr>
            <p:ph type="title"/>
          </p:nvPr>
        </p:nvSpPr>
        <p:spPr>
          <a:xfrm>
            <a:off x="1565275" y="162305"/>
            <a:ext cx="2635250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" type="body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1"/>
          <p:cNvSpPr txBox="1"/>
          <p:nvPr>
            <p:ph idx="2" type="body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1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2" type="sldNum"/>
          </p:nvPr>
        </p:nvSpPr>
        <p:spPr>
          <a:xfrm>
            <a:off x="5347970" y="3104757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/27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5760719" cy="71932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6"/>
          <p:cNvSpPr txBox="1"/>
          <p:nvPr>
            <p:ph type="title"/>
          </p:nvPr>
        </p:nvSpPr>
        <p:spPr>
          <a:xfrm>
            <a:off x="1565275" y="162305"/>
            <a:ext cx="2635250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" type="body"/>
          </p:nvPr>
        </p:nvSpPr>
        <p:spPr>
          <a:xfrm>
            <a:off x="171399" y="882066"/>
            <a:ext cx="2570480" cy="1697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2" type="sldNum"/>
          </p:nvPr>
        </p:nvSpPr>
        <p:spPr>
          <a:xfrm>
            <a:off x="5347970" y="3104757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/27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Relationship Id="rId4" Type="http://schemas.openxmlformats.org/officeDocument/2006/relationships/image" Target="../media/image2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jpg"/><Relationship Id="rId4" Type="http://schemas.openxmlformats.org/officeDocument/2006/relationships/image" Target="../media/image2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8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gif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gif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5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3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0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7.png"/><Relationship Id="rId6" Type="http://schemas.openxmlformats.org/officeDocument/2006/relationships/image" Target="../media/image3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.jpg"/><Relationship Id="rId4" Type="http://schemas.openxmlformats.org/officeDocument/2006/relationships/image" Target="../media/image32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jpg"/><Relationship Id="rId4" Type="http://schemas.openxmlformats.org/officeDocument/2006/relationships/image" Target="../media/image30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1.jpg"/><Relationship Id="rId4" Type="http://schemas.openxmlformats.org/officeDocument/2006/relationships/image" Target="../media/image30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6.jpg"/><Relationship Id="rId4" Type="http://schemas.openxmlformats.org/officeDocument/2006/relationships/image" Target="../media/image30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2.gif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5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5.jpg"/><Relationship Id="rId4" Type="http://schemas.openxmlformats.org/officeDocument/2006/relationships/image" Target="../media/image49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5.jpg"/><Relationship Id="rId4" Type="http://schemas.openxmlformats.org/officeDocument/2006/relationships/image" Target="../media/image37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5.jpg"/><Relationship Id="rId4" Type="http://schemas.openxmlformats.org/officeDocument/2006/relationships/image" Target="../media/image4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5.jpg"/><Relationship Id="rId4" Type="http://schemas.openxmlformats.org/officeDocument/2006/relationships/image" Target="../media/image60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5.jpg"/><Relationship Id="rId4" Type="http://schemas.openxmlformats.org/officeDocument/2006/relationships/image" Target="../media/image40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5.jpg"/><Relationship Id="rId4" Type="http://schemas.openxmlformats.org/officeDocument/2006/relationships/image" Target="../media/image42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slide" Target="/ppt/slides/slide81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slide" Target="/ppt/slides/slide81.xml"/><Relationship Id="rId4" Type="http://schemas.openxmlformats.org/officeDocument/2006/relationships/image" Target="../media/image7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3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3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3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5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5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70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1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48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0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71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hyperlink" Target="https://docs.google.com/presentation/d/1YKuqIlT2boyiYh8bvBcvpDnDkfqUBXR3/edit?usp=sharing&amp;ouid=100216673605729372437&amp;rtpof=true&amp;sd=true" TargetMode="Externa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slide" Target="/ppt/slides/slide81.xml"/><Relationship Id="rId4" Type="http://schemas.openxmlformats.org/officeDocument/2006/relationships/image" Target="../media/image78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80.jpg"/><Relationship Id="rId4" Type="http://schemas.openxmlformats.org/officeDocument/2006/relationships/slide" Target="/ppt/slides/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55.jp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52.png"/><Relationship Id="rId4" Type="http://schemas.openxmlformats.org/officeDocument/2006/relationships/image" Target="../media/image54.png"/><Relationship Id="rId5" Type="http://schemas.openxmlformats.org/officeDocument/2006/relationships/image" Target="../media/image67.png"/><Relationship Id="rId6" Type="http://schemas.openxmlformats.org/officeDocument/2006/relationships/image" Target="../media/image79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58.gif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77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56.jp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73.jp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57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59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72.jp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76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63.jp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68.jp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64.jp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69.jp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66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75.jpg"/><Relationship Id="rId4" Type="http://schemas.openxmlformats.org/officeDocument/2006/relationships/slide" Target="/ppt/slides/slide81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Relationship Id="rId3" Type="http://schemas.openxmlformats.org/officeDocument/2006/relationships/slide" Target="/ppt/slides/slide81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Relationship Id="rId3" Type="http://schemas.openxmlformats.org/officeDocument/2006/relationships/slide" Target="/ppt/slides/slide8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Relationship Id="rId3" Type="http://schemas.openxmlformats.org/officeDocument/2006/relationships/slide" Target="/ppt/slides/slide81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Relationship Id="rId3" Type="http://schemas.openxmlformats.org/officeDocument/2006/relationships/slide" Target="/ppt/slides/slide81.xml"/><Relationship Id="rId4" Type="http://schemas.openxmlformats.org/officeDocument/2006/relationships/image" Target="../media/image83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Relationship Id="rId3" Type="http://schemas.openxmlformats.org/officeDocument/2006/relationships/slide" Target="/ppt/slides/slide81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Relationship Id="rId3" Type="http://schemas.openxmlformats.org/officeDocument/2006/relationships/slide" Target="/ppt/slides/slide81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Relationship Id="rId3" Type="http://schemas.openxmlformats.org/officeDocument/2006/relationships/slide" Target="/ppt/slides/slide81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hyperlink" Target="https://visualgo.net/en/heap" TargetMode="Externa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 txBox="1"/>
          <p:nvPr/>
        </p:nvSpPr>
        <p:spPr>
          <a:xfrm>
            <a:off x="1061400" y="1111675"/>
            <a:ext cx="3556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43535" marR="325755" rtl="0" algn="ctr">
              <a:lnSpc>
                <a:spcPct val="12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D4452"/>
                </a:solidFill>
                <a:latin typeface="Tahoma"/>
                <a:ea typeface="Tahoma"/>
                <a:cs typeface="Tahoma"/>
                <a:sym typeface="Tahoma"/>
              </a:rPr>
              <a:t>Lecture : Heap, Heap Sort </a:t>
            </a:r>
            <a:endParaRPr b="0" i="0" sz="13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g3faf06b01e0_0_0" title="file_00000000245c820786c13f3ab574a94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036" y="371962"/>
            <a:ext cx="4443725" cy="250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1f8cdc83de_0_0"/>
          <p:cNvSpPr txBox="1"/>
          <p:nvPr>
            <p:ph type="title"/>
          </p:nvPr>
        </p:nvSpPr>
        <p:spPr>
          <a:xfrm>
            <a:off x="2175576" y="162300"/>
            <a:ext cx="1162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Heaps</a:t>
            </a:r>
            <a:endParaRPr/>
          </a:p>
        </p:txBody>
      </p:sp>
      <p:sp>
        <p:nvSpPr>
          <p:cNvPr id="56" name="Google Shape;56;g31f8cdc83de_0_0"/>
          <p:cNvSpPr txBox="1"/>
          <p:nvPr/>
        </p:nvSpPr>
        <p:spPr>
          <a:xfrm>
            <a:off x="130850" y="841075"/>
            <a:ext cx="30108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9350">
            <a:spAutoFit/>
          </a:bodyPr>
          <a:lstStyle/>
          <a:p>
            <a:pPr indent="-136525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050"/>
              <a:buFont typeface="Verdana"/>
              <a:buChar char="•"/>
            </a:pPr>
            <a:r>
              <a:rPr b="1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Complete binary tree</a:t>
            </a:r>
            <a:r>
              <a:rPr b="1" i="0" lang="en-US" sz="10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i="0" lang="en-US" sz="10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 levels are completely filled </a:t>
            </a:r>
            <a:r>
              <a:rPr i="0" lang="en-US" sz="105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except the lowest,</a:t>
            </a:r>
            <a:r>
              <a:rPr i="0" lang="en-US" sz="10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every node should reside on the </a:t>
            </a:r>
            <a:r>
              <a:rPr b="1" i="0" lang="en-US" sz="10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left side</a:t>
            </a:r>
            <a:r>
              <a:rPr i="0" lang="en-US" sz="10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i="0" sz="10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i="0" sz="10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6525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050"/>
              <a:buFont typeface="Verdana"/>
              <a:buChar char="•"/>
            </a:pPr>
            <a:r>
              <a:rPr b="1" i="0" lang="en-US" sz="105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Heap is Not a BST, </a:t>
            </a:r>
            <a:br>
              <a:rPr b="1" i="0" lang="en-US" sz="105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en-US" sz="105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Heap is a </a:t>
            </a:r>
            <a:r>
              <a:rPr b="1" i="0" lang="en-US" sz="105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complete BT </a:t>
            </a:r>
            <a:r>
              <a:rPr b="1" i="0" lang="en-US" sz="105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with heap property maintained</a:t>
            </a:r>
            <a:br>
              <a:rPr i="0" lang="en-US" sz="10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i="0" sz="10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6525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050"/>
              <a:buFont typeface="Verdana"/>
              <a:buChar char="•"/>
            </a:pPr>
            <a:r>
              <a:rPr i="0" lang="en-US" sz="10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Must satisfy the </a:t>
            </a:r>
            <a:r>
              <a:rPr b="1" i="0" lang="en-US" sz="10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heap property.</a:t>
            </a:r>
            <a:endParaRPr b="1" i="0" sz="10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80975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ahoma"/>
              <a:buChar char="○"/>
            </a:pPr>
            <a:r>
              <a:rPr i="0" lang="en-US" sz="105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Max Heap property</a:t>
            </a:r>
            <a:r>
              <a:rPr i="0" lang="en-US" sz="10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for Max Heaps</a:t>
            </a:r>
            <a:endParaRPr i="0" sz="10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○"/>
            </a:pPr>
            <a:r>
              <a:rPr i="0" lang="en-US" sz="105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Min Heap property</a:t>
            </a:r>
            <a:r>
              <a:rPr i="0" lang="en-US" sz="10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for Min Heaps</a:t>
            </a:r>
            <a:br>
              <a:rPr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7" name="Google Shape;57;g31f8cdc83d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7975" y="709350"/>
            <a:ext cx="2498125" cy="16308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g31f8cdc83de_0_0"/>
          <p:cNvSpPr txBox="1"/>
          <p:nvPr/>
        </p:nvSpPr>
        <p:spPr>
          <a:xfrm>
            <a:off x="130860" y="3104757"/>
            <a:ext cx="2274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Heaps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/>
          <p:nvPr>
            <p:ph type="title"/>
          </p:nvPr>
        </p:nvSpPr>
        <p:spPr>
          <a:xfrm>
            <a:off x="1565275" y="162305"/>
            <a:ext cx="2635250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6407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Heap properties</a:t>
            </a:r>
            <a:endParaRPr/>
          </a:p>
        </p:txBody>
      </p:sp>
      <p:sp>
        <p:nvSpPr>
          <p:cNvPr id="64" name="Google Shape;64;p7"/>
          <p:cNvSpPr txBox="1"/>
          <p:nvPr/>
        </p:nvSpPr>
        <p:spPr>
          <a:xfrm>
            <a:off x="130850" y="798100"/>
            <a:ext cx="3496200" cy="21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spAutoFit/>
          </a:bodyPr>
          <a:lstStyle/>
          <a:p>
            <a:pPr indent="-131445" lvl="0" marL="1568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Verdana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Root: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Only node with no parent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1445" lvl="0" marL="156845" marR="0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Verdana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Leaf: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Node without any children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1445" lvl="0" marL="156845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Verdana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Heap size: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Number of nodes in heap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2080" lvl="0" marL="157480" marR="59055" rtl="0" algn="l">
              <a:lnSpc>
                <a:spcPct val="84200"/>
              </a:lnSpc>
              <a:spcBef>
                <a:spcPts val="290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Verdana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Height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of a node is number of edges along </a:t>
            </a:r>
            <a:r>
              <a:rPr b="0" i="0" lang="en-US" sz="10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longest simple downward path</a:t>
            </a: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from </a:t>
            </a:r>
            <a:r>
              <a:rPr b="1" i="0" lang="en-US" sz="10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node to a leaf</a:t>
            </a:r>
            <a:endParaRPr b="1" i="0" sz="100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1445" lvl="1" marL="433705" marR="0" rtl="0" algn="l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Verdana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Leaves have height h = 0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1445" lvl="1" marL="43370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Verdana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Root in example above has height h = 3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1444" lvl="1" marL="433069" marR="76073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FF"/>
              </a:buClr>
              <a:buSzPts val="1000"/>
              <a:buFont typeface="Verdana"/>
              <a:buChar char="•"/>
            </a:pPr>
            <a:r>
              <a:rPr b="0" i="0" lang="en-US" sz="10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Height of root is height of tree/heap</a:t>
            </a:r>
            <a:endParaRPr b="0" i="0" sz="1000" u="sng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76073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 heap,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Height of tree is </a:t>
            </a: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ALWAYS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Θ(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Θ(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lg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Θ(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log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1000" u="none" cap="none" strike="noStrike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[always because, its complete BT and always balanced and never skewed]</a:t>
            </a:r>
            <a:endParaRPr b="0" i="0" sz="1000" u="sng" cap="none" strike="noStrike">
              <a:solidFill>
                <a:srgbClr val="99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7"/>
          <p:cNvSpPr txBox="1"/>
          <p:nvPr/>
        </p:nvSpPr>
        <p:spPr>
          <a:xfrm>
            <a:off x="130860" y="3104757"/>
            <a:ext cx="227329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Heaps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7050" y="1004249"/>
            <a:ext cx="2049050" cy="1337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1f8cdc83de_0_1552"/>
          <p:cNvSpPr txBox="1"/>
          <p:nvPr/>
        </p:nvSpPr>
        <p:spPr>
          <a:xfrm>
            <a:off x="826550" y="162300"/>
            <a:ext cx="4712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Why Choose Array Over Linked List for Heap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2" name="Google Shape;72;g31f8cdc83de_0_1552"/>
          <p:cNvSpPr txBox="1"/>
          <p:nvPr/>
        </p:nvSpPr>
        <p:spPr>
          <a:xfrm>
            <a:off x="0" y="703050"/>
            <a:ext cx="5589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●"/>
            </a:pPr>
            <a: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Why Use an Array for Heaps:</a:t>
            </a:r>
            <a:endParaRPr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O(1) parent/child access:</a:t>
            </a:r>
            <a: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allow </a:t>
            </a: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random access</a:t>
            </a:r>
            <a: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via indices, </a:t>
            </a:r>
            <a:b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making </a:t>
            </a: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parent/child lookup</a:t>
            </a:r>
            <a: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trivial/straightforward.</a:t>
            </a:r>
            <a:b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Space efficiency for complete trees:</a:t>
            </a:r>
            <a: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As a complete binary tree, the </a:t>
            </a:r>
            <a:r>
              <a:rPr i="0" lang="en-US" sz="11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heap is never skewed</a:t>
            </a:r>
            <a: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so array slots are</a:t>
            </a:r>
            <a:r>
              <a:rPr i="0" lang="en-US" sz="11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utilized with minimal gaps.</a:t>
            </a:r>
            <a:b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●"/>
            </a:pPr>
            <a: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Why Not Linked Lists:</a:t>
            </a:r>
            <a:endParaRPr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Sequential access: </a:t>
            </a:r>
            <a:r>
              <a:rPr i="0" lang="en-US" sz="11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Locating a specific node</a:t>
            </a:r>
            <a: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requires traversal starting from root</a:t>
            </a:r>
            <a:endParaRPr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Higher memory overhead: </a:t>
            </a:r>
            <a: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node needs </a:t>
            </a:r>
            <a:r>
              <a:rPr i="0" lang="en-US" sz="11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multiple references </a:t>
            </a:r>
            <a: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(parent, left, right).</a:t>
            </a:r>
            <a:endParaRPr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944175" y="46625"/>
            <a:ext cx="1784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Heap as array</a:t>
            </a:r>
            <a:endParaRPr/>
          </a:p>
        </p:txBody>
      </p:sp>
      <p:pic>
        <p:nvPicPr>
          <p:cNvPr id="78" name="Google Shape;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8028" y="46626"/>
            <a:ext cx="2273175" cy="23062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 txBox="1"/>
          <p:nvPr/>
        </p:nvSpPr>
        <p:spPr>
          <a:xfrm>
            <a:off x="130860" y="3104757"/>
            <a:ext cx="227329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Heaps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0" name="Google Shape;80;p8"/>
          <p:cNvSpPr txBox="1"/>
          <p:nvPr/>
        </p:nvSpPr>
        <p:spPr>
          <a:xfrm>
            <a:off x="96500" y="516325"/>
            <a:ext cx="3189600" cy="17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206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Since heap is a complete tree, we can conveniently represent it as an array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206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 not need to represent edges explicitly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571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206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000"/>
              <a:buFont typeface="Tahoma"/>
              <a:buChar char="●"/>
            </a:pPr>
            <a:r>
              <a:rPr b="0" i="0" lang="en-US" sz="10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Indexing follows the same method as in BT/BST.</a:t>
            </a:r>
            <a:endParaRPr b="0" i="0" sz="1000" u="sng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571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206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Given the index of a node, we can easily compute the indices of its parent, left child and right child.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81" name="Google Shape;8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499" y="2421353"/>
            <a:ext cx="4683649" cy="65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9"/>
          <p:cNvSpPr txBox="1"/>
          <p:nvPr>
            <p:ph type="title"/>
          </p:nvPr>
        </p:nvSpPr>
        <p:spPr>
          <a:xfrm>
            <a:off x="1565275" y="162305"/>
            <a:ext cx="2635250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73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Heap as array properties</a:t>
            </a:r>
            <a:endParaRPr/>
          </a:p>
        </p:txBody>
      </p:sp>
      <p:sp>
        <p:nvSpPr>
          <p:cNvPr id="87" name="Google Shape;87;p9"/>
          <p:cNvSpPr txBox="1"/>
          <p:nvPr/>
        </p:nvSpPr>
        <p:spPr>
          <a:xfrm>
            <a:off x="358209" y="598870"/>
            <a:ext cx="52488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700">
            <a:spAutoFit/>
          </a:bodyPr>
          <a:lstStyle/>
          <a:p>
            <a:pPr indent="-139700" lvl="0" marL="2895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Verdana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root of the tree is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[1].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9700" lvl="0" marL="289560" marR="0" rtl="0" algn="l">
              <a:lnSpc>
                <a:spcPct val="150000"/>
              </a:lnSpc>
              <a:spcBef>
                <a:spcPts val="315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Verdana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 node has 0, 1 or 2 children. </a:t>
            </a:r>
            <a:r>
              <a:rPr b="0" i="0" lang="en-US" sz="11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(if a node has 1 child, it should be on left side)</a:t>
            </a:r>
            <a:endParaRPr b="0" i="0" sz="1100" u="none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9700" lvl="0" marL="289560" marR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Verdana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 node with no child is called a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leaf.</a:t>
            </a:r>
            <a:endParaRPr b="1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9700" lvl="0" marL="289560" marR="0" rtl="0" algn="l">
              <a:lnSpc>
                <a:spcPct val="150000"/>
              </a:lnSpc>
              <a:spcBef>
                <a:spcPts val="305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Verdana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 node with at</a:t>
            </a:r>
            <a:r>
              <a:rPr b="1" i="0" lang="en-US" sz="11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least one child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is called an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internal node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500" y="2214600"/>
            <a:ext cx="4436726" cy="6211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9"/>
          <p:cNvSpPr txBox="1"/>
          <p:nvPr/>
        </p:nvSpPr>
        <p:spPr>
          <a:xfrm>
            <a:off x="130860" y="3104757"/>
            <a:ext cx="227329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Heaps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f8cdc83de_0_33"/>
          <p:cNvSpPr txBox="1"/>
          <p:nvPr/>
        </p:nvSpPr>
        <p:spPr>
          <a:xfrm>
            <a:off x="435500" y="1176625"/>
            <a:ext cx="48549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69900" marR="15240" rtl="0" algn="l">
              <a:lnSpc>
                <a:spcPct val="102600"/>
              </a:lnSpc>
              <a:spcBef>
                <a:spcPts val="2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Unless explicitly stated as </a:t>
            </a:r>
            <a:r>
              <a:rPr b="0" i="0" lang="en-US" sz="1400" u="none" cap="none" strike="noStrik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</a:rPr>
              <a:t>max heap </a:t>
            </a: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or </a:t>
            </a:r>
            <a:r>
              <a:rPr b="0" i="0" lang="en-US" sz="1400" u="none" cap="none" strike="noStrik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</a:rPr>
              <a:t>min heap</a:t>
            </a: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b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1400" u="sng" cap="none" strike="noStrik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</a:rPr>
              <a:t>heap </a:t>
            </a:r>
            <a:r>
              <a:rPr b="0" i="0" lang="en-US" sz="14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means </a:t>
            </a:r>
            <a:r>
              <a:rPr b="0" i="0" lang="en-US" sz="1400" u="sng" cap="none" strike="noStrik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</a:rPr>
              <a:t>max heap </a:t>
            </a:r>
            <a:r>
              <a:rPr b="0" i="0" lang="en-US" sz="14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 this course</a:t>
            </a: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"/>
          <p:cNvSpPr txBox="1"/>
          <p:nvPr>
            <p:ph type="title"/>
          </p:nvPr>
        </p:nvSpPr>
        <p:spPr>
          <a:xfrm>
            <a:off x="2042550" y="107650"/>
            <a:ext cx="19260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Max Heap Property</a:t>
            </a:r>
            <a:endParaRPr/>
          </a:p>
        </p:txBody>
      </p:sp>
      <p:sp>
        <p:nvSpPr>
          <p:cNvPr id="100" name="Google Shape;100;p10"/>
          <p:cNvSpPr txBox="1"/>
          <p:nvPr/>
        </p:nvSpPr>
        <p:spPr>
          <a:xfrm>
            <a:off x="256038" y="248281"/>
            <a:ext cx="5499000" cy="15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17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5255" lvl="0" marL="28829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050"/>
              <a:buFont typeface="Verdana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Each node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 &gt;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 satisfies the max-heap property:</a:t>
            </a:r>
            <a:b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  <a:r>
              <a:rPr b="1" i="1" lang="en-US" sz="105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1" i="0" lang="en-US" sz="105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1" i="1" lang="en-US" sz="105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Parent</a:t>
            </a:r>
            <a:r>
              <a:rPr b="1" i="0" lang="en-US" sz="105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105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i </a:t>
            </a:r>
            <a:r>
              <a:rPr b="1" i="0" lang="en-US" sz="105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)] </a:t>
            </a:r>
            <a:r>
              <a:rPr b="1" i="1" lang="en-US" sz="105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≥ A</a:t>
            </a:r>
            <a:r>
              <a:rPr b="1" i="0" lang="en-US" sz="105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1" i="1" lang="en-US" sz="105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b="1" i="0" lang="en-US" sz="105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].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Here, A[i] is an internal node.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5275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Tahoma"/>
              <a:buChar char="-"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Parent always greater than </a:t>
            </a:r>
            <a:r>
              <a:rPr b="0" i="0" lang="en-US" sz="105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both of its children/child.</a:t>
            </a:r>
            <a:endParaRPr b="0" i="0" sz="105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5255" lvl="0" marL="288290" marR="0" rtl="0" algn="l">
              <a:lnSpc>
                <a:spcPct val="115000"/>
              </a:lnSpc>
              <a:spcBef>
                <a:spcPts val="10"/>
              </a:spcBef>
              <a:spcAft>
                <a:spcPts val="0"/>
              </a:spcAft>
              <a:buClr>
                <a:srgbClr val="334669"/>
              </a:buClr>
              <a:buSzPts val="1050"/>
              <a:buFont typeface="Verdana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Hence, the </a:t>
            </a:r>
            <a:r>
              <a:rPr b="1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largest element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in a max-heap is stored at the </a:t>
            </a:r>
            <a:r>
              <a:rPr b="1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root.</a:t>
            </a:r>
            <a:br>
              <a:rPr b="1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5890" lvl="0" marL="288290" marR="81280" rtl="0" algn="l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Clr>
                <a:srgbClr val="334669"/>
              </a:buClr>
              <a:buSzPts val="1050"/>
              <a:buFont typeface="Verdana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We will use </a:t>
            </a:r>
            <a:r>
              <a:rPr b="1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max-heaps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in the </a:t>
            </a:r>
            <a:r>
              <a:rPr b="1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heapsort algorithm </a:t>
            </a:r>
            <a:endParaRPr b="1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5275" lvl="1" marL="914400" marR="81280" rtl="0" algn="l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Clr>
                <a:srgbClr val="334669"/>
              </a:buClr>
              <a:buSzPts val="1050"/>
              <a:buFont typeface="Verdana"/>
              <a:buChar char="○"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It can be viewed as </a:t>
            </a:r>
            <a:r>
              <a:rPr b="0" i="0" lang="en-US" sz="105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improved </a:t>
            </a:r>
            <a:r>
              <a:rPr b="1" i="0" lang="en-US" sz="105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selection sort</a:t>
            </a:r>
            <a:r>
              <a:rPr b="0" i="0" lang="en-US" sz="105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(In-place)</a:t>
            </a:r>
            <a:endParaRPr b="0" i="0" sz="105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1" name="Google Shape;101;p10"/>
          <p:cNvSpPr txBox="1"/>
          <p:nvPr/>
        </p:nvSpPr>
        <p:spPr>
          <a:xfrm>
            <a:off x="130860" y="3104757"/>
            <a:ext cx="227329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Heaps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02" name="Google Shape;10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6300" y="1882850"/>
            <a:ext cx="2051625" cy="133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"/>
          <p:cNvSpPr txBox="1"/>
          <p:nvPr>
            <p:ph type="title"/>
          </p:nvPr>
        </p:nvSpPr>
        <p:spPr>
          <a:xfrm>
            <a:off x="2059500" y="103375"/>
            <a:ext cx="2250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Min Heap Property</a:t>
            </a:r>
            <a:endParaRPr/>
          </a:p>
        </p:txBody>
      </p:sp>
      <p:sp>
        <p:nvSpPr>
          <p:cNvPr id="108" name="Google Shape;108;p11"/>
          <p:cNvSpPr txBox="1"/>
          <p:nvPr/>
        </p:nvSpPr>
        <p:spPr>
          <a:xfrm>
            <a:off x="126288" y="424433"/>
            <a:ext cx="5498400" cy="14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17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288290" marR="0" rtl="0" algn="l">
              <a:lnSpc>
                <a:spcPct val="117083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Verdana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Each node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 satisfies the min-heap property: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r>
              <a:rPr b="0" i="1" lang="en-US" sz="12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2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1" lang="en-US" sz="12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Parent</a:t>
            </a:r>
            <a:r>
              <a:rPr b="0" i="0" lang="en-US" sz="12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2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)] </a:t>
            </a:r>
            <a:r>
              <a:rPr b="0" i="1" lang="en-US" sz="12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≤ </a:t>
            </a:r>
            <a:r>
              <a:rPr b="0" i="1" lang="en-US" sz="12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2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1" lang="en-US" sz="12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2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].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Here, A[i] is an internal node.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28829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Verdana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Hence, the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smallest element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in a min-heap is stored at the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root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288290" marR="5080" rtl="0" algn="l">
              <a:lnSpc>
                <a:spcPct val="115833"/>
              </a:lnSpc>
              <a:spcBef>
                <a:spcPts val="1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Verdana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Min-heaps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commonly implement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priority queues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which have many applications, e.g., in shortest paths computation.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09" name="Google Shape;10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3411" y="1930230"/>
            <a:ext cx="1804187" cy="117451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1"/>
          <p:cNvSpPr txBox="1"/>
          <p:nvPr/>
        </p:nvSpPr>
        <p:spPr>
          <a:xfrm>
            <a:off x="130860" y="3104757"/>
            <a:ext cx="227329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Heaps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 txBox="1"/>
          <p:nvPr/>
        </p:nvSpPr>
        <p:spPr>
          <a:xfrm>
            <a:off x="2446147" y="103377"/>
            <a:ext cx="1248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Home Work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130860" y="3104757"/>
            <a:ext cx="227329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Heaps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5373370" y="3104757"/>
            <a:ext cx="2197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rPr>
              <a:t>18/27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311475" y="416450"/>
            <a:ext cx="5061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the array with values (23, 17, 14, 6, 13, 10, 1, 5, 7, 12) a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max-heap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f8cdc83de_0_23"/>
          <p:cNvSpPr txBox="1"/>
          <p:nvPr/>
        </p:nvSpPr>
        <p:spPr>
          <a:xfrm>
            <a:off x="2446147" y="103377"/>
            <a:ext cx="1248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Home Work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4" name="Google Shape;124;g31f8cdc83de_0_23"/>
          <p:cNvSpPr txBox="1"/>
          <p:nvPr/>
        </p:nvSpPr>
        <p:spPr>
          <a:xfrm>
            <a:off x="130860" y="3104757"/>
            <a:ext cx="2274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Heaps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5" name="Google Shape;125;g31f8cdc83de_0_23"/>
          <p:cNvSpPr txBox="1"/>
          <p:nvPr/>
        </p:nvSpPr>
        <p:spPr>
          <a:xfrm>
            <a:off x="5373370" y="3104757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rPr>
              <a:t>18/27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6" name="Google Shape;126;g31f8cdc83de_0_23"/>
          <p:cNvSpPr txBox="1"/>
          <p:nvPr/>
        </p:nvSpPr>
        <p:spPr>
          <a:xfrm>
            <a:off x="311475" y="416450"/>
            <a:ext cx="506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the array with values (23, 17, 14, 6, 13, 10, 1, 5, 7, 12) a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max-heap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</a:t>
            </a:r>
            <a:r>
              <a:rPr b="0" i="0" lang="en-US" sz="11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1100" u="none" cap="none" strike="noStrike">
                <a:solidFill>
                  <a:srgbClr val="0000FF"/>
                </a:solidFill>
              </a:rPr>
              <a:t>       1    2    3    4   5   6   7  8  9  10</a:t>
            </a:r>
            <a:endParaRPr b="1" i="0" sz="1100" u="none" cap="none" strike="noStrike">
              <a:solidFill>
                <a:srgbClr val="0000FF"/>
              </a:solidFill>
            </a:endParaRPr>
          </a:p>
        </p:txBody>
      </p:sp>
      <p:pic>
        <p:nvPicPr>
          <p:cNvPr id="127" name="Google Shape;127;g31f8cdc83de_0_23" title="max_heap_violate_p1.png"/>
          <p:cNvPicPr preferRelativeResize="0"/>
          <p:nvPr/>
        </p:nvPicPr>
        <p:blipFill rotWithShape="1">
          <a:blip r:embed="rId3">
            <a:alphaModFix/>
          </a:blip>
          <a:srcRect b="0" l="0" r="49244" t="0"/>
          <a:stretch/>
        </p:blipFill>
        <p:spPr>
          <a:xfrm>
            <a:off x="262394" y="939650"/>
            <a:ext cx="2660199" cy="209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208c8cad62_0_0"/>
          <p:cNvSpPr txBox="1"/>
          <p:nvPr/>
        </p:nvSpPr>
        <p:spPr>
          <a:xfrm>
            <a:off x="2446147" y="103377"/>
            <a:ext cx="1248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Home Work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3" name="Google Shape;133;g3208c8cad62_0_0"/>
          <p:cNvSpPr txBox="1"/>
          <p:nvPr/>
        </p:nvSpPr>
        <p:spPr>
          <a:xfrm>
            <a:off x="130860" y="3104757"/>
            <a:ext cx="2274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Heaps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4" name="Google Shape;134;g3208c8cad62_0_0"/>
          <p:cNvSpPr txBox="1"/>
          <p:nvPr/>
        </p:nvSpPr>
        <p:spPr>
          <a:xfrm>
            <a:off x="5373370" y="3104757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rPr>
              <a:t>18/27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5" name="Google Shape;135;g3208c8cad62_0_0"/>
          <p:cNvSpPr txBox="1"/>
          <p:nvPr/>
        </p:nvSpPr>
        <p:spPr>
          <a:xfrm>
            <a:off x="311475" y="416450"/>
            <a:ext cx="506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the array with values (23, 17, 14, 6, 13, 10, 1,  5, 7, 12) a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max-heap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</a:t>
            </a:r>
            <a:r>
              <a:rPr b="1" i="0" lang="en-US" sz="11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   1   2    3   4    5    6   7  8   9  10</a:t>
            </a:r>
            <a:endParaRPr b="1" i="0" sz="11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g3208c8cad62_0_0" title="max_heap_violate_p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388" y="939650"/>
            <a:ext cx="5241024" cy="2095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754e1449f_0_0"/>
          <p:cNvSpPr txBox="1"/>
          <p:nvPr/>
        </p:nvSpPr>
        <p:spPr>
          <a:xfrm>
            <a:off x="2446147" y="103377"/>
            <a:ext cx="1248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Home Work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2" name="Google Shape;142;g3f754e1449f_0_0"/>
          <p:cNvSpPr txBox="1"/>
          <p:nvPr/>
        </p:nvSpPr>
        <p:spPr>
          <a:xfrm>
            <a:off x="130860" y="3104757"/>
            <a:ext cx="2274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Heaps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3" name="Google Shape;143;g3f754e1449f_0_0"/>
          <p:cNvSpPr txBox="1"/>
          <p:nvPr/>
        </p:nvSpPr>
        <p:spPr>
          <a:xfrm>
            <a:off x="5373370" y="3104757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rPr>
              <a:t>18/27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4" name="Google Shape;144;g3f754e1449f_0_0"/>
          <p:cNvSpPr txBox="1"/>
          <p:nvPr/>
        </p:nvSpPr>
        <p:spPr>
          <a:xfrm>
            <a:off x="311475" y="416450"/>
            <a:ext cx="506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the array with values (23, 17, 14, 6, 13, 10, 1,  5, 7, 12) a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max-heap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</a:t>
            </a:r>
            <a:r>
              <a:rPr b="1" i="0" lang="en-US" sz="11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   1   2    3   4    5    6   7  8   9  10</a:t>
            </a:r>
            <a:endParaRPr b="1" i="0" sz="11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g3f754e1449f_0_0" title="max_heap_violation_f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025" y="877150"/>
            <a:ext cx="4621574" cy="222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1f8cdc83de_0_38"/>
          <p:cNvSpPr txBox="1"/>
          <p:nvPr/>
        </p:nvSpPr>
        <p:spPr>
          <a:xfrm>
            <a:off x="1683950" y="103375"/>
            <a:ext cx="2510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Operations on max heap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1" name="Google Shape;151;g31f8cdc83de_0_38"/>
          <p:cNvSpPr txBox="1"/>
          <p:nvPr/>
        </p:nvSpPr>
        <p:spPr>
          <a:xfrm>
            <a:off x="130860" y="3104757"/>
            <a:ext cx="2274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Heaps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2" name="Google Shape;152;g31f8cdc83de_0_38"/>
          <p:cNvSpPr txBox="1"/>
          <p:nvPr/>
        </p:nvSpPr>
        <p:spPr>
          <a:xfrm>
            <a:off x="5373370" y="3104757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rPr>
              <a:t>18/27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3" name="Google Shape;153;g31f8cdc83de_0_38"/>
          <p:cNvSpPr txBox="1"/>
          <p:nvPr/>
        </p:nvSpPr>
        <p:spPr>
          <a:xfrm>
            <a:off x="49850" y="204950"/>
            <a:ext cx="5666100" cy="30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9225" lvl="0" marL="200025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AutoNum type="arabicPeriod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</a:t>
            </a:r>
            <a:r>
              <a:rPr b="1" i="0" lang="en-US" sz="1000" u="none" cap="small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ax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b="1" i="0" lang="en-US" sz="1000" u="none" cap="small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heapif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y(</a:t>
            </a:r>
            <a:r>
              <a:rPr b="1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A, i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Ensure the heap property of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A, array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starting at node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- Also known as “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sink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” operation since it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sinks the </a:t>
            </a:r>
            <a:r>
              <a:rPr b="1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lighter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elements </a:t>
            </a:r>
            <a:r>
              <a:rPr b="1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down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the tree.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8801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cap="small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2. </a:t>
            </a:r>
            <a:r>
              <a:rPr b="1" i="0" lang="en-US" sz="1000" u="none" cap="small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heap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b="1" i="0" lang="en-US" sz="1000" u="none" cap="small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r>
              <a:rPr b="1" i="0" lang="en-US" sz="1000" u="none" cap="small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rea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</a:t>
            </a:r>
            <a:r>
              <a:rPr b="1" i="0" lang="en-US" sz="1000" u="none" cap="small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-k</a:t>
            </a:r>
            <a:r>
              <a:rPr b="1" i="0" lang="en-US" sz="1000" u="none" cap="small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y(</a:t>
            </a:r>
            <a:r>
              <a:rPr b="1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A, i , key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Increase the value of element at node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key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and ensure the heap property of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by 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moving </a:t>
            </a:r>
            <a:r>
              <a:rPr b="1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larger 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elements </a:t>
            </a:r>
            <a:r>
              <a:rPr b="1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upwards.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- Also known as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“swim”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operation as it 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moves larger elements upwards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8801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3.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</a:t>
            </a:r>
            <a:r>
              <a:rPr b="1" i="0" lang="en-US" sz="1000" u="none" cap="small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ax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b="1" i="0" lang="en-US" sz="1000" u="none" cap="small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heap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b="1" i="0" lang="en-US" sz="1000" u="none" cap="small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</a:t>
            </a:r>
            <a:r>
              <a:rPr b="1" i="0" lang="en-US" sz="1000" u="none" cap="small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ert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A, key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Insert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key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the heap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maintaining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’s heap property.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4. </a:t>
            </a:r>
            <a:r>
              <a:rPr b="1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get_maximum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):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return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element with largest key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cap="small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5. </a:t>
            </a:r>
            <a:r>
              <a:rPr b="1" i="0" lang="en-US" sz="1000" u="none" cap="small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heap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b="1" i="0" lang="en-US" sz="1000" u="none" cap="small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extra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r>
              <a:rPr b="1" i="0" lang="en-US" sz="1000" u="none" cap="small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-m</a:t>
            </a:r>
            <a:r>
              <a:rPr b="1" i="0" lang="en-US" sz="1000" u="none" cap="small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ax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Extract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the largest element from heap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- </a:t>
            </a:r>
            <a:r>
              <a:rPr b="0" i="0" lang="en-US" sz="1000" u="sng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Referred as “Delete_max” in the notes</a:t>
            </a:r>
            <a:endParaRPr b="0" i="0" sz="1000" u="none" cap="none" strike="noStrike">
              <a:solidFill>
                <a:srgbClr val="C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6.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bu</a:t>
            </a:r>
            <a:r>
              <a:rPr b="1" i="0" lang="en-US" sz="1000" u="none" cap="small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il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d-m</a:t>
            </a:r>
            <a:r>
              <a:rPr b="1" i="0" lang="en-US" sz="1000" u="none" cap="small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ax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b="1" i="0" lang="en-US" sz="1000" u="none" cap="small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heap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Build a max heap given an array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0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4508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cap="small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7. </a:t>
            </a:r>
            <a:r>
              <a:rPr b="1" i="0" lang="en-US" sz="1000" u="none" cap="small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heap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</a:t>
            </a:r>
            <a:r>
              <a:rPr b="1" i="0" lang="en-US" sz="1000" u="none" cap="small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rt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– Sort the elements in array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using the heap operations.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4508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8.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Get_heap_size():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Number of nodes in heap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type="title"/>
          </p:nvPr>
        </p:nvSpPr>
        <p:spPr>
          <a:xfrm>
            <a:off x="1024550" y="162300"/>
            <a:ext cx="3176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Maintaining the heap property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130850" y="488475"/>
            <a:ext cx="2908800" cy="20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i="0" lang="en-US" sz="1000" u="none" cap="small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ax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n-US" sz="1000" u="none" cap="small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heapif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y(</a:t>
            </a:r>
            <a:r>
              <a:rPr b="1" i="1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 i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known as “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sink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operation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-since it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sinks the </a:t>
            </a:r>
            <a:r>
              <a:rPr b="1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lighter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elements </a:t>
            </a:r>
            <a:r>
              <a:rPr b="1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down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tree.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158750" marR="0" rtl="0" algn="l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Precondition: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1445" lvl="1" marL="434975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Verdana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Subtree rooted at </a:t>
            </a:r>
            <a:r>
              <a:rPr b="0" i="1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Left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is max heap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1445" lvl="1" marL="434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Verdana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Subtree rooted at </a:t>
            </a:r>
            <a:r>
              <a:rPr b="0" i="1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is max heap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158750" marR="0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Postcondition: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5080" rtl="0" algn="l">
              <a:lnSpc>
                <a:spcPct val="98800"/>
              </a:lnSpc>
              <a:spcBef>
                <a:spcPts val="254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</a:t>
            </a:r>
            <a:r>
              <a:rPr b="0" i="1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 − Heapify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A, i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completes, the subtree rooted at i will be a max heap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5080" rtl="0" algn="l">
              <a:lnSpc>
                <a:spcPct val="98800"/>
              </a:lnSpc>
              <a:spcBef>
                <a:spcPts val="254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3200" y="509350"/>
            <a:ext cx="2499875" cy="2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/>
          <p:cNvSpPr txBox="1"/>
          <p:nvPr/>
        </p:nvSpPr>
        <p:spPr>
          <a:xfrm>
            <a:off x="130860" y="3104757"/>
            <a:ext cx="227329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Heaps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" name="Google Shape;162;p15"/>
          <p:cNvSpPr txBox="1"/>
          <p:nvPr/>
        </p:nvSpPr>
        <p:spPr>
          <a:xfrm>
            <a:off x="5373370" y="3104757"/>
            <a:ext cx="2197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rPr>
              <a:t>21/27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187400" y="2457725"/>
            <a:ext cx="3093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complexity: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node may move from root to leaf </a:t>
            </a:r>
            <a:b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T(n) = O(h) = O(log 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1f8cdc83de_0_56"/>
          <p:cNvSpPr txBox="1"/>
          <p:nvPr>
            <p:ph type="title"/>
          </p:nvPr>
        </p:nvSpPr>
        <p:spPr>
          <a:xfrm>
            <a:off x="932026" y="152175"/>
            <a:ext cx="43215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rebuchet MS"/>
                <a:ea typeface="Trebuchet MS"/>
                <a:cs typeface="Trebuchet MS"/>
                <a:sym typeface="Trebuchet MS"/>
              </a:rPr>
              <a:t>Example of </a:t>
            </a:r>
            <a:r>
              <a:rPr lang="en-US"/>
              <a:t>m</a:t>
            </a:r>
            <a:r>
              <a:rPr lang="en-US" cap="small"/>
              <a:t>ax</a:t>
            </a:r>
            <a:r>
              <a:rPr lang="en-US"/>
              <a:t>-</a:t>
            </a:r>
            <a:r>
              <a:rPr lang="en-US" cap="small"/>
              <a:t>heapif</a:t>
            </a:r>
            <a:r>
              <a:rPr lang="en-US"/>
              <a:t>y </a:t>
            </a:r>
            <a:r>
              <a:rPr lang="en-US">
                <a:latin typeface="Trebuchet MS"/>
                <a:ea typeface="Trebuchet MS"/>
                <a:cs typeface="Trebuchet MS"/>
                <a:sym typeface="Trebuchet MS"/>
              </a:rPr>
              <a:t>(“sink”) operation</a:t>
            </a:r>
            <a:endParaRPr/>
          </a:p>
        </p:txBody>
      </p:sp>
      <p:pic>
        <p:nvPicPr>
          <p:cNvPr id="169" name="Google Shape;169;g31f8cdc83de_0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026" y="688324"/>
            <a:ext cx="3331325" cy="227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1f8cdc83de_0_56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1" name="Google Shape;171;g31f8cdc83de_0_56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13 / 29</a:t>
            </a:r>
            <a:endParaRPr b="0" i="0" sz="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1f8cdc83de_0_145"/>
          <p:cNvSpPr txBox="1"/>
          <p:nvPr>
            <p:ph type="title"/>
          </p:nvPr>
        </p:nvSpPr>
        <p:spPr>
          <a:xfrm>
            <a:off x="932026" y="152175"/>
            <a:ext cx="43215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rebuchet MS"/>
                <a:ea typeface="Trebuchet MS"/>
                <a:cs typeface="Trebuchet MS"/>
                <a:sym typeface="Trebuchet MS"/>
              </a:rPr>
              <a:t>Example of </a:t>
            </a:r>
            <a:r>
              <a:rPr lang="en-US"/>
              <a:t>m</a:t>
            </a:r>
            <a:r>
              <a:rPr lang="en-US" cap="small"/>
              <a:t>ax</a:t>
            </a:r>
            <a:r>
              <a:rPr lang="en-US"/>
              <a:t>-</a:t>
            </a:r>
            <a:r>
              <a:rPr lang="en-US" cap="small"/>
              <a:t>heapif</a:t>
            </a:r>
            <a:r>
              <a:rPr lang="en-US"/>
              <a:t>y </a:t>
            </a:r>
            <a:r>
              <a:rPr lang="en-US">
                <a:latin typeface="Trebuchet MS"/>
                <a:ea typeface="Trebuchet MS"/>
                <a:cs typeface="Trebuchet MS"/>
                <a:sym typeface="Trebuchet MS"/>
              </a:rPr>
              <a:t>(“sink”) operation</a:t>
            </a:r>
            <a:endParaRPr/>
          </a:p>
        </p:txBody>
      </p:sp>
      <p:sp>
        <p:nvSpPr>
          <p:cNvPr id="177" name="Google Shape;177;g31f8cdc83de_0_145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8" name="Google Shape;178;g31f8cdc83de_0_145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13 / 29</a:t>
            </a:r>
            <a:endParaRPr b="0" i="0" sz="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9" name="Google Shape;179;g31f8cdc83de_0_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813" y="676760"/>
            <a:ext cx="3000743" cy="2049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f8cdc83de_0_153"/>
          <p:cNvSpPr txBox="1"/>
          <p:nvPr>
            <p:ph type="title"/>
          </p:nvPr>
        </p:nvSpPr>
        <p:spPr>
          <a:xfrm>
            <a:off x="932026" y="152175"/>
            <a:ext cx="43215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rebuchet MS"/>
                <a:ea typeface="Trebuchet MS"/>
                <a:cs typeface="Trebuchet MS"/>
                <a:sym typeface="Trebuchet MS"/>
              </a:rPr>
              <a:t>Example of </a:t>
            </a:r>
            <a:r>
              <a:rPr lang="en-US"/>
              <a:t>m</a:t>
            </a:r>
            <a:r>
              <a:rPr lang="en-US" cap="small"/>
              <a:t>ax</a:t>
            </a:r>
            <a:r>
              <a:rPr lang="en-US"/>
              <a:t>-</a:t>
            </a:r>
            <a:r>
              <a:rPr lang="en-US" cap="small"/>
              <a:t>heapif</a:t>
            </a:r>
            <a:r>
              <a:rPr lang="en-US"/>
              <a:t>y </a:t>
            </a:r>
            <a:r>
              <a:rPr lang="en-US">
                <a:latin typeface="Trebuchet MS"/>
                <a:ea typeface="Trebuchet MS"/>
                <a:cs typeface="Trebuchet MS"/>
                <a:sym typeface="Trebuchet MS"/>
              </a:rPr>
              <a:t>(“sink”) operation</a:t>
            </a:r>
            <a:endParaRPr/>
          </a:p>
        </p:txBody>
      </p:sp>
      <p:sp>
        <p:nvSpPr>
          <p:cNvPr id="185" name="Google Shape;185;g31f8cdc83de_0_153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6" name="Google Shape;186;g31f8cdc83de_0_153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13 / 29</a:t>
            </a:r>
            <a:endParaRPr b="0" i="0" sz="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7" name="Google Shape;187;g31f8cdc83de_0_1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488" y="682535"/>
            <a:ext cx="3000743" cy="2049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 txBox="1"/>
          <p:nvPr/>
        </p:nvSpPr>
        <p:spPr>
          <a:xfrm>
            <a:off x="879950" y="94575"/>
            <a:ext cx="4043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394663"/>
                </a:solidFill>
                <a:latin typeface="Arial"/>
                <a:ea typeface="Arial"/>
                <a:cs typeface="Arial"/>
                <a:sym typeface="Arial"/>
              </a:rPr>
              <a:t>Max </a:t>
            </a:r>
            <a:r>
              <a:rPr b="0" i="1" lang="en-US" sz="1800" u="none" cap="none" strike="noStrike">
                <a:solidFill>
                  <a:srgbClr val="394663"/>
                </a:solidFill>
                <a:latin typeface="Verdana"/>
                <a:ea typeface="Verdana"/>
                <a:cs typeface="Verdana"/>
                <a:sym typeface="Verdana"/>
              </a:rPr>
              <a:t>− </a:t>
            </a:r>
            <a:r>
              <a:rPr b="0" i="1" lang="en-US" sz="1800" u="none" cap="none" strike="noStrike">
                <a:solidFill>
                  <a:srgbClr val="394663"/>
                </a:solidFill>
                <a:latin typeface="Arial"/>
                <a:ea typeface="Arial"/>
                <a:cs typeface="Arial"/>
                <a:sym typeface="Arial"/>
              </a:rPr>
              <a:t>Heapify </a:t>
            </a:r>
            <a:r>
              <a:rPr b="0" i="0" lang="en-US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(“sink”)</a:t>
            </a:r>
            <a:r>
              <a:rPr b="0" i="0" lang="en-US" sz="1800" u="none" cap="none" strike="noStrike">
                <a:solidFill>
                  <a:srgbClr val="394663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Example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358205" y="569950"/>
            <a:ext cx="28785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A= [16, 4, 10, 14, 7, 9, 3, 2, 8, 1]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130860" y="3104757"/>
            <a:ext cx="227329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Heaps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5" name="Google Shape;195;p18"/>
          <p:cNvGrpSpPr/>
          <p:nvPr/>
        </p:nvGrpSpPr>
        <p:grpSpPr>
          <a:xfrm>
            <a:off x="127375" y="569947"/>
            <a:ext cx="5570725" cy="2449715"/>
            <a:chOff x="1105725" y="634910"/>
            <a:chExt cx="5570725" cy="2449715"/>
          </a:xfrm>
        </p:grpSpPr>
        <p:pic>
          <p:nvPicPr>
            <p:cNvPr id="196" name="Google Shape;196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15050" y="634910"/>
              <a:ext cx="2461400" cy="2013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5725" y="973662"/>
              <a:ext cx="3019799" cy="21109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18"/>
          <p:cNvSpPr txBox="1"/>
          <p:nvPr/>
        </p:nvSpPr>
        <p:spPr>
          <a:xfrm>
            <a:off x="523443" y="3121710"/>
            <a:ext cx="2040255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Source: https://www2.hawaii.edu/~nodari/teaching/s18/Notes/Topic-09.html</a:t>
            </a:r>
            <a:endParaRPr b="0" i="0" sz="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1f8cdc83de_0_949"/>
          <p:cNvSpPr txBox="1"/>
          <p:nvPr>
            <p:ph type="title"/>
          </p:nvPr>
        </p:nvSpPr>
        <p:spPr>
          <a:xfrm>
            <a:off x="633025" y="213400"/>
            <a:ext cx="49437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Heap-increase-key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(“swim”) operation</a:t>
            </a:r>
            <a:r>
              <a:rPr lang="en-US"/>
              <a:t>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sp>
        <p:nvSpPr>
          <p:cNvPr id="204" name="Google Shape;204;g31f8cdc83de_0_949"/>
          <p:cNvSpPr txBox="1"/>
          <p:nvPr/>
        </p:nvSpPr>
        <p:spPr>
          <a:xfrm>
            <a:off x="657626" y="636550"/>
            <a:ext cx="4362900" cy="23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0" marR="8801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Known as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“swim”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operation as it 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moves larger elements upwards</a:t>
            </a:r>
            <a:endParaRPr b="0" i="0" sz="11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heap-increase-key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1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07645" lvl="0" marL="220345" marR="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AutoNum type="arabicPlain"/>
            </a:pPr>
            <a:r>
              <a:rPr b="1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]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92430" lvl="0" marL="40513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AutoNum type="arabicPlain"/>
            </a:pPr>
            <a:r>
              <a:rPr b="1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then error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“new key is smaller than current key”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7645" lvl="0" marL="220345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AutoNum type="arabicPlain"/>
            </a:pP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]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←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7645" lvl="0" marL="220345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AutoNum type="arabicPlain"/>
            </a:pPr>
            <a:r>
              <a:rPr b="1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while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and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0" lang="en-US" sz="1100" u="none" cap="none" strike="noStrik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parent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)]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]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525145" lvl="0" marL="537845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AutoNum type="arabicPlain"/>
            </a:pPr>
            <a:r>
              <a:rPr b="1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exchange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]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↔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)]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720725" lvl="0" marL="733425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AutoNum type="arabicPlain"/>
            </a:pP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←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parent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complexity: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node may move from leaf to root due to increased value, 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So, T(n) = O(h) = O(log n).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1f8cdc83de_0_949"/>
          <p:cNvSpPr txBox="1"/>
          <p:nvPr/>
        </p:nvSpPr>
        <p:spPr>
          <a:xfrm>
            <a:off x="633016" y="3125520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1f8cdc83de_0_949"/>
          <p:cNvSpPr txBox="1"/>
          <p:nvPr/>
        </p:nvSpPr>
        <p:spPr>
          <a:xfrm>
            <a:off x="5316337" y="3125520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1f8cdc83de_0_867"/>
          <p:cNvSpPr txBox="1"/>
          <p:nvPr>
            <p:ph type="title"/>
          </p:nvPr>
        </p:nvSpPr>
        <p:spPr>
          <a:xfrm>
            <a:off x="750251" y="152175"/>
            <a:ext cx="45033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 of </a:t>
            </a:r>
            <a:r>
              <a:rPr lang="en-US"/>
              <a:t>heap-increase-key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(“swim”) operation</a:t>
            </a:r>
            <a:endParaRPr/>
          </a:p>
        </p:txBody>
      </p:sp>
      <p:pic>
        <p:nvPicPr>
          <p:cNvPr id="212" name="Google Shape;212;g31f8cdc83de_0_8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913" y="734318"/>
            <a:ext cx="3000743" cy="191190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31f8cdc83de_0_867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1f8cdc83de_0_867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1f8cdc83de_0_1017"/>
          <p:cNvSpPr txBox="1"/>
          <p:nvPr>
            <p:ph type="title"/>
          </p:nvPr>
        </p:nvSpPr>
        <p:spPr>
          <a:xfrm>
            <a:off x="750251" y="152175"/>
            <a:ext cx="45033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 of </a:t>
            </a:r>
            <a:r>
              <a:rPr lang="en-US"/>
              <a:t>heap-increase-key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(“swim”) operation</a:t>
            </a:r>
            <a:endParaRPr/>
          </a:p>
        </p:txBody>
      </p:sp>
      <p:sp>
        <p:nvSpPr>
          <p:cNvPr id="220" name="Google Shape;220;g31f8cdc83de_0_1017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1f8cdc83de_0_1017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g31f8cdc83de_0_10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238" y="724118"/>
            <a:ext cx="3000743" cy="1911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1f8cdc83de_0_1024"/>
          <p:cNvSpPr txBox="1"/>
          <p:nvPr>
            <p:ph type="title"/>
          </p:nvPr>
        </p:nvSpPr>
        <p:spPr>
          <a:xfrm>
            <a:off x="750251" y="152175"/>
            <a:ext cx="45033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 of </a:t>
            </a:r>
            <a:r>
              <a:rPr lang="en-US"/>
              <a:t>heap-increase-key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(“swim”) operation</a:t>
            </a:r>
            <a:endParaRPr/>
          </a:p>
        </p:txBody>
      </p:sp>
      <p:sp>
        <p:nvSpPr>
          <p:cNvPr id="228" name="Google Shape;228;g31f8cdc83de_0_1024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1f8cdc83de_0_1024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g31f8cdc83de_0_10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238" y="724118"/>
            <a:ext cx="3000743" cy="1911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1f8cdc83de_0_1030"/>
          <p:cNvSpPr txBox="1"/>
          <p:nvPr>
            <p:ph type="title"/>
          </p:nvPr>
        </p:nvSpPr>
        <p:spPr>
          <a:xfrm>
            <a:off x="750251" y="152175"/>
            <a:ext cx="45033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 of </a:t>
            </a:r>
            <a:r>
              <a:rPr lang="en-US"/>
              <a:t>heap-increase-key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(“swim”) operation</a:t>
            </a:r>
            <a:endParaRPr/>
          </a:p>
        </p:txBody>
      </p:sp>
      <p:sp>
        <p:nvSpPr>
          <p:cNvPr id="236" name="Google Shape;236;g31f8cdc83de_0_1030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1f8cdc83de_0_1030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g31f8cdc83de_0_10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238" y="724118"/>
            <a:ext cx="3000743" cy="1911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g31f8cdc83de_0_15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5391" y="445445"/>
            <a:ext cx="2452116" cy="170992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1f8cdc83de_0_1585"/>
          <p:cNvSpPr txBox="1"/>
          <p:nvPr/>
        </p:nvSpPr>
        <p:spPr>
          <a:xfrm>
            <a:off x="173300" y="2226588"/>
            <a:ext cx="54192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(a) 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max-heap with a node whose index is </a:t>
            </a: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heavily shaded. </a:t>
            </a:r>
            <a:b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(b) 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node has its key increased to 15 from 4.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(c) 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After one iteration of the </a:t>
            </a: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while 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loop of lines 4-6, the node and its parent have exchanged keys, and  the index </a:t>
            </a: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moves up to the parent. </a:t>
            </a:r>
            <a:b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(d) 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max-heap after one more iteration of the </a:t>
            </a: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while 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loop. At this  point, </a:t>
            </a: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[PARENT(</a:t>
            </a: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)] ≥ </a:t>
            </a: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]. The max-heap property now holds and the procedure terminates.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1f8cdc83de_0_1585"/>
          <p:cNvSpPr txBox="1"/>
          <p:nvPr>
            <p:ph type="title"/>
          </p:nvPr>
        </p:nvSpPr>
        <p:spPr>
          <a:xfrm>
            <a:off x="823676" y="99125"/>
            <a:ext cx="47010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Heap-increase-key (“swim”) operation</a:t>
            </a:r>
            <a:endParaRPr/>
          </a:p>
        </p:txBody>
      </p:sp>
      <p:pic>
        <p:nvPicPr>
          <p:cNvPr id="246" name="Google Shape;246;g31f8cdc83de_0_15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295" y="445445"/>
            <a:ext cx="1970250" cy="10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1f8cdc83de_0_1638"/>
          <p:cNvSpPr txBox="1"/>
          <p:nvPr/>
        </p:nvSpPr>
        <p:spPr>
          <a:xfrm>
            <a:off x="125374" y="99136"/>
            <a:ext cx="47505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71056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Max heap insert operation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g31f8cdc83de_0_16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750" y="1152974"/>
            <a:ext cx="3643901" cy="19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1f8cdc83de_0_1638"/>
          <p:cNvSpPr txBox="1"/>
          <p:nvPr/>
        </p:nvSpPr>
        <p:spPr>
          <a:xfrm>
            <a:off x="85725" y="528175"/>
            <a:ext cx="568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New element always inserted as </a:t>
            </a:r>
            <a:r>
              <a:rPr b="1" i="0" lang="en-US" sz="12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a last element of the array (leaf)</a:t>
            </a:r>
            <a:endParaRPr b="1" i="0" sz="1200" u="none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Then heap-increase-key() is called on that element 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1f8cdc83de_0_1652"/>
          <p:cNvSpPr txBox="1"/>
          <p:nvPr/>
        </p:nvSpPr>
        <p:spPr>
          <a:xfrm>
            <a:off x="540250" y="374225"/>
            <a:ext cx="48900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1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Illustrate the operation of </a:t>
            </a:r>
            <a:r>
              <a:rPr b="1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MAX-HEAP-INSERT(A,10)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the heap  </a:t>
            </a:r>
            <a:b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A=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⟨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15, 13 , 9,  5,  12,  8,  7,  4,  0,  6,     2,   1, NONE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⟩</a:t>
            </a:r>
            <a:br>
              <a:rPr b="0" i="0" lang="en-US" sz="10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</a:br>
            <a:r>
              <a:rPr b="0" i="0" lang="en-US" sz="10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="1" i="0" lang="en-US" sz="10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      </a:t>
            </a:r>
            <a:r>
              <a:rPr b="1" i="0" lang="en-US" sz="1050" u="none" cap="none" strike="noStrike">
                <a:solidFill>
                  <a:srgbClr val="C00000"/>
                </a:solidFill>
                <a:latin typeface="Cambria Math"/>
                <a:ea typeface="Cambria Math"/>
                <a:cs typeface="Cambria Math"/>
                <a:sym typeface="Cambria Math"/>
              </a:rPr>
              <a:t>1      2   3    4   5    6   7   8   9   10   11  12   13</a:t>
            </a:r>
            <a:br>
              <a:rPr b="0" i="0" lang="en-US" sz="10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</a:br>
            <a:endParaRPr b="0" i="0" sz="105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128270" marR="0" rtl="0" algn="l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 Original heap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g31f8cdc83de_0_16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8819" y="1484514"/>
            <a:ext cx="3240699" cy="140346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31f8cdc83de_0_1652"/>
          <p:cNvSpPr txBox="1"/>
          <p:nvPr/>
        </p:nvSpPr>
        <p:spPr>
          <a:xfrm>
            <a:off x="125374" y="99136"/>
            <a:ext cx="47505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71056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Max heap insert operation (Example1)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1f8cdc83de_0_1662"/>
          <p:cNvSpPr txBox="1"/>
          <p:nvPr/>
        </p:nvSpPr>
        <p:spPr>
          <a:xfrm>
            <a:off x="574349" y="559025"/>
            <a:ext cx="46959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1131570" rtl="0" algn="l">
              <a:lnSpc>
                <a:spcPct val="101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Illustrate the operation of MAX-HEAP-INSERT(A,10) on the heap  A=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⟨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15,13,9,5,12,8,7,4,0,6,2,1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⟩</a:t>
            </a:r>
            <a:endParaRPr b="0" i="0" sz="105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128270" marR="0" rtl="0" algn="l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 Since MAX-HEAP-INSERT(A,10) is called, we append a node assigned value −∞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g31f8cdc83de_0_16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383" y="1324745"/>
            <a:ext cx="3386233" cy="168680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31f8cdc83de_0_1662"/>
          <p:cNvSpPr txBox="1"/>
          <p:nvPr/>
        </p:nvSpPr>
        <p:spPr>
          <a:xfrm>
            <a:off x="125374" y="99136"/>
            <a:ext cx="47505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71056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Max heap insert operation (Example1)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1056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1f8cdc83de_0_1672"/>
          <p:cNvSpPr txBox="1"/>
          <p:nvPr/>
        </p:nvSpPr>
        <p:spPr>
          <a:xfrm>
            <a:off x="865174" y="640100"/>
            <a:ext cx="35694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1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Illustrate the operation of MAX-HEAP-INSERT(A,10) on the heap  A=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⟨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15,13,9,5,12,8,7,4,0,6,2,1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⟩</a:t>
            </a:r>
            <a:endParaRPr b="0" i="0" sz="105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128270" marR="0" rtl="0" algn="l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 Update the key value of the new node.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g31f8cdc83de_0_16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622" y="1322871"/>
            <a:ext cx="3252171" cy="1624494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1f8cdc83de_0_1672"/>
          <p:cNvSpPr txBox="1"/>
          <p:nvPr/>
        </p:nvSpPr>
        <p:spPr>
          <a:xfrm>
            <a:off x="125374" y="150161"/>
            <a:ext cx="47505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71056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Max heap insert operation (Example1)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1056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1f8cdc83de_0_1682"/>
          <p:cNvSpPr txBox="1"/>
          <p:nvPr/>
        </p:nvSpPr>
        <p:spPr>
          <a:xfrm>
            <a:off x="691700" y="635000"/>
            <a:ext cx="48543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1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Illustrate the operation of MAX-HEAP-INSERT(A,10) on the heap  A=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⟨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15,13,9,5,12,8,7,4,0,6,2,1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⟩</a:t>
            </a:r>
            <a:endParaRPr b="0" i="0" sz="105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128270" marR="0" rtl="0" algn="l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 Update the key value of the new node.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g31f8cdc83de_0_16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4672" y="1339445"/>
            <a:ext cx="3111911" cy="1531337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1f8cdc83de_0_1682"/>
          <p:cNvSpPr txBox="1"/>
          <p:nvPr/>
        </p:nvSpPr>
        <p:spPr>
          <a:xfrm>
            <a:off x="125374" y="150161"/>
            <a:ext cx="47505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71056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Max heap insert operation (Example1)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1056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1f8cdc83de_0_1692"/>
          <p:cNvSpPr txBox="1"/>
          <p:nvPr/>
        </p:nvSpPr>
        <p:spPr>
          <a:xfrm>
            <a:off x="712100" y="548275"/>
            <a:ext cx="45891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 into queue - Example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8425" marR="326390" rtl="0" algn="l">
              <a:lnSpc>
                <a:spcPct val="101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Illustrate the operation of MAX-HEAP-INSERT(A,10) on the heap  A=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⟨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15,13,9,5,12,8,7,4,0,6,2,1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⟩</a:t>
            </a:r>
            <a:endParaRPr b="0" i="0" sz="105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128270" marR="0" rtl="0" algn="l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 Since the parent key is smaller than 10, the nodes are swapped. (Swim up)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g31f8cdc83de_0_16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547" y="1470545"/>
            <a:ext cx="3252171" cy="1603066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31f8cdc83de_0_1692"/>
          <p:cNvSpPr txBox="1"/>
          <p:nvPr/>
        </p:nvSpPr>
        <p:spPr>
          <a:xfrm>
            <a:off x="125374" y="150161"/>
            <a:ext cx="47505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71056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Max heap insert operation (Example1)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1056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1ff6e4d82b_0_36"/>
          <p:cNvSpPr txBox="1"/>
          <p:nvPr/>
        </p:nvSpPr>
        <p:spPr>
          <a:xfrm>
            <a:off x="125374" y="150161"/>
            <a:ext cx="47505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71056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Max heap insert operation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Example2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g31ff6e4d82b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375" y="498111"/>
            <a:ext cx="4470737" cy="2514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1ff6e4d82b_0_45"/>
          <p:cNvSpPr txBox="1"/>
          <p:nvPr/>
        </p:nvSpPr>
        <p:spPr>
          <a:xfrm>
            <a:off x="125374" y="150161"/>
            <a:ext cx="47505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71056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Max heap insert operation 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Example3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1056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00" name="Google Shape;300;g31ff6e4d82b_0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827" y="664376"/>
            <a:ext cx="3862850" cy="217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g31f8cdc83de_0_16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238" y="724118"/>
            <a:ext cx="3000743" cy="1911902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31f8cdc83de_0_1631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1f8cdc83de_0_1631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1f8cdc83de_0_1631"/>
          <p:cNvSpPr txBox="1"/>
          <p:nvPr>
            <p:ph type="title"/>
          </p:nvPr>
        </p:nvSpPr>
        <p:spPr>
          <a:xfrm>
            <a:off x="836977" y="187900"/>
            <a:ext cx="48399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max-heap-insert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operation 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/>
              <a:t>Example4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1f8cdc83de_0_1234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1f8cdc83de_0_1234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1f8cdc83de_0_1234"/>
          <p:cNvSpPr txBox="1"/>
          <p:nvPr>
            <p:ph type="title"/>
          </p:nvPr>
        </p:nvSpPr>
        <p:spPr>
          <a:xfrm>
            <a:off x="836977" y="187900"/>
            <a:ext cx="4839900" cy="8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max-heap-insert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operation 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/>
              <a:t>Example4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g31f8cdc83de_0_12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238" y="724118"/>
            <a:ext cx="3000743" cy="1911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1f8cdc83de_0_1241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1f8cdc83de_0_1241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1f8cdc83de_0_1241"/>
          <p:cNvSpPr txBox="1"/>
          <p:nvPr>
            <p:ph type="title"/>
          </p:nvPr>
        </p:nvSpPr>
        <p:spPr>
          <a:xfrm>
            <a:off x="836977" y="187900"/>
            <a:ext cx="48399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max-heap-insert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operation 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/>
              <a:t>Example4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g31f8cdc83de_0_12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238" y="724118"/>
            <a:ext cx="3000743" cy="1911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1f8cdc83de_0_1247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1f8cdc83de_0_1247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1f8cdc83de_0_1247"/>
          <p:cNvSpPr txBox="1"/>
          <p:nvPr>
            <p:ph type="title"/>
          </p:nvPr>
        </p:nvSpPr>
        <p:spPr>
          <a:xfrm>
            <a:off x="836977" y="187900"/>
            <a:ext cx="48399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max-heap-insert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operation 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/>
              <a:t>Example4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g31f8cdc83de_0_12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238" y="724118"/>
            <a:ext cx="3000743" cy="1911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1f8cdc83de_0_1253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1f8cdc83de_0_1253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1f8cdc83de_0_1253"/>
          <p:cNvSpPr txBox="1"/>
          <p:nvPr>
            <p:ph type="title"/>
          </p:nvPr>
        </p:nvSpPr>
        <p:spPr>
          <a:xfrm>
            <a:off x="836977" y="187900"/>
            <a:ext cx="48399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max-heap-insert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operation 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/>
              <a:t>Example4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g31f8cdc83de_0_12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238" y="724118"/>
            <a:ext cx="3000743" cy="1911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1f8cdc83de_0_1161"/>
          <p:cNvSpPr txBox="1"/>
          <p:nvPr/>
        </p:nvSpPr>
        <p:spPr>
          <a:xfrm>
            <a:off x="382375" y="415263"/>
            <a:ext cx="2796300" cy="1333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max-heap-insert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1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96850" lvl="0" marL="412750" marR="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AutoNum type="arabicPlain"/>
            </a:pP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heap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]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←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heap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] +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41275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AutoNum type="arabicPlain"/>
            </a:pP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heap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]]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←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41275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AutoNum type="arabicPlain"/>
            </a:pP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←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heap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]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96850" lvl="0" marL="41275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AutoNum type="arabicPlain"/>
            </a:pPr>
            <a:r>
              <a:rPr b="1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while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and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0" lang="en-US" sz="1100" u="none" cap="none" strike="noStrik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parent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)]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]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96850" lvl="0" marL="41275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AutoNum type="arabicPlain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   </a:t>
            </a: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exchange </a:t>
            </a:r>
            <a:r>
              <a:rPr b="0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] </a:t>
            </a:r>
            <a:r>
              <a:rPr b="0" i="1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↔ </a:t>
            </a:r>
            <a:r>
              <a:rPr b="0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)]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41300" lvl="0" marL="4572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AutoNum type="arabicPlain"/>
            </a:pPr>
            <a:r>
              <a:rPr b="0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i </a:t>
            </a:r>
            <a:r>
              <a:rPr b="0" i="1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← </a:t>
            </a:r>
            <a:r>
              <a:rPr b="0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0" lang="en-US" sz="11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parent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)]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6" name="Google Shape;346;g31f8cdc83de_0_1161"/>
          <p:cNvSpPr txBox="1"/>
          <p:nvPr/>
        </p:nvSpPr>
        <p:spPr>
          <a:xfrm>
            <a:off x="2632626" y="1850085"/>
            <a:ext cx="2415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207645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7" name="Google Shape;347;g31f8cdc83de_0_1161"/>
          <p:cNvSpPr txBox="1"/>
          <p:nvPr/>
        </p:nvSpPr>
        <p:spPr>
          <a:xfrm>
            <a:off x="382373" y="2163950"/>
            <a:ext cx="2796300" cy="828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4765" rtl="0" algn="l">
              <a:lnSpc>
                <a:spcPct val="15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max-heap-insert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1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07645" lvl="0" marL="220345" marR="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AutoNum type="arabicPlain"/>
            </a:pP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heap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]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←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heap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] +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7645" lvl="0" marL="220345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AutoNum type="arabicPlain"/>
            </a:pP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heap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]]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← −∞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7645" lvl="0" marL="220345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AutoNum type="arabicPlain"/>
            </a:pPr>
            <a:r>
              <a:rPr b="0" i="0" lang="en-US" sz="1100" u="none" cap="none" strike="noStrik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heap-increase-key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1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heap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]</a:t>
            </a:r>
            <a:r>
              <a:rPr b="0" i="1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1f8cdc83de_0_1161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1f8cdc83de_0_1161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1f8cdc83de_0_1161"/>
          <p:cNvSpPr txBox="1"/>
          <p:nvPr/>
        </p:nvSpPr>
        <p:spPr>
          <a:xfrm>
            <a:off x="655025" y="0"/>
            <a:ext cx="439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1" name="Google Shape;351;g31f8cdc83de_0_1161"/>
          <p:cNvSpPr txBox="1"/>
          <p:nvPr/>
        </p:nvSpPr>
        <p:spPr>
          <a:xfrm>
            <a:off x="280525" y="177921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24765" rtl="0" algn="l">
              <a:lnSpc>
                <a:spcPct val="15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also be done using </a:t>
            </a:r>
            <a:r>
              <a:rPr b="0" i="0" lang="en-US" sz="11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heap-increase-key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1f8cdc83de_0_1161"/>
          <p:cNvSpPr txBox="1"/>
          <p:nvPr/>
        </p:nvSpPr>
        <p:spPr>
          <a:xfrm>
            <a:off x="3546025" y="1394475"/>
            <a:ext cx="1806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 </a:t>
            </a: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b="1" i="1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</a:t>
            </a: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</a:t>
            </a: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b="1" i="1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</a:t>
            </a: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lg </a:t>
            </a:r>
            <a:r>
              <a:rPr b="1" i="1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3" name="Google Shape;353;g31f8cdc83de_0_1161"/>
          <p:cNvSpPr txBox="1"/>
          <p:nvPr>
            <p:ph idx="4294967295" type="title"/>
          </p:nvPr>
        </p:nvSpPr>
        <p:spPr>
          <a:xfrm>
            <a:off x="462952" y="26200"/>
            <a:ext cx="48399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Max-heap-insert algorithm (Both ways are correct)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1f8cdc83de_0_1747"/>
          <p:cNvSpPr txBox="1"/>
          <p:nvPr/>
        </p:nvSpPr>
        <p:spPr>
          <a:xfrm>
            <a:off x="1652771" y="221586"/>
            <a:ext cx="40518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Get maximum value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9" name="Google Shape;359;g31f8cdc83de_0_1747"/>
          <p:cNvSpPr txBox="1"/>
          <p:nvPr/>
        </p:nvSpPr>
        <p:spPr>
          <a:xfrm>
            <a:off x="125374" y="837691"/>
            <a:ext cx="7206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0" name="Google Shape;360;g31f8cdc83de_0_17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5074" y="800799"/>
            <a:ext cx="1848150" cy="143427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g31f8cdc83de_0_1747"/>
          <p:cNvSpPr txBox="1"/>
          <p:nvPr/>
        </p:nvSpPr>
        <p:spPr>
          <a:xfrm>
            <a:off x="130860" y="3104757"/>
            <a:ext cx="5334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Priority Queues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1f8cdc83de_0_1755"/>
          <p:cNvSpPr txBox="1"/>
          <p:nvPr/>
        </p:nvSpPr>
        <p:spPr>
          <a:xfrm>
            <a:off x="1080574" y="63275"/>
            <a:ext cx="4750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1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Extract maximum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(Referred as “Delete_max/remove” in note)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" name="Google Shape;367;g31f8cdc83de_0_1755"/>
          <p:cNvPicPr preferRelativeResize="0"/>
          <p:nvPr/>
        </p:nvPicPr>
        <p:blipFill rotWithShape="1">
          <a:blip r:embed="rId3">
            <a:alphaModFix/>
          </a:blip>
          <a:srcRect b="0" l="0" r="0" t="7339"/>
          <a:stretch/>
        </p:blipFill>
        <p:spPr>
          <a:xfrm>
            <a:off x="1163725" y="608650"/>
            <a:ext cx="3132550" cy="2383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g31f8cdc83de_0_1755"/>
          <p:cNvSpPr txBox="1"/>
          <p:nvPr/>
        </p:nvSpPr>
        <p:spPr>
          <a:xfrm>
            <a:off x="2375625" y="1235600"/>
            <a:ext cx="4122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Here, n = heap_size</a:t>
            </a:r>
            <a:endParaRPr b="1" i="0" sz="900" u="none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1f8cdc83de_0_2011"/>
          <p:cNvSpPr txBox="1"/>
          <p:nvPr>
            <p:ph type="title"/>
          </p:nvPr>
        </p:nvSpPr>
        <p:spPr>
          <a:xfrm>
            <a:off x="1957672" y="152180"/>
            <a:ext cx="32958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cap="small"/>
              <a:t>heap</a:t>
            </a:r>
            <a:r>
              <a:rPr lang="en-US"/>
              <a:t>-</a:t>
            </a:r>
            <a:r>
              <a:rPr lang="en-US" cap="small"/>
              <a:t>extra</a:t>
            </a:r>
            <a:r>
              <a:rPr lang="en-US"/>
              <a:t>c</a:t>
            </a:r>
            <a:r>
              <a:rPr lang="en-US" cap="small"/>
              <a:t>t</a:t>
            </a:r>
            <a:r>
              <a:rPr lang="en-US"/>
              <a:t>-m</a:t>
            </a:r>
            <a:r>
              <a:rPr lang="en-US" cap="small"/>
              <a:t>ax</a:t>
            </a:r>
            <a:r>
              <a:rPr lang="en-US"/>
              <a:t> </a:t>
            </a:r>
            <a:r>
              <a:rPr lang="en-US">
                <a:latin typeface="Trebuchet MS"/>
                <a:ea typeface="Trebuchet MS"/>
                <a:cs typeface="Trebuchet MS"/>
                <a:sym typeface="Trebuchet MS"/>
              </a:rPr>
              <a:t>algorithm</a:t>
            </a:r>
            <a:endParaRPr/>
          </a:p>
        </p:txBody>
      </p:sp>
      <p:graphicFrame>
        <p:nvGraphicFramePr>
          <p:cNvPr id="374" name="Google Shape;374;g31f8cdc83de_0_2011"/>
          <p:cNvGraphicFramePr/>
          <p:nvPr/>
        </p:nvGraphicFramePr>
        <p:xfrm>
          <a:off x="434363" y="5414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{77990354-3967-4FDC-927E-2DF509835202}</a:tableStyleId>
              </a:tblPr>
              <a:tblGrid>
                <a:gridCol w="2981400"/>
                <a:gridCol w="889500"/>
                <a:gridCol w="511475"/>
              </a:tblGrid>
              <a:tr h="185775">
                <a:tc>
                  <a:txBody>
                    <a:bodyPr/>
                    <a:lstStyle/>
                    <a:p>
                      <a:pPr indent="0" lvl="0" marL="25400" marR="0" rtl="0" algn="l">
                        <a:lnSpc>
                          <a:spcPct val="11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small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extra</a:t>
                      </a:r>
                      <a:r>
                        <a:rPr lang="en-US" sz="10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</a:t>
                      </a:r>
                      <a:r>
                        <a:rPr lang="en-US" sz="1000" u="none" cap="small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</a:t>
                      </a:r>
                      <a:r>
                        <a:rPr lang="en-US" sz="10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-m</a:t>
                      </a:r>
                      <a:r>
                        <a:rPr lang="en-US" sz="1000" u="none" cap="small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ax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i="1"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 hMerge="1"/>
              </a:tr>
              <a:tr h="17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635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1" lang="en-US" sz="1000" u="none" cap="none" strike="noStrike">
                          <a:solidFill>
                            <a:srgbClr val="00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cost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8350" marB="0" marR="0" marL="0"/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1" lang="en-US" sz="1000" u="none" cap="none" strike="noStrike">
                          <a:solidFill>
                            <a:srgbClr val="00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times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8350" marB="0" marR="0" marL="0"/>
                </a:tc>
              </a:tr>
              <a:tr h="160750">
                <a:tc>
                  <a:txBody>
                    <a:bodyPr/>
                    <a:lstStyle/>
                    <a:p>
                      <a:pPr indent="0" lvl="0" marL="25400" marR="0" rtl="0" algn="l">
                        <a:lnSpc>
                          <a:spcPct val="113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	</a:t>
                      </a:r>
                      <a:r>
                        <a:rPr b="1"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if </a:t>
                      </a:r>
                      <a:r>
                        <a:rPr i="1"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heap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r>
                        <a:rPr i="1"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size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[</a:t>
                      </a:r>
                      <a:r>
                        <a:rPr i="1"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] </a:t>
                      </a:r>
                      <a:r>
                        <a:rPr i="1" lang="en-US" sz="10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&lt; </a:t>
                      </a:r>
                      <a:r>
                        <a:rPr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63500" rtl="0" algn="r">
                        <a:lnSpc>
                          <a:spcPct val="113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Θ(</a:t>
                      </a: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3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/>
                </a:tc>
              </a:tr>
              <a:tr h="160750">
                <a:tc>
                  <a:txBody>
                    <a:bodyPr/>
                    <a:lstStyle/>
                    <a:p>
                      <a:pPr indent="0" lvl="0" marL="25400" marR="0" rtl="0" algn="l">
                        <a:lnSpc>
                          <a:spcPct val="113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	       </a:t>
                      </a:r>
                      <a:r>
                        <a:rPr b="1"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then error </a:t>
                      </a:r>
                      <a:r>
                        <a:rPr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“heap underflow”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63500" rtl="0" algn="r">
                        <a:lnSpc>
                          <a:spcPct val="113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Θ(</a:t>
                      </a: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3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/>
                </a:tc>
              </a:tr>
              <a:tr h="160750">
                <a:tc>
                  <a:txBody>
                    <a:bodyPr/>
                    <a:lstStyle/>
                    <a:p>
                      <a:pPr indent="0" lvl="0" marL="25400" marR="0" rtl="0" algn="l">
                        <a:lnSpc>
                          <a:spcPct val="113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3	</a:t>
                      </a:r>
                      <a:r>
                        <a:rPr i="1"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max 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← </a:t>
                      </a:r>
                      <a:r>
                        <a:rPr i="1"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[</a:t>
                      </a:r>
                      <a:r>
                        <a:rPr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]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63500" rtl="0" algn="r">
                        <a:lnSpc>
                          <a:spcPct val="113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Θ(</a:t>
                      </a: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3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/>
                </a:tc>
              </a:tr>
              <a:tr h="160750">
                <a:tc>
                  <a:txBody>
                    <a:bodyPr/>
                    <a:lstStyle/>
                    <a:p>
                      <a:pPr indent="0" lvl="0" marL="25400" marR="0" rtl="0" algn="l">
                        <a:lnSpc>
                          <a:spcPct val="113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	</a:t>
                      </a:r>
                      <a:r>
                        <a:rPr i="1"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[</a:t>
                      </a:r>
                      <a:r>
                        <a:rPr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] 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← </a:t>
                      </a:r>
                      <a:r>
                        <a:rPr i="1"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[</a:t>
                      </a:r>
                      <a:r>
                        <a:rPr i="1"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heap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r>
                        <a:rPr i="1"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size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[</a:t>
                      </a:r>
                      <a:r>
                        <a:rPr i="1"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]]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63500" rtl="0" algn="r">
                        <a:lnSpc>
                          <a:spcPct val="113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Θ(</a:t>
                      </a: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3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/>
                </a:tc>
              </a:tr>
              <a:tr h="157775">
                <a:tc>
                  <a:txBody>
                    <a:bodyPr/>
                    <a:lstStyle/>
                    <a:p>
                      <a:pPr indent="0" lvl="0" marL="25400" marR="0" rtl="0" algn="l">
                        <a:lnSpc>
                          <a:spcPct val="111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5	</a:t>
                      </a:r>
                      <a:r>
                        <a:rPr i="1"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heap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r>
                        <a:rPr i="1"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size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[</a:t>
                      </a:r>
                      <a:r>
                        <a:rPr i="1"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]] 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← </a:t>
                      </a:r>
                      <a:r>
                        <a:rPr i="1"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heap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r>
                        <a:rPr i="1"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size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[</a:t>
                      </a:r>
                      <a:r>
                        <a:rPr i="1"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] 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− </a:t>
                      </a:r>
                      <a:r>
                        <a:rPr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63500" rtl="0" algn="r">
                        <a:lnSpc>
                          <a:spcPct val="111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Θ(</a:t>
                      </a: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1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/>
                </a:tc>
              </a:tr>
              <a:tr h="164925">
                <a:tc>
                  <a:txBody>
                    <a:bodyPr/>
                    <a:lstStyle/>
                    <a:p>
                      <a:pPr indent="0" lvl="0" marL="25400" marR="0" rtl="0" algn="l">
                        <a:lnSpc>
                          <a:spcPct val="115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6	</a:t>
                      </a:r>
                      <a:r>
                        <a:rPr lang="en-US" sz="10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</a:t>
                      </a:r>
                      <a:r>
                        <a:rPr lang="en-US" sz="1000" u="none" cap="small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ax</a:t>
                      </a:r>
                      <a:r>
                        <a:rPr lang="en-US" sz="10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-</a:t>
                      </a:r>
                      <a:r>
                        <a:rPr lang="en-US" sz="1000" u="none" cap="small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heapif</a:t>
                      </a:r>
                      <a:r>
                        <a:rPr lang="en-US" sz="10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y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i="1"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</a:t>
                      </a:r>
                      <a:r>
                        <a:rPr i="1" lang="en-US" sz="10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, </a:t>
                      </a:r>
                      <a:r>
                        <a:rPr lang="en-US" sz="10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63500" rtl="0" algn="r">
                        <a:lnSpc>
                          <a:spcPct val="115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Θ(</a:t>
                      </a: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lg </a:t>
                      </a:r>
                      <a:r>
                        <a:rPr i="1" lang="en-US" sz="1000" u="none" cap="none" strike="noStrike">
                          <a:solidFill>
                            <a:srgbClr val="00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</a:t>
                      </a: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0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grpSp>
        <p:nvGrpSpPr>
          <p:cNvPr id="375" name="Google Shape;375;g31f8cdc83de_0_2011"/>
          <p:cNvGrpSpPr/>
          <p:nvPr/>
        </p:nvGrpSpPr>
        <p:grpSpPr>
          <a:xfrm>
            <a:off x="386714" y="2386645"/>
            <a:ext cx="5053395" cy="447485"/>
            <a:chOff x="309198" y="2545483"/>
            <a:chExt cx="4040453" cy="477266"/>
          </a:xfrm>
        </p:grpSpPr>
        <p:sp>
          <p:nvSpPr>
            <p:cNvPr id="376" name="Google Shape;376;g31f8cdc83de_0_2011"/>
            <p:cNvSpPr/>
            <p:nvPr/>
          </p:nvSpPr>
          <p:spPr>
            <a:xfrm>
              <a:off x="309198" y="2545483"/>
              <a:ext cx="3989704" cy="186689"/>
            </a:xfrm>
            <a:custGeom>
              <a:rect b="b" l="l" r="r" t="t"/>
              <a:pathLst>
                <a:path extrusionOk="0" h="18668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6558"/>
                  </a:lnTo>
                  <a:lnTo>
                    <a:pt x="3989652" y="186558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7" name="Google Shape;377;g31f8cdc83de_0_20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9198" y="2719387"/>
              <a:ext cx="3989651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8" name="Google Shape;378;g31f8cdc83de_0_20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9999" y="2921148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9" name="Google Shape;379;g31f8cdc83de_0_20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0799" y="2908448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0" name="Google Shape;380;g31f8cdc83de_0_20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298851" y="2589716"/>
              <a:ext cx="50800" cy="3314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1" name="Google Shape;381;g31f8cdc83de_0_2011"/>
            <p:cNvSpPr/>
            <p:nvPr/>
          </p:nvSpPr>
          <p:spPr>
            <a:xfrm>
              <a:off x="309198" y="2763669"/>
              <a:ext cx="3989704" cy="208280"/>
            </a:xfrm>
            <a:custGeom>
              <a:rect b="b" l="l" r="r" t="t"/>
              <a:pathLst>
                <a:path extrusionOk="0" h="208280" w="3989704">
                  <a:moveTo>
                    <a:pt x="3989652" y="0"/>
                  </a:moveTo>
                  <a:lnTo>
                    <a:pt x="0" y="0"/>
                  </a:lnTo>
                  <a:lnTo>
                    <a:pt x="0" y="157478"/>
                  </a:lnTo>
                  <a:lnTo>
                    <a:pt x="4008" y="177203"/>
                  </a:lnTo>
                  <a:lnTo>
                    <a:pt x="14922" y="193356"/>
                  </a:lnTo>
                  <a:lnTo>
                    <a:pt x="31075" y="204270"/>
                  </a:lnTo>
                  <a:lnTo>
                    <a:pt x="50800" y="208279"/>
                  </a:lnTo>
                  <a:lnTo>
                    <a:pt x="3938852" y="208279"/>
                  </a:lnTo>
                  <a:lnTo>
                    <a:pt x="3958576" y="204270"/>
                  </a:lnTo>
                  <a:lnTo>
                    <a:pt x="3974729" y="193356"/>
                  </a:lnTo>
                  <a:lnTo>
                    <a:pt x="3985644" y="177203"/>
                  </a:lnTo>
                  <a:lnTo>
                    <a:pt x="3989652" y="15747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g31f8cdc83de_0_2011"/>
            <p:cNvSpPr/>
            <p:nvPr/>
          </p:nvSpPr>
          <p:spPr>
            <a:xfrm>
              <a:off x="4298851" y="2627816"/>
              <a:ext cx="0" cy="312419"/>
            </a:xfrm>
            <a:custGeom>
              <a:rect b="b" l="l" r="r" t="t"/>
              <a:pathLst>
                <a:path extrusionOk="0" h="312419" w="120000">
                  <a:moveTo>
                    <a:pt x="0" y="31238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g31f8cdc83de_0_2011"/>
            <p:cNvSpPr/>
            <p:nvPr/>
          </p:nvSpPr>
          <p:spPr>
            <a:xfrm>
              <a:off x="4298851" y="26151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g31f8cdc83de_0_2011"/>
            <p:cNvSpPr/>
            <p:nvPr/>
          </p:nvSpPr>
          <p:spPr>
            <a:xfrm>
              <a:off x="4298851" y="26024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g31f8cdc83de_0_2011"/>
            <p:cNvSpPr/>
            <p:nvPr/>
          </p:nvSpPr>
          <p:spPr>
            <a:xfrm>
              <a:off x="4298851" y="25897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6" name="Google Shape;386;g31f8cdc83de_0_2011"/>
          <p:cNvSpPr txBox="1"/>
          <p:nvPr/>
        </p:nvSpPr>
        <p:spPr>
          <a:xfrm>
            <a:off x="434365" y="2326902"/>
            <a:ext cx="2714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84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Worst-case analysis</a:t>
            </a:r>
            <a:endParaRPr b="0" i="0" sz="1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= Θ(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lg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7" name="Google Shape;387;g31f8cdc83de_0_2011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8" name="Google Shape;388;g31f8cdc83de_0_2011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28 / 29</a:t>
            </a:r>
            <a:endParaRPr b="0" i="0" sz="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1f8cdc83de_0_1769"/>
          <p:cNvSpPr txBox="1"/>
          <p:nvPr>
            <p:ph type="ctrTitle"/>
          </p:nvPr>
        </p:nvSpPr>
        <p:spPr>
          <a:xfrm>
            <a:off x="237925" y="99125"/>
            <a:ext cx="50496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Extract maximum - Example1</a:t>
            </a:r>
            <a:endParaRPr/>
          </a:p>
        </p:txBody>
      </p:sp>
      <p:sp>
        <p:nvSpPr>
          <p:cNvPr id="394" name="Google Shape;394;g31f8cdc83de_0_1769"/>
          <p:cNvSpPr txBox="1"/>
          <p:nvPr/>
        </p:nvSpPr>
        <p:spPr>
          <a:xfrm>
            <a:off x="372331" y="501766"/>
            <a:ext cx="47808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Illustrate the operation HEAP-EXTRACT-MAX on the heap A=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⟨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15,13,9,5,12,8,7,4,0,6,2,1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⟩</a:t>
            </a:r>
            <a:endParaRPr b="0" i="0" sz="105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1308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 Original heap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5" name="Google Shape;395;g31f8cdc83de_0_1769"/>
          <p:cNvGrpSpPr/>
          <p:nvPr/>
        </p:nvGrpSpPr>
        <p:grpSpPr>
          <a:xfrm>
            <a:off x="82199" y="1408432"/>
            <a:ext cx="5205331" cy="1518374"/>
            <a:chOff x="-709226" y="1572532"/>
            <a:chExt cx="5205331" cy="1518374"/>
          </a:xfrm>
        </p:grpSpPr>
        <p:pic>
          <p:nvPicPr>
            <p:cNvPr id="396" name="Google Shape;396;g31f8cdc83de_0_17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09395" y="1572532"/>
              <a:ext cx="3086710" cy="15183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7" name="Google Shape;397;g31f8cdc83de_0_17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709226" y="1705450"/>
              <a:ext cx="2072100" cy="1090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8" name="Google Shape;398;g31f8cdc83de_0_1769"/>
          <p:cNvSpPr txBox="1"/>
          <p:nvPr/>
        </p:nvSpPr>
        <p:spPr>
          <a:xfrm>
            <a:off x="130860" y="3104757"/>
            <a:ext cx="5334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Priority Queues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1f8cdc83de_0_1779"/>
          <p:cNvSpPr txBox="1"/>
          <p:nvPr>
            <p:ph type="title"/>
          </p:nvPr>
        </p:nvSpPr>
        <p:spPr>
          <a:xfrm>
            <a:off x="1247151" y="114450"/>
            <a:ext cx="46836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Extract maximum - Example1</a:t>
            </a:r>
            <a:endParaRPr/>
          </a:p>
        </p:txBody>
      </p:sp>
      <p:sp>
        <p:nvSpPr>
          <p:cNvPr id="404" name="Google Shape;404;g31f8cdc83de_0_1779"/>
          <p:cNvSpPr txBox="1"/>
          <p:nvPr/>
        </p:nvSpPr>
        <p:spPr>
          <a:xfrm>
            <a:off x="280775" y="389550"/>
            <a:ext cx="51072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Illustrate the operation HEAP-EXTRACT-MAX on the heap A=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⟨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15,13,9,5,12,8,7,4,0,6,2,1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⟩</a:t>
            </a:r>
            <a:endParaRPr b="0" i="0" sz="105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130810" marR="6566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 Extract the max node 15, then move 1 to the top of the heap</a:t>
            </a: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5" name="Google Shape;405;g31f8cdc83de_0_17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1450" y="1324102"/>
            <a:ext cx="3310075" cy="160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g31f8cdc83de_0_17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49" y="1526351"/>
            <a:ext cx="2214101" cy="1131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g31f8cdc83de_0_1779"/>
          <p:cNvSpPr txBox="1"/>
          <p:nvPr/>
        </p:nvSpPr>
        <p:spPr>
          <a:xfrm>
            <a:off x="130860" y="3104757"/>
            <a:ext cx="5334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Priority Queues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1f8cdc83de_0_1788"/>
          <p:cNvSpPr txBox="1"/>
          <p:nvPr>
            <p:ph type="ctrTitle"/>
          </p:nvPr>
        </p:nvSpPr>
        <p:spPr>
          <a:xfrm>
            <a:off x="1044651" y="109900"/>
            <a:ext cx="45969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Extract maximum - Example1</a:t>
            </a:r>
            <a:endParaRPr/>
          </a:p>
        </p:txBody>
      </p:sp>
      <p:sp>
        <p:nvSpPr>
          <p:cNvPr id="413" name="Google Shape;413;g31f8cdc83de_0_1788"/>
          <p:cNvSpPr txBox="1"/>
          <p:nvPr/>
        </p:nvSpPr>
        <p:spPr>
          <a:xfrm>
            <a:off x="378406" y="425241"/>
            <a:ext cx="47808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Illustrate the operation HEAP-EXTRACT-MAX on the heap A=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⟨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15,13,9,5,12,8,7,4,0,6,2,1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⟩</a:t>
            </a:r>
            <a:endParaRPr b="0" i="0" sz="105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1308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 Call max heapify on root. Since 13&gt;9&gt;1, swap 1 and 13.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4" name="Google Shape;414;g31f8cdc83de_0_17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4118" y="1407955"/>
            <a:ext cx="3090540" cy="1526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g31f8cdc83de_0_17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500" y="1796475"/>
            <a:ext cx="1685450" cy="86112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g31f8cdc83de_0_1788"/>
          <p:cNvSpPr txBox="1"/>
          <p:nvPr/>
        </p:nvSpPr>
        <p:spPr>
          <a:xfrm>
            <a:off x="130860" y="3104757"/>
            <a:ext cx="5334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Priority Queues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1f8cdc83de_0_1797"/>
          <p:cNvSpPr txBox="1"/>
          <p:nvPr>
            <p:ph type="ctrTitle"/>
          </p:nvPr>
        </p:nvSpPr>
        <p:spPr>
          <a:xfrm>
            <a:off x="1168626" y="131475"/>
            <a:ext cx="46374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Extract maximum - Example1</a:t>
            </a:r>
            <a:endParaRPr/>
          </a:p>
        </p:txBody>
      </p:sp>
      <p:sp>
        <p:nvSpPr>
          <p:cNvPr id="422" name="Google Shape;422;g31f8cdc83de_0_1797"/>
          <p:cNvSpPr txBox="1"/>
          <p:nvPr/>
        </p:nvSpPr>
        <p:spPr>
          <a:xfrm>
            <a:off x="250181" y="478791"/>
            <a:ext cx="47808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Illustrate the operation HEAP-EXTRACT-MAX on the heap A=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⟨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15,13,9,5,12,8,7,4,0,6,2,1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⟩</a:t>
            </a:r>
            <a:endParaRPr b="0" i="0" sz="105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1308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 Since 12&gt;5&gt;1, swap 1 and 12.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3" name="Google Shape;423;g31f8cdc83de_0_17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3993" y="1410038"/>
            <a:ext cx="3236839" cy="1595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g31f8cdc83de_0_17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500" y="1619475"/>
            <a:ext cx="2031875" cy="10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g31f8cdc83de_0_1797"/>
          <p:cNvSpPr txBox="1"/>
          <p:nvPr/>
        </p:nvSpPr>
        <p:spPr>
          <a:xfrm>
            <a:off x="130860" y="3104757"/>
            <a:ext cx="5334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Priority Queues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1f8cdc83de_0_1806"/>
          <p:cNvSpPr txBox="1"/>
          <p:nvPr>
            <p:ph type="ctrTitle"/>
          </p:nvPr>
        </p:nvSpPr>
        <p:spPr>
          <a:xfrm>
            <a:off x="1113301" y="99125"/>
            <a:ext cx="46314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Extract maximum - Example1</a:t>
            </a:r>
            <a:endParaRPr/>
          </a:p>
        </p:txBody>
      </p:sp>
      <p:sp>
        <p:nvSpPr>
          <p:cNvPr id="431" name="Google Shape;431;g31f8cdc83de_0_1806"/>
          <p:cNvSpPr txBox="1"/>
          <p:nvPr/>
        </p:nvSpPr>
        <p:spPr>
          <a:xfrm>
            <a:off x="255281" y="458391"/>
            <a:ext cx="47808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Illustrate the operation HEAP-EXTRACT-MAX on the heap A=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⟨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15,13,9,5,12,8,7,4,0,6,2,1</a:t>
            </a:r>
            <a:r>
              <a:rPr b="0" i="0" lang="en-US" sz="10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⟩</a:t>
            </a:r>
            <a:endParaRPr b="0" i="0" sz="105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1308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 Since 6&gt;2&gt;1, swap 1 and 6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2" name="Google Shape;432;g31f8cdc83de_0_18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0425" y="1321675"/>
            <a:ext cx="3301825" cy="167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g31f8cdc83de_0_18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500" y="1551575"/>
            <a:ext cx="2164750" cy="110602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g31f8cdc83de_0_1806"/>
          <p:cNvSpPr txBox="1"/>
          <p:nvPr/>
        </p:nvSpPr>
        <p:spPr>
          <a:xfrm>
            <a:off x="130860" y="3104757"/>
            <a:ext cx="5334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Priority Queues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1ff6e4d82b_0_11"/>
          <p:cNvSpPr txBox="1"/>
          <p:nvPr>
            <p:ph type="title"/>
          </p:nvPr>
        </p:nvSpPr>
        <p:spPr>
          <a:xfrm>
            <a:off x="923701" y="152175"/>
            <a:ext cx="43299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600" cap="small"/>
              <a:t>heap</a:t>
            </a:r>
            <a:r>
              <a:rPr lang="en-US" sz="1600"/>
              <a:t>-</a:t>
            </a:r>
            <a:r>
              <a:rPr lang="en-US" sz="1600" cap="small"/>
              <a:t>extra</a:t>
            </a:r>
            <a:r>
              <a:rPr lang="en-US" sz="1600"/>
              <a:t>c</a:t>
            </a:r>
            <a:r>
              <a:rPr lang="en-US" sz="1600" cap="small"/>
              <a:t>t</a:t>
            </a:r>
            <a:r>
              <a:rPr lang="en-US" sz="1600"/>
              <a:t>-m</a:t>
            </a:r>
            <a:r>
              <a:rPr lang="en-US" sz="1600" cap="small"/>
              <a:t>ax</a:t>
            </a:r>
            <a:r>
              <a:rPr lang="en-US" sz="1600"/>
              <a:t> operation (Example2)</a:t>
            </a:r>
            <a:endParaRPr sz="1600"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0" name="Google Shape;440;g31ff6e4d82b_0_11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1" name="Google Shape;441;g31ff6e4d82b_0_11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27 / 29</a:t>
            </a:r>
            <a:endParaRPr b="0" i="0" sz="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42" name="Google Shape;442;g31ff6e4d82b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575" y="583575"/>
            <a:ext cx="3982576" cy="2389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1f8cdc83de_0_1887"/>
          <p:cNvSpPr txBox="1"/>
          <p:nvPr>
            <p:ph type="title"/>
          </p:nvPr>
        </p:nvSpPr>
        <p:spPr>
          <a:xfrm>
            <a:off x="923701" y="152175"/>
            <a:ext cx="43299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 cap="small"/>
              <a:t>heap</a:t>
            </a:r>
            <a:r>
              <a:rPr lang="en-US" sz="1600"/>
              <a:t>-</a:t>
            </a:r>
            <a:r>
              <a:rPr lang="en-US" sz="1600" cap="small"/>
              <a:t>extra</a:t>
            </a:r>
            <a:r>
              <a:rPr lang="en-US" sz="1600"/>
              <a:t>c</a:t>
            </a:r>
            <a:r>
              <a:rPr lang="en-US" sz="1600" cap="small"/>
              <a:t>t</a:t>
            </a:r>
            <a:r>
              <a:rPr lang="en-US" sz="1600"/>
              <a:t>-m</a:t>
            </a:r>
            <a:r>
              <a:rPr lang="en-US" sz="1600" cap="small"/>
              <a:t>ax</a:t>
            </a:r>
            <a:r>
              <a:rPr lang="en-US" sz="1600"/>
              <a:t> operation (Example3)</a:t>
            </a:r>
            <a:endParaRPr sz="1600"/>
          </a:p>
        </p:txBody>
      </p:sp>
      <p:pic>
        <p:nvPicPr>
          <p:cNvPr id="448" name="Google Shape;448;g31f8cdc83de_0_18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950" y="664150"/>
            <a:ext cx="2922274" cy="1861899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g31f8cdc83de_0_1887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0" name="Google Shape;450;g31f8cdc83de_0_1887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27 / 29</a:t>
            </a:r>
            <a:endParaRPr b="0" i="0" sz="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1f8cdc83de_0_2081"/>
          <p:cNvSpPr txBox="1"/>
          <p:nvPr>
            <p:ph type="title"/>
          </p:nvPr>
        </p:nvSpPr>
        <p:spPr>
          <a:xfrm>
            <a:off x="923701" y="152175"/>
            <a:ext cx="43299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600" cap="small"/>
              <a:t>heap</a:t>
            </a:r>
            <a:r>
              <a:rPr lang="en-US" sz="1600"/>
              <a:t>-</a:t>
            </a:r>
            <a:r>
              <a:rPr lang="en-US" sz="1600" cap="small"/>
              <a:t>extra</a:t>
            </a:r>
            <a:r>
              <a:rPr lang="en-US" sz="1600"/>
              <a:t>c</a:t>
            </a:r>
            <a:r>
              <a:rPr lang="en-US" sz="1600" cap="small"/>
              <a:t>t</a:t>
            </a:r>
            <a:r>
              <a:rPr lang="en-US" sz="1600"/>
              <a:t>-m</a:t>
            </a:r>
            <a:r>
              <a:rPr lang="en-US" sz="1600" cap="small"/>
              <a:t>ax</a:t>
            </a:r>
            <a:r>
              <a:rPr lang="en-US" sz="1600"/>
              <a:t> operation (Example3)</a:t>
            </a:r>
            <a:endParaRPr sz="1600"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6" name="Google Shape;456;g31f8cdc83de_0_2081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7" name="Google Shape;457;g31f8cdc83de_0_2081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27 / 29</a:t>
            </a:r>
            <a:endParaRPr b="0" i="0" sz="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58" name="Google Shape;458;g31f8cdc83de_0_2081"/>
          <p:cNvGrpSpPr/>
          <p:nvPr/>
        </p:nvGrpSpPr>
        <p:grpSpPr>
          <a:xfrm>
            <a:off x="765544" y="553777"/>
            <a:ext cx="3463940" cy="2360041"/>
            <a:chOff x="136180" y="473909"/>
            <a:chExt cx="3424219" cy="2776192"/>
          </a:xfrm>
        </p:grpSpPr>
        <p:pic>
          <p:nvPicPr>
            <p:cNvPr id="459" name="Google Shape;459;g31f8cdc83de_0_20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6180" y="473909"/>
              <a:ext cx="1120138" cy="7136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0" name="Google Shape;460;g31f8cdc83de_0_208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9999" y="1210989"/>
              <a:ext cx="3200400" cy="20391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1f8cdc83de_0_2092"/>
          <p:cNvSpPr txBox="1"/>
          <p:nvPr>
            <p:ph type="title"/>
          </p:nvPr>
        </p:nvSpPr>
        <p:spPr>
          <a:xfrm>
            <a:off x="923701" y="152175"/>
            <a:ext cx="43299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600" cap="small"/>
              <a:t>heap</a:t>
            </a:r>
            <a:r>
              <a:rPr lang="en-US" sz="1600"/>
              <a:t>-</a:t>
            </a:r>
            <a:r>
              <a:rPr lang="en-US" sz="1600" cap="small"/>
              <a:t>extra</a:t>
            </a:r>
            <a:r>
              <a:rPr lang="en-US" sz="1600"/>
              <a:t>c</a:t>
            </a:r>
            <a:r>
              <a:rPr lang="en-US" sz="1600" cap="small"/>
              <a:t>t</a:t>
            </a:r>
            <a:r>
              <a:rPr lang="en-US" sz="1600"/>
              <a:t>-m</a:t>
            </a:r>
            <a:r>
              <a:rPr lang="en-US" sz="1600" cap="small"/>
              <a:t>ax</a:t>
            </a:r>
            <a:r>
              <a:rPr lang="en-US" sz="1600"/>
              <a:t> operation (Example3)</a:t>
            </a:r>
            <a:endParaRPr sz="1600"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6" name="Google Shape;466;g31f8cdc83de_0_2092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7" name="Google Shape;467;g31f8cdc83de_0_2092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27 / 29</a:t>
            </a:r>
            <a:endParaRPr b="0" i="0" sz="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68" name="Google Shape;468;g31f8cdc83de_0_2092"/>
          <p:cNvGrpSpPr/>
          <p:nvPr/>
        </p:nvGrpSpPr>
        <p:grpSpPr>
          <a:xfrm>
            <a:off x="826769" y="541369"/>
            <a:ext cx="3561188" cy="2351990"/>
            <a:chOff x="136180" y="473909"/>
            <a:chExt cx="3424219" cy="2776192"/>
          </a:xfrm>
        </p:grpSpPr>
        <p:pic>
          <p:nvPicPr>
            <p:cNvPr id="469" name="Google Shape;469;g31f8cdc83de_0_20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6180" y="473909"/>
              <a:ext cx="1120138" cy="7136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g31f8cdc83de_0_20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9999" y="1210989"/>
              <a:ext cx="3200400" cy="20391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1f8cdc83de_0_2099"/>
          <p:cNvSpPr txBox="1"/>
          <p:nvPr>
            <p:ph type="title"/>
          </p:nvPr>
        </p:nvSpPr>
        <p:spPr>
          <a:xfrm>
            <a:off x="923701" y="152175"/>
            <a:ext cx="43299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600" cap="small"/>
              <a:t>heap</a:t>
            </a:r>
            <a:r>
              <a:rPr lang="en-US" sz="1600"/>
              <a:t>-</a:t>
            </a:r>
            <a:r>
              <a:rPr lang="en-US" sz="1600" cap="small"/>
              <a:t>extra</a:t>
            </a:r>
            <a:r>
              <a:rPr lang="en-US" sz="1600"/>
              <a:t>c</a:t>
            </a:r>
            <a:r>
              <a:rPr lang="en-US" sz="1600" cap="small"/>
              <a:t>t</a:t>
            </a:r>
            <a:r>
              <a:rPr lang="en-US" sz="1600"/>
              <a:t>-m</a:t>
            </a:r>
            <a:r>
              <a:rPr lang="en-US" sz="1600" cap="small"/>
              <a:t>ax</a:t>
            </a:r>
            <a:r>
              <a:rPr lang="en-US" sz="1600"/>
              <a:t> operation (Example3)</a:t>
            </a:r>
            <a:endParaRPr sz="1600"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6" name="Google Shape;476;g31f8cdc83de_0_2099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7" name="Google Shape;477;g31f8cdc83de_0_2099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27 / 29</a:t>
            </a:r>
            <a:endParaRPr b="0" i="0" sz="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78" name="Google Shape;478;g31f8cdc83de_0_2099"/>
          <p:cNvGrpSpPr/>
          <p:nvPr/>
        </p:nvGrpSpPr>
        <p:grpSpPr>
          <a:xfrm>
            <a:off x="791080" y="574180"/>
            <a:ext cx="3606045" cy="2298687"/>
            <a:chOff x="136180" y="473909"/>
            <a:chExt cx="3424219" cy="2776192"/>
          </a:xfrm>
        </p:grpSpPr>
        <p:pic>
          <p:nvPicPr>
            <p:cNvPr id="479" name="Google Shape;479;g31f8cdc83de_0_209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6180" y="473909"/>
              <a:ext cx="1120138" cy="7136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0" name="Google Shape;480;g31f8cdc83de_0_209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9999" y="1210989"/>
              <a:ext cx="3200400" cy="20391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1f8cdc83de_0_2105"/>
          <p:cNvSpPr txBox="1"/>
          <p:nvPr>
            <p:ph type="title"/>
          </p:nvPr>
        </p:nvSpPr>
        <p:spPr>
          <a:xfrm>
            <a:off x="923701" y="152175"/>
            <a:ext cx="43299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600" cap="small"/>
              <a:t>heap</a:t>
            </a:r>
            <a:r>
              <a:rPr lang="en-US" sz="1600"/>
              <a:t>-</a:t>
            </a:r>
            <a:r>
              <a:rPr lang="en-US" sz="1600" cap="small"/>
              <a:t>extra</a:t>
            </a:r>
            <a:r>
              <a:rPr lang="en-US" sz="1600"/>
              <a:t>c</a:t>
            </a:r>
            <a:r>
              <a:rPr lang="en-US" sz="1600" cap="small"/>
              <a:t>t</a:t>
            </a:r>
            <a:r>
              <a:rPr lang="en-US" sz="1600"/>
              <a:t>-m</a:t>
            </a:r>
            <a:r>
              <a:rPr lang="en-US" sz="1600" cap="small"/>
              <a:t>ax</a:t>
            </a:r>
            <a:r>
              <a:rPr lang="en-US" sz="1600"/>
              <a:t> operation (Example3)</a:t>
            </a:r>
            <a:endParaRPr sz="1600"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6" name="Google Shape;486;g31f8cdc83de_0_2105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7" name="Google Shape;487;g31f8cdc83de_0_2105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27 / 29</a:t>
            </a:r>
            <a:endParaRPr b="0" i="0" sz="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88" name="Google Shape;488;g31f8cdc83de_0_2105"/>
          <p:cNvGrpSpPr/>
          <p:nvPr/>
        </p:nvGrpSpPr>
        <p:grpSpPr>
          <a:xfrm>
            <a:off x="775754" y="540727"/>
            <a:ext cx="3809786" cy="2367814"/>
            <a:chOff x="136180" y="473909"/>
            <a:chExt cx="3424219" cy="2776192"/>
          </a:xfrm>
        </p:grpSpPr>
        <p:pic>
          <p:nvPicPr>
            <p:cNvPr id="489" name="Google Shape;489;g31f8cdc83de_0_210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6180" y="473909"/>
              <a:ext cx="1120138" cy="7136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0" name="Google Shape;490;g31f8cdc83de_0_210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9999" y="1210989"/>
              <a:ext cx="3200400" cy="20391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1f8cdc83de_0_2111"/>
          <p:cNvSpPr txBox="1"/>
          <p:nvPr>
            <p:ph type="title"/>
          </p:nvPr>
        </p:nvSpPr>
        <p:spPr>
          <a:xfrm>
            <a:off x="923701" y="152175"/>
            <a:ext cx="43299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600" cap="small"/>
              <a:t>heap</a:t>
            </a:r>
            <a:r>
              <a:rPr lang="en-US" sz="1600"/>
              <a:t>-</a:t>
            </a:r>
            <a:r>
              <a:rPr lang="en-US" sz="1600" cap="small"/>
              <a:t>extra</a:t>
            </a:r>
            <a:r>
              <a:rPr lang="en-US" sz="1600"/>
              <a:t>c</a:t>
            </a:r>
            <a:r>
              <a:rPr lang="en-US" sz="1600" cap="small"/>
              <a:t>t</a:t>
            </a:r>
            <a:r>
              <a:rPr lang="en-US" sz="1600"/>
              <a:t>-m</a:t>
            </a:r>
            <a:r>
              <a:rPr lang="en-US" sz="1600" cap="small"/>
              <a:t>ax</a:t>
            </a:r>
            <a:r>
              <a:rPr lang="en-US" sz="1600"/>
              <a:t> operation (Example3)</a:t>
            </a:r>
            <a:endParaRPr sz="1600"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6" name="Google Shape;496;g31f8cdc83de_0_2111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7" name="Google Shape;497;g31f8cdc83de_0_2111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27 / 29</a:t>
            </a:r>
            <a:endParaRPr b="0" i="0" sz="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98" name="Google Shape;498;g31f8cdc83de_0_2111"/>
          <p:cNvGrpSpPr/>
          <p:nvPr/>
        </p:nvGrpSpPr>
        <p:grpSpPr>
          <a:xfrm>
            <a:off x="668627" y="546365"/>
            <a:ext cx="3789583" cy="2362262"/>
            <a:chOff x="136180" y="473909"/>
            <a:chExt cx="3424219" cy="2776192"/>
          </a:xfrm>
        </p:grpSpPr>
        <p:pic>
          <p:nvPicPr>
            <p:cNvPr id="499" name="Google Shape;499;g31f8cdc83de_0_21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6180" y="473909"/>
              <a:ext cx="1120138" cy="7136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0" name="Google Shape;500;g31f8cdc83de_0_21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9999" y="1210989"/>
              <a:ext cx="3200400" cy="20391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1f8cdc83de_0_2126"/>
          <p:cNvSpPr txBox="1"/>
          <p:nvPr>
            <p:ph type="title"/>
          </p:nvPr>
        </p:nvSpPr>
        <p:spPr>
          <a:xfrm>
            <a:off x="923701" y="152175"/>
            <a:ext cx="43299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600" cap="small"/>
              <a:t>heap</a:t>
            </a:r>
            <a:r>
              <a:rPr lang="en-US" sz="1600"/>
              <a:t>-</a:t>
            </a:r>
            <a:r>
              <a:rPr lang="en-US" sz="1600" cap="small"/>
              <a:t>extra</a:t>
            </a:r>
            <a:r>
              <a:rPr lang="en-US" sz="1600"/>
              <a:t>c</a:t>
            </a:r>
            <a:r>
              <a:rPr lang="en-US" sz="1600" cap="small"/>
              <a:t>t</a:t>
            </a:r>
            <a:r>
              <a:rPr lang="en-US" sz="1600"/>
              <a:t>-m</a:t>
            </a:r>
            <a:r>
              <a:rPr lang="en-US" sz="1600" cap="small"/>
              <a:t>ax</a:t>
            </a:r>
            <a:r>
              <a:rPr lang="en-US" sz="1600"/>
              <a:t> operation (Example3)</a:t>
            </a:r>
            <a:endParaRPr sz="1600"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06" name="Google Shape;506;g31f8cdc83de_0_2126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07" name="Google Shape;507;g31f8cdc83de_0_2126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27 / 29</a:t>
            </a:r>
            <a:endParaRPr b="0" i="0" sz="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508" name="Google Shape;508;g31f8cdc83de_0_2126"/>
          <p:cNvGrpSpPr/>
          <p:nvPr/>
        </p:nvGrpSpPr>
        <p:grpSpPr>
          <a:xfrm>
            <a:off x="882900" y="617617"/>
            <a:ext cx="3610839" cy="2321452"/>
            <a:chOff x="136180" y="473909"/>
            <a:chExt cx="3424219" cy="2776192"/>
          </a:xfrm>
        </p:grpSpPr>
        <p:pic>
          <p:nvPicPr>
            <p:cNvPr id="509" name="Google Shape;509;g31f8cdc83de_0_21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6180" y="473909"/>
              <a:ext cx="1120138" cy="7136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0" name="Google Shape;510;g31f8cdc83de_0_21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9999" y="1210989"/>
              <a:ext cx="3200400" cy="20391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df82a1067e_0_4"/>
          <p:cNvSpPr txBox="1"/>
          <p:nvPr/>
        </p:nvSpPr>
        <p:spPr>
          <a:xfrm>
            <a:off x="1315799" y="165200"/>
            <a:ext cx="3052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Creating a Heap from an Array 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6" name="Google Shape;516;g3df82a1067e_0_4"/>
          <p:cNvSpPr txBox="1"/>
          <p:nvPr/>
        </p:nvSpPr>
        <p:spPr>
          <a:xfrm>
            <a:off x="130860" y="3104757"/>
            <a:ext cx="318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Heapsort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7" name="Google Shape;517;g3df82a1067e_0_4"/>
          <p:cNvSpPr txBox="1"/>
          <p:nvPr/>
        </p:nvSpPr>
        <p:spPr>
          <a:xfrm>
            <a:off x="448850" y="497975"/>
            <a:ext cx="4988400" cy="24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Process 1: Using build_max_heap() / build_min_heap()</a:t>
            </a:r>
            <a:endParaRPr b="1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Call heap.build_max_heap(array) or heap.build_min_heap(array).</a:t>
            </a:r>
            <a:endParaRPr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method converts the given </a:t>
            </a:r>
            <a:r>
              <a:rPr i="0" lang="en-US" sz="9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array into heap format.</a:t>
            </a:r>
            <a:endParaRPr i="0" sz="9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a </a:t>
            </a: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MaxHeap</a:t>
            </a:r>
            <a:r>
              <a:rPr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the root/index 1 contains the largest value.</a:t>
            </a:r>
            <a:endParaRPr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a </a:t>
            </a: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MinHeap</a:t>
            </a:r>
            <a:r>
              <a:rPr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the root/index 1 contains the smallest value.</a:t>
            </a:r>
            <a:endParaRPr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Tahoma"/>
              <a:buChar char="●"/>
            </a:pPr>
            <a:r>
              <a:rPr lang="en-US" sz="9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Time Complexity: O(n).</a:t>
            </a:r>
            <a:endParaRPr sz="900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Process 2: Using Repeated Insertions with </a:t>
            </a:r>
            <a:r>
              <a:rPr b="1"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heap.insert(val)</a:t>
            </a:r>
            <a:endParaRPr b="1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Create an </a:t>
            </a:r>
            <a:r>
              <a:rPr i="0" lang="en-US" sz="9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empty heap object.</a:t>
            </a:r>
            <a:endParaRPr i="0" sz="9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Traverse the given array (from start or end).</a:t>
            </a:r>
            <a:endParaRPr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Insert each value into the heap using heap.insert(val). </a:t>
            </a:r>
            <a:r>
              <a:rPr b="1" i="0" lang="en-US" sz="900" u="none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1" lang="en-US" sz="900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always as a leaf</a:t>
            </a:r>
            <a:r>
              <a:rPr b="1" i="0" lang="en-US" sz="900" u="none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]</a:t>
            </a:r>
            <a:endParaRPr b="1" i="0" sz="900" u="none" cap="none" strike="noStrike">
              <a:solidFill>
                <a:srgbClr val="99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heap is formed gradually after each insertion.</a:t>
            </a:r>
            <a:endParaRPr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Tahoma"/>
              <a:buChar char="●"/>
            </a:pPr>
            <a:r>
              <a:rPr lang="en-US" sz="9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Time Complexity: O(n log n)</a:t>
            </a:r>
            <a:endParaRPr b="1" i="0" sz="1200" u="none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defd360268_6_16"/>
          <p:cNvSpPr txBox="1"/>
          <p:nvPr/>
        </p:nvSpPr>
        <p:spPr>
          <a:xfrm>
            <a:off x="276275" y="46625"/>
            <a:ext cx="5383500" cy="12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Creating a Heap from an Array </a:t>
            </a:r>
            <a:r>
              <a:rPr b="1"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Process 1: Using build_max_heap() </a:t>
            </a:r>
            <a:endParaRPr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3" name="Google Shape;523;g3defd360268_6_16"/>
          <p:cNvSpPr txBox="1"/>
          <p:nvPr/>
        </p:nvSpPr>
        <p:spPr>
          <a:xfrm>
            <a:off x="130860" y="3104757"/>
            <a:ext cx="318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Heapsort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4" name="Google Shape;524;g3defd360268_6_16"/>
          <p:cNvSpPr txBox="1"/>
          <p:nvPr/>
        </p:nvSpPr>
        <p:spPr>
          <a:xfrm>
            <a:off x="757750" y="321125"/>
            <a:ext cx="4902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25" name="Google Shape;525;g3defd360268_6_16" title="enhanced_heap_simulation - Cop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600" y="321125"/>
            <a:ext cx="4386668" cy="292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7"/>
          <p:cNvSpPr txBox="1"/>
          <p:nvPr>
            <p:ph type="title"/>
          </p:nvPr>
        </p:nvSpPr>
        <p:spPr>
          <a:xfrm>
            <a:off x="1565275" y="162300"/>
            <a:ext cx="3016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Maintaining the heap property</a:t>
            </a:r>
            <a:endParaRPr/>
          </a:p>
        </p:txBody>
      </p:sp>
      <p:sp>
        <p:nvSpPr>
          <p:cNvPr id="531" name="Google Shape;531;p17"/>
          <p:cNvSpPr txBox="1"/>
          <p:nvPr/>
        </p:nvSpPr>
        <p:spPr>
          <a:xfrm>
            <a:off x="210717" y="969009"/>
            <a:ext cx="3116091" cy="1720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Goal of </a:t>
            </a:r>
            <a:r>
              <a:rPr b="1" i="0" lang="en-US" sz="1000" u="none" cap="none" strike="noStrike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build_max_heap()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Method: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00025" lvl="0" marL="200025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Transform an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unsorted array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into 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max-heap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00025" lvl="0" marL="2000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Ensure the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heap property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   - Each parent node ≥ its children.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00025" lvl="0" marL="2000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Serve as the foundation for operations like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heap sort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or priority queues.</a:t>
            </a:r>
            <a:endParaRPr b="1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32" name="Google Shape;5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5050" y="563025"/>
            <a:ext cx="2419550" cy="10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17"/>
          <p:cNvSpPr txBox="1"/>
          <p:nvPr/>
        </p:nvSpPr>
        <p:spPr>
          <a:xfrm>
            <a:off x="130860" y="3104757"/>
            <a:ext cx="227329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Heaps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4" name="Google Shape;534;p17"/>
          <p:cNvSpPr txBox="1"/>
          <p:nvPr/>
        </p:nvSpPr>
        <p:spPr>
          <a:xfrm>
            <a:off x="5373370" y="3104757"/>
            <a:ext cx="2197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rPr>
              <a:t>26/27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1ff6e4d82b_0_0"/>
          <p:cNvSpPr txBox="1"/>
          <p:nvPr>
            <p:ph type="title"/>
          </p:nvPr>
        </p:nvSpPr>
        <p:spPr>
          <a:xfrm>
            <a:off x="1565275" y="162300"/>
            <a:ext cx="3016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Maintaining the heap property</a:t>
            </a:r>
            <a:endParaRPr/>
          </a:p>
        </p:txBody>
      </p:sp>
      <p:sp>
        <p:nvSpPr>
          <p:cNvPr id="540" name="Google Shape;540;g31ff6e4d82b_0_0"/>
          <p:cNvSpPr txBox="1"/>
          <p:nvPr/>
        </p:nvSpPr>
        <p:spPr>
          <a:xfrm>
            <a:off x="210718" y="969009"/>
            <a:ext cx="30162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-14605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Verdana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Starting point </a:t>
            </a:r>
            <a:r>
              <a:rPr b="0" i="1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</a:t>
            </a:r>
            <a:r>
              <a:rPr b="0" i="1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..</a:t>
            </a:r>
            <a:r>
              <a:rPr b="0" i="1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], </a:t>
            </a:r>
            <a:r>
              <a:rPr b="0" i="1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1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.length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6050" lvl="0" marL="158750" marR="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Verdana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Turn A, array into a max-heap!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6050" lvl="0" marL="158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Verdana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Max-Heapify() algorithm: “sink” operation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050" lvl="0" marL="158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Verdana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Call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Max-Heapify()  from the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last internal node to the root node (1)</a:t>
            </a:r>
            <a:endParaRPr b="1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5080" rtl="0" algn="l">
              <a:lnSpc>
                <a:spcPct val="98800"/>
              </a:lnSpc>
              <a:spcBef>
                <a:spcPts val="24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41" name="Google Shape;541;g31ff6e4d82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4919" y="990949"/>
            <a:ext cx="2225525" cy="953475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g31ff6e4d82b_0_0"/>
          <p:cNvSpPr txBox="1"/>
          <p:nvPr/>
        </p:nvSpPr>
        <p:spPr>
          <a:xfrm>
            <a:off x="130860" y="3104757"/>
            <a:ext cx="2274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Heaps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3" name="Google Shape;543;g31ff6e4d82b_0_0"/>
          <p:cNvSpPr txBox="1"/>
          <p:nvPr/>
        </p:nvSpPr>
        <p:spPr>
          <a:xfrm>
            <a:off x="5373370" y="3104757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rPr>
              <a:t>26/27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9"/>
          <p:cNvSpPr txBox="1"/>
          <p:nvPr/>
        </p:nvSpPr>
        <p:spPr>
          <a:xfrm>
            <a:off x="1657350" y="162300"/>
            <a:ext cx="2947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Runtime of Build-Max-Heap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9" name="Google Shape;549;p19"/>
          <p:cNvSpPr txBox="1"/>
          <p:nvPr/>
        </p:nvSpPr>
        <p:spPr>
          <a:xfrm>
            <a:off x="130860" y="3104757"/>
            <a:ext cx="227329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Heaps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0" name="Google Shape;550;p19"/>
          <p:cNvSpPr txBox="1"/>
          <p:nvPr/>
        </p:nvSpPr>
        <p:spPr>
          <a:xfrm>
            <a:off x="478042" y="1301986"/>
            <a:ext cx="4923000" cy="18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Time complexity:</a:t>
            </a:r>
            <a:br>
              <a:rPr b="1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Max-Heapify(A, i) runs in O(log n)</a:t>
            </a:r>
            <a:endParaRPr b="0" i="0" sz="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●"/>
            </a:pPr>
            <a:r>
              <a:rPr b="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Build-Max-Heap(A) calls 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Max-Heapify()</a:t>
            </a:r>
            <a:r>
              <a:rPr b="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n/2 times</a:t>
            </a:r>
            <a:endParaRPr b="0" i="0" sz="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●"/>
            </a:pPr>
            <a:r>
              <a:rPr b="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Therefore, the runtime of Build-Max-Heap(A) is 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O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(n/2) x O(log n)</a:t>
            </a:r>
            <a:b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O(n log 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Precise analysis shows </a:t>
            </a:r>
            <a:r>
              <a:rPr b="1" i="0" lang="en-US" sz="9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most heapify calls</a:t>
            </a:r>
            <a:r>
              <a:rPr b="0" i="0" lang="en-US" sz="9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are on</a:t>
            </a:r>
            <a:r>
              <a:rPr b="1" i="0" lang="en-US" sz="9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lower levels (smaller height). </a:t>
            </a:r>
            <a:br>
              <a:rPr b="1" i="0" lang="en-US" sz="9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9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Using the aggregate method, total cost is O(n). </a:t>
            </a:r>
            <a:r>
              <a:rPr b="1" i="0" lang="en-US" sz="9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Final Time Complexity: O(n).</a:t>
            </a:r>
            <a:endParaRPr b="1" i="0" sz="900" u="none" cap="none" strike="noStrike">
              <a:solidFill>
                <a:srgbClr val="99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51" name="Google Shape;5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425" y="569803"/>
            <a:ext cx="2235108" cy="905319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19"/>
          <p:cNvSpPr txBox="1"/>
          <p:nvPr/>
        </p:nvSpPr>
        <p:spPr>
          <a:xfrm>
            <a:off x="3391517" y="984498"/>
            <a:ext cx="2061600" cy="492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From the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last internal node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 the root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3" name="Google Shape;553;p19"/>
          <p:cNvSpPr/>
          <p:nvPr/>
        </p:nvSpPr>
        <p:spPr>
          <a:xfrm>
            <a:off x="2826691" y="1074306"/>
            <a:ext cx="515400" cy="117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99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99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1f8cdc83de_0_1328"/>
          <p:cNvSpPr txBox="1"/>
          <p:nvPr>
            <p:ph type="title"/>
          </p:nvPr>
        </p:nvSpPr>
        <p:spPr>
          <a:xfrm>
            <a:off x="951051" y="168050"/>
            <a:ext cx="46512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 of </a:t>
            </a:r>
            <a:r>
              <a:rPr lang="en-US"/>
              <a:t>build-max-heap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operation</a:t>
            </a:r>
            <a:endParaRPr/>
          </a:p>
        </p:txBody>
      </p:sp>
      <p:pic>
        <p:nvPicPr>
          <p:cNvPr id="559" name="Google Shape;559;g31f8cdc83de_0_13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8575" y="604375"/>
            <a:ext cx="3308601" cy="2309425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g31f8cdc83de_0_1328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1f8cdc83de_0_1512"/>
          <p:cNvSpPr txBox="1"/>
          <p:nvPr>
            <p:ph type="title"/>
          </p:nvPr>
        </p:nvSpPr>
        <p:spPr>
          <a:xfrm>
            <a:off x="929476" y="168000"/>
            <a:ext cx="46512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 of </a:t>
            </a:r>
            <a:r>
              <a:rPr lang="en-US"/>
              <a:t>build-max-heap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operation</a:t>
            </a:r>
            <a:endParaRPr/>
          </a:p>
        </p:txBody>
      </p:sp>
      <p:sp>
        <p:nvSpPr>
          <p:cNvPr id="566" name="Google Shape;566;g31f8cdc83de_0_1512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7" name="Google Shape;567;g31f8cdc83de_0_15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25" y="648525"/>
            <a:ext cx="3259975" cy="227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1f8cdc83de_0_1518"/>
          <p:cNvSpPr txBox="1"/>
          <p:nvPr>
            <p:ph type="title"/>
          </p:nvPr>
        </p:nvSpPr>
        <p:spPr>
          <a:xfrm>
            <a:off x="1042676" y="178250"/>
            <a:ext cx="46512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 of </a:t>
            </a:r>
            <a:r>
              <a:rPr lang="en-US"/>
              <a:t>build-max-heap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operation</a:t>
            </a:r>
            <a:endParaRPr/>
          </a:p>
        </p:txBody>
      </p:sp>
      <p:sp>
        <p:nvSpPr>
          <p:cNvPr id="573" name="Google Shape;573;g31f8cdc83de_0_1518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4" name="Google Shape;574;g31f8cdc83de_0_15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950" y="578100"/>
            <a:ext cx="3403650" cy="237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1f8cdc83de_0_1523"/>
          <p:cNvSpPr txBox="1"/>
          <p:nvPr>
            <p:ph type="title"/>
          </p:nvPr>
        </p:nvSpPr>
        <p:spPr>
          <a:xfrm>
            <a:off x="956426" y="147075"/>
            <a:ext cx="46512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 of </a:t>
            </a:r>
            <a:r>
              <a:rPr lang="en-US"/>
              <a:t>build-max-heap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operation</a:t>
            </a:r>
            <a:endParaRPr/>
          </a:p>
        </p:txBody>
      </p:sp>
      <p:sp>
        <p:nvSpPr>
          <p:cNvPr id="580" name="Google Shape;580;g31f8cdc83de_0_1523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1" name="Google Shape;581;g31f8cdc83de_0_15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177" y="521676"/>
            <a:ext cx="3461875" cy="241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1f8cdc83de_0_1528"/>
          <p:cNvSpPr txBox="1"/>
          <p:nvPr>
            <p:ph type="title"/>
          </p:nvPr>
        </p:nvSpPr>
        <p:spPr>
          <a:xfrm>
            <a:off x="983376" y="203800"/>
            <a:ext cx="46512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 of </a:t>
            </a:r>
            <a:r>
              <a:rPr lang="en-US"/>
              <a:t>build-max-heap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operation</a:t>
            </a:r>
            <a:endParaRPr/>
          </a:p>
        </p:txBody>
      </p:sp>
      <p:sp>
        <p:nvSpPr>
          <p:cNvPr id="587" name="Google Shape;587;g31f8cdc83de_0_1528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8" name="Google Shape;588;g31f8cdc83de_0_15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775" y="533075"/>
            <a:ext cx="3492400" cy="243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1f8cdc83de_0_1533"/>
          <p:cNvSpPr txBox="1"/>
          <p:nvPr>
            <p:ph type="title"/>
          </p:nvPr>
        </p:nvSpPr>
        <p:spPr>
          <a:xfrm>
            <a:off x="1042676" y="142575"/>
            <a:ext cx="46512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 of </a:t>
            </a:r>
            <a:r>
              <a:rPr lang="en-US"/>
              <a:t>build-max-heap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operation</a:t>
            </a:r>
            <a:endParaRPr/>
          </a:p>
        </p:txBody>
      </p:sp>
      <p:sp>
        <p:nvSpPr>
          <p:cNvPr id="594" name="Google Shape;594;g31f8cdc83de_0_1533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5" name="Google Shape;595;g31f8cdc83de_0_1533" title="Screenshot 2026-05-07 10330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8166" y="553450"/>
            <a:ext cx="4167408" cy="2529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e7c2f84b32_0_0"/>
          <p:cNvSpPr txBox="1"/>
          <p:nvPr>
            <p:ph type="title"/>
          </p:nvPr>
        </p:nvSpPr>
        <p:spPr>
          <a:xfrm>
            <a:off x="1103401" y="32700"/>
            <a:ext cx="46512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 of </a:t>
            </a:r>
            <a:r>
              <a:rPr lang="en-US"/>
              <a:t>build-max-heap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operation</a:t>
            </a:r>
            <a:endParaRPr/>
          </a:p>
        </p:txBody>
      </p:sp>
      <p:sp>
        <p:nvSpPr>
          <p:cNvPr id="601" name="Google Shape;601;g3e7c2f84b32_0_0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2" name="Google Shape;602;g3e7c2f84b32_0_0" title="enhanced_heap_simulation - Cop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25" y="341800"/>
            <a:ext cx="4470927" cy="2861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f72bb4c946_0_4"/>
          <p:cNvSpPr txBox="1"/>
          <p:nvPr>
            <p:ph type="title"/>
          </p:nvPr>
        </p:nvSpPr>
        <p:spPr>
          <a:xfrm>
            <a:off x="1103401" y="32700"/>
            <a:ext cx="46512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 of </a:t>
            </a:r>
            <a:r>
              <a:rPr lang="en-US"/>
              <a:t>build-max-heap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operation</a:t>
            </a:r>
            <a:endParaRPr/>
          </a:p>
        </p:txBody>
      </p:sp>
      <p:sp>
        <p:nvSpPr>
          <p:cNvPr id="608" name="Google Shape;608;g3f72bb4c946_0_4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g3f72bb4c946_0_4"/>
          <p:cNvSpPr txBox="1"/>
          <p:nvPr/>
        </p:nvSpPr>
        <p:spPr>
          <a:xfrm>
            <a:off x="475500" y="717525"/>
            <a:ext cx="4587600" cy="19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Simulation available here: </a:t>
            </a:r>
            <a:b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1200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3"/>
              </a:rPr>
              <a:t>https://docs.google.com/presentation/d/1YKuqIlT2boyiYh8bvBcvpDnDkfqUBXR3/edit?usp=sharing&amp;ouid=100216673605729372437&amp;rtpof=true&amp;sd=true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f9709021b8_0_15"/>
          <p:cNvSpPr/>
          <p:nvPr/>
        </p:nvSpPr>
        <p:spPr>
          <a:xfrm>
            <a:off x="151356" y="77876"/>
            <a:ext cx="54489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1200"/>
              <a:buFont typeface="Play"/>
              <a:buNone/>
            </a:pPr>
            <a:r>
              <a:rPr b="1" lang="en-US" sz="12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Creating a Heap from an Array (</a:t>
            </a:r>
            <a:r>
              <a:rPr b="1" i="0" lang="en-US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Process 2: Repeated Insertions)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g3f9709021b8_0_15"/>
          <p:cNvSpPr/>
          <p:nvPr/>
        </p:nvSpPr>
        <p:spPr>
          <a:xfrm>
            <a:off x="164330" y="294200"/>
            <a:ext cx="5189400" cy="1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Create the heap gradually by inserting one value at a time.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7" name="Google Shape;617;g3f9709021b8_0_15"/>
          <p:cNvCxnSpPr/>
          <p:nvPr/>
        </p:nvCxnSpPr>
        <p:spPr>
          <a:xfrm>
            <a:off x="151356" y="441300"/>
            <a:ext cx="5470500" cy="0"/>
          </a:xfrm>
          <a:prstGeom prst="straightConnector1">
            <a:avLst/>
          </a:prstGeom>
          <a:noFill/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8" name="Google Shape;618;g3f9709021b8_0_15"/>
          <p:cNvSpPr/>
          <p:nvPr/>
        </p:nvSpPr>
        <p:spPr>
          <a:xfrm>
            <a:off x="122925" y="670600"/>
            <a:ext cx="2651400" cy="2011800"/>
          </a:xfrm>
          <a:prstGeom prst="roundRect">
            <a:avLst>
              <a:gd fmla="val 1720" name="adj"/>
            </a:avLst>
          </a:prstGeom>
          <a:solidFill>
            <a:srgbClr val="FFF9EA"/>
          </a:solidFill>
          <a:ln cap="flat" cmpd="sng" w="7200">
            <a:solidFill>
              <a:srgbClr val="C8B2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19" name="Google Shape;619;g3f9709021b8_0_15"/>
          <p:cNvSpPr/>
          <p:nvPr/>
        </p:nvSpPr>
        <p:spPr>
          <a:xfrm>
            <a:off x="497314" y="800396"/>
            <a:ext cx="19026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900"/>
              <a:buFont typeface="Arial"/>
              <a:buNone/>
            </a:pPr>
            <a:r>
              <a:rPr b="1" i="0" lang="en-US" sz="11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g3f9709021b8_0_15"/>
          <p:cNvSpPr/>
          <p:nvPr/>
        </p:nvSpPr>
        <p:spPr>
          <a:xfrm>
            <a:off x="299491" y="1073047"/>
            <a:ext cx="138300" cy="138300"/>
          </a:xfrm>
          <a:prstGeom prst="ellipse">
            <a:avLst/>
          </a:prstGeom>
          <a:solidFill>
            <a:srgbClr val="0E4AA8"/>
          </a:solidFill>
          <a:ln cap="flat" cmpd="sng" w="6000">
            <a:solidFill>
              <a:srgbClr val="0E4A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21" name="Google Shape;621;g3f9709021b8_0_15"/>
          <p:cNvSpPr/>
          <p:nvPr/>
        </p:nvSpPr>
        <p:spPr>
          <a:xfrm>
            <a:off x="252703" y="1107663"/>
            <a:ext cx="1851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g3f9709021b8_0_15"/>
          <p:cNvSpPr/>
          <p:nvPr/>
        </p:nvSpPr>
        <p:spPr>
          <a:xfrm>
            <a:off x="529424" y="1077375"/>
            <a:ext cx="2032800" cy="1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Create an empty heap object of the given capacity.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g3f9709021b8_0_15"/>
          <p:cNvSpPr/>
          <p:nvPr/>
        </p:nvSpPr>
        <p:spPr>
          <a:xfrm>
            <a:off x="299491" y="1393205"/>
            <a:ext cx="138300" cy="138300"/>
          </a:xfrm>
          <a:prstGeom prst="ellipse">
            <a:avLst/>
          </a:prstGeom>
          <a:solidFill>
            <a:srgbClr val="0E4AA8"/>
          </a:solidFill>
          <a:ln cap="flat" cmpd="sng" w="6000">
            <a:solidFill>
              <a:srgbClr val="0E4A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24" name="Google Shape;624;g3f9709021b8_0_15"/>
          <p:cNvSpPr/>
          <p:nvPr/>
        </p:nvSpPr>
        <p:spPr>
          <a:xfrm>
            <a:off x="252703" y="1427821"/>
            <a:ext cx="1851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g3f9709021b8_0_15"/>
          <p:cNvSpPr/>
          <p:nvPr/>
        </p:nvSpPr>
        <p:spPr>
          <a:xfrm>
            <a:off x="529424" y="1397533"/>
            <a:ext cx="2032800" cy="1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Traverse the array from start to end.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g3f9709021b8_0_15"/>
          <p:cNvSpPr/>
          <p:nvPr/>
        </p:nvSpPr>
        <p:spPr>
          <a:xfrm>
            <a:off x="299491" y="1713364"/>
            <a:ext cx="138300" cy="138300"/>
          </a:xfrm>
          <a:prstGeom prst="ellipse">
            <a:avLst/>
          </a:prstGeom>
          <a:solidFill>
            <a:srgbClr val="0E4AA8"/>
          </a:solidFill>
          <a:ln cap="flat" cmpd="sng" w="6000">
            <a:solidFill>
              <a:srgbClr val="0E4A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27" name="Google Shape;627;g3f9709021b8_0_15"/>
          <p:cNvSpPr/>
          <p:nvPr/>
        </p:nvSpPr>
        <p:spPr>
          <a:xfrm>
            <a:off x="252703" y="1747979"/>
            <a:ext cx="1851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g3f9709021b8_0_15"/>
          <p:cNvSpPr/>
          <p:nvPr/>
        </p:nvSpPr>
        <p:spPr>
          <a:xfrm>
            <a:off x="529424" y="1717692"/>
            <a:ext cx="2032800" cy="1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Insert each value using heap.insert().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g3f9709021b8_0_15"/>
          <p:cNvSpPr/>
          <p:nvPr/>
        </p:nvSpPr>
        <p:spPr>
          <a:xfrm>
            <a:off x="299491" y="2033522"/>
            <a:ext cx="138300" cy="138300"/>
          </a:xfrm>
          <a:prstGeom prst="ellipse">
            <a:avLst/>
          </a:prstGeom>
          <a:solidFill>
            <a:srgbClr val="0E4AA8"/>
          </a:solidFill>
          <a:ln cap="flat" cmpd="sng" w="6000">
            <a:solidFill>
              <a:srgbClr val="0E4A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30" name="Google Shape;630;g3f9709021b8_0_15"/>
          <p:cNvSpPr/>
          <p:nvPr/>
        </p:nvSpPr>
        <p:spPr>
          <a:xfrm>
            <a:off x="252703" y="2068138"/>
            <a:ext cx="1851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g3f9709021b8_0_15"/>
          <p:cNvSpPr/>
          <p:nvPr/>
        </p:nvSpPr>
        <p:spPr>
          <a:xfrm>
            <a:off x="529424" y="2037850"/>
            <a:ext cx="2032800" cy="1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After insertion, swim up if the child is greater than its parent.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g3f9709021b8_0_15"/>
          <p:cNvSpPr/>
          <p:nvPr/>
        </p:nvSpPr>
        <p:spPr>
          <a:xfrm>
            <a:off x="2899825" y="670600"/>
            <a:ext cx="2865900" cy="2011800"/>
          </a:xfrm>
          <a:prstGeom prst="roundRect">
            <a:avLst>
              <a:gd fmla="val 1720" name="adj"/>
            </a:avLst>
          </a:prstGeom>
          <a:solidFill>
            <a:srgbClr val="FFFFFF"/>
          </a:solidFill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3" name="Google Shape;633;g3f9709021b8_0_15"/>
          <p:cNvSpPr/>
          <p:nvPr/>
        </p:nvSpPr>
        <p:spPr>
          <a:xfrm>
            <a:off x="3138666" y="787415"/>
            <a:ext cx="2388600" cy="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500"/>
              <a:buFont typeface="Arial"/>
              <a:buNone/>
            </a:pPr>
            <a:r>
              <a:rPr b="1" i="0" lang="en-US" sz="9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Given Array (inserted in order)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g3f9709021b8_0_15"/>
          <p:cNvSpPr/>
          <p:nvPr/>
        </p:nvSpPr>
        <p:spPr>
          <a:xfrm>
            <a:off x="3138666" y="908556"/>
            <a:ext cx="411600" cy="121200"/>
          </a:xfrm>
          <a:prstGeom prst="rect">
            <a:avLst/>
          </a:prstGeom>
          <a:solidFill>
            <a:srgbClr val="F6FFF6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g3f9709021b8_0_15"/>
          <p:cNvSpPr/>
          <p:nvPr/>
        </p:nvSpPr>
        <p:spPr>
          <a:xfrm>
            <a:off x="3550461" y="908556"/>
            <a:ext cx="3294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g3f9709021b8_0_15"/>
          <p:cNvSpPr/>
          <p:nvPr/>
        </p:nvSpPr>
        <p:spPr>
          <a:xfrm>
            <a:off x="3879897" y="908556"/>
            <a:ext cx="3294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g3f9709021b8_0_15"/>
          <p:cNvSpPr/>
          <p:nvPr/>
        </p:nvSpPr>
        <p:spPr>
          <a:xfrm>
            <a:off x="4209333" y="908556"/>
            <a:ext cx="3294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g3f9709021b8_0_15"/>
          <p:cNvSpPr/>
          <p:nvPr/>
        </p:nvSpPr>
        <p:spPr>
          <a:xfrm>
            <a:off x="4538768" y="908556"/>
            <a:ext cx="3294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g3f9709021b8_0_15"/>
          <p:cNvSpPr/>
          <p:nvPr/>
        </p:nvSpPr>
        <p:spPr>
          <a:xfrm>
            <a:off x="4868204" y="908556"/>
            <a:ext cx="3294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g3f9709021b8_0_15"/>
          <p:cNvSpPr/>
          <p:nvPr/>
        </p:nvSpPr>
        <p:spPr>
          <a:xfrm>
            <a:off x="5197640" y="908556"/>
            <a:ext cx="3294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g3f9709021b8_0_15"/>
          <p:cNvSpPr/>
          <p:nvPr/>
        </p:nvSpPr>
        <p:spPr>
          <a:xfrm>
            <a:off x="3138666" y="1029697"/>
            <a:ext cx="411600" cy="121200"/>
          </a:xfrm>
          <a:prstGeom prst="rect">
            <a:avLst/>
          </a:prstGeom>
          <a:solidFill>
            <a:srgbClr val="F6FFF6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g3f9709021b8_0_15"/>
          <p:cNvSpPr/>
          <p:nvPr/>
        </p:nvSpPr>
        <p:spPr>
          <a:xfrm>
            <a:off x="3550461" y="1029697"/>
            <a:ext cx="3294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g3f9709021b8_0_15"/>
          <p:cNvSpPr/>
          <p:nvPr/>
        </p:nvSpPr>
        <p:spPr>
          <a:xfrm>
            <a:off x="3879897" y="1029697"/>
            <a:ext cx="3294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g3f9709021b8_0_15"/>
          <p:cNvSpPr/>
          <p:nvPr/>
        </p:nvSpPr>
        <p:spPr>
          <a:xfrm>
            <a:off x="4209333" y="1029697"/>
            <a:ext cx="3294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g3f9709021b8_0_15"/>
          <p:cNvSpPr/>
          <p:nvPr/>
        </p:nvSpPr>
        <p:spPr>
          <a:xfrm>
            <a:off x="4538768" y="1029697"/>
            <a:ext cx="3294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3f9709021b8_0_15"/>
          <p:cNvSpPr/>
          <p:nvPr/>
        </p:nvSpPr>
        <p:spPr>
          <a:xfrm>
            <a:off x="4868204" y="1029697"/>
            <a:ext cx="3294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g3f9709021b8_0_15"/>
          <p:cNvSpPr/>
          <p:nvPr/>
        </p:nvSpPr>
        <p:spPr>
          <a:xfrm>
            <a:off x="5197640" y="1029697"/>
            <a:ext cx="3294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g3f9709021b8_0_15"/>
          <p:cNvSpPr/>
          <p:nvPr/>
        </p:nvSpPr>
        <p:spPr>
          <a:xfrm>
            <a:off x="3271355" y="1492629"/>
            <a:ext cx="21231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900"/>
              <a:buFont typeface="Arial"/>
              <a:buNone/>
            </a:pPr>
            <a:r>
              <a:rPr b="1" i="0" lang="en-US" sz="11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Max Heap Rule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f9709021b8_0_15"/>
          <p:cNvSpPr/>
          <p:nvPr/>
        </p:nvSpPr>
        <p:spPr>
          <a:xfrm>
            <a:off x="3297893" y="1708952"/>
            <a:ext cx="2096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" lIns="175" spcFirstLastPara="1" rIns="175" wrap="square" tIns="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Arial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Every parent node must be greater than or equal to its children.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f9709021b8_0_15"/>
          <p:cNvSpPr/>
          <p:nvPr/>
        </p:nvSpPr>
        <p:spPr>
          <a:xfrm>
            <a:off x="3297893" y="2163231"/>
            <a:ext cx="2096400" cy="1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900"/>
              <a:buFont typeface="Arial"/>
              <a:buNone/>
            </a:pPr>
            <a:r>
              <a:rPr b="1" i="0" lang="en-US" sz="11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Final heap: [ 100, 70, 4, 10, 30 ]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f9709021b8_0_56"/>
          <p:cNvSpPr/>
          <p:nvPr/>
        </p:nvSpPr>
        <p:spPr>
          <a:xfrm>
            <a:off x="151356" y="77876"/>
            <a:ext cx="54489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1200"/>
              <a:buFont typeface="Play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Step 0: Empty Heap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7" name="Google Shape;657;g3f9709021b8_0_56"/>
          <p:cNvCxnSpPr/>
          <p:nvPr/>
        </p:nvCxnSpPr>
        <p:spPr>
          <a:xfrm>
            <a:off x="151356" y="441300"/>
            <a:ext cx="5470500" cy="0"/>
          </a:xfrm>
          <a:prstGeom prst="straightConnector1">
            <a:avLst/>
          </a:prstGeom>
          <a:noFill/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8" name="Google Shape;658;g3f9709021b8_0_56"/>
          <p:cNvSpPr/>
          <p:nvPr/>
        </p:nvSpPr>
        <p:spPr>
          <a:xfrm>
            <a:off x="229197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0E4AA8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59" name="Google Shape;659;g3f9709021b8_0_56"/>
          <p:cNvSpPr/>
          <p:nvPr/>
        </p:nvSpPr>
        <p:spPr>
          <a:xfrm>
            <a:off x="229197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 Empty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g3f9709021b8_0_56"/>
          <p:cNvSpPr/>
          <p:nvPr/>
        </p:nvSpPr>
        <p:spPr>
          <a:xfrm>
            <a:off x="1115712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61" name="Google Shape;661;g3f9709021b8_0_56"/>
          <p:cNvSpPr/>
          <p:nvPr/>
        </p:nvSpPr>
        <p:spPr>
          <a:xfrm>
            <a:off x="1115712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1 Insert 10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g3f9709021b8_0_56"/>
          <p:cNvSpPr/>
          <p:nvPr/>
        </p:nvSpPr>
        <p:spPr>
          <a:xfrm>
            <a:off x="2002227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63" name="Google Shape;663;g3f9709021b8_0_56"/>
          <p:cNvSpPr/>
          <p:nvPr/>
        </p:nvSpPr>
        <p:spPr>
          <a:xfrm>
            <a:off x="2002227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2 Insert 30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g3f9709021b8_0_56"/>
          <p:cNvSpPr/>
          <p:nvPr/>
        </p:nvSpPr>
        <p:spPr>
          <a:xfrm>
            <a:off x="2888743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65" name="Google Shape;665;g3f9709021b8_0_56"/>
          <p:cNvSpPr/>
          <p:nvPr/>
        </p:nvSpPr>
        <p:spPr>
          <a:xfrm>
            <a:off x="2888743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3 Insert 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g3f9709021b8_0_56"/>
          <p:cNvSpPr/>
          <p:nvPr/>
        </p:nvSpPr>
        <p:spPr>
          <a:xfrm>
            <a:off x="3775258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67" name="Google Shape;667;g3f9709021b8_0_56"/>
          <p:cNvSpPr/>
          <p:nvPr/>
        </p:nvSpPr>
        <p:spPr>
          <a:xfrm>
            <a:off x="3775258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4 Insert 70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g3f9709021b8_0_56"/>
          <p:cNvSpPr/>
          <p:nvPr/>
        </p:nvSpPr>
        <p:spPr>
          <a:xfrm>
            <a:off x="4661774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69" name="Google Shape;669;g3f9709021b8_0_56"/>
          <p:cNvSpPr/>
          <p:nvPr/>
        </p:nvSpPr>
        <p:spPr>
          <a:xfrm>
            <a:off x="4661774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5 Insert 100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g3f9709021b8_0_56"/>
          <p:cNvSpPr/>
          <p:nvPr/>
        </p:nvSpPr>
        <p:spPr>
          <a:xfrm>
            <a:off x="302713" y="787417"/>
            <a:ext cx="16002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Tree Representation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1" name="Google Shape;671;g3f9709021b8_0_56"/>
          <p:cNvCxnSpPr/>
          <p:nvPr/>
        </p:nvCxnSpPr>
        <p:spPr>
          <a:xfrm flipH="1">
            <a:off x="873711" y="1176799"/>
            <a:ext cx="453900" cy="4092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2" name="Google Shape;672;g3f9709021b8_0_56"/>
          <p:cNvCxnSpPr/>
          <p:nvPr/>
        </p:nvCxnSpPr>
        <p:spPr>
          <a:xfrm>
            <a:off x="1327611" y="1176799"/>
            <a:ext cx="453900" cy="4092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3" name="Google Shape;673;g3f9709021b8_0_56"/>
          <p:cNvCxnSpPr/>
          <p:nvPr/>
        </p:nvCxnSpPr>
        <p:spPr>
          <a:xfrm flipH="1">
            <a:off x="623942" y="1594735"/>
            <a:ext cx="249600" cy="4182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4" name="Google Shape;674;g3f9709021b8_0_56"/>
          <p:cNvCxnSpPr/>
          <p:nvPr/>
        </p:nvCxnSpPr>
        <p:spPr>
          <a:xfrm>
            <a:off x="873542" y="1594735"/>
            <a:ext cx="249600" cy="4182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5" name="Google Shape;675;g3f9709021b8_0_56"/>
          <p:cNvSpPr/>
          <p:nvPr/>
        </p:nvSpPr>
        <p:spPr>
          <a:xfrm>
            <a:off x="1232473" y="986434"/>
            <a:ext cx="190200" cy="190200"/>
          </a:xfrm>
          <a:prstGeom prst="ellipse">
            <a:avLst/>
          </a:prstGeom>
          <a:solidFill>
            <a:srgbClr val="F5F6FA"/>
          </a:solidFill>
          <a:ln cap="flat" cmpd="sng" w="6600">
            <a:solidFill>
              <a:srgbClr val="6C8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g3f9709021b8_0_56"/>
          <p:cNvSpPr/>
          <p:nvPr/>
        </p:nvSpPr>
        <p:spPr>
          <a:xfrm>
            <a:off x="1232473" y="1051331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0" i="0" lang="en-US" sz="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g3f9709021b8_0_56"/>
          <p:cNvSpPr/>
          <p:nvPr/>
        </p:nvSpPr>
        <p:spPr>
          <a:xfrm>
            <a:off x="1293015" y="908558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g3f9709021b8_0_56"/>
          <p:cNvSpPr/>
          <p:nvPr/>
        </p:nvSpPr>
        <p:spPr>
          <a:xfrm>
            <a:off x="778404" y="1404371"/>
            <a:ext cx="190200" cy="190200"/>
          </a:xfrm>
          <a:prstGeom prst="ellipse">
            <a:avLst/>
          </a:prstGeom>
          <a:solidFill>
            <a:srgbClr val="F5F6FA"/>
          </a:solidFill>
          <a:ln cap="flat" cmpd="sng" w="6600">
            <a:solidFill>
              <a:srgbClr val="6C8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g3f9709021b8_0_56"/>
          <p:cNvSpPr/>
          <p:nvPr/>
        </p:nvSpPr>
        <p:spPr>
          <a:xfrm>
            <a:off x="778404" y="1469268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0" i="0" lang="en-US" sz="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g3f9709021b8_0_56"/>
          <p:cNvSpPr/>
          <p:nvPr/>
        </p:nvSpPr>
        <p:spPr>
          <a:xfrm>
            <a:off x="838946" y="1326494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g3f9709021b8_0_56"/>
          <p:cNvSpPr/>
          <p:nvPr/>
        </p:nvSpPr>
        <p:spPr>
          <a:xfrm>
            <a:off x="1686541" y="1404371"/>
            <a:ext cx="190200" cy="190200"/>
          </a:xfrm>
          <a:prstGeom prst="ellipse">
            <a:avLst/>
          </a:prstGeom>
          <a:solidFill>
            <a:srgbClr val="F5F6FA"/>
          </a:solidFill>
          <a:ln cap="flat" cmpd="sng" w="6600">
            <a:solidFill>
              <a:srgbClr val="6C8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g3f9709021b8_0_56"/>
          <p:cNvSpPr/>
          <p:nvPr/>
        </p:nvSpPr>
        <p:spPr>
          <a:xfrm>
            <a:off x="1686541" y="1469268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0" i="0" lang="en-US" sz="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3f9709021b8_0_56"/>
          <p:cNvSpPr/>
          <p:nvPr/>
        </p:nvSpPr>
        <p:spPr>
          <a:xfrm>
            <a:off x="1747084" y="1326494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g3f9709021b8_0_56"/>
          <p:cNvSpPr/>
          <p:nvPr/>
        </p:nvSpPr>
        <p:spPr>
          <a:xfrm>
            <a:off x="528666" y="1831393"/>
            <a:ext cx="190200" cy="190200"/>
          </a:xfrm>
          <a:prstGeom prst="ellipse">
            <a:avLst/>
          </a:prstGeom>
          <a:solidFill>
            <a:srgbClr val="F5F6FA"/>
          </a:solidFill>
          <a:ln cap="flat" cmpd="sng" w="6600">
            <a:solidFill>
              <a:srgbClr val="6C8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g3f9709021b8_0_56"/>
          <p:cNvSpPr/>
          <p:nvPr/>
        </p:nvSpPr>
        <p:spPr>
          <a:xfrm>
            <a:off x="528666" y="1896290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0" i="0" lang="en-US" sz="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g3f9709021b8_0_56"/>
          <p:cNvSpPr/>
          <p:nvPr/>
        </p:nvSpPr>
        <p:spPr>
          <a:xfrm>
            <a:off x="589208" y="1753517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g3f9709021b8_0_56"/>
          <p:cNvSpPr/>
          <p:nvPr/>
        </p:nvSpPr>
        <p:spPr>
          <a:xfrm>
            <a:off x="1028142" y="1831393"/>
            <a:ext cx="190200" cy="190200"/>
          </a:xfrm>
          <a:prstGeom prst="ellipse">
            <a:avLst/>
          </a:prstGeom>
          <a:solidFill>
            <a:srgbClr val="F5F6FA"/>
          </a:solidFill>
          <a:ln cap="flat" cmpd="sng" w="6600">
            <a:solidFill>
              <a:srgbClr val="6C8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g3f9709021b8_0_56"/>
          <p:cNvSpPr/>
          <p:nvPr/>
        </p:nvSpPr>
        <p:spPr>
          <a:xfrm>
            <a:off x="1028142" y="1896290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0" i="0" lang="en-US" sz="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g3f9709021b8_0_56"/>
          <p:cNvSpPr/>
          <p:nvPr/>
        </p:nvSpPr>
        <p:spPr>
          <a:xfrm>
            <a:off x="1088684" y="1753517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g3f9709021b8_0_56"/>
          <p:cNvSpPr/>
          <p:nvPr/>
        </p:nvSpPr>
        <p:spPr>
          <a:xfrm>
            <a:off x="2183855" y="713867"/>
            <a:ext cx="1405500" cy="886800"/>
          </a:xfrm>
          <a:prstGeom prst="roundRect">
            <a:avLst>
              <a:gd fmla="val 2927" name="adj"/>
            </a:avLst>
          </a:prstGeom>
          <a:solidFill>
            <a:srgbClr val="EAF2FF"/>
          </a:solidFill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g3f9709021b8_0_56"/>
          <p:cNvSpPr/>
          <p:nvPr/>
        </p:nvSpPr>
        <p:spPr>
          <a:xfrm>
            <a:off x="2283318" y="804723"/>
            <a:ext cx="12108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g3f9709021b8_0_56"/>
          <p:cNvSpPr/>
          <p:nvPr/>
        </p:nvSpPr>
        <p:spPr>
          <a:xfrm>
            <a:off x="2259650" y="1120550"/>
            <a:ext cx="12972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" lIns="175" spcFirstLastPara="1" rIns="175" wrap="square" tIns="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Create an empty heap object. All heap positions are initially Null.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g3f9709021b8_0_56"/>
          <p:cNvSpPr/>
          <p:nvPr/>
        </p:nvSpPr>
        <p:spPr>
          <a:xfrm>
            <a:off x="1897413" y="1795475"/>
            <a:ext cx="17598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972"/>
              <a:buFont typeface="Arial"/>
              <a:buNone/>
            </a:pPr>
            <a:r>
              <a:rPr b="1" i="0" lang="en-US" sz="1085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Heap Array</a:t>
            </a:r>
            <a:endParaRPr b="0" i="0" sz="108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g3f9709021b8_0_56"/>
          <p:cNvSpPr/>
          <p:nvPr/>
        </p:nvSpPr>
        <p:spPr>
          <a:xfrm>
            <a:off x="1859700" y="1969641"/>
            <a:ext cx="18225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694"/>
              <a:buFont typeface="Arial"/>
              <a:buNone/>
            </a:pPr>
            <a:r>
              <a:rPr b="1" i="0" lang="en-US" sz="1085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1-based index</a:t>
            </a:r>
            <a:endParaRPr b="0" i="0" sz="108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g3f9709021b8_0_56"/>
          <p:cNvSpPr/>
          <p:nvPr/>
        </p:nvSpPr>
        <p:spPr>
          <a:xfrm>
            <a:off x="1859700" y="2137802"/>
            <a:ext cx="314400" cy="168300"/>
          </a:xfrm>
          <a:prstGeom prst="rect">
            <a:avLst/>
          </a:prstGeom>
          <a:solidFill>
            <a:srgbClr val="F6FFF6"/>
          </a:solidFill>
          <a:ln cap="flat" cmpd="sng" w="62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555"/>
              <a:buFont typeface="Arial"/>
              <a:buNone/>
            </a:pPr>
            <a:r>
              <a:rPr b="1" i="0" lang="en-US" sz="946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 b="0" i="0" sz="94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g3f9709021b8_0_56"/>
          <p:cNvSpPr/>
          <p:nvPr/>
        </p:nvSpPr>
        <p:spPr>
          <a:xfrm>
            <a:off x="2173977" y="2137802"/>
            <a:ext cx="251700" cy="168300"/>
          </a:xfrm>
          <a:prstGeom prst="rect">
            <a:avLst/>
          </a:prstGeom>
          <a:solidFill>
            <a:srgbClr val="FFFFFF"/>
          </a:solidFill>
          <a:ln cap="flat" cmpd="sng" w="62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55"/>
              <a:buFont typeface="Arial"/>
              <a:buNone/>
            </a:pPr>
            <a:r>
              <a:rPr b="1" i="0" lang="en-US" sz="946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94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g3f9709021b8_0_56"/>
          <p:cNvSpPr/>
          <p:nvPr/>
        </p:nvSpPr>
        <p:spPr>
          <a:xfrm>
            <a:off x="2425399" y="2137802"/>
            <a:ext cx="251700" cy="168300"/>
          </a:xfrm>
          <a:prstGeom prst="rect">
            <a:avLst/>
          </a:prstGeom>
          <a:solidFill>
            <a:srgbClr val="FFFFFF"/>
          </a:solidFill>
          <a:ln cap="flat" cmpd="sng" w="62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55"/>
              <a:buFont typeface="Arial"/>
              <a:buNone/>
            </a:pPr>
            <a:r>
              <a:rPr b="1" i="0" lang="en-US" sz="946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4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g3f9709021b8_0_56"/>
          <p:cNvSpPr/>
          <p:nvPr/>
        </p:nvSpPr>
        <p:spPr>
          <a:xfrm>
            <a:off x="2676821" y="2137802"/>
            <a:ext cx="251700" cy="168300"/>
          </a:xfrm>
          <a:prstGeom prst="rect">
            <a:avLst/>
          </a:prstGeom>
          <a:solidFill>
            <a:srgbClr val="FFFFFF"/>
          </a:solidFill>
          <a:ln cap="flat" cmpd="sng" w="62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55"/>
              <a:buFont typeface="Arial"/>
              <a:buNone/>
            </a:pPr>
            <a:r>
              <a:rPr b="1" i="0" lang="en-US" sz="946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4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g3f9709021b8_0_56"/>
          <p:cNvSpPr/>
          <p:nvPr/>
        </p:nvSpPr>
        <p:spPr>
          <a:xfrm>
            <a:off x="2928243" y="2137802"/>
            <a:ext cx="251700" cy="168300"/>
          </a:xfrm>
          <a:prstGeom prst="rect">
            <a:avLst/>
          </a:prstGeom>
          <a:solidFill>
            <a:srgbClr val="FFFFFF"/>
          </a:solidFill>
          <a:ln cap="flat" cmpd="sng" w="62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55"/>
              <a:buFont typeface="Arial"/>
              <a:buNone/>
            </a:pPr>
            <a:r>
              <a:rPr b="1" i="0" lang="en-US" sz="946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4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g3f9709021b8_0_56"/>
          <p:cNvSpPr/>
          <p:nvPr/>
        </p:nvSpPr>
        <p:spPr>
          <a:xfrm>
            <a:off x="3179664" y="2137802"/>
            <a:ext cx="251700" cy="168300"/>
          </a:xfrm>
          <a:prstGeom prst="rect">
            <a:avLst/>
          </a:prstGeom>
          <a:solidFill>
            <a:srgbClr val="FFFFFF"/>
          </a:solidFill>
          <a:ln cap="flat" cmpd="sng" w="62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55"/>
              <a:buFont typeface="Arial"/>
              <a:buNone/>
            </a:pPr>
            <a:r>
              <a:rPr b="1" i="0" lang="en-US" sz="946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4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g3f9709021b8_0_56"/>
          <p:cNvSpPr/>
          <p:nvPr/>
        </p:nvSpPr>
        <p:spPr>
          <a:xfrm>
            <a:off x="3431086" y="2137802"/>
            <a:ext cx="251700" cy="168300"/>
          </a:xfrm>
          <a:prstGeom prst="rect">
            <a:avLst/>
          </a:prstGeom>
          <a:solidFill>
            <a:srgbClr val="FFFFFF"/>
          </a:solidFill>
          <a:ln cap="flat" cmpd="sng" w="62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55"/>
              <a:buFont typeface="Arial"/>
              <a:buNone/>
            </a:pPr>
            <a:r>
              <a:rPr b="1" i="0" lang="en-US" sz="946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4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g3f9709021b8_0_56"/>
          <p:cNvSpPr/>
          <p:nvPr/>
        </p:nvSpPr>
        <p:spPr>
          <a:xfrm>
            <a:off x="1859700" y="2305962"/>
            <a:ext cx="314400" cy="168300"/>
          </a:xfrm>
          <a:prstGeom prst="rect">
            <a:avLst/>
          </a:prstGeom>
          <a:solidFill>
            <a:srgbClr val="F6FFF6"/>
          </a:solidFill>
          <a:ln cap="flat" cmpd="sng" w="62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555"/>
              <a:buFont typeface="Arial"/>
              <a:buNone/>
            </a:pPr>
            <a:r>
              <a:rPr b="1" i="0" lang="en-US" sz="946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b="0" i="0" sz="94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g3f9709021b8_0_56"/>
          <p:cNvSpPr/>
          <p:nvPr/>
        </p:nvSpPr>
        <p:spPr>
          <a:xfrm>
            <a:off x="2173977" y="2305962"/>
            <a:ext cx="251700" cy="168300"/>
          </a:xfrm>
          <a:prstGeom prst="rect">
            <a:avLst/>
          </a:prstGeom>
          <a:solidFill>
            <a:srgbClr val="FFFFFF"/>
          </a:solidFill>
          <a:ln cap="flat" cmpd="sng" w="62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555"/>
              <a:buFont typeface="Arial"/>
              <a:buNone/>
            </a:pPr>
            <a:r>
              <a:rPr b="1" i="0" lang="en-US" sz="946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i="0" sz="94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g3f9709021b8_0_56"/>
          <p:cNvSpPr/>
          <p:nvPr/>
        </p:nvSpPr>
        <p:spPr>
          <a:xfrm>
            <a:off x="2425399" y="2305962"/>
            <a:ext cx="251700" cy="168300"/>
          </a:xfrm>
          <a:prstGeom prst="rect">
            <a:avLst/>
          </a:prstGeom>
          <a:solidFill>
            <a:srgbClr val="FFFFFF"/>
          </a:solidFill>
          <a:ln cap="flat" cmpd="sng" w="62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555"/>
              <a:buFont typeface="Arial"/>
              <a:buNone/>
            </a:pPr>
            <a:r>
              <a:rPr b="1" i="0" lang="en-US" sz="946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94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g3f9709021b8_0_56"/>
          <p:cNvSpPr/>
          <p:nvPr/>
        </p:nvSpPr>
        <p:spPr>
          <a:xfrm>
            <a:off x="2676821" y="2305962"/>
            <a:ext cx="251700" cy="168300"/>
          </a:xfrm>
          <a:prstGeom prst="rect">
            <a:avLst/>
          </a:prstGeom>
          <a:solidFill>
            <a:srgbClr val="FFFFFF"/>
          </a:solidFill>
          <a:ln cap="flat" cmpd="sng" w="62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555"/>
              <a:buFont typeface="Arial"/>
              <a:buNone/>
            </a:pPr>
            <a:r>
              <a:rPr b="1" i="0" lang="en-US" sz="946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94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g3f9709021b8_0_56"/>
          <p:cNvSpPr/>
          <p:nvPr/>
        </p:nvSpPr>
        <p:spPr>
          <a:xfrm>
            <a:off x="2928243" y="2305962"/>
            <a:ext cx="251700" cy="168300"/>
          </a:xfrm>
          <a:prstGeom prst="rect">
            <a:avLst/>
          </a:prstGeom>
          <a:solidFill>
            <a:srgbClr val="FFFFFF"/>
          </a:solidFill>
          <a:ln cap="flat" cmpd="sng" w="62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555"/>
              <a:buFont typeface="Arial"/>
              <a:buNone/>
            </a:pPr>
            <a:r>
              <a:rPr b="1" i="0" lang="en-US" sz="946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94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g3f9709021b8_0_56"/>
          <p:cNvSpPr/>
          <p:nvPr/>
        </p:nvSpPr>
        <p:spPr>
          <a:xfrm>
            <a:off x="3179664" y="2305962"/>
            <a:ext cx="251700" cy="168300"/>
          </a:xfrm>
          <a:prstGeom prst="rect">
            <a:avLst/>
          </a:prstGeom>
          <a:solidFill>
            <a:srgbClr val="FFFFFF"/>
          </a:solidFill>
          <a:ln cap="flat" cmpd="sng" w="62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555"/>
              <a:buFont typeface="Arial"/>
              <a:buNone/>
            </a:pPr>
            <a:r>
              <a:rPr b="1" i="0" lang="en-US" sz="946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94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g3f9709021b8_0_56"/>
          <p:cNvSpPr/>
          <p:nvPr/>
        </p:nvSpPr>
        <p:spPr>
          <a:xfrm>
            <a:off x="3431086" y="2305962"/>
            <a:ext cx="251700" cy="168300"/>
          </a:xfrm>
          <a:prstGeom prst="rect">
            <a:avLst/>
          </a:prstGeom>
          <a:solidFill>
            <a:srgbClr val="FFFFFF"/>
          </a:solidFill>
          <a:ln cap="flat" cmpd="sng" w="62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555"/>
              <a:buFont typeface="Arial"/>
              <a:buNone/>
            </a:pPr>
            <a:r>
              <a:rPr b="1" i="0" lang="en-US" sz="946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94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g3f9709021b8_0_56"/>
          <p:cNvSpPr/>
          <p:nvPr/>
        </p:nvSpPr>
        <p:spPr>
          <a:xfrm>
            <a:off x="3775258" y="713867"/>
            <a:ext cx="1773000" cy="2119800"/>
          </a:xfrm>
          <a:prstGeom prst="roundRect">
            <a:avLst>
              <a:gd fmla="val 1463" name="adj"/>
            </a:avLst>
          </a:prstGeom>
          <a:solidFill>
            <a:srgbClr val="FFFDF8"/>
          </a:solidFill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g3f9709021b8_0_56"/>
          <p:cNvSpPr/>
          <p:nvPr/>
        </p:nvSpPr>
        <p:spPr>
          <a:xfrm>
            <a:off x="3892019" y="787417"/>
            <a:ext cx="15351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Simulation Notes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g3f9709021b8_0_56"/>
          <p:cNvSpPr/>
          <p:nvPr/>
        </p:nvSpPr>
        <p:spPr>
          <a:xfrm>
            <a:off x="4000130" y="1047005"/>
            <a:ext cx="12972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No swap is required.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g3f9709021b8_0_56"/>
          <p:cNvSpPr/>
          <p:nvPr/>
        </p:nvSpPr>
        <p:spPr>
          <a:xfrm>
            <a:off x="3805351" y="2098325"/>
            <a:ext cx="16002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Current heap: [ Null, Null, Null, Null, Null ]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g3f9709021b8_0_56"/>
          <p:cNvSpPr/>
          <p:nvPr/>
        </p:nvSpPr>
        <p:spPr>
          <a:xfrm>
            <a:off x="151356" y="3084771"/>
            <a:ext cx="5362200" cy="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1-based indexing: index 0 is unused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f9709021b8_0_121"/>
          <p:cNvSpPr/>
          <p:nvPr/>
        </p:nvSpPr>
        <p:spPr>
          <a:xfrm>
            <a:off x="151356" y="77876"/>
            <a:ext cx="54489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1200"/>
              <a:buFont typeface="Play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Step 1: Insert 10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0" name="Google Shape;720;g3f9709021b8_0_121"/>
          <p:cNvCxnSpPr/>
          <p:nvPr/>
        </p:nvCxnSpPr>
        <p:spPr>
          <a:xfrm>
            <a:off x="151356" y="441300"/>
            <a:ext cx="5470500" cy="0"/>
          </a:xfrm>
          <a:prstGeom prst="straightConnector1">
            <a:avLst/>
          </a:prstGeom>
          <a:noFill/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1" name="Google Shape;721;g3f9709021b8_0_121"/>
          <p:cNvSpPr/>
          <p:nvPr/>
        </p:nvSpPr>
        <p:spPr>
          <a:xfrm>
            <a:off x="229197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DFF0D8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22" name="Google Shape;722;g3f9709021b8_0_121"/>
          <p:cNvSpPr/>
          <p:nvPr/>
        </p:nvSpPr>
        <p:spPr>
          <a:xfrm>
            <a:off x="229197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0 Empty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g3f9709021b8_0_121"/>
          <p:cNvSpPr/>
          <p:nvPr/>
        </p:nvSpPr>
        <p:spPr>
          <a:xfrm>
            <a:off x="1115712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0E4AA8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24" name="Google Shape;724;g3f9709021b8_0_121"/>
          <p:cNvSpPr/>
          <p:nvPr/>
        </p:nvSpPr>
        <p:spPr>
          <a:xfrm>
            <a:off x="1115712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Insert 10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g3f9709021b8_0_121"/>
          <p:cNvSpPr/>
          <p:nvPr/>
        </p:nvSpPr>
        <p:spPr>
          <a:xfrm>
            <a:off x="2002227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26" name="Google Shape;726;g3f9709021b8_0_121"/>
          <p:cNvSpPr/>
          <p:nvPr/>
        </p:nvSpPr>
        <p:spPr>
          <a:xfrm>
            <a:off x="2002227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2 Insert 30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g3f9709021b8_0_121"/>
          <p:cNvSpPr/>
          <p:nvPr/>
        </p:nvSpPr>
        <p:spPr>
          <a:xfrm>
            <a:off x="2888743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28" name="Google Shape;728;g3f9709021b8_0_121"/>
          <p:cNvSpPr/>
          <p:nvPr/>
        </p:nvSpPr>
        <p:spPr>
          <a:xfrm>
            <a:off x="2888743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3 Insert 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g3f9709021b8_0_121"/>
          <p:cNvSpPr/>
          <p:nvPr/>
        </p:nvSpPr>
        <p:spPr>
          <a:xfrm>
            <a:off x="3775258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30" name="Google Shape;730;g3f9709021b8_0_121"/>
          <p:cNvSpPr/>
          <p:nvPr/>
        </p:nvSpPr>
        <p:spPr>
          <a:xfrm>
            <a:off x="3775258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4 Insert 70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g3f9709021b8_0_121"/>
          <p:cNvSpPr/>
          <p:nvPr/>
        </p:nvSpPr>
        <p:spPr>
          <a:xfrm>
            <a:off x="4661774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32" name="Google Shape;732;g3f9709021b8_0_121"/>
          <p:cNvSpPr/>
          <p:nvPr/>
        </p:nvSpPr>
        <p:spPr>
          <a:xfrm>
            <a:off x="4661774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5 Insert 100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g3f9709021b8_0_121"/>
          <p:cNvSpPr/>
          <p:nvPr/>
        </p:nvSpPr>
        <p:spPr>
          <a:xfrm>
            <a:off x="207574" y="713867"/>
            <a:ext cx="1794600" cy="2119800"/>
          </a:xfrm>
          <a:prstGeom prst="roundRect">
            <a:avLst>
              <a:gd fmla="val 1446" name="adj"/>
            </a:avLst>
          </a:prstGeom>
          <a:solidFill>
            <a:srgbClr val="FFFFFF"/>
          </a:solidFill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g3f9709021b8_0_121"/>
          <p:cNvSpPr/>
          <p:nvPr/>
        </p:nvSpPr>
        <p:spPr>
          <a:xfrm>
            <a:off x="302713" y="787417"/>
            <a:ext cx="16002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Tree Representation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5" name="Google Shape;735;g3f9709021b8_0_121"/>
          <p:cNvCxnSpPr/>
          <p:nvPr/>
        </p:nvCxnSpPr>
        <p:spPr>
          <a:xfrm flipH="1">
            <a:off x="873711" y="1176799"/>
            <a:ext cx="453900" cy="4092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6" name="Google Shape;736;g3f9709021b8_0_121"/>
          <p:cNvCxnSpPr/>
          <p:nvPr/>
        </p:nvCxnSpPr>
        <p:spPr>
          <a:xfrm>
            <a:off x="1327611" y="1176799"/>
            <a:ext cx="453900" cy="4092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7" name="Google Shape;737;g3f9709021b8_0_121"/>
          <p:cNvCxnSpPr/>
          <p:nvPr/>
        </p:nvCxnSpPr>
        <p:spPr>
          <a:xfrm flipH="1">
            <a:off x="623942" y="1594735"/>
            <a:ext cx="249600" cy="4182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8" name="Google Shape;738;g3f9709021b8_0_121"/>
          <p:cNvCxnSpPr/>
          <p:nvPr/>
        </p:nvCxnSpPr>
        <p:spPr>
          <a:xfrm>
            <a:off x="873542" y="1594735"/>
            <a:ext cx="249600" cy="4182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9" name="Google Shape;739;g3f9709021b8_0_121"/>
          <p:cNvSpPr/>
          <p:nvPr/>
        </p:nvSpPr>
        <p:spPr>
          <a:xfrm>
            <a:off x="1232473" y="986434"/>
            <a:ext cx="190200" cy="190200"/>
          </a:xfrm>
          <a:prstGeom prst="ellipse">
            <a:avLst/>
          </a:prstGeom>
          <a:solidFill>
            <a:srgbClr val="DFF0D8"/>
          </a:solidFill>
          <a:ln cap="flat" cmpd="sng" w="6600">
            <a:solidFill>
              <a:srgbClr val="207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g3f9709021b8_0_121"/>
          <p:cNvSpPr/>
          <p:nvPr/>
        </p:nvSpPr>
        <p:spPr>
          <a:xfrm>
            <a:off x="1232473" y="1051331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g3f9709021b8_0_121"/>
          <p:cNvSpPr/>
          <p:nvPr/>
        </p:nvSpPr>
        <p:spPr>
          <a:xfrm>
            <a:off x="1293015" y="908558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g3f9709021b8_0_121"/>
          <p:cNvSpPr/>
          <p:nvPr/>
        </p:nvSpPr>
        <p:spPr>
          <a:xfrm>
            <a:off x="778404" y="1404371"/>
            <a:ext cx="190200" cy="190200"/>
          </a:xfrm>
          <a:prstGeom prst="ellipse">
            <a:avLst/>
          </a:prstGeom>
          <a:solidFill>
            <a:srgbClr val="F5F6FA"/>
          </a:solidFill>
          <a:ln cap="flat" cmpd="sng" w="6600">
            <a:solidFill>
              <a:srgbClr val="6C8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g3f9709021b8_0_121"/>
          <p:cNvSpPr/>
          <p:nvPr/>
        </p:nvSpPr>
        <p:spPr>
          <a:xfrm>
            <a:off x="778404" y="1469268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0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g3f9709021b8_0_121"/>
          <p:cNvSpPr/>
          <p:nvPr/>
        </p:nvSpPr>
        <p:spPr>
          <a:xfrm>
            <a:off x="838946" y="1326494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g3f9709021b8_0_121"/>
          <p:cNvSpPr/>
          <p:nvPr/>
        </p:nvSpPr>
        <p:spPr>
          <a:xfrm>
            <a:off x="1686541" y="1404371"/>
            <a:ext cx="190200" cy="190200"/>
          </a:xfrm>
          <a:prstGeom prst="ellipse">
            <a:avLst/>
          </a:prstGeom>
          <a:solidFill>
            <a:srgbClr val="F5F6FA"/>
          </a:solidFill>
          <a:ln cap="flat" cmpd="sng" w="6600">
            <a:solidFill>
              <a:srgbClr val="6C8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g3f9709021b8_0_121"/>
          <p:cNvSpPr/>
          <p:nvPr/>
        </p:nvSpPr>
        <p:spPr>
          <a:xfrm>
            <a:off x="1686541" y="1469268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0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g3f9709021b8_0_121"/>
          <p:cNvSpPr/>
          <p:nvPr/>
        </p:nvSpPr>
        <p:spPr>
          <a:xfrm>
            <a:off x="1747084" y="1326494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f9709021b8_0_121"/>
          <p:cNvSpPr/>
          <p:nvPr/>
        </p:nvSpPr>
        <p:spPr>
          <a:xfrm>
            <a:off x="528666" y="1831393"/>
            <a:ext cx="190200" cy="190200"/>
          </a:xfrm>
          <a:prstGeom prst="ellipse">
            <a:avLst/>
          </a:prstGeom>
          <a:solidFill>
            <a:srgbClr val="F5F6FA"/>
          </a:solidFill>
          <a:ln cap="flat" cmpd="sng" w="6600">
            <a:solidFill>
              <a:srgbClr val="6C8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9" name="Google Shape;749;g3f9709021b8_0_121"/>
          <p:cNvSpPr/>
          <p:nvPr/>
        </p:nvSpPr>
        <p:spPr>
          <a:xfrm>
            <a:off x="528666" y="1896290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0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g3f9709021b8_0_121"/>
          <p:cNvSpPr/>
          <p:nvPr/>
        </p:nvSpPr>
        <p:spPr>
          <a:xfrm>
            <a:off x="589208" y="1753517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g3f9709021b8_0_121"/>
          <p:cNvSpPr/>
          <p:nvPr/>
        </p:nvSpPr>
        <p:spPr>
          <a:xfrm>
            <a:off x="1028142" y="1831393"/>
            <a:ext cx="190200" cy="190200"/>
          </a:xfrm>
          <a:prstGeom prst="ellipse">
            <a:avLst/>
          </a:prstGeom>
          <a:solidFill>
            <a:srgbClr val="F5F6FA"/>
          </a:solidFill>
          <a:ln cap="flat" cmpd="sng" w="6600">
            <a:solidFill>
              <a:srgbClr val="6C8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g3f9709021b8_0_121"/>
          <p:cNvSpPr/>
          <p:nvPr/>
        </p:nvSpPr>
        <p:spPr>
          <a:xfrm>
            <a:off x="1028142" y="1896290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0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g3f9709021b8_0_121"/>
          <p:cNvSpPr/>
          <p:nvPr/>
        </p:nvSpPr>
        <p:spPr>
          <a:xfrm>
            <a:off x="1088684" y="1753517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g3f9709021b8_0_121"/>
          <p:cNvSpPr/>
          <p:nvPr/>
        </p:nvSpPr>
        <p:spPr>
          <a:xfrm>
            <a:off x="2183855" y="713867"/>
            <a:ext cx="1405500" cy="886800"/>
          </a:xfrm>
          <a:prstGeom prst="roundRect">
            <a:avLst>
              <a:gd fmla="val 2927" name="adj"/>
            </a:avLst>
          </a:prstGeom>
          <a:solidFill>
            <a:srgbClr val="EAF2FF"/>
          </a:solidFill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g3f9709021b8_0_121"/>
          <p:cNvSpPr/>
          <p:nvPr/>
        </p:nvSpPr>
        <p:spPr>
          <a:xfrm>
            <a:off x="2283318" y="804723"/>
            <a:ext cx="12108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g3f9709021b8_0_121"/>
          <p:cNvSpPr/>
          <p:nvPr/>
        </p:nvSpPr>
        <p:spPr>
          <a:xfrm>
            <a:off x="2313589" y="973455"/>
            <a:ext cx="11460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" lIns="175" spcFirstLastPara="1" rIns="175" wrap="square" tIns="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Insert 10 at index 1. The heap was empty, so no swap is needed.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g3f9709021b8_0_121"/>
          <p:cNvSpPr/>
          <p:nvPr/>
        </p:nvSpPr>
        <p:spPr>
          <a:xfrm>
            <a:off x="2183855" y="1730587"/>
            <a:ext cx="1405500" cy="822000"/>
          </a:xfrm>
          <a:prstGeom prst="roundRect">
            <a:avLst>
              <a:gd fmla="val 3158" name="adj"/>
            </a:avLst>
          </a:prstGeom>
          <a:solidFill>
            <a:srgbClr val="FFFFFF"/>
          </a:solidFill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58" name="Google Shape;758;g3f9709021b8_0_121"/>
          <p:cNvSpPr/>
          <p:nvPr/>
        </p:nvSpPr>
        <p:spPr>
          <a:xfrm>
            <a:off x="2283318" y="1795484"/>
            <a:ext cx="12108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Heap Array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g3f9709021b8_0_121"/>
          <p:cNvSpPr/>
          <p:nvPr/>
        </p:nvSpPr>
        <p:spPr>
          <a:xfrm>
            <a:off x="2257371" y="1920951"/>
            <a:ext cx="1254000" cy="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1-based index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g3f9709021b8_0_121"/>
          <p:cNvSpPr/>
          <p:nvPr/>
        </p:nvSpPr>
        <p:spPr>
          <a:xfrm>
            <a:off x="2257371" y="2042092"/>
            <a:ext cx="216300" cy="121200"/>
          </a:xfrm>
          <a:prstGeom prst="rect">
            <a:avLst/>
          </a:prstGeom>
          <a:solidFill>
            <a:srgbClr val="F6FFF6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g3f9709021b8_0_121"/>
          <p:cNvSpPr/>
          <p:nvPr/>
        </p:nvSpPr>
        <p:spPr>
          <a:xfrm>
            <a:off x="2473594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g3f9709021b8_0_121"/>
          <p:cNvSpPr/>
          <p:nvPr/>
        </p:nvSpPr>
        <p:spPr>
          <a:xfrm>
            <a:off x="2646573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g3f9709021b8_0_121"/>
          <p:cNvSpPr/>
          <p:nvPr/>
        </p:nvSpPr>
        <p:spPr>
          <a:xfrm>
            <a:off x="2819551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g3f9709021b8_0_121"/>
          <p:cNvSpPr/>
          <p:nvPr/>
        </p:nvSpPr>
        <p:spPr>
          <a:xfrm>
            <a:off x="2992530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g3f9709021b8_0_121"/>
          <p:cNvSpPr/>
          <p:nvPr/>
        </p:nvSpPr>
        <p:spPr>
          <a:xfrm>
            <a:off x="3165509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g3f9709021b8_0_121"/>
          <p:cNvSpPr/>
          <p:nvPr/>
        </p:nvSpPr>
        <p:spPr>
          <a:xfrm>
            <a:off x="3338487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g3f9709021b8_0_121"/>
          <p:cNvSpPr/>
          <p:nvPr/>
        </p:nvSpPr>
        <p:spPr>
          <a:xfrm>
            <a:off x="2257371" y="2163233"/>
            <a:ext cx="216300" cy="121200"/>
          </a:xfrm>
          <a:prstGeom prst="rect">
            <a:avLst/>
          </a:prstGeom>
          <a:solidFill>
            <a:srgbClr val="F6FFF6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g3f9709021b8_0_121"/>
          <p:cNvSpPr/>
          <p:nvPr/>
        </p:nvSpPr>
        <p:spPr>
          <a:xfrm>
            <a:off x="2473594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g3f9709021b8_0_121"/>
          <p:cNvSpPr/>
          <p:nvPr/>
        </p:nvSpPr>
        <p:spPr>
          <a:xfrm>
            <a:off x="2646573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g3f9709021b8_0_121"/>
          <p:cNvSpPr/>
          <p:nvPr/>
        </p:nvSpPr>
        <p:spPr>
          <a:xfrm>
            <a:off x="2819551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g3f9709021b8_0_121"/>
          <p:cNvSpPr/>
          <p:nvPr/>
        </p:nvSpPr>
        <p:spPr>
          <a:xfrm>
            <a:off x="2992530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g3f9709021b8_0_121"/>
          <p:cNvSpPr/>
          <p:nvPr/>
        </p:nvSpPr>
        <p:spPr>
          <a:xfrm>
            <a:off x="3165509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g3f9709021b8_0_121"/>
          <p:cNvSpPr/>
          <p:nvPr/>
        </p:nvSpPr>
        <p:spPr>
          <a:xfrm>
            <a:off x="3338487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g3f9709021b8_0_121"/>
          <p:cNvSpPr/>
          <p:nvPr/>
        </p:nvSpPr>
        <p:spPr>
          <a:xfrm>
            <a:off x="3775258" y="713867"/>
            <a:ext cx="1773000" cy="2119800"/>
          </a:xfrm>
          <a:prstGeom prst="roundRect">
            <a:avLst>
              <a:gd fmla="val 1463" name="adj"/>
            </a:avLst>
          </a:prstGeom>
          <a:solidFill>
            <a:srgbClr val="FFFDF8"/>
          </a:solidFill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g3f9709021b8_0_121"/>
          <p:cNvSpPr/>
          <p:nvPr/>
        </p:nvSpPr>
        <p:spPr>
          <a:xfrm>
            <a:off x="3892019" y="787417"/>
            <a:ext cx="15351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Simulation Notes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g3f9709021b8_0_121"/>
          <p:cNvSpPr/>
          <p:nvPr/>
        </p:nvSpPr>
        <p:spPr>
          <a:xfrm>
            <a:off x="4000130" y="1047005"/>
            <a:ext cx="12972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No swap is required.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g3f9709021b8_0_121"/>
          <p:cNvSpPr/>
          <p:nvPr/>
        </p:nvSpPr>
        <p:spPr>
          <a:xfrm>
            <a:off x="3913641" y="2098336"/>
            <a:ext cx="1491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Current heap: [ 10, Null, Null, Null, Null ]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g3f9709021b8_0_121"/>
          <p:cNvSpPr/>
          <p:nvPr/>
        </p:nvSpPr>
        <p:spPr>
          <a:xfrm>
            <a:off x="151356" y="3084771"/>
            <a:ext cx="5362200" cy="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1-based indexing: index 0 is unused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f9709021b8_0_186"/>
          <p:cNvSpPr/>
          <p:nvPr/>
        </p:nvSpPr>
        <p:spPr>
          <a:xfrm>
            <a:off x="151356" y="77876"/>
            <a:ext cx="54489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1200"/>
              <a:buFont typeface="Play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Step 2: Insert 30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5" name="Google Shape;785;g3f9709021b8_0_186"/>
          <p:cNvCxnSpPr/>
          <p:nvPr/>
        </p:nvCxnSpPr>
        <p:spPr>
          <a:xfrm>
            <a:off x="151356" y="441300"/>
            <a:ext cx="5470500" cy="0"/>
          </a:xfrm>
          <a:prstGeom prst="straightConnector1">
            <a:avLst/>
          </a:prstGeom>
          <a:noFill/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6" name="Google Shape;786;g3f9709021b8_0_186"/>
          <p:cNvSpPr/>
          <p:nvPr/>
        </p:nvSpPr>
        <p:spPr>
          <a:xfrm>
            <a:off x="229197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DFF0D8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87" name="Google Shape;787;g3f9709021b8_0_186"/>
          <p:cNvSpPr/>
          <p:nvPr/>
        </p:nvSpPr>
        <p:spPr>
          <a:xfrm>
            <a:off x="229197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0 Empty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g3f9709021b8_0_186"/>
          <p:cNvSpPr/>
          <p:nvPr/>
        </p:nvSpPr>
        <p:spPr>
          <a:xfrm>
            <a:off x="1115712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DFF0D8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89" name="Google Shape;789;g3f9709021b8_0_186"/>
          <p:cNvSpPr/>
          <p:nvPr/>
        </p:nvSpPr>
        <p:spPr>
          <a:xfrm>
            <a:off x="1115712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1 Insert 10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g3f9709021b8_0_186"/>
          <p:cNvSpPr/>
          <p:nvPr/>
        </p:nvSpPr>
        <p:spPr>
          <a:xfrm>
            <a:off x="2002227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0E4AA8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91" name="Google Shape;791;g3f9709021b8_0_186"/>
          <p:cNvSpPr/>
          <p:nvPr/>
        </p:nvSpPr>
        <p:spPr>
          <a:xfrm>
            <a:off x="2002227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Insert 30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g3f9709021b8_0_186"/>
          <p:cNvSpPr/>
          <p:nvPr/>
        </p:nvSpPr>
        <p:spPr>
          <a:xfrm>
            <a:off x="2888743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93" name="Google Shape;793;g3f9709021b8_0_186"/>
          <p:cNvSpPr/>
          <p:nvPr/>
        </p:nvSpPr>
        <p:spPr>
          <a:xfrm>
            <a:off x="2888743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3 Insert 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g3f9709021b8_0_186"/>
          <p:cNvSpPr/>
          <p:nvPr/>
        </p:nvSpPr>
        <p:spPr>
          <a:xfrm>
            <a:off x="3775258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95" name="Google Shape;795;g3f9709021b8_0_186"/>
          <p:cNvSpPr/>
          <p:nvPr/>
        </p:nvSpPr>
        <p:spPr>
          <a:xfrm>
            <a:off x="3775258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4 Insert 70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g3f9709021b8_0_186"/>
          <p:cNvSpPr/>
          <p:nvPr/>
        </p:nvSpPr>
        <p:spPr>
          <a:xfrm>
            <a:off x="4661774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97" name="Google Shape;797;g3f9709021b8_0_186"/>
          <p:cNvSpPr/>
          <p:nvPr/>
        </p:nvSpPr>
        <p:spPr>
          <a:xfrm>
            <a:off x="4661774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5 Insert 100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g3f9709021b8_0_186"/>
          <p:cNvSpPr/>
          <p:nvPr/>
        </p:nvSpPr>
        <p:spPr>
          <a:xfrm>
            <a:off x="207574" y="713867"/>
            <a:ext cx="1794600" cy="2119800"/>
          </a:xfrm>
          <a:prstGeom prst="roundRect">
            <a:avLst>
              <a:gd fmla="val 1446" name="adj"/>
            </a:avLst>
          </a:prstGeom>
          <a:solidFill>
            <a:srgbClr val="FFFFFF"/>
          </a:solidFill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g3f9709021b8_0_186"/>
          <p:cNvSpPr/>
          <p:nvPr/>
        </p:nvSpPr>
        <p:spPr>
          <a:xfrm>
            <a:off x="302713" y="787417"/>
            <a:ext cx="16002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Tree Representation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0" name="Google Shape;800;g3f9709021b8_0_186"/>
          <p:cNvCxnSpPr/>
          <p:nvPr/>
        </p:nvCxnSpPr>
        <p:spPr>
          <a:xfrm flipH="1">
            <a:off x="873711" y="1176799"/>
            <a:ext cx="453900" cy="4092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1" name="Google Shape;801;g3f9709021b8_0_186"/>
          <p:cNvCxnSpPr/>
          <p:nvPr/>
        </p:nvCxnSpPr>
        <p:spPr>
          <a:xfrm>
            <a:off x="1327611" y="1176799"/>
            <a:ext cx="453900" cy="4092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2" name="Google Shape;802;g3f9709021b8_0_186"/>
          <p:cNvCxnSpPr/>
          <p:nvPr/>
        </p:nvCxnSpPr>
        <p:spPr>
          <a:xfrm flipH="1">
            <a:off x="623942" y="1594735"/>
            <a:ext cx="249600" cy="4182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3" name="Google Shape;803;g3f9709021b8_0_186"/>
          <p:cNvCxnSpPr/>
          <p:nvPr/>
        </p:nvCxnSpPr>
        <p:spPr>
          <a:xfrm>
            <a:off x="873542" y="1594735"/>
            <a:ext cx="249600" cy="4182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4" name="Google Shape;804;g3f9709021b8_0_186"/>
          <p:cNvSpPr/>
          <p:nvPr/>
        </p:nvSpPr>
        <p:spPr>
          <a:xfrm>
            <a:off x="1232473" y="986434"/>
            <a:ext cx="190200" cy="190200"/>
          </a:xfrm>
          <a:prstGeom prst="ellipse">
            <a:avLst/>
          </a:prstGeom>
          <a:solidFill>
            <a:srgbClr val="DFF0D8"/>
          </a:solidFill>
          <a:ln cap="flat" cmpd="sng" w="6600">
            <a:solidFill>
              <a:srgbClr val="207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05" name="Google Shape;805;g3f9709021b8_0_186"/>
          <p:cNvSpPr/>
          <p:nvPr/>
        </p:nvSpPr>
        <p:spPr>
          <a:xfrm>
            <a:off x="1232473" y="1051331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g3f9709021b8_0_186"/>
          <p:cNvSpPr/>
          <p:nvPr/>
        </p:nvSpPr>
        <p:spPr>
          <a:xfrm>
            <a:off x="1293015" y="908558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g3f9709021b8_0_186"/>
          <p:cNvSpPr/>
          <p:nvPr/>
        </p:nvSpPr>
        <p:spPr>
          <a:xfrm>
            <a:off x="778404" y="1404371"/>
            <a:ext cx="190200" cy="190200"/>
          </a:xfrm>
          <a:prstGeom prst="ellipse">
            <a:avLst/>
          </a:prstGeom>
          <a:solidFill>
            <a:srgbClr val="DFF0D8"/>
          </a:solidFill>
          <a:ln cap="flat" cmpd="sng" w="6600">
            <a:solidFill>
              <a:srgbClr val="207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g3f9709021b8_0_186"/>
          <p:cNvSpPr/>
          <p:nvPr/>
        </p:nvSpPr>
        <p:spPr>
          <a:xfrm>
            <a:off x="778404" y="1469268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g3f9709021b8_0_186"/>
          <p:cNvSpPr/>
          <p:nvPr/>
        </p:nvSpPr>
        <p:spPr>
          <a:xfrm>
            <a:off x="838946" y="1326494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g3f9709021b8_0_186"/>
          <p:cNvSpPr/>
          <p:nvPr/>
        </p:nvSpPr>
        <p:spPr>
          <a:xfrm>
            <a:off x="1686541" y="1404371"/>
            <a:ext cx="190200" cy="190200"/>
          </a:xfrm>
          <a:prstGeom prst="ellipse">
            <a:avLst/>
          </a:prstGeom>
          <a:solidFill>
            <a:srgbClr val="F5F6FA"/>
          </a:solidFill>
          <a:ln cap="flat" cmpd="sng" w="6600">
            <a:solidFill>
              <a:srgbClr val="6C8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g3f9709021b8_0_186"/>
          <p:cNvSpPr/>
          <p:nvPr/>
        </p:nvSpPr>
        <p:spPr>
          <a:xfrm>
            <a:off x="1686541" y="1469268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0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g3f9709021b8_0_186"/>
          <p:cNvSpPr/>
          <p:nvPr/>
        </p:nvSpPr>
        <p:spPr>
          <a:xfrm>
            <a:off x="1747084" y="1326494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g3f9709021b8_0_186"/>
          <p:cNvSpPr/>
          <p:nvPr/>
        </p:nvSpPr>
        <p:spPr>
          <a:xfrm>
            <a:off x="528666" y="1831393"/>
            <a:ext cx="190200" cy="190200"/>
          </a:xfrm>
          <a:prstGeom prst="ellipse">
            <a:avLst/>
          </a:prstGeom>
          <a:solidFill>
            <a:srgbClr val="F5F6FA"/>
          </a:solidFill>
          <a:ln cap="flat" cmpd="sng" w="6600">
            <a:solidFill>
              <a:srgbClr val="6C8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g3f9709021b8_0_186"/>
          <p:cNvSpPr/>
          <p:nvPr/>
        </p:nvSpPr>
        <p:spPr>
          <a:xfrm>
            <a:off x="528666" y="1896290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0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g3f9709021b8_0_186"/>
          <p:cNvSpPr/>
          <p:nvPr/>
        </p:nvSpPr>
        <p:spPr>
          <a:xfrm>
            <a:off x="589208" y="1753517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g3f9709021b8_0_186"/>
          <p:cNvSpPr/>
          <p:nvPr/>
        </p:nvSpPr>
        <p:spPr>
          <a:xfrm>
            <a:off x="1028142" y="1831393"/>
            <a:ext cx="190200" cy="190200"/>
          </a:xfrm>
          <a:prstGeom prst="ellipse">
            <a:avLst/>
          </a:prstGeom>
          <a:solidFill>
            <a:srgbClr val="F5F6FA"/>
          </a:solidFill>
          <a:ln cap="flat" cmpd="sng" w="6600">
            <a:solidFill>
              <a:srgbClr val="6C8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g3f9709021b8_0_186"/>
          <p:cNvSpPr/>
          <p:nvPr/>
        </p:nvSpPr>
        <p:spPr>
          <a:xfrm>
            <a:off x="1028142" y="1896290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0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g3f9709021b8_0_186"/>
          <p:cNvSpPr/>
          <p:nvPr/>
        </p:nvSpPr>
        <p:spPr>
          <a:xfrm>
            <a:off x="1088684" y="1753517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g3f9709021b8_0_186"/>
          <p:cNvSpPr/>
          <p:nvPr/>
        </p:nvSpPr>
        <p:spPr>
          <a:xfrm>
            <a:off x="2183855" y="713867"/>
            <a:ext cx="1405500" cy="886800"/>
          </a:xfrm>
          <a:prstGeom prst="roundRect">
            <a:avLst>
              <a:gd fmla="val 2927" name="adj"/>
            </a:avLst>
          </a:prstGeom>
          <a:solidFill>
            <a:srgbClr val="EAF2FF"/>
          </a:solidFill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g3f9709021b8_0_186"/>
          <p:cNvSpPr/>
          <p:nvPr/>
        </p:nvSpPr>
        <p:spPr>
          <a:xfrm>
            <a:off x="2283318" y="804723"/>
            <a:ext cx="12108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g3f9709021b8_0_186"/>
          <p:cNvSpPr/>
          <p:nvPr/>
        </p:nvSpPr>
        <p:spPr>
          <a:xfrm>
            <a:off x="2313589" y="973455"/>
            <a:ext cx="11460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" lIns="175" spcFirstLastPara="1" rIns="175" wrap="square" tIns="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0" i="0" lang="en-US" sz="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Insert 30 at index 2. Since 30 &gt; 10, swim 30 up by swapping with its parent.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g3f9709021b8_0_186"/>
          <p:cNvSpPr/>
          <p:nvPr/>
        </p:nvSpPr>
        <p:spPr>
          <a:xfrm>
            <a:off x="2183855" y="1730587"/>
            <a:ext cx="1405500" cy="822000"/>
          </a:xfrm>
          <a:prstGeom prst="roundRect">
            <a:avLst>
              <a:gd fmla="val 3158" name="adj"/>
            </a:avLst>
          </a:prstGeom>
          <a:solidFill>
            <a:srgbClr val="FFFFFF"/>
          </a:solidFill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23" name="Google Shape;823;g3f9709021b8_0_186"/>
          <p:cNvSpPr/>
          <p:nvPr/>
        </p:nvSpPr>
        <p:spPr>
          <a:xfrm>
            <a:off x="2283318" y="1795484"/>
            <a:ext cx="12108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Heap Array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g3f9709021b8_0_186"/>
          <p:cNvSpPr/>
          <p:nvPr/>
        </p:nvSpPr>
        <p:spPr>
          <a:xfrm>
            <a:off x="2257371" y="1920951"/>
            <a:ext cx="1254000" cy="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1-based index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g3f9709021b8_0_186"/>
          <p:cNvSpPr/>
          <p:nvPr/>
        </p:nvSpPr>
        <p:spPr>
          <a:xfrm>
            <a:off x="2257371" y="2042092"/>
            <a:ext cx="216300" cy="121200"/>
          </a:xfrm>
          <a:prstGeom prst="rect">
            <a:avLst/>
          </a:prstGeom>
          <a:solidFill>
            <a:srgbClr val="F6FFF6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g3f9709021b8_0_186"/>
          <p:cNvSpPr/>
          <p:nvPr/>
        </p:nvSpPr>
        <p:spPr>
          <a:xfrm>
            <a:off x="2473594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g3f9709021b8_0_186"/>
          <p:cNvSpPr/>
          <p:nvPr/>
        </p:nvSpPr>
        <p:spPr>
          <a:xfrm>
            <a:off x="2646573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g3f9709021b8_0_186"/>
          <p:cNvSpPr/>
          <p:nvPr/>
        </p:nvSpPr>
        <p:spPr>
          <a:xfrm>
            <a:off x="2819551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g3f9709021b8_0_186"/>
          <p:cNvSpPr/>
          <p:nvPr/>
        </p:nvSpPr>
        <p:spPr>
          <a:xfrm>
            <a:off x="2992530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g3f9709021b8_0_186"/>
          <p:cNvSpPr/>
          <p:nvPr/>
        </p:nvSpPr>
        <p:spPr>
          <a:xfrm>
            <a:off x="3165509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g3f9709021b8_0_186"/>
          <p:cNvSpPr/>
          <p:nvPr/>
        </p:nvSpPr>
        <p:spPr>
          <a:xfrm>
            <a:off x="3338487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g3f9709021b8_0_186"/>
          <p:cNvSpPr/>
          <p:nvPr/>
        </p:nvSpPr>
        <p:spPr>
          <a:xfrm>
            <a:off x="2257371" y="2163233"/>
            <a:ext cx="216300" cy="121200"/>
          </a:xfrm>
          <a:prstGeom prst="rect">
            <a:avLst/>
          </a:prstGeom>
          <a:solidFill>
            <a:srgbClr val="F6FFF6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g3f9709021b8_0_186"/>
          <p:cNvSpPr/>
          <p:nvPr/>
        </p:nvSpPr>
        <p:spPr>
          <a:xfrm>
            <a:off x="2473594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g3f9709021b8_0_186"/>
          <p:cNvSpPr/>
          <p:nvPr/>
        </p:nvSpPr>
        <p:spPr>
          <a:xfrm>
            <a:off x="2646573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g3f9709021b8_0_186"/>
          <p:cNvSpPr/>
          <p:nvPr/>
        </p:nvSpPr>
        <p:spPr>
          <a:xfrm>
            <a:off x="2819551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g3f9709021b8_0_186"/>
          <p:cNvSpPr/>
          <p:nvPr/>
        </p:nvSpPr>
        <p:spPr>
          <a:xfrm>
            <a:off x="2992530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g3f9709021b8_0_186"/>
          <p:cNvSpPr/>
          <p:nvPr/>
        </p:nvSpPr>
        <p:spPr>
          <a:xfrm>
            <a:off x="3165509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g3f9709021b8_0_186"/>
          <p:cNvSpPr/>
          <p:nvPr/>
        </p:nvSpPr>
        <p:spPr>
          <a:xfrm>
            <a:off x="3338487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g3f9709021b8_0_186"/>
          <p:cNvSpPr/>
          <p:nvPr/>
        </p:nvSpPr>
        <p:spPr>
          <a:xfrm>
            <a:off x="3775258" y="713867"/>
            <a:ext cx="1773000" cy="2119800"/>
          </a:xfrm>
          <a:prstGeom prst="roundRect">
            <a:avLst>
              <a:gd fmla="val 1463" name="adj"/>
            </a:avLst>
          </a:prstGeom>
          <a:solidFill>
            <a:srgbClr val="FFFDF8"/>
          </a:solidFill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40" name="Google Shape;840;g3f9709021b8_0_186"/>
          <p:cNvSpPr/>
          <p:nvPr/>
        </p:nvSpPr>
        <p:spPr>
          <a:xfrm>
            <a:off x="3892019" y="787417"/>
            <a:ext cx="15351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Simulation Notes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g3f9709021b8_0_186"/>
          <p:cNvSpPr/>
          <p:nvPr/>
        </p:nvSpPr>
        <p:spPr>
          <a:xfrm>
            <a:off x="3892019" y="995087"/>
            <a:ext cx="120900" cy="121200"/>
          </a:xfrm>
          <a:prstGeom prst="chevron">
            <a:avLst>
              <a:gd fmla="val 50000" name="adj"/>
            </a:avLst>
          </a:prstGeom>
          <a:solidFill>
            <a:srgbClr val="D81E1E"/>
          </a:solidFill>
          <a:ln cap="flat" cmpd="sng" w="6000">
            <a:solidFill>
              <a:srgbClr val="D8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42" name="Google Shape;842;g3f9709021b8_0_186"/>
          <p:cNvSpPr/>
          <p:nvPr/>
        </p:nvSpPr>
        <p:spPr>
          <a:xfrm>
            <a:off x="4056348" y="1003740"/>
            <a:ext cx="12972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Swap 30 with 10.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g3f9709021b8_0_186"/>
          <p:cNvSpPr/>
          <p:nvPr/>
        </p:nvSpPr>
        <p:spPr>
          <a:xfrm>
            <a:off x="3913641" y="2098336"/>
            <a:ext cx="1491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Current heap: </a:t>
            </a:r>
            <a:br>
              <a:rPr b="1" i="0" lang="en-US" sz="8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8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[ 30, 10, Null, Null, Null ]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g3f9709021b8_0_186"/>
          <p:cNvSpPr/>
          <p:nvPr/>
        </p:nvSpPr>
        <p:spPr>
          <a:xfrm>
            <a:off x="151356" y="3084771"/>
            <a:ext cx="5362200" cy="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1-based indexing: index 0 is unused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f9709021b8_0_252"/>
          <p:cNvSpPr/>
          <p:nvPr/>
        </p:nvSpPr>
        <p:spPr>
          <a:xfrm>
            <a:off x="151356" y="77876"/>
            <a:ext cx="54489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1200"/>
              <a:buFont typeface="Play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Step 3: Insert 4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1" name="Google Shape;851;g3f9709021b8_0_252"/>
          <p:cNvCxnSpPr/>
          <p:nvPr/>
        </p:nvCxnSpPr>
        <p:spPr>
          <a:xfrm>
            <a:off x="151356" y="441300"/>
            <a:ext cx="5470500" cy="0"/>
          </a:xfrm>
          <a:prstGeom prst="straightConnector1">
            <a:avLst/>
          </a:prstGeom>
          <a:noFill/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2" name="Google Shape;852;g3f9709021b8_0_252"/>
          <p:cNvSpPr/>
          <p:nvPr/>
        </p:nvSpPr>
        <p:spPr>
          <a:xfrm>
            <a:off x="229197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DFF0D8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53" name="Google Shape;853;g3f9709021b8_0_252"/>
          <p:cNvSpPr/>
          <p:nvPr/>
        </p:nvSpPr>
        <p:spPr>
          <a:xfrm>
            <a:off x="229197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0 Empty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g3f9709021b8_0_252"/>
          <p:cNvSpPr/>
          <p:nvPr/>
        </p:nvSpPr>
        <p:spPr>
          <a:xfrm>
            <a:off x="1115712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DFF0D8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55" name="Google Shape;855;g3f9709021b8_0_252"/>
          <p:cNvSpPr/>
          <p:nvPr/>
        </p:nvSpPr>
        <p:spPr>
          <a:xfrm>
            <a:off x="1115712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1 Insert 10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g3f9709021b8_0_252"/>
          <p:cNvSpPr/>
          <p:nvPr/>
        </p:nvSpPr>
        <p:spPr>
          <a:xfrm>
            <a:off x="2002227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DFF0D8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57" name="Google Shape;857;g3f9709021b8_0_252"/>
          <p:cNvSpPr/>
          <p:nvPr/>
        </p:nvSpPr>
        <p:spPr>
          <a:xfrm>
            <a:off x="2002227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2 Insert 30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g3f9709021b8_0_252"/>
          <p:cNvSpPr/>
          <p:nvPr/>
        </p:nvSpPr>
        <p:spPr>
          <a:xfrm>
            <a:off x="2888743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0E4AA8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59" name="Google Shape;859;g3f9709021b8_0_252"/>
          <p:cNvSpPr/>
          <p:nvPr/>
        </p:nvSpPr>
        <p:spPr>
          <a:xfrm>
            <a:off x="2888743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Insert 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g3f9709021b8_0_252"/>
          <p:cNvSpPr/>
          <p:nvPr/>
        </p:nvSpPr>
        <p:spPr>
          <a:xfrm>
            <a:off x="3775258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61" name="Google Shape;861;g3f9709021b8_0_252"/>
          <p:cNvSpPr/>
          <p:nvPr/>
        </p:nvSpPr>
        <p:spPr>
          <a:xfrm>
            <a:off x="3775258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4 Insert 70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g3f9709021b8_0_252"/>
          <p:cNvSpPr/>
          <p:nvPr/>
        </p:nvSpPr>
        <p:spPr>
          <a:xfrm>
            <a:off x="4661774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63" name="Google Shape;863;g3f9709021b8_0_252"/>
          <p:cNvSpPr/>
          <p:nvPr/>
        </p:nvSpPr>
        <p:spPr>
          <a:xfrm>
            <a:off x="4661774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5 Insert 100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g3f9709021b8_0_252"/>
          <p:cNvSpPr/>
          <p:nvPr/>
        </p:nvSpPr>
        <p:spPr>
          <a:xfrm>
            <a:off x="207574" y="713867"/>
            <a:ext cx="1794600" cy="2119800"/>
          </a:xfrm>
          <a:prstGeom prst="roundRect">
            <a:avLst>
              <a:gd fmla="val 1446" name="adj"/>
            </a:avLst>
          </a:prstGeom>
          <a:solidFill>
            <a:srgbClr val="FFFFFF"/>
          </a:solidFill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g3f9709021b8_0_252"/>
          <p:cNvSpPr/>
          <p:nvPr/>
        </p:nvSpPr>
        <p:spPr>
          <a:xfrm>
            <a:off x="302713" y="787417"/>
            <a:ext cx="16002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Tree Representation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6" name="Google Shape;866;g3f9709021b8_0_252"/>
          <p:cNvCxnSpPr/>
          <p:nvPr/>
        </p:nvCxnSpPr>
        <p:spPr>
          <a:xfrm flipH="1">
            <a:off x="873711" y="1176799"/>
            <a:ext cx="453900" cy="4092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7" name="Google Shape;867;g3f9709021b8_0_252"/>
          <p:cNvCxnSpPr/>
          <p:nvPr/>
        </p:nvCxnSpPr>
        <p:spPr>
          <a:xfrm>
            <a:off x="1327611" y="1176799"/>
            <a:ext cx="453900" cy="4092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8" name="Google Shape;868;g3f9709021b8_0_252"/>
          <p:cNvCxnSpPr/>
          <p:nvPr/>
        </p:nvCxnSpPr>
        <p:spPr>
          <a:xfrm flipH="1">
            <a:off x="623942" y="1594735"/>
            <a:ext cx="249600" cy="4182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9" name="Google Shape;869;g3f9709021b8_0_252"/>
          <p:cNvCxnSpPr/>
          <p:nvPr/>
        </p:nvCxnSpPr>
        <p:spPr>
          <a:xfrm>
            <a:off x="873542" y="1594735"/>
            <a:ext cx="249600" cy="4182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0" name="Google Shape;870;g3f9709021b8_0_252"/>
          <p:cNvSpPr/>
          <p:nvPr/>
        </p:nvSpPr>
        <p:spPr>
          <a:xfrm>
            <a:off x="1232473" y="986434"/>
            <a:ext cx="190200" cy="190200"/>
          </a:xfrm>
          <a:prstGeom prst="ellipse">
            <a:avLst/>
          </a:prstGeom>
          <a:solidFill>
            <a:srgbClr val="DDEFD6"/>
          </a:solidFill>
          <a:ln cap="flat" cmpd="sng" w="6600">
            <a:solidFill>
              <a:srgbClr val="6C8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g3f9709021b8_0_252"/>
          <p:cNvSpPr/>
          <p:nvPr/>
        </p:nvSpPr>
        <p:spPr>
          <a:xfrm>
            <a:off x="1232473" y="1051331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g3f9709021b8_0_252"/>
          <p:cNvSpPr/>
          <p:nvPr/>
        </p:nvSpPr>
        <p:spPr>
          <a:xfrm>
            <a:off x="1293015" y="908558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g3f9709021b8_0_252"/>
          <p:cNvSpPr/>
          <p:nvPr/>
        </p:nvSpPr>
        <p:spPr>
          <a:xfrm>
            <a:off x="778404" y="1404371"/>
            <a:ext cx="190200" cy="190200"/>
          </a:xfrm>
          <a:prstGeom prst="ellipse">
            <a:avLst/>
          </a:prstGeom>
          <a:solidFill>
            <a:srgbClr val="DDEFD6"/>
          </a:solidFill>
          <a:ln cap="flat" cmpd="sng" w="6600">
            <a:solidFill>
              <a:srgbClr val="6C8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g3f9709021b8_0_252"/>
          <p:cNvSpPr/>
          <p:nvPr/>
        </p:nvSpPr>
        <p:spPr>
          <a:xfrm>
            <a:off x="778404" y="1469268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g3f9709021b8_0_252"/>
          <p:cNvSpPr/>
          <p:nvPr/>
        </p:nvSpPr>
        <p:spPr>
          <a:xfrm>
            <a:off x="838946" y="1326494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g3f9709021b8_0_252"/>
          <p:cNvSpPr/>
          <p:nvPr/>
        </p:nvSpPr>
        <p:spPr>
          <a:xfrm>
            <a:off x="1686541" y="1404371"/>
            <a:ext cx="190200" cy="190200"/>
          </a:xfrm>
          <a:prstGeom prst="ellipse">
            <a:avLst/>
          </a:prstGeom>
          <a:solidFill>
            <a:srgbClr val="DFF0D8"/>
          </a:solidFill>
          <a:ln cap="flat" cmpd="sng" w="6600">
            <a:solidFill>
              <a:srgbClr val="207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g3f9709021b8_0_252"/>
          <p:cNvSpPr/>
          <p:nvPr/>
        </p:nvSpPr>
        <p:spPr>
          <a:xfrm>
            <a:off x="1686541" y="1469268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g3f9709021b8_0_252"/>
          <p:cNvSpPr/>
          <p:nvPr/>
        </p:nvSpPr>
        <p:spPr>
          <a:xfrm>
            <a:off x="1747084" y="1326494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g3f9709021b8_0_252"/>
          <p:cNvSpPr/>
          <p:nvPr/>
        </p:nvSpPr>
        <p:spPr>
          <a:xfrm>
            <a:off x="528666" y="1831393"/>
            <a:ext cx="190200" cy="190200"/>
          </a:xfrm>
          <a:prstGeom prst="ellipse">
            <a:avLst/>
          </a:prstGeom>
          <a:solidFill>
            <a:srgbClr val="F5F6FA"/>
          </a:solidFill>
          <a:ln cap="flat" cmpd="sng" w="6600">
            <a:solidFill>
              <a:srgbClr val="6C8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g3f9709021b8_0_252"/>
          <p:cNvSpPr/>
          <p:nvPr/>
        </p:nvSpPr>
        <p:spPr>
          <a:xfrm>
            <a:off x="528666" y="1896290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0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g3f9709021b8_0_252"/>
          <p:cNvSpPr/>
          <p:nvPr/>
        </p:nvSpPr>
        <p:spPr>
          <a:xfrm>
            <a:off x="589208" y="1753517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g3f9709021b8_0_252"/>
          <p:cNvSpPr/>
          <p:nvPr/>
        </p:nvSpPr>
        <p:spPr>
          <a:xfrm>
            <a:off x="1028142" y="1831393"/>
            <a:ext cx="190200" cy="190200"/>
          </a:xfrm>
          <a:prstGeom prst="ellipse">
            <a:avLst/>
          </a:prstGeom>
          <a:solidFill>
            <a:srgbClr val="F5F6FA"/>
          </a:solidFill>
          <a:ln cap="flat" cmpd="sng" w="6600">
            <a:solidFill>
              <a:srgbClr val="6C8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g3f9709021b8_0_252"/>
          <p:cNvSpPr/>
          <p:nvPr/>
        </p:nvSpPr>
        <p:spPr>
          <a:xfrm>
            <a:off x="1028142" y="1896290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0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g3f9709021b8_0_252"/>
          <p:cNvSpPr/>
          <p:nvPr/>
        </p:nvSpPr>
        <p:spPr>
          <a:xfrm>
            <a:off x="1088684" y="1753517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g3f9709021b8_0_252"/>
          <p:cNvSpPr/>
          <p:nvPr/>
        </p:nvSpPr>
        <p:spPr>
          <a:xfrm>
            <a:off x="2183855" y="713867"/>
            <a:ext cx="1405500" cy="886800"/>
          </a:xfrm>
          <a:prstGeom prst="roundRect">
            <a:avLst>
              <a:gd fmla="val 2927" name="adj"/>
            </a:avLst>
          </a:prstGeom>
          <a:solidFill>
            <a:srgbClr val="EAF2FF"/>
          </a:solidFill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86" name="Google Shape;886;g3f9709021b8_0_252"/>
          <p:cNvSpPr/>
          <p:nvPr/>
        </p:nvSpPr>
        <p:spPr>
          <a:xfrm>
            <a:off x="2283318" y="804723"/>
            <a:ext cx="12108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g3f9709021b8_0_252"/>
          <p:cNvSpPr/>
          <p:nvPr/>
        </p:nvSpPr>
        <p:spPr>
          <a:xfrm>
            <a:off x="2313589" y="973455"/>
            <a:ext cx="11460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" lIns="175" spcFirstLastPara="1" rIns="175" wrap="square" tIns="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0" i="0" lang="en-US" sz="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Insert 4 at index 3. Since 4 &lt; 30, the max heap property already holds.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g3f9709021b8_0_252"/>
          <p:cNvSpPr/>
          <p:nvPr/>
        </p:nvSpPr>
        <p:spPr>
          <a:xfrm>
            <a:off x="2183855" y="1730587"/>
            <a:ext cx="1405500" cy="822000"/>
          </a:xfrm>
          <a:prstGeom prst="roundRect">
            <a:avLst>
              <a:gd fmla="val 3158" name="adj"/>
            </a:avLst>
          </a:prstGeom>
          <a:solidFill>
            <a:srgbClr val="FFFFFF"/>
          </a:solidFill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89" name="Google Shape;889;g3f9709021b8_0_252"/>
          <p:cNvSpPr/>
          <p:nvPr/>
        </p:nvSpPr>
        <p:spPr>
          <a:xfrm>
            <a:off x="2283318" y="1795484"/>
            <a:ext cx="12108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Heap Array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g3f9709021b8_0_252"/>
          <p:cNvSpPr/>
          <p:nvPr/>
        </p:nvSpPr>
        <p:spPr>
          <a:xfrm>
            <a:off x="2257371" y="1920951"/>
            <a:ext cx="1254000" cy="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1-based index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g3f9709021b8_0_252"/>
          <p:cNvSpPr/>
          <p:nvPr/>
        </p:nvSpPr>
        <p:spPr>
          <a:xfrm>
            <a:off x="2257371" y="2042092"/>
            <a:ext cx="216300" cy="121200"/>
          </a:xfrm>
          <a:prstGeom prst="rect">
            <a:avLst/>
          </a:prstGeom>
          <a:solidFill>
            <a:srgbClr val="F6FFF6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g3f9709021b8_0_252"/>
          <p:cNvSpPr/>
          <p:nvPr/>
        </p:nvSpPr>
        <p:spPr>
          <a:xfrm>
            <a:off x="2473594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g3f9709021b8_0_252"/>
          <p:cNvSpPr/>
          <p:nvPr/>
        </p:nvSpPr>
        <p:spPr>
          <a:xfrm>
            <a:off x="2646573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g3f9709021b8_0_252"/>
          <p:cNvSpPr/>
          <p:nvPr/>
        </p:nvSpPr>
        <p:spPr>
          <a:xfrm>
            <a:off x="2819551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g3f9709021b8_0_252"/>
          <p:cNvSpPr/>
          <p:nvPr/>
        </p:nvSpPr>
        <p:spPr>
          <a:xfrm>
            <a:off x="2992530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g3f9709021b8_0_252"/>
          <p:cNvSpPr/>
          <p:nvPr/>
        </p:nvSpPr>
        <p:spPr>
          <a:xfrm>
            <a:off x="3165509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g3f9709021b8_0_252"/>
          <p:cNvSpPr/>
          <p:nvPr/>
        </p:nvSpPr>
        <p:spPr>
          <a:xfrm>
            <a:off x="3338487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g3f9709021b8_0_252"/>
          <p:cNvSpPr/>
          <p:nvPr/>
        </p:nvSpPr>
        <p:spPr>
          <a:xfrm>
            <a:off x="2257371" y="2163233"/>
            <a:ext cx="216300" cy="121200"/>
          </a:xfrm>
          <a:prstGeom prst="rect">
            <a:avLst/>
          </a:prstGeom>
          <a:solidFill>
            <a:srgbClr val="F6FFF6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g3f9709021b8_0_252"/>
          <p:cNvSpPr/>
          <p:nvPr/>
        </p:nvSpPr>
        <p:spPr>
          <a:xfrm>
            <a:off x="2473594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g3f9709021b8_0_252"/>
          <p:cNvSpPr/>
          <p:nvPr/>
        </p:nvSpPr>
        <p:spPr>
          <a:xfrm>
            <a:off x="2646573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g3f9709021b8_0_252"/>
          <p:cNvSpPr/>
          <p:nvPr/>
        </p:nvSpPr>
        <p:spPr>
          <a:xfrm>
            <a:off x="2819551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g3f9709021b8_0_252"/>
          <p:cNvSpPr/>
          <p:nvPr/>
        </p:nvSpPr>
        <p:spPr>
          <a:xfrm>
            <a:off x="2992530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g3f9709021b8_0_252"/>
          <p:cNvSpPr/>
          <p:nvPr/>
        </p:nvSpPr>
        <p:spPr>
          <a:xfrm>
            <a:off x="3165509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g3f9709021b8_0_252"/>
          <p:cNvSpPr/>
          <p:nvPr/>
        </p:nvSpPr>
        <p:spPr>
          <a:xfrm>
            <a:off x="3338487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3f9709021b8_0_252"/>
          <p:cNvSpPr/>
          <p:nvPr/>
        </p:nvSpPr>
        <p:spPr>
          <a:xfrm>
            <a:off x="3775258" y="713867"/>
            <a:ext cx="1773000" cy="2119800"/>
          </a:xfrm>
          <a:prstGeom prst="roundRect">
            <a:avLst>
              <a:gd fmla="val 1463" name="adj"/>
            </a:avLst>
          </a:prstGeom>
          <a:solidFill>
            <a:srgbClr val="FFFDF8"/>
          </a:solidFill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g3f9709021b8_0_252"/>
          <p:cNvSpPr/>
          <p:nvPr/>
        </p:nvSpPr>
        <p:spPr>
          <a:xfrm>
            <a:off x="3892019" y="787417"/>
            <a:ext cx="15351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Simulation Notes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g3f9709021b8_0_252"/>
          <p:cNvSpPr/>
          <p:nvPr/>
        </p:nvSpPr>
        <p:spPr>
          <a:xfrm>
            <a:off x="4000130" y="1047005"/>
            <a:ext cx="12972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No swap is required.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g3f9709021b8_0_252"/>
          <p:cNvSpPr/>
          <p:nvPr/>
        </p:nvSpPr>
        <p:spPr>
          <a:xfrm>
            <a:off x="3913641" y="2098336"/>
            <a:ext cx="1491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Current heap: </a:t>
            </a:r>
            <a:br>
              <a:rPr b="1" i="0" lang="en-US" sz="8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8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[ 30, 10, 4, Null, Null ]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g3f9709021b8_0_252"/>
          <p:cNvSpPr/>
          <p:nvPr/>
        </p:nvSpPr>
        <p:spPr>
          <a:xfrm>
            <a:off x="151356" y="3084771"/>
            <a:ext cx="5362200" cy="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1-based indexing: index 0 is unused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f9709021b8_0_317"/>
          <p:cNvSpPr/>
          <p:nvPr/>
        </p:nvSpPr>
        <p:spPr>
          <a:xfrm>
            <a:off x="151356" y="77876"/>
            <a:ext cx="54489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1200"/>
              <a:buFont typeface="Play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Step 4: Insert 70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6" name="Google Shape;916;g3f9709021b8_0_317"/>
          <p:cNvCxnSpPr/>
          <p:nvPr/>
        </p:nvCxnSpPr>
        <p:spPr>
          <a:xfrm>
            <a:off x="151356" y="441300"/>
            <a:ext cx="5470500" cy="0"/>
          </a:xfrm>
          <a:prstGeom prst="straightConnector1">
            <a:avLst/>
          </a:prstGeom>
          <a:noFill/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7" name="Google Shape;917;g3f9709021b8_0_317"/>
          <p:cNvSpPr/>
          <p:nvPr/>
        </p:nvSpPr>
        <p:spPr>
          <a:xfrm>
            <a:off x="229197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DFF0D8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18" name="Google Shape;918;g3f9709021b8_0_317"/>
          <p:cNvSpPr/>
          <p:nvPr/>
        </p:nvSpPr>
        <p:spPr>
          <a:xfrm>
            <a:off x="229197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0 Empty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g3f9709021b8_0_317"/>
          <p:cNvSpPr/>
          <p:nvPr/>
        </p:nvSpPr>
        <p:spPr>
          <a:xfrm>
            <a:off x="1115712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DFF0D8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20" name="Google Shape;920;g3f9709021b8_0_317"/>
          <p:cNvSpPr/>
          <p:nvPr/>
        </p:nvSpPr>
        <p:spPr>
          <a:xfrm>
            <a:off x="1115712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1 Insert 10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g3f9709021b8_0_317"/>
          <p:cNvSpPr/>
          <p:nvPr/>
        </p:nvSpPr>
        <p:spPr>
          <a:xfrm>
            <a:off x="2002227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DFF0D8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22" name="Google Shape;922;g3f9709021b8_0_317"/>
          <p:cNvSpPr/>
          <p:nvPr/>
        </p:nvSpPr>
        <p:spPr>
          <a:xfrm>
            <a:off x="2002227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2 Insert 30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g3f9709021b8_0_317"/>
          <p:cNvSpPr/>
          <p:nvPr/>
        </p:nvSpPr>
        <p:spPr>
          <a:xfrm>
            <a:off x="2888743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DFF0D8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24" name="Google Shape;924;g3f9709021b8_0_317"/>
          <p:cNvSpPr/>
          <p:nvPr/>
        </p:nvSpPr>
        <p:spPr>
          <a:xfrm>
            <a:off x="2888743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3 Insert 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g3f9709021b8_0_317"/>
          <p:cNvSpPr/>
          <p:nvPr/>
        </p:nvSpPr>
        <p:spPr>
          <a:xfrm>
            <a:off x="3775258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0E4AA8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26" name="Google Shape;926;g3f9709021b8_0_317"/>
          <p:cNvSpPr/>
          <p:nvPr/>
        </p:nvSpPr>
        <p:spPr>
          <a:xfrm>
            <a:off x="3775258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Insert 70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g3f9709021b8_0_317"/>
          <p:cNvSpPr/>
          <p:nvPr/>
        </p:nvSpPr>
        <p:spPr>
          <a:xfrm>
            <a:off x="4661774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28" name="Google Shape;928;g3f9709021b8_0_317"/>
          <p:cNvSpPr/>
          <p:nvPr/>
        </p:nvSpPr>
        <p:spPr>
          <a:xfrm>
            <a:off x="4661774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5 Insert 100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g3f9709021b8_0_317"/>
          <p:cNvSpPr/>
          <p:nvPr/>
        </p:nvSpPr>
        <p:spPr>
          <a:xfrm>
            <a:off x="207574" y="713867"/>
            <a:ext cx="1794600" cy="2119800"/>
          </a:xfrm>
          <a:prstGeom prst="roundRect">
            <a:avLst>
              <a:gd fmla="val 1446" name="adj"/>
            </a:avLst>
          </a:prstGeom>
          <a:solidFill>
            <a:srgbClr val="FFFFFF"/>
          </a:solidFill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g3f9709021b8_0_317"/>
          <p:cNvSpPr/>
          <p:nvPr/>
        </p:nvSpPr>
        <p:spPr>
          <a:xfrm>
            <a:off x="302713" y="787417"/>
            <a:ext cx="16002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Tree Representation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1" name="Google Shape;931;g3f9709021b8_0_317"/>
          <p:cNvCxnSpPr/>
          <p:nvPr/>
        </p:nvCxnSpPr>
        <p:spPr>
          <a:xfrm flipH="1">
            <a:off x="873711" y="1176799"/>
            <a:ext cx="453900" cy="4092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2" name="Google Shape;932;g3f9709021b8_0_317"/>
          <p:cNvCxnSpPr/>
          <p:nvPr/>
        </p:nvCxnSpPr>
        <p:spPr>
          <a:xfrm>
            <a:off x="1327611" y="1176799"/>
            <a:ext cx="453900" cy="4092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3" name="Google Shape;933;g3f9709021b8_0_317"/>
          <p:cNvCxnSpPr/>
          <p:nvPr/>
        </p:nvCxnSpPr>
        <p:spPr>
          <a:xfrm flipH="1">
            <a:off x="623942" y="1594735"/>
            <a:ext cx="249600" cy="4182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4" name="Google Shape;934;g3f9709021b8_0_317"/>
          <p:cNvCxnSpPr/>
          <p:nvPr/>
        </p:nvCxnSpPr>
        <p:spPr>
          <a:xfrm>
            <a:off x="873542" y="1594735"/>
            <a:ext cx="249600" cy="4182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5" name="Google Shape;935;g3f9709021b8_0_317"/>
          <p:cNvSpPr/>
          <p:nvPr/>
        </p:nvSpPr>
        <p:spPr>
          <a:xfrm>
            <a:off x="1232473" y="986434"/>
            <a:ext cx="190200" cy="190200"/>
          </a:xfrm>
          <a:prstGeom prst="ellipse">
            <a:avLst/>
          </a:prstGeom>
          <a:solidFill>
            <a:srgbClr val="DFF0D8"/>
          </a:solidFill>
          <a:ln cap="flat" cmpd="sng" w="6600">
            <a:solidFill>
              <a:srgbClr val="207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g3f9709021b8_0_317"/>
          <p:cNvSpPr/>
          <p:nvPr/>
        </p:nvSpPr>
        <p:spPr>
          <a:xfrm>
            <a:off x="1232473" y="1051331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g3f9709021b8_0_317"/>
          <p:cNvSpPr/>
          <p:nvPr/>
        </p:nvSpPr>
        <p:spPr>
          <a:xfrm>
            <a:off x="1293015" y="908558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g3f9709021b8_0_317"/>
          <p:cNvSpPr/>
          <p:nvPr/>
        </p:nvSpPr>
        <p:spPr>
          <a:xfrm>
            <a:off x="778404" y="1404371"/>
            <a:ext cx="190200" cy="190200"/>
          </a:xfrm>
          <a:prstGeom prst="ellipse">
            <a:avLst/>
          </a:prstGeom>
          <a:solidFill>
            <a:srgbClr val="DFF0D8"/>
          </a:solidFill>
          <a:ln cap="flat" cmpd="sng" w="6600">
            <a:solidFill>
              <a:srgbClr val="207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g3f9709021b8_0_317"/>
          <p:cNvSpPr/>
          <p:nvPr/>
        </p:nvSpPr>
        <p:spPr>
          <a:xfrm>
            <a:off x="778404" y="1469268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g3f9709021b8_0_317"/>
          <p:cNvSpPr/>
          <p:nvPr/>
        </p:nvSpPr>
        <p:spPr>
          <a:xfrm>
            <a:off x="838946" y="1326494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g3f9709021b8_0_317"/>
          <p:cNvSpPr/>
          <p:nvPr/>
        </p:nvSpPr>
        <p:spPr>
          <a:xfrm>
            <a:off x="1686541" y="1404371"/>
            <a:ext cx="190200" cy="190200"/>
          </a:xfrm>
          <a:prstGeom prst="ellipse">
            <a:avLst/>
          </a:prstGeom>
          <a:solidFill>
            <a:srgbClr val="DDEFD6"/>
          </a:solidFill>
          <a:ln cap="flat" cmpd="sng" w="6600">
            <a:solidFill>
              <a:srgbClr val="6C8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g3f9709021b8_0_317"/>
          <p:cNvSpPr/>
          <p:nvPr/>
        </p:nvSpPr>
        <p:spPr>
          <a:xfrm>
            <a:off x="1686541" y="1469268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g3f9709021b8_0_317"/>
          <p:cNvSpPr/>
          <p:nvPr/>
        </p:nvSpPr>
        <p:spPr>
          <a:xfrm>
            <a:off x="1747084" y="1326494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g3f9709021b8_0_317"/>
          <p:cNvSpPr/>
          <p:nvPr/>
        </p:nvSpPr>
        <p:spPr>
          <a:xfrm>
            <a:off x="528666" y="1831393"/>
            <a:ext cx="190200" cy="190200"/>
          </a:xfrm>
          <a:prstGeom prst="ellipse">
            <a:avLst/>
          </a:prstGeom>
          <a:solidFill>
            <a:srgbClr val="DFF0D8"/>
          </a:solidFill>
          <a:ln cap="flat" cmpd="sng" w="6600">
            <a:solidFill>
              <a:srgbClr val="207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g3f9709021b8_0_317"/>
          <p:cNvSpPr/>
          <p:nvPr/>
        </p:nvSpPr>
        <p:spPr>
          <a:xfrm>
            <a:off x="528666" y="1896290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g3f9709021b8_0_317"/>
          <p:cNvSpPr/>
          <p:nvPr/>
        </p:nvSpPr>
        <p:spPr>
          <a:xfrm>
            <a:off x="589208" y="1753517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g3f9709021b8_0_317"/>
          <p:cNvSpPr/>
          <p:nvPr/>
        </p:nvSpPr>
        <p:spPr>
          <a:xfrm>
            <a:off x="1028142" y="1831393"/>
            <a:ext cx="190200" cy="190200"/>
          </a:xfrm>
          <a:prstGeom prst="ellipse">
            <a:avLst/>
          </a:prstGeom>
          <a:solidFill>
            <a:srgbClr val="F5F6FA"/>
          </a:solidFill>
          <a:ln cap="flat" cmpd="sng" w="6600">
            <a:solidFill>
              <a:srgbClr val="6C8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g3f9709021b8_0_317"/>
          <p:cNvSpPr/>
          <p:nvPr/>
        </p:nvSpPr>
        <p:spPr>
          <a:xfrm>
            <a:off x="1028142" y="1896290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0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g3f9709021b8_0_317"/>
          <p:cNvSpPr/>
          <p:nvPr/>
        </p:nvSpPr>
        <p:spPr>
          <a:xfrm>
            <a:off x="1088684" y="1753517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g3f9709021b8_0_317"/>
          <p:cNvSpPr/>
          <p:nvPr/>
        </p:nvSpPr>
        <p:spPr>
          <a:xfrm>
            <a:off x="2183855" y="713867"/>
            <a:ext cx="1405500" cy="886800"/>
          </a:xfrm>
          <a:prstGeom prst="roundRect">
            <a:avLst>
              <a:gd fmla="val 2927" name="adj"/>
            </a:avLst>
          </a:prstGeom>
          <a:solidFill>
            <a:srgbClr val="EAF2FF"/>
          </a:solidFill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g3f9709021b8_0_317"/>
          <p:cNvSpPr/>
          <p:nvPr/>
        </p:nvSpPr>
        <p:spPr>
          <a:xfrm>
            <a:off x="2283318" y="804723"/>
            <a:ext cx="12108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g3f9709021b8_0_317"/>
          <p:cNvSpPr/>
          <p:nvPr/>
        </p:nvSpPr>
        <p:spPr>
          <a:xfrm>
            <a:off x="2313589" y="973455"/>
            <a:ext cx="11460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" lIns="175" spcFirstLastPara="1" rIns="175" wrap="square" tIns="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0" i="0" lang="en-US" sz="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Insert 70 at index 4. Swim up twice because 70 is greater than both 10 and 30.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g3f9709021b8_0_317"/>
          <p:cNvSpPr/>
          <p:nvPr/>
        </p:nvSpPr>
        <p:spPr>
          <a:xfrm>
            <a:off x="2183855" y="1730587"/>
            <a:ext cx="1405500" cy="822000"/>
          </a:xfrm>
          <a:prstGeom prst="roundRect">
            <a:avLst>
              <a:gd fmla="val 3158" name="adj"/>
            </a:avLst>
          </a:prstGeom>
          <a:solidFill>
            <a:srgbClr val="FFFFFF"/>
          </a:solidFill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54" name="Google Shape;954;g3f9709021b8_0_317"/>
          <p:cNvSpPr/>
          <p:nvPr/>
        </p:nvSpPr>
        <p:spPr>
          <a:xfrm>
            <a:off x="2283318" y="1795484"/>
            <a:ext cx="12108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Heap Array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g3f9709021b8_0_317"/>
          <p:cNvSpPr/>
          <p:nvPr/>
        </p:nvSpPr>
        <p:spPr>
          <a:xfrm>
            <a:off x="2257371" y="1920951"/>
            <a:ext cx="1254000" cy="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1-based index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g3f9709021b8_0_317"/>
          <p:cNvSpPr/>
          <p:nvPr/>
        </p:nvSpPr>
        <p:spPr>
          <a:xfrm>
            <a:off x="2257371" y="2042092"/>
            <a:ext cx="216300" cy="121200"/>
          </a:xfrm>
          <a:prstGeom prst="rect">
            <a:avLst/>
          </a:prstGeom>
          <a:solidFill>
            <a:srgbClr val="F6FFF6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g3f9709021b8_0_317"/>
          <p:cNvSpPr/>
          <p:nvPr/>
        </p:nvSpPr>
        <p:spPr>
          <a:xfrm>
            <a:off x="2473594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g3f9709021b8_0_317"/>
          <p:cNvSpPr/>
          <p:nvPr/>
        </p:nvSpPr>
        <p:spPr>
          <a:xfrm>
            <a:off x="2646573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g3f9709021b8_0_317"/>
          <p:cNvSpPr/>
          <p:nvPr/>
        </p:nvSpPr>
        <p:spPr>
          <a:xfrm>
            <a:off x="2819551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g3f9709021b8_0_317"/>
          <p:cNvSpPr/>
          <p:nvPr/>
        </p:nvSpPr>
        <p:spPr>
          <a:xfrm>
            <a:off x="2992530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g3f9709021b8_0_317"/>
          <p:cNvSpPr/>
          <p:nvPr/>
        </p:nvSpPr>
        <p:spPr>
          <a:xfrm>
            <a:off x="3165509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g3f9709021b8_0_317"/>
          <p:cNvSpPr/>
          <p:nvPr/>
        </p:nvSpPr>
        <p:spPr>
          <a:xfrm>
            <a:off x="3338487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g3f9709021b8_0_317"/>
          <p:cNvSpPr/>
          <p:nvPr/>
        </p:nvSpPr>
        <p:spPr>
          <a:xfrm>
            <a:off x="2257371" y="2163233"/>
            <a:ext cx="216300" cy="121200"/>
          </a:xfrm>
          <a:prstGeom prst="rect">
            <a:avLst/>
          </a:prstGeom>
          <a:solidFill>
            <a:srgbClr val="F6FFF6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g3f9709021b8_0_317"/>
          <p:cNvSpPr/>
          <p:nvPr/>
        </p:nvSpPr>
        <p:spPr>
          <a:xfrm>
            <a:off x="2473594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g3f9709021b8_0_317"/>
          <p:cNvSpPr/>
          <p:nvPr/>
        </p:nvSpPr>
        <p:spPr>
          <a:xfrm>
            <a:off x="2646573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g3f9709021b8_0_317"/>
          <p:cNvSpPr/>
          <p:nvPr/>
        </p:nvSpPr>
        <p:spPr>
          <a:xfrm>
            <a:off x="2819551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g3f9709021b8_0_317"/>
          <p:cNvSpPr/>
          <p:nvPr/>
        </p:nvSpPr>
        <p:spPr>
          <a:xfrm>
            <a:off x="2992530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g3f9709021b8_0_317"/>
          <p:cNvSpPr/>
          <p:nvPr/>
        </p:nvSpPr>
        <p:spPr>
          <a:xfrm>
            <a:off x="3165509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g3f9709021b8_0_317"/>
          <p:cNvSpPr/>
          <p:nvPr/>
        </p:nvSpPr>
        <p:spPr>
          <a:xfrm>
            <a:off x="3338487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g3f9709021b8_0_317"/>
          <p:cNvSpPr/>
          <p:nvPr/>
        </p:nvSpPr>
        <p:spPr>
          <a:xfrm>
            <a:off x="3775258" y="713867"/>
            <a:ext cx="1773000" cy="2119800"/>
          </a:xfrm>
          <a:prstGeom prst="roundRect">
            <a:avLst>
              <a:gd fmla="val 1463" name="adj"/>
            </a:avLst>
          </a:prstGeom>
          <a:solidFill>
            <a:srgbClr val="FFFDF8"/>
          </a:solidFill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71" name="Google Shape;971;g3f9709021b8_0_317"/>
          <p:cNvSpPr/>
          <p:nvPr/>
        </p:nvSpPr>
        <p:spPr>
          <a:xfrm>
            <a:off x="3892019" y="787417"/>
            <a:ext cx="15351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Simulation Notes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g3f9709021b8_0_317"/>
          <p:cNvSpPr/>
          <p:nvPr/>
        </p:nvSpPr>
        <p:spPr>
          <a:xfrm>
            <a:off x="3892019" y="995087"/>
            <a:ext cx="120900" cy="121200"/>
          </a:xfrm>
          <a:prstGeom prst="chevron">
            <a:avLst>
              <a:gd fmla="val 50000" name="adj"/>
            </a:avLst>
          </a:prstGeom>
          <a:solidFill>
            <a:srgbClr val="D81E1E"/>
          </a:solidFill>
          <a:ln cap="flat" cmpd="sng" w="6000">
            <a:solidFill>
              <a:srgbClr val="D8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73" name="Google Shape;973;g3f9709021b8_0_317"/>
          <p:cNvSpPr/>
          <p:nvPr/>
        </p:nvSpPr>
        <p:spPr>
          <a:xfrm>
            <a:off x="4056348" y="1003740"/>
            <a:ext cx="12972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Swap 70 with 10.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g3f9709021b8_0_317"/>
          <p:cNvSpPr/>
          <p:nvPr/>
        </p:nvSpPr>
        <p:spPr>
          <a:xfrm>
            <a:off x="3892019" y="1276308"/>
            <a:ext cx="120900" cy="121200"/>
          </a:xfrm>
          <a:prstGeom prst="chevron">
            <a:avLst>
              <a:gd fmla="val 50000" name="adj"/>
            </a:avLst>
          </a:prstGeom>
          <a:solidFill>
            <a:srgbClr val="D81E1E"/>
          </a:solidFill>
          <a:ln cap="flat" cmpd="sng" w="6000">
            <a:solidFill>
              <a:srgbClr val="D8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75" name="Google Shape;975;g3f9709021b8_0_317"/>
          <p:cNvSpPr/>
          <p:nvPr/>
        </p:nvSpPr>
        <p:spPr>
          <a:xfrm>
            <a:off x="4056348" y="1284961"/>
            <a:ext cx="12972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Swap 70 with 30.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g3f9709021b8_0_317"/>
          <p:cNvSpPr/>
          <p:nvPr/>
        </p:nvSpPr>
        <p:spPr>
          <a:xfrm>
            <a:off x="3913641" y="2098336"/>
            <a:ext cx="1491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Current heap: </a:t>
            </a:r>
            <a:br>
              <a:rPr b="1" i="0" lang="en-US" sz="8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8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[ 70, 30, 4, 10, Null ]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g3f9709021b8_0_317"/>
          <p:cNvSpPr/>
          <p:nvPr/>
        </p:nvSpPr>
        <p:spPr>
          <a:xfrm>
            <a:off x="151356" y="3084771"/>
            <a:ext cx="5362200" cy="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1-based indexing: index 0 is unused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f9709021b8_0_385"/>
          <p:cNvSpPr/>
          <p:nvPr/>
        </p:nvSpPr>
        <p:spPr>
          <a:xfrm>
            <a:off x="151356" y="77876"/>
            <a:ext cx="54489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1200"/>
              <a:buFont typeface="Play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Step 5: Insert 100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4" name="Google Shape;984;g3f9709021b8_0_385"/>
          <p:cNvCxnSpPr/>
          <p:nvPr/>
        </p:nvCxnSpPr>
        <p:spPr>
          <a:xfrm>
            <a:off x="151356" y="441300"/>
            <a:ext cx="5470500" cy="0"/>
          </a:xfrm>
          <a:prstGeom prst="straightConnector1">
            <a:avLst/>
          </a:prstGeom>
          <a:noFill/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5" name="Google Shape;985;g3f9709021b8_0_385"/>
          <p:cNvSpPr/>
          <p:nvPr/>
        </p:nvSpPr>
        <p:spPr>
          <a:xfrm>
            <a:off x="229197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DFF0D8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86" name="Google Shape;986;g3f9709021b8_0_385"/>
          <p:cNvSpPr/>
          <p:nvPr/>
        </p:nvSpPr>
        <p:spPr>
          <a:xfrm>
            <a:off x="229197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0 Empty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g3f9709021b8_0_385"/>
          <p:cNvSpPr/>
          <p:nvPr/>
        </p:nvSpPr>
        <p:spPr>
          <a:xfrm>
            <a:off x="1115712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DFF0D8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88" name="Google Shape;988;g3f9709021b8_0_385"/>
          <p:cNvSpPr/>
          <p:nvPr/>
        </p:nvSpPr>
        <p:spPr>
          <a:xfrm>
            <a:off x="1115712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1 Insert 10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g3f9709021b8_0_385"/>
          <p:cNvSpPr/>
          <p:nvPr/>
        </p:nvSpPr>
        <p:spPr>
          <a:xfrm>
            <a:off x="2002227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DFF0D8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90" name="Google Shape;990;g3f9709021b8_0_385"/>
          <p:cNvSpPr/>
          <p:nvPr/>
        </p:nvSpPr>
        <p:spPr>
          <a:xfrm>
            <a:off x="2002227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2 Insert 30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g3f9709021b8_0_385"/>
          <p:cNvSpPr/>
          <p:nvPr/>
        </p:nvSpPr>
        <p:spPr>
          <a:xfrm>
            <a:off x="2888743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DFF0D8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92" name="Google Shape;992;g3f9709021b8_0_385"/>
          <p:cNvSpPr/>
          <p:nvPr/>
        </p:nvSpPr>
        <p:spPr>
          <a:xfrm>
            <a:off x="2888743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3 Insert 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g3f9709021b8_0_385"/>
          <p:cNvSpPr/>
          <p:nvPr/>
        </p:nvSpPr>
        <p:spPr>
          <a:xfrm>
            <a:off x="3775258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DFF0D8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94" name="Google Shape;994;g3f9709021b8_0_385"/>
          <p:cNvSpPr/>
          <p:nvPr/>
        </p:nvSpPr>
        <p:spPr>
          <a:xfrm>
            <a:off x="3775258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4 Insert 70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g3f9709021b8_0_385"/>
          <p:cNvSpPr/>
          <p:nvPr/>
        </p:nvSpPr>
        <p:spPr>
          <a:xfrm>
            <a:off x="4661774" y="488891"/>
            <a:ext cx="744000" cy="121200"/>
          </a:xfrm>
          <a:prstGeom prst="roundRect">
            <a:avLst>
              <a:gd fmla="val 21429" name="adj"/>
            </a:avLst>
          </a:prstGeom>
          <a:solidFill>
            <a:srgbClr val="0E4AA8"/>
          </a:solidFill>
          <a:ln cap="flat" cmpd="sng" w="60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96" name="Google Shape;996;g3f9709021b8_0_385"/>
          <p:cNvSpPr/>
          <p:nvPr/>
        </p:nvSpPr>
        <p:spPr>
          <a:xfrm>
            <a:off x="4661774" y="512686"/>
            <a:ext cx="7440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Insert 100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g3f9709021b8_0_385"/>
          <p:cNvSpPr/>
          <p:nvPr/>
        </p:nvSpPr>
        <p:spPr>
          <a:xfrm>
            <a:off x="207574" y="713867"/>
            <a:ext cx="1794600" cy="2119800"/>
          </a:xfrm>
          <a:prstGeom prst="roundRect">
            <a:avLst>
              <a:gd fmla="val 1446" name="adj"/>
            </a:avLst>
          </a:prstGeom>
          <a:solidFill>
            <a:srgbClr val="FFFFFF"/>
          </a:solidFill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g3f9709021b8_0_385"/>
          <p:cNvSpPr/>
          <p:nvPr/>
        </p:nvSpPr>
        <p:spPr>
          <a:xfrm>
            <a:off x="302713" y="787417"/>
            <a:ext cx="16002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Tree Representation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9" name="Google Shape;999;g3f9709021b8_0_385"/>
          <p:cNvCxnSpPr/>
          <p:nvPr/>
        </p:nvCxnSpPr>
        <p:spPr>
          <a:xfrm flipH="1">
            <a:off x="873711" y="1176799"/>
            <a:ext cx="453900" cy="4092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0" name="Google Shape;1000;g3f9709021b8_0_385"/>
          <p:cNvCxnSpPr/>
          <p:nvPr/>
        </p:nvCxnSpPr>
        <p:spPr>
          <a:xfrm>
            <a:off x="1327611" y="1176799"/>
            <a:ext cx="453900" cy="4092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1" name="Google Shape;1001;g3f9709021b8_0_385"/>
          <p:cNvCxnSpPr/>
          <p:nvPr/>
        </p:nvCxnSpPr>
        <p:spPr>
          <a:xfrm flipH="1">
            <a:off x="623942" y="1594735"/>
            <a:ext cx="249600" cy="4182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2" name="Google Shape;1002;g3f9709021b8_0_385"/>
          <p:cNvCxnSpPr/>
          <p:nvPr/>
        </p:nvCxnSpPr>
        <p:spPr>
          <a:xfrm>
            <a:off x="873542" y="1594735"/>
            <a:ext cx="249600" cy="4182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3" name="Google Shape;1003;g3f9709021b8_0_385"/>
          <p:cNvSpPr/>
          <p:nvPr/>
        </p:nvSpPr>
        <p:spPr>
          <a:xfrm>
            <a:off x="1232473" y="986434"/>
            <a:ext cx="190200" cy="190200"/>
          </a:xfrm>
          <a:prstGeom prst="ellipse">
            <a:avLst/>
          </a:prstGeom>
          <a:solidFill>
            <a:srgbClr val="DFF0D8"/>
          </a:solidFill>
          <a:ln cap="flat" cmpd="sng" w="6600">
            <a:solidFill>
              <a:srgbClr val="207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g3f9709021b8_0_385"/>
          <p:cNvSpPr/>
          <p:nvPr/>
        </p:nvSpPr>
        <p:spPr>
          <a:xfrm>
            <a:off x="1232473" y="1051331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g3f9709021b8_0_385"/>
          <p:cNvSpPr/>
          <p:nvPr/>
        </p:nvSpPr>
        <p:spPr>
          <a:xfrm>
            <a:off x="1293015" y="908558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g3f9709021b8_0_385"/>
          <p:cNvSpPr/>
          <p:nvPr/>
        </p:nvSpPr>
        <p:spPr>
          <a:xfrm>
            <a:off x="778404" y="1404371"/>
            <a:ext cx="190200" cy="190200"/>
          </a:xfrm>
          <a:prstGeom prst="ellipse">
            <a:avLst/>
          </a:prstGeom>
          <a:solidFill>
            <a:srgbClr val="DFF0D8"/>
          </a:solidFill>
          <a:ln cap="flat" cmpd="sng" w="6600">
            <a:solidFill>
              <a:srgbClr val="207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g3f9709021b8_0_385"/>
          <p:cNvSpPr/>
          <p:nvPr/>
        </p:nvSpPr>
        <p:spPr>
          <a:xfrm>
            <a:off x="778404" y="1469268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g3f9709021b8_0_385"/>
          <p:cNvSpPr/>
          <p:nvPr/>
        </p:nvSpPr>
        <p:spPr>
          <a:xfrm>
            <a:off x="838946" y="1326494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g3f9709021b8_0_385"/>
          <p:cNvSpPr/>
          <p:nvPr/>
        </p:nvSpPr>
        <p:spPr>
          <a:xfrm>
            <a:off x="1686541" y="1404371"/>
            <a:ext cx="190200" cy="190200"/>
          </a:xfrm>
          <a:prstGeom prst="ellipse">
            <a:avLst/>
          </a:prstGeom>
          <a:solidFill>
            <a:srgbClr val="DDEFD6"/>
          </a:solidFill>
          <a:ln cap="flat" cmpd="sng" w="6600">
            <a:solidFill>
              <a:srgbClr val="6C8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g3f9709021b8_0_385"/>
          <p:cNvSpPr/>
          <p:nvPr/>
        </p:nvSpPr>
        <p:spPr>
          <a:xfrm>
            <a:off x="1686541" y="1469268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g3f9709021b8_0_385"/>
          <p:cNvSpPr/>
          <p:nvPr/>
        </p:nvSpPr>
        <p:spPr>
          <a:xfrm>
            <a:off x="1747084" y="1326494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g3f9709021b8_0_385"/>
          <p:cNvSpPr/>
          <p:nvPr/>
        </p:nvSpPr>
        <p:spPr>
          <a:xfrm>
            <a:off x="528666" y="1831393"/>
            <a:ext cx="190200" cy="190200"/>
          </a:xfrm>
          <a:prstGeom prst="ellipse">
            <a:avLst/>
          </a:prstGeom>
          <a:solidFill>
            <a:srgbClr val="DDEFD6"/>
          </a:solidFill>
          <a:ln cap="flat" cmpd="sng" w="6600">
            <a:solidFill>
              <a:srgbClr val="6C8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g3f9709021b8_0_385"/>
          <p:cNvSpPr/>
          <p:nvPr/>
        </p:nvSpPr>
        <p:spPr>
          <a:xfrm>
            <a:off x="528666" y="1896290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g3f9709021b8_0_385"/>
          <p:cNvSpPr/>
          <p:nvPr/>
        </p:nvSpPr>
        <p:spPr>
          <a:xfrm>
            <a:off x="589208" y="1753517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g3f9709021b8_0_385"/>
          <p:cNvSpPr/>
          <p:nvPr/>
        </p:nvSpPr>
        <p:spPr>
          <a:xfrm>
            <a:off x="1028142" y="1831393"/>
            <a:ext cx="190200" cy="190200"/>
          </a:xfrm>
          <a:prstGeom prst="ellipse">
            <a:avLst/>
          </a:prstGeom>
          <a:solidFill>
            <a:srgbClr val="DFF0D8"/>
          </a:solidFill>
          <a:ln cap="flat" cmpd="sng" w="6600">
            <a:solidFill>
              <a:srgbClr val="207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g3f9709021b8_0_385"/>
          <p:cNvSpPr/>
          <p:nvPr/>
        </p:nvSpPr>
        <p:spPr>
          <a:xfrm>
            <a:off x="1028142" y="1896290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g3f9709021b8_0_385"/>
          <p:cNvSpPr/>
          <p:nvPr/>
        </p:nvSpPr>
        <p:spPr>
          <a:xfrm>
            <a:off x="1088684" y="1753517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g3f9709021b8_0_385"/>
          <p:cNvSpPr/>
          <p:nvPr/>
        </p:nvSpPr>
        <p:spPr>
          <a:xfrm>
            <a:off x="2183855" y="713867"/>
            <a:ext cx="1405500" cy="886800"/>
          </a:xfrm>
          <a:prstGeom prst="roundRect">
            <a:avLst>
              <a:gd fmla="val 2927" name="adj"/>
            </a:avLst>
          </a:prstGeom>
          <a:solidFill>
            <a:srgbClr val="EAF2FF"/>
          </a:solidFill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g3f9709021b8_0_385"/>
          <p:cNvSpPr/>
          <p:nvPr/>
        </p:nvSpPr>
        <p:spPr>
          <a:xfrm>
            <a:off x="2283318" y="804723"/>
            <a:ext cx="12108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g3f9709021b8_0_385"/>
          <p:cNvSpPr/>
          <p:nvPr/>
        </p:nvSpPr>
        <p:spPr>
          <a:xfrm>
            <a:off x="2313589" y="973455"/>
            <a:ext cx="11460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" lIns="175" spcFirstLastPara="1" rIns="175" wrap="square" tIns="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0" i="0" lang="en-US" sz="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Insert 100 at index 5. Swim up twice because 100 is greater than 30 and 70.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g3f9709021b8_0_385"/>
          <p:cNvSpPr/>
          <p:nvPr/>
        </p:nvSpPr>
        <p:spPr>
          <a:xfrm>
            <a:off x="2183855" y="1730587"/>
            <a:ext cx="1405500" cy="822000"/>
          </a:xfrm>
          <a:prstGeom prst="roundRect">
            <a:avLst>
              <a:gd fmla="val 3158" name="adj"/>
            </a:avLst>
          </a:prstGeom>
          <a:solidFill>
            <a:srgbClr val="FFFFFF"/>
          </a:solidFill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22" name="Google Shape;1022;g3f9709021b8_0_385"/>
          <p:cNvSpPr/>
          <p:nvPr/>
        </p:nvSpPr>
        <p:spPr>
          <a:xfrm>
            <a:off x="2283318" y="1795484"/>
            <a:ext cx="12108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700"/>
              <a:buFont typeface="Arial"/>
              <a:buNone/>
            </a:pPr>
            <a:r>
              <a:rPr b="1" i="0" lang="en-US" sz="9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Heap Array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g3f9709021b8_0_385"/>
          <p:cNvSpPr/>
          <p:nvPr/>
        </p:nvSpPr>
        <p:spPr>
          <a:xfrm>
            <a:off x="2257371" y="1920951"/>
            <a:ext cx="1254000" cy="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1-based index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g3f9709021b8_0_385"/>
          <p:cNvSpPr/>
          <p:nvPr/>
        </p:nvSpPr>
        <p:spPr>
          <a:xfrm>
            <a:off x="2257371" y="2042092"/>
            <a:ext cx="216300" cy="121200"/>
          </a:xfrm>
          <a:prstGeom prst="rect">
            <a:avLst/>
          </a:prstGeom>
          <a:solidFill>
            <a:srgbClr val="F6FFF6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g3f9709021b8_0_385"/>
          <p:cNvSpPr/>
          <p:nvPr/>
        </p:nvSpPr>
        <p:spPr>
          <a:xfrm>
            <a:off x="2473594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g3f9709021b8_0_385"/>
          <p:cNvSpPr/>
          <p:nvPr/>
        </p:nvSpPr>
        <p:spPr>
          <a:xfrm>
            <a:off x="2646573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g3f9709021b8_0_385"/>
          <p:cNvSpPr/>
          <p:nvPr/>
        </p:nvSpPr>
        <p:spPr>
          <a:xfrm>
            <a:off x="2819551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g3f9709021b8_0_385"/>
          <p:cNvSpPr/>
          <p:nvPr/>
        </p:nvSpPr>
        <p:spPr>
          <a:xfrm>
            <a:off x="2992530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g3f9709021b8_0_385"/>
          <p:cNvSpPr/>
          <p:nvPr/>
        </p:nvSpPr>
        <p:spPr>
          <a:xfrm>
            <a:off x="3165509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g3f9709021b8_0_385"/>
          <p:cNvSpPr/>
          <p:nvPr/>
        </p:nvSpPr>
        <p:spPr>
          <a:xfrm>
            <a:off x="3338487" y="2042092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g3f9709021b8_0_385"/>
          <p:cNvSpPr/>
          <p:nvPr/>
        </p:nvSpPr>
        <p:spPr>
          <a:xfrm>
            <a:off x="2257371" y="2163233"/>
            <a:ext cx="216300" cy="121200"/>
          </a:xfrm>
          <a:prstGeom prst="rect">
            <a:avLst/>
          </a:prstGeom>
          <a:solidFill>
            <a:srgbClr val="F6FFF6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g3f9709021b8_0_385"/>
          <p:cNvSpPr/>
          <p:nvPr/>
        </p:nvSpPr>
        <p:spPr>
          <a:xfrm>
            <a:off x="2473594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g3f9709021b8_0_385"/>
          <p:cNvSpPr/>
          <p:nvPr/>
        </p:nvSpPr>
        <p:spPr>
          <a:xfrm>
            <a:off x="2646573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g3f9709021b8_0_385"/>
          <p:cNvSpPr/>
          <p:nvPr/>
        </p:nvSpPr>
        <p:spPr>
          <a:xfrm>
            <a:off x="2819551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g3f9709021b8_0_385"/>
          <p:cNvSpPr/>
          <p:nvPr/>
        </p:nvSpPr>
        <p:spPr>
          <a:xfrm>
            <a:off x="2992530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g3f9709021b8_0_385"/>
          <p:cNvSpPr/>
          <p:nvPr/>
        </p:nvSpPr>
        <p:spPr>
          <a:xfrm>
            <a:off x="3165509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g3f9709021b8_0_385"/>
          <p:cNvSpPr/>
          <p:nvPr/>
        </p:nvSpPr>
        <p:spPr>
          <a:xfrm>
            <a:off x="3338487" y="2163233"/>
            <a:ext cx="1731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g3f9709021b8_0_385"/>
          <p:cNvSpPr/>
          <p:nvPr/>
        </p:nvSpPr>
        <p:spPr>
          <a:xfrm>
            <a:off x="3775258" y="713867"/>
            <a:ext cx="1773000" cy="2119800"/>
          </a:xfrm>
          <a:prstGeom prst="roundRect">
            <a:avLst>
              <a:gd fmla="val 1463" name="adj"/>
            </a:avLst>
          </a:prstGeom>
          <a:solidFill>
            <a:srgbClr val="FFFDF8"/>
          </a:solidFill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39" name="Google Shape;1039;g3f9709021b8_0_385"/>
          <p:cNvSpPr/>
          <p:nvPr/>
        </p:nvSpPr>
        <p:spPr>
          <a:xfrm>
            <a:off x="3892019" y="787417"/>
            <a:ext cx="15351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700"/>
              <a:buFont typeface="Arial"/>
              <a:buNone/>
            </a:pPr>
            <a:r>
              <a:rPr b="1" i="0" lang="en-US" sz="9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Simulation Notes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g3f9709021b8_0_385"/>
          <p:cNvSpPr/>
          <p:nvPr/>
        </p:nvSpPr>
        <p:spPr>
          <a:xfrm>
            <a:off x="3892019" y="995087"/>
            <a:ext cx="120900" cy="121200"/>
          </a:xfrm>
          <a:prstGeom prst="chevron">
            <a:avLst>
              <a:gd fmla="val 50000" name="adj"/>
            </a:avLst>
          </a:prstGeom>
          <a:solidFill>
            <a:srgbClr val="D81E1E"/>
          </a:solidFill>
          <a:ln cap="flat" cmpd="sng" w="6000">
            <a:solidFill>
              <a:srgbClr val="D8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41" name="Google Shape;1041;g3f9709021b8_0_385"/>
          <p:cNvSpPr/>
          <p:nvPr/>
        </p:nvSpPr>
        <p:spPr>
          <a:xfrm>
            <a:off x="4056348" y="1003740"/>
            <a:ext cx="12972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Swap 100 with 30.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g3f9709021b8_0_385"/>
          <p:cNvSpPr/>
          <p:nvPr/>
        </p:nvSpPr>
        <p:spPr>
          <a:xfrm>
            <a:off x="3892019" y="1276308"/>
            <a:ext cx="120900" cy="121200"/>
          </a:xfrm>
          <a:prstGeom prst="chevron">
            <a:avLst>
              <a:gd fmla="val 50000" name="adj"/>
            </a:avLst>
          </a:prstGeom>
          <a:solidFill>
            <a:srgbClr val="D81E1E"/>
          </a:solidFill>
          <a:ln cap="flat" cmpd="sng" w="6000">
            <a:solidFill>
              <a:srgbClr val="D8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43" name="Google Shape;1043;g3f9709021b8_0_385"/>
          <p:cNvSpPr/>
          <p:nvPr/>
        </p:nvSpPr>
        <p:spPr>
          <a:xfrm>
            <a:off x="4056348" y="1284961"/>
            <a:ext cx="12972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Swap 100 with 70.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g3f9709021b8_0_385"/>
          <p:cNvSpPr/>
          <p:nvPr/>
        </p:nvSpPr>
        <p:spPr>
          <a:xfrm>
            <a:off x="3913641" y="2098336"/>
            <a:ext cx="1491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Final heap: [ 100, 70, 4, 10, 30 ]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g3f9709021b8_0_385"/>
          <p:cNvSpPr/>
          <p:nvPr/>
        </p:nvSpPr>
        <p:spPr>
          <a:xfrm>
            <a:off x="151356" y="3084771"/>
            <a:ext cx="5362200" cy="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1-based indexing: index 0 is unused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3f9709021b8_0_453"/>
          <p:cNvSpPr/>
          <p:nvPr/>
        </p:nvSpPr>
        <p:spPr>
          <a:xfrm>
            <a:off x="151356" y="77876"/>
            <a:ext cx="54489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1200"/>
              <a:buFont typeface="Play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Final Max Heap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2" name="Google Shape;1052;g3f9709021b8_0_453"/>
          <p:cNvCxnSpPr/>
          <p:nvPr/>
        </p:nvCxnSpPr>
        <p:spPr>
          <a:xfrm>
            <a:off x="151356" y="441300"/>
            <a:ext cx="5470500" cy="0"/>
          </a:xfrm>
          <a:prstGeom prst="straightConnector1">
            <a:avLst/>
          </a:prstGeom>
          <a:noFill/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3" name="Google Shape;1053;g3f9709021b8_0_453"/>
          <p:cNvSpPr/>
          <p:nvPr/>
        </p:nvSpPr>
        <p:spPr>
          <a:xfrm>
            <a:off x="302713" y="670602"/>
            <a:ext cx="2400000" cy="2076600"/>
          </a:xfrm>
          <a:prstGeom prst="roundRect">
            <a:avLst>
              <a:gd fmla="val 1667" name="adj"/>
            </a:avLst>
          </a:prstGeom>
          <a:solidFill>
            <a:srgbClr val="FFFFFF"/>
          </a:solidFill>
          <a:ln cap="flat" cmpd="sng" w="7200">
            <a:solidFill>
              <a:srgbClr val="9BB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g3f9709021b8_0_453"/>
          <p:cNvSpPr/>
          <p:nvPr/>
        </p:nvSpPr>
        <p:spPr>
          <a:xfrm>
            <a:off x="475691" y="800396"/>
            <a:ext cx="20325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Final Tree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5" name="Google Shape;1055;g3f9709021b8_0_453"/>
          <p:cNvCxnSpPr/>
          <p:nvPr/>
        </p:nvCxnSpPr>
        <p:spPr>
          <a:xfrm flipH="1">
            <a:off x="1124348" y="1207084"/>
            <a:ext cx="510300" cy="4611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6" name="Google Shape;1056;g3f9709021b8_0_453"/>
          <p:cNvCxnSpPr/>
          <p:nvPr/>
        </p:nvCxnSpPr>
        <p:spPr>
          <a:xfrm>
            <a:off x="1634648" y="1207084"/>
            <a:ext cx="510300" cy="4611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7" name="Google Shape;1057;g3f9709021b8_0_453"/>
          <p:cNvCxnSpPr/>
          <p:nvPr/>
        </p:nvCxnSpPr>
        <p:spPr>
          <a:xfrm flipH="1">
            <a:off x="843861" y="1676766"/>
            <a:ext cx="280500" cy="4713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8" name="Google Shape;1058;g3f9709021b8_0_453"/>
          <p:cNvCxnSpPr/>
          <p:nvPr/>
        </p:nvCxnSpPr>
        <p:spPr>
          <a:xfrm>
            <a:off x="1124361" y="1676766"/>
            <a:ext cx="280500" cy="471300"/>
          </a:xfrm>
          <a:prstGeom prst="straightConnector1">
            <a:avLst/>
          </a:prstGeom>
          <a:noFill/>
          <a:ln cap="flat" cmpd="sng" w="600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9" name="Google Shape;1059;g3f9709021b8_0_453"/>
          <p:cNvSpPr/>
          <p:nvPr/>
        </p:nvSpPr>
        <p:spPr>
          <a:xfrm>
            <a:off x="1539510" y="1016720"/>
            <a:ext cx="190200" cy="190200"/>
          </a:xfrm>
          <a:prstGeom prst="ellipse">
            <a:avLst/>
          </a:prstGeom>
          <a:solidFill>
            <a:srgbClr val="DFF0D8"/>
          </a:solidFill>
          <a:ln cap="flat" cmpd="sng" w="6600">
            <a:solidFill>
              <a:srgbClr val="207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g3f9709021b8_0_453"/>
          <p:cNvSpPr/>
          <p:nvPr/>
        </p:nvSpPr>
        <p:spPr>
          <a:xfrm>
            <a:off x="1539510" y="1081617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g3f9709021b8_0_453"/>
          <p:cNvSpPr/>
          <p:nvPr/>
        </p:nvSpPr>
        <p:spPr>
          <a:xfrm>
            <a:off x="1600052" y="938843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g3f9709021b8_0_453"/>
          <p:cNvSpPr/>
          <p:nvPr/>
        </p:nvSpPr>
        <p:spPr>
          <a:xfrm>
            <a:off x="1029223" y="1486401"/>
            <a:ext cx="190200" cy="190200"/>
          </a:xfrm>
          <a:prstGeom prst="ellipse">
            <a:avLst/>
          </a:prstGeom>
          <a:solidFill>
            <a:srgbClr val="DDEFD6"/>
          </a:solidFill>
          <a:ln cap="flat" cmpd="sng" w="6600">
            <a:solidFill>
              <a:srgbClr val="6C8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g3f9709021b8_0_453"/>
          <p:cNvSpPr/>
          <p:nvPr/>
        </p:nvSpPr>
        <p:spPr>
          <a:xfrm>
            <a:off x="1029223" y="1551298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g3f9709021b8_0_453"/>
          <p:cNvSpPr/>
          <p:nvPr/>
        </p:nvSpPr>
        <p:spPr>
          <a:xfrm>
            <a:off x="1089765" y="1408525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g3f9709021b8_0_453"/>
          <p:cNvSpPr/>
          <p:nvPr/>
        </p:nvSpPr>
        <p:spPr>
          <a:xfrm>
            <a:off x="2049797" y="1486401"/>
            <a:ext cx="190200" cy="190200"/>
          </a:xfrm>
          <a:prstGeom prst="ellipse">
            <a:avLst/>
          </a:prstGeom>
          <a:solidFill>
            <a:srgbClr val="DDEFD6"/>
          </a:solidFill>
          <a:ln cap="flat" cmpd="sng" w="6600">
            <a:solidFill>
              <a:srgbClr val="6C8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g3f9709021b8_0_453"/>
          <p:cNvSpPr/>
          <p:nvPr/>
        </p:nvSpPr>
        <p:spPr>
          <a:xfrm>
            <a:off x="2049797" y="1551298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g3f9709021b8_0_453"/>
          <p:cNvSpPr/>
          <p:nvPr/>
        </p:nvSpPr>
        <p:spPr>
          <a:xfrm>
            <a:off x="2110339" y="1408525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g3f9709021b8_0_453"/>
          <p:cNvSpPr/>
          <p:nvPr/>
        </p:nvSpPr>
        <p:spPr>
          <a:xfrm>
            <a:off x="748565" y="1966293"/>
            <a:ext cx="190200" cy="190200"/>
          </a:xfrm>
          <a:prstGeom prst="ellipse">
            <a:avLst/>
          </a:prstGeom>
          <a:solidFill>
            <a:srgbClr val="DDEFD6"/>
          </a:solidFill>
          <a:ln cap="flat" cmpd="sng" w="6600">
            <a:solidFill>
              <a:srgbClr val="6C8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g3f9709021b8_0_453"/>
          <p:cNvSpPr/>
          <p:nvPr/>
        </p:nvSpPr>
        <p:spPr>
          <a:xfrm>
            <a:off x="748565" y="2031190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g3f9709021b8_0_453"/>
          <p:cNvSpPr/>
          <p:nvPr/>
        </p:nvSpPr>
        <p:spPr>
          <a:xfrm>
            <a:off x="809107" y="1888416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g3f9709021b8_0_453"/>
          <p:cNvSpPr/>
          <p:nvPr/>
        </p:nvSpPr>
        <p:spPr>
          <a:xfrm>
            <a:off x="1309881" y="1966293"/>
            <a:ext cx="190200" cy="190200"/>
          </a:xfrm>
          <a:prstGeom prst="ellipse">
            <a:avLst/>
          </a:prstGeom>
          <a:solidFill>
            <a:srgbClr val="DDEFD6"/>
          </a:solidFill>
          <a:ln cap="flat" cmpd="sng" w="6600">
            <a:solidFill>
              <a:srgbClr val="6C8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72" name="Google Shape;1072;g3f9709021b8_0_453"/>
          <p:cNvSpPr/>
          <p:nvPr/>
        </p:nvSpPr>
        <p:spPr>
          <a:xfrm>
            <a:off x="1309881" y="2031190"/>
            <a:ext cx="190200" cy="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g3f9709021b8_0_453"/>
          <p:cNvSpPr/>
          <p:nvPr/>
        </p:nvSpPr>
        <p:spPr>
          <a:xfrm>
            <a:off x="1370423" y="1888416"/>
            <a:ext cx="69300" cy="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1E1E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D81E1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g3f9709021b8_0_453"/>
          <p:cNvSpPr/>
          <p:nvPr/>
        </p:nvSpPr>
        <p:spPr>
          <a:xfrm>
            <a:off x="3091993" y="670602"/>
            <a:ext cx="2248800" cy="2076600"/>
          </a:xfrm>
          <a:prstGeom prst="roundRect">
            <a:avLst>
              <a:gd fmla="val 1667" name="adj"/>
            </a:avLst>
          </a:prstGeom>
          <a:solidFill>
            <a:srgbClr val="DFF0D8"/>
          </a:solidFill>
          <a:ln cap="flat" cmpd="sng" w="7200">
            <a:solidFill>
              <a:srgbClr val="207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75" name="Google Shape;1075;g3f9709021b8_0_453"/>
          <p:cNvSpPr/>
          <p:nvPr/>
        </p:nvSpPr>
        <p:spPr>
          <a:xfrm>
            <a:off x="3264971" y="822029"/>
            <a:ext cx="19245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900"/>
              <a:buFont typeface="Arial"/>
              <a:buNone/>
            </a:pPr>
            <a:r>
              <a:rPr b="1" i="0" lang="en-US" sz="11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Final Heap Array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g3f9709021b8_0_453"/>
          <p:cNvSpPr/>
          <p:nvPr/>
        </p:nvSpPr>
        <p:spPr>
          <a:xfrm>
            <a:off x="3308216" y="1003740"/>
            <a:ext cx="1816200" cy="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1-based index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g3f9709021b8_0_453"/>
          <p:cNvSpPr/>
          <p:nvPr/>
        </p:nvSpPr>
        <p:spPr>
          <a:xfrm>
            <a:off x="3308216" y="1124881"/>
            <a:ext cx="313200" cy="121200"/>
          </a:xfrm>
          <a:prstGeom prst="rect">
            <a:avLst/>
          </a:prstGeom>
          <a:solidFill>
            <a:srgbClr val="F6FFF6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g3f9709021b8_0_453"/>
          <p:cNvSpPr/>
          <p:nvPr/>
        </p:nvSpPr>
        <p:spPr>
          <a:xfrm>
            <a:off x="3621367" y="1124881"/>
            <a:ext cx="2505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g3f9709021b8_0_453"/>
          <p:cNvSpPr/>
          <p:nvPr/>
        </p:nvSpPr>
        <p:spPr>
          <a:xfrm>
            <a:off x="3871888" y="1124881"/>
            <a:ext cx="2505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g3f9709021b8_0_453"/>
          <p:cNvSpPr/>
          <p:nvPr/>
        </p:nvSpPr>
        <p:spPr>
          <a:xfrm>
            <a:off x="4122408" y="1124881"/>
            <a:ext cx="2505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g3f9709021b8_0_453"/>
          <p:cNvSpPr/>
          <p:nvPr/>
        </p:nvSpPr>
        <p:spPr>
          <a:xfrm>
            <a:off x="4372929" y="1124881"/>
            <a:ext cx="2505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g3f9709021b8_0_453"/>
          <p:cNvSpPr/>
          <p:nvPr/>
        </p:nvSpPr>
        <p:spPr>
          <a:xfrm>
            <a:off x="4623450" y="1124881"/>
            <a:ext cx="2505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g3f9709021b8_0_453"/>
          <p:cNvSpPr/>
          <p:nvPr/>
        </p:nvSpPr>
        <p:spPr>
          <a:xfrm>
            <a:off x="4873971" y="1124881"/>
            <a:ext cx="2505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g3f9709021b8_0_453"/>
          <p:cNvSpPr/>
          <p:nvPr/>
        </p:nvSpPr>
        <p:spPr>
          <a:xfrm>
            <a:off x="3308216" y="1246022"/>
            <a:ext cx="313200" cy="121200"/>
          </a:xfrm>
          <a:prstGeom prst="rect">
            <a:avLst/>
          </a:prstGeom>
          <a:solidFill>
            <a:srgbClr val="F6FFF6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g3f9709021b8_0_453"/>
          <p:cNvSpPr/>
          <p:nvPr/>
        </p:nvSpPr>
        <p:spPr>
          <a:xfrm>
            <a:off x="3621367" y="1246022"/>
            <a:ext cx="2505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g3f9709021b8_0_453"/>
          <p:cNvSpPr/>
          <p:nvPr/>
        </p:nvSpPr>
        <p:spPr>
          <a:xfrm>
            <a:off x="3871888" y="1246022"/>
            <a:ext cx="2505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g3f9709021b8_0_453"/>
          <p:cNvSpPr/>
          <p:nvPr/>
        </p:nvSpPr>
        <p:spPr>
          <a:xfrm>
            <a:off x="4122408" y="1246022"/>
            <a:ext cx="2505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g3f9709021b8_0_453"/>
          <p:cNvSpPr/>
          <p:nvPr/>
        </p:nvSpPr>
        <p:spPr>
          <a:xfrm>
            <a:off x="4372929" y="1246022"/>
            <a:ext cx="2505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g3f9709021b8_0_453"/>
          <p:cNvSpPr/>
          <p:nvPr/>
        </p:nvSpPr>
        <p:spPr>
          <a:xfrm>
            <a:off x="4623450" y="1246022"/>
            <a:ext cx="2505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g3f9709021b8_0_453"/>
          <p:cNvSpPr/>
          <p:nvPr/>
        </p:nvSpPr>
        <p:spPr>
          <a:xfrm>
            <a:off x="4873971" y="1246022"/>
            <a:ext cx="250500" cy="121200"/>
          </a:xfrm>
          <a:prstGeom prst="rect">
            <a:avLst/>
          </a:prstGeom>
          <a:solidFill>
            <a:srgbClr val="FFFFFF"/>
          </a:solidFill>
          <a:ln cap="flat" cmpd="sng" w="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g3f9709021b8_0_453"/>
          <p:cNvSpPr/>
          <p:nvPr/>
        </p:nvSpPr>
        <p:spPr>
          <a:xfrm>
            <a:off x="3264971" y="1817116"/>
            <a:ext cx="1924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7A2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07A20"/>
                </a:solidFill>
                <a:latin typeface="Arial"/>
                <a:ea typeface="Arial"/>
                <a:cs typeface="Arial"/>
                <a:sym typeface="Arial"/>
              </a:rPr>
              <a:t>[ 100, 70, 4, 10, 30 ]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g3f9709021b8_0_453"/>
          <p:cNvSpPr/>
          <p:nvPr/>
        </p:nvSpPr>
        <p:spPr>
          <a:xfrm>
            <a:off x="3264975" y="2163225"/>
            <a:ext cx="19686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0" i="0" lang="en-US" sz="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root contains the maximum value, and every parent is greater than or equal to its children.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g3f9709021b8_0_453"/>
          <p:cNvSpPr/>
          <p:nvPr/>
        </p:nvSpPr>
        <p:spPr>
          <a:xfrm>
            <a:off x="151356" y="3084771"/>
            <a:ext cx="5362200" cy="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46B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08246B"/>
                </a:solidFill>
                <a:latin typeface="Arial"/>
                <a:ea typeface="Arial"/>
                <a:cs typeface="Arial"/>
                <a:sym typeface="Arial"/>
              </a:rPr>
              <a:t>1-based indexing: index 0 is unused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3defd360268_6_22"/>
          <p:cNvSpPr txBox="1"/>
          <p:nvPr/>
        </p:nvSpPr>
        <p:spPr>
          <a:xfrm>
            <a:off x="1326574" y="46625"/>
            <a:ext cx="3052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Creating a Heap from an Array 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99" name="Google Shape;1099;g3defd360268_6_22"/>
          <p:cNvSpPr txBox="1"/>
          <p:nvPr/>
        </p:nvSpPr>
        <p:spPr>
          <a:xfrm>
            <a:off x="130860" y="3104757"/>
            <a:ext cx="318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Heapsort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100" name="Google Shape;1100;g3defd360268_6_22" title="Heap_creation_with_inser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375" y="321125"/>
            <a:ext cx="4385599" cy="292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1f8cdc83de_0_1879"/>
          <p:cNvSpPr txBox="1"/>
          <p:nvPr>
            <p:ph type="ctrTitle"/>
          </p:nvPr>
        </p:nvSpPr>
        <p:spPr>
          <a:xfrm>
            <a:off x="716400" y="110200"/>
            <a:ext cx="4826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Heapsort (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Original/Standard/In-place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) Algorithm</a:t>
            </a:r>
            <a:endParaRPr/>
          </a:p>
        </p:txBody>
      </p:sp>
      <p:sp>
        <p:nvSpPr>
          <p:cNvPr id="1106" name="Google Shape;1106;g31f8cdc83de_0_1879"/>
          <p:cNvSpPr txBox="1"/>
          <p:nvPr/>
        </p:nvSpPr>
        <p:spPr>
          <a:xfrm>
            <a:off x="130860" y="3104757"/>
            <a:ext cx="2274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Heaps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07" name="Google Shape;1107;g31f8cdc83de_0_1879"/>
          <p:cNvSpPr txBox="1"/>
          <p:nvPr/>
        </p:nvSpPr>
        <p:spPr>
          <a:xfrm>
            <a:off x="294225" y="457075"/>
            <a:ext cx="5275200" cy="23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Starting point </a:t>
            </a:r>
            <a:r>
              <a:rPr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Any array </a:t>
            </a:r>
            <a:r>
              <a:rPr i="1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</a:t>
            </a:r>
            <a:r>
              <a:rPr i="1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..n</a:t>
            </a:r>
            <a:r>
              <a:rPr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]</a:t>
            </a:r>
            <a:endParaRPr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Goal </a:t>
            </a:r>
            <a:r>
              <a:rPr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Array sorted in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ascending order</a:t>
            </a:r>
            <a:r>
              <a:rPr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i="0" lang="en-US" sz="1000" u="none" cap="none" strike="noStrike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rPr>
              <a:t>in-place</a:t>
            </a:r>
            <a:r>
              <a:rPr i="0" lang="en-US" sz="1000" u="none" cap="none" strike="noStrike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i="0" sz="1000" u="none" cap="none" strike="noStrike">
              <a:solidFill>
                <a:srgbClr val="CC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 sz="1000">
                <a:latin typeface="Tahoma"/>
                <a:ea typeface="Tahoma"/>
                <a:cs typeface="Tahoma"/>
                <a:sym typeface="Tahoma"/>
              </a:rPr>
            </a:br>
            <a:r>
              <a:rPr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Works like </a:t>
            </a:r>
            <a:r>
              <a:rPr b="1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selection sort</a:t>
            </a:r>
            <a:r>
              <a:rPr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by dividing input into </a:t>
            </a:r>
            <a:r>
              <a:rPr b="1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sorted</a:t>
            </a:r>
            <a:r>
              <a:rPr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and </a:t>
            </a:r>
            <a:r>
              <a:rPr b="1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unsorted</a:t>
            </a:r>
            <a:r>
              <a:rPr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regions</a:t>
            </a:r>
            <a:endParaRPr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In-Place Sorting:</a:t>
            </a:r>
            <a:r>
              <a:rPr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Sorting is performed</a:t>
            </a:r>
            <a:r>
              <a:rPr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without using extra space</a:t>
            </a:r>
            <a:r>
              <a:rPr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for another array, </a:t>
            </a:r>
            <a:r>
              <a:rPr i="0" lang="en-US" sz="10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only modifying the input array</a:t>
            </a:r>
            <a:r>
              <a:rPr i="0" lang="en-US" sz="1000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br>
              <a:rPr i="0" lang="en-US" sz="1000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i="0" lang="en-US" sz="1000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Examples of In-Place Sorting Algorithms</a:t>
            </a:r>
            <a:br>
              <a:rPr b="1"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Bubble Sort, Selection Sort, Insertion Sort, Heapsort, Quicksort</a:t>
            </a:r>
            <a:endParaRPr sz="1000" u="sng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br>
              <a:rPr lang="en-US" sz="1000" u="sng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1000" u="sng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For </a:t>
            </a:r>
            <a:r>
              <a:rPr lang="en-US" sz="1000" u="sng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In-Place Sorting,</a:t>
            </a:r>
            <a:r>
              <a:rPr lang="en-US" sz="1000" u="sng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 S</a:t>
            </a:r>
            <a:r>
              <a:rPr i="0" lang="en-US" sz="1000" u="sng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pace complexity is </a:t>
            </a:r>
            <a:r>
              <a:rPr lang="en-US" sz="1000" u="sng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O(1) </a:t>
            </a:r>
            <a:endParaRPr sz="1000" u="sng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ctr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u="sng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rPr>
              <a:t>Original heapsort algorithm is ALWAYS in-place. </a:t>
            </a:r>
            <a:endParaRPr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21ef0433ab_4_2"/>
          <p:cNvSpPr txBox="1"/>
          <p:nvPr>
            <p:ph type="ctrTitle"/>
          </p:nvPr>
        </p:nvSpPr>
        <p:spPr>
          <a:xfrm>
            <a:off x="253625" y="122825"/>
            <a:ext cx="60795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Heapsort (Original/Standard/In-place) Algorithm</a:t>
            </a:r>
            <a:r>
              <a:rPr lang="en-US" sz="1600"/>
              <a:t> </a:t>
            </a:r>
            <a:r>
              <a:rPr lang="en-US" sz="16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(Important!!!)</a:t>
            </a:r>
            <a:endParaRPr sz="1600">
              <a:solidFill>
                <a:srgbClr val="990000"/>
              </a:solidFill>
            </a:endParaRPr>
          </a:p>
        </p:txBody>
      </p:sp>
      <p:sp>
        <p:nvSpPr>
          <p:cNvPr id="1113" name="Google Shape;1113;g321ef0433ab_4_2"/>
          <p:cNvSpPr txBox="1"/>
          <p:nvPr/>
        </p:nvSpPr>
        <p:spPr>
          <a:xfrm>
            <a:off x="130860" y="3104757"/>
            <a:ext cx="2274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Heaps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14" name="Google Shape;1114;g321ef0433ab_4_2"/>
          <p:cNvSpPr txBox="1"/>
          <p:nvPr/>
        </p:nvSpPr>
        <p:spPr>
          <a:xfrm>
            <a:off x="74275" y="688275"/>
            <a:ext cx="56631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Differences in Sorting Order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2286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 Heap: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Sorts in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ascending order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repeatedly moving the </a:t>
            </a:r>
            <a:r>
              <a:rPr b="1" i="0" lang="en-US" sz="10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largest</a:t>
            </a:r>
            <a:r>
              <a:rPr b="0" i="0" lang="en-US" sz="10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elements to the </a:t>
            </a:r>
            <a:r>
              <a:rPr b="1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end.</a:t>
            </a:r>
            <a:endParaRPr b="1" i="0" sz="10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 Heap: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Sorts in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descending order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repeatedly moving the </a:t>
            </a:r>
            <a:r>
              <a:rPr b="1" i="0" lang="en-US" sz="10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smallest</a:t>
            </a:r>
            <a:r>
              <a:rPr b="0" i="0" lang="en-US" sz="10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elements to the </a:t>
            </a:r>
            <a:r>
              <a:rPr b="1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end.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15" name="Google Shape;1115;g321ef0433ab_4_2"/>
          <p:cNvGraphicFramePr/>
          <p:nvPr/>
        </p:nvGraphicFramePr>
        <p:xfrm>
          <a:off x="294625" y="16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{F97DBB60-1C3A-4EF9-BB29-DE84DEF50062}</a:tableStyleId>
              </a:tblPr>
              <a:tblGrid>
                <a:gridCol w="858750"/>
                <a:gridCol w="1354375"/>
                <a:gridCol w="1422250"/>
                <a:gridCol w="1627150"/>
              </a:tblGrid>
              <a:tr h="351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Heap Type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Sorting Order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Key Element Moved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Re-Heapify Operation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</a:tr>
              <a:tr h="44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000" u="none" cap="none" strike="noStrike"/>
                        <a:t>Max Heap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000" u="none" cap="none" strike="noStrike"/>
                        <a:t>Ascending Order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000" u="none" cap="none" strike="noStrike"/>
                        <a:t>Largest to End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000" u="none" cap="none" strike="noStrike"/>
                        <a:t>Maintain Max Heap, </a:t>
                      </a:r>
                      <a:br>
                        <a:rPr lang="en-US" sz="1000" u="none" cap="none" strike="noStrike"/>
                      </a:br>
                      <a:r>
                        <a:rPr lang="en-US" sz="1000" u="none" cap="none" strike="noStrike"/>
                        <a:t>calls max-heapify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44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000" u="none" cap="none" strike="noStrike"/>
                        <a:t>Min Heap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000" u="none" cap="none" strike="noStrike"/>
                        <a:t>Descending Order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000" u="none" cap="none" strike="noStrike"/>
                        <a:t>Smallest to End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000" u="none" cap="none" strike="noStrike"/>
                        <a:t>Maintain Min Heap, </a:t>
                      </a:r>
                      <a:br>
                        <a:rPr lang="en-US" sz="1000" u="none" cap="none" strike="noStrike"/>
                      </a:b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calls min-heapify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21"/>
          <p:cNvSpPr txBox="1"/>
          <p:nvPr>
            <p:ph type="title"/>
          </p:nvPr>
        </p:nvSpPr>
        <p:spPr>
          <a:xfrm>
            <a:off x="1180700" y="162300"/>
            <a:ext cx="37137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Heapsort (Original/Standard) Algorithm</a:t>
            </a:r>
            <a:endParaRPr/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21"/>
          <p:cNvSpPr txBox="1"/>
          <p:nvPr>
            <p:ph idx="1" type="body"/>
          </p:nvPr>
        </p:nvSpPr>
        <p:spPr>
          <a:xfrm>
            <a:off x="85350" y="770852"/>
            <a:ext cx="2790900" cy="16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8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00" u="sng"/>
              <a:t>Explanation</a:t>
            </a:r>
            <a:endParaRPr b="1" sz="1000" u="sng"/>
          </a:p>
          <a:p>
            <a:pPr indent="-63500" lvl="0" marL="857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Tahoma"/>
              <a:buAutoNum type="arabicPeriod"/>
            </a:pPr>
            <a:r>
              <a:rPr lang="en-US" sz="1000"/>
              <a:t>Turn </a:t>
            </a:r>
            <a:r>
              <a:rPr i="1" lang="en-US" sz="100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000"/>
              <a:t>[1</a:t>
            </a:r>
            <a:r>
              <a:rPr i="1" lang="en-US" sz="1000">
                <a:latin typeface="Calibri"/>
                <a:ea typeface="Calibri"/>
                <a:cs typeface="Calibri"/>
                <a:sym typeface="Calibri"/>
              </a:rPr>
              <a:t>..</a:t>
            </a:r>
            <a:r>
              <a:rPr i="1" lang="en-US" sz="1000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00"/>
              <a:t>] into max-heap.</a:t>
            </a:r>
            <a:endParaRPr sz="1000"/>
          </a:p>
          <a:p>
            <a:pPr indent="-63500" lvl="0" marL="85725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Arial"/>
              <a:buAutoNum type="arabicPeriod"/>
            </a:pPr>
            <a:r>
              <a:rPr i="1" lang="en-US" sz="100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000"/>
              <a:t>[1] is now largest element.</a:t>
            </a:r>
            <a:endParaRPr sz="1000"/>
          </a:p>
          <a:p>
            <a:pPr indent="-63500" lvl="0" marL="85725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Tahoma"/>
              <a:buAutoNum type="arabicPeriod"/>
            </a:pPr>
            <a:r>
              <a:rPr lang="en-US" sz="1000"/>
              <a:t>Swap </a:t>
            </a:r>
            <a:r>
              <a:rPr i="1" lang="en-US" sz="100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000"/>
              <a:t>[1] and </a:t>
            </a:r>
            <a:r>
              <a:rPr i="1" lang="en-US" sz="100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000"/>
              <a:t>[</a:t>
            </a:r>
            <a:r>
              <a:rPr i="1" lang="en-US" sz="1000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00"/>
              <a:t>], n=heap_size</a:t>
            </a:r>
            <a:endParaRPr sz="1000"/>
          </a:p>
          <a:p>
            <a:pPr indent="-63500" lvl="0" marL="85725" rtl="0" algn="l">
              <a:lnSpc>
                <a:spcPct val="117083"/>
              </a:lnSpc>
              <a:spcBef>
                <a:spcPts val="250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Tahoma"/>
              <a:buAutoNum type="arabicPeriod"/>
            </a:pPr>
            <a:r>
              <a:rPr lang="en-US" sz="1000"/>
              <a:t>Reduce heap size to </a:t>
            </a:r>
            <a:r>
              <a:rPr i="1" lang="en-US" sz="1000">
                <a:latin typeface="Arial"/>
                <a:ea typeface="Arial"/>
                <a:cs typeface="Arial"/>
                <a:sym typeface="Arial"/>
              </a:rPr>
              <a:t>n - </a:t>
            </a:r>
            <a:r>
              <a:rPr lang="en-US" sz="1000"/>
              <a:t>1</a:t>
            </a:r>
            <a:endParaRPr sz="1000"/>
          </a:p>
          <a:p>
            <a:pPr indent="0" lvl="0" marL="85725" rtl="0" algn="l">
              <a:lnSpc>
                <a:spcPct val="11708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00"/>
              <a:t>and call max-heapify on the root </a:t>
            </a:r>
            <a:endParaRPr sz="1000"/>
          </a:p>
          <a:p>
            <a:pPr indent="0" lvl="0" marL="0" rtl="0" algn="l">
              <a:lnSpc>
                <a:spcPct val="11708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00"/>
              <a:t>5.Now, </a:t>
            </a:r>
            <a:r>
              <a:rPr i="1" lang="en-US" sz="100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000"/>
              <a:t>[</a:t>
            </a:r>
            <a:r>
              <a:rPr i="1" lang="en-US" sz="1000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00"/>
              <a:t>] contains largest element (is sorted) and </a:t>
            </a:r>
            <a:r>
              <a:rPr i="1" lang="en-US" sz="100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000"/>
              <a:t>[1</a:t>
            </a:r>
            <a:r>
              <a:rPr i="1" lang="en-US" sz="1000">
                <a:latin typeface="Calibri"/>
                <a:ea typeface="Calibri"/>
                <a:cs typeface="Calibri"/>
                <a:sym typeface="Calibri"/>
              </a:rPr>
              <a:t>..</a:t>
            </a:r>
            <a:r>
              <a:rPr i="1" lang="en-US" sz="1000">
                <a:latin typeface="Arial"/>
                <a:ea typeface="Arial"/>
                <a:cs typeface="Arial"/>
                <a:sym typeface="Arial"/>
              </a:rPr>
              <a:t>n - </a:t>
            </a:r>
            <a:r>
              <a:rPr lang="en-US" sz="1000"/>
              <a:t>1] is max-heap.</a:t>
            </a:r>
            <a:endParaRPr sz="1000"/>
          </a:p>
          <a:p>
            <a:pPr indent="-63500" lvl="0" marL="85725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Tahoma"/>
              <a:buAutoNum type="arabicPeriod" startAt="6"/>
            </a:pPr>
            <a:r>
              <a:rPr lang="en-US" sz="1000"/>
              <a:t>Repeat until entire array is sorted.</a:t>
            </a:r>
            <a:endParaRPr sz="1000"/>
          </a:p>
        </p:txBody>
      </p:sp>
      <p:pic>
        <p:nvPicPr>
          <p:cNvPr id="1122" name="Google Shape;11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1850" y="834926"/>
            <a:ext cx="2923950" cy="157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21"/>
          <p:cNvSpPr txBox="1"/>
          <p:nvPr/>
        </p:nvSpPr>
        <p:spPr>
          <a:xfrm>
            <a:off x="130860" y="3104757"/>
            <a:ext cx="318135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Heapsort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24" name="Google Shape;1124;p21"/>
          <p:cNvSpPr txBox="1"/>
          <p:nvPr/>
        </p:nvSpPr>
        <p:spPr>
          <a:xfrm>
            <a:off x="239775" y="2607688"/>
            <a:ext cx="5199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Works like </a:t>
            </a:r>
            <a:r>
              <a:rPr b="1" i="0" lang="en-US" sz="11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selection sort</a:t>
            </a:r>
            <a:r>
              <a:rPr b="0" i="0" lang="en-US" sz="11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by dividing input into </a:t>
            </a:r>
            <a:r>
              <a:rPr b="1" i="0" lang="en-US" sz="11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sorted</a:t>
            </a:r>
            <a:r>
              <a:rPr b="0" i="0" lang="en-US" sz="11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11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unsorted</a:t>
            </a:r>
            <a:r>
              <a:rPr b="0" i="0" lang="en-US" sz="11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regions.</a:t>
            </a:r>
            <a:endParaRPr b="0" i="0" sz="1400" u="sng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37543373484_0_7"/>
          <p:cNvSpPr txBox="1"/>
          <p:nvPr>
            <p:ph type="title"/>
          </p:nvPr>
        </p:nvSpPr>
        <p:spPr>
          <a:xfrm>
            <a:off x="1436700" y="45975"/>
            <a:ext cx="3526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Heapsort (Original/Standard) Algorithm</a:t>
            </a:r>
            <a:endParaRPr/>
          </a:p>
        </p:txBody>
      </p:sp>
      <p:sp>
        <p:nvSpPr>
          <p:cNvPr id="1130" name="Google Shape;1130;g37543373484_0_7"/>
          <p:cNvSpPr txBox="1"/>
          <p:nvPr/>
        </p:nvSpPr>
        <p:spPr>
          <a:xfrm>
            <a:off x="306900" y="2983125"/>
            <a:ext cx="352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Source: https://www.lavivienpost.net/heapsort-gif/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131" name="Google Shape;1131;g37543373484_0_7" title="heap_sort_max_simulation_with_index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350" y="318225"/>
            <a:ext cx="4945000" cy="276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f83a41d1fb_2_24"/>
          <p:cNvSpPr txBox="1"/>
          <p:nvPr/>
        </p:nvSpPr>
        <p:spPr>
          <a:xfrm>
            <a:off x="994575" y="70650"/>
            <a:ext cx="37947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Calibri"/>
                <a:ea typeface="Calibri"/>
                <a:cs typeface="Calibri"/>
                <a:sym typeface="Calibri"/>
              </a:rPr>
              <a:t>Heapsort (Original/Standard) Algorithm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g3f83a41d1fb_2_24"/>
          <p:cNvSpPr txBox="1"/>
          <p:nvPr/>
        </p:nvSpPr>
        <p:spPr>
          <a:xfrm>
            <a:off x="1347491" y="309917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g3f83a41d1fb_2_24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39" name="Google Shape;1139;g3f83a41d1fb_2_24"/>
          <p:cNvGraphicFramePr/>
          <p:nvPr/>
        </p:nvGraphicFramePr>
        <p:xfrm>
          <a:off x="749025" y="444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{9B85AE13-7DBD-492C-A57F-0A71FF106FDA}</a:tableStyleId>
              </a:tblPr>
              <a:tblGrid>
                <a:gridCol w="478275"/>
                <a:gridCol w="2250175"/>
                <a:gridCol w="874925"/>
                <a:gridCol w="586425"/>
              </a:tblGrid>
              <a:tr h="20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Line</a:t>
                      </a:r>
                      <a:endParaRPr b="1" sz="7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635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Time </a:t>
                      </a:r>
                      <a:r>
                        <a:rPr b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cost</a:t>
                      </a:r>
                      <a:endParaRPr b="1" sz="7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635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times</a:t>
                      </a:r>
                      <a:endParaRPr b="1" sz="7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201625">
                <a:tc gridSpan="4">
                  <a:txBody>
                    <a:bodyPr/>
                    <a:lstStyle/>
                    <a:p>
                      <a:pPr indent="0" lvl="0" marL="25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In-place-heapsort(</a:t>
                      </a:r>
                      <a:r>
                        <a:rPr b="1"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r>
                        <a:rPr b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):</a:t>
                      </a:r>
                      <a:endParaRPr b="1" sz="7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20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5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build-max-heap(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635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</a:t>
                      </a:r>
                      <a:r>
                        <a:rPr b="1" i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</a:t>
                      </a:r>
                      <a:r>
                        <a:rPr b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b="1" sz="7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635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b="1" sz="7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20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5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for 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 ← length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[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] </a:t>
                      </a:r>
                      <a:r>
                        <a:rPr b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downto 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635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O(1)</a:t>
                      </a:r>
                      <a:endParaRPr b="1" sz="7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635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</a:t>
                      </a:r>
                      <a:endParaRPr b="1" sz="7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20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5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         do 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exchange 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[1] 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↔ A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[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 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]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635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O(1)</a:t>
                      </a:r>
                      <a:endParaRPr b="1" sz="7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635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 − </a:t>
                      </a:r>
                      <a:r>
                        <a:rPr b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b="1" sz="7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20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5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         heap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size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[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] 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← heap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size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[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] 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− 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635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O(1)</a:t>
                      </a:r>
                      <a:endParaRPr b="1" sz="7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635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 − </a:t>
                      </a:r>
                      <a:r>
                        <a:rPr b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b="1" sz="7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20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25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         max-heapify(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A, 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1) </a:t>
                      </a:r>
                      <a:r>
                        <a:rPr b="1" lang="en-US" sz="700">
                          <a:solidFill>
                            <a:srgbClr val="99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[Iterative]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635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O(lg </a:t>
                      </a:r>
                      <a:r>
                        <a:rPr b="1" i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</a:t>
                      </a:r>
                      <a:r>
                        <a:rPr b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b="1" sz="7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635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 − </a:t>
                      </a:r>
                      <a:r>
                        <a:rPr b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b="1" sz="7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40" name="Google Shape;1140;g3f83a41d1fb_2_24"/>
          <p:cNvSpPr txBox="1"/>
          <p:nvPr/>
        </p:nvSpPr>
        <p:spPr>
          <a:xfrm>
            <a:off x="1056825" y="2440925"/>
            <a:ext cx="3438000" cy="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Worst-Case Time Analysis</a:t>
            </a:r>
            <a:endParaRPr b="1" sz="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T(n) = O(n) + O(n) x (</a:t>
            </a:r>
            <a:r>
              <a:rPr lang="en-US" sz="8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O(1) + O(1) + O(lg n) </a:t>
            </a:r>
            <a: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T(n) = O(n) + O(n lg n)</a:t>
            </a:r>
            <a:endParaRPr sz="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T(n) = O(n lg n)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3f83a41d1fb_2_32"/>
          <p:cNvSpPr txBox="1"/>
          <p:nvPr/>
        </p:nvSpPr>
        <p:spPr>
          <a:xfrm>
            <a:off x="994575" y="70650"/>
            <a:ext cx="37947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Calibri"/>
                <a:ea typeface="Calibri"/>
                <a:cs typeface="Calibri"/>
                <a:sym typeface="Calibri"/>
              </a:rPr>
              <a:t>Heapsort (Original/Standard) Algorithm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g3f83a41d1fb_2_32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g3f83a41d1fb_2_32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48" name="Google Shape;1148;g3f83a41d1fb_2_32"/>
          <p:cNvGraphicFramePr/>
          <p:nvPr/>
        </p:nvGraphicFramePr>
        <p:xfrm>
          <a:off x="108900" y="470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{9B85AE13-7DBD-492C-A57F-0A71FF106FDA}</a:tableStyleId>
              </a:tblPr>
              <a:tblGrid>
                <a:gridCol w="388675"/>
                <a:gridCol w="1968900"/>
                <a:gridCol w="583375"/>
                <a:gridCol w="2669825"/>
              </a:tblGrid>
              <a:tr h="20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Line</a:t>
                      </a:r>
                      <a:endParaRPr b="1" sz="7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635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Space </a:t>
                      </a:r>
                      <a:r>
                        <a:rPr b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cost</a:t>
                      </a:r>
                      <a:endParaRPr b="1" sz="7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635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Explanation</a:t>
                      </a:r>
                      <a:endParaRPr b="1" sz="7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201625">
                <a:tc gridSpan="4">
                  <a:txBody>
                    <a:bodyPr/>
                    <a:lstStyle/>
                    <a:p>
                      <a:pPr indent="0" lvl="0" marL="25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In-place-heapsort(</a:t>
                      </a:r>
                      <a:r>
                        <a:rPr b="1"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r>
                        <a:rPr b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):</a:t>
                      </a:r>
                      <a:endParaRPr b="1" sz="7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20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5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build-max-heap(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635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</a:t>
                      </a:r>
                      <a:r>
                        <a:rPr b="1" i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r>
                        <a:rPr b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b="1" sz="7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Heap is built inside the original array; no additional array is created.</a:t>
                      </a:r>
                      <a:endParaRPr b="1" sz="6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20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5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for 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 ← length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[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] </a:t>
                      </a:r>
                      <a:r>
                        <a:rPr b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downto 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635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O(1)</a:t>
                      </a:r>
                      <a:endParaRPr b="1" sz="7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Only loop variable i is used.</a:t>
                      </a:r>
                      <a:endParaRPr b="1" sz="6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20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5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         do 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exchange 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[1] 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↔ A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[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 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]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635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O(1)</a:t>
                      </a:r>
                      <a:endParaRPr b="1" sz="7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Only one temporary variable is needed for swapping.</a:t>
                      </a:r>
                      <a:endParaRPr b="1" sz="6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25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5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         heap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size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[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] 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← heap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size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[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] 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− 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635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O(1)</a:t>
                      </a:r>
                      <a:endParaRPr b="1" sz="7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Only the heap-size variable is updated.</a:t>
                      </a:r>
                      <a:endParaRPr b="1" sz="6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20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25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         max-heapify(</a:t>
                      </a:r>
                      <a:r>
                        <a:rPr i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A, </a:t>
                      </a:r>
                      <a:r>
                        <a:rPr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1) </a:t>
                      </a:r>
                      <a:r>
                        <a:rPr b="1" lang="en-US" sz="700">
                          <a:solidFill>
                            <a:srgbClr val="99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[Iterative]</a:t>
                      </a:r>
                      <a:endParaRPr b="1" sz="700">
                        <a:solidFill>
                          <a:srgbClr val="99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635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O(1)</a:t>
                      </a:r>
                      <a:endParaRPr b="1" sz="7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Uses only a few variables; no extra array.</a:t>
                      </a:r>
                      <a:endParaRPr b="1" sz="6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49" name="Google Shape;1149;g3f83a41d1fb_2_32"/>
          <p:cNvSpPr txBox="1"/>
          <p:nvPr/>
        </p:nvSpPr>
        <p:spPr>
          <a:xfrm>
            <a:off x="148600" y="2679925"/>
            <a:ext cx="48921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Worst-Case Space Analysis</a:t>
            </a:r>
            <a:endParaRPr b="1" sz="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</a:t>
            </a:r>
            <a: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(n) = O(1)  [In-place sorting]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3f83a41d1fb_2_0"/>
          <p:cNvSpPr txBox="1"/>
          <p:nvPr/>
        </p:nvSpPr>
        <p:spPr>
          <a:xfrm>
            <a:off x="1019000" y="179800"/>
            <a:ext cx="37947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Calibri"/>
                <a:ea typeface="Calibri"/>
                <a:cs typeface="Calibri"/>
                <a:sym typeface="Calibri"/>
              </a:rPr>
              <a:t>Heapsort (Original/Standard) Algorithm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55" name="Google Shape;1155;g3f83a41d1fb_2_0"/>
          <p:cNvGraphicFramePr/>
          <p:nvPr/>
        </p:nvGraphicFramePr>
        <p:xfrm>
          <a:off x="386715" y="7594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{77990354-3967-4FDC-927E-2DF509835202}</a:tableStyleId>
              </a:tblPr>
              <a:tblGrid>
                <a:gridCol w="2692300"/>
                <a:gridCol w="733825"/>
                <a:gridCol w="1834150"/>
              </a:tblGrid>
              <a:tr h="185775">
                <a:tc>
                  <a:txBody>
                    <a:bodyPr/>
                    <a:lstStyle/>
                    <a:p>
                      <a:pPr indent="0" lvl="0" marL="25400" marR="0" rtl="0" algn="l">
                        <a:lnSpc>
                          <a:spcPct val="11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heapsort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 hMerge="1"/>
              </a:tr>
              <a:tr h="17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63500" rtl="0" algn="r">
                        <a:lnSpc>
                          <a:spcPct val="11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1" lang="en-US" sz="1000" u="none" cap="none" strike="noStrike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350" marB="0" marR="0" marL="0"/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1" lang="en-US" sz="1000" u="none" cap="none" strike="noStrike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350" marB="0" marR="0" marL="0"/>
                </a:tc>
              </a:tr>
              <a:tr h="164325">
                <a:tc>
                  <a:txBody>
                    <a:bodyPr/>
                    <a:lstStyle/>
                    <a:p>
                      <a:pPr indent="0" lvl="0" marL="25400" marR="0" rtl="0" algn="l">
                        <a:lnSpc>
                          <a:spcPct val="115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	</a:t>
                      </a:r>
                      <a:r>
                        <a:rPr lang="en-US" sz="1000" u="none" cap="none" strike="noStrike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build-max-heap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63500" rtl="0" algn="r">
                        <a:lnSpc>
                          <a:spcPct val="115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Θ(</a:t>
                      </a:r>
                      <a:r>
                        <a:rPr i="1" lang="en-US" sz="1000" u="none" cap="none" strike="noStrike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</a:tr>
              <a:tr h="160750">
                <a:tc>
                  <a:txBody>
                    <a:bodyPr/>
                    <a:lstStyle/>
                    <a:p>
                      <a:pPr indent="0" lvl="0" marL="25400" marR="0" rtl="0" algn="l">
                        <a:lnSpc>
                          <a:spcPct val="113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	</a:t>
                      </a:r>
                      <a:r>
                        <a:rPr b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 </a:t>
                      </a:r>
                      <a:r>
                        <a:rPr i="1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←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length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[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] </a:t>
                      </a:r>
                      <a:r>
                        <a:rPr b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downto </a:t>
                      </a: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63500" rtl="0" algn="r">
                        <a:lnSpc>
                          <a:spcPct val="113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Θ(</a:t>
                      </a: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3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1" lang="en-US" sz="1000" u="none" cap="none" strike="noStrike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</a:tr>
              <a:tr h="160750">
                <a:tc>
                  <a:txBody>
                    <a:bodyPr/>
                    <a:lstStyle/>
                    <a:p>
                      <a:pPr indent="0" lvl="0" marL="25400" marR="0" rtl="0" algn="l">
                        <a:lnSpc>
                          <a:spcPct val="113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	      </a:t>
                      </a:r>
                      <a:r>
                        <a:rPr b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 </a:t>
                      </a: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exchange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[</a:t>
                      </a: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] </a:t>
                      </a:r>
                      <a:r>
                        <a:rPr i="1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↔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[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 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]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63500" rtl="0" algn="r">
                        <a:lnSpc>
                          <a:spcPct val="113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Θ(</a:t>
                      </a: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3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1" lang="en-US" sz="1000" u="none" cap="none" strike="noStrike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 </a:t>
                      </a:r>
                      <a:r>
                        <a:rPr i="1" lang="en-US" sz="1000" u="none" cap="none" strike="noStrik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 </a:t>
                      </a: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</a:tr>
              <a:tr h="157775">
                <a:tc gridSpan="2">
                  <a:txBody>
                    <a:bodyPr/>
                    <a:lstStyle/>
                    <a:p>
                      <a:pPr indent="0" lvl="0" marL="25400" marR="0" rtl="0" algn="l">
                        <a:lnSpc>
                          <a:spcPct val="111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	     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heap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[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] </a:t>
                      </a:r>
                      <a:r>
                        <a:rPr i="1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←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heap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[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] </a:t>
                      </a:r>
                      <a:r>
                        <a:rPr i="1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− </a:t>
                      </a: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                       </a:t>
                      </a:r>
                      <a:r>
                        <a:rPr lang="en-US" sz="10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Θ(</a:t>
                      </a:r>
                      <a:r>
                        <a:rPr lang="en-US" sz="1000" u="none" cap="none" strike="noStrike">
                          <a:solidFill>
                            <a:schemeClr val="hlink"/>
                          </a:solidFill>
                        </a:rPr>
                        <a:t>1</a:t>
                      </a:r>
                      <a:r>
                        <a:rPr lang="en-US" sz="10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 hMerge="1"/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1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1" lang="en-US" sz="1000" u="none" cap="none" strike="noStrike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 </a:t>
                      </a:r>
                      <a:r>
                        <a:rPr i="1" lang="en-US" sz="1000" u="none" cap="none" strike="noStrik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 </a:t>
                      </a: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</a:tr>
              <a:tr h="164925">
                <a:tc>
                  <a:txBody>
                    <a:bodyPr/>
                    <a:lstStyle/>
                    <a:p>
                      <a:pPr indent="0" lvl="0" marL="25400" marR="0" rtl="0" algn="l">
                        <a:lnSpc>
                          <a:spcPct val="115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	      </a:t>
                      </a:r>
                      <a:r>
                        <a:rPr lang="en-US" sz="1000" u="none" cap="none" strike="noStrike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max-heapify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r>
                        <a:rPr b="0" i="1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63500" rtl="0" algn="r">
                        <a:lnSpc>
                          <a:spcPct val="115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Θ(</a:t>
                      </a: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lg </a:t>
                      </a:r>
                      <a:r>
                        <a:rPr i="1" lang="en-US" sz="1000" u="none" cap="none" strike="noStrike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1" lang="en-US" sz="1000" u="none" cap="none" strike="noStrike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 </a:t>
                      </a:r>
                      <a:r>
                        <a:rPr i="1" lang="en-US" sz="1000" u="none" cap="none" strike="noStrik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 </a:t>
                      </a:r>
                      <a:r>
                        <a:rPr lang="en-US" sz="1000" u="none" cap="none" strike="noStrike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grpSp>
        <p:nvGrpSpPr>
          <p:cNvPr id="1156" name="Google Shape;1156;g3f83a41d1fb_2_0"/>
          <p:cNvGrpSpPr/>
          <p:nvPr/>
        </p:nvGrpSpPr>
        <p:grpSpPr>
          <a:xfrm>
            <a:off x="386714" y="2289840"/>
            <a:ext cx="5053395" cy="447485"/>
            <a:chOff x="309198" y="2442238"/>
            <a:chExt cx="4040453" cy="477266"/>
          </a:xfrm>
        </p:grpSpPr>
        <p:sp>
          <p:nvSpPr>
            <p:cNvPr id="1157" name="Google Shape;1157;g3f83a41d1fb_2_0"/>
            <p:cNvSpPr/>
            <p:nvPr/>
          </p:nvSpPr>
          <p:spPr>
            <a:xfrm>
              <a:off x="309198" y="2442238"/>
              <a:ext cx="3989704" cy="186689"/>
            </a:xfrm>
            <a:custGeom>
              <a:rect b="b" l="l" r="r" t="t"/>
              <a:pathLst>
                <a:path extrusionOk="0" h="18668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6558"/>
                  </a:lnTo>
                  <a:lnTo>
                    <a:pt x="3989652" y="186558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58" name="Google Shape;1158;g3f83a41d1fb_2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9198" y="2616142"/>
              <a:ext cx="3989651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9" name="Google Shape;1159;g3f83a41d1fb_2_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9999" y="2817904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0" name="Google Shape;1160;g3f83a41d1fb_2_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0799" y="2805203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1" name="Google Shape;1161;g3f83a41d1fb_2_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298851" y="2486472"/>
              <a:ext cx="50800" cy="3314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2" name="Google Shape;1162;g3f83a41d1fb_2_0"/>
            <p:cNvSpPr/>
            <p:nvPr/>
          </p:nvSpPr>
          <p:spPr>
            <a:xfrm>
              <a:off x="309198" y="2660425"/>
              <a:ext cx="3989704" cy="208280"/>
            </a:xfrm>
            <a:custGeom>
              <a:rect b="b" l="l" r="r" t="t"/>
              <a:pathLst>
                <a:path extrusionOk="0" h="208280" w="3989704">
                  <a:moveTo>
                    <a:pt x="3989652" y="0"/>
                  </a:moveTo>
                  <a:lnTo>
                    <a:pt x="0" y="0"/>
                  </a:lnTo>
                  <a:lnTo>
                    <a:pt x="0" y="157478"/>
                  </a:lnTo>
                  <a:lnTo>
                    <a:pt x="4008" y="177203"/>
                  </a:lnTo>
                  <a:lnTo>
                    <a:pt x="14922" y="193356"/>
                  </a:lnTo>
                  <a:lnTo>
                    <a:pt x="31075" y="204270"/>
                  </a:lnTo>
                  <a:lnTo>
                    <a:pt x="50800" y="208279"/>
                  </a:lnTo>
                  <a:lnTo>
                    <a:pt x="3938852" y="208279"/>
                  </a:lnTo>
                  <a:lnTo>
                    <a:pt x="3958576" y="204270"/>
                  </a:lnTo>
                  <a:lnTo>
                    <a:pt x="3974729" y="193356"/>
                  </a:lnTo>
                  <a:lnTo>
                    <a:pt x="3985644" y="177203"/>
                  </a:lnTo>
                  <a:lnTo>
                    <a:pt x="3989652" y="15747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g3f83a41d1fb_2_0"/>
            <p:cNvSpPr/>
            <p:nvPr/>
          </p:nvSpPr>
          <p:spPr>
            <a:xfrm>
              <a:off x="4298851" y="2524572"/>
              <a:ext cx="0" cy="312419"/>
            </a:xfrm>
            <a:custGeom>
              <a:rect b="b" l="l" r="r" t="t"/>
              <a:pathLst>
                <a:path extrusionOk="0" h="312419" w="120000">
                  <a:moveTo>
                    <a:pt x="0" y="31238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g3f83a41d1fb_2_0"/>
            <p:cNvSpPr/>
            <p:nvPr/>
          </p:nvSpPr>
          <p:spPr>
            <a:xfrm>
              <a:off x="4298851" y="251187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g3f83a41d1fb_2_0"/>
            <p:cNvSpPr/>
            <p:nvPr/>
          </p:nvSpPr>
          <p:spPr>
            <a:xfrm>
              <a:off x="4298851" y="249917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g3f83a41d1fb_2_0"/>
            <p:cNvSpPr/>
            <p:nvPr/>
          </p:nvSpPr>
          <p:spPr>
            <a:xfrm>
              <a:off x="4298851" y="248647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7" name="Google Shape;1167;g3f83a41d1fb_2_0"/>
          <p:cNvSpPr txBox="1"/>
          <p:nvPr/>
        </p:nvSpPr>
        <p:spPr>
          <a:xfrm>
            <a:off x="434396" y="2230075"/>
            <a:ext cx="3969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84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nalysis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=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Θ(</a:t>
            </a:r>
            <a:r>
              <a:rPr b="0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)+ Θ(</a:t>
            </a:r>
            <a:r>
              <a:rPr b="0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lg </a:t>
            </a:r>
            <a:r>
              <a:rPr b="0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Θ(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lg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68" name="Google Shape;1168;g3f83a41d1fb_2_0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g3f83a41d1fb_2_0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g3f83a41d1fb_2_0"/>
          <p:cNvSpPr txBox="1"/>
          <p:nvPr/>
        </p:nvSpPr>
        <p:spPr>
          <a:xfrm>
            <a:off x="386725" y="276207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Space Complexity: </a:t>
            </a: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S(n) = Θ(1)</a:t>
            </a:r>
            <a:endParaRPr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37543373484_0_18"/>
          <p:cNvSpPr txBox="1"/>
          <p:nvPr/>
        </p:nvSpPr>
        <p:spPr>
          <a:xfrm>
            <a:off x="975875" y="75725"/>
            <a:ext cx="46464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Calibri"/>
                <a:ea typeface="Calibri"/>
                <a:cs typeface="Calibri"/>
                <a:sym typeface="Calibri"/>
              </a:rPr>
              <a:t>Heapsort (Original/Standard) Algorithm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g37543373484_0_18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g37543373484_0_18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8" name="Google Shape;1178;g37543373484_0_18" title="heap_sort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853" y="339426"/>
            <a:ext cx="4601750" cy="258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g37543373484_0_18"/>
          <p:cNvSpPr txBox="1"/>
          <p:nvPr/>
        </p:nvSpPr>
        <p:spPr>
          <a:xfrm>
            <a:off x="294675" y="2922875"/>
            <a:ext cx="4947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Source: https://yaswa779.medium.com/introduction-to-heap-sort-edad68e6b0d1</a:t>
            </a:r>
            <a:endParaRPr b="0" i="0" sz="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31f8cdc83de_0_168"/>
          <p:cNvSpPr txBox="1"/>
          <p:nvPr/>
        </p:nvSpPr>
        <p:spPr>
          <a:xfrm>
            <a:off x="981250" y="138975"/>
            <a:ext cx="45576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Calibri"/>
                <a:ea typeface="Calibri"/>
                <a:cs typeface="Calibri"/>
                <a:sym typeface="Calibri"/>
              </a:rPr>
              <a:t>Heapsort (Original/Standard) Algorithm Simulation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5" name="Google Shape;1185;g31f8cdc83de_0_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13" y="648502"/>
            <a:ext cx="3000743" cy="1903327"/>
          </a:xfrm>
          <a:prstGeom prst="rect">
            <a:avLst/>
          </a:prstGeom>
          <a:noFill/>
          <a:ln>
            <a:noFill/>
          </a:ln>
        </p:spPr>
      </p:pic>
      <p:sp>
        <p:nvSpPr>
          <p:cNvPr id="1186" name="Google Shape;1186;g31f8cdc83de_0_168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g31f8cdc83de_0_168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31f8cdc83de_0_455"/>
          <p:cNvSpPr txBox="1"/>
          <p:nvPr/>
        </p:nvSpPr>
        <p:spPr>
          <a:xfrm>
            <a:off x="938150" y="138975"/>
            <a:ext cx="46008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Calibri"/>
                <a:ea typeface="Calibri"/>
                <a:cs typeface="Calibri"/>
                <a:sym typeface="Calibri"/>
              </a:rPr>
              <a:t>Heapsort (Original/Standard) Algorithm Simulation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700">
              <a:solidFill>
                <a:srgbClr val="3346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g31f8cdc83de_0_455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g31f8cdc83de_0_455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5" name="Google Shape;1195;g31f8cdc83de_0_4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1263" y="699502"/>
            <a:ext cx="3000743" cy="1903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31f8cdc83de_0_463"/>
          <p:cNvSpPr txBox="1"/>
          <p:nvPr/>
        </p:nvSpPr>
        <p:spPr>
          <a:xfrm>
            <a:off x="633025" y="138975"/>
            <a:ext cx="49059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Calibri"/>
                <a:ea typeface="Calibri"/>
                <a:cs typeface="Calibri"/>
                <a:sym typeface="Calibri"/>
              </a:rPr>
              <a:t>Heapsort (Original/Standard) Algorithm Simulation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700">
              <a:solidFill>
                <a:srgbClr val="3346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g31f8cdc83de_0_463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g31f8cdc83de_0_463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3" name="Google Shape;1203;g31f8cdc83de_0_4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588" y="561752"/>
            <a:ext cx="3000743" cy="1903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31f8cdc83de_0_471"/>
          <p:cNvSpPr txBox="1"/>
          <p:nvPr/>
        </p:nvSpPr>
        <p:spPr>
          <a:xfrm>
            <a:off x="841125" y="138975"/>
            <a:ext cx="4697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Calibri"/>
                <a:ea typeface="Calibri"/>
                <a:cs typeface="Calibri"/>
                <a:sym typeface="Calibri"/>
              </a:rPr>
              <a:t>Heapsort (Original/Standard) Algorithm Simulation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700">
              <a:solidFill>
                <a:srgbClr val="3346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g31f8cdc83de_0_471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g31f8cdc83de_0_471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1" name="Google Shape;1211;g31f8cdc83de_0_4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363" y="614639"/>
            <a:ext cx="3000743" cy="1903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31f8cdc83de_0_479"/>
          <p:cNvSpPr txBox="1"/>
          <p:nvPr/>
        </p:nvSpPr>
        <p:spPr>
          <a:xfrm>
            <a:off x="760275" y="138975"/>
            <a:ext cx="4778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Calibri"/>
                <a:ea typeface="Calibri"/>
                <a:cs typeface="Calibri"/>
                <a:sym typeface="Calibri"/>
              </a:rPr>
              <a:t>Heapsort (Original/Standard) Algorithm Simulation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g31f8cdc83de_0_479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g31f8cdc83de_0_479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9" name="Google Shape;1219;g31f8cdc83de_0_4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463" y="556652"/>
            <a:ext cx="3000743" cy="1903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31f8cdc83de_0_487"/>
          <p:cNvSpPr txBox="1"/>
          <p:nvPr/>
        </p:nvSpPr>
        <p:spPr>
          <a:xfrm>
            <a:off x="711750" y="138975"/>
            <a:ext cx="48270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Calibri"/>
                <a:ea typeface="Calibri"/>
                <a:cs typeface="Calibri"/>
                <a:sym typeface="Calibri"/>
              </a:rPr>
              <a:t>Heapsort (Original/Standard) Algorithm Simulation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g31f8cdc83de_0_487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g31f8cdc83de_0_487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7" name="Google Shape;1227;g31f8cdc83de_0_4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238" y="475027"/>
            <a:ext cx="3000743" cy="1903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1f8cdc83de_0_494"/>
          <p:cNvSpPr txBox="1"/>
          <p:nvPr/>
        </p:nvSpPr>
        <p:spPr>
          <a:xfrm>
            <a:off x="695575" y="138975"/>
            <a:ext cx="48432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Calibri"/>
                <a:ea typeface="Calibri"/>
                <a:cs typeface="Calibri"/>
                <a:sym typeface="Calibri"/>
              </a:rPr>
              <a:t>Heapsort (Original/Standard) Algorithm Simulation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g31f8cdc83de_0_494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g31f8cdc83de_0_494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5" name="Google Shape;1235;g31f8cdc83de_0_4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238" y="475027"/>
            <a:ext cx="3000743" cy="1903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31f8cdc83de_0_500"/>
          <p:cNvSpPr txBox="1"/>
          <p:nvPr/>
        </p:nvSpPr>
        <p:spPr>
          <a:xfrm>
            <a:off x="749500" y="122800"/>
            <a:ext cx="46008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Calibri"/>
                <a:ea typeface="Calibri"/>
                <a:cs typeface="Calibri"/>
                <a:sym typeface="Calibri"/>
              </a:rPr>
              <a:t>Heapsort (Original/Standard) Algorithm Simulation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g31f8cdc83de_0_500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g31f8cdc83de_0_500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3" name="Google Shape;1243;g31f8cdc83de_0_5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238" y="475027"/>
            <a:ext cx="3000743" cy="1903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31f8cdc83de_0_506"/>
          <p:cNvSpPr txBox="1"/>
          <p:nvPr/>
        </p:nvSpPr>
        <p:spPr>
          <a:xfrm>
            <a:off x="695575" y="138975"/>
            <a:ext cx="48432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Calibri"/>
                <a:ea typeface="Calibri"/>
                <a:cs typeface="Calibri"/>
                <a:sym typeface="Calibri"/>
              </a:rPr>
              <a:t>Heapsort (Original/Standard) Algorithm Simulation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g31f8cdc83de_0_506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g31f8cdc83de_0_506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1" name="Google Shape;1251;g31f8cdc83de_0_5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238" y="475027"/>
            <a:ext cx="3000743" cy="1903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31f8cdc83de_0_512"/>
          <p:cNvSpPr txBox="1"/>
          <p:nvPr/>
        </p:nvSpPr>
        <p:spPr>
          <a:xfrm>
            <a:off x="803400" y="138975"/>
            <a:ext cx="47355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Calibri"/>
                <a:ea typeface="Calibri"/>
                <a:cs typeface="Calibri"/>
                <a:sym typeface="Calibri"/>
              </a:rPr>
              <a:t>Heapsort (Original/Standard) Algorithm Simulation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g31f8cdc83de_0_512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g31f8cdc83de_0_512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9" name="Google Shape;1259;g31f8cdc83de_0_5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238" y="475027"/>
            <a:ext cx="3000743" cy="1903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31f8cdc83de_0_518"/>
          <p:cNvSpPr txBox="1"/>
          <p:nvPr/>
        </p:nvSpPr>
        <p:spPr>
          <a:xfrm>
            <a:off x="666075" y="90475"/>
            <a:ext cx="45738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Calibri"/>
                <a:ea typeface="Calibri"/>
                <a:cs typeface="Calibri"/>
                <a:sym typeface="Calibri"/>
              </a:rPr>
              <a:t>Heapsort (Original/Standard) Algorithm Simulation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g31f8cdc83de_0_518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g31f8cdc83de_0_518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7" name="Google Shape;1267;g31f8cdc83de_0_5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238" y="475027"/>
            <a:ext cx="3000743" cy="1903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31f8cdc83de_0_524"/>
          <p:cNvSpPr txBox="1"/>
          <p:nvPr/>
        </p:nvSpPr>
        <p:spPr>
          <a:xfrm>
            <a:off x="695575" y="138975"/>
            <a:ext cx="48432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Calibri"/>
                <a:ea typeface="Calibri"/>
                <a:cs typeface="Calibri"/>
                <a:sym typeface="Calibri"/>
              </a:rPr>
              <a:t>Heapsort (Original/Standard) Algorithm Simulation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g31f8cdc83de_0_524"/>
          <p:cNvSpPr txBox="1"/>
          <p:nvPr/>
        </p:nvSpPr>
        <p:spPr>
          <a:xfrm>
            <a:off x="633016" y="3125521"/>
            <a:ext cx="5868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Mumit Khan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g31f8cdc83de_0_524"/>
          <p:cNvSpPr txBox="1"/>
          <p:nvPr/>
        </p:nvSpPr>
        <p:spPr>
          <a:xfrm>
            <a:off x="5316337" y="3125521"/>
            <a:ext cx="3279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 / 29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5" name="Google Shape;1275;g31f8cdc83de_0_5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1038" y="412793"/>
            <a:ext cx="3000743" cy="2579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22"/>
          <p:cNvSpPr txBox="1"/>
          <p:nvPr/>
        </p:nvSpPr>
        <p:spPr>
          <a:xfrm>
            <a:off x="636300" y="46625"/>
            <a:ext cx="45546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Calibri"/>
                <a:ea typeface="Calibri"/>
                <a:cs typeface="Calibri"/>
                <a:sym typeface="Calibri"/>
              </a:rPr>
              <a:t>Heapsort (Original/Standard) Algorithm Simulation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281" name="Google Shape;1281;p22"/>
          <p:cNvPicPr preferRelativeResize="0"/>
          <p:nvPr/>
        </p:nvPicPr>
        <p:blipFill rotWithShape="1">
          <a:blip r:embed="rId3">
            <a:alphaModFix/>
          </a:blip>
          <a:srcRect b="0" l="0" r="0" t="3548"/>
          <a:stretch/>
        </p:blipFill>
        <p:spPr>
          <a:xfrm>
            <a:off x="990025" y="369000"/>
            <a:ext cx="3790276" cy="285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p22"/>
          <p:cNvSpPr txBox="1"/>
          <p:nvPr/>
        </p:nvSpPr>
        <p:spPr>
          <a:xfrm>
            <a:off x="130860" y="3104757"/>
            <a:ext cx="318135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Heapsort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3defd360268_6_3"/>
          <p:cNvSpPr txBox="1"/>
          <p:nvPr/>
        </p:nvSpPr>
        <p:spPr>
          <a:xfrm>
            <a:off x="448850" y="229250"/>
            <a:ext cx="5147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Why Original/In-Place HeapSort “Ruins” the Heap 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88" name="Google Shape;1288;g3defd360268_6_3"/>
          <p:cNvSpPr txBox="1"/>
          <p:nvPr/>
        </p:nvSpPr>
        <p:spPr>
          <a:xfrm>
            <a:off x="130860" y="3104757"/>
            <a:ext cx="318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Heapsort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89" name="Google Shape;1289;g3defd360268_6_3"/>
          <p:cNvSpPr txBox="1"/>
          <p:nvPr/>
        </p:nvSpPr>
        <p:spPr>
          <a:xfrm>
            <a:off x="321350" y="503750"/>
            <a:ext cx="5275200" cy="22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●"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During in-place HeapSort, </a:t>
            </a:r>
            <a:b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maximum/minimum element is </a:t>
            </a:r>
            <a:r>
              <a:rPr lang="en-US" sz="11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repeatedly extracted</a:t>
            </a: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from the heap.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●"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As extraction continues, </a:t>
            </a:r>
            <a:r>
              <a:rPr lang="en-US" sz="11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heap gradually becomes empty.</a:t>
            </a:r>
            <a:endParaRPr sz="1100" u="sng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●"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</a:t>
            </a:r>
            <a:r>
              <a:rPr lang="en-US" sz="11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original heap array</a:t>
            </a: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transformed into a sorted array.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●"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Therefore, </a:t>
            </a:r>
            <a:r>
              <a:rPr lang="en-US" sz="1100" u="sng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the array can no longer be used as a valid heap structure after sorting.</a:t>
            </a:r>
            <a:endParaRPr b="1" i="0" sz="1100" u="none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3df82a1067e_0_12"/>
          <p:cNvSpPr txBox="1"/>
          <p:nvPr/>
        </p:nvSpPr>
        <p:spPr>
          <a:xfrm>
            <a:off x="309050" y="168000"/>
            <a:ext cx="5147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Modified/Out-of-Place HeapSort 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95" name="Google Shape;1295;g3df82a1067e_0_12"/>
          <p:cNvSpPr txBox="1"/>
          <p:nvPr/>
        </p:nvSpPr>
        <p:spPr>
          <a:xfrm>
            <a:off x="130860" y="3104757"/>
            <a:ext cx="318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Heapsort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96" name="Google Shape;1296;g3df82a1067e_0_12"/>
          <p:cNvSpPr txBox="1"/>
          <p:nvPr/>
        </p:nvSpPr>
        <p:spPr>
          <a:xfrm>
            <a:off x="272650" y="600775"/>
            <a:ext cx="5275200" cy="20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dk1"/>
                </a:solidFill>
              </a:rPr>
              <a:t>The original array is </a:t>
            </a:r>
            <a:r>
              <a:rPr b="1" lang="en-US" sz="1100" u="sng">
                <a:solidFill>
                  <a:srgbClr val="9900FF"/>
                </a:solidFill>
              </a:rPr>
              <a:t>not converted into a heap directly</a:t>
            </a:r>
            <a:r>
              <a:rPr lang="en-US" sz="1100" u="sng">
                <a:solidFill>
                  <a:srgbClr val="9900FF"/>
                </a:solidFill>
              </a:rPr>
              <a:t>.</a:t>
            </a:r>
            <a:br>
              <a:rPr lang="en-US" sz="1100" u="sng">
                <a:solidFill>
                  <a:schemeClr val="dk1"/>
                </a:solidFill>
              </a:rPr>
            </a:br>
            <a:endParaRPr sz="1100" u="sng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FF"/>
                </a:solidFill>
              </a:rPr>
              <a:t>Instead:</a:t>
            </a:r>
            <a:endParaRPr sz="1100">
              <a:solidFill>
                <a:srgbClr val="0000FF"/>
              </a:solidFill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Create a </a:t>
            </a:r>
            <a:r>
              <a:rPr lang="en-US" sz="1100" u="sng">
                <a:solidFill>
                  <a:schemeClr val="dk1"/>
                </a:solidFill>
              </a:rPr>
              <a:t>separate empty heap object.</a:t>
            </a:r>
            <a:endParaRPr sz="1100" u="sng">
              <a:solidFill>
                <a:schemeClr val="dk1"/>
              </a:solidFill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Insert </a:t>
            </a:r>
            <a:r>
              <a:rPr lang="en-US" sz="1100" u="sng">
                <a:solidFill>
                  <a:schemeClr val="dk1"/>
                </a:solidFill>
              </a:rPr>
              <a:t>all array elements</a:t>
            </a:r>
            <a:r>
              <a:rPr lang="en-US" sz="1100">
                <a:solidFill>
                  <a:schemeClr val="dk1"/>
                </a:solidFill>
              </a:rPr>
              <a:t> into the heap.</a:t>
            </a:r>
            <a:endParaRPr sz="1100">
              <a:solidFill>
                <a:schemeClr val="dk1"/>
              </a:solidFill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 u="sng">
                <a:solidFill>
                  <a:schemeClr val="dk1"/>
                </a:solidFill>
              </a:rPr>
              <a:t>Extract elements</a:t>
            </a:r>
            <a:r>
              <a:rPr lang="en-US" sz="1100">
                <a:solidFill>
                  <a:schemeClr val="dk1"/>
                </a:solidFill>
              </a:rPr>
              <a:t> one by one from the heap.</a:t>
            </a:r>
            <a:endParaRPr sz="1100">
              <a:solidFill>
                <a:schemeClr val="dk1"/>
              </a:solidFill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Store the extracted values back into the </a:t>
            </a:r>
            <a:r>
              <a:rPr lang="en-US" sz="1100" u="sng">
                <a:solidFill>
                  <a:schemeClr val="dk1"/>
                </a:solidFill>
              </a:rPr>
              <a:t>original array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0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3df82a1067e_0_20"/>
          <p:cNvSpPr txBox="1"/>
          <p:nvPr/>
        </p:nvSpPr>
        <p:spPr>
          <a:xfrm>
            <a:off x="309050" y="168000"/>
            <a:ext cx="5147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Why It Is Called “Out-of-Place”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02" name="Google Shape;1302;g3df82a1067e_0_20"/>
          <p:cNvSpPr txBox="1"/>
          <p:nvPr/>
        </p:nvSpPr>
        <p:spPr>
          <a:xfrm>
            <a:off x="130860" y="3104757"/>
            <a:ext cx="318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Heapsort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03" name="Google Shape;1303;g3df82a1067e_0_20"/>
          <p:cNvSpPr txBox="1"/>
          <p:nvPr/>
        </p:nvSpPr>
        <p:spPr>
          <a:xfrm>
            <a:off x="309050" y="442500"/>
            <a:ext cx="5275200" cy="15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Sorting does </a:t>
            </a:r>
            <a:r>
              <a:rPr b="1"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 happen inside the original array</a:t>
            </a: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●"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 </a:t>
            </a:r>
            <a:r>
              <a:rPr b="1"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additional heap object</a:t>
            </a: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used during the sorting process.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Hence, it is called </a:t>
            </a:r>
            <a:r>
              <a:rPr b="1"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Out-of-Place HeapSort</a:t>
            </a: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1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g3f83a41d1fb_2_48"/>
          <p:cNvSpPr txBox="1"/>
          <p:nvPr/>
        </p:nvSpPr>
        <p:spPr>
          <a:xfrm>
            <a:off x="309050" y="168000"/>
            <a:ext cx="5147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Modified/Out-of-Place HeapSort </a:t>
            </a:r>
            <a:endParaRPr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09" name="Google Shape;1309;g3f83a41d1fb_2_48"/>
          <p:cNvSpPr txBox="1"/>
          <p:nvPr/>
        </p:nvSpPr>
        <p:spPr>
          <a:xfrm>
            <a:off x="330625" y="733475"/>
            <a:ext cx="52752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310" name="Google Shape;1310;g3f83a41d1fb_2_48"/>
          <p:cNvGraphicFramePr/>
          <p:nvPr/>
        </p:nvGraphicFramePr>
        <p:xfrm>
          <a:off x="114663" y="69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{9B85AE13-7DBD-492C-A57F-0A71FF106FDA}</a:tableStyleId>
              </a:tblPr>
              <a:tblGrid>
                <a:gridCol w="382850"/>
                <a:gridCol w="2062250"/>
                <a:gridCol w="678450"/>
                <a:gridCol w="465775"/>
              </a:tblGrid>
              <a:tr h="245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Line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Algorithm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TimeCost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Times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277325"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Modified Out-of-Place HeapSort(A):</a:t>
                      </a:r>
                      <a:endParaRPr sz="8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  <a:tr h="26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 ← new MaxHeap(length[A])</a:t>
                      </a:r>
                      <a:endParaRPr sz="8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O(n)</a:t>
                      </a:r>
                      <a:endParaRPr sz="8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8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rgbClr val="99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for i ← 1 to length[A]</a:t>
                      </a:r>
                      <a:endParaRPr sz="800">
                        <a:solidFill>
                          <a:srgbClr val="99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99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O(1)</a:t>
                      </a:r>
                      <a:endParaRPr sz="800">
                        <a:solidFill>
                          <a:srgbClr val="99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99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</a:t>
                      </a:r>
                      <a:endParaRPr sz="800">
                        <a:solidFill>
                          <a:srgbClr val="99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99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       do H.insert(A[i]) </a:t>
                      </a:r>
                      <a:r>
                        <a:rPr b="1" lang="en-US" sz="700">
                          <a:solidFill>
                            <a:srgbClr val="99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[Iterative]</a:t>
                      </a:r>
                      <a:endParaRPr sz="800">
                        <a:solidFill>
                          <a:srgbClr val="99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99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O(lg n)</a:t>
                      </a:r>
                      <a:endParaRPr sz="800">
                        <a:solidFill>
                          <a:srgbClr val="99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99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</a:t>
                      </a:r>
                      <a:endParaRPr sz="800">
                        <a:solidFill>
                          <a:srgbClr val="99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for i ← length[A] downto 1</a:t>
                      </a:r>
                      <a:endParaRPr sz="8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O(1)</a:t>
                      </a:r>
                      <a:endParaRPr sz="8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</a:t>
                      </a:r>
                      <a:endParaRPr sz="8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       do A[i] ←H.extractMax() </a:t>
                      </a:r>
                      <a:r>
                        <a:rPr b="1" lang="en-US" sz="700">
                          <a:solidFill>
                            <a:srgbClr val="99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[Iterative]</a:t>
                      </a:r>
                      <a:endParaRPr sz="8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O(lg n)</a:t>
                      </a:r>
                      <a:endParaRPr sz="8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</a:t>
                      </a:r>
                      <a:endParaRPr sz="8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11" name="Google Shape;1311;g3f83a41d1fb_2_48"/>
          <p:cNvSpPr txBox="1"/>
          <p:nvPr/>
        </p:nvSpPr>
        <p:spPr>
          <a:xfrm>
            <a:off x="3936225" y="763100"/>
            <a:ext cx="1751700" cy="18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Worst-Case Time Analysis</a:t>
            </a:r>
            <a:endParaRPr sz="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T(n) = O(n) + </a:t>
            </a:r>
            <a:r>
              <a:rPr lang="en-US" sz="800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O(n lg n)</a:t>
            </a:r>
            <a: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+ </a:t>
            </a:r>
            <a:r>
              <a:rPr lang="en-US" sz="8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O(n lg n)</a:t>
            </a:r>
            <a:endParaRPr sz="800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T(n) = O(n lg n)</a:t>
            </a:r>
            <a:b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6525" lvl="0" marL="31432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Heap creation: O(n)</a:t>
            </a:r>
            <a:endParaRPr sz="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6525" lvl="0" marL="31432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800"/>
              <a:buFont typeface="Tahoma"/>
              <a:buChar char="●"/>
            </a:pPr>
            <a:r>
              <a:rPr lang="en-US" sz="800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n insertions: O(nlogn)</a:t>
            </a:r>
            <a:endParaRPr sz="800">
              <a:solidFill>
                <a:srgbClr val="99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6525" lvl="0" marL="31432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Tahoma"/>
              <a:buChar char="●"/>
            </a:pPr>
            <a:r>
              <a:rPr lang="en-US" sz="8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n extractions: O(nlogn)</a:t>
            </a:r>
            <a:endParaRPr sz="800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3f83a41d1fb_3_1"/>
          <p:cNvSpPr txBox="1"/>
          <p:nvPr/>
        </p:nvSpPr>
        <p:spPr>
          <a:xfrm>
            <a:off x="274300" y="63800"/>
            <a:ext cx="5147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Modified/Out-of-Place HeapSort </a:t>
            </a:r>
            <a:endParaRPr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17" name="Google Shape;1317;g3f83a41d1fb_3_1"/>
          <p:cNvSpPr txBox="1"/>
          <p:nvPr/>
        </p:nvSpPr>
        <p:spPr>
          <a:xfrm>
            <a:off x="330625" y="733475"/>
            <a:ext cx="52752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318" name="Google Shape;1318;g3f83a41d1fb_3_1"/>
          <p:cNvGraphicFramePr/>
          <p:nvPr/>
        </p:nvGraphicFramePr>
        <p:xfrm>
          <a:off x="89838" y="433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{9B85AE13-7DBD-492C-A57F-0A71FF106FDA}</a:tableStyleId>
              </a:tblPr>
              <a:tblGrid>
                <a:gridCol w="382850"/>
                <a:gridCol w="2094500"/>
                <a:gridCol w="664650"/>
                <a:gridCol w="2418450"/>
              </a:tblGrid>
              <a:tr h="250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7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Line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6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Algorithm</a:t>
                      </a:r>
                      <a:endParaRPr sz="6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6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Space</a:t>
                      </a:r>
                      <a:r>
                        <a:rPr b="1" lang="en-US" sz="6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Cost</a:t>
                      </a:r>
                      <a:endParaRPr sz="6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Explanation</a:t>
                      </a:r>
                      <a:endParaRPr sz="6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257525">
                <a:tc gridSpan="4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Modified Out-of-Place HeapSort(A):</a:t>
                      </a:r>
                      <a:endParaRPr sz="8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  <a:tr h="264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 ← new MaxHeap(length[A])</a:t>
                      </a:r>
                      <a:endParaRPr sz="8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O(n)</a:t>
                      </a:r>
                      <a:endParaRPr sz="8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Creates a separate heap with an internal array of size n.</a:t>
                      </a:r>
                      <a:endParaRPr sz="6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rgbClr val="99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for i ← 1 to length[A]</a:t>
                      </a:r>
                      <a:endParaRPr sz="800">
                        <a:solidFill>
                          <a:srgbClr val="99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99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O(1)</a:t>
                      </a:r>
                      <a:endParaRPr sz="800">
                        <a:solidFill>
                          <a:srgbClr val="99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>
                          <a:solidFill>
                            <a:srgbClr val="99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Only loop variable i is required.</a:t>
                      </a:r>
                      <a:endParaRPr sz="600">
                        <a:solidFill>
                          <a:srgbClr val="99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99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      do H.insert(A[i]) </a:t>
                      </a:r>
                      <a:r>
                        <a:rPr b="1" lang="en-US" sz="700">
                          <a:solidFill>
                            <a:srgbClr val="99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[Iterative]</a:t>
                      </a:r>
                      <a:endParaRPr sz="800">
                        <a:solidFill>
                          <a:srgbClr val="99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rgbClr val="99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O(1)</a:t>
                      </a:r>
                      <a:endParaRPr sz="800">
                        <a:solidFill>
                          <a:srgbClr val="99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>
                          <a:solidFill>
                            <a:srgbClr val="99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Inserts into the already allocated heap array; only temporary variables are required.</a:t>
                      </a:r>
                      <a:endParaRPr sz="600">
                        <a:solidFill>
                          <a:srgbClr val="99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for i ← length[A] downto 1</a:t>
                      </a:r>
                      <a:endParaRPr sz="8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O(1)</a:t>
                      </a:r>
                      <a:endParaRPr sz="8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Only loop variable i is required.</a:t>
                      </a:r>
                      <a:endParaRPr sz="6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 sz="7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       do A[i] ← H.extractMax() </a:t>
                      </a:r>
                      <a:r>
                        <a:rPr b="1" lang="en-US" sz="700">
                          <a:solidFill>
                            <a:srgbClr val="99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[Iterative]</a:t>
                      </a:r>
                      <a:endParaRPr sz="8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O(1)</a:t>
                      </a:r>
                      <a:endParaRPr sz="8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Uses the existing heap array and a constant number of temporary variables.</a:t>
                      </a:r>
                      <a:endParaRPr sz="600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19" name="Google Shape;1319;g3f83a41d1fb_3_1"/>
          <p:cNvSpPr txBox="1"/>
          <p:nvPr/>
        </p:nvSpPr>
        <p:spPr>
          <a:xfrm>
            <a:off x="89850" y="2732825"/>
            <a:ext cx="5620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Worst-Case Space Analysis</a:t>
            </a:r>
            <a:endParaRPr sz="7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S(n) = O(n)+O(1)+O(1)+O(1)+O(1) = </a:t>
            </a:r>
            <a:r>
              <a:rPr lang="en-US" sz="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O(n) </a:t>
            </a:r>
            <a:r>
              <a:rPr b="1" lang="en-US" sz="7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[Because an additional heap object H with an internal array of size n is created.]</a:t>
            </a:r>
            <a:br>
              <a:rPr b="1" lang="en-US" sz="7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i="0" sz="700" u="none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3df82a1067e_0_61"/>
          <p:cNvSpPr txBox="1"/>
          <p:nvPr/>
        </p:nvSpPr>
        <p:spPr>
          <a:xfrm>
            <a:off x="114663" y="3034675"/>
            <a:ext cx="6942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i="0" lang="en-US" sz="8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Heapsort</a:t>
            </a:r>
            <a:endParaRPr i="0" sz="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325" name="Google Shape;1325;g3df82a1067e_0_61" title="out_of_place_heapsor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900" y="30175"/>
            <a:ext cx="4638226" cy="324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3df82a1067e_0_46"/>
          <p:cNvSpPr txBox="1"/>
          <p:nvPr/>
        </p:nvSpPr>
        <p:spPr>
          <a:xfrm>
            <a:off x="309050" y="168000"/>
            <a:ext cx="5147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Modified/Out-of-Place HeapSort 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31" name="Google Shape;1331;g3df82a1067e_0_46"/>
          <p:cNvSpPr txBox="1"/>
          <p:nvPr/>
        </p:nvSpPr>
        <p:spPr>
          <a:xfrm>
            <a:off x="130860" y="3104757"/>
            <a:ext cx="318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Heapsort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32" name="Google Shape;1332;g3df82a1067e_0_46"/>
          <p:cNvSpPr txBox="1"/>
          <p:nvPr/>
        </p:nvSpPr>
        <p:spPr>
          <a:xfrm>
            <a:off x="330625" y="733475"/>
            <a:ext cx="52752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Main Advantage</a:t>
            </a:r>
            <a:endParaRPr b="1"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original heap structure does not get destroyed or “ruined.”</a:t>
            </a:r>
            <a:endParaRPr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Useful when the </a:t>
            </a:r>
            <a:r>
              <a:rPr b="1" lang="en-US" sz="1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heap needs to be preserved</a:t>
            </a: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for later operations.</a:t>
            </a:r>
            <a:endParaRPr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Main Disadvantage</a:t>
            </a:r>
            <a:endParaRPr b="1"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 </a:t>
            </a:r>
            <a:r>
              <a:rPr b="1" lang="en-US" sz="1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additional heap object</a:t>
            </a: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must be created.</a:t>
            </a:r>
            <a:endParaRPr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Requires additional memory: </a:t>
            </a:r>
            <a:r>
              <a:rPr b="1" lang="en-US" sz="1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O(n)</a:t>
            </a: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extra space. Space complexity: </a:t>
            </a:r>
            <a:r>
              <a:rPr b="1" lang="en-US" sz="1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O(n)</a:t>
            </a: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3f83a41d1fb_3_10"/>
          <p:cNvSpPr txBox="1"/>
          <p:nvPr/>
        </p:nvSpPr>
        <p:spPr>
          <a:xfrm>
            <a:off x="19850" y="168000"/>
            <a:ext cx="5586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Comparison between Inplace and </a:t>
            </a: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Out-of-Place HeapSort 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38" name="Google Shape;1338;g3f83a41d1fb_3_10"/>
          <p:cNvSpPr txBox="1"/>
          <p:nvPr/>
        </p:nvSpPr>
        <p:spPr>
          <a:xfrm>
            <a:off x="130860" y="3104757"/>
            <a:ext cx="318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Heapsort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339" name="Google Shape;1339;g3f83a41d1fb_3_10"/>
          <p:cNvGraphicFramePr/>
          <p:nvPr/>
        </p:nvGraphicFramePr>
        <p:xfrm>
          <a:off x="199950" y="65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{9B85AE13-7DBD-492C-A57F-0A71FF106FDA}</a:tableStyleId>
              </a:tblPr>
              <a:tblGrid>
                <a:gridCol w="1865350"/>
                <a:gridCol w="827525"/>
                <a:gridCol w="1346450"/>
                <a:gridCol w="1346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latin typeface="Tahoma"/>
                          <a:ea typeface="Tahoma"/>
                          <a:cs typeface="Tahoma"/>
                          <a:sym typeface="Tahoma"/>
                        </a:rPr>
                        <a:t>HeapSort Version</a:t>
                      </a:r>
                      <a:endParaRPr b="1" sz="9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latin typeface="Tahoma"/>
                          <a:ea typeface="Tahoma"/>
                          <a:cs typeface="Tahoma"/>
                          <a:sym typeface="Tahoma"/>
                        </a:rPr>
                        <a:t>Sorting Type </a:t>
                      </a:r>
                      <a:endParaRPr b="1" sz="9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latin typeface="Tahoma"/>
                          <a:ea typeface="Tahoma"/>
                          <a:cs typeface="Tahoma"/>
                          <a:sym typeface="Tahoma"/>
                        </a:rPr>
                        <a:t>Worst-Case Time Complexity</a:t>
                      </a:r>
                      <a:endParaRPr b="1" sz="9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latin typeface="Tahoma"/>
                          <a:ea typeface="Tahoma"/>
                          <a:cs typeface="Tahoma"/>
                          <a:sym typeface="Tahoma"/>
                        </a:rPr>
                        <a:t>Worst-Case Auxiliary Space</a:t>
                      </a:r>
                      <a:endParaRPr b="1" sz="9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ahoma"/>
                          <a:ea typeface="Tahoma"/>
                          <a:cs typeface="Tahoma"/>
                          <a:sym typeface="Tahoma"/>
                        </a:rPr>
                        <a:t>Original / In-Place HeapSort</a:t>
                      </a:r>
                      <a:endParaRPr sz="9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ahoma"/>
                          <a:ea typeface="Tahoma"/>
                          <a:cs typeface="Tahoma"/>
                          <a:sym typeface="Tahoma"/>
                        </a:rPr>
                        <a:t>In-place </a:t>
                      </a:r>
                      <a:endParaRPr sz="9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ahoma"/>
                          <a:ea typeface="Tahoma"/>
                          <a:cs typeface="Tahoma"/>
                          <a:sym typeface="Tahoma"/>
                        </a:rPr>
                        <a:t>O(nlogn)</a:t>
                      </a:r>
                      <a:endParaRPr sz="9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ahoma"/>
                          <a:ea typeface="Tahoma"/>
                          <a:cs typeface="Tahoma"/>
                          <a:sym typeface="Tahoma"/>
                        </a:rPr>
                        <a:t>O(1)</a:t>
                      </a:r>
                      <a:endParaRPr sz="9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ahoma"/>
                          <a:ea typeface="Tahoma"/>
                          <a:cs typeface="Tahoma"/>
                          <a:sym typeface="Tahoma"/>
                        </a:rPr>
                        <a:t>Modified / Out-of-Place HeapSort </a:t>
                      </a:r>
                      <a:endParaRPr sz="9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ahoma"/>
                          <a:ea typeface="Tahoma"/>
                          <a:cs typeface="Tahoma"/>
                          <a:sym typeface="Tahoma"/>
                        </a:rPr>
                        <a:t>Out-of-place</a:t>
                      </a:r>
                      <a:endParaRPr sz="9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ahoma"/>
                          <a:ea typeface="Tahoma"/>
                          <a:cs typeface="Tahoma"/>
                          <a:sym typeface="Tahoma"/>
                        </a:rPr>
                        <a:t>O(nlogn)</a:t>
                      </a:r>
                      <a:endParaRPr sz="9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Tahoma"/>
                          <a:ea typeface="Tahoma"/>
                          <a:cs typeface="Tahoma"/>
                          <a:sym typeface="Tahoma"/>
                        </a:rPr>
                        <a:t>O(n)</a:t>
                      </a:r>
                      <a:endParaRPr sz="9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40" name="Google Shape;1340;g3f83a41d1fb_3_10"/>
          <p:cNvSpPr txBox="1"/>
          <p:nvPr/>
        </p:nvSpPr>
        <p:spPr>
          <a:xfrm>
            <a:off x="299150" y="2029275"/>
            <a:ext cx="5259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Key difference:</a:t>
            </a:r>
            <a:r>
              <a:rPr lang="en-US" sz="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Both have the same worst-case time complexity, </a:t>
            </a:r>
            <a:endParaRPr sz="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but the modified version requires an additional heap object with an internal array of size n, </a:t>
            </a:r>
            <a:endParaRPr sz="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 its space complexity becomes O(n). </a:t>
            </a:r>
            <a:endParaRPr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3df82a1067e_0_35"/>
          <p:cNvSpPr txBox="1"/>
          <p:nvPr/>
        </p:nvSpPr>
        <p:spPr>
          <a:xfrm>
            <a:off x="309050" y="168000"/>
            <a:ext cx="5147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Important Notes regarding </a:t>
            </a: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HeapSort 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46" name="Google Shape;1346;g3df82a1067e_0_35"/>
          <p:cNvSpPr txBox="1"/>
          <p:nvPr/>
        </p:nvSpPr>
        <p:spPr>
          <a:xfrm>
            <a:off x="130860" y="3104757"/>
            <a:ext cx="318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Heapsort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47" name="Google Shape;1347;g3df82a1067e_0_35"/>
          <p:cNvSpPr txBox="1"/>
          <p:nvPr/>
        </p:nvSpPr>
        <p:spPr>
          <a:xfrm>
            <a:off x="271325" y="781975"/>
            <a:ext cx="5275200" cy="12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990000"/>
              </a:buClr>
              <a:buSzPts val="1100"/>
              <a:buChar char="●"/>
            </a:pPr>
            <a:r>
              <a:rPr lang="en-US" sz="1100" u="sng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Modified/Out-of-Place HeapSort is </a:t>
            </a:r>
            <a:r>
              <a:rPr b="1" lang="en-US" sz="1100" u="sng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not the standard HeapSort implementation</a:t>
            </a:r>
            <a:r>
              <a:rPr lang="en-US" sz="1100" u="sng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b="1" lang="en-US" sz="1100" u="sng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(Important!!!!)</a:t>
            </a:r>
            <a:br>
              <a:rPr b="1" lang="en-US" sz="1100" u="sng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sz="1100" u="sng">
              <a:solidFill>
                <a:srgbClr val="99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Standard/original HeapSort is </a:t>
            </a:r>
            <a:r>
              <a:rPr b="1" lang="en-US" sz="11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generally preferred</a:t>
            </a: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because: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 is an </a:t>
            </a:r>
            <a:r>
              <a:rPr b="1"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in-place sorting algorithm [</a:t>
            </a: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Space </a:t>
            </a: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complexity</a:t>
            </a: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O(1)]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More </a:t>
            </a:r>
            <a:r>
              <a:rPr b="1" lang="en-US" sz="11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memory efficient</a:t>
            </a: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than the out-of-place version.</a:t>
            </a:r>
            <a:endParaRPr b="1"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25"/>
          <p:cNvSpPr txBox="1"/>
          <p:nvPr>
            <p:ph type="title"/>
          </p:nvPr>
        </p:nvSpPr>
        <p:spPr>
          <a:xfrm>
            <a:off x="688825" y="1104300"/>
            <a:ext cx="47133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</a:rPr>
              <a:t>Try out Interactive </a:t>
            </a:r>
            <a:r>
              <a:rPr b="1" lang="en-US" sz="1200">
                <a:solidFill>
                  <a:srgbClr val="1F1F1F"/>
                </a:solidFill>
                <a:highlight>
                  <a:srgbClr val="FFFFFF"/>
                </a:highlight>
              </a:rPr>
              <a:t>Max Heap</a:t>
            </a: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</a:rPr>
              <a:t> Simulation by Visualgo.net (</a:t>
            </a:r>
            <a:r>
              <a:rPr lang="en-US" sz="120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https://visualgo.net/en/heap</a:t>
            </a: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</a:rPr>
              <a:t>)</a:t>
            </a:r>
            <a:endParaRPr sz="2450"/>
          </a:p>
        </p:txBody>
      </p:sp>
      <p:sp>
        <p:nvSpPr>
          <p:cNvPr id="1353" name="Google Shape;1353;p25"/>
          <p:cNvSpPr txBox="1"/>
          <p:nvPr/>
        </p:nvSpPr>
        <p:spPr>
          <a:xfrm>
            <a:off x="1688477" y="325125"/>
            <a:ext cx="24411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54" name="Google Shape;1354;p25"/>
          <p:cNvSpPr txBox="1"/>
          <p:nvPr/>
        </p:nvSpPr>
        <p:spPr>
          <a:xfrm>
            <a:off x="309050" y="168000"/>
            <a:ext cx="5147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Interactive simulations</a:t>
            </a:r>
            <a:endParaRPr sz="1700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321adffe467_0_18"/>
          <p:cNvSpPr txBox="1"/>
          <p:nvPr>
            <p:ph type="title"/>
          </p:nvPr>
        </p:nvSpPr>
        <p:spPr>
          <a:xfrm>
            <a:off x="2334902" y="1127875"/>
            <a:ext cx="14775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50">
                <a:solidFill>
                  <a:srgbClr val="000000"/>
                </a:solidFill>
              </a:rPr>
              <a:t>The End</a:t>
            </a:r>
            <a:endParaRPr sz="24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2024-12-13T10:41:48Z</dcterms:created>
  <dc:creator>Fadi Al Machot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2023-03-08T00:00:00Z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2024-12-13T00:00:00Z</vt:filetime>
  </property>
  <property fmtid="{D5CDD505-2E9C-101B-9397-08002B2CF9AE}" pid="5" name="Producer">
    <vt:lpwstr>Microsoft® PowerPoint® for Microsoft 365</vt:lpwstr>
  </property>
</Properties>
</file>