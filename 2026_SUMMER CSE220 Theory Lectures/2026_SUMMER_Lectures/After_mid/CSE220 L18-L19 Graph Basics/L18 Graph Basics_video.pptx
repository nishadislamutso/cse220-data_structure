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y="3244850" cx="5765800"/>
  <p:notesSz cx="5765800" cy="3244850"/>
  <p:embeddedFontLst>
    <p:embeddedFont>
      <p:font typeface="Tahoma"/>
      <p:regular r:id="rId69"/>
      <p:bold r:id="rId70"/>
    </p:embeddedFont>
    <p:embeddedFont>
      <p:font typeface="Helvetica Neue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  <p15:guide id="3" orient="horz" pos="43">
          <p15:clr>
            <a:srgbClr val="747775"/>
          </p15:clr>
        </p15:guide>
      </p15:sldGuideLst>
    </p:ext>
    <p:ext uri="GoogleSlidesCustomDataVersion2">
      <go:slidesCustomData xmlns:go="http://customooxmlschemas.google.com/" r:id="rId75" roundtripDataSignature="AMtx7mhuy3a4g1EH8piulUV6NMwhBSm9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E72194-A1B8-4DFE-828A-43468D1B9818}">
  <a:tblStyle styleId="{06E72194-A1B8-4DFE-828A-43468D1B9818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E365DBC9-B871-4DD4-A557-DFF98E65AF2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  <p:guide pos="4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HelveticaNeue-italic.fntdata"/><Relationship Id="rId72" Type="http://schemas.openxmlformats.org/officeDocument/2006/relationships/font" Target="fonts/HelveticaNeue-bold.fntdata"/><Relationship Id="rId31" Type="http://schemas.openxmlformats.org/officeDocument/2006/relationships/slide" Target="slides/slide25.xml"/><Relationship Id="rId75" Type="http://customschemas.google.com/relationships/presentationmetadata" Target="metadata"/><Relationship Id="rId30" Type="http://schemas.openxmlformats.org/officeDocument/2006/relationships/slide" Target="slides/slide24.xml"/><Relationship Id="rId74" Type="http://schemas.openxmlformats.org/officeDocument/2006/relationships/font" Target="fonts/HelveticaNeue-boldItalic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HelveticaNeue-regular.fntdata"/><Relationship Id="rId70" Type="http://schemas.openxmlformats.org/officeDocument/2006/relationships/font" Target="fonts/Tahoma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Tahoma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220fd27c11_0_9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g3220fd27c11_0_9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20fd27c11_4_4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220fd27c11_4_4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34be74e08_0_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g3534be74e08_0_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20fd27c11_4_5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220fd27c11_4_5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220fd27c11_0_8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220fd27c11_0_8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9fb4d2ce4_0_15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f9fb4d2ce4_0_15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20fd27c11_0_8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220fd27c11_0_8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ac65acb83_1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fac65acb83_1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20fd27c11_4_9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220fd27c11_4_9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20fd27c11_4_2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220fd27c11_4_2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15aef4537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b15aef4537_0_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20fd27c11_4_7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220fd27c11_4_7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20fd27c11_5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220fd27c11_5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20fd27c11_5_3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220fd27c11_5_3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220fd27c11_5_12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220fd27c11_5_12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20fd27c11_5_2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3220fd27c11_5_2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34be74e08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534be74e08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20fd27c11_5_4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220fd27c11_5_4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220fd27c11_5_6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3220fd27c11_5_6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220fd27c11_5_7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220fd27c11_5_7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220fd27c11_5_9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g3220fd27c11_5_9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220fd27c11_5_11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3220fd27c11_5_11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220fd27c11_5_8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220fd27c11_5_8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220fd27c11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220fd27c11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34be74e08_0_2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g3534be74e08_0_2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220fd27c11_5_13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g3220fd27c11_5_13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220fd27c11_5_14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g3220fd27c11_5_14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34be74e08_0_3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g3534be74e08_0_3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220fd27c11_5_16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g3220fd27c11_5_16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220fd27c11_5_15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g3220fd27c11_5_15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220fd27c11_5_18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g3220fd27c11_5_18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754c201ae_0_2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g3f754c201ae_0_2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220fd27c11_5_20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g3220fd27c11_5_20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754c201ae_1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7" name="Google Shape;407;g3f754c201ae_1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7" name="Google Shape;417;p1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754c201ae_0_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g3f754c201ae_0_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f754c201ae_0_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3f754c201ae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p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0" name="Google Shape;450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534be74e08_0_4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2" name="Google Shape;462;g3534be74e08_0_4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220fd27c11_5_35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2" name="Google Shape;472;g3220fd27c11_5_35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1" name="Google Shape;481;p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220fd27c11_5_36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g3220fd27c11_5_36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220fd27c11_5_33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2" name="Google Shape;502;g3220fd27c11_5_33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2230ee4132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9" name="Google Shape;509;g32230ee4132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5359bad66d_0_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7" name="Google Shape;517;g35359bad66d_0_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220fd27c11_5_32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5" name="Google Shape;525;g3220fd27c11_5_32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ac65accc1_0_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g3fac65accc1_0_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ac65accc1_0_1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g3fac65accc1_0_1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f9fb4d2ce4_0_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f9fb4d2ce4_0_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b15aef4537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3" name="Google Shape;653;g3b15aef4537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4" name="Google Shape;664;p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534be74e08_0_5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2" name="Google Shape;672;g3534be74e08_0_5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220fd27c11_5_41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2" name="Google Shape;682;g3220fd27c11_5_412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5359bad66d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2" name="Google Shape;692;g35359bad66d_0_8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f797722fba_0_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0" name="Google Shape;700;g3f797722fba_0_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9" name="Google Shape;709;p11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77a08ae626_1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g377a08ae626_1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6" name="Google Shape;726;p2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0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1" type="body"/>
          </p:nvPr>
        </p:nvSpPr>
        <p:spPr>
          <a:xfrm>
            <a:off x="249504" y="628650"/>
            <a:ext cx="5266791" cy="1161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0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0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1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2"/>
          <p:cNvSpPr txBox="1"/>
          <p:nvPr>
            <p:ph type="ctrTitle"/>
          </p:nvPr>
        </p:nvSpPr>
        <p:spPr>
          <a:xfrm>
            <a:off x="1434846" y="161036"/>
            <a:ext cx="2867025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" type="subTitle"/>
          </p:nvPr>
        </p:nvSpPr>
        <p:spPr>
          <a:xfrm>
            <a:off x="86664" y="2450693"/>
            <a:ext cx="469455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3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5760719" cy="7193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9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" type="body"/>
          </p:nvPr>
        </p:nvSpPr>
        <p:spPr>
          <a:xfrm>
            <a:off x="249504" y="628650"/>
            <a:ext cx="5266791" cy="1161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s://www.researchgate.net/figure/An-example-of-road-network-extraction-and-graph-representation_fig12_279263325" TargetMode="External"/><Relationship Id="rId10" Type="http://schemas.openxmlformats.org/officeDocument/2006/relationships/image" Target="../media/image3.jpg"/><Relationship Id="rId9" Type="http://schemas.openxmlformats.org/officeDocument/2006/relationships/image" Target="../media/image6.png"/><Relationship Id="rId5" Type="http://schemas.openxmlformats.org/officeDocument/2006/relationships/hyperlink" Target="https://www.researchgate.net/figure/An-example-of-road-network-extraction-and-graph-representation_fig12_279263325" TargetMode="External"/><Relationship Id="rId6" Type="http://schemas.openxmlformats.org/officeDocument/2006/relationships/hyperlink" Target="https://www.researchgate.net/figure/2-A-graph-visualisation-of-the-topology-of-network-connections-of-the-core-of-the_fig2_239550496" TargetMode="External"/><Relationship Id="rId7" Type="http://schemas.openxmlformats.org/officeDocument/2006/relationships/hyperlink" Target="https://www.researchgate.net/figure/2-A-graph-visualisation-of-the-topology-of-network-connections-of-the-core-of-the_fig2_239550496" TargetMode="External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researchgate.net/publication/340347681_A_Study_on_Graph_Theory_Properties_of_On-line_Social_Networks" TargetMode="External"/><Relationship Id="rId4" Type="http://schemas.openxmlformats.org/officeDocument/2006/relationships/hyperlink" Target="https://www.researchgate.net/publication/340347681_A_Study_on_Graph_Theory_Properties_of_On-line_Social_Networks" TargetMode="External"/><Relationship Id="rId5" Type="http://schemas.openxmlformats.org/officeDocument/2006/relationships/hyperlink" Target="https://benthamopen.com/contents/supplementary-material/TOBIOIJ-5-53_SD1.pdf" TargetMode="External"/><Relationship Id="rId6" Type="http://schemas.openxmlformats.org/officeDocument/2006/relationships/hyperlink" Target="https://benthamopen.com/contents/supplementary-material/TOBIOIJ-5-53_SD1.pdf" TargetMode="External"/><Relationship Id="rId7" Type="http://schemas.openxmlformats.org/officeDocument/2006/relationships/image" Target="../media/image18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1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slide" Target="/ppt/slides/slide26.xml"/><Relationship Id="rId4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slide" Target="/ppt/slides/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slide" Target="/ppt/slides/slide28.xml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slide" Target="/ppt/slides/slide29.xml"/><Relationship Id="rId4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slide" Target="/ppt/slides/slide31.xml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34.png"/><Relationship Id="rId7" Type="http://schemas.openxmlformats.org/officeDocument/2006/relationships/image" Target="../media/image32.png"/><Relationship Id="rId8" Type="http://schemas.openxmlformats.org/officeDocument/2006/relationships/image" Target="../media/image3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slide" Target="/ppt/slides/slide32.xml"/><Relationship Id="rId4" Type="http://schemas.openxmlformats.org/officeDocument/2006/relationships/image" Target="../media/image5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slide" Target="/ppt/slides/slide33.xml"/><Relationship Id="rId4" Type="http://schemas.openxmlformats.org/officeDocument/2006/relationships/image" Target="../media/image30.png"/><Relationship Id="rId5" Type="http://schemas.openxmlformats.org/officeDocument/2006/relationships/image" Target="../media/image27.png"/><Relationship Id="rId6" Type="http://schemas.openxmlformats.org/officeDocument/2006/relationships/image" Target="../media/image34.png"/><Relationship Id="rId7" Type="http://schemas.openxmlformats.org/officeDocument/2006/relationships/image" Target="../media/image32.png"/><Relationship Id="rId8" Type="http://schemas.openxmlformats.org/officeDocument/2006/relationships/image" Target="../media/image39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jpg"/><Relationship Id="rId4" Type="http://schemas.openxmlformats.org/officeDocument/2006/relationships/image" Target="../media/image38.png"/><Relationship Id="rId5" Type="http://schemas.openxmlformats.org/officeDocument/2006/relationships/image" Target="../media/image36.jpg"/><Relationship Id="rId6" Type="http://schemas.openxmlformats.org/officeDocument/2006/relationships/image" Target="../media/image4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7.jpg"/><Relationship Id="rId4" Type="http://schemas.openxmlformats.org/officeDocument/2006/relationships/image" Target="../media/image4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Relationship Id="rId4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7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4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0.png"/><Relationship Id="rId4" Type="http://schemas.openxmlformats.org/officeDocument/2006/relationships/image" Target="../media/image5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/>
        </p:nvSpPr>
        <p:spPr>
          <a:xfrm>
            <a:off x="1568151" y="1237300"/>
            <a:ext cx="2214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3C4452"/>
                </a:solidFill>
                <a:latin typeface="Tahoma"/>
                <a:ea typeface="Tahoma"/>
                <a:cs typeface="Tahoma"/>
                <a:sym typeface="Tahoma"/>
              </a:rPr>
              <a:t>Lecture: Graph Basics 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" name="Google Shape;45;p1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124764" y="1070228"/>
            <a:ext cx="2957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17170" lvl="0" marL="229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400"/>
              <a:buFont typeface="Tahoma"/>
              <a:buAutoNum type="arabicPeriod"/>
            </a:pPr>
            <a:r>
              <a:rPr b="0" i="0" lang="en-US" sz="14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2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20fd27c11_0_99"/>
          <p:cNvSpPr txBox="1"/>
          <p:nvPr>
            <p:ph type="title"/>
          </p:nvPr>
        </p:nvSpPr>
        <p:spPr>
          <a:xfrm>
            <a:off x="257642" y="1454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is a Graph? (Recap)</a:t>
            </a:r>
            <a:endParaRPr/>
          </a:p>
        </p:txBody>
      </p:sp>
      <p:sp>
        <p:nvSpPr>
          <p:cNvPr id="58" name="Google Shape;58;g3220fd27c11_0_99"/>
          <p:cNvSpPr txBox="1"/>
          <p:nvPr/>
        </p:nvSpPr>
        <p:spPr>
          <a:xfrm>
            <a:off x="116800" y="633925"/>
            <a:ext cx="5349600" cy="21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30480" rtl="0" algn="l">
              <a:lnSpc>
                <a:spcPct val="115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 Definition: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Graphs have vertices (nodes) connected by edges 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 G is a pair (V, E), where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2" marL="13716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■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V: Finite set of vertices (n=∣V∣)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2" marL="13716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■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E: Finite set of edges (m=∣E∣)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30480" rtl="0" algn="l">
              <a:lnSpc>
                <a:spcPct val="11500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marR="30480" rtl="0" algn="l">
              <a:lnSpc>
                <a:spcPct val="115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graph, 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node = Vertex, 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nodes = vertices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connection between 2 nodes = edge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" name="Google Shape;59;g3220fd27c11_0_99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20fd27c11_4_44"/>
          <p:cNvSpPr txBox="1"/>
          <p:nvPr>
            <p:ph type="title"/>
          </p:nvPr>
        </p:nvSpPr>
        <p:spPr>
          <a:xfrm>
            <a:off x="257642" y="1454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Examples of graphs</a:t>
            </a:r>
            <a:endParaRPr/>
          </a:p>
        </p:txBody>
      </p:sp>
      <p:sp>
        <p:nvSpPr>
          <p:cNvPr id="65" name="Google Shape;65;g3220fd27c11_4_44"/>
          <p:cNvSpPr txBox="1"/>
          <p:nvPr/>
        </p:nvSpPr>
        <p:spPr>
          <a:xfrm>
            <a:off x="100300" y="419925"/>
            <a:ext cx="55707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900" u="none" cap="none" strike="noStrike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Transportation Networks </a:t>
            </a:r>
            <a:r>
              <a:rPr b="0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(e.g., Road maps: Pathao, Uber;   Flight routes: Emirates, US-Bangla Airlines)</a:t>
            </a:r>
            <a:endParaRPr b="0"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900" u="none" cap="none" strike="noStrike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Communication Networks </a:t>
            </a:r>
            <a:r>
              <a:rPr b="0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(e.g., the internet, telecommunication systems)</a:t>
            </a:r>
            <a:endParaRPr b="0"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900" u="none" cap="none" strike="noStrike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Networks </a:t>
            </a:r>
            <a:r>
              <a:rPr b="0"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(e.g., citation graphs, knowledge graphs, protein structure)</a:t>
            </a:r>
            <a:endParaRPr b="0"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065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3333B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30480" rtl="0" algn="l">
              <a:lnSpc>
                <a:spcPct val="8625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6" name="Google Shape;66;g3220fd27c11_4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950" y="1278050"/>
            <a:ext cx="1532427" cy="147517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220fd27c11_4_44"/>
          <p:cNvSpPr txBox="1"/>
          <p:nvPr/>
        </p:nvSpPr>
        <p:spPr>
          <a:xfrm>
            <a:off x="100300" y="2753225"/>
            <a:ext cx="538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source3:</a:t>
            </a:r>
            <a:r>
              <a:rPr b="0" i="0" lang="en-US" sz="6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600" u="sng" cap="none" strike="noStrik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https://www.researchgate.net/figure/An-example-of-road-network-extraction-and-graph-representation_fig12_279263325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source5:</a:t>
            </a:r>
            <a:r>
              <a:rPr b="0" i="0" lang="en-US" sz="600" u="none" cap="none" strike="noStrik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6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https://www.researchgate.net/figure/2-A-graph-visualisation-of-the-topology-of-network-connections-of-the-core-of-the_fig2_239550496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source7: https://www.semrush.com/blog/knowledge-graph/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g3220fd27c11_4_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69600" y="1334475"/>
            <a:ext cx="1532571" cy="136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220fd27c11_4_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59375" y="701875"/>
            <a:ext cx="904256" cy="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220fd27c11_4_44" title="y8v87DG48ThckQiaAX837PWLAgvIS9XODapqEkYGJhC4UvMgiXtx6bCQzSw6mS3Tj5uAA3PUhvRwHG9tTo5OGXIZLDhIzbAjc-Zc2J2w17Gr3RMfhDwWreSE0YwE5sh7yEFy9_YMrpaMxZUMVOsCYp_h324LC2ld0EKzmHoUce4lKzMiSv7qLVgj_t1AKbKc.jpg"/>
          <p:cNvPicPr preferRelativeResize="0"/>
          <p:nvPr/>
        </p:nvPicPr>
        <p:blipFill rotWithShape="1">
          <a:blip r:embed="rId10">
            <a:alphaModFix/>
          </a:blip>
          <a:srcRect b="10482" l="0" r="0" t="0"/>
          <a:stretch/>
        </p:blipFill>
        <p:spPr>
          <a:xfrm>
            <a:off x="3638350" y="1518975"/>
            <a:ext cx="1925278" cy="1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3220fd27c11_4_44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34be74e08_0_7"/>
          <p:cNvSpPr txBox="1"/>
          <p:nvPr>
            <p:ph type="title"/>
          </p:nvPr>
        </p:nvSpPr>
        <p:spPr>
          <a:xfrm>
            <a:off x="739300" y="163800"/>
            <a:ext cx="43125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0050" lvl="0" marL="628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Transportation Networks : flight routes example</a:t>
            </a:r>
            <a:endParaRPr sz="1400"/>
          </a:p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</p:txBody>
      </p:sp>
      <p:sp>
        <p:nvSpPr>
          <p:cNvPr id="77" name="Google Shape;77;g3534be74e08_0_7"/>
          <p:cNvSpPr txBox="1"/>
          <p:nvPr/>
        </p:nvSpPr>
        <p:spPr>
          <a:xfrm>
            <a:off x="133300" y="419925"/>
            <a:ext cx="53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8" name="Google Shape;78;g3534be74e08_0_7"/>
          <p:cNvPicPr preferRelativeResize="0"/>
          <p:nvPr/>
        </p:nvPicPr>
        <p:blipFill rotWithShape="1">
          <a:blip r:embed="rId3">
            <a:alphaModFix/>
          </a:blip>
          <a:srcRect b="3017" l="3794" r="7340" t="3818"/>
          <a:stretch/>
        </p:blipFill>
        <p:spPr>
          <a:xfrm>
            <a:off x="2621250" y="419925"/>
            <a:ext cx="3116401" cy="19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534be74e08_0_7"/>
          <p:cNvSpPr txBox="1"/>
          <p:nvPr/>
        </p:nvSpPr>
        <p:spPr>
          <a:xfrm>
            <a:off x="-33050" y="2085975"/>
            <a:ext cx="568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represents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city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represents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 flight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two cities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query on direct flights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check whether an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exists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two vertices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query on how to get to a location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check whether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exists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city A to city 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associated with edges (i.e.,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graphs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Ask: “What is the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cheapest path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A to B?”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534be74e08_0_7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20fd27c11_4_52"/>
          <p:cNvSpPr txBox="1"/>
          <p:nvPr>
            <p:ph type="title"/>
          </p:nvPr>
        </p:nvSpPr>
        <p:spPr>
          <a:xfrm>
            <a:off x="257642" y="1454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Examples of graphs</a:t>
            </a:r>
            <a:endParaRPr/>
          </a:p>
        </p:txBody>
      </p:sp>
      <p:sp>
        <p:nvSpPr>
          <p:cNvPr id="86" name="Google Shape;86;g3220fd27c11_4_52"/>
          <p:cNvSpPr txBox="1"/>
          <p:nvPr/>
        </p:nvSpPr>
        <p:spPr>
          <a:xfrm>
            <a:off x="134150" y="443050"/>
            <a:ext cx="53496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789305" lvl="0" marL="801370" marR="26733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Social Networks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(e.g., Facebook, LinkedIn)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89305" lvl="0" marL="801370" marR="26733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Dependency Networks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(e.g., task scheduling, software dependencies)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" name="Google Shape;87;g3220fd27c11_4_52"/>
          <p:cNvSpPr txBox="1"/>
          <p:nvPr/>
        </p:nvSpPr>
        <p:spPr>
          <a:xfrm>
            <a:off x="117650" y="2706975"/>
            <a:ext cx="538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Image source6:</a:t>
            </a:r>
            <a:r>
              <a:rPr b="0" i="0" lang="en-US" sz="600" u="none" cap="none" strike="noStrike">
                <a:solidFill>
                  <a:schemeClr val="dk1"/>
                </a:solidFill>
                <a:uFill>
                  <a:noFill/>
                </a:u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600" u="sng" cap="none" strike="noStrike">
                <a:solidFill>
                  <a:srgbClr val="1155CC"/>
                </a:solidFill>
                <a:latin typeface="Tahoma"/>
                <a:ea typeface="Tahoma"/>
                <a:cs typeface="Tahoma"/>
                <a:sym typeface="Tahom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https://www.researchgate.net/publication/340347681_A_Study_on_Graph_Theory_Properties_of_On-line_Social_Networks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Image source4:</a:t>
            </a:r>
            <a:r>
              <a:rPr b="0" i="0" lang="en-US" sz="600" u="none" cap="none" strike="noStrike">
                <a:solidFill>
                  <a:schemeClr val="dk1"/>
                </a:solidFill>
                <a:uFill>
                  <a:noFill/>
                </a:uFill>
                <a:latin typeface="Tahoma"/>
                <a:ea typeface="Tahoma"/>
                <a:cs typeface="Tahoma"/>
                <a:sym typeface="Tahom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600" u="sng" cap="none" strike="noStrike">
                <a:solidFill>
                  <a:srgbClr val="1155CC"/>
                </a:solidFill>
                <a:latin typeface="Tahoma"/>
                <a:ea typeface="Tahoma"/>
                <a:cs typeface="Tahoma"/>
                <a:sym typeface="Tahom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https://benthamopen.com/contents/supplementary-material/TOBIOIJ-5-53_SD1.pdf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8" name="Google Shape;88;g3220fd27c11_4_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925" y="1107500"/>
            <a:ext cx="1680351" cy="144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220fd27c11_4_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66426" y="1107499"/>
            <a:ext cx="1924398" cy="144437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220fd27c11_4_52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20fd27c11_0_89"/>
          <p:cNvSpPr txBox="1"/>
          <p:nvPr>
            <p:ph type="title"/>
          </p:nvPr>
        </p:nvSpPr>
        <p:spPr>
          <a:xfrm>
            <a:off x="1094450" y="104925"/>
            <a:ext cx="4449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Directed vs undirected Graph (Recap)</a:t>
            </a:r>
            <a:endParaRPr/>
          </a:p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g3220fd27c11_0_89"/>
          <p:cNvSpPr txBox="1"/>
          <p:nvPr/>
        </p:nvSpPr>
        <p:spPr>
          <a:xfrm>
            <a:off x="58625" y="419925"/>
            <a:ext cx="5418300" cy="23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 Types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 contains </a:t>
            </a:r>
            <a:r>
              <a:rPr b="0" i="0" lang="en-US" sz="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ordered pairs</a:t>
            </a:r>
            <a:endParaRPr b="0" i="0" sz="8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○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 have direction (one-way streets)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Undirected: (Bi-directional)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 contains </a:t>
            </a:r>
            <a:r>
              <a:rPr b="0" i="0" lang="en-US" sz="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unordered pairs</a:t>
            </a:r>
            <a:endParaRPr b="0" i="0" sz="8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110488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○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 have no direction (two-way streets)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10488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10488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Adjacency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110488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(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u, v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∈ E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110488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then vertices 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</a:t>
            </a: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adjacent.</a:t>
            </a:r>
            <a:b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7" name="Google Shape;97;g3220fd27c11_0_89"/>
          <p:cNvSpPr txBox="1"/>
          <p:nvPr/>
        </p:nvSpPr>
        <p:spPr>
          <a:xfrm>
            <a:off x="3353250" y="493250"/>
            <a:ext cx="24993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baseline="3000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graph, 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marR="30480" rtl="0" algn="l">
              <a:lnSpc>
                <a:spcPct val="86250"/>
              </a:lnSpc>
              <a:spcBef>
                <a:spcPts val="195"/>
              </a:spcBef>
              <a:spcAft>
                <a:spcPts val="0"/>
              </a:spcAft>
              <a:buClr>
                <a:srgbClr val="334669"/>
              </a:buClr>
              <a:buSzPts val="1300"/>
              <a:buFont typeface="Tahoma"/>
              <a:buChar char="•"/>
            </a:pPr>
            <a:r>
              <a:rPr b="0" baseline="3000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node = Vertex, </a:t>
            </a:r>
            <a:endParaRPr b="0" baseline="3000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marR="30480" rtl="0" algn="l">
              <a:lnSpc>
                <a:spcPct val="86250"/>
              </a:lnSpc>
              <a:spcBef>
                <a:spcPts val="195"/>
              </a:spcBef>
              <a:spcAft>
                <a:spcPts val="0"/>
              </a:spcAft>
              <a:buClr>
                <a:srgbClr val="334669"/>
              </a:buClr>
              <a:buSzPts val="1300"/>
              <a:buFont typeface="Tahoma"/>
              <a:buChar char="•"/>
            </a:pPr>
            <a:r>
              <a:rPr b="0" baseline="3000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nodes = vertices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marR="30480" rtl="0" algn="l">
              <a:lnSpc>
                <a:spcPct val="86250"/>
              </a:lnSpc>
              <a:spcBef>
                <a:spcPts val="195"/>
              </a:spcBef>
              <a:spcAft>
                <a:spcPts val="0"/>
              </a:spcAft>
              <a:buClr>
                <a:srgbClr val="334669"/>
              </a:buClr>
              <a:buSzPts val="1300"/>
              <a:buFont typeface="Tahoma"/>
              <a:buChar char="•"/>
            </a:pPr>
            <a:r>
              <a:rPr b="0" baseline="3000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connection between 2 nodes = edge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A diagram of a connection&#10;&#10;Description automatically generated with medium confidence" id="98" name="Google Shape;98;g3220fd27c11_0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650" y="1869827"/>
            <a:ext cx="2970875" cy="8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220fd27c11_0_89"/>
          <p:cNvSpPr txBox="1"/>
          <p:nvPr/>
        </p:nvSpPr>
        <p:spPr>
          <a:xfrm>
            <a:off x="264575" y="2934100"/>
            <a:ext cx="47625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g3220fd27c11_0_89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9fb4d2ce4_0_152"/>
          <p:cNvSpPr txBox="1"/>
          <p:nvPr>
            <p:ph type="title"/>
          </p:nvPr>
        </p:nvSpPr>
        <p:spPr>
          <a:xfrm>
            <a:off x="1898800" y="137025"/>
            <a:ext cx="2069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Self-loop in A Graph </a:t>
            </a:r>
            <a:endParaRPr/>
          </a:p>
        </p:txBody>
      </p:sp>
      <p:sp>
        <p:nvSpPr>
          <p:cNvPr id="106" name="Google Shape;106;g3f9fb4d2ce4_0_152"/>
          <p:cNvSpPr txBox="1"/>
          <p:nvPr/>
        </p:nvSpPr>
        <p:spPr>
          <a:xfrm>
            <a:off x="224350" y="517575"/>
            <a:ext cx="54183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b="1" lang="en-US" sz="900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self-loop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in a graph is an edge that </a:t>
            </a:r>
            <a:r>
              <a:rPr b="1" lang="en-US" sz="900" u="sng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starts and ends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at the </a:t>
            </a:r>
            <a:r>
              <a:rPr b="1" lang="en-US" sz="900" u="sng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same vertex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It is an edge of the form </a:t>
            </a:r>
            <a:r>
              <a:rPr b="1" lang="en-US" sz="900">
                <a:solidFill>
                  <a:srgbClr val="0D47A1"/>
                </a:solidFill>
                <a:latin typeface="Tahoma"/>
                <a:ea typeface="Tahoma"/>
                <a:cs typeface="Tahoma"/>
                <a:sym typeface="Tahoma"/>
              </a:rPr>
              <a:t>(v, v)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10487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7" name="Google Shape;107;g3f9fb4d2ce4_0_152"/>
          <p:cNvSpPr txBox="1"/>
          <p:nvPr/>
        </p:nvSpPr>
        <p:spPr>
          <a:xfrm>
            <a:off x="264575" y="2934100"/>
            <a:ext cx="47625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g3f9fb4d2ce4_0_152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  <p:pic>
        <p:nvPicPr>
          <p:cNvPr id="109" name="Google Shape;109;g3f9fb4d2ce4_0_152" title="self_loop_example.png"/>
          <p:cNvPicPr preferRelativeResize="0"/>
          <p:nvPr/>
        </p:nvPicPr>
        <p:blipFill rotWithShape="1">
          <a:blip r:embed="rId3">
            <a:alphaModFix/>
          </a:blip>
          <a:srcRect b="9018" l="0" r="0" t="9222"/>
          <a:stretch/>
        </p:blipFill>
        <p:spPr>
          <a:xfrm>
            <a:off x="1613375" y="1015450"/>
            <a:ext cx="2539050" cy="138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f9fb4d2ce4_0_152"/>
          <p:cNvSpPr txBox="1"/>
          <p:nvPr/>
        </p:nvSpPr>
        <p:spPr>
          <a:xfrm>
            <a:off x="372600" y="2491375"/>
            <a:ext cx="527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both examples, </a:t>
            </a:r>
            <a:r>
              <a:rPr b="1"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2 has a self-loop</a:t>
            </a:r>
            <a:r>
              <a:rPr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as the edge starts and ends at the same vertex, </a:t>
            </a:r>
            <a:r>
              <a:rPr b="1"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20fd27c11_0_80"/>
          <p:cNvSpPr txBox="1"/>
          <p:nvPr>
            <p:ph type="title"/>
          </p:nvPr>
        </p:nvSpPr>
        <p:spPr>
          <a:xfrm>
            <a:off x="263417" y="685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</a:t>
            </a:r>
            <a:endParaRPr/>
          </a:p>
        </p:txBody>
      </p:sp>
      <p:pic>
        <p:nvPicPr>
          <p:cNvPr id="116" name="Google Shape;116;g3220fd27c11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325" y="1385875"/>
            <a:ext cx="2781249" cy="157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220fd27c11_0_80"/>
          <p:cNvSpPr txBox="1"/>
          <p:nvPr/>
        </p:nvSpPr>
        <p:spPr>
          <a:xfrm>
            <a:off x="3279600" y="2020425"/>
            <a:ext cx="227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the degree of d here?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8" name="Google Shape;118;g3220fd27c11_0_80"/>
          <p:cNvSpPr txBox="1"/>
          <p:nvPr/>
        </p:nvSpPr>
        <p:spPr>
          <a:xfrm>
            <a:off x="-85700" y="501900"/>
            <a:ext cx="5851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Here, v is a node/vertex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undirected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(deg⁡(v))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edges connected to v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9" name="Google Shape;119;g3220fd27c11_0_8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ac65acb83_1_0"/>
          <p:cNvSpPr txBox="1"/>
          <p:nvPr>
            <p:ph type="title"/>
          </p:nvPr>
        </p:nvSpPr>
        <p:spPr>
          <a:xfrm>
            <a:off x="263417" y="685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</a:t>
            </a:r>
            <a:endParaRPr/>
          </a:p>
        </p:txBody>
      </p:sp>
      <p:pic>
        <p:nvPicPr>
          <p:cNvPr id="125" name="Google Shape;125;g3fac65acb83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325" y="1396650"/>
            <a:ext cx="2762250" cy="1567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fac65acb83_1_0"/>
          <p:cNvSpPr txBox="1"/>
          <p:nvPr/>
        </p:nvSpPr>
        <p:spPr>
          <a:xfrm>
            <a:off x="-85700" y="501900"/>
            <a:ext cx="5851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Here, v is a node/vertex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undirected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(deg⁡(v))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edges connected to v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" name="Google Shape;127;g3fac65acb83_1_0"/>
          <p:cNvSpPr txBox="1"/>
          <p:nvPr/>
        </p:nvSpPr>
        <p:spPr>
          <a:xfrm>
            <a:off x="3236475" y="1654625"/>
            <a:ext cx="2271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of d is 3.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Because d is connected to b, c, e by 3 edges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g3fac65acb83_1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20fd27c11_4_91"/>
          <p:cNvSpPr txBox="1"/>
          <p:nvPr>
            <p:ph type="title"/>
          </p:nvPr>
        </p:nvSpPr>
        <p:spPr>
          <a:xfrm>
            <a:off x="213967" y="204833"/>
            <a:ext cx="4230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/>
              <a:t>Vertex Degrees</a:t>
            </a:r>
            <a:endParaRPr sz="1600"/>
          </a:p>
        </p:txBody>
      </p:sp>
      <p:sp>
        <p:nvSpPr>
          <p:cNvPr id="134" name="Google Shape;134;g3220fd27c11_4_91"/>
          <p:cNvSpPr txBox="1"/>
          <p:nvPr/>
        </p:nvSpPr>
        <p:spPr>
          <a:xfrm>
            <a:off x="25025" y="350350"/>
            <a:ext cx="56511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undirected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(deg⁡(v))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edges connected to v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5" name="Google Shape;135;g3220fd27c11_4_91"/>
          <p:cNvGrpSpPr/>
          <p:nvPr/>
        </p:nvGrpSpPr>
        <p:grpSpPr>
          <a:xfrm>
            <a:off x="309197" y="1376405"/>
            <a:ext cx="4040453" cy="1589569"/>
            <a:chOff x="309197" y="1797780"/>
            <a:chExt cx="4040453" cy="1589569"/>
          </a:xfrm>
        </p:grpSpPr>
        <p:pic>
          <p:nvPicPr>
            <p:cNvPr id="136" name="Google Shape;136;g3220fd27c11_4_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7" y="1942378"/>
              <a:ext cx="3989651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g3220fd27c11_4_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g3220fd27c11_4_9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0798" y="3273048"/>
              <a:ext cx="3938852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g3220fd27c11_4_9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g3220fd27c11_4_91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220fd27c11_4_91"/>
            <p:cNvSpPr/>
            <p:nvPr/>
          </p:nvSpPr>
          <p:spPr>
            <a:xfrm>
              <a:off x="4298849" y="1835880"/>
              <a:ext cx="0" cy="1469389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220fd27c11_4_91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3220fd27c11_4_91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220fd27c11_4_91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5" name="Google Shape;145;g3220fd27c11_4_9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9997" y="2011959"/>
              <a:ext cx="2280916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46" name="Google Shape;146;g3220fd27c11_4_91"/>
          <p:cNvGraphicFramePr/>
          <p:nvPr/>
        </p:nvGraphicFramePr>
        <p:xfrm>
          <a:off x="3011509" y="1654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{06E72194-A1B8-4DFE-828A-43468D1B9818}</a:tableStyleId>
              </a:tblPr>
              <a:tblGrid>
                <a:gridCol w="527050"/>
                <a:gridCol w="371475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Vertex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</a:tbl>
          </a:graphicData>
        </a:graphic>
      </p:graphicFrame>
      <p:sp>
        <p:nvSpPr>
          <p:cNvPr id="147" name="Google Shape;147;g3220fd27c11_4_91"/>
          <p:cNvSpPr/>
          <p:nvPr/>
        </p:nvSpPr>
        <p:spPr>
          <a:xfrm>
            <a:off x="334572" y="13169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05103" marR="0" rtl="0" algn="l">
              <a:lnSpc>
                <a:spcPct val="100000"/>
              </a:lnSpc>
              <a:spcBef>
                <a:spcPts val="13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Example (Undirected graph)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220fd27c11_4_91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20fd27c11_4_22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</a:t>
            </a:r>
            <a:endParaRPr/>
          </a:p>
        </p:txBody>
      </p:sp>
      <p:sp>
        <p:nvSpPr>
          <p:cNvPr id="154" name="Google Shape;154;g3220fd27c11_4_22"/>
          <p:cNvSpPr txBox="1"/>
          <p:nvPr/>
        </p:nvSpPr>
        <p:spPr>
          <a:xfrm>
            <a:off x="29700" y="275350"/>
            <a:ext cx="56511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Degrees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:, here v is a node/vertex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6525" lvl="1" marL="71437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(indeg(v))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</a:t>
            </a:r>
            <a:r>
              <a:rPr b="1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incoming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edges to v (Number of edges ending at the vertex)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6525" lvl="1" marL="71437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(outdeg(v))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</a:t>
            </a:r>
            <a:r>
              <a:rPr b="1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outgoing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edges from v (Number of edges originating from the vertex)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 Edge Representation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Edge (a,b): Outgoing from a, incoming to b.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" name="Google Shape;155;g3220fd27c11_4_22"/>
          <p:cNvSpPr txBox="1"/>
          <p:nvPr/>
        </p:nvSpPr>
        <p:spPr>
          <a:xfrm>
            <a:off x="3143050" y="1936675"/>
            <a:ext cx="239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in-degree and out-degree of d?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6" name="Google Shape;156;g3220fd27c11_4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50" y="1823850"/>
            <a:ext cx="2638300" cy="13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220fd27c11_4_22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15aef4537_0_8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</a:t>
            </a:r>
            <a:endParaRPr/>
          </a:p>
        </p:txBody>
      </p:sp>
      <p:sp>
        <p:nvSpPr>
          <p:cNvPr id="163" name="Google Shape;163;g3b15aef4537_0_8"/>
          <p:cNvSpPr txBox="1"/>
          <p:nvPr/>
        </p:nvSpPr>
        <p:spPr>
          <a:xfrm>
            <a:off x="29700" y="275350"/>
            <a:ext cx="56511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Degrees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:, here v is a node/vertex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(indeg(v))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incoming edges to v (Number of edges ending at the vertex)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(outdeg(v))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outgoing edges from v (Number of edges originating from the vertex)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 Edge Representation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Edge (a,b): Outgoing from a, incoming to b.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4" name="Google Shape;164;g3b15aef4537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50" y="1823850"/>
            <a:ext cx="2638300" cy="13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b15aef4537_0_8"/>
          <p:cNvSpPr txBox="1"/>
          <p:nvPr/>
        </p:nvSpPr>
        <p:spPr>
          <a:xfrm>
            <a:off x="3322700" y="1716200"/>
            <a:ext cx="2271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of vertex d is 1. (incoming from b)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of vertex d is 2. (out-going to c, e)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6" name="Google Shape;166;g3b15aef4537_0_8"/>
          <p:cNvSpPr txBox="1"/>
          <p:nvPr>
            <p:ph idx="12" type="sldNum"/>
          </p:nvPr>
        </p:nvSpPr>
        <p:spPr>
          <a:xfrm>
            <a:off x="5349500" y="3106270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20fd27c11_4_70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</a:t>
            </a:r>
            <a:endParaRPr/>
          </a:p>
        </p:txBody>
      </p:sp>
      <p:sp>
        <p:nvSpPr>
          <p:cNvPr id="172" name="Google Shape;172;g3220fd27c11_4_70"/>
          <p:cNvSpPr txBox="1"/>
          <p:nvPr/>
        </p:nvSpPr>
        <p:spPr>
          <a:xfrm>
            <a:off x="64950" y="310025"/>
            <a:ext cx="57360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(indeg(v))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incoming edges to v (Number of edges ending at the vertex)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(outdeg(v))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outgoing edges from v (Number of edges originating from the vertex)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3" name="Google Shape;173;g3220fd27c11_4_70"/>
          <p:cNvGrpSpPr/>
          <p:nvPr/>
        </p:nvGrpSpPr>
        <p:grpSpPr>
          <a:xfrm>
            <a:off x="601922" y="1585830"/>
            <a:ext cx="4040453" cy="1589569"/>
            <a:chOff x="309197" y="1797780"/>
            <a:chExt cx="4040453" cy="1589569"/>
          </a:xfrm>
        </p:grpSpPr>
        <p:pic>
          <p:nvPicPr>
            <p:cNvPr id="174" name="Google Shape;174;g3220fd27c11_4_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7" y="1942378"/>
              <a:ext cx="3989651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g3220fd27c11_4_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g3220fd27c11_4_7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0798" y="3273048"/>
              <a:ext cx="3938852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g3220fd27c11_4_7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g3220fd27c11_4_70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3220fd27c11_4_70"/>
            <p:cNvSpPr/>
            <p:nvPr/>
          </p:nvSpPr>
          <p:spPr>
            <a:xfrm>
              <a:off x="4298849" y="1835880"/>
              <a:ext cx="0" cy="1469389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3220fd27c11_4_70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3220fd27c11_4_70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220fd27c11_4_70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3" name="Google Shape;183;g3220fd27c11_4_7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9997" y="2011959"/>
              <a:ext cx="2280916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84" name="Google Shape;184;g3220fd27c11_4_70"/>
          <p:cNvGraphicFramePr/>
          <p:nvPr/>
        </p:nvGraphicFramePr>
        <p:xfrm>
          <a:off x="3086709" y="18898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{06E72194-A1B8-4DFE-828A-43468D1B9818}</a:tableStyleId>
              </a:tblPr>
              <a:tblGrid>
                <a:gridCol w="573150"/>
                <a:gridCol w="653950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Vertex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540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  </a:t>
                      </a: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	out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	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	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	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	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	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</a:tbl>
          </a:graphicData>
        </a:graphic>
      </p:graphicFrame>
      <p:sp>
        <p:nvSpPr>
          <p:cNvPr id="185" name="Google Shape;185;g3220fd27c11_4_70"/>
          <p:cNvSpPr/>
          <p:nvPr/>
        </p:nvSpPr>
        <p:spPr>
          <a:xfrm>
            <a:off x="627297" y="15461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05103" marR="0" rtl="0" algn="l">
              <a:lnSpc>
                <a:spcPct val="100000"/>
              </a:lnSpc>
              <a:spcBef>
                <a:spcPts val="13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Example (Directed graph)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220fd27c11_4_7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20fd27c11_5_0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Path in a Graph</a:t>
            </a:r>
            <a:endParaRPr/>
          </a:p>
        </p:txBody>
      </p:sp>
      <p:sp>
        <p:nvSpPr>
          <p:cNvPr id="192" name="Google Shape;192;g3220fd27c11_5_0"/>
          <p:cNvSpPr txBox="1"/>
          <p:nvPr/>
        </p:nvSpPr>
        <p:spPr>
          <a:xfrm>
            <a:off x="235575" y="383225"/>
            <a:ext cx="56511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Path: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0" i="0" lang="en-US" sz="10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sequence of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connecting two vertices.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of Path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path.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1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Shortest path</a:t>
            </a:r>
            <a:r>
              <a:rPr b="0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(number of edges) between two vertices.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from a to d:  (3 possible paths)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(a,b), (b, d), length=2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(a,b),(b,c),(c,d),  length=3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(a,b),(b,c),(c,e),(e,d), length=4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 from a to d: 2 [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(a,b), (b, d)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3220fd27c11_5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6950" y="1374325"/>
            <a:ext cx="2709149" cy="15368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220fd27c11_5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220fd27c11_5_35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Path in a Graph</a:t>
            </a:r>
            <a:endParaRPr/>
          </a:p>
        </p:txBody>
      </p:sp>
      <p:sp>
        <p:nvSpPr>
          <p:cNvPr id="200" name="Google Shape;200;g3220fd27c11_5_35"/>
          <p:cNvSpPr txBox="1"/>
          <p:nvPr/>
        </p:nvSpPr>
        <p:spPr>
          <a:xfrm>
            <a:off x="219650" y="408300"/>
            <a:ext cx="5718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sequence of edges connecting two vertices.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of Path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Number of edges in the path.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from a to d:  (Only 1 possible path)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(a,b), (b, d)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g3220fd27c11_5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6950" y="1391900"/>
            <a:ext cx="3040750" cy="1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220fd27c11_5_35"/>
          <p:cNvSpPr txBox="1"/>
          <p:nvPr>
            <p:ph idx="12" type="sldNum"/>
          </p:nvPr>
        </p:nvSpPr>
        <p:spPr>
          <a:xfrm>
            <a:off x="5268469" y="2983756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20fd27c11_5_123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Connected Graph</a:t>
            </a:r>
            <a:endParaRPr/>
          </a:p>
        </p:txBody>
      </p:sp>
      <p:sp>
        <p:nvSpPr>
          <p:cNvPr id="208" name="Google Shape;208;g3220fd27c11_5_123"/>
          <p:cNvSpPr txBox="1"/>
          <p:nvPr/>
        </p:nvSpPr>
        <p:spPr>
          <a:xfrm>
            <a:off x="184525" y="667175"/>
            <a:ext cx="565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undirected graph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 is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connected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for every pair of vertices u, v there </a:t>
            </a:r>
            <a:r>
              <a:rPr b="1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exists a path from u to v </a:t>
            </a:r>
            <a:endParaRPr b="1" i="0" sz="11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g3220fd27c11_5_123" title="fig5_undirected_grap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325" y="1292800"/>
            <a:ext cx="3321628" cy="17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220fd27c11_5_123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220fd27c11_5_26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Disconnected Graph</a:t>
            </a:r>
            <a:endParaRPr/>
          </a:p>
        </p:txBody>
      </p:sp>
      <p:sp>
        <p:nvSpPr>
          <p:cNvPr id="216" name="Google Shape;216;g3220fd27c11_5_26"/>
          <p:cNvSpPr txBox="1"/>
          <p:nvPr/>
        </p:nvSpPr>
        <p:spPr>
          <a:xfrm>
            <a:off x="124875" y="310025"/>
            <a:ext cx="5340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Disconnected Graph: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path exists between </a:t>
            </a:r>
            <a:r>
              <a:rPr b="1" i="0" lang="en-US" sz="10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certain vertices.</a:t>
            </a:r>
            <a:endParaRPr b="1" i="0" sz="1000" u="sng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Vertices that are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mutually reachable,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they form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graph is not connected, the vertices of the graph can be divided into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connected components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vertices are in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connected component </a:t>
            </a:r>
            <a:b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and only if they are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connected by a path.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(Figure 5): The graph has two components.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3220fd27c11_5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3025" y="1864625"/>
            <a:ext cx="2160674" cy="122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220fd27c11_5_26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34be74e08_0_0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Disconnected Graph</a:t>
            </a:r>
            <a:endParaRPr/>
          </a:p>
        </p:txBody>
      </p:sp>
      <p:sp>
        <p:nvSpPr>
          <p:cNvPr id="224" name="Google Shape;224;g3534be74e08_0_0"/>
          <p:cNvSpPr txBox="1"/>
          <p:nvPr/>
        </p:nvSpPr>
        <p:spPr>
          <a:xfrm>
            <a:off x="337550" y="310025"/>
            <a:ext cx="5240700" cy="15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Disconnected Graph:</a:t>
            </a: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path exists between certain vertices.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Vertices that are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mutually reachable,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they form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graph is not connected, the vertices of the graph can be divided into </a:t>
            </a:r>
            <a:r>
              <a:rPr b="1" i="0" lang="en-US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connected components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vertices are in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connected component </a:t>
            </a:r>
            <a:b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and only if they are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connected by a path.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The graph has two components.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g3534be74e08_0_0" title="connected_compon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963" y="1938475"/>
            <a:ext cx="3957874" cy="124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534be74e08_0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20fd27c11_5_46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Cycle in a Graph</a:t>
            </a:r>
            <a:endParaRPr/>
          </a:p>
        </p:txBody>
      </p:sp>
      <p:sp>
        <p:nvSpPr>
          <p:cNvPr id="232" name="Google Shape;232;g3220fd27c11_5_46"/>
          <p:cNvSpPr txBox="1"/>
          <p:nvPr/>
        </p:nvSpPr>
        <p:spPr>
          <a:xfrm>
            <a:off x="229700" y="-25525"/>
            <a:ext cx="5459400" cy="20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sequence of edges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starts and ends at the </a:t>
            </a:r>
            <a:r>
              <a:rPr b="1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same vertex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</a:t>
            </a:r>
            <a:r>
              <a:rPr b="0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directed graph,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0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cycles are also directional.</a:t>
            </a:r>
            <a:endParaRPr b="0" i="0" sz="11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 are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cycles,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it’s called “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Acyclic” graph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there is at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least one cycle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it’s called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“cyclic” graph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(Figure 5): formed cycles are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(b, d), (d, c), (b, c)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(d, e), (e, c), (c, d)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(b,d), (d,e), (e,c), (c,b)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g3220fd27c11_5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7175" y="1515775"/>
            <a:ext cx="2682225" cy="152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220fd27c11_5_46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220fd27c11_5_62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Cycle in a Graph</a:t>
            </a:r>
            <a:endParaRPr/>
          </a:p>
        </p:txBody>
      </p:sp>
      <p:sp>
        <p:nvSpPr>
          <p:cNvPr id="240" name="Google Shape;240;g3220fd27c11_5_62"/>
          <p:cNvSpPr txBox="1"/>
          <p:nvPr/>
        </p:nvSpPr>
        <p:spPr>
          <a:xfrm>
            <a:off x="229700" y="68550"/>
            <a:ext cx="5459400" cy="15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sequence of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that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starts and ends at the same vertex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a directed graph, the cycles are also directional.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 (Figure 6): There are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cycles,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it’s called “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Acyclic” graph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 (Figure 8): (B, C), (C, E), (E, D), (D, B)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there is at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least one cycle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it’s called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“cyclic” graph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1" name="Google Shape;241;g3220fd27c11_5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675" y="1397450"/>
            <a:ext cx="2684550" cy="141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220fd27c11_5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0000" y="1602600"/>
            <a:ext cx="1375426" cy="85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220fd27c11_5_62"/>
          <p:cNvSpPr txBox="1"/>
          <p:nvPr/>
        </p:nvSpPr>
        <p:spPr>
          <a:xfrm>
            <a:off x="3572200" y="2556675"/>
            <a:ext cx="2193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Figure-8: directed graph</a:t>
            </a:r>
            <a:endParaRPr b="0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4" name="Google Shape;244;g3220fd27c11_5_62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20fd27c11_5_72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Weighted Graphs</a:t>
            </a:r>
            <a:endParaRPr/>
          </a:p>
        </p:txBody>
      </p:sp>
      <p:sp>
        <p:nvSpPr>
          <p:cNvPr id="250" name="Google Shape;250;g3220fd27c11_5_72"/>
          <p:cNvSpPr txBox="1"/>
          <p:nvPr/>
        </p:nvSpPr>
        <p:spPr>
          <a:xfrm>
            <a:off x="0" y="183675"/>
            <a:ext cx="5663100" cy="25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 and/or edges can have weights assigned.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Weight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Represents the </a:t>
            </a:r>
            <a:r>
              <a:rPr b="0" i="0" lang="en-US" sz="10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importance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entity/object/concept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■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(e.g., traffic capacity of a junction).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 Weight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Represents the </a:t>
            </a:r>
            <a:r>
              <a:rPr b="0" i="0" lang="en-US" sz="10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cost or strength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relationship between vertices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■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(e.g., distance between road junctions).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Graphs can be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Weighted 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or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Weighted Undirected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Example: Road Network Graph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Vertices/nodes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Road junctions.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Weights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Traffic capacity at each junction.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 Weights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Distance between junctions (length of roads).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51" name="Google Shape;251;g3220fd27c11_5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9325" y="1603975"/>
            <a:ext cx="1532427" cy="147517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220fd27c11_5_72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220fd27c11_5_96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Weighted Graphs</a:t>
            </a:r>
            <a:endParaRPr/>
          </a:p>
        </p:txBody>
      </p:sp>
      <p:sp>
        <p:nvSpPr>
          <p:cNvPr id="258" name="Google Shape;258;g3220fd27c11_5_96"/>
          <p:cNvSpPr txBox="1"/>
          <p:nvPr/>
        </p:nvSpPr>
        <p:spPr>
          <a:xfrm>
            <a:off x="408400" y="35525"/>
            <a:ext cx="52092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 and/or edges can have weights assigned.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Weight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Represents the importance of the entity/object/concept (e.g., traffic capacity of a junction).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 Weight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Represents the cost or strength of the relationship between vertices (e.g., distance between road junctions).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Graphs can be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Weighted 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or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Weighted Undirected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59" name="Google Shape;259;g3220fd27c11_5_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327" y="1648575"/>
            <a:ext cx="1810003" cy="133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220fd27c11_5_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675" y="1648575"/>
            <a:ext cx="1863126" cy="13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220fd27c11_5_96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220fd27c11_5_113"/>
          <p:cNvSpPr txBox="1"/>
          <p:nvPr>
            <p:ph type="title"/>
          </p:nvPr>
        </p:nvSpPr>
        <p:spPr>
          <a:xfrm>
            <a:off x="334617" y="1287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Default Graph Type</a:t>
            </a:r>
            <a:endParaRPr/>
          </a:p>
        </p:txBody>
      </p:sp>
      <p:sp>
        <p:nvSpPr>
          <p:cNvPr id="267" name="Google Shape;267;g3220fd27c11_5_113"/>
          <p:cNvSpPr txBox="1"/>
          <p:nvPr/>
        </p:nvSpPr>
        <p:spPr>
          <a:xfrm>
            <a:off x="862475" y="1029425"/>
            <a:ext cx="41019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Unless specified, "graph" refers to 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an undirected, unweighted graph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8" name="Google Shape;268;g3220fd27c11_5_113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220fd27c11_5_87"/>
          <p:cNvSpPr txBox="1"/>
          <p:nvPr>
            <p:ph type="title"/>
          </p:nvPr>
        </p:nvSpPr>
        <p:spPr>
          <a:xfrm>
            <a:off x="223067" y="6858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Sparse vs Dense Graph</a:t>
            </a:r>
            <a:endParaRPr/>
          </a:p>
        </p:txBody>
      </p:sp>
      <p:sp>
        <p:nvSpPr>
          <p:cNvPr id="274" name="Google Shape;274;g3220fd27c11_5_87"/>
          <p:cNvSpPr txBox="1"/>
          <p:nvPr/>
        </p:nvSpPr>
        <p:spPr>
          <a:xfrm>
            <a:off x="385050" y="362913"/>
            <a:ext cx="5173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Sparse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relative to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(nodes).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|E|≈ |V|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Dense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relative to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(nodes).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|E|≈ |V|</a:t>
            </a:r>
            <a:r>
              <a:rPr b="1" baseline="3000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baseline="3000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Importance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distinction between sparse and dense graphs influences the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choice of data structure for graph representation.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3220fd27c11_5_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5350" y="1583375"/>
            <a:ext cx="2131826" cy="126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220fd27c11_5_87"/>
          <p:cNvSpPr txBox="1"/>
          <p:nvPr/>
        </p:nvSpPr>
        <p:spPr>
          <a:xfrm>
            <a:off x="85850" y="2920125"/>
            <a:ext cx="559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 source: https://www.researchgate.net/publication/333950431_Multi-moth_flame_optimization_for_solving_the_link_prediction_problem_in_complex_networks</a:t>
            </a:r>
            <a:endParaRPr b="0" i="0" sz="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7" name="Google Shape;277;g3220fd27c11_5_87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220fd27c11_0_0"/>
          <p:cNvSpPr txBox="1"/>
          <p:nvPr>
            <p:ph type="title"/>
          </p:nvPr>
        </p:nvSpPr>
        <p:spPr>
          <a:xfrm>
            <a:off x="737717" y="1338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representation</a:t>
            </a:r>
            <a:endParaRPr/>
          </a:p>
        </p:txBody>
      </p:sp>
      <p:sp>
        <p:nvSpPr>
          <p:cNvPr id="283" name="Google Shape;283;g3220fd27c11_0_0"/>
          <p:cNvSpPr txBox="1"/>
          <p:nvPr/>
        </p:nvSpPr>
        <p:spPr>
          <a:xfrm>
            <a:off x="124450" y="2908875"/>
            <a:ext cx="12465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4" name="Google Shape;284;g3220fd27c11_0_0"/>
          <p:cNvSpPr txBox="1"/>
          <p:nvPr/>
        </p:nvSpPr>
        <p:spPr>
          <a:xfrm>
            <a:off x="124450" y="498775"/>
            <a:ext cx="5307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Graphs vs Trees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Unlike trees, graphs may lack a root node, making it impossible to traverse all vertices from a single starting point, especially in disconnected graphs.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Solution for Graph Representation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typical graph representations,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 vertices and edges are explicitly provided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ensure the </a:t>
            </a:r>
            <a:r>
              <a:rPr b="0" i="0" lang="en-US" sz="10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entire graph structure is accessible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regardless of connectivity.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5" name="Google Shape;285;g3220fd27c11_0_0"/>
          <p:cNvPicPr preferRelativeResize="0"/>
          <p:nvPr/>
        </p:nvPicPr>
        <p:blipFill rotWithShape="1">
          <a:blip r:embed="rId4">
            <a:alphaModFix/>
          </a:blip>
          <a:srcRect b="10297" l="0" r="0" t="0"/>
          <a:stretch/>
        </p:blipFill>
        <p:spPr>
          <a:xfrm>
            <a:off x="1552675" y="1654700"/>
            <a:ext cx="2300249" cy="117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220fd27c11_0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34be74e08_0_25"/>
          <p:cNvSpPr txBox="1"/>
          <p:nvPr>
            <p:ph type="title"/>
          </p:nvPr>
        </p:nvSpPr>
        <p:spPr>
          <a:xfrm>
            <a:off x="737717" y="1338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representation</a:t>
            </a:r>
            <a:endParaRPr/>
          </a:p>
        </p:txBody>
      </p:sp>
      <p:sp>
        <p:nvSpPr>
          <p:cNvPr id="292" name="Google Shape;292;g3534be74e08_0_25"/>
          <p:cNvSpPr txBox="1"/>
          <p:nvPr/>
        </p:nvSpPr>
        <p:spPr>
          <a:xfrm>
            <a:off x="124450" y="2908875"/>
            <a:ext cx="11388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3" name="Google Shape;293;g3534be74e08_0_25"/>
          <p:cNvSpPr txBox="1"/>
          <p:nvPr/>
        </p:nvSpPr>
        <p:spPr>
          <a:xfrm>
            <a:off x="229100" y="792650"/>
            <a:ext cx="5307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 Representations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Adjacency Matrix (Use a 2D matrix to represent the graph)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Adjacency List  (Use a 1D array of linked lists)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4" name="Google Shape;294;g3534be74e08_0_25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220fd27c11_5_133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sp>
        <p:nvSpPr>
          <p:cNvPr id="300" name="Google Shape;300;g3220fd27c11_5_133"/>
          <p:cNvSpPr txBox="1"/>
          <p:nvPr/>
        </p:nvSpPr>
        <p:spPr>
          <a:xfrm>
            <a:off x="124450" y="2908875"/>
            <a:ext cx="1410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01" name="Google Shape;301;g3220fd27c11_5_1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4575" y="397825"/>
            <a:ext cx="3023502" cy="5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g3220fd27c11_5_1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250" y="995300"/>
            <a:ext cx="3507826" cy="219414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3220fd27c11_5_133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220fd27c11_5_143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sp>
        <p:nvSpPr>
          <p:cNvPr id="309" name="Google Shape;309;g3220fd27c11_5_143"/>
          <p:cNvSpPr txBox="1"/>
          <p:nvPr/>
        </p:nvSpPr>
        <p:spPr>
          <a:xfrm>
            <a:off x="124450" y="2908875"/>
            <a:ext cx="11559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0" name="Google Shape;310;g3220fd27c11_5_143"/>
          <p:cNvSpPr txBox="1"/>
          <p:nvPr/>
        </p:nvSpPr>
        <p:spPr>
          <a:xfrm>
            <a:off x="357400" y="418325"/>
            <a:ext cx="487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 Graphs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The matrix is symmetric (A[i][j]=A[j][i]).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example, (2, 3) and (3, 2) have the same value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 Graphs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The matrix is </a:t>
            </a: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symmetric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unless each edge (a,b) has a corresponding (b,a).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11" name="Google Shape;311;g3220fd27c11_5_1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425" y="1098850"/>
            <a:ext cx="3341132" cy="208987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220fd27c11_5_143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34be74e08_0_32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pic>
        <p:nvPicPr>
          <p:cNvPr id="318" name="Google Shape;318;g3534be74e08_0_32" title="grap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350" y="829125"/>
            <a:ext cx="2347950" cy="18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534be74e08_0_32" title="graph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9475" y="945425"/>
            <a:ext cx="1756149" cy="191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534be74e08_0_32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220fd27c11_5_165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sp>
        <p:nvSpPr>
          <p:cNvPr id="326" name="Google Shape;326;g3220fd27c11_5_165"/>
          <p:cNvSpPr txBox="1"/>
          <p:nvPr/>
        </p:nvSpPr>
        <p:spPr>
          <a:xfrm>
            <a:off x="272400" y="2616325"/>
            <a:ext cx="1161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27" name="Google Shape;327;g3220fd27c11_5_165"/>
          <p:cNvGrpSpPr/>
          <p:nvPr/>
        </p:nvGrpSpPr>
        <p:grpSpPr>
          <a:xfrm>
            <a:off x="788747" y="939773"/>
            <a:ext cx="4040453" cy="1359480"/>
            <a:chOff x="309197" y="2023148"/>
            <a:chExt cx="4040453" cy="1359480"/>
          </a:xfrm>
        </p:grpSpPr>
        <p:sp>
          <p:nvSpPr>
            <p:cNvPr id="328" name="Google Shape;328;g3220fd27c11_5_165"/>
            <p:cNvSpPr/>
            <p:nvPr/>
          </p:nvSpPr>
          <p:spPr>
            <a:xfrm>
              <a:off x="309197" y="2023148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005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9" name="Google Shape;329;g3220fd27c11_5_1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9197" y="2211965"/>
              <a:ext cx="3989651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g3220fd27c11_5_1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59998" y="328102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g3220fd27c11_5_16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0798" y="3268327"/>
              <a:ext cx="3938852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g3220fd27c11_5_16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98849" y="2067371"/>
              <a:ext cx="50800" cy="1213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g3220fd27c11_5_165"/>
            <p:cNvSpPr/>
            <p:nvPr/>
          </p:nvSpPr>
          <p:spPr>
            <a:xfrm>
              <a:off x="309197" y="2256237"/>
              <a:ext cx="3989704" cy="1075689"/>
            </a:xfrm>
            <a:custGeom>
              <a:rect b="b" l="l" r="r" t="t"/>
              <a:pathLst>
                <a:path extrusionOk="0" h="1075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1024790"/>
                  </a:lnTo>
                  <a:lnTo>
                    <a:pt x="4008" y="1044514"/>
                  </a:lnTo>
                  <a:lnTo>
                    <a:pt x="14922" y="1060667"/>
                  </a:lnTo>
                  <a:lnTo>
                    <a:pt x="31075" y="1071582"/>
                  </a:lnTo>
                  <a:lnTo>
                    <a:pt x="50800" y="1075590"/>
                  </a:lnTo>
                  <a:lnTo>
                    <a:pt x="3938852" y="1075590"/>
                  </a:lnTo>
                  <a:lnTo>
                    <a:pt x="3958576" y="1071582"/>
                  </a:lnTo>
                  <a:lnTo>
                    <a:pt x="3974729" y="1060667"/>
                  </a:lnTo>
                  <a:lnTo>
                    <a:pt x="3985644" y="1044514"/>
                  </a:lnTo>
                  <a:lnTo>
                    <a:pt x="3989652" y="102479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g3220fd27c11_5_165"/>
            <p:cNvSpPr/>
            <p:nvPr/>
          </p:nvSpPr>
          <p:spPr>
            <a:xfrm>
              <a:off x="4298849" y="2105471"/>
              <a:ext cx="0" cy="1195070"/>
            </a:xfrm>
            <a:custGeom>
              <a:rect b="b" l="l" r="r" t="t"/>
              <a:pathLst>
                <a:path extrusionOk="0" h="1195070" w="120000">
                  <a:moveTo>
                    <a:pt x="0" y="11946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g3220fd27c11_5_165"/>
            <p:cNvSpPr/>
            <p:nvPr/>
          </p:nvSpPr>
          <p:spPr>
            <a:xfrm>
              <a:off x="4298849" y="20927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g3220fd27c11_5_165"/>
            <p:cNvSpPr/>
            <p:nvPr/>
          </p:nvSpPr>
          <p:spPr>
            <a:xfrm>
              <a:off x="4298849" y="20800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3220fd27c11_5_165"/>
            <p:cNvSpPr/>
            <p:nvPr/>
          </p:nvSpPr>
          <p:spPr>
            <a:xfrm>
              <a:off x="4298849" y="20673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8" name="Google Shape;338;g3220fd27c11_5_16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9997" y="2281534"/>
              <a:ext cx="896093" cy="10058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9" name="Google Shape;339;g3220fd27c11_5_165"/>
          <p:cNvSpPr txBox="1"/>
          <p:nvPr/>
        </p:nvSpPr>
        <p:spPr>
          <a:xfrm>
            <a:off x="826848" y="431120"/>
            <a:ext cx="3848700" cy="16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(Undirected graph)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3570" marR="0" rtl="0" algn="ctr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9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	b	c	d	e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1	0	1	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	0	1	1	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1	0	0	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	1	0	0	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1	1	1	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220fd27c11_5_165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220fd27c11_5_156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sp>
        <p:nvSpPr>
          <p:cNvPr id="346" name="Google Shape;346;g3220fd27c11_5_156"/>
          <p:cNvSpPr txBox="1"/>
          <p:nvPr/>
        </p:nvSpPr>
        <p:spPr>
          <a:xfrm>
            <a:off x="124450" y="2908875"/>
            <a:ext cx="1110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7" name="Google Shape;347;g3220fd27c11_5_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551" y="984163"/>
            <a:ext cx="4017249" cy="182752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220fd27c11_5_156"/>
          <p:cNvSpPr txBox="1"/>
          <p:nvPr/>
        </p:nvSpPr>
        <p:spPr>
          <a:xfrm>
            <a:off x="442250" y="517700"/>
            <a:ext cx="506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Shows only the </a:t>
            </a:r>
            <a:r>
              <a:rPr b="0" i="0" lang="en-US" sz="12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outgoing edges  </a:t>
            </a:r>
            <a:r>
              <a:rPr b="1" i="0" lang="en-US" sz="1200" u="sng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(REMEMBER!!     NOT INCOMING)</a:t>
            </a:r>
            <a:endParaRPr b="1" i="0" sz="1200" u="sng" cap="none" strike="noStrike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9" name="Google Shape;349;g3220fd27c11_5_156"/>
          <p:cNvSpPr txBox="1"/>
          <p:nvPr>
            <p:ph idx="12" type="sldNum"/>
          </p:nvPr>
        </p:nvSpPr>
        <p:spPr>
          <a:xfrm>
            <a:off x="5344544" y="29088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220fd27c11_5_186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sp>
        <p:nvSpPr>
          <p:cNvPr id="355" name="Google Shape;355;g3220fd27c11_5_186"/>
          <p:cNvSpPr txBox="1"/>
          <p:nvPr/>
        </p:nvSpPr>
        <p:spPr>
          <a:xfrm>
            <a:off x="124450" y="2908875"/>
            <a:ext cx="1122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56" name="Google Shape;356;g3220fd27c11_5_186"/>
          <p:cNvGrpSpPr/>
          <p:nvPr/>
        </p:nvGrpSpPr>
        <p:grpSpPr>
          <a:xfrm>
            <a:off x="615339" y="958267"/>
            <a:ext cx="4272779" cy="1455051"/>
            <a:chOff x="309197" y="2023148"/>
            <a:chExt cx="4040453" cy="1359480"/>
          </a:xfrm>
        </p:grpSpPr>
        <p:sp>
          <p:nvSpPr>
            <p:cNvPr id="357" name="Google Shape;357;g3220fd27c11_5_186"/>
            <p:cNvSpPr/>
            <p:nvPr/>
          </p:nvSpPr>
          <p:spPr>
            <a:xfrm>
              <a:off x="309197" y="2023148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005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8" name="Google Shape;358;g3220fd27c11_5_1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9197" y="2211965"/>
              <a:ext cx="3989651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g3220fd27c11_5_18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59998" y="328102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g3220fd27c11_5_18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0798" y="3268327"/>
              <a:ext cx="3938852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g3220fd27c11_5_18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98849" y="2067371"/>
              <a:ext cx="50800" cy="1213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g3220fd27c11_5_186"/>
            <p:cNvSpPr/>
            <p:nvPr/>
          </p:nvSpPr>
          <p:spPr>
            <a:xfrm>
              <a:off x="309197" y="2256237"/>
              <a:ext cx="3989704" cy="1075689"/>
            </a:xfrm>
            <a:custGeom>
              <a:rect b="b" l="l" r="r" t="t"/>
              <a:pathLst>
                <a:path extrusionOk="0" h="1075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1024790"/>
                  </a:lnTo>
                  <a:lnTo>
                    <a:pt x="4008" y="1044514"/>
                  </a:lnTo>
                  <a:lnTo>
                    <a:pt x="14922" y="1060667"/>
                  </a:lnTo>
                  <a:lnTo>
                    <a:pt x="31075" y="1071582"/>
                  </a:lnTo>
                  <a:lnTo>
                    <a:pt x="50800" y="1075590"/>
                  </a:lnTo>
                  <a:lnTo>
                    <a:pt x="3938852" y="1075590"/>
                  </a:lnTo>
                  <a:lnTo>
                    <a:pt x="3958576" y="1071582"/>
                  </a:lnTo>
                  <a:lnTo>
                    <a:pt x="3974729" y="1060667"/>
                  </a:lnTo>
                  <a:lnTo>
                    <a:pt x="3985644" y="1044514"/>
                  </a:lnTo>
                  <a:lnTo>
                    <a:pt x="3989652" y="102479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g3220fd27c11_5_186"/>
            <p:cNvSpPr/>
            <p:nvPr/>
          </p:nvSpPr>
          <p:spPr>
            <a:xfrm>
              <a:off x="4298849" y="2105471"/>
              <a:ext cx="0" cy="1195070"/>
            </a:xfrm>
            <a:custGeom>
              <a:rect b="b" l="l" r="r" t="t"/>
              <a:pathLst>
                <a:path extrusionOk="0" h="1195070" w="120000">
                  <a:moveTo>
                    <a:pt x="0" y="11946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g3220fd27c11_5_186"/>
            <p:cNvSpPr/>
            <p:nvPr/>
          </p:nvSpPr>
          <p:spPr>
            <a:xfrm>
              <a:off x="4298849" y="20927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g3220fd27c11_5_186"/>
            <p:cNvSpPr/>
            <p:nvPr/>
          </p:nvSpPr>
          <p:spPr>
            <a:xfrm>
              <a:off x="4298849" y="20800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g3220fd27c11_5_186"/>
            <p:cNvSpPr/>
            <p:nvPr/>
          </p:nvSpPr>
          <p:spPr>
            <a:xfrm>
              <a:off x="4298849" y="20673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7" name="Google Shape;367;g3220fd27c11_5_18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9997" y="2281534"/>
              <a:ext cx="896093" cy="10058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8" name="Google Shape;368;g3220fd27c11_5_186"/>
          <p:cNvSpPr txBox="1"/>
          <p:nvPr/>
        </p:nvSpPr>
        <p:spPr>
          <a:xfrm>
            <a:off x="653990" y="444425"/>
            <a:ext cx="4069800" cy="16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(Directed graph)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3570" marR="0" rtl="0" algn="ctr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9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	b	c	d	e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1	0	1	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0	1	0	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0	0	0	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1	0	0	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0	1	0	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220fd27c11_5_186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8"/>
          <p:cNvSpPr txBox="1"/>
          <p:nvPr>
            <p:ph type="title"/>
          </p:nvPr>
        </p:nvSpPr>
        <p:spPr>
          <a:xfrm>
            <a:off x="237925" y="161025"/>
            <a:ext cx="5111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for directed and undirected graph</a:t>
            </a:r>
            <a:endParaRPr/>
          </a:p>
        </p:txBody>
      </p:sp>
      <p:sp>
        <p:nvSpPr>
          <p:cNvPr id="375" name="Google Shape;375;p8"/>
          <p:cNvSpPr txBox="1"/>
          <p:nvPr/>
        </p:nvSpPr>
        <p:spPr>
          <a:xfrm>
            <a:off x="70175" y="2833525"/>
            <a:ext cx="50373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 sources:</a:t>
            </a:r>
            <a:endParaRPr b="0" baseline="30000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130245" y="2985664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8"/>
          <p:cNvSpPr txBox="1"/>
          <p:nvPr/>
        </p:nvSpPr>
        <p:spPr>
          <a:xfrm>
            <a:off x="90591" y="2985670"/>
            <a:ext cx="45066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Cormen, Leiserson, Rivest, Stein. Introduction to Algorithms, 3rd edition, MIT Press, 2009</a:t>
            </a:r>
            <a:endParaRPr b="0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130250" y="3106275"/>
            <a:ext cx="11841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79" name="Google Shape;379;p8" title="adjacency_matrix_exampl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5925" y="447826"/>
            <a:ext cx="4001100" cy="2506301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754c201ae_0_24"/>
          <p:cNvSpPr txBox="1"/>
          <p:nvPr>
            <p:ph type="title"/>
          </p:nvPr>
        </p:nvSpPr>
        <p:spPr>
          <a:xfrm>
            <a:off x="237925" y="161025"/>
            <a:ext cx="5111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for directed and undirected graph</a:t>
            </a:r>
            <a:endParaRPr/>
          </a:p>
        </p:txBody>
      </p:sp>
      <p:pic>
        <p:nvPicPr>
          <p:cNvPr id="386" name="Google Shape;386;g3f754c201ae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77" y="553931"/>
            <a:ext cx="979932" cy="66293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f754c201ae_0_24"/>
          <p:cNvSpPr txBox="1"/>
          <p:nvPr/>
        </p:nvSpPr>
        <p:spPr>
          <a:xfrm>
            <a:off x="109825" y="2657150"/>
            <a:ext cx="50373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 sources:</a:t>
            </a:r>
            <a:endParaRPr b="0" baseline="30000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8" name="Google Shape;388;g3f754c201ae_0_24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f754c201ae_0_24"/>
          <p:cNvSpPr txBox="1"/>
          <p:nvPr/>
        </p:nvSpPr>
        <p:spPr>
          <a:xfrm>
            <a:off x="130241" y="2809295"/>
            <a:ext cx="45066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Cormen, Leiserson, Rivest, Stein. Introduction to Algorithms, 3rd edition, MIT Press, 2009</a:t>
            </a:r>
            <a:endParaRPr b="0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90" name="Google Shape;390;g3f754c201ae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9747" y="1335281"/>
            <a:ext cx="926591" cy="940307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3f754c201ae_0_24"/>
          <p:cNvSpPr txBox="1"/>
          <p:nvPr/>
        </p:nvSpPr>
        <p:spPr>
          <a:xfrm>
            <a:off x="130250" y="3106275"/>
            <a:ext cx="11559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92" name="Google Shape;392;g3f754c201ae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30" y="588638"/>
            <a:ext cx="1266444" cy="67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3f754c201ae_0_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80871" y="1411818"/>
            <a:ext cx="1100328" cy="1092708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f754c201ae_0_24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220fd27c11_5_208"/>
          <p:cNvSpPr txBox="1"/>
          <p:nvPr>
            <p:ph type="title"/>
          </p:nvPr>
        </p:nvSpPr>
        <p:spPr>
          <a:xfrm>
            <a:off x="617600" y="176350"/>
            <a:ext cx="489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Weighted Directed Graph: Adjacency Matrix</a:t>
            </a:r>
            <a:endParaRPr/>
          </a:p>
        </p:txBody>
      </p:sp>
      <p:sp>
        <p:nvSpPr>
          <p:cNvPr id="400" name="Google Shape;400;g3220fd27c11_5_208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220fd27c11_5_208"/>
          <p:cNvSpPr txBox="1"/>
          <p:nvPr/>
        </p:nvSpPr>
        <p:spPr>
          <a:xfrm>
            <a:off x="130250" y="3106275"/>
            <a:ext cx="11502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02" name="Google Shape;402;g3220fd27c11_5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773" y="1064601"/>
            <a:ext cx="4184626" cy="2015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3220fd27c11_5_208"/>
          <p:cNvSpPr txBox="1"/>
          <p:nvPr/>
        </p:nvSpPr>
        <p:spPr>
          <a:xfrm>
            <a:off x="298075" y="496125"/>
            <a:ext cx="53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Weights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Represented by non-zero values in the matrix.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an edge with weight w, write w in </a:t>
            </a:r>
            <a:r>
              <a:rPr b="1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ONLY A[i][j]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1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(Directed–have no symmetry)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220fd27c11_5_20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754c201ae_1_0"/>
          <p:cNvSpPr txBox="1"/>
          <p:nvPr>
            <p:ph type="title"/>
          </p:nvPr>
        </p:nvSpPr>
        <p:spPr>
          <a:xfrm>
            <a:off x="617600" y="176350"/>
            <a:ext cx="489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Weighted Undirected Graph: Adjacency Matrix</a:t>
            </a:r>
            <a:endParaRPr/>
          </a:p>
        </p:txBody>
      </p:sp>
      <p:sp>
        <p:nvSpPr>
          <p:cNvPr id="410" name="Google Shape;410;g3f754c201ae_1_0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f754c201ae_1_0"/>
          <p:cNvSpPr txBox="1"/>
          <p:nvPr/>
        </p:nvSpPr>
        <p:spPr>
          <a:xfrm>
            <a:off x="130250" y="3106275"/>
            <a:ext cx="1167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2" name="Google Shape;412;g3f754c201ae_1_0"/>
          <p:cNvSpPr txBox="1"/>
          <p:nvPr/>
        </p:nvSpPr>
        <p:spPr>
          <a:xfrm>
            <a:off x="139450" y="473475"/>
            <a:ext cx="5539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Weights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Represented by non-zero values in the matrix.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an edge with weight w, write w in </a:t>
            </a:r>
            <a:r>
              <a:rPr b="1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A[i][j] and A[j][i]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1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(Undirected–have symmetry)</a:t>
            </a:r>
            <a:endParaRPr b="1" i="0" sz="11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3" name="Google Shape;413;g3f754c201ae_1_0" title="undirected_weighted_adjacency_matrix.png"/>
          <p:cNvPicPr preferRelativeResize="0"/>
          <p:nvPr/>
        </p:nvPicPr>
        <p:blipFill rotWithShape="1">
          <a:blip r:embed="rId3">
            <a:alphaModFix/>
          </a:blip>
          <a:srcRect b="8241" l="0" r="0" t="26306"/>
          <a:stretch/>
        </p:blipFill>
        <p:spPr>
          <a:xfrm>
            <a:off x="483200" y="1019325"/>
            <a:ext cx="4890001" cy="1961953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f754c201ae_1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"/>
          <p:cNvSpPr txBox="1"/>
          <p:nvPr>
            <p:ph type="title"/>
          </p:nvPr>
        </p:nvSpPr>
        <p:spPr>
          <a:xfrm>
            <a:off x="640767" y="27160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9505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- Analysis</a:t>
            </a:r>
            <a:endParaRPr/>
          </a:p>
        </p:txBody>
      </p:sp>
      <p:sp>
        <p:nvSpPr>
          <p:cNvPr id="420" name="Google Shape;420;p10"/>
          <p:cNvSpPr txBox="1"/>
          <p:nvPr/>
        </p:nvSpPr>
        <p:spPr>
          <a:xfrm>
            <a:off x="130250" y="3106275"/>
            <a:ext cx="1143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1" name="Google Shape;421;p10"/>
          <p:cNvSpPr txBox="1"/>
          <p:nvPr/>
        </p:nvSpPr>
        <p:spPr>
          <a:xfrm>
            <a:off x="416150" y="406250"/>
            <a:ext cx="4933500" cy="24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Adjacency matrix for N vertices takes N×N entries.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Complexity/Required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O(N^2) or O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b="0" baseline="3000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to list all vertices adjacent to </a:t>
            </a:r>
            <a:r>
              <a:rPr b="0" i="1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 (all nodes which are connected to u)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1" lang="en-US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θ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or </a:t>
            </a:r>
            <a:r>
              <a:rPr b="0" i="1" lang="en-US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θ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Higher space cost than adjacency list.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Use Adjacency Matrix?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Easier for certain computations. (Access time: O(1) 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Trade-off: More space for </a:t>
            </a:r>
            <a:r>
              <a:rPr b="0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faster operations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754c201ae_0_1"/>
          <p:cNvSpPr txBox="1"/>
          <p:nvPr>
            <p:ph type="title"/>
          </p:nvPr>
        </p:nvSpPr>
        <p:spPr>
          <a:xfrm>
            <a:off x="249500" y="133850"/>
            <a:ext cx="5009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Practice Task: Directed or Undirected? (Homework)</a:t>
            </a:r>
            <a:endParaRPr/>
          </a:p>
        </p:txBody>
      </p:sp>
      <p:sp>
        <p:nvSpPr>
          <p:cNvPr id="428" name="Google Shape;428;g3f754c201ae_0_1"/>
          <p:cNvSpPr txBox="1"/>
          <p:nvPr>
            <p:ph idx="1" type="body"/>
          </p:nvPr>
        </p:nvSpPr>
        <p:spPr>
          <a:xfrm>
            <a:off x="249504" y="628650"/>
            <a:ext cx="526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Given the following adjacency matrices, determine whether each graph is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Directed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Undirected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Give a reason for your answer. </a:t>
            </a:r>
            <a:endParaRPr/>
          </a:p>
        </p:txBody>
      </p:sp>
      <p:pic>
        <p:nvPicPr>
          <p:cNvPr id="429" name="Google Shape;429;g3f754c201ae_0_1" title="Graph_ques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675" y="1125425"/>
            <a:ext cx="5461001" cy="1632617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f754c201ae_0_1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754c201ae_0_8"/>
          <p:cNvSpPr txBox="1"/>
          <p:nvPr>
            <p:ph type="title"/>
          </p:nvPr>
        </p:nvSpPr>
        <p:spPr>
          <a:xfrm>
            <a:off x="323325" y="0"/>
            <a:ext cx="5009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Practice Task: Directed or Undirected? (Homework)</a:t>
            </a:r>
            <a:endParaRPr/>
          </a:p>
        </p:txBody>
      </p:sp>
      <p:pic>
        <p:nvPicPr>
          <p:cNvPr id="436" name="Google Shape;436;g3f754c201ae_0_8" title="Graph_ques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4150" y="323400"/>
            <a:ext cx="3970726" cy="285875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f754c201ae_0_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"/>
          <p:cNvSpPr txBox="1"/>
          <p:nvPr>
            <p:ph type="title"/>
          </p:nvPr>
        </p:nvSpPr>
        <p:spPr>
          <a:xfrm>
            <a:off x="145888" y="154250"/>
            <a:ext cx="4585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08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 Representation</a:t>
            </a:r>
            <a:endParaRPr/>
          </a:p>
        </p:txBody>
      </p:sp>
      <p:sp>
        <p:nvSpPr>
          <p:cNvPr id="443" name="Google Shape;443;p4"/>
          <p:cNvSpPr txBox="1"/>
          <p:nvPr/>
        </p:nvSpPr>
        <p:spPr>
          <a:xfrm>
            <a:off x="266450" y="676563"/>
            <a:ext cx="53868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are represented by indices in an array.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entry in the array contains a </a:t>
            </a: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linked list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adjacent vertices.</a:t>
            </a:r>
            <a:endParaRPr b="0" i="0" sz="10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30503" marR="219709" rtl="0" algn="l">
              <a:lnSpc>
                <a:spcPct val="1026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Represent the graph by listing for each vertex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0" baseline="-2500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its outgoing vertices in a list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0" baseline="-2500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). (Representation can be linked list, or another appropriate structure.)</a:t>
            </a:r>
            <a:endParaRPr b="0" baseline="3000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44" name="Google Shape;4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8625" y="1787550"/>
            <a:ext cx="2431705" cy="84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475" y="1839851"/>
            <a:ext cx="3002524" cy="74617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"/>
          <p:cNvSpPr txBox="1"/>
          <p:nvPr/>
        </p:nvSpPr>
        <p:spPr>
          <a:xfrm>
            <a:off x="213375" y="2855500"/>
            <a:ext cx="496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727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Image: </a:t>
            </a:r>
            <a:r>
              <a:rPr b="0" i="0" lang="en-US" sz="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Cormen, Leiserson, Rivest, Stein. Introduction to Algorithms, 3rd edition, MIT Press, 2009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7" name="Google Shape;447;p4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"/>
          <p:cNvSpPr txBox="1"/>
          <p:nvPr/>
        </p:nvSpPr>
        <p:spPr>
          <a:xfrm>
            <a:off x="359525" y="115100"/>
            <a:ext cx="486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        Adjacency lists for undirected graph</a:t>
            </a:r>
            <a:endParaRPr b="1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53" name="Google Shape;4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62" y="960113"/>
            <a:ext cx="3651125" cy="90735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"/>
          <p:cNvSpPr txBox="1"/>
          <p:nvPr/>
        </p:nvSpPr>
        <p:spPr>
          <a:xfrm>
            <a:off x="212823" y="2736375"/>
            <a:ext cx="660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baseline="3000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5" name="Google Shape;455;p5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5"/>
          <p:cNvSpPr txBox="1"/>
          <p:nvPr/>
        </p:nvSpPr>
        <p:spPr>
          <a:xfrm>
            <a:off x="130250" y="2933775"/>
            <a:ext cx="53955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0" lvl="0" marL="1727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7" name="Google Shape;457;p5"/>
          <p:cNvSpPr txBox="1"/>
          <p:nvPr/>
        </p:nvSpPr>
        <p:spPr>
          <a:xfrm>
            <a:off x="707475" y="432425"/>
            <a:ext cx="428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edge occurs twice</a:t>
            </a:r>
            <a:b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vertex’s entry contains the indices of its adjacent vertices.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8" name="Google Shape;458;p5"/>
          <p:cNvSpPr txBox="1"/>
          <p:nvPr/>
        </p:nvSpPr>
        <p:spPr>
          <a:xfrm>
            <a:off x="2666750" y="2016650"/>
            <a:ext cx="3000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Edge {</a:t>
            </a:r>
            <a:r>
              <a:rPr b="1" i="0" lang="en-US" sz="9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[Similar to LL’s Node class of Hashing]</a:t>
            </a:r>
            <a:endParaRPr b="1" i="0" sz="9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int end point / destination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Edge next (next adjacent node in the LL chain)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5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534be74e08_0_47"/>
          <p:cNvSpPr txBox="1"/>
          <p:nvPr/>
        </p:nvSpPr>
        <p:spPr>
          <a:xfrm>
            <a:off x="359525" y="115100"/>
            <a:ext cx="486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        Adjacency lists for undirected graph</a:t>
            </a:r>
            <a:endParaRPr b="1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5" name="Google Shape;465;g3534be74e08_0_47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534be74e08_0_47"/>
          <p:cNvSpPr txBox="1"/>
          <p:nvPr/>
        </p:nvSpPr>
        <p:spPr>
          <a:xfrm>
            <a:off x="716675" y="581625"/>
            <a:ext cx="428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edge occurs twice</a:t>
            </a:r>
            <a:b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vertex’s entry contains the indices of its adjacent vertices.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67" name="Google Shape;467;g3534be74e08_0_47" title="grap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200" y="1240725"/>
            <a:ext cx="1994576" cy="159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3534be74e08_0_47" title="graph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5750" y="1074225"/>
            <a:ext cx="963082" cy="18556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g3534be74e08_0_47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220fd27c11_5_351"/>
          <p:cNvSpPr txBox="1"/>
          <p:nvPr/>
        </p:nvSpPr>
        <p:spPr>
          <a:xfrm>
            <a:off x="359525" y="115100"/>
            <a:ext cx="486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        Adjacency lists for undirected graph</a:t>
            </a:r>
            <a:endParaRPr b="1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5" name="Google Shape;475;g3220fd27c11_5_351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220fd27c11_5_351"/>
          <p:cNvSpPr txBox="1"/>
          <p:nvPr/>
        </p:nvSpPr>
        <p:spPr>
          <a:xfrm>
            <a:off x="716675" y="581625"/>
            <a:ext cx="428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edge occurs twice</a:t>
            </a:r>
            <a:b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vertex’s entry contains the indices of its adjacent vertices.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77" name="Google Shape;477;g3220fd27c11_5_3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250" y="1139875"/>
            <a:ext cx="3847801" cy="16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3220fd27c11_5_351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"/>
          <p:cNvSpPr txBox="1"/>
          <p:nvPr>
            <p:ph type="ctrTitle"/>
          </p:nvPr>
        </p:nvSpPr>
        <p:spPr>
          <a:xfrm>
            <a:off x="1434851" y="161025"/>
            <a:ext cx="328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lists for directed graph</a:t>
            </a:r>
            <a:endParaRPr/>
          </a:p>
        </p:txBody>
      </p:sp>
      <p:sp>
        <p:nvSpPr>
          <p:cNvPr id="484" name="Google Shape;484;p6"/>
          <p:cNvSpPr txBox="1"/>
          <p:nvPr/>
        </p:nvSpPr>
        <p:spPr>
          <a:xfrm>
            <a:off x="428526" y="516725"/>
            <a:ext cx="4319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0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Each edge occurs once</a:t>
            </a:r>
            <a:b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 are only listed for the source vertex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0" lang="en-US" sz="10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outgoing),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not the destination.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85" name="Google Shape;4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75" y="991325"/>
            <a:ext cx="3571350" cy="123587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6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6"/>
          <p:cNvSpPr txBox="1"/>
          <p:nvPr>
            <p:ph idx="1" type="subTitle"/>
          </p:nvPr>
        </p:nvSpPr>
        <p:spPr>
          <a:xfrm>
            <a:off x="66477" y="2731300"/>
            <a:ext cx="55512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Image:</a:t>
            </a:r>
            <a:endParaRPr baseline="30000" sz="1200"/>
          </a:p>
          <a:p>
            <a:pPr indent="0" lvl="0" marL="215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aseline="30000" lang="en-US" sz="900"/>
              <a:t>2</a:t>
            </a:r>
            <a:r>
              <a:rPr lang="en-US" sz="900"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sz="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8" name="Google Shape;488;p6"/>
          <p:cNvSpPr txBox="1"/>
          <p:nvPr/>
        </p:nvSpPr>
        <p:spPr>
          <a:xfrm>
            <a:off x="130250" y="3106275"/>
            <a:ext cx="11331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9" name="Google Shape;489;p6"/>
          <p:cNvSpPr txBox="1"/>
          <p:nvPr/>
        </p:nvSpPr>
        <p:spPr>
          <a:xfrm>
            <a:off x="2803100" y="2227200"/>
            <a:ext cx="3000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Edge {</a:t>
            </a:r>
            <a:r>
              <a:rPr b="1" i="0" lang="en-US" sz="9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[Similar to LL’s Node class of Hashing]</a:t>
            </a:r>
            <a:endParaRPr b="1" i="0" sz="9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int end point / destination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Edge next (next adjacent node in the LL chain)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6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220fd27c11_5_363"/>
          <p:cNvSpPr txBox="1"/>
          <p:nvPr>
            <p:ph type="ctrTitle"/>
          </p:nvPr>
        </p:nvSpPr>
        <p:spPr>
          <a:xfrm>
            <a:off x="1434851" y="161025"/>
            <a:ext cx="328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lists for directed graph</a:t>
            </a:r>
            <a:endParaRPr/>
          </a:p>
        </p:txBody>
      </p:sp>
      <p:sp>
        <p:nvSpPr>
          <p:cNvPr id="496" name="Google Shape;496;g3220fd27c11_5_363"/>
          <p:cNvSpPr txBox="1"/>
          <p:nvPr/>
        </p:nvSpPr>
        <p:spPr>
          <a:xfrm>
            <a:off x="487201" y="661525"/>
            <a:ext cx="4319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Each edge occurs once</a:t>
            </a:r>
            <a:b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 are only listed for the source vertex (</a:t>
            </a:r>
            <a:r>
              <a:rPr b="1" i="0" lang="en-US" sz="10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outgoing),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not the destination.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7" name="Google Shape;497;g3220fd27c11_5_363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8" name="Google Shape;498;g3220fd27c11_5_3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4850" y="1203175"/>
            <a:ext cx="2592658" cy="1659676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g3220fd27c11_5_363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220fd27c11_5_334"/>
          <p:cNvSpPr txBox="1"/>
          <p:nvPr>
            <p:ph type="ctrTitle"/>
          </p:nvPr>
        </p:nvSpPr>
        <p:spPr>
          <a:xfrm>
            <a:off x="1076350" y="110825"/>
            <a:ext cx="3878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lists for Weighted Graphs</a:t>
            </a:r>
            <a:endParaRPr/>
          </a:p>
        </p:txBody>
      </p:sp>
      <p:sp>
        <p:nvSpPr>
          <p:cNvPr id="505" name="Google Shape;505;g3220fd27c11_5_334"/>
          <p:cNvSpPr txBox="1"/>
          <p:nvPr/>
        </p:nvSpPr>
        <p:spPr>
          <a:xfrm>
            <a:off x="683925" y="385325"/>
            <a:ext cx="4864800" cy="25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Often plain array may not be enough for Weighted Graphs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weighted graphs, both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can have associated weights.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simple array of lists is not sufficient to represent this.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Thus, in few cases, we need special </a:t>
            </a:r>
            <a:r>
              <a:rPr b="0" i="0" lang="en-US" sz="9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edge class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9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with weight</a:t>
            </a:r>
            <a:endParaRPr b="0" i="0" sz="900" u="sng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Edge {</a:t>
            </a:r>
            <a:r>
              <a:rPr b="1" i="0" lang="en-US" sz="9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[Similar to LL’s Node class of Hashing]</a:t>
            </a:r>
            <a:endParaRPr b="1" i="0" sz="9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int end point / destination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	int weight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Edge next (next adjacent node in the LL chain)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b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 Class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ep1 stores the index of the vertex connected by the edge.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weight stores the weight of the edge.</a:t>
            </a:r>
            <a:endParaRPr b="0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6" name="Google Shape;506;g3220fd27c11_5_334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2230ee4132_0_0"/>
          <p:cNvSpPr txBox="1"/>
          <p:nvPr>
            <p:ph type="ctrTitle"/>
          </p:nvPr>
        </p:nvSpPr>
        <p:spPr>
          <a:xfrm>
            <a:off x="827600" y="161025"/>
            <a:ext cx="5015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Adjacency lists for directed graph with edge weight</a:t>
            </a:r>
            <a:br>
              <a:rPr lang="en-US" sz="1400"/>
            </a:br>
            <a:endParaRPr sz="1400"/>
          </a:p>
        </p:txBody>
      </p:sp>
      <p:sp>
        <p:nvSpPr>
          <p:cNvPr id="512" name="Google Shape;512;g32230ee4132_0_0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g32230ee4132_0_0" title="adjacency_list_directed_weighted.png"/>
          <p:cNvPicPr preferRelativeResize="0"/>
          <p:nvPr/>
        </p:nvPicPr>
        <p:blipFill rotWithShape="1">
          <a:blip r:embed="rId3">
            <a:alphaModFix/>
          </a:blip>
          <a:srcRect b="-6687" l="0" r="0" t="16082"/>
          <a:stretch/>
        </p:blipFill>
        <p:spPr>
          <a:xfrm>
            <a:off x="267338" y="429600"/>
            <a:ext cx="5231124" cy="2500289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g32230ee4132_0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5359bad66d_0_1"/>
          <p:cNvSpPr txBox="1"/>
          <p:nvPr>
            <p:ph type="ctrTitle"/>
          </p:nvPr>
        </p:nvSpPr>
        <p:spPr>
          <a:xfrm>
            <a:off x="827600" y="161025"/>
            <a:ext cx="50151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Adjacency lists for undirected graph with edge weight</a:t>
            </a:r>
            <a:endParaRPr sz="1400"/>
          </a:p>
        </p:txBody>
      </p:sp>
      <p:sp>
        <p:nvSpPr>
          <p:cNvPr id="520" name="Google Shape;520;g35359bad66d_0_1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1" name="Google Shape;521;g35359bad66d_0_1" title="adjacency_list_undirected_weighted.png"/>
          <p:cNvPicPr preferRelativeResize="0"/>
          <p:nvPr/>
        </p:nvPicPr>
        <p:blipFill rotWithShape="1">
          <a:blip r:embed="rId3">
            <a:alphaModFix/>
          </a:blip>
          <a:srcRect b="9762" l="0" r="0" t="15661"/>
          <a:stretch/>
        </p:blipFill>
        <p:spPr>
          <a:xfrm>
            <a:off x="152838" y="531025"/>
            <a:ext cx="5460124" cy="2480551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g35359bad66d_0_1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220fd27c11_5_324"/>
          <p:cNvSpPr txBox="1"/>
          <p:nvPr>
            <p:ph type="ctrTitle"/>
          </p:nvPr>
        </p:nvSpPr>
        <p:spPr>
          <a:xfrm>
            <a:off x="142525" y="68275"/>
            <a:ext cx="5641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Adjacency lists for directed graph with edge and vertex weight</a:t>
            </a:r>
            <a:endParaRPr sz="1400"/>
          </a:p>
        </p:txBody>
      </p:sp>
      <p:pic>
        <p:nvPicPr>
          <p:cNvPr id="528" name="Google Shape;528;g3220fd27c11_5_324" title="adjacency_list_directed_graph_v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825" y="380625"/>
            <a:ext cx="4717601" cy="286422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g3220fd27c11_5_324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ac65accc1_0_5"/>
          <p:cNvSpPr txBox="1"/>
          <p:nvPr>
            <p:ph type="title"/>
          </p:nvPr>
        </p:nvSpPr>
        <p:spPr>
          <a:xfrm>
            <a:off x="249500" y="133850"/>
            <a:ext cx="5009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Practice Task: Directed or Undirected? (Homework)</a:t>
            </a:r>
            <a:endParaRPr/>
          </a:p>
        </p:txBody>
      </p:sp>
      <p:sp>
        <p:nvSpPr>
          <p:cNvPr id="535" name="Google Shape;535;g3fac65accc1_0_5"/>
          <p:cNvSpPr txBox="1"/>
          <p:nvPr>
            <p:ph idx="1" type="body"/>
          </p:nvPr>
        </p:nvSpPr>
        <p:spPr>
          <a:xfrm>
            <a:off x="249504" y="539325"/>
            <a:ext cx="526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Given the following adjacency lists, determine whether each graph is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Directed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Undirected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Give a reason for your answer. </a:t>
            </a:r>
            <a:endParaRPr/>
          </a:p>
        </p:txBody>
      </p:sp>
      <p:pic>
        <p:nvPicPr>
          <p:cNvPr id="536" name="Google Shape;536;g3fac65accc1_0_5" title="directed_undirected_prac_q1.png"/>
          <p:cNvPicPr preferRelativeResize="0"/>
          <p:nvPr/>
        </p:nvPicPr>
        <p:blipFill rotWithShape="1">
          <a:blip r:embed="rId3">
            <a:alphaModFix/>
          </a:blip>
          <a:srcRect b="59558" l="0" r="0" t="0"/>
          <a:stretch/>
        </p:blipFill>
        <p:spPr>
          <a:xfrm>
            <a:off x="146225" y="1090950"/>
            <a:ext cx="5473349" cy="1660076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g3fac65accc1_0_5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fac65accc1_0_18"/>
          <p:cNvSpPr txBox="1"/>
          <p:nvPr>
            <p:ph type="title"/>
          </p:nvPr>
        </p:nvSpPr>
        <p:spPr>
          <a:xfrm>
            <a:off x="249500" y="133850"/>
            <a:ext cx="5009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Practice Task: Directed or Undirected? (Homework)</a:t>
            </a:r>
            <a:endParaRPr/>
          </a:p>
        </p:txBody>
      </p:sp>
      <p:pic>
        <p:nvPicPr>
          <p:cNvPr id="543" name="Google Shape;543;g3fac65accc1_0_18" title="directed_undirected_prac_q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100" y="476250"/>
            <a:ext cx="3691473" cy="276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g3fac65accc1_0_1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9fb4d2ce4_0_6"/>
          <p:cNvSpPr txBox="1"/>
          <p:nvPr>
            <p:ph idx="12" type="sldNum"/>
          </p:nvPr>
        </p:nvSpPr>
        <p:spPr>
          <a:xfrm>
            <a:off x="2281529" y="1566871"/>
            <a:ext cx="113100" cy="454800"/>
          </a:xfrm>
          <a:prstGeom prst="rect">
            <a:avLst/>
          </a:prstGeom>
        </p:spPr>
        <p:txBody>
          <a:bodyPr anchorCtr="0" anchor="t" bIns="42225" lIns="42225" spcFirstLastPara="1" rIns="42225" wrap="square" tIns="42225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  <p:cxnSp>
        <p:nvCxnSpPr>
          <p:cNvPr id="550" name="Google Shape;550;g3f9fb4d2ce4_0_6"/>
          <p:cNvCxnSpPr/>
          <p:nvPr/>
        </p:nvCxnSpPr>
        <p:spPr>
          <a:xfrm>
            <a:off x="817189" y="1690552"/>
            <a:ext cx="696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23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1" name="Google Shape;551;g3f9fb4d2ce4_0_6"/>
          <p:cNvCxnSpPr/>
          <p:nvPr/>
        </p:nvCxnSpPr>
        <p:spPr>
          <a:xfrm>
            <a:off x="677826" y="1829915"/>
            <a:ext cx="0" cy="5448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23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2" name="Google Shape;552;g3f9fb4d2ce4_0_6"/>
          <p:cNvCxnSpPr/>
          <p:nvPr/>
        </p:nvCxnSpPr>
        <p:spPr>
          <a:xfrm>
            <a:off x="1653367" y="1829915"/>
            <a:ext cx="0" cy="5448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23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g3f9fb4d2ce4_0_6"/>
          <p:cNvCxnSpPr/>
          <p:nvPr/>
        </p:nvCxnSpPr>
        <p:spPr>
          <a:xfrm>
            <a:off x="817189" y="2514061"/>
            <a:ext cx="696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23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4" name="Google Shape;554;g3f9fb4d2ce4_0_6"/>
          <p:cNvCxnSpPr/>
          <p:nvPr/>
        </p:nvCxnSpPr>
        <p:spPr>
          <a:xfrm>
            <a:off x="783404" y="1796130"/>
            <a:ext cx="764400" cy="6123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23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5" name="Google Shape;555;g3f9fb4d2ce4_0_6"/>
          <p:cNvSpPr/>
          <p:nvPr/>
        </p:nvSpPr>
        <p:spPr>
          <a:xfrm>
            <a:off x="317566" y="1293567"/>
            <a:ext cx="491100" cy="464700"/>
          </a:xfrm>
          <a:custGeom>
            <a:rect b="b" l="l" r="r" t="t"/>
            <a:pathLst>
              <a:path extrusionOk="0" h="120000" w="120000">
                <a:moveTo>
                  <a:pt x="48839" y="111318"/>
                </a:moveTo>
                <a:cubicBezTo>
                  <a:pt x="23691" y="105932"/>
                  <a:pt x="6093" y="83372"/>
                  <a:pt x="7141" y="57862"/>
                </a:cubicBezTo>
                <a:cubicBezTo>
                  <a:pt x="8188" y="32351"/>
                  <a:pt x="27578" y="11288"/>
                  <a:pt x="53085" y="7950"/>
                </a:cubicBezTo>
                <a:cubicBezTo>
                  <a:pt x="78592" y="4613"/>
                  <a:pt x="102820" y="19970"/>
                  <a:pt x="110495" y="44339"/>
                </a:cubicBezTo>
                <a:lnTo>
                  <a:pt x="117137" y="44339"/>
                </a:lnTo>
                <a:lnTo>
                  <a:pt x="105806" y="60000"/>
                </a:lnTo>
                <a:lnTo>
                  <a:pt x="88749" y="44339"/>
                </a:lnTo>
                <a:lnTo>
                  <a:pt x="95172" y="44339"/>
                </a:lnTo>
                <a:cubicBezTo>
                  <a:pt x="87560" y="28295"/>
                  <a:pt x="69424" y="19568"/>
                  <a:pt x="51628" y="23388"/>
                </a:cubicBezTo>
                <a:cubicBezTo>
                  <a:pt x="33832" y="27207"/>
                  <a:pt x="21197" y="42536"/>
                  <a:pt x="21291" y="60194"/>
                </a:cubicBezTo>
                <a:cubicBezTo>
                  <a:pt x="21385" y="77852"/>
                  <a:pt x="34183" y="93054"/>
                  <a:pt x="52020" y="96694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cap="flat" cmpd="sng" w="146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47"/>
          </a:p>
        </p:txBody>
      </p:sp>
      <p:cxnSp>
        <p:nvCxnSpPr>
          <p:cNvPr id="556" name="Google Shape;556;g3f9fb4d2ce4_0_6"/>
          <p:cNvCxnSpPr/>
          <p:nvPr/>
        </p:nvCxnSpPr>
        <p:spPr>
          <a:xfrm flipH="1" rot="10800000">
            <a:off x="323084" y="1690830"/>
            <a:ext cx="117900" cy="1053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17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7" name="Google Shape;557;g3f9fb4d2ce4_0_6"/>
          <p:cNvSpPr/>
          <p:nvPr/>
        </p:nvSpPr>
        <p:spPr>
          <a:xfrm>
            <a:off x="7" y="1859489"/>
            <a:ext cx="7644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785"/>
              <a:buFont typeface="Arial"/>
              <a:buNone/>
            </a:pPr>
            <a:r>
              <a:rPr b="1" i="0" lang="en-US" sz="785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Self-loop</a:t>
            </a:r>
            <a:endParaRPr b="0" i="0" sz="7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785"/>
              <a:buFont typeface="Arial"/>
              <a:buNone/>
            </a:pPr>
            <a:r>
              <a:rPr b="1" i="0" lang="en-US" sz="785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at A</a:t>
            </a:r>
            <a:endParaRPr b="0" i="0" sz="7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g3f9fb4d2ce4_0_6"/>
          <p:cNvSpPr/>
          <p:nvPr/>
        </p:nvSpPr>
        <p:spPr>
          <a:xfrm>
            <a:off x="538463" y="1551189"/>
            <a:ext cx="279000" cy="279000"/>
          </a:xfrm>
          <a:prstGeom prst="ellipse">
            <a:avLst/>
          </a:prstGeom>
          <a:solidFill>
            <a:srgbClr val="F1FFF0"/>
          </a:solidFill>
          <a:ln cap="flat" cmpd="sng" w="14075">
            <a:solidFill>
              <a:srgbClr val="0B6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3f9fb4d2ce4_0_6"/>
          <p:cNvSpPr/>
          <p:nvPr/>
        </p:nvSpPr>
        <p:spPr>
          <a:xfrm>
            <a:off x="538463" y="1568082"/>
            <a:ext cx="2790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28"/>
              </a:buClr>
              <a:buSzPts val="1108"/>
              <a:buFont typeface="Arial"/>
              <a:buNone/>
            </a:pPr>
            <a:r>
              <a:rPr b="1" i="0" lang="en-US" sz="1108" u="none" cap="none" strike="noStrike">
                <a:solidFill>
                  <a:srgbClr val="0B6E2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10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3f9fb4d2ce4_0_6"/>
          <p:cNvSpPr/>
          <p:nvPr/>
        </p:nvSpPr>
        <p:spPr>
          <a:xfrm>
            <a:off x="1514004" y="1551189"/>
            <a:ext cx="279000" cy="279000"/>
          </a:xfrm>
          <a:prstGeom prst="ellipse">
            <a:avLst/>
          </a:prstGeom>
          <a:solidFill>
            <a:srgbClr val="F1FFF0"/>
          </a:solidFill>
          <a:ln cap="flat" cmpd="sng" w="14075">
            <a:solidFill>
              <a:srgbClr val="0B6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f9fb4d2ce4_0_6"/>
          <p:cNvSpPr/>
          <p:nvPr/>
        </p:nvSpPr>
        <p:spPr>
          <a:xfrm>
            <a:off x="1514004" y="1568082"/>
            <a:ext cx="2790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28"/>
              </a:buClr>
              <a:buSzPts val="1108"/>
              <a:buFont typeface="Arial"/>
              <a:buNone/>
            </a:pPr>
            <a:r>
              <a:rPr b="1" i="0" lang="en-US" sz="1108" u="none" cap="none" strike="noStrike">
                <a:solidFill>
                  <a:srgbClr val="0B6E28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10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3f9fb4d2ce4_0_6"/>
          <p:cNvSpPr/>
          <p:nvPr/>
        </p:nvSpPr>
        <p:spPr>
          <a:xfrm>
            <a:off x="538463" y="2374698"/>
            <a:ext cx="279000" cy="279000"/>
          </a:xfrm>
          <a:prstGeom prst="ellipse">
            <a:avLst/>
          </a:prstGeom>
          <a:solidFill>
            <a:srgbClr val="F1FFF0"/>
          </a:solidFill>
          <a:ln cap="flat" cmpd="sng" w="14075">
            <a:solidFill>
              <a:srgbClr val="0B6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f9fb4d2ce4_0_6"/>
          <p:cNvSpPr/>
          <p:nvPr/>
        </p:nvSpPr>
        <p:spPr>
          <a:xfrm>
            <a:off x="538463" y="2391590"/>
            <a:ext cx="2790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28"/>
              </a:buClr>
              <a:buSzPts val="1108"/>
              <a:buFont typeface="Arial"/>
              <a:buNone/>
            </a:pPr>
            <a:r>
              <a:rPr b="1" i="0" lang="en-US" sz="1108" u="none" cap="none" strike="noStrike">
                <a:solidFill>
                  <a:srgbClr val="0B6E28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10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3f9fb4d2ce4_0_6"/>
          <p:cNvSpPr/>
          <p:nvPr/>
        </p:nvSpPr>
        <p:spPr>
          <a:xfrm>
            <a:off x="1514004" y="2374698"/>
            <a:ext cx="279000" cy="279000"/>
          </a:xfrm>
          <a:prstGeom prst="ellipse">
            <a:avLst/>
          </a:prstGeom>
          <a:solidFill>
            <a:srgbClr val="F1FFF0"/>
          </a:solidFill>
          <a:ln cap="flat" cmpd="sng" w="14075">
            <a:solidFill>
              <a:srgbClr val="0B6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g3f9fb4d2ce4_0_6"/>
          <p:cNvSpPr/>
          <p:nvPr/>
        </p:nvSpPr>
        <p:spPr>
          <a:xfrm>
            <a:off x="1514004" y="2391590"/>
            <a:ext cx="2790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28"/>
              </a:buClr>
              <a:buSzPts val="1108"/>
              <a:buFont typeface="Arial"/>
              <a:buNone/>
            </a:pPr>
            <a:r>
              <a:rPr b="1" i="0" lang="en-US" sz="1108" u="none" cap="none" strike="noStrike">
                <a:solidFill>
                  <a:srgbClr val="0B6E2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10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f9fb4d2ce4_0_6"/>
          <p:cNvSpPr/>
          <p:nvPr/>
        </p:nvSpPr>
        <p:spPr>
          <a:xfrm>
            <a:off x="247068" y="2780117"/>
            <a:ext cx="16047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31"/>
              <a:buFont typeface="Arial"/>
              <a:buNone/>
            </a:pPr>
            <a:r>
              <a:rPr i="0" lang="en-US" sz="931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Edges: (A,A), (A,B), (A,C), (A,D), (B,D), (C,D)</a:t>
            </a:r>
            <a:endParaRPr i="0" sz="931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7" name="Google Shape;567;g3f9fb4d2ce4_0_6"/>
          <p:cNvSpPr/>
          <p:nvPr/>
        </p:nvSpPr>
        <p:spPr>
          <a:xfrm>
            <a:off x="2154718" y="1069780"/>
            <a:ext cx="1723200" cy="1605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7025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3f9fb4d2ce4_0_6"/>
          <p:cNvSpPr/>
          <p:nvPr/>
        </p:nvSpPr>
        <p:spPr>
          <a:xfrm>
            <a:off x="2154718" y="1080338"/>
            <a:ext cx="17232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78"/>
              <a:buFont typeface="Arial"/>
              <a:buNone/>
            </a:pPr>
            <a:r>
              <a:rPr b="1" i="0" lang="en-US" sz="878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3f9fb4d2ce4_0_6"/>
          <p:cNvSpPr/>
          <p:nvPr/>
        </p:nvSpPr>
        <p:spPr>
          <a:xfrm>
            <a:off x="1973124" y="1297829"/>
            <a:ext cx="3462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f9fb4d2ce4_0_6"/>
          <p:cNvSpPr/>
          <p:nvPr/>
        </p:nvSpPr>
        <p:spPr>
          <a:xfrm>
            <a:off x="1973124" y="1308387"/>
            <a:ext cx="346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t/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3f9fb4d2ce4_0_6"/>
          <p:cNvSpPr/>
          <p:nvPr/>
        </p:nvSpPr>
        <p:spPr>
          <a:xfrm>
            <a:off x="2319420" y="1297829"/>
            <a:ext cx="4350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f9fb4d2ce4_0_6"/>
          <p:cNvSpPr/>
          <p:nvPr/>
        </p:nvSpPr>
        <p:spPr>
          <a:xfrm>
            <a:off x="2319420" y="130838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f9fb4d2ce4_0_6"/>
          <p:cNvSpPr/>
          <p:nvPr/>
        </p:nvSpPr>
        <p:spPr>
          <a:xfrm>
            <a:off x="2754401" y="1297829"/>
            <a:ext cx="4350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f9fb4d2ce4_0_6"/>
          <p:cNvSpPr/>
          <p:nvPr/>
        </p:nvSpPr>
        <p:spPr>
          <a:xfrm>
            <a:off x="2754401" y="130838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f9fb4d2ce4_0_6"/>
          <p:cNvSpPr/>
          <p:nvPr/>
        </p:nvSpPr>
        <p:spPr>
          <a:xfrm>
            <a:off x="3189382" y="1297829"/>
            <a:ext cx="4350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f9fb4d2ce4_0_6"/>
          <p:cNvSpPr/>
          <p:nvPr/>
        </p:nvSpPr>
        <p:spPr>
          <a:xfrm>
            <a:off x="3189382" y="130838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g3f9fb4d2ce4_0_6"/>
          <p:cNvSpPr/>
          <p:nvPr/>
        </p:nvSpPr>
        <p:spPr>
          <a:xfrm>
            <a:off x="3624364" y="1297829"/>
            <a:ext cx="4350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f9fb4d2ce4_0_6"/>
          <p:cNvSpPr/>
          <p:nvPr/>
        </p:nvSpPr>
        <p:spPr>
          <a:xfrm>
            <a:off x="3624364" y="130838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f9fb4d2ce4_0_6"/>
          <p:cNvSpPr/>
          <p:nvPr/>
        </p:nvSpPr>
        <p:spPr>
          <a:xfrm>
            <a:off x="1973124" y="1496316"/>
            <a:ext cx="3462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f9fb4d2ce4_0_6"/>
          <p:cNvSpPr/>
          <p:nvPr/>
        </p:nvSpPr>
        <p:spPr>
          <a:xfrm>
            <a:off x="1973124" y="1506873"/>
            <a:ext cx="346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f9fb4d2ce4_0_6"/>
          <p:cNvSpPr/>
          <p:nvPr/>
        </p:nvSpPr>
        <p:spPr>
          <a:xfrm>
            <a:off x="2319420" y="1496316"/>
            <a:ext cx="435000" cy="198600"/>
          </a:xfrm>
          <a:prstGeom prst="rect">
            <a:avLst/>
          </a:prstGeom>
          <a:solidFill>
            <a:srgbClr val="FFEAEA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g3f9fb4d2ce4_0_6"/>
          <p:cNvSpPr/>
          <p:nvPr/>
        </p:nvSpPr>
        <p:spPr>
          <a:xfrm>
            <a:off x="2319420" y="150687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g3f9fb4d2ce4_0_6"/>
          <p:cNvSpPr/>
          <p:nvPr/>
        </p:nvSpPr>
        <p:spPr>
          <a:xfrm>
            <a:off x="2754401" y="1496316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f9fb4d2ce4_0_6"/>
          <p:cNvSpPr/>
          <p:nvPr/>
        </p:nvSpPr>
        <p:spPr>
          <a:xfrm>
            <a:off x="2754401" y="150687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f9fb4d2ce4_0_6"/>
          <p:cNvSpPr/>
          <p:nvPr/>
        </p:nvSpPr>
        <p:spPr>
          <a:xfrm>
            <a:off x="3189382" y="1496316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f9fb4d2ce4_0_6"/>
          <p:cNvSpPr/>
          <p:nvPr/>
        </p:nvSpPr>
        <p:spPr>
          <a:xfrm>
            <a:off x="3189382" y="150687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3f9fb4d2ce4_0_6"/>
          <p:cNvSpPr/>
          <p:nvPr/>
        </p:nvSpPr>
        <p:spPr>
          <a:xfrm>
            <a:off x="3624364" y="1496316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3f9fb4d2ce4_0_6"/>
          <p:cNvSpPr/>
          <p:nvPr/>
        </p:nvSpPr>
        <p:spPr>
          <a:xfrm>
            <a:off x="3624364" y="150687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3f9fb4d2ce4_0_6"/>
          <p:cNvSpPr/>
          <p:nvPr/>
        </p:nvSpPr>
        <p:spPr>
          <a:xfrm>
            <a:off x="1973124" y="1694802"/>
            <a:ext cx="3462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g3f9fb4d2ce4_0_6"/>
          <p:cNvSpPr/>
          <p:nvPr/>
        </p:nvSpPr>
        <p:spPr>
          <a:xfrm>
            <a:off x="1973124" y="1705360"/>
            <a:ext cx="346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g3f9fb4d2ce4_0_6"/>
          <p:cNvSpPr/>
          <p:nvPr/>
        </p:nvSpPr>
        <p:spPr>
          <a:xfrm>
            <a:off x="2319420" y="1694802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f9fb4d2ce4_0_6"/>
          <p:cNvSpPr/>
          <p:nvPr/>
        </p:nvSpPr>
        <p:spPr>
          <a:xfrm>
            <a:off x="2319420" y="1705360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g3f9fb4d2ce4_0_6"/>
          <p:cNvSpPr/>
          <p:nvPr/>
        </p:nvSpPr>
        <p:spPr>
          <a:xfrm>
            <a:off x="2754401" y="1694802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g3f9fb4d2ce4_0_6"/>
          <p:cNvSpPr/>
          <p:nvPr/>
        </p:nvSpPr>
        <p:spPr>
          <a:xfrm>
            <a:off x="2754401" y="1705360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g3f9fb4d2ce4_0_6"/>
          <p:cNvSpPr/>
          <p:nvPr/>
        </p:nvSpPr>
        <p:spPr>
          <a:xfrm>
            <a:off x="3189382" y="1694802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f9fb4d2ce4_0_6"/>
          <p:cNvSpPr/>
          <p:nvPr/>
        </p:nvSpPr>
        <p:spPr>
          <a:xfrm>
            <a:off x="3189382" y="1705360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f9fb4d2ce4_0_6"/>
          <p:cNvSpPr/>
          <p:nvPr/>
        </p:nvSpPr>
        <p:spPr>
          <a:xfrm>
            <a:off x="3624364" y="1694802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f9fb4d2ce4_0_6"/>
          <p:cNvSpPr/>
          <p:nvPr/>
        </p:nvSpPr>
        <p:spPr>
          <a:xfrm>
            <a:off x="3624364" y="1705360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g3f9fb4d2ce4_0_6"/>
          <p:cNvSpPr/>
          <p:nvPr/>
        </p:nvSpPr>
        <p:spPr>
          <a:xfrm>
            <a:off x="1973124" y="1893289"/>
            <a:ext cx="3462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3f9fb4d2ce4_0_6"/>
          <p:cNvSpPr/>
          <p:nvPr/>
        </p:nvSpPr>
        <p:spPr>
          <a:xfrm>
            <a:off x="1973124" y="1903847"/>
            <a:ext cx="346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g3f9fb4d2ce4_0_6"/>
          <p:cNvSpPr/>
          <p:nvPr/>
        </p:nvSpPr>
        <p:spPr>
          <a:xfrm>
            <a:off x="2319420" y="1893289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f9fb4d2ce4_0_6"/>
          <p:cNvSpPr/>
          <p:nvPr/>
        </p:nvSpPr>
        <p:spPr>
          <a:xfrm>
            <a:off x="2319420" y="190384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3f9fb4d2ce4_0_6"/>
          <p:cNvSpPr/>
          <p:nvPr/>
        </p:nvSpPr>
        <p:spPr>
          <a:xfrm>
            <a:off x="2754401" y="1893289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f9fb4d2ce4_0_6"/>
          <p:cNvSpPr/>
          <p:nvPr/>
        </p:nvSpPr>
        <p:spPr>
          <a:xfrm>
            <a:off x="2754401" y="190384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3f9fb4d2ce4_0_6"/>
          <p:cNvSpPr/>
          <p:nvPr/>
        </p:nvSpPr>
        <p:spPr>
          <a:xfrm>
            <a:off x="3189382" y="1893289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f9fb4d2ce4_0_6"/>
          <p:cNvSpPr/>
          <p:nvPr/>
        </p:nvSpPr>
        <p:spPr>
          <a:xfrm>
            <a:off x="3189382" y="190384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g3f9fb4d2ce4_0_6"/>
          <p:cNvSpPr/>
          <p:nvPr/>
        </p:nvSpPr>
        <p:spPr>
          <a:xfrm>
            <a:off x="3624364" y="1893289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g3f9fb4d2ce4_0_6"/>
          <p:cNvSpPr/>
          <p:nvPr/>
        </p:nvSpPr>
        <p:spPr>
          <a:xfrm>
            <a:off x="3624364" y="190384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3f9fb4d2ce4_0_6"/>
          <p:cNvSpPr/>
          <p:nvPr/>
        </p:nvSpPr>
        <p:spPr>
          <a:xfrm>
            <a:off x="1973124" y="2091776"/>
            <a:ext cx="3462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f9fb4d2ce4_0_6"/>
          <p:cNvSpPr/>
          <p:nvPr/>
        </p:nvSpPr>
        <p:spPr>
          <a:xfrm>
            <a:off x="1973124" y="2102333"/>
            <a:ext cx="346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3f9fb4d2ce4_0_6"/>
          <p:cNvSpPr/>
          <p:nvPr/>
        </p:nvSpPr>
        <p:spPr>
          <a:xfrm>
            <a:off x="2319420" y="2091776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g3f9fb4d2ce4_0_6"/>
          <p:cNvSpPr/>
          <p:nvPr/>
        </p:nvSpPr>
        <p:spPr>
          <a:xfrm>
            <a:off x="2319420" y="210233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f9fb4d2ce4_0_6"/>
          <p:cNvSpPr/>
          <p:nvPr/>
        </p:nvSpPr>
        <p:spPr>
          <a:xfrm>
            <a:off x="2754401" y="2091776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3f9fb4d2ce4_0_6"/>
          <p:cNvSpPr/>
          <p:nvPr/>
        </p:nvSpPr>
        <p:spPr>
          <a:xfrm>
            <a:off x="2754401" y="210233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g3f9fb4d2ce4_0_6"/>
          <p:cNvSpPr/>
          <p:nvPr/>
        </p:nvSpPr>
        <p:spPr>
          <a:xfrm>
            <a:off x="3189382" y="2091776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f9fb4d2ce4_0_6"/>
          <p:cNvSpPr/>
          <p:nvPr/>
        </p:nvSpPr>
        <p:spPr>
          <a:xfrm>
            <a:off x="3189382" y="210233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f9fb4d2ce4_0_6"/>
          <p:cNvSpPr/>
          <p:nvPr/>
        </p:nvSpPr>
        <p:spPr>
          <a:xfrm>
            <a:off x="3624364" y="2091776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f9fb4d2ce4_0_6"/>
          <p:cNvSpPr/>
          <p:nvPr/>
        </p:nvSpPr>
        <p:spPr>
          <a:xfrm>
            <a:off x="3624364" y="210233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f9fb4d2ce4_0_6"/>
          <p:cNvSpPr/>
          <p:nvPr/>
        </p:nvSpPr>
        <p:spPr>
          <a:xfrm>
            <a:off x="4145400" y="1293575"/>
            <a:ext cx="1571100" cy="88710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7025">
            <a:solidFill>
              <a:srgbClr val="7AA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0" name="Google Shape;620;g3f9fb4d2ce4_0_6"/>
          <p:cNvSpPr/>
          <p:nvPr/>
        </p:nvSpPr>
        <p:spPr>
          <a:xfrm>
            <a:off x="4265375" y="1378025"/>
            <a:ext cx="13944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8"/>
              <a:buFont typeface="Arial"/>
              <a:buNone/>
            </a:pP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In the adjacency matrix, a self-loop at A is represented </a:t>
            </a:r>
            <a:r>
              <a:rPr lang="en-US" sz="900" u="sng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by setting the entry (A, A) to 1.</a:t>
            </a:r>
            <a:endParaRPr i="0" sz="9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1" name="Google Shape;621;g3f9fb4d2ce4_0_6"/>
          <p:cNvSpPr/>
          <p:nvPr/>
        </p:nvSpPr>
        <p:spPr>
          <a:xfrm>
            <a:off x="2154718" y="2383171"/>
            <a:ext cx="1723200" cy="160500"/>
          </a:xfrm>
          <a:prstGeom prst="roundRect">
            <a:avLst>
              <a:gd fmla="val 16667" name="adj"/>
            </a:avLst>
          </a:prstGeom>
          <a:solidFill>
            <a:srgbClr val="F2ECFF"/>
          </a:solidFill>
          <a:ln cap="flat" cmpd="sng" w="7025">
            <a:solidFill>
              <a:srgbClr val="5E3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3f9fb4d2ce4_0_6"/>
          <p:cNvSpPr/>
          <p:nvPr/>
        </p:nvSpPr>
        <p:spPr>
          <a:xfrm>
            <a:off x="2154718" y="2393729"/>
            <a:ext cx="17232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878"/>
              <a:buFont typeface="Arial"/>
              <a:buNone/>
            </a:pPr>
            <a:r>
              <a:rPr b="1" i="0" lang="en-US" sz="878" u="none" cap="none" strike="noStrike">
                <a:solidFill>
                  <a:srgbClr val="5E35B1"/>
                </a:solidFill>
                <a:latin typeface="Arial"/>
                <a:ea typeface="Arial"/>
                <a:cs typeface="Arial"/>
                <a:sym typeface="Arial"/>
              </a:rPr>
              <a:t>ADJACENCY LIST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g3f9fb4d2ce4_0_6"/>
          <p:cNvSpPr/>
          <p:nvPr/>
        </p:nvSpPr>
        <p:spPr>
          <a:xfrm>
            <a:off x="1973124" y="2594327"/>
            <a:ext cx="316800" cy="122400"/>
          </a:xfrm>
          <a:prstGeom prst="rect">
            <a:avLst/>
          </a:prstGeom>
          <a:solidFill>
            <a:srgbClr val="F7F2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3f9fb4d2ce4_0_6"/>
          <p:cNvSpPr/>
          <p:nvPr/>
        </p:nvSpPr>
        <p:spPr>
          <a:xfrm>
            <a:off x="1973124" y="2604885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878"/>
              <a:buFont typeface="Arial"/>
              <a:buNone/>
            </a:pPr>
            <a:r>
              <a:rPr b="1" i="0" lang="en-US" sz="878" u="none" cap="none" strike="noStrike">
                <a:solidFill>
                  <a:srgbClr val="5E35B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3f9fb4d2ce4_0_6"/>
          <p:cNvSpPr/>
          <p:nvPr/>
        </p:nvSpPr>
        <p:spPr>
          <a:xfrm>
            <a:off x="2289858" y="2594327"/>
            <a:ext cx="316800" cy="1224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f9fb4d2ce4_0_6"/>
          <p:cNvSpPr/>
          <p:nvPr/>
        </p:nvSpPr>
        <p:spPr>
          <a:xfrm>
            <a:off x="2289858" y="2604885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8"/>
              <a:buFont typeface="Arial"/>
              <a:buNone/>
            </a:pPr>
            <a:r>
              <a:rPr b="0" i="0" lang="en-US" sz="878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g3f9fb4d2ce4_0_6"/>
          <p:cNvSpPr/>
          <p:nvPr/>
        </p:nvSpPr>
        <p:spPr>
          <a:xfrm>
            <a:off x="2606592" y="2594327"/>
            <a:ext cx="1457100" cy="122400"/>
          </a:xfrm>
          <a:prstGeom prst="rect">
            <a:avLst/>
          </a:prstGeom>
          <a:solidFill>
            <a:srgbClr val="FFF7F7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f9fb4d2ce4_0_6"/>
          <p:cNvSpPr/>
          <p:nvPr/>
        </p:nvSpPr>
        <p:spPr>
          <a:xfrm>
            <a:off x="2606592" y="2604885"/>
            <a:ext cx="14571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78"/>
              <a:buFont typeface="Arial"/>
              <a:buNone/>
            </a:pPr>
            <a:r>
              <a:rPr i="0" lang="en-US" sz="878" u="none" cap="none" strike="noStrike">
                <a:solidFill>
                  <a:srgbClr val="000000"/>
                </a:solidFill>
              </a:rPr>
              <a:t>{ </a:t>
            </a:r>
            <a:r>
              <a:rPr b="1" i="0" lang="en-US" sz="878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A, </a:t>
            </a:r>
            <a:r>
              <a:rPr i="0" lang="en-US" sz="878" u="none" cap="none" strike="noStrike">
                <a:solidFill>
                  <a:srgbClr val="000000"/>
                </a:solidFill>
              </a:rPr>
              <a:t>B, C, D }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3f9fb4d2ce4_0_6"/>
          <p:cNvSpPr/>
          <p:nvPr/>
        </p:nvSpPr>
        <p:spPr>
          <a:xfrm>
            <a:off x="1973124" y="2716798"/>
            <a:ext cx="316800" cy="122400"/>
          </a:xfrm>
          <a:prstGeom prst="rect">
            <a:avLst/>
          </a:prstGeom>
          <a:solidFill>
            <a:srgbClr val="F7F2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f9fb4d2ce4_0_6"/>
          <p:cNvSpPr/>
          <p:nvPr/>
        </p:nvSpPr>
        <p:spPr>
          <a:xfrm>
            <a:off x="1973124" y="2727355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878"/>
              <a:buFont typeface="Arial"/>
              <a:buNone/>
            </a:pPr>
            <a:r>
              <a:rPr b="1" i="0" lang="en-US" sz="878" u="none" cap="none" strike="noStrike">
                <a:solidFill>
                  <a:srgbClr val="5E35B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f9fb4d2ce4_0_6"/>
          <p:cNvSpPr/>
          <p:nvPr/>
        </p:nvSpPr>
        <p:spPr>
          <a:xfrm>
            <a:off x="2289858" y="2716798"/>
            <a:ext cx="316800" cy="1224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f9fb4d2ce4_0_6"/>
          <p:cNvSpPr/>
          <p:nvPr/>
        </p:nvSpPr>
        <p:spPr>
          <a:xfrm>
            <a:off x="2289858" y="2727355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8"/>
              <a:buFont typeface="Arial"/>
              <a:buNone/>
            </a:pPr>
            <a:r>
              <a:rPr b="0" i="0" lang="en-US" sz="878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3f9fb4d2ce4_0_6"/>
          <p:cNvSpPr/>
          <p:nvPr/>
        </p:nvSpPr>
        <p:spPr>
          <a:xfrm>
            <a:off x="2606592" y="2716798"/>
            <a:ext cx="1457100" cy="1224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f9fb4d2ce4_0_6"/>
          <p:cNvSpPr/>
          <p:nvPr/>
        </p:nvSpPr>
        <p:spPr>
          <a:xfrm>
            <a:off x="2606592" y="2727355"/>
            <a:ext cx="14571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8"/>
              <a:buFont typeface="Arial"/>
              <a:buNone/>
            </a:pPr>
            <a:r>
              <a:rPr b="0" i="0" lang="en-US" sz="878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{ A, D }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f9fb4d2ce4_0_6"/>
          <p:cNvSpPr/>
          <p:nvPr/>
        </p:nvSpPr>
        <p:spPr>
          <a:xfrm>
            <a:off x="1973124" y="2839268"/>
            <a:ext cx="316800" cy="122400"/>
          </a:xfrm>
          <a:prstGeom prst="rect">
            <a:avLst/>
          </a:prstGeom>
          <a:solidFill>
            <a:srgbClr val="F7F2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f9fb4d2ce4_0_6"/>
          <p:cNvSpPr/>
          <p:nvPr/>
        </p:nvSpPr>
        <p:spPr>
          <a:xfrm>
            <a:off x="1973124" y="2849826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878"/>
              <a:buFont typeface="Arial"/>
              <a:buNone/>
            </a:pPr>
            <a:r>
              <a:rPr b="1" i="0" lang="en-US" sz="878" u="none" cap="none" strike="noStrike">
                <a:solidFill>
                  <a:srgbClr val="5E35B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g3f9fb4d2ce4_0_6"/>
          <p:cNvSpPr/>
          <p:nvPr/>
        </p:nvSpPr>
        <p:spPr>
          <a:xfrm>
            <a:off x="2289858" y="2839268"/>
            <a:ext cx="316800" cy="1224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f9fb4d2ce4_0_6"/>
          <p:cNvSpPr/>
          <p:nvPr/>
        </p:nvSpPr>
        <p:spPr>
          <a:xfrm>
            <a:off x="2289858" y="2849826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8"/>
              <a:buFont typeface="Arial"/>
              <a:buNone/>
            </a:pPr>
            <a:r>
              <a:rPr b="0" i="0" lang="en-US" sz="878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g3f9fb4d2ce4_0_6"/>
          <p:cNvSpPr/>
          <p:nvPr/>
        </p:nvSpPr>
        <p:spPr>
          <a:xfrm>
            <a:off x="2606592" y="2839268"/>
            <a:ext cx="1457100" cy="1224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f9fb4d2ce4_0_6"/>
          <p:cNvSpPr/>
          <p:nvPr/>
        </p:nvSpPr>
        <p:spPr>
          <a:xfrm>
            <a:off x="2606592" y="2849826"/>
            <a:ext cx="14571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8"/>
              <a:buFont typeface="Arial"/>
              <a:buNone/>
            </a:pPr>
            <a:r>
              <a:rPr b="0" i="0" lang="en-US" sz="878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{ A, D }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3f9fb4d2ce4_0_6"/>
          <p:cNvSpPr/>
          <p:nvPr/>
        </p:nvSpPr>
        <p:spPr>
          <a:xfrm>
            <a:off x="1973124" y="2961739"/>
            <a:ext cx="316800" cy="122400"/>
          </a:xfrm>
          <a:prstGeom prst="rect">
            <a:avLst/>
          </a:prstGeom>
          <a:solidFill>
            <a:srgbClr val="F7F2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3f9fb4d2ce4_0_6"/>
          <p:cNvSpPr/>
          <p:nvPr/>
        </p:nvSpPr>
        <p:spPr>
          <a:xfrm>
            <a:off x="1973124" y="2972296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878"/>
              <a:buFont typeface="Arial"/>
              <a:buNone/>
            </a:pPr>
            <a:r>
              <a:rPr b="1" i="0" lang="en-US" sz="878" u="none" cap="none" strike="noStrike">
                <a:solidFill>
                  <a:srgbClr val="5E35B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f9fb4d2ce4_0_6"/>
          <p:cNvSpPr/>
          <p:nvPr/>
        </p:nvSpPr>
        <p:spPr>
          <a:xfrm>
            <a:off x="2289858" y="2961739"/>
            <a:ext cx="316800" cy="1224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f9fb4d2ce4_0_6"/>
          <p:cNvSpPr/>
          <p:nvPr/>
        </p:nvSpPr>
        <p:spPr>
          <a:xfrm>
            <a:off x="2289858" y="2972296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8"/>
              <a:buFont typeface="Arial"/>
              <a:buNone/>
            </a:pPr>
            <a:r>
              <a:rPr b="0" i="0" lang="en-US" sz="878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3f9fb4d2ce4_0_6"/>
          <p:cNvSpPr/>
          <p:nvPr/>
        </p:nvSpPr>
        <p:spPr>
          <a:xfrm>
            <a:off x="2606592" y="2961739"/>
            <a:ext cx="1457100" cy="1224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f9fb4d2ce4_0_6"/>
          <p:cNvSpPr/>
          <p:nvPr/>
        </p:nvSpPr>
        <p:spPr>
          <a:xfrm>
            <a:off x="2606592" y="2972296"/>
            <a:ext cx="14571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8"/>
              <a:buFont typeface="Arial"/>
              <a:buNone/>
            </a:pPr>
            <a:r>
              <a:rPr b="0" i="0" lang="en-US" sz="878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{ A, B, C }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g3f9fb4d2ce4_0_6"/>
          <p:cNvSpPr/>
          <p:nvPr/>
        </p:nvSpPr>
        <p:spPr>
          <a:xfrm>
            <a:off x="4145400" y="2476050"/>
            <a:ext cx="1571100" cy="667200"/>
          </a:xfrm>
          <a:prstGeom prst="roundRect">
            <a:avLst>
              <a:gd fmla="val 16667" name="adj"/>
            </a:avLst>
          </a:prstGeom>
          <a:solidFill>
            <a:srgbClr val="FCFAFF"/>
          </a:solidFill>
          <a:ln cap="flat" cmpd="sng" w="7025">
            <a:solidFill>
              <a:srgbClr val="A789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8" name="Google Shape;648;g3f9fb4d2ce4_0_6"/>
          <p:cNvSpPr/>
          <p:nvPr/>
        </p:nvSpPr>
        <p:spPr>
          <a:xfrm>
            <a:off x="4265375" y="2573175"/>
            <a:ext cx="1394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i="0" lang="en-US" sz="9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In the adjacency list, </a:t>
            </a:r>
            <a:br>
              <a:rPr i="0" lang="en-US" sz="9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i="0" lang="en-US" sz="9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a self-loop at A is represented by </a:t>
            </a:r>
            <a:r>
              <a:rPr i="0" lang="en-US" sz="900" u="sng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including A in its own list.</a:t>
            </a:r>
            <a:endParaRPr i="0" sz="9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9" name="Google Shape;649;g3f9fb4d2ce4_0_6"/>
          <p:cNvSpPr txBox="1"/>
          <p:nvPr>
            <p:ph type="ctrTitle"/>
          </p:nvPr>
        </p:nvSpPr>
        <p:spPr>
          <a:xfrm>
            <a:off x="1898800" y="137025"/>
            <a:ext cx="2069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Self-loop in A Graph </a:t>
            </a:r>
            <a:endParaRPr/>
          </a:p>
        </p:txBody>
      </p:sp>
      <p:sp>
        <p:nvSpPr>
          <p:cNvPr id="650" name="Google Shape;650;g3f9fb4d2ce4_0_6"/>
          <p:cNvSpPr txBox="1"/>
          <p:nvPr/>
        </p:nvSpPr>
        <p:spPr>
          <a:xfrm>
            <a:off x="224350" y="540513"/>
            <a:ext cx="541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b="1" lang="en-US" sz="900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self-loop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in a graph is an edge that </a:t>
            </a:r>
            <a:r>
              <a:rPr b="1" lang="en-US" sz="900" u="sng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starts and ends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at the </a:t>
            </a:r>
            <a:r>
              <a:rPr b="1" lang="en-US" sz="900" u="sng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same vertex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It is an edge of the form </a:t>
            </a:r>
            <a:r>
              <a:rPr b="1" lang="en-US" sz="900">
                <a:solidFill>
                  <a:srgbClr val="0D47A1"/>
                </a:solidFill>
                <a:latin typeface="Tahoma"/>
                <a:ea typeface="Tahoma"/>
                <a:cs typeface="Tahoma"/>
                <a:sym typeface="Tahoma"/>
              </a:rPr>
              <a:t>(v, v)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b15aef4537_0_0"/>
          <p:cNvSpPr txBox="1"/>
          <p:nvPr>
            <p:ph type="title"/>
          </p:nvPr>
        </p:nvSpPr>
        <p:spPr>
          <a:xfrm>
            <a:off x="263417" y="685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 (Recap)</a:t>
            </a:r>
            <a:endParaRPr/>
          </a:p>
        </p:txBody>
      </p:sp>
      <p:pic>
        <p:nvPicPr>
          <p:cNvPr id="656" name="Google Shape;656;g3b15aef4537_0_0"/>
          <p:cNvPicPr preferRelativeResize="0"/>
          <p:nvPr/>
        </p:nvPicPr>
        <p:blipFill rotWithShape="1">
          <a:blip r:embed="rId3">
            <a:alphaModFix/>
          </a:blip>
          <a:srcRect b="12480" l="0" r="0" t="0"/>
          <a:stretch/>
        </p:blipFill>
        <p:spPr>
          <a:xfrm>
            <a:off x="233300" y="1609250"/>
            <a:ext cx="2246501" cy="11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g3b15aef4537_0_0"/>
          <p:cNvSpPr txBox="1"/>
          <p:nvPr/>
        </p:nvSpPr>
        <p:spPr>
          <a:xfrm>
            <a:off x="72100" y="397450"/>
            <a:ext cx="25689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For undirected graph: </a:t>
            </a:r>
            <a:endParaRPr b="1" i="0" sz="800" u="sng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(deg⁡(v))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edges connected to v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Here, v is a node/vertex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of d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3.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Because d is connected to b, c, e by 3 edges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8" name="Google Shape;658;g3b15aef4537_0_0"/>
          <p:cNvSpPr txBox="1"/>
          <p:nvPr/>
        </p:nvSpPr>
        <p:spPr>
          <a:xfrm>
            <a:off x="3236475" y="1654625"/>
            <a:ext cx="227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9" name="Google Shape;659;g3b15aef4537_0_0"/>
          <p:cNvSpPr txBox="1"/>
          <p:nvPr/>
        </p:nvSpPr>
        <p:spPr>
          <a:xfrm>
            <a:off x="2906950" y="397450"/>
            <a:ext cx="27438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For 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(indeg(v))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0" lang="en-US" sz="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Number of incoming edges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 v (Number of edges ending at the vertex)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(outdeg(v))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0" lang="en-US" sz="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Number of outgoing edges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from v (Number of edges originating from the vertex)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of vertex d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1. (incoming from b)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of vertex d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2. (out-going to c, e)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60" name="Google Shape;660;g3b15aef4537_0_0"/>
          <p:cNvPicPr preferRelativeResize="0"/>
          <p:nvPr/>
        </p:nvPicPr>
        <p:blipFill rotWithShape="1">
          <a:blip r:embed="rId4">
            <a:alphaModFix/>
          </a:blip>
          <a:srcRect b="16597" l="0" r="0" t="0"/>
          <a:stretch/>
        </p:blipFill>
        <p:spPr>
          <a:xfrm>
            <a:off x="3012450" y="1868350"/>
            <a:ext cx="2638300" cy="11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g3b15aef4537_0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"/>
          <p:cNvSpPr txBox="1"/>
          <p:nvPr/>
        </p:nvSpPr>
        <p:spPr>
          <a:xfrm>
            <a:off x="1548900" y="155250"/>
            <a:ext cx="376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Adjacency List - Analysis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7" name="Google Shape;667;p7"/>
          <p:cNvSpPr txBox="1"/>
          <p:nvPr/>
        </p:nvSpPr>
        <p:spPr>
          <a:xfrm>
            <a:off x="130250" y="3106275"/>
            <a:ext cx="11841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8" name="Google Shape;668;p7"/>
          <p:cNvSpPr txBox="1"/>
          <p:nvPr/>
        </p:nvSpPr>
        <p:spPr>
          <a:xfrm>
            <a:off x="0" y="547313"/>
            <a:ext cx="5670600" cy="23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Space required: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θ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).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a graph with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the space complexity is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O(N + M)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an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the total number of entries across all adjacency lists is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2M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/2E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06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○"/>
            </a:pP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Since each edge is stored twice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the total number of entries is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/E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06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○"/>
            </a:pP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edge is stored once.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an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graph: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to list all vertices adjacent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 vertex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Θ(degree(u))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graph: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to list all vertices adjacent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 vertex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Θ(outdegree(u))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9" name="Google Shape;669;p7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534be74e08_0_58"/>
          <p:cNvSpPr txBox="1"/>
          <p:nvPr/>
        </p:nvSpPr>
        <p:spPr>
          <a:xfrm>
            <a:off x="1002800" y="188550"/>
            <a:ext cx="376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Comparison of graph representations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75" name="Google Shape;675;g3534be74e08_0_58"/>
          <p:cNvSpPr txBox="1"/>
          <p:nvPr/>
        </p:nvSpPr>
        <p:spPr>
          <a:xfrm>
            <a:off x="130250" y="3106275"/>
            <a:ext cx="11502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76" name="Google Shape;676;g3534be74e08_0_58" title="grap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00" y="805300"/>
            <a:ext cx="2181350" cy="173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g3534be74e08_0_58" title="graph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5663" y="745699"/>
            <a:ext cx="2035290" cy="221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g3534be74e08_0_58" title="graph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0575" y="590500"/>
            <a:ext cx="1242375" cy="239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g3534be74e08_0_5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220fd27c11_5_412"/>
          <p:cNvSpPr txBox="1"/>
          <p:nvPr/>
        </p:nvSpPr>
        <p:spPr>
          <a:xfrm>
            <a:off x="86775" y="108975"/>
            <a:ext cx="5604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Comparison of undirected graph representations (</a:t>
            </a:r>
            <a:r>
              <a:rPr b="0" i="0" lang="en-US" sz="16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Important!</a:t>
            </a:r>
            <a:r>
              <a:rPr b="0" i="0" lang="en-US" sz="16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5" name="Google Shape;685;g3220fd27c11_5_412"/>
          <p:cNvSpPr txBox="1"/>
          <p:nvPr/>
        </p:nvSpPr>
        <p:spPr>
          <a:xfrm>
            <a:off x="130250" y="3106275"/>
            <a:ext cx="1382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686" name="Google Shape;686;g3220fd27c11_5_412"/>
          <p:cNvGraphicFramePr/>
          <p:nvPr/>
        </p:nvGraphicFramePr>
        <p:xfrm>
          <a:off x="173967" y="1917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{06E72194-A1B8-4DFE-828A-43468D1B9818}</a:tableStyleId>
              </a:tblPr>
              <a:tblGrid>
                <a:gridCol w="3138250"/>
                <a:gridCol w="1036425"/>
                <a:gridCol w="1221225"/>
              </a:tblGrid>
              <a:tr h="191775">
                <a:tc>
                  <a:txBody>
                    <a:bodyPr/>
                    <a:lstStyle/>
                    <a:p>
                      <a:pPr indent="0" lvl="0" marL="5708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Adjacency matrix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Adjacency list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7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r>
                        <a:rPr b="0" i="1" lang="en-US" sz="1000" u="none" cap="none" strike="noStrike"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,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</a:t>
                      </a:r>
                      <a:r>
                        <a:rPr i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∈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 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[Is there any connection between u and v?]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6447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 edges outgoing from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/>
                        <a:t>n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or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/>
                </a:tc>
              </a:tr>
              <a:tr h="19112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aseline="30000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or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baseline="30000" lang="en-US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=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 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87" name="Google Shape;687;g3220fd27c11_5_412"/>
          <p:cNvPicPr preferRelativeResize="0"/>
          <p:nvPr/>
        </p:nvPicPr>
        <p:blipFill rotWithShape="1">
          <a:blip r:embed="rId3">
            <a:alphaModFix/>
          </a:blip>
          <a:srcRect b="0" l="0" r="49606" t="0"/>
          <a:stretch/>
        </p:blipFill>
        <p:spPr>
          <a:xfrm>
            <a:off x="86775" y="551150"/>
            <a:ext cx="1539349" cy="130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g3220fd27c11_5_4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1825" y="551147"/>
            <a:ext cx="3795494" cy="1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g3220fd27c11_5_412"/>
          <p:cNvSpPr txBox="1"/>
          <p:nvPr>
            <p:ph idx="12" type="sldNum"/>
          </p:nvPr>
        </p:nvSpPr>
        <p:spPr>
          <a:xfrm>
            <a:off x="5349500" y="3106273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5359bad66d_0_8"/>
          <p:cNvSpPr txBox="1"/>
          <p:nvPr/>
        </p:nvSpPr>
        <p:spPr>
          <a:xfrm>
            <a:off x="91150" y="108975"/>
            <a:ext cx="56232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Comparison of undirected graph representations (</a:t>
            </a:r>
            <a:r>
              <a:rPr b="0" i="0" lang="en-US" sz="16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Important!</a:t>
            </a:r>
            <a:r>
              <a:rPr b="0" i="0" lang="en-US" sz="16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700" u="none" cap="none" strike="noStrike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695" name="Google Shape;695;g35359bad66d_0_8"/>
          <p:cNvGraphicFramePr/>
          <p:nvPr/>
        </p:nvGraphicFramePr>
        <p:xfrm>
          <a:off x="173967" y="1917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{06E72194-A1B8-4DFE-828A-43468D1B9818}</a:tableStyleId>
              </a:tblPr>
              <a:tblGrid>
                <a:gridCol w="3176350"/>
                <a:gridCol w="1046800"/>
                <a:gridCol w="1266275"/>
              </a:tblGrid>
              <a:tr h="191775">
                <a:tc>
                  <a:txBody>
                    <a:bodyPr/>
                    <a:lstStyle/>
                    <a:p>
                      <a:pPr indent="0" lvl="0" marL="5708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Adjacency matrix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Adjacency list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7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r>
                        <a:rPr b="0" i="1" lang="en-US" sz="1000" u="none" cap="none" strike="noStrike"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,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</a:t>
                      </a:r>
                      <a:r>
                        <a:rPr i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∈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 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[Is there any connection between u and v?]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lang="en-US" sz="1000" u="none" cap="none" strike="noStrike"/>
                        <a:t>out</a:t>
                      </a:r>
                      <a:r>
                        <a:rPr i="1" lang="en-US" sz="1000" u="none" cap="none" strike="noStrike"/>
                        <a:t>deg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6447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 edges outgoing from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n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or 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out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deg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u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/>
                </a:tc>
              </a:tr>
              <a:tr h="22852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aseline="30000" lang="en-US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or 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baseline="30000" lang="en-US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=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 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96" name="Google Shape;696;g35359bad66d_0_8" title="comparison_direct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925" y="535875"/>
            <a:ext cx="4767368" cy="1229534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g35359bad66d_0_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f797722fba_0_3"/>
          <p:cNvSpPr txBox="1"/>
          <p:nvPr>
            <p:ph type="title"/>
          </p:nvPr>
        </p:nvSpPr>
        <p:spPr>
          <a:xfrm>
            <a:off x="223076" y="68575"/>
            <a:ext cx="4851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         Sparse vs Dense Graph (Recap)</a:t>
            </a:r>
            <a:endParaRPr/>
          </a:p>
        </p:txBody>
      </p:sp>
      <p:sp>
        <p:nvSpPr>
          <p:cNvPr id="703" name="Google Shape;703;g3f797722fba_0_3"/>
          <p:cNvSpPr txBox="1"/>
          <p:nvPr/>
        </p:nvSpPr>
        <p:spPr>
          <a:xfrm>
            <a:off x="385050" y="362913"/>
            <a:ext cx="5173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Sparse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relative to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(nodes).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|E|≈ |V|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Dense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relative to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(nodes).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|E|≈ |V|</a:t>
            </a:r>
            <a:r>
              <a:rPr b="1" baseline="3000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baseline="3000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Importance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distinction between sparse and dense graphs influences the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choice of data structure for graph representation.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4" name="Google Shape;704;g3f797722fba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5350" y="1583375"/>
            <a:ext cx="2131826" cy="126155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g3f797722fba_0_3"/>
          <p:cNvSpPr txBox="1"/>
          <p:nvPr/>
        </p:nvSpPr>
        <p:spPr>
          <a:xfrm>
            <a:off x="85850" y="2920125"/>
            <a:ext cx="559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 source: https://www.researchgate.net/publication/333950431_Multi-moth_flame_optimization_for_solving_the_link_prediction_problem_in_complex_networks</a:t>
            </a:r>
            <a:endParaRPr b="0" i="0" sz="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6" name="Google Shape;706;g3f797722fba_0_3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1"/>
          <p:cNvSpPr txBox="1"/>
          <p:nvPr>
            <p:ph type="title"/>
          </p:nvPr>
        </p:nvSpPr>
        <p:spPr>
          <a:xfrm>
            <a:off x="1189025" y="155925"/>
            <a:ext cx="4182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Which representation to use? </a:t>
            </a:r>
            <a:r>
              <a:rPr lang="en-US">
                <a:solidFill>
                  <a:srgbClr val="990000"/>
                </a:solidFill>
              </a:rPr>
              <a:t>(</a:t>
            </a:r>
            <a:r>
              <a:rPr lang="en-US" sz="1600">
                <a:solidFill>
                  <a:srgbClr val="990000"/>
                </a:solidFill>
              </a:rPr>
              <a:t>Important!)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712" name="Google Shape;712;p11"/>
          <p:cNvSpPr txBox="1"/>
          <p:nvPr/>
        </p:nvSpPr>
        <p:spPr>
          <a:xfrm>
            <a:off x="130250" y="2988800"/>
            <a:ext cx="1125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3" name="Google Shape;713;p11"/>
          <p:cNvSpPr txBox="1"/>
          <p:nvPr/>
        </p:nvSpPr>
        <p:spPr>
          <a:xfrm>
            <a:off x="268025" y="505150"/>
            <a:ext cx="4545000" cy="11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spAutoFit/>
          </a:bodyPr>
          <a:lstStyle/>
          <a:p>
            <a:pPr indent="-139065" lvl="0" marL="158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Lucida Sans"/>
              <a:buChar char="•"/>
            </a:pPr>
            <a:r>
              <a:rPr b="1" i="0" lang="en-US" sz="11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No general rule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8430" lvl="0" marL="157480" marR="0" rtl="0" algn="l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Lucida Sans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Depends on use case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6365" lvl="1" marL="43434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900"/>
              <a:buFont typeface="Lucida Sans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How sparse is the graph?</a:t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6365" lvl="1" marL="4343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900"/>
              <a:buFont typeface="Lucida Sans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Which operations do we need to perform?</a:t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However, we usually follow the following rules:</a:t>
            </a:r>
            <a:endParaRPr b="1" i="0" sz="10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714" name="Google Shape;714;p11"/>
          <p:cNvGraphicFramePr/>
          <p:nvPr/>
        </p:nvGraphicFramePr>
        <p:xfrm>
          <a:off x="198988" y="180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{E365DBC9-B871-4DD4-A557-DFF98E65AF28}</a:tableStyleId>
              </a:tblPr>
              <a:tblGrid>
                <a:gridCol w="957950"/>
                <a:gridCol w="1305600"/>
                <a:gridCol w="31881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Graph Type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Best Representation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Reason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Sparse Graph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Adjacency List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Memory efficient and </a:t>
                      </a:r>
                      <a:r>
                        <a:rPr lang="en-US" sz="900" u="sng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fast traversal </a:t>
                      </a: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due to </a:t>
                      </a:r>
                      <a:r>
                        <a:rPr lang="en-US" sz="900" u="sng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fewer edges.</a:t>
                      </a:r>
                      <a:endParaRPr sz="900" u="sng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Dense Graph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Adjacency Matrix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Efficient for </a:t>
                      </a:r>
                      <a:r>
                        <a:rPr lang="en-US" sz="900" u="sng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edge lookups</a:t>
                      </a: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 and handles high connectivity.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15" name="Google Shape;7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6300" y="467788"/>
            <a:ext cx="2039016" cy="1206625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11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77a08ae626_1_0"/>
          <p:cNvSpPr txBox="1"/>
          <p:nvPr>
            <p:ph type="title"/>
          </p:nvPr>
        </p:nvSpPr>
        <p:spPr>
          <a:xfrm>
            <a:off x="1394875" y="133800"/>
            <a:ext cx="3553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Total graph representation types (8)</a:t>
            </a:r>
            <a:endParaRPr/>
          </a:p>
        </p:txBody>
      </p:sp>
      <p:sp>
        <p:nvSpPr>
          <p:cNvPr id="722" name="Google Shape;722;g377a08ae626_1_0"/>
          <p:cNvSpPr txBox="1"/>
          <p:nvPr>
            <p:ph idx="1" type="body"/>
          </p:nvPr>
        </p:nvSpPr>
        <p:spPr>
          <a:xfrm>
            <a:off x="249504" y="544475"/>
            <a:ext cx="52668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000"/>
              <a:t>Adjacency matrix</a:t>
            </a:r>
            <a:endParaRPr sz="1000"/>
          </a:p>
          <a:p>
            <a:pPr indent="-292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000"/>
              <a:t>Unweighted (show connections with 1)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US" sz="1000"/>
              <a:t>Undirected (u to v, v to u)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US" sz="1000"/>
              <a:t>Directed (u to v)</a:t>
            </a:r>
            <a:endParaRPr sz="10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-292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000"/>
              <a:t>Weighted (show connections with edge weight)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US" sz="1000"/>
              <a:t>Undirected (u to v, v to u)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US" sz="1000"/>
              <a:t>Directed (u to v)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/>
              <a:t>Adjacency List</a:t>
            </a:r>
            <a:endParaRPr sz="1000"/>
          </a:p>
          <a:p>
            <a:pPr indent="-292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/>
              <a:t>Unweighted 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Undirected (u to v, v to u)</a:t>
            </a:r>
            <a:endParaRPr sz="1000">
              <a:solidFill>
                <a:schemeClr val="dk1"/>
              </a:solidFill>
            </a:endParaRPr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Directed (u to v)</a:t>
            </a:r>
            <a:endParaRPr sz="10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-292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/>
              <a:t>Weighted 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Undirected (u to v, v to u)</a:t>
            </a:r>
            <a:endParaRPr sz="1000">
              <a:solidFill>
                <a:schemeClr val="dk1"/>
              </a:solidFill>
            </a:endParaRPr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Directed (u to v)</a:t>
            </a:r>
            <a:endParaRPr sz="1000"/>
          </a:p>
        </p:txBody>
      </p:sp>
      <p:sp>
        <p:nvSpPr>
          <p:cNvPr id="723" name="Google Shape;723;g377a08ae626_1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8"/>
          <p:cNvSpPr txBox="1"/>
          <p:nvPr>
            <p:ph type="title"/>
          </p:nvPr>
        </p:nvSpPr>
        <p:spPr>
          <a:xfrm>
            <a:off x="2335151" y="1126050"/>
            <a:ext cx="161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50">
                <a:solidFill>
                  <a:srgbClr val="000000"/>
                </a:solidFill>
              </a:rPr>
              <a:t>The End</a:t>
            </a:r>
            <a:endParaRPr sz="2450"/>
          </a:p>
        </p:txBody>
      </p:sp>
      <p:sp>
        <p:nvSpPr>
          <p:cNvPr id="729" name="Google Shape;729;p2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2024-12-06T15:26:07Z</dcterms:created>
  <dc:creator>Fadi Al Machot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2024-12-06T00:00:00Z</vt:filetime>
  </property>
  <property fmtid="{D5CDD505-2E9C-101B-9397-08002B2CF9AE}" pid="5" name="Producer">
    <vt:lpwstr>Microsoft® PowerPoint® for Microsoft 365</vt:lpwstr>
  </property>
</Properties>
</file>