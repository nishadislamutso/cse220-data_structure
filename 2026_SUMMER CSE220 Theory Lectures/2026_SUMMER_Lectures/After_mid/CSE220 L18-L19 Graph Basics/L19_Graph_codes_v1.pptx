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6858000" cx="12191675"/>
  <p:notesSz cx="6858000" cy="12191675"/>
  <p:embeddedFontLst>
    <p:embeddedFont>
      <p:font typeface="Play"/>
      <p:regular r:id="rId47"/>
      <p:bold r:id="rId48"/>
    </p:embeddedFont>
    <p:embeddedFont>
      <p:font typeface="Tahoma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iinkqYpK/EUXI3Agra2dSBnQb9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Play-bold.fntdata"/><Relationship Id="rId47" Type="http://schemas.openxmlformats.org/officeDocument/2006/relationships/font" Target="fonts/Play-regular.fntdata"/><Relationship Id="rId49" Type="http://schemas.openxmlformats.org/officeDocument/2006/relationships/font" Target="fonts/Tahom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customschemas.google.com/relationships/presentationmetadata" Target="metadata"/><Relationship Id="rId50" Type="http://schemas.openxmlformats.org/officeDocument/2006/relationships/font" Target="fonts/Tahom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78c2bce4_5_4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778c2bce4_5_4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778c2bce4_5_4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778c2bce4_5_4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778c2bce4_5_4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778c2bce4_5_4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778c2bce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778c2bce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778c2bce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778c2bce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f778c2bce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f778c2bce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778c2bce4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f778c2bce4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f778c2bce4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f778c2bce4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g3f778c2bce4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g3f778c2bce4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778c2bce4_5_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f778c2bce4_5_4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f778c2bce4_5_4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3" name="Google Shape;11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f778c2bce4_2_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3f778c2bce4_2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g3f778c2bce4_2_4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f778c2bce4_2_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g3f778c2bce4_2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g3f778c2bce4_2_3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3f778c2bce4_2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7" name="Google Shape;1247;g3f778c2bce4_2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g3f778c2bce4_2_4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7" name="Google Shape;13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6" name="Google Shape;13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3f778c2bce4_2_6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4" name="Google Shape;1394;g3f778c2bce4_2_6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g3f778c2bce4_2_6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f778c2bce4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3" name="Google Shape;1423;g3f778c2bce4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g3f778c2bce4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f778c2bce4_5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3" name="Google Shape;1463;g3f778c2bce4_5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g3f778c2bce4_5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5" name="Google Shape;15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f778c2bce4_5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5" name="Google Shape;1575;g3f778c2bce4_5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g3f778c2bce4_5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3f778c2bce4_5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7" name="Google Shape;1617;g3f778c2bce4_5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g3f778c2bce4_5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f778c2bce4_5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0" name="Google Shape;1660;g3f778c2bce4_5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g3f778c2bce4_5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f778c2bce4_5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9" name="Google Shape;1699;g3f778c2bce4_5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g3f778c2bce4_5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3f778c2bce4_5_5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0" name="Google Shape;1740;g3f778c2bce4_5_5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g3f778c2bce4_5_5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3f778c2bce4_5_5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g3f778c2bce4_5_5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g3f778c2bce4_5_5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f778c2bce4_5_6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g3f778c2bce4_5_6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g3f778c2bce4_5_6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f778c2bce4_5_6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8" name="Google Shape;1818;g3f778c2bce4_5_6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g3f778c2bce4_5_6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3f778c2bce4_5_7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0" name="Google Shape;1870;g3f778c2bce4_5_7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g3f778c2bce4_5_7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4" name="Google Shape;19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5" name="Google Shape;19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f778c2bce4_2_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3f778c2bce4_2_3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g3f778c2bce4_2_3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 cap="flat" cmpd="sng" w="12700">
            <a:solidFill>
              <a:srgbClr val="DD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713232" y="658368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 Representations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9808" y="1280160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Adjacency Matrix &amp; Adjacency List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77240" y="2468880"/>
            <a:ext cx="1508760" cy="310896"/>
          </a:xfrm>
          <a:prstGeom prst="roundRect">
            <a:avLst>
              <a:gd fmla="val 23529" name="adj"/>
            </a:avLst>
          </a:prstGeom>
          <a:solidFill>
            <a:srgbClr val="1E5AA8"/>
          </a:solidFill>
          <a:ln cap="flat" cmpd="sng" w="12700">
            <a:solidFill>
              <a:srgbClr val="1E5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50392" y="2542032"/>
            <a:ext cx="1362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Unweighted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423160" y="246888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0B7A3B"/>
          </a:solidFill>
          <a:ln cap="flat" cmpd="sng" w="12700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496312" y="2542032"/>
            <a:ext cx="12710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Weighted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986784" y="2468880"/>
            <a:ext cx="1353312" cy="310896"/>
          </a:xfrm>
          <a:prstGeom prst="roundRect">
            <a:avLst>
              <a:gd fmla="val 23529" name="adj"/>
            </a:avLst>
          </a:prstGeom>
          <a:solidFill>
            <a:srgbClr val="B00020"/>
          </a:solidFill>
          <a:ln cap="flat" cmpd="sng" w="12700">
            <a:solidFill>
              <a:srgbClr val="B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59936" y="2542032"/>
            <a:ext cx="12070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Directed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0" y="2468880"/>
            <a:ext cx="1554480" cy="310896"/>
          </a:xfrm>
          <a:prstGeom prst="roundRect">
            <a:avLst>
              <a:gd fmla="val 23529" name="adj"/>
            </a:avLst>
          </a:prstGeom>
          <a:solidFill>
            <a:srgbClr val="9C27B0"/>
          </a:solidFill>
          <a:ln cap="flat" cmpd="sng" w="1270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559552" y="2542032"/>
            <a:ext cx="140817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Undirected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 flipH="1" rot="10800000">
            <a:off x="8558420" y="2055935"/>
            <a:ext cx="1194600" cy="59730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9046002" y="2263140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046002" y="2272284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10075217" y="2108207"/>
            <a:ext cx="949800" cy="94980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10440462" y="2491740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10440462" y="2500884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1"/>
          <p:cNvCxnSpPr/>
          <p:nvPr/>
        </p:nvCxnSpPr>
        <p:spPr>
          <a:xfrm>
            <a:off x="8448534" y="2931780"/>
            <a:ext cx="454200" cy="122310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"/>
          <p:cNvSpPr/>
          <p:nvPr/>
        </p:nvSpPr>
        <p:spPr>
          <a:xfrm>
            <a:off x="8565942" y="3451860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565942" y="3461004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1"/>
          <p:cNvCxnSpPr/>
          <p:nvPr/>
        </p:nvCxnSpPr>
        <p:spPr>
          <a:xfrm>
            <a:off x="9163144" y="4408644"/>
            <a:ext cx="1219500" cy="41820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"/>
          <p:cNvSpPr/>
          <p:nvPr/>
        </p:nvSpPr>
        <p:spPr>
          <a:xfrm>
            <a:off x="9663222" y="4526280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9663222" y="4535424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1"/>
          <p:cNvCxnSpPr/>
          <p:nvPr/>
        </p:nvCxnSpPr>
        <p:spPr>
          <a:xfrm flipH="1">
            <a:off x="9048240" y="2152491"/>
            <a:ext cx="809400" cy="200430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/>
          <p:nvPr/>
        </p:nvSpPr>
        <p:spPr>
          <a:xfrm>
            <a:off x="9343182" y="3063240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9343182" y="3072384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1"/>
          <p:cNvCxnSpPr/>
          <p:nvPr/>
        </p:nvCxnSpPr>
        <p:spPr>
          <a:xfrm flipH="1" rot="10800000">
            <a:off x="10639734" y="3390046"/>
            <a:ext cx="461100" cy="131220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1"/>
          <p:cNvSpPr/>
          <p:nvPr/>
        </p:nvSpPr>
        <p:spPr>
          <a:xfrm>
            <a:off x="10760502" y="3954780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10760502" y="3963924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8177322" y="2542032"/>
            <a:ext cx="402300" cy="402300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8268762" y="264261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9731802" y="1764792"/>
            <a:ext cx="402300" cy="402300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9823242" y="186537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10966242" y="2999232"/>
            <a:ext cx="402300" cy="402300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1057682" y="309981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8771682" y="4142232"/>
            <a:ext cx="402300" cy="402300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8863122" y="424281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0371882" y="4690872"/>
            <a:ext cx="402300" cy="402300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10463322" y="479145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777250" y="3108950"/>
            <a:ext cx="6835800" cy="1326000"/>
          </a:xfrm>
          <a:prstGeom prst="roundRect">
            <a:avLst>
              <a:gd fmla="val 5517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942533" y="3218680"/>
            <a:ext cx="6225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Lesson focus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914400" y="3520450"/>
            <a:ext cx="6225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Store graph connections in a 2D matrix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Store graph connections in linked adjacency lists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i="0" lang="en-US" sz="1550" u="sng" cap="none" strike="noStrike">
                <a:solidFill>
                  <a:srgbClr val="000000"/>
                </a:solidFill>
              </a:rPr>
              <a:t>Change only the edge insertion rule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each graph type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778c2bce4_5_475"/>
          <p:cNvSpPr/>
          <p:nvPr/>
        </p:nvSpPr>
        <p:spPr>
          <a:xfrm>
            <a:off x="502920" y="292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33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Exam Note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778c2bce4_5_475"/>
          <p:cNvSpPr/>
          <p:nvPr/>
        </p:nvSpPr>
        <p:spPr>
          <a:xfrm>
            <a:off x="533688" y="1669200"/>
            <a:ext cx="111243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 u="sng"/>
              <a:t>Any of the 8 graph representations</a:t>
            </a:r>
            <a:r>
              <a:rPr lang="en-US" sz="2000"/>
              <a:t> may be provided in the exam </a:t>
            </a:r>
            <a:r>
              <a:rPr b="1" lang="en-US" sz="2000" u="sng"/>
              <a:t>for solving a task</a:t>
            </a:r>
            <a:r>
              <a:rPr lang="en-US" sz="2000"/>
              <a:t>.</a:t>
            </a:r>
            <a:endParaRPr sz="2000"/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○"/>
            </a:pPr>
            <a:r>
              <a:rPr lang="en-US" sz="2000" u="sng">
                <a:solidFill>
                  <a:srgbClr val="0000FF"/>
                </a:solidFill>
              </a:rPr>
              <a:t>You will not be required to create the graph.</a:t>
            </a:r>
            <a:endParaRPr sz="2000" u="sng">
              <a:solidFill>
                <a:srgbClr val="0000FF"/>
              </a:solidFill>
            </a:endParaRPr>
          </a:p>
          <a:p>
            <a:pPr indent="-3556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2000"/>
              <a:buChar char="○"/>
            </a:pPr>
            <a:r>
              <a:rPr lang="en-US" sz="2000" u="sng">
                <a:solidFill>
                  <a:srgbClr val="9900FF"/>
                </a:solidFill>
              </a:rPr>
              <a:t>The graph representation will be given to you.</a:t>
            </a:r>
            <a:endParaRPr sz="2000" u="sng">
              <a:solidFill>
                <a:srgbClr val="9900FF"/>
              </a:solidFill>
            </a:endParaRPr>
          </a:p>
          <a:p>
            <a:pPr indent="-3556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You must understand how to read and use the provided representation to solve the task.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33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Graph Types in This Lesson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same graph idea changes based on direction and weight.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22950" y="1325875"/>
            <a:ext cx="5200500" cy="1234500"/>
          </a:xfrm>
          <a:prstGeom prst="roundRect">
            <a:avLst>
              <a:gd fmla="val 5926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8" name="Google Shape;78;p2"/>
          <p:cNvSpPr/>
          <p:nvPr/>
        </p:nvSpPr>
        <p:spPr>
          <a:xfrm>
            <a:off x="960120" y="143560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Unweighted + Undirected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966085" y="1737358"/>
            <a:ext cx="491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1 in </a:t>
            </a:r>
            <a:r>
              <a:rPr b="1" i="0" lang="en-US" sz="1650" u="none" cap="none" strike="noStrike">
                <a:solidFill>
                  <a:schemeClr val="dk1"/>
                </a:solidFill>
              </a:rPr>
              <a:t>both directions</a:t>
            </a: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1 and A[v][u] = 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400800" y="1325875"/>
            <a:ext cx="5285100" cy="1234500"/>
          </a:xfrm>
          <a:prstGeom prst="roundRect">
            <a:avLst>
              <a:gd fmla="val 5926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1" name="Google Shape;81;p2"/>
          <p:cNvSpPr/>
          <p:nvPr/>
        </p:nvSpPr>
        <p:spPr>
          <a:xfrm>
            <a:off x="6537960" y="143560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Unweighted + Directed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546265" y="1737358"/>
            <a:ext cx="4994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1 </a:t>
            </a:r>
            <a:r>
              <a:rPr b="1" lang="en-US" sz="1650">
                <a:solidFill>
                  <a:schemeClr val="dk1"/>
                </a:solidFill>
              </a:rPr>
              <a:t>ONLY</a:t>
            </a:r>
            <a:r>
              <a:rPr b="1" i="0" lang="en-US" sz="1650" u="none" cap="none" strike="noStrike">
                <a:solidFill>
                  <a:schemeClr val="dk1"/>
                </a:solidFill>
              </a:rPr>
              <a:t> from source to destination: </a:t>
            </a:r>
            <a:b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822960" y="324612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5FCEB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4" name="Google Shape;84;p2"/>
          <p:cNvSpPr/>
          <p:nvPr/>
        </p:nvSpPr>
        <p:spPr>
          <a:xfrm>
            <a:off x="960120" y="335584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Weighted + Directed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960120" y="365760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the edge weight </a:t>
            </a:r>
            <a:r>
              <a:rPr b="1" i="0" lang="en-US" sz="1650" u="none" cap="none" strike="noStrike">
                <a:solidFill>
                  <a:srgbClr val="000000"/>
                </a:solidFill>
              </a:rPr>
              <a:t>only in A[u][v]</a:t>
            </a:r>
            <a:endParaRPr b="1" i="0" sz="1650" u="none" cap="none" strike="noStrike">
              <a:solidFill>
                <a:schemeClr val="dk1"/>
              </a:solidFill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400800" y="324612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5FCEB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7" name="Google Shape;87;p2"/>
          <p:cNvSpPr/>
          <p:nvPr/>
        </p:nvSpPr>
        <p:spPr>
          <a:xfrm>
            <a:off x="6537960" y="335584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Weighted + Undirected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6537960" y="365760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the edge weight in </a:t>
            </a:r>
            <a:r>
              <a:rPr b="1" i="0" lang="en-US" sz="1650" u="none" cap="none" strike="noStrike">
                <a:solidFill>
                  <a:srgbClr val="000000"/>
                </a:solidFill>
              </a:rPr>
              <a:t>both A[u][v] and A[v][u]</a:t>
            </a:r>
            <a:endParaRPr b="1" i="0" sz="1650" u="none" cap="none" strike="noStrike">
              <a:solidFill>
                <a:schemeClr val="dk1"/>
              </a:solidFill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2449400" y="5166300"/>
            <a:ext cx="7317600" cy="1280100"/>
          </a:xfrm>
          <a:prstGeom prst="roundRect">
            <a:avLst>
              <a:gd fmla="val 11111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0" name="Google Shape;90;p2"/>
          <p:cNvSpPr/>
          <p:nvPr/>
        </p:nvSpPr>
        <p:spPr>
          <a:xfrm>
            <a:off x="2860080" y="5276066"/>
            <a:ext cx="5394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2924550" y="5632725"/>
            <a:ext cx="6640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the addEdges() logic changes; </a:t>
            </a:r>
            <a:b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printing and neighbor scanning are almost the same.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78c2bce4_5_465"/>
          <p:cNvSpPr txBox="1"/>
          <p:nvPr/>
        </p:nvSpPr>
        <p:spPr>
          <a:xfrm>
            <a:off x="4595838" y="270490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Core Idea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 V x V matrix stores whether an edge exists between vertices.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6868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37160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87452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7744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88036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16636" y="173141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3" name="Google Shape;113;p3"/>
          <p:cNvSpPr/>
          <p:nvPr/>
        </p:nvSpPr>
        <p:spPr>
          <a:xfrm>
            <a:off x="86868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37160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5" name="Google Shape;115;p3"/>
          <p:cNvSpPr/>
          <p:nvPr/>
        </p:nvSpPr>
        <p:spPr>
          <a:xfrm>
            <a:off x="137160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87452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7" name="Google Shape;117;p3"/>
          <p:cNvSpPr/>
          <p:nvPr/>
        </p:nvSpPr>
        <p:spPr>
          <a:xfrm>
            <a:off x="187452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37744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9" name="Google Shape;119;p3"/>
          <p:cNvSpPr/>
          <p:nvPr/>
        </p:nvSpPr>
        <p:spPr>
          <a:xfrm>
            <a:off x="237744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88036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1" name="Google Shape;121;p3"/>
          <p:cNvSpPr/>
          <p:nvPr/>
        </p:nvSpPr>
        <p:spPr>
          <a:xfrm>
            <a:off x="288036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16636" y="223433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4" name="Google Shape;124;p3"/>
          <p:cNvSpPr/>
          <p:nvPr/>
        </p:nvSpPr>
        <p:spPr>
          <a:xfrm>
            <a:off x="86868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37160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6" name="Google Shape;126;p3"/>
          <p:cNvSpPr/>
          <p:nvPr/>
        </p:nvSpPr>
        <p:spPr>
          <a:xfrm>
            <a:off x="137160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87452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8" name="Google Shape;128;p3"/>
          <p:cNvSpPr/>
          <p:nvPr/>
        </p:nvSpPr>
        <p:spPr>
          <a:xfrm>
            <a:off x="187452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37744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0" name="Google Shape;130;p3"/>
          <p:cNvSpPr/>
          <p:nvPr/>
        </p:nvSpPr>
        <p:spPr>
          <a:xfrm>
            <a:off x="237744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288036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2" name="Google Shape;132;p3"/>
          <p:cNvSpPr/>
          <p:nvPr/>
        </p:nvSpPr>
        <p:spPr>
          <a:xfrm>
            <a:off x="288036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516636" y="273725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5" name="Google Shape;135;p3"/>
          <p:cNvSpPr/>
          <p:nvPr/>
        </p:nvSpPr>
        <p:spPr>
          <a:xfrm>
            <a:off x="86868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37160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7" name="Google Shape;137;p3"/>
          <p:cNvSpPr/>
          <p:nvPr/>
        </p:nvSpPr>
        <p:spPr>
          <a:xfrm>
            <a:off x="137160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187452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9" name="Google Shape;139;p3"/>
          <p:cNvSpPr/>
          <p:nvPr/>
        </p:nvSpPr>
        <p:spPr>
          <a:xfrm>
            <a:off x="187452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37744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1" name="Google Shape;141;p3"/>
          <p:cNvSpPr/>
          <p:nvPr/>
        </p:nvSpPr>
        <p:spPr>
          <a:xfrm>
            <a:off x="237744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288036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3" name="Google Shape;143;p3"/>
          <p:cNvSpPr/>
          <p:nvPr/>
        </p:nvSpPr>
        <p:spPr>
          <a:xfrm>
            <a:off x="288036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516636" y="324017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6" name="Google Shape;146;p3"/>
          <p:cNvSpPr/>
          <p:nvPr/>
        </p:nvSpPr>
        <p:spPr>
          <a:xfrm>
            <a:off x="86868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37160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8" name="Google Shape;148;p3"/>
          <p:cNvSpPr/>
          <p:nvPr/>
        </p:nvSpPr>
        <p:spPr>
          <a:xfrm>
            <a:off x="137160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187452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0" name="Google Shape;150;p3"/>
          <p:cNvSpPr/>
          <p:nvPr/>
        </p:nvSpPr>
        <p:spPr>
          <a:xfrm>
            <a:off x="187452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237744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2" name="Google Shape;152;p3"/>
          <p:cNvSpPr/>
          <p:nvPr/>
        </p:nvSpPr>
        <p:spPr>
          <a:xfrm>
            <a:off x="237744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288036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4" name="Google Shape;154;p3"/>
          <p:cNvSpPr/>
          <p:nvPr/>
        </p:nvSpPr>
        <p:spPr>
          <a:xfrm>
            <a:off x="288036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516636" y="374309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7" name="Google Shape;157;p3"/>
          <p:cNvSpPr/>
          <p:nvPr/>
        </p:nvSpPr>
        <p:spPr>
          <a:xfrm>
            <a:off x="86868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37160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9" name="Google Shape;159;p3"/>
          <p:cNvSpPr/>
          <p:nvPr/>
        </p:nvSpPr>
        <p:spPr>
          <a:xfrm>
            <a:off x="137160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187452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1" name="Google Shape;161;p3"/>
          <p:cNvSpPr/>
          <p:nvPr/>
        </p:nvSpPr>
        <p:spPr>
          <a:xfrm>
            <a:off x="187452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237744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3" name="Google Shape;163;p3"/>
          <p:cNvSpPr/>
          <p:nvPr/>
        </p:nvSpPr>
        <p:spPr>
          <a:xfrm>
            <a:off x="237744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288036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5" name="Google Shape;165;p3"/>
          <p:cNvSpPr/>
          <p:nvPr/>
        </p:nvSpPr>
        <p:spPr>
          <a:xfrm>
            <a:off x="288036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02925" y="4453525"/>
            <a:ext cx="3759300" cy="2071800"/>
          </a:xfrm>
          <a:prstGeom prst="roundRect">
            <a:avLst>
              <a:gd fmla="val 7619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7" name="Google Shape;167;p3"/>
          <p:cNvSpPr/>
          <p:nvPr/>
        </p:nvSpPr>
        <p:spPr>
          <a:xfrm>
            <a:off x="838290" y="4586401"/>
            <a:ext cx="29262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 rule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59425" y="4951800"/>
            <a:ext cx="34830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27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Char char="●"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Row = source vertex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Char char="●"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 = destination / neighbor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-US" sz="1550"/>
              <a:t>weight (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0) = no edge</a:t>
            </a:r>
            <a:endParaRPr sz="1550"/>
          </a:p>
          <a:p>
            <a:pPr indent="-327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-US" sz="1550">
                <a:solidFill>
                  <a:schemeClr val="dk1"/>
                </a:solidFill>
              </a:rPr>
              <a:t>weight (not 0) = edge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572000" y="1463050"/>
            <a:ext cx="3189900" cy="1143000"/>
          </a:xfrm>
          <a:prstGeom prst="roundRect">
            <a:avLst>
              <a:gd fmla="val 6400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0" name="Google Shape;170;p3"/>
          <p:cNvSpPr/>
          <p:nvPr/>
        </p:nvSpPr>
        <p:spPr>
          <a:xfrm>
            <a:off x="4714836" y="1572777"/>
            <a:ext cx="290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Undirected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4714836" y="1874526"/>
            <a:ext cx="290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and A[v][u]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both updated.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8285741" y="1463050"/>
            <a:ext cx="3189900" cy="1143000"/>
          </a:xfrm>
          <a:prstGeom prst="roundRect">
            <a:avLst>
              <a:gd fmla="val 6400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3" name="Google Shape;173;p3"/>
          <p:cNvSpPr/>
          <p:nvPr/>
        </p:nvSpPr>
        <p:spPr>
          <a:xfrm>
            <a:off x="8428577" y="1572777"/>
            <a:ext cx="290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Directed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8428577" y="1874526"/>
            <a:ext cx="290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A[u][v] is updated.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A[v][u] may remain 0.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4572000" y="3108953"/>
            <a:ext cx="3189900" cy="1143000"/>
          </a:xfrm>
          <a:prstGeom prst="roundRect">
            <a:avLst>
              <a:gd fmla="val 6400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6" name="Google Shape;176;p3"/>
          <p:cNvSpPr/>
          <p:nvPr/>
        </p:nvSpPr>
        <p:spPr>
          <a:xfrm>
            <a:off x="4714836" y="3218680"/>
            <a:ext cx="290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Unweighted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4714836" y="3520429"/>
            <a:ext cx="290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1 to show a connection.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8285741" y="3108953"/>
            <a:ext cx="3189900" cy="1143000"/>
          </a:xfrm>
          <a:prstGeom prst="roundRect">
            <a:avLst>
              <a:gd fmla="val 6400" name="adj"/>
            </a:avLst>
          </a:prstGeom>
          <a:solidFill>
            <a:srgbClr val="FCE4E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9" name="Google Shape;179;p3"/>
          <p:cNvSpPr/>
          <p:nvPr/>
        </p:nvSpPr>
        <p:spPr>
          <a:xfrm>
            <a:off x="8428577" y="3218680"/>
            <a:ext cx="290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Weighted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8428575" y="3520425"/>
            <a:ext cx="3047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edge weight </a:t>
            </a:r>
            <a:r>
              <a:rPr b="1" i="0" lang="en-US" sz="1550" u="sng" cap="none" strike="noStrike">
                <a:solidFill>
                  <a:srgbClr val="000000"/>
                </a:solidFill>
              </a:rPr>
              <a:t>instead of 1.</a:t>
            </a:r>
            <a:endParaRPr b="1" i="0" sz="1550" u="sng" cap="none" strike="noStrike">
              <a:solidFill>
                <a:schemeClr val="dk1"/>
              </a:solidFill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4617720" y="4892040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Row 1, column 4 = 1 means vertex 1 is connected to vertex 4.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Undirected Unweighted Graph (1)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4"/>
          <p:cNvCxnSpPr/>
          <p:nvPr/>
        </p:nvCxnSpPr>
        <p:spPr>
          <a:xfrm flipH="1" rot="10800000">
            <a:off x="1499274" y="1976516"/>
            <a:ext cx="1207693" cy="71040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4"/>
          <p:cNvCxnSpPr/>
          <p:nvPr/>
        </p:nvCxnSpPr>
        <p:spPr>
          <a:xfrm>
            <a:off x="1426894" y="2962888"/>
            <a:ext cx="620933" cy="106938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4"/>
          <p:cNvCxnSpPr/>
          <p:nvPr/>
        </p:nvCxnSpPr>
        <p:spPr>
          <a:xfrm flipH="1">
            <a:off x="2209057" y="2066464"/>
            <a:ext cx="611085" cy="1947833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4"/>
          <p:cNvCxnSpPr/>
          <p:nvPr/>
        </p:nvCxnSpPr>
        <p:spPr>
          <a:xfrm>
            <a:off x="3006761" y="2031017"/>
            <a:ext cx="707317" cy="87572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/>
          <p:nvPr/>
        </p:nvCxnSpPr>
        <p:spPr>
          <a:xfrm>
            <a:off x="2954012" y="2061720"/>
            <a:ext cx="949975" cy="241452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/>
          <p:nvPr/>
        </p:nvCxnSpPr>
        <p:spPr>
          <a:xfrm>
            <a:off x="3857660" y="3263673"/>
            <a:ext cx="102800" cy="119933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4"/>
          <p:cNvCxnSpPr/>
          <p:nvPr/>
        </p:nvCxnSpPr>
        <p:spPr>
          <a:xfrm>
            <a:off x="2344002" y="4255030"/>
            <a:ext cx="1438477" cy="35961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4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p4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7" name="Google Shape;217;p4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4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1" name="Google Shape;221;p4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" name="Google Shape;223;p4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6" name="Google Shape;226;p4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" name="Google Shape;228;p4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4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2" name="Google Shape;232;p4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4" name="Google Shape;234;p4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p4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" name="Google Shape;239;p4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4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4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4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" name="Google Shape;248;p4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0" name="Google Shape;250;p4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4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4" name="Google Shape;254;p4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4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" name="Google Shape;259;p4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1" name="Google Shape;261;p4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" name="Google Shape;263;p4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4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4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6144775" y="4709150"/>
            <a:ext cx="5821800" cy="1024200"/>
          </a:xfrm>
          <a:prstGeom prst="roundRect">
            <a:avLst>
              <a:gd fmla="val 7143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6308001" y="4818880"/>
            <a:ext cx="5495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6308001" y="5120639"/>
            <a:ext cx="549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matrix is symmetric.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every 1 in A[u][v], there is a matching 1 in A[v][u].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"/>
          <p:cNvSpPr/>
          <p:nvPr/>
        </p:nvSpPr>
        <p:spPr>
          <a:xfrm>
            <a:off x="289645" y="23965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Unweighted Matrix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204625" y="678550"/>
            <a:ext cx="6786900" cy="60261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285875" y="751700"/>
            <a:ext cx="6705600" cy="60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GraphUndirectedUnweightedMatrix 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 </a:t>
            </a:r>
            <a:r>
              <a:rPr b="1" i="0" lang="en-US" sz="147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Total number of vertices </a:t>
            </a:r>
            <a:endParaRPr b="1" i="0" sz="1470" u="none" cap="none" strike="noStrike">
              <a:solidFill>
                <a:srgbClr val="0B7A3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 </a:t>
            </a:r>
            <a:r>
              <a:rPr b="1" i="0" lang="en-US" sz="147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Adjacency Matrix </a:t>
            </a:r>
            <a:endParaRPr b="1" i="0" sz="1470" u="none" cap="none" strike="noStrike">
              <a:solidFill>
                <a:srgbClr val="0B7A3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GraphUndirectedUnweightedMatrix(int numVertices) 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147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t/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7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Create a matrix of size: // numVertices × numVertices</a:t>
            </a: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47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i="0" lang="en-US" sz="147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Initially, every value is 0 </a:t>
            </a:r>
            <a:br>
              <a:rPr b="1" i="0" lang="en-US" sz="147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470" u="none" cap="none" strike="noStrike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// 0 means: No edge exists between the two vertices </a:t>
            </a:r>
            <a:endParaRPr b="1" i="0" sz="1470" u="none" cap="none" strike="noStrike">
              <a:solidFill>
                <a:srgbClr val="0B7A3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1" i="0" lang="en-US" sz="147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1" i="0" sz="1470" u="none" cap="none" strike="noStrike">
              <a:solidFill>
                <a:srgbClr val="99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1" i="0" lang="en-US" sz="147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1" i="0" sz="1470" u="none" cap="none" strike="noStrike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t/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lang="en-US" sz="13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-US" sz="14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US" sz="14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For UNDIRECTED graph:</a:t>
            </a:r>
            <a:r>
              <a:rPr b="1" lang="en-US" sz="1900">
                <a:solidFill>
                  <a:srgbClr val="0B7A3B"/>
                </a:solidFill>
              </a:rPr>
              <a:t> </a:t>
            </a:r>
            <a:r>
              <a:rPr b="1" lang="en-US" sz="14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Add edge in BOTH directions</a:t>
            </a:r>
            <a:endParaRPr b="1" i="0" sz="1570" u="none" cap="none" strike="noStrike">
              <a:solidFill>
                <a:srgbClr val="0B7A3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1" i="0" lang="en-US" sz="14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adjMatrix[source][destination] = 1; </a:t>
            </a:r>
            <a:endParaRPr b="1" i="0" sz="1470" u="none" cap="none" strike="noStrike">
              <a:solidFill>
                <a:srgbClr val="00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1" i="0" lang="en-US" sz="14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adjMatrix[destination][source] = 1;</a:t>
            </a:r>
            <a:endParaRPr b="1" i="0" sz="1470" u="none" cap="none" strike="noStrike">
              <a:solidFill>
                <a:srgbClr val="00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t/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7081600" y="3846450"/>
            <a:ext cx="4958100" cy="2744700"/>
          </a:xfrm>
          <a:prstGeom prst="roundRect">
            <a:avLst>
              <a:gd fmla="val 2439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81" name="Google Shape;281;p5"/>
          <p:cNvSpPr/>
          <p:nvPr/>
        </p:nvSpPr>
        <p:spPr>
          <a:xfrm>
            <a:off x="7210425" y="3994550"/>
            <a:ext cx="47712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numOfVertices = 5;</a:t>
            </a:r>
            <a:br>
              <a:rPr lang="en-US" sz="133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i="0" sz="133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GraphUndirectedUnweightedMatrix graph =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new GraphUndirectedUnweightedMatrix(</a:t>
            </a:r>
            <a:r>
              <a:rPr lang="en-US" sz="133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numOfVertices</a:t>
            </a: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33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{0,1}, {0,3},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{1,3}, {1,2}, {1,4},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{2,4},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{3,4}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5"/>
          <p:cNvCxnSpPr/>
          <p:nvPr/>
        </p:nvCxnSpPr>
        <p:spPr>
          <a:xfrm flipH="1" rot="10800000">
            <a:off x="7900686" y="1075705"/>
            <a:ext cx="1038900" cy="611100"/>
          </a:xfrm>
          <a:prstGeom prst="straightConnector1">
            <a:avLst/>
          </a:prstGeom>
          <a:noFill/>
          <a:ln cap="flat" cmpd="sng" w="125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5"/>
          <p:cNvCxnSpPr/>
          <p:nvPr/>
        </p:nvCxnSpPr>
        <p:spPr>
          <a:xfrm>
            <a:off x="7838432" y="1924164"/>
            <a:ext cx="534000" cy="920100"/>
          </a:xfrm>
          <a:prstGeom prst="straightConnector1">
            <a:avLst/>
          </a:prstGeom>
          <a:noFill/>
          <a:ln cap="flat" cmpd="sng" w="125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5"/>
          <p:cNvCxnSpPr/>
          <p:nvPr/>
        </p:nvCxnSpPr>
        <p:spPr>
          <a:xfrm flipH="1">
            <a:off x="8511463" y="1153143"/>
            <a:ext cx="525300" cy="1675200"/>
          </a:xfrm>
          <a:prstGeom prst="straightConnector1">
            <a:avLst/>
          </a:prstGeom>
          <a:noFill/>
          <a:ln cap="flat" cmpd="sng" w="125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5"/>
          <p:cNvCxnSpPr/>
          <p:nvPr/>
        </p:nvCxnSpPr>
        <p:spPr>
          <a:xfrm>
            <a:off x="9197274" y="1122655"/>
            <a:ext cx="608400" cy="753300"/>
          </a:xfrm>
          <a:prstGeom prst="straightConnector1">
            <a:avLst/>
          </a:prstGeom>
          <a:noFill/>
          <a:ln cap="flat" cmpd="sng" w="125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5"/>
          <p:cNvCxnSpPr/>
          <p:nvPr/>
        </p:nvCxnSpPr>
        <p:spPr>
          <a:xfrm>
            <a:off x="9151905" y="1149063"/>
            <a:ext cx="817500" cy="2076900"/>
          </a:xfrm>
          <a:prstGeom prst="straightConnector1">
            <a:avLst/>
          </a:prstGeom>
          <a:noFill/>
          <a:ln cap="flat" cmpd="sng" w="125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5"/>
          <p:cNvCxnSpPr/>
          <p:nvPr/>
        </p:nvCxnSpPr>
        <p:spPr>
          <a:xfrm>
            <a:off x="9929132" y="2182871"/>
            <a:ext cx="88200" cy="1032000"/>
          </a:xfrm>
          <a:prstGeom prst="straightConnector1">
            <a:avLst/>
          </a:prstGeom>
          <a:noFill/>
          <a:ln cap="flat" cmpd="sng" w="125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5"/>
          <p:cNvCxnSpPr/>
          <p:nvPr/>
        </p:nvCxnSpPr>
        <p:spPr>
          <a:xfrm>
            <a:off x="8627236" y="3035545"/>
            <a:ext cx="1237500" cy="309600"/>
          </a:xfrm>
          <a:prstGeom prst="straightConnector1">
            <a:avLst/>
          </a:prstGeom>
          <a:noFill/>
          <a:ln cap="flat" cmpd="sng" w="125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5"/>
          <p:cNvSpPr/>
          <p:nvPr/>
        </p:nvSpPr>
        <p:spPr>
          <a:xfrm>
            <a:off x="7578525" y="1601507"/>
            <a:ext cx="345900" cy="345900"/>
          </a:xfrm>
          <a:prstGeom prst="ellipse">
            <a:avLst/>
          </a:prstGeom>
          <a:solidFill>
            <a:srgbClr val="BFD7EA"/>
          </a:solidFill>
          <a:ln cap="flat" cmpd="sng" w="1200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"/>
          <p:cNvSpPr/>
          <p:nvPr/>
        </p:nvSpPr>
        <p:spPr>
          <a:xfrm>
            <a:off x="7657173" y="1688020"/>
            <a:ext cx="1887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89"/>
              <a:buFont typeface="Arial"/>
              <a:buNone/>
            </a:pPr>
            <a:r>
              <a:rPr b="1" i="0" lang="en-US" sz="1888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8915532" y="815024"/>
            <a:ext cx="345900" cy="345900"/>
          </a:xfrm>
          <a:prstGeom prst="ellipse">
            <a:avLst/>
          </a:prstGeom>
          <a:solidFill>
            <a:srgbClr val="BFD7EA"/>
          </a:solidFill>
          <a:ln cap="flat" cmpd="sng" w="1200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8994180" y="901537"/>
            <a:ext cx="1887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89"/>
              <a:buFont typeface="Arial"/>
              <a:buNone/>
            </a:pPr>
            <a:r>
              <a:rPr b="1" i="0" lang="en-US" sz="1888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9741331" y="1837451"/>
            <a:ext cx="345900" cy="345900"/>
          </a:xfrm>
          <a:prstGeom prst="ellipse">
            <a:avLst/>
          </a:prstGeom>
          <a:solidFill>
            <a:srgbClr val="BFD7EA"/>
          </a:solidFill>
          <a:ln cap="flat" cmpd="sng" w="1200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9819978" y="1923964"/>
            <a:ext cx="1887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89"/>
              <a:buFont typeface="Arial"/>
              <a:buNone/>
            </a:pPr>
            <a:r>
              <a:rPr b="1" i="0" lang="en-US" sz="1888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8286352" y="2820554"/>
            <a:ext cx="345900" cy="345900"/>
          </a:xfrm>
          <a:prstGeom prst="ellipse">
            <a:avLst/>
          </a:prstGeom>
          <a:solidFill>
            <a:srgbClr val="BFD7EA"/>
          </a:solidFill>
          <a:ln cap="flat" cmpd="sng" w="1200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8365000" y="2907067"/>
            <a:ext cx="1887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89"/>
              <a:buFont typeface="Arial"/>
              <a:buNone/>
            </a:pPr>
            <a:r>
              <a:rPr b="1" i="0" lang="en-US" sz="1888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9859302" y="3213795"/>
            <a:ext cx="345900" cy="345900"/>
          </a:xfrm>
          <a:prstGeom prst="ellipse">
            <a:avLst/>
          </a:prstGeom>
          <a:solidFill>
            <a:srgbClr val="BFD7EA"/>
          </a:solidFill>
          <a:ln cap="flat" cmpd="sng" w="1200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9631494" y="3159618"/>
            <a:ext cx="6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89"/>
              <a:buFont typeface="Arial"/>
              <a:buNone/>
            </a:pPr>
            <a:r>
              <a:rPr b="1" i="0" lang="en-US" sz="176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778c2bce4_0_0"/>
          <p:cNvSpPr/>
          <p:nvPr/>
        </p:nvSpPr>
        <p:spPr>
          <a:xfrm>
            <a:off x="193720" y="325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Unweighted Matrix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778c2bce4_0_0"/>
          <p:cNvSpPr/>
          <p:nvPr/>
        </p:nvSpPr>
        <p:spPr>
          <a:xfrm>
            <a:off x="61000" y="900600"/>
            <a:ext cx="7038600" cy="56055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778c2bce4_0_0"/>
          <p:cNvSpPr/>
          <p:nvPr/>
        </p:nvSpPr>
        <p:spPr>
          <a:xfrm>
            <a:off x="193725" y="1124700"/>
            <a:ext cx="7038600" cy="51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GraphUndirectedUnweightedMatrix {</a:t>
            </a:r>
            <a:endParaRPr sz="147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</a:t>
            </a:r>
            <a:r>
              <a:rPr b="1" i="0" lang="en-US" sz="14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vertex</a:t>
            </a: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</a:t>
            </a:r>
            <a:r>
              <a:rPr b="1" i="0" lang="en-US" sz="14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vertex</a:t>
            </a: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i="0" lang="en-US" sz="147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== 1)</a:t>
            </a: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 Columns c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hanging 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System.out.print(i + " ");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//print neighbor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System.out.println();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t/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t/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b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778c2bce4_0_0"/>
          <p:cNvSpPr/>
          <p:nvPr/>
        </p:nvSpPr>
        <p:spPr>
          <a:xfrm>
            <a:off x="7569800" y="4067975"/>
            <a:ext cx="4156200" cy="2342700"/>
          </a:xfrm>
          <a:prstGeom prst="roundRect">
            <a:avLst>
              <a:gd fmla="val 2439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8" name="Google Shape;308;g3f778c2bce4_0_0"/>
          <p:cNvSpPr/>
          <p:nvPr/>
        </p:nvSpPr>
        <p:spPr>
          <a:xfrm>
            <a:off x="7687430" y="4194361"/>
            <a:ext cx="3894000" cy="21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b="0" i="0" lang="en-US" sz="16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6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65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1, 4</a:t>
            </a: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(3);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0, 1, 4</a:t>
            </a: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(4);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1, 2, 3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g3f778c2bce4_0_0"/>
          <p:cNvSpPr txBox="1"/>
          <p:nvPr>
            <p:ph idx="4294967295" type="sldNum"/>
          </p:nvPr>
        </p:nvSpPr>
        <p:spPr>
          <a:xfrm>
            <a:off x="11523620" y="64106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778c2bce4_0_0"/>
          <p:cNvSpPr/>
          <p:nvPr/>
        </p:nvSpPr>
        <p:spPr>
          <a:xfrm>
            <a:off x="8244138" y="10637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778c2bce4_0_0"/>
          <p:cNvSpPr/>
          <p:nvPr/>
        </p:nvSpPr>
        <p:spPr>
          <a:xfrm>
            <a:off x="8737914" y="10637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778c2bce4_0_0"/>
          <p:cNvSpPr/>
          <p:nvPr/>
        </p:nvSpPr>
        <p:spPr>
          <a:xfrm>
            <a:off x="9231690" y="10637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778c2bce4_0_0"/>
          <p:cNvSpPr/>
          <p:nvPr/>
        </p:nvSpPr>
        <p:spPr>
          <a:xfrm>
            <a:off x="9725466" y="10637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778c2bce4_0_0"/>
          <p:cNvSpPr/>
          <p:nvPr/>
        </p:nvSpPr>
        <p:spPr>
          <a:xfrm>
            <a:off x="10219242" y="10637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778c2bce4_0_0"/>
          <p:cNvSpPr/>
          <p:nvPr/>
        </p:nvSpPr>
        <p:spPr>
          <a:xfrm>
            <a:off x="7898495" y="1567387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778c2bce4_0_0"/>
          <p:cNvSpPr/>
          <p:nvPr/>
        </p:nvSpPr>
        <p:spPr>
          <a:xfrm>
            <a:off x="8244138" y="14834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" name="Google Shape;317;g3f778c2bce4_0_0"/>
          <p:cNvSpPr/>
          <p:nvPr/>
        </p:nvSpPr>
        <p:spPr>
          <a:xfrm>
            <a:off x="8244138" y="15673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778c2bce4_0_0"/>
          <p:cNvSpPr/>
          <p:nvPr/>
        </p:nvSpPr>
        <p:spPr>
          <a:xfrm>
            <a:off x="8737914" y="14834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9" name="Google Shape;319;g3f778c2bce4_0_0"/>
          <p:cNvSpPr/>
          <p:nvPr/>
        </p:nvSpPr>
        <p:spPr>
          <a:xfrm>
            <a:off x="8737914" y="15673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778c2bce4_0_0"/>
          <p:cNvSpPr/>
          <p:nvPr/>
        </p:nvSpPr>
        <p:spPr>
          <a:xfrm>
            <a:off x="9231690" y="14834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" name="Google Shape;321;g3f778c2bce4_0_0"/>
          <p:cNvSpPr/>
          <p:nvPr/>
        </p:nvSpPr>
        <p:spPr>
          <a:xfrm>
            <a:off x="9231690" y="15673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778c2bce4_0_0"/>
          <p:cNvSpPr/>
          <p:nvPr/>
        </p:nvSpPr>
        <p:spPr>
          <a:xfrm>
            <a:off x="9725466" y="14834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g3f778c2bce4_0_0"/>
          <p:cNvSpPr/>
          <p:nvPr/>
        </p:nvSpPr>
        <p:spPr>
          <a:xfrm>
            <a:off x="9725466" y="15673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f778c2bce4_0_0"/>
          <p:cNvSpPr/>
          <p:nvPr/>
        </p:nvSpPr>
        <p:spPr>
          <a:xfrm>
            <a:off x="10219242" y="14834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" name="Google Shape;325;g3f778c2bce4_0_0"/>
          <p:cNvSpPr/>
          <p:nvPr/>
        </p:nvSpPr>
        <p:spPr>
          <a:xfrm>
            <a:off x="10219242" y="15673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778c2bce4_0_0"/>
          <p:cNvSpPr/>
          <p:nvPr/>
        </p:nvSpPr>
        <p:spPr>
          <a:xfrm>
            <a:off x="7898495" y="2061163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778c2bce4_0_0"/>
          <p:cNvSpPr/>
          <p:nvPr/>
        </p:nvSpPr>
        <p:spPr>
          <a:xfrm>
            <a:off x="8244138" y="19772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8" name="Google Shape;328;g3f778c2bce4_0_0"/>
          <p:cNvSpPr/>
          <p:nvPr/>
        </p:nvSpPr>
        <p:spPr>
          <a:xfrm>
            <a:off x="8244138" y="20611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778c2bce4_0_0"/>
          <p:cNvSpPr/>
          <p:nvPr/>
        </p:nvSpPr>
        <p:spPr>
          <a:xfrm>
            <a:off x="8737914" y="19772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g3f778c2bce4_0_0"/>
          <p:cNvSpPr/>
          <p:nvPr/>
        </p:nvSpPr>
        <p:spPr>
          <a:xfrm>
            <a:off x="8737914" y="20611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778c2bce4_0_0"/>
          <p:cNvSpPr/>
          <p:nvPr/>
        </p:nvSpPr>
        <p:spPr>
          <a:xfrm>
            <a:off x="9231690" y="19772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2" name="Google Shape;332;g3f778c2bce4_0_0"/>
          <p:cNvSpPr/>
          <p:nvPr/>
        </p:nvSpPr>
        <p:spPr>
          <a:xfrm>
            <a:off x="9231690" y="20611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778c2bce4_0_0"/>
          <p:cNvSpPr/>
          <p:nvPr/>
        </p:nvSpPr>
        <p:spPr>
          <a:xfrm>
            <a:off x="9725466" y="19772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4" name="Google Shape;334;g3f778c2bce4_0_0"/>
          <p:cNvSpPr/>
          <p:nvPr/>
        </p:nvSpPr>
        <p:spPr>
          <a:xfrm>
            <a:off x="9725466" y="20611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778c2bce4_0_0"/>
          <p:cNvSpPr/>
          <p:nvPr/>
        </p:nvSpPr>
        <p:spPr>
          <a:xfrm>
            <a:off x="10219242" y="19772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6" name="Google Shape;336;g3f778c2bce4_0_0"/>
          <p:cNvSpPr/>
          <p:nvPr/>
        </p:nvSpPr>
        <p:spPr>
          <a:xfrm>
            <a:off x="10219242" y="20611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778c2bce4_0_0"/>
          <p:cNvSpPr/>
          <p:nvPr/>
        </p:nvSpPr>
        <p:spPr>
          <a:xfrm>
            <a:off x="7898495" y="2554939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f778c2bce4_0_0"/>
          <p:cNvSpPr/>
          <p:nvPr/>
        </p:nvSpPr>
        <p:spPr>
          <a:xfrm>
            <a:off x="8244138" y="24709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9" name="Google Shape;339;g3f778c2bce4_0_0"/>
          <p:cNvSpPr/>
          <p:nvPr/>
        </p:nvSpPr>
        <p:spPr>
          <a:xfrm>
            <a:off x="8244138" y="25549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f778c2bce4_0_0"/>
          <p:cNvSpPr/>
          <p:nvPr/>
        </p:nvSpPr>
        <p:spPr>
          <a:xfrm>
            <a:off x="8737914" y="24709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" name="Google Shape;341;g3f778c2bce4_0_0"/>
          <p:cNvSpPr/>
          <p:nvPr/>
        </p:nvSpPr>
        <p:spPr>
          <a:xfrm>
            <a:off x="8737914" y="25549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778c2bce4_0_0"/>
          <p:cNvSpPr/>
          <p:nvPr/>
        </p:nvSpPr>
        <p:spPr>
          <a:xfrm>
            <a:off x="9231690" y="24709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g3f778c2bce4_0_0"/>
          <p:cNvSpPr/>
          <p:nvPr/>
        </p:nvSpPr>
        <p:spPr>
          <a:xfrm>
            <a:off x="9231690" y="25549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f778c2bce4_0_0"/>
          <p:cNvSpPr/>
          <p:nvPr/>
        </p:nvSpPr>
        <p:spPr>
          <a:xfrm>
            <a:off x="9725466" y="24709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g3f778c2bce4_0_0"/>
          <p:cNvSpPr/>
          <p:nvPr/>
        </p:nvSpPr>
        <p:spPr>
          <a:xfrm>
            <a:off x="9725466" y="25549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778c2bce4_0_0"/>
          <p:cNvSpPr/>
          <p:nvPr/>
        </p:nvSpPr>
        <p:spPr>
          <a:xfrm>
            <a:off x="10219242" y="24709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" name="Google Shape;347;g3f778c2bce4_0_0"/>
          <p:cNvSpPr/>
          <p:nvPr/>
        </p:nvSpPr>
        <p:spPr>
          <a:xfrm>
            <a:off x="10219242" y="25549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f778c2bce4_0_0"/>
          <p:cNvSpPr/>
          <p:nvPr/>
        </p:nvSpPr>
        <p:spPr>
          <a:xfrm>
            <a:off x="7898495" y="3048715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f778c2bce4_0_0"/>
          <p:cNvSpPr/>
          <p:nvPr/>
        </p:nvSpPr>
        <p:spPr>
          <a:xfrm>
            <a:off x="8244138" y="29647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0" name="Google Shape;350;g3f778c2bce4_0_0"/>
          <p:cNvSpPr/>
          <p:nvPr/>
        </p:nvSpPr>
        <p:spPr>
          <a:xfrm>
            <a:off x="8244138" y="30487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f778c2bce4_0_0"/>
          <p:cNvSpPr/>
          <p:nvPr/>
        </p:nvSpPr>
        <p:spPr>
          <a:xfrm>
            <a:off x="8737914" y="29647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2" name="Google Shape;352;g3f778c2bce4_0_0"/>
          <p:cNvSpPr/>
          <p:nvPr/>
        </p:nvSpPr>
        <p:spPr>
          <a:xfrm>
            <a:off x="8737914" y="30487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f778c2bce4_0_0"/>
          <p:cNvSpPr/>
          <p:nvPr/>
        </p:nvSpPr>
        <p:spPr>
          <a:xfrm>
            <a:off x="9231690" y="29647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4" name="Google Shape;354;g3f778c2bce4_0_0"/>
          <p:cNvSpPr/>
          <p:nvPr/>
        </p:nvSpPr>
        <p:spPr>
          <a:xfrm>
            <a:off x="9231690" y="30487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f778c2bce4_0_0"/>
          <p:cNvSpPr/>
          <p:nvPr/>
        </p:nvSpPr>
        <p:spPr>
          <a:xfrm>
            <a:off x="9725466" y="29647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6" name="Google Shape;356;g3f778c2bce4_0_0"/>
          <p:cNvSpPr/>
          <p:nvPr/>
        </p:nvSpPr>
        <p:spPr>
          <a:xfrm>
            <a:off x="9725466" y="30487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778c2bce4_0_0"/>
          <p:cNvSpPr/>
          <p:nvPr/>
        </p:nvSpPr>
        <p:spPr>
          <a:xfrm>
            <a:off x="10219242" y="29647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8" name="Google Shape;358;g3f778c2bce4_0_0"/>
          <p:cNvSpPr/>
          <p:nvPr/>
        </p:nvSpPr>
        <p:spPr>
          <a:xfrm>
            <a:off x="10219242" y="30487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778c2bce4_0_0"/>
          <p:cNvSpPr/>
          <p:nvPr/>
        </p:nvSpPr>
        <p:spPr>
          <a:xfrm>
            <a:off x="7898495" y="3542491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f778c2bce4_0_0"/>
          <p:cNvSpPr/>
          <p:nvPr/>
        </p:nvSpPr>
        <p:spPr>
          <a:xfrm>
            <a:off x="8244138" y="34585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1" name="Google Shape;361;g3f778c2bce4_0_0"/>
          <p:cNvSpPr/>
          <p:nvPr/>
        </p:nvSpPr>
        <p:spPr>
          <a:xfrm>
            <a:off x="8244138" y="35424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f778c2bce4_0_0"/>
          <p:cNvSpPr/>
          <p:nvPr/>
        </p:nvSpPr>
        <p:spPr>
          <a:xfrm>
            <a:off x="8737914" y="34585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3" name="Google Shape;363;g3f778c2bce4_0_0"/>
          <p:cNvSpPr/>
          <p:nvPr/>
        </p:nvSpPr>
        <p:spPr>
          <a:xfrm>
            <a:off x="8737914" y="35424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778c2bce4_0_0"/>
          <p:cNvSpPr/>
          <p:nvPr/>
        </p:nvSpPr>
        <p:spPr>
          <a:xfrm>
            <a:off x="9231690" y="34585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5" name="Google Shape;365;g3f778c2bce4_0_0"/>
          <p:cNvSpPr/>
          <p:nvPr/>
        </p:nvSpPr>
        <p:spPr>
          <a:xfrm>
            <a:off x="9231690" y="35424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778c2bce4_0_0"/>
          <p:cNvSpPr/>
          <p:nvPr/>
        </p:nvSpPr>
        <p:spPr>
          <a:xfrm>
            <a:off x="9725466" y="34585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7" name="Google Shape;367;g3f778c2bce4_0_0"/>
          <p:cNvSpPr/>
          <p:nvPr/>
        </p:nvSpPr>
        <p:spPr>
          <a:xfrm>
            <a:off x="9725466" y="35424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f778c2bce4_0_0"/>
          <p:cNvSpPr/>
          <p:nvPr/>
        </p:nvSpPr>
        <p:spPr>
          <a:xfrm>
            <a:off x="10219242" y="34585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9" name="Google Shape;369;g3f778c2bce4_0_0"/>
          <p:cNvSpPr/>
          <p:nvPr/>
        </p:nvSpPr>
        <p:spPr>
          <a:xfrm>
            <a:off x="10219242" y="35424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Directed Unweighted Graph (2)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530352" y="777240"/>
            <a:ext cx="1115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Some pairs are bidirectional, while some edges are one-way.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6"/>
          <p:cNvCxnSpPr/>
          <p:nvPr/>
        </p:nvCxnSpPr>
        <p:spPr>
          <a:xfrm flipH="1" rot="10800000">
            <a:off x="1527091" y="2023805"/>
            <a:ext cx="1207693" cy="71040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6"/>
          <p:cNvCxnSpPr/>
          <p:nvPr/>
        </p:nvCxnSpPr>
        <p:spPr>
          <a:xfrm>
            <a:off x="1525862" y="2810736"/>
            <a:ext cx="2114637" cy="23068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0" name="Google Shape;380;p6"/>
          <p:cNvCxnSpPr/>
          <p:nvPr/>
        </p:nvCxnSpPr>
        <p:spPr>
          <a:xfrm flipH="1">
            <a:off x="1471456" y="1929227"/>
            <a:ext cx="1207693" cy="71040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1" name="Google Shape;381;p6"/>
          <p:cNvCxnSpPr/>
          <p:nvPr/>
        </p:nvCxnSpPr>
        <p:spPr>
          <a:xfrm>
            <a:off x="2964080" y="2065490"/>
            <a:ext cx="707317" cy="87572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p6"/>
          <p:cNvCxnSpPr/>
          <p:nvPr/>
        </p:nvCxnSpPr>
        <p:spPr>
          <a:xfrm flipH="1">
            <a:off x="2209057" y="2066464"/>
            <a:ext cx="611085" cy="1947833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" name="Google Shape;383;p6"/>
          <p:cNvCxnSpPr/>
          <p:nvPr/>
        </p:nvCxnSpPr>
        <p:spPr>
          <a:xfrm rot="10800000">
            <a:off x="3049443" y="1996544"/>
            <a:ext cx="707317" cy="87572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" name="Google Shape;384;p6"/>
          <p:cNvCxnSpPr/>
          <p:nvPr/>
        </p:nvCxnSpPr>
        <p:spPr>
          <a:xfrm flipH="1" rot="10800000">
            <a:off x="2315526" y="3175866"/>
            <a:ext cx="1358269" cy="91774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5" name="Google Shape;385;p6"/>
          <p:cNvCxnSpPr/>
          <p:nvPr/>
        </p:nvCxnSpPr>
        <p:spPr>
          <a:xfrm>
            <a:off x="2344002" y="4255030"/>
            <a:ext cx="1438477" cy="35961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6" name="Google Shape;386;p6"/>
          <p:cNvCxnSpPr/>
          <p:nvPr/>
        </p:nvCxnSpPr>
        <p:spPr>
          <a:xfrm rot="10800000">
            <a:off x="1490150" y="2905042"/>
            <a:ext cx="2323221" cy="1642277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7" name="Google Shape;387;p6"/>
          <p:cNvCxnSpPr/>
          <p:nvPr/>
        </p:nvCxnSpPr>
        <p:spPr>
          <a:xfrm rot="10800000">
            <a:off x="3857660" y="3263673"/>
            <a:ext cx="102800" cy="119933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" name="Google Shape;388;p6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6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6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06" name="Google Shape;406;p6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08" name="Google Shape;408;p6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10" name="Google Shape;410;p6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6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12" name="Google Shape;412;p6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14" name="Google Shape;414;p6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6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17" name="Google Shape;417;p6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19" name="Google Shape;419;p6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21" name="Google Shape;421;p6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23" name="Google Shape;423;p6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25" name="Google Shape;425;p6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6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28" name="Google Shape;428;p6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6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0" name="Google Shape;430;p6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2" name="Google Shape;432;p6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6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4" name="Google Shape;434;p6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6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6" name="Google Shape;436;p6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6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9" name="Google Shape;439;p6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1" name="Google Shape;441;p6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6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3" name="Google Shape;443;p6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5" name="Google Shape;445;p6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7" name="Google Shape;447;p6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0" name="Google Shape;450;p6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2" name="Google Shape;452;p6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4" name="Google Shape;454;p6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6" name="Google Shape;456;p6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8" name="Google Shape;458;p6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"/>
          <p:cNvSpPr/>
          <p:nvPr/>
        </p:nvSpPr>
        <p:spPr>
          <a:xfrm>
            <a:off x="6144775" y="4562851"/>
            <a:ext cx="4892100" cy="2094300"/>
          </a:xfrm>
          <a:prstGeom prst="roundRect">
            <a:avLst>
              <a:gd fmla="val 6957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0" name="Google Shape;460;p6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"/>
          <p:cNvSpPr/>
          <p:nvPr/>
        </p:nvSpPr>
        <p:spPr>
          <a:xfrm>
            <a:off x="6281925" y="5120650"/>
            <a:ext cx="46176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matrix is not symmetric.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b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A[4][0] = 1 but A[0][4] = 0.</a:t>
            </a:r>
            <a:b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50">
                <a:solidFill>
                  <a:schemeClr val="dk1"/>
                </a:solidFill>
              </a:rPr>
              <a:t>A[3][2] = 1 but A[2][3] = 0.</a:t>
            </a:r>
            <a:br>
              <a:rPr lang="en-US" sz="1550">
                <a:solidFill>
                  <a:schemeClr val="dk1"/>
                </a:solidFill>
              </a:rPr>
            </a:br>
            <a:r>
              <a:rPr lang="en-US" sz="1550">
                <a:solidFill>
                  <a:schemeClr val="dk1"/>
                </a:solidFill>
              </a:rPr>
              <a:t>A[4][2] = 1 but A[2][4] = 0.</a:t>
            </a:r>
            <a:br>
              <a:rPr lang="en-US" sz="1550">
                <a:solidFill>
                  <a:schemeClr val="dk1"/>
                </a:solidFill>
              </a:rPr>
            </a:br>
            <a:r>
              <a:rPr lang="en-US" sz="1550">
                <a:solidFill>
                  <a:schemeClr val="dk1"/>
                </a:solidFill>
              </a:rPr>
              <a:t>A[1][3] = 1 but A[3][1] = 0.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Unweighted Matrix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530350" y="777250"/>
            <a:ext cx="1157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Only source -&gt; destination is stored.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606325" y="1231075"/>
            <a:ext cx="6779400" cy="53034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7"/>
          <p:cNvSpPr/>
          <p:nvPr/>
        </p:nvSpPr>
        <p:spPr>
          <a:xfrm>
            <a:off x="719316" y="1304227"/>
            <a:ext cx="6553500" cy="51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GraphDirectedUnweightedMatrix {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GraphDirectedUnweightedMatrix(int numVertices) {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b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1" i="0" lang="en-US" sz="15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1" i="0" sz="1570" u="none" cap="none" strike="noStrike">
              <a:solidFill>
                <a:srgbClr val="00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1" i="0" lang="en-US" sz="15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1" i="0" sz="1570" u="none" cap="none" strike="noStrike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t/>
            </a:r>
            <a:endParaRPr sz="15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6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    // For DIRECTED graph:</a:t>
            </a:r>
            <a:endParaRPr b="1" sz="16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1" lang="en-US" sz="16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    // Add edge in only ONE direction</a:t>
            </a:r>
            <a:endParaRPr b="0" i="0" sz="1870" u="none" cap="none" strike="noStrike">
              <a:solidFill>
                <a:srgbClr val="0B7A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i="0" lang="en-US" sz="157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adjMatrix[source][destination] = 1;</a:t>
            </a:r>
            <a:endParaRPr b="1" i="0" sz="1570" u="none" cap="none" strike="noStrike">
              <a:solidFill>
                <a:srgbClr val="99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5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7572225" y="3640925"/>
            <a:ext cx="4299900" cy="30261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73" name="Google Shape;473;p7"/>
          <p:cNvSpPr/>
          <p:nvPr/>
        </p:nvSpPr>
        <p:spPr>
          <a:xfrm>
            <a:off x="7686100" y="3640925"/>
            <a:ext cx="4223700" cy="28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{0,1}, {0,2},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{1,0}, {1,2}, {1,3},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{2,1},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{3,2}, {3,4},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{4,0}, {4,2}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GraphDirectedUnweightedMatrix graph =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new GraphDirectedUnweightedMatrix(5);</a:t>
            </a:r>
            <a:b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sz="13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4" name="Google Shape;474;p7"/>
          <p:cNvCxnSpPr/>
          <p:nvPr/>
        </p:nvCxnSpPr>
        <p:spPr>
          <a:xfrm flipH="1" rot="10800000">
            <a:off x="8277366" y="643063"/>
            <a:ext cx="1207800" cy="710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5" name="Google Shape;475;p7"/>
          <p:cNvCxnSpPr/>
          <p:nvPr/>
        </p:nvCxnSpPr>
        <p:spPr>
          <a:xfrm>
            <a:off x="8276137" y="1429986"/>
            <a:ext cx="2114700" cy="2307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7"/>
          <p:cNvCxnSpPr/>
          <p:nvPr/>
        </p:nvCxnSpPr>
        <p:spPr>
          <a:xfrm flipH="1">
            <a:off x="8221624" y="548477"/>
            <a:ext cx="1207800" cy="710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7"/>
          <p:cNvCxnSpPr/>
          <p:nvPr/>
        </p:nvCxnSpPr>
        <p:spPr>
          <a:xfrm>
            <a:off x="9714355" y="684740"/>
            <a:ext cx="707400" cy="8757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8" name="Google Shape;478;p7"/>
          <p:cNvCxnSpPr/>
          <p:nvPr/>
        </p:nvCxnSpPr>
        <p:spPr>
          <a:xfrm flipH="1">
            <a:off x="8959317" y="685714"/>
            <a:ext cx="611100" cy="19479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7"/>
          <p:cNvCxnSpPr/>
          <p:nvPr/>
        </p:nvCxnSpPr>
        <p:spPr>
          <a:xfrm rot="10800000">
            <a:off x="9799635" y="615820"/>
            <a:ext cx="707400" cy="8757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7"/>
          <p:cNvCxnSpPr/>
          <p:nvPr/>
        </p:nvCxnSpPr>
        <p:spPr>
          <a:xfrm flipH="1" rot="10800000">
            <a:off x="9065801" y="1795165"/>
            <a:ext cx="1358400" cy="9177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7"/>
          <p:cNvCxnSpPr/>
          <p:nvPr/>
        </p:nvCxnSpPr>
        <p:spPr>
          <a:xfrm>
            <a:off x="9094277" y="2874280"/>
            <a:ext cx="1438500" cy="3597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7"/>
          <p:cNvCxnSpPr/>
          <p:nvPr/>
        </p:nvCxnSpPr>
        <p:spPr>
          <a:xfrm rot="10800000">
            <a:off x="8240446" y="1524369"/>
            <a:ext cx="2323200" cy="16422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7"/>
          <p:cNvCxnSpPr/>
          <p:nvPr/>
        </p:nvCxnSpPr>
        <p:spPr>
          <a:xfrm rot="10800000">
            <a:off x="10607835" y="1882857"/>
            <a:ext cx="102900" cy="1199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7"/>
          <p:cNvSpPr/>
          <p:nvPr/>
        </p:nvSpPr>
        <p:spPr>
          <a:xfrm>
            <a:off x="7874987" y="120700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"/>
          <p:cNvSpPr/>
          <p:nvPr/>
        </p:nvSpPr>
        <p:spPr>
          <a:xfrm>
            <a:off x="7966427" y="130758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7"/>
          <p:cNvSpPr/>
          <p:nvPr/>
        </p:nvSpPr>
        <p:spPr>
          <a:xfrm>
            <a:off x="9429467" y="29260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"/>
          <p:cNvSpPr/>
          <p:nvPr/>
        </p:nvSpPr>
        <p:spPr>
          <a:xfrm>
            <a:off x="9520907" y="39318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7"/>
          <p:cNvSpPr/>
          <p:nvPr/>
        </p:nvSpPr>
        <p:spPr>
          <a:xfrm>
            <a:off x="10389587" y="148132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7"/>
          <p:cNvSpPr/>
          <p:nvPr/>
        </p:nvSpPr>
        <p:spPr>
          <a:xfrm>
            <a:off x="10481027" y="158190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"/>
          <p:cNvSpPr/>
          <p:nvPr/>
        </p:nvSpPr>
        <p:spPr>
          <a:xfrm>
            <a:off x="8697947" y="262432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7"/>
          <p:cNvSpPr/>
          <p:nvPr/>
        </p:nvSpPr>
        <p:spPr>
          <a:xfrm>
            <a:off x="8789387" y="272490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"/>
          <p:cNvSpPr/>
          <p:nvPr/>
        </p:nvSpPr>
        <p:spPr>
          <a:xfrm>
            <a:off x="10526747" y="308152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7"/>
          <p:cNvSpPr/>
          <p:nvPr/>
        </p:nvSpPr>
        <p:spPr>
          <a:xfrm>
            <a:off x="10618187" y="318210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7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778c2bce4_1_0"/>
          <p:cNvSpPr/>
          <p:nvPr/>
        </p:nvSpPr>
        <p:spPr>
          <a:xfrm>
            <a:off x="502920" y="292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Unweighted Matrix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778c2bce4_1_0"/>
          <p:cNvSpPr/>
          <p:nvPr/>
        </p:nvSpPr>
        <p:spPr>
          <a:xfrm>
            <a:off x="530350" y="777250"/>
            <a:ext cx="1157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Only source -&gt; destination is stored.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778c2bce4_1_0"/>
          <p:cNvSpPr/>
          <p:nvPr/>
        </p:nvSpPr>
        <p:spPr>
          <a:xfrm>
            <a:off x="396125" y="1051550"/>
            <a:ext cx="7061400" cy="54978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f778c2bce4_1_0"/>
          <p:cNvSpPr/>
          <p:nvPr/>
        </p:nvSpPr>
        <p:spPr>
          <a:xfrm>
            <a:off x="513825" y="1124700"/>
            <a:ext cx="6825900" cy="54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GraphDirectedUnweightedMatrix 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</a:t>
            </a:r>
            <a:r>
              <a:rPr b="1" i="0" lang="en-US" sz="14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vertex</a:t>
            </a: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i++){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</a:t>
            </a:r>
            <a:r>
              <a:rPr b="1" i="0" lang="en-US" sz="147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vertex</a:t>
            </a: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i="0" lang="en-US" sz="147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== 1)</a:t>
            </a: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 Columns changing </a:t>
            </a:r>
            <a:b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System.out.print(i + " "); </a:t>
            </a:r>
            <a:r>
              <a:rPr b="1" i="0" lang="en-US" sz="147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//print neighbor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b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lang="en-US" sz="14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7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14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778c2bce4_1_0"/>
          <p:cNvSpPr/>
          <p:nvPr/>
        </p:nvSpPr>
        <p:spPr>
          <a:xfrm>
            <a:off x="7667975" y="4335098"/>
            <a:ext cx="4299900" cy="11112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04" name="Google Shape;504;g3f778c2bce4_1_0"/>
          <p:cNvSpPr/>
          <p:nvPr/>
        </p:nvSpPr>
        <p:spPr>
          <a:xfrm>
            <a:off x="7781850" y="4395175"/>
            <a:ext cx="44097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(2);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1</a:t>
            </a:r>
            <a:endParaRPr sz="11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5" name="Google Shape;505;g3f778c2bce4_1_0"/>
          <p:cNvSpPr/>
          <p:nvPr/>
        </p:nvSpPr>
        <p:spPr>
          <a:xfrm>
            <a:off x="7541375" y="5660125"/>
            <a:ext cx="4568700" cy="749700"/>
          </a:xfrm>
          <a:prstGeom prst="roundRect">
            <a:avLst>
              <a:gd fmla="val 9756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06" name="Google Shape;506;g3f778c2bce4_1_0"/>
          <p:cNvSpPr/>
          <p:nvPr/>
        </p:nvSpPr>
        <p:spPr>
          <a:xfrm>
            <a:off x="7886270" y="5769864"/>
            <a:ext cx="393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Neighbor meaning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f778c2bce4_1_0"/>
          <p:cNvSpPr/>
          <p:nvPr/>
        </p:nvSpPr>
        <p:spPr>
          <a:xfrm>
            <a:off x="7695377" y="6071605"/>
            <a:ext cx="426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Neighbors of u = vertices reachable from row u.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f778c2bce4_1_0"/>
          <p:cNvSpPr txBox="1"/>
          <p:nvPr>
            <p:ph idx="4294967295" type="sldNum"/>
          </p:nvPr>
        </p:nvSpPr>
        <p:spPr>
          <a:xfrm>
            <a:off x="11891687" y="6446525"/>
            <a:ext cx="830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f778c2bce4_1_0"/>
          <p:cNvSpPr/>
          <p:nvPr/>
        </p:nvSpPr>
        <p:spPr>
          <a:xfrm>
            <a:off x="8567050" y="103316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f778c2bce4_1_0"/>
          <p:cNvSpPr/>
          <p:nvPr/>
        </p:nvSpPr>
        <p:spPr>
          <a:xfrm>
            <a:off x="9060826" y="103316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778c2bce4_1_0"/>
          <p:cNvSpPr/>
          <p:nvPr/>
        </p:nvSpPr>
        <p:spPr>
          <a:xfrm>
            <a:off x="9554602" y="103316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778c2bce4_1_0"/>
          <p:cNvSpPr/>
          <p:nvPr/>
        </p:nvSpPr>
        <p:spPr>
          <a:xfrm>
            <a:off x="10048378" y="103316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f778c2bce4_1_0"/>
          <p:cNvSpPr/>
          <p:nvPr/>
        </p:nvSpPr>
        <p:spPr>
          <a:xfrm>
            <a:off x="10542154" y="103316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f778c2bce4_1_0"/>
          <p:cNvSpPr/>
          <p:nvPr/>
        </p:nvSpPr>
        <p:spPr>
          <a:xfrm>
            <a:off x="8221407" y="1536812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f778c2bce4_1_0"/>
          <p:cNvSpPr/>
          <p:nvPr/>
        </p:nvSpPr>
        <p:spPr>
          <a:xfrm>
            <a:off x="8567050" y="145287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16" name="Google Shape;516;g3f778c2bce4_1_0"/>
          <p:cNvSpPr/>
          <p:nvPr/>
        </p:nvSpPr>
        <p:spPr>
          <a:xfrm>
            <a:off x="8567050" y="153681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f778c2bce4_1_0"/>
          <p:cNvSpPr/>
          <p:nvPr/>
        </p:nvSpPr>
        <p:spPr>
          <a:xfrm>
            <a:off x="9060826" y="145287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18" name="Google Shape;518;g3f778c2bce4_1_0"/>
          <p:cNvSpPr/>
          <p:nvPr/>
        </p:nvSpPr>
        <p:spPr>
          <a:xfrm>
            <a:off x="9060826" y="153681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778c2bce4_1_0"/>
          <p:cNvSpPr/>
          <p:nvPr/>
        </p:nvSpPr>
        <p:spPr>
          <a:xfrm>
            <a:off x="9554602" y="145287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0" name="Google Shape;520;g3f778c2bce4_1_0"/>
          <p:cNvSpPr/>
          <p:nvPr/>
        </p:nvSpPr>
        <p:spPr>
          <a:xfrm>
            <a:off x="9554602" y="153681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778c2bce4_1_0"/>
          <p:cNvSpPr/>
          <p:nvPr/>
        </p:nvSpPr>
        <p:spPr>
          <a:xfrm>
            <a:off x="10048378" y="145287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2" name="Google Shape;522;g3f778c2bce4_1_0"/>
          <p:cNvSpPr/>
          <p:nvPr/>
        </p:nvSpPr>
        <p:spPr>
          <a:xfrm>
            <a:off x="10048378" y="153681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778c2bce4_1_0"/>
          <p:cNvSpPr/>
          <p:nvPr/>
        </p:nvSpPr>
        <p:spPr>
          <a:xfrm>
            <a:off x="10542154" y="145287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4" name="Google Shape;524;g3f778c2bce4_1_0"/>
          <p:cNvSpPr/>
          <p:nvPr/>
        </p:nvSpPr>
        <p:spPr>
          <a:xfrm>
            <a:off x="10542154" y="153681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778c2bce4_1_0"/>
          <p:cNvSpPr/>
          <p:nvPr/>
        </p:nvSpPr>
        <p:spPr>
          <a:xfrm>
            <a:off x="8221407" y="2030588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778c2bce4_1_0"/>
          <p:cNvSpPr/>
          <p:nvPr/>
        </p:nvSpPr>
        <p:spPr>
          <a:xfrm>
            <a:off x="8567050" y="194664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7" name="Google Shape;527;g3f778c2bce4_1_0"/>
          <p:cNvSpPr/>
          <p:nvPr/>
        </p:nvSpPr>
        <p:spPr>
          <a:xfrm>
            <a:off x="8567050" y="203058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778c2bce4_1_0"/>
          <p:cNvSpPr/>
          <p:nvPr/>
        </p:nvSpPr>
        <p:spPr>
          <a:xfrm>
            <a:off x="9060826" y="194664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9" name="Google Shape;529;g3f778c2bce4_1_0"/>
          <p:cNvSpPr/>
          <p:nvPr/>
        </p:nvSpPr>
        <p:spPr>
          <a:xfrm>
            <a:off x="9060826" y="203058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778c2bce4_1_0"/>
          <p:cNvSpPr/>
          <p:nvPr/>
        </p:nvSpPr>
        <p:spPr>
          <a:xfrm>
            <a:off x="9554602" y="194664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1" name="Google Shape;531;g3f778c2bce4_1_0"/>
          <p:cNvSpPr/>
          <p:nvPr/>
        </p:nvSpPr>
        <p:spPr>
          <a:xfrm>
            <a:off x="9554602" y="203058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778c2bce4_1_0"/>
          <p:cNvSpPr/>
          <p:nvPr/>
        </p:nvSpPr>
        <p:spPr>
          <a:xfrm>
            <a:off x="10048378" y="194664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3" name="Google Shape;533;g3f778c2bce4_1_0"/>
          <p:cNvSpPr/>
          <p:nvPr/>
        </p:nvSpPr>
        <p:spPr>
          <a:xfrm>
            <a:off x="10048378" y="203058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778c2bce4_1_0"/>
          <p:cNvSpPr/>
          <p:nvPr/>
        </p:nvSpPr>
        <p:spPr>
          <a:xfrm>
            <a:off x="10542154" y="194664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5" name="Google Shape;535;g3f778c2bce4_1_0"/>
          <p:cNvSpPr/>
          <p:nvPr/>
        </p:nvSpPr>
        <p:spPr>
          <a:xfrm>
            <a:off x="10542154" y="203058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778c2bce4_1_0"/>
          <p:cNvSpPr/>
          <p:nvPr/>
        </p:nvSpPr>
        <p:spPr>
          <a:xfrm>
            <a:off x="8221407" y="2524364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778c2bce4_1_0"/>
          <p:cNvSpPr/>
          <p:nvPr/>
        </p:nvSpPr>
        <p:spPr>
          <a:xfrm>
            <a:off x="8567050" y="244042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8" name="Google Shape;538;g3f778c2bce4_1_0"/>
          <p:cNvSpPr/>
          <p:nvPr/>
        </p:nvSpPr>
        <p:spPr>
          <a:xfrm>
            <a:off x="8567050" y="252436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778c2bce4_1_0"/>
          <p:cNvSpPr/>
          <p:nvPr/>
        </p:nvSpPr>
        <p:spPr>
          <a:xfrm>
            <a:off x="9060826" y="244042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0" name="Google Shape;540;g3f778c2bce4_1_0"/>
          <p:cNvSpPr/>
          <p:nvPr/>
        </p:nvSpPr>
        <p:spPr>
          <a:xfrm>
            <a:off x="9060826" y="252436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778c2bce4_1_0"/>
          <p:cNvSpPr/>
          <p:nvPr/>
        </p:nvSpPr>
        <p:spPr>
          <a:xfrm>
            <a:off x="9554602" y="244042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2" name="Google Shape;542;g3f778c2bce4_1_0"/>
          <p:cNvSpPr/>
          <p:nvPr/>
        </p:nvSpPr>
        <p:spPr>
          <a:xfrm>
            <a:off x="9554602" y="252436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f778c2bce4_1_0"/>
          <p:cNvSpPr/>
          <p:nvPr/>
        </p:nvSpPr>
        <p:spPr>
          <a:xfrm>
            <a:off x="10048378" y="244042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4" name="Google Shape;544;g3f778c2bce4_1_0"/>
          <p:cNvSpPr/>
          <p:nvPr/>
        </p:nvSpPr>
        <p:spPr>
          <a:xfrm>
            <a:off x="10048378" y="252436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778c2bce4_1_0"/>
          <p:cNvSpPr/>
          <p:nvPr/>
        </p:nvSpPr>
        <p:spPr>
          <a:xfrm>
            <a:off x="10542154" y="244042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6" name="Google Shape;546;g3f778c2bce4_1_0"/>
          <p:cNvSpPr/>
          <p:nvPr/>
        </p:nvSpPr>
        <p:spPr>
          <a:xfrm>
            <a:off x="10542154" y="252436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f778c2bce4_1_0"/>
          <p:cNvSpPr/>
          <p:nvPr/>
        </p:nvSpPr>
        <p:spPr>
          <a:xfrm>
            <a:off x="8221407" y="3018140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f778c2bce4_1_0"/>
          <p:cNvSpPr/>
          <p:nvPr/>
        </p:nvSpPr>
        <p:spPr>
          <a:xfrm>
            <a:off x="8567050" y="293419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9" name="Google Shape;549;g3f778c2bce4_1_0"/>
          <p:cNvSpPr/>
          <p:nvPr/>
        </p:nvSpPr>
        <p:spPr>
          <a:xfrm>
            <a:off x="8567050" y="301814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778c2bce4_1_0"/>
          <p:cNvSpPr/>
          <p:nvPr/>
        </p:nvSpPr>
        <p:spPr>
          <a:xfrm>
            <a:off x="9060826" y="293419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1" name="Google Shape;551;g3f778c2bce4_1_0"/>
          <p:cNvSpPr/>
          <p:nvPr/>
        </p:nvSpPr>
        <p:spPr>
          <a:xfrm>
            <a:off x="9060826" y="301814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778c2bce4_1_0"/>
          <p:cNvSpPr/>
          <p:nvPr/>
        </p:nvSpPr>
        <p:spPr>
          <a:xfrm>
            <a:off x="9554602" y="293419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3" name="Google Shape;553;g3f778c2bce4_1_0"/>
          <p:cNvSpPr/>
          <p:nvPr/>
        </p:nvSpPr>
        <p:spPr>
          <a:xfrm>
            <a:off x="9554602" y="301814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f778c2bce4_1_0"/>
          <p:cNvSpPr/>
          <p:nvPr/>
        </p:nvSpPr>
        <p:spPr>
          <a:xfrm>
            <a:off x="10048378" y="293419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5" name="Google Shape;555;g3f778c2bce4_1_0"/>
          <p:cNvSpPr/>
          <p:nvPr/>
        </p:nvSpPr>
        <p:spPr>
          <a:xfrm>
            <a:off x="10048378" y="301814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f778c2bce4_1_0"/>
          <p:cNvSpPr/>
          <p:nvPr/>
        </p:nvSpPr>
        <p:spPr>
          <a:xfrm>
            <a:off x="10542154" y="293419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7" name="Google Shape;557;g3f778c2bce4_1_0"/>
          <p:cNvSpPr/>
          <p:nvPr/>
        </p:nvSpPr>
        <p:spPr>
          <a:xfrm>
            <a:off x="10542154" y="301814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f778c2bce4_1_0"/>
          <p:cNvSpPr/>
          <p:nvPr/>
        </p:nvSpPr>
        <p:spPr>
          <a:xfrm>
            <a:off x="8221407" y="3511916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778c2bce4_1_0"/>
          <p:cNvSpPr/>
          <p:nvPr/>
        </p:nvSpPr>
        <p:spPr>
          <a:xfrm>
            <a:off x="8567050" y="342797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0" name="Google Shape;560;g3f778c2bce4_1_0"/>
          <p:cNvSpPr/>
          <p:nvPr/>
        </p:nvSpPr>
        <p:spPr>
          <a:xfrm>
            <a:off x="8567050" y="351191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f778c2bce4_1_0"/>
          <p:cNvSpPr/>
          <p:nvPr/>
        </p:nvSpPr>
        <p:spPr>
          <a:xfrm>
            <a:off x="9060826" y="342797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2" name="Google Shape;562;g3f778c2bce4_1_0"/>
          <p:cNvSpPr/>
          <p:nvPr/>
        </p:nvSpPr>
        <p:spPr>
          <a:xfrm>
            <a:off x="9060826" y="351191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f778c2bce4_1_0"/>
          <p:cNvSpPr/>
          <p:nvPr/>
        </p:nvSpPr>
        <p:spPr>
          <a:xfrm>
            <a:off x="9554602" y="342797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4" name="Google Shape;564;g3f778c2bce4_1_0"/>
          <p:cNvSpPr/>
          <p:nvPr/>
        </p:nvSpPr>
        <p:spPr>
          <a:xfrm>
            <a:off x="9554602" y="351191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f778c2bce4_1_0"/>
          <p:cNvSpPr/>
          <p:nvPr/>
        </p:nvSpPr>
        <p:spPr>
          <a:xfrm>
            <a:off x="10048378" y="342797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6" name="Google Shape;566;g3f778c2bce4_1_0"/>
          <p:cNvSpPr/>
          <p:nvPr/>
        </p:nvSpPr>
        <p:spPr>
          <a:xfrm>
            <a:off x="10048378" y="351191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f778c2bce4_1_0"/>
          <p:cNvSpPr/>
          <p:nvPr/>
        </p:nvSpPr>
        <p:spPr>
          <a:xfrm>
            <a:off x="10542154" y="342797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8" name="Google Shape;568;g3f778c2bce4_1_0"/>
          <p:cNvSpPr/>
          <p:nvPr/>
        </p:nvSpPr>
        <p:spPr>
          <a:xfrm>
            <a:off x="10542154" y="351191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Directed Weighted Graph (3)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Nonzero values store edge weights, not just 1.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8"/>
          <p:cNvSpPr/>
          <p:nvPr/>
        </p:nvSpPr>
        <p:spPr>
          <a:xfrm>
            <a:off x="944790" y="1248155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8"/>
          <p:cNvCxnSpPr/>
          <p:nvPr/>
        </p:nvCxnSpPr>
        <p:spPr>
          <a:xfrm flipH="1" rot="10800000">
            <a:off x="1907503" y="2715916"/>
            <a:ext cx="1000800" cy="4203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8" name="Google Shape;578;p8"/>
          <p:cNvSpPr/>
          <p:nvPr/>
        </p:nvSpPr>
        <p:spPr>
          <a:xfrm>
            <a:off x="2298102" y="2834639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8"/>
          <p:cNvSpPr/>
          <p:nvPr/>
        </p:nvSpPr>
        <p:spPr>
          <a:xfrm>
            <a:off x="2298102" y="284378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8"/>
          <p:cNvCxnSpPr/>
          <p:nvPr/>
        </p:nvCxnSpPr>
        <p:spPr>
          <a:xfrm>
            <a:off x="1898999" y="3309774"/>
            <a:ext cx="1337700" cy="723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1" name="Google Shape;581;p8"/>
          <p:cNvSpPr/>
          <p:nvPr/>
        </p:nvSpPr>
        <p:spPr>
          <a:xfrm>
            <a:off x="2458122" y="3579875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8"/>
          <p:cNvSpPr/>
          <p:nvPr/>
        </p:nvSpPr>
        <p:spPr>
          <a:xfrm>
            <a:off x="2458122" y="3589019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8"/>
          <p:cNvCxnSpPr/>
          <p:nvPr/>
        </p:nvCxnSpPr>
        <p:spPr>
          <a:xfrm>
            <a:off x="3272474" y="2730148"/>
            <a:ext cx="1471200" cy="7575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4" name="Google Shape;584;p8"/>
          <p:cNvSpPr/>
          <p:nvPr/>
        </p:nvSpPr>
        <p:spPr>
          <a:xfrm>
            <a:off x="3898302" y="3017519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8"/>
          <p:cNvSpPr/>
          <p:nvPr/>
        </p:nvSpPr>
        <p:spPr>
          <a:xfrm>
            <a:off x="3898302" y="302666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8"/>
          <p:cNvCxnSpPr/>
          <p:nvPr/>
        </p:nvCxnSpPr>
        <p:spPr>
          <a:xfrm flipH="1" rot="10800000">
            <a:off x="3284351" y="2226659"/>
            <a:ext cx="1035900" cy="347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7" name="Google Shape;587;p8"/>
          <p:cNvSpPr/>
          <p:nvPr/>
        </p:nvSpPr>
        <p:spPr>
          <a:xfrm>
            <a:off x="3692562" y="2308859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8"/>
          <p:cNvSpPr/>
          <p:nvPr/>
        </p:nvSpPr>
        <p:spPr>
          <a:xfrm>
            <a:off x="3692562" y="231800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8"/>
          <p:cNvCxnSpPr/>
          <p:nvPr/>
        </p:nvCxnSpPr>
        <p:spPr>
          <a:xfrm flipH="1" rot="10800000">
            <a:off x="3602726" y="3648767"/>
            <a:ext cx="1130700" cy="411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0" name="Google Shape;590;p8"/>
          <p:cNvSpPr/>
          <p:nvPr/>
        </p:nvSpPr>
        <p:spPr>
          <a:xfrm>
            <a:off x="4058322" y="3762755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"/>
          <p:cNvSpPr/>
          <p:nvPr/>
        </p:nvSpPr>
        <p:spPr>
          <a:xfrm>
            <a:off x="4058322" y="3771899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8"/>
          <p:cNvSpPr/>
          <p:nvPr/>
        </p:nvSpPr>
        <p:spPr>
          <a:xfrm>
            <a:off x="1520862" y="301294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8"/>
          <p:cNvSpPr/>
          <p:nvPr/>
        </p:nvSpPr>
        <p:spPr>
          <a:xfrm>
            <a:off x="1612302" y="311353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8"/>
          <p:cNvSpPr/>
          <p:nvPr/>
        </p:nvSpPr>
        <p:spPr>
          <a:xfrm>
            <a:off x="2892462" y="2436875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"/>
          <p:cNvSpPr/>
          <p:nvPr/>
        </p:nvSpPr>
        <p:spPr>
          <a:xfrm>
            <a:off x="2983902" y="2537459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8"/>
          <p:cNvSpPr/>
          <p:nvPr/>
        </p:nvSpPr>
        <p:spPr>
          <a:xfrm>
            <a:off x="3212502" y="392734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"/>
          <p:cNvSpPr/>
          <p:nvPr/>
        </p:nvSpPr>
        <p:spPr>
          <a:xfrm>
            <a:off x="3303942" y="402793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"/>
          <p:cNvSpPr/>
          <p:nvPr/>
        </p:nvSpPr>
        <p:spPr>
          <a:xfrm>
            <a:off x="4721262" y="337870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8"/>
          <p:cNvSpPr/>
          <p:nvPr/>
        </p:nvSpPr>
        <p:spPr>
          <a:xfrm>
            <a:off x="4812702" y="347929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8"/>
          <p:cNvSpPr/>
          <p:nvPr/>
        </p:nvSpPr>
        <p:spPr>
          <a:xfrm>
            <a:off x="4309782" y="196138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01" name="Google Shape;601;p8"/>
          <p:cNvSpPr/>
          <p:nvPr/>
        </p:nvSpPr>
        <p:spPr>
          <a:xfrm>
            <a:off x="4401222" y="206197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8"/>
          <p:cNvSpPr/>
          <p:nvPr/>
        </p:nvSpPr>
        <p:spPr>
          <a:xfrm>
            <a:off x="6522630" y="1248155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21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8"/>
          <p:cNvSpPr/>
          <p:nvPr/>
        </p:nvSpPr>
        <p:spPr>
          <a:xfrm>
            <a:off x="6796950" y="16056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8"/>
          <p:cNvSpPr/>
          <p:nvPr/>
        </p:nvSpPr>
        <p:spPr>
          <a:xfrm>
            <a:off x="7290726" y="16056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"/>
          <p:cNvSpPr/>
          <p:nvPr/>
        </p:nvSpPr>
        <p:spPr>
          <a:xfrm>
            <a:off x="7784502" y="16056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8"/>
          <p:cNvSpPr/>
          <p:nvPr/>
        </p:nvSpPr>
        <p:spPr>
          <a:xfrm>
            <a:off x="8278278" y="16056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"/>
          <p:cNvSpPr/>
          <p:nvPr/>
        </p:nvSpPr>
        <p:spPr>
          <a:xfrm>
            <a:off x="8772054" y="16056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"/>
          <p:cNvSpPr/>
          <p:nvPr/>
        </p:nvSpPr>
        <p:spPr>
          <a:xfrm>
            <a:off x="6451307" y="2109337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8"/>
          <p:cNvSpPr/>
          <p:nvPr/>
        </p:nvSpPr>
        <p:spPr>
          <a:xfrm>
            <a:off x="6796950" y="20253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0" name="Google Shape;610;p8"/>
          <p:cNvSpPr/>
          <p:nvPr/>
        </p:nvSpPr>
        <p:spPr>
          <a:xfrm>
            <a:off x="6796950" y="21093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"/>
          <p:cNvSpPr/>
          <p:nvPr/>
        </p:nvSpPr>
        <p:spPr>
          <a:xfrm>
            <a:off x="7290726" y="20253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2" name="Google Shape;612;p8"/>
          <p:cNvSpPr/>
          <p:nvPr/>
        </p:nvSpPr>
        <p:spPr>
          <a:xfrm>
            <a:off x="7290726" y="21093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8"/>
          <p:cNvSpPr/>
          <p:nvPr/>
        </p:nvSpPr>
        <p:spPr>
          <a:xfrm>
            <a:off x="7784502" y="20253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4" name="Google Shape;614;p8"/>
          <p:cNvSpPr/>
          <p:nvPr/>
        </p:nvSpPr>
        <p:spPr>
          <a:xfrm>
            <a:off x="7784502" y="21093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"/>
          <p:cNvSpPr/>
          <p:nvPr/>
        </p:nvSpPr>
        <p:spPr>
          <a:xfrm>
            <a:off x="8278278" y="20253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6" name="Google Shape;616;p8"/>
          <p:cNvSpPr/>
          <p:nvPr/>
        </p:nvSpPr>
        <p:spPr>
          <a:xfrm>
            <a:off x="8278278" y="21093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8"/>
          <p:cNvSpPr/>
          <p:nvPr/>
        </p:nvSpPr>
        <p:spPr>
          <a:xfrm>
            <a:off x="8772054" y="20253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8" name="Google Shape;618;p8"/>
          <p:cNvSpPr/>
          <p:nvPr/>
        </p:nvSpPr>
        <p:spPr>
          <a:xfrm>
            <a:off x="8772054" y="21093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8"/>
          <p:cNvSpPr/>
          <p:nvPr/>
        </p:nvSpPr>
        <p:spPr>
          <a:xfrm>
            <a:off x="6451307" y="2603113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8"/>
          <p:cNvSpPr/>
          <p:nvPr/>
        </p:nvSpPr>
        <p:spPr>
          <a:xfrm>
            <a:off x="6796950" y="25191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1" name="Google Shape;621;p8"/>
          <p:cNvSpPr/>
          <p:nvPr/>
        </p:nvSpPr>
        <p:spPr>
          <a:xfrm>
            <a:off x="6796950" y="26031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"/>
          <p:cNvSpPr/>
          <p:nvPr/>
        </p:nvSpPr>
        <p:spPr>
          <a:xfrm>
            <a:off x="7290726" y="25191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3" name="Google Shape;623;p8"/>
          <p:cNvSpPr/>
          <p:nvPr/>
        </p:nvSpPr>
        <p:spPr>
          <a:xfrm>
            <a:off x="7290726" y="26031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8"/>
          <p:cNvSpPr/>
          <p:nvPr/>
        </p:nvSpPr>
        <p:spPr>
          <a:xfrm>
            <a:off x="7784502" y="25191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5" name="Google Shape;625;p8"/>
          <p:cNvSpPr/>
          <p:nvPr/>
        </p:nvSpPr>
        <p:spPr>
          <a:xfrm>
            <a:off x="7784502" y="26031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8"/>
          <p:cNvSpPr/>
          <p:nvPr/>
        </p:nvSpPr>
        <p:spPr>
          <a:xfrm>
            <a:off x="8278278" y="25191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7" name="Google Shape;627;p8"/>
          <p:cNvSpPr/>
          <p:nvPr/>
        </p:nvSpPr>
        <p:spPr>
          <a:xfrm>
            <a:off x="8278278" y="26031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8"/>
          <p:cNvSpPr/>
          <p:nvPr/>
        </p:nvSpPr>
        <p:spPr>
          <a:xfrm>
            <a:off x="8772054" y="25191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9" name="Google Shape;629;p8"/>
          <p:cNvSpPr/>
          <p:nvPr/>
        </p:nvSpPr>
        <p:spPr>
          <a:xfrm>
            <a:off x="8772054" y="26031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8"/>
          <p:cNvSpPr/>
          <p:nvPr/>
        </p:nvSpPr>
        <p:spPr>
          <a:xfrm>
            <a:off x="6451307" y="3096889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8"/>
          <p:cNvSpPr/>
          <p:nvPr/>
        </p:nvSpPr>
        <p:spPr>
          <a:xfrm>
            <a:off x="6796950" y="30129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2" name="Google Shape;632;p8"/>
          <p:cNvSpPr/>
          <p:nvPr/>
        </p:nvSpPr>
        <p:spPr>
          <a:xfrm>
            <a:off x="6796950" y="30968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8"/>
          <p:cNvSpPr/>
          <p:nvPr/>
        </p:nvSpPr>
        <p:spPr>
          <a:xfrm>
            <a:off x="7290726" y="30129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4" name="Google Shape;634;p8"/>
          <p:cNvSpPr/>
          <p:nvPr/>
        </p:nvSpPr>
        <p:spPr>
          <a:xfrm>
            <a:off x="7290726" y="30968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8"/>
          <p:cNvSpPr/>
          <p:nvPr/>
        </p:nvSpPr>
        <p:spPr>
          <a:xfrm>
            <a:off x="7784502" y="30129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6" name="Google Shape;636;p8"/>
          <p:cNvSpPr/>
          <p:nvPr/>
        </p:nvSpPr>
        <p:spPr>
          <a:xfrm>
            <a:off x="7784502" y="30968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8"/>
          <p:cNvSpPr/>
          <p:nvPr/>
        </p:nvSpPr>
        <p:spPr>
          <a:xfrm>
            <a:off x="8278278" y="30129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8" name="Google Shape;638;p8"/>
          <p:cNvSpPr/>
          <p:nvPr/>
        </p:nvSpPr>
        <p:spPr>
          <a:xfrm>
            <a:off x="8278278" y="30968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8"/>
          <p:cNvSpPr/>
          <p:nvPr/>
        </p:nvSpPr>
        <p:spPr>
          <a:xfrm>
            <a:off x="8772054" y="30129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0" name="Google Shape;640;p8"/>
          <p:cNvSpPr/>
          <p:nvPr/>
        </p:nvSpPr>
        <p:spPr>
          <a:xfrm>
            <a:off x="8772054" y="30968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8"/>
          <p:cNvSpPr/>
          <p:nvPr/>
        </p:nvSpPr>
        <p:spPr>
          <a:xfrm>
            <a:off x="6451307" y="3590665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8"/>
          <p:cNvSpPr/>
          <p:nvPr/>
        </p:nvSpPr>
        <p:spPr>
          <a:xfrm>
            <a:off x="6796950" y="35067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3" name="Google Shape;643;p8"/>
          <p:cNvSpPr/>
          <p:nvPr/>
        </p:nvSpPr>
        <p:spPr>
          <a:xfrm>
            <a:off x="6796950" y="35906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8"/>
          <p:cNvSpPr/>
          <p:nvPr/>
        </p:nvSpPr>
        <p:spPr>
          <a:xfrm>
            <a:off x="7290726" y="35067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5" name="Google Shape;645;p8"/>
          <p:cNvSpPr/>
          <p:nvPr/>
        </p:nvSpPr>
        <p:spPr>
          <a:xfrm>
            <a:off x="7290726" y="35906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8"/>
          <p:cNvSpPr/>
          <p:nvPr/>
        </p:nvSpPr>
        <p:spPr>
          <a:xfrm>
            <a:off x="7784502" y="35067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7" name="Google Shape;647;p8"/>
          <p:cNvSpPr/>
          <p:nvPr/>
        </p:nvSpPr>
        <p:spPr>
          <a:xfrm>
            <a:off x="7784502" y="35906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8"/>
          <p:cNvSpPr/>
          <p:nvPr/>
        </p:nvSpPr>
        <p:spPr>
          <a:xfrm>
            <a:off x="8278278" y="35067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9" name="Google Shape;649;p8"/>
          <p:cNvSpPr/>
          <p:nvPr/>
        </p:nvSpPr>
        <p:spPr>
          <a:xfrm>
            <a:off x="8278278" y="35906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8"/>
          <p:cNvSpPr/>
          <p:nvPr/>
        </p:nvSpPr>
        <p:spPr>
          <a:xfrm>
            <a:off x="8772054" y="35067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1" name="Google Shape;651;p8"/>
          <p:cNvSpPr/>
          <p:nvPr/>
        </p:nvSpPr>
        <p:spPr>
          <a:xfrm>
            <a:off x="8772054" y="35906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6451307" y="4084441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8"/>
          <p:cNvSpPr/>
          <p:nvPr/>
        </p:nvSpPr>
        <p:spPr>
          <a:xfrm>
            <a:off x="6796950" y="40004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4" name="Google Shape;654;p8"/>
          <p:cNvSpPr/>
          <p:nvPr/>
        </p:nvSpPr>
        <p:spPr>
          <a:xfrm>
            <a:off x="6796950" y="40844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8"/>
          <p:cNvSpPr/>
          <p:nvPr/>
        </p:nvSpPr>
        <p:spPr>
          <a:xfrm>
            <a:off x="7290726" y="40004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6" name="Google Shape;656;p8"/>
          <p:cNvSpPr/>
          <p:nvPr/>
        </p:nvSpPr>
        <p:spPr>
          <a:xfrm>
            <a:off x="7290726" y="40844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8"/>
          <p:cNvSpPr/>
          <p:nvPr/>
        </p:nvSpPr>
        <p:spPr>
          <a:xfrm>
            <a:off x="7784502" y="40004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8" name="Google Shape;658;p8"/>
          <p:cNvSpPr/>
          <p:nvPr/>
        </p:nvSpPr>
        <p:spPr>
          <a:xfrm>
            <a:off x="7784502" y="40844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8"/>
          <p:cNvSpPr/>
          <p:nvPr/>
        </p:nvSpPr>
        <p:spPr>
          <a:xfrm>
            <a:off x="8278278" y="40004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0" name="Google Shape;660;p8"/>
          <p:cNvSpPr/>
          <p:nvPr/>
        </p:nvSpPr>
        <p:spPr>
          <a:xfrm>
            <a:off x="8278278" y="40844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8"/>
          <p:cNvSpPr/>
          <p:nvPr/>
        </p:nvSpPr>
        <p:spPr>
          <a:xfrm>
            <a:off x="8772054" y="40004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2" name="Google Shape;662;p8"/>
          <p:cNvSpPr/>
          <p:nvPr/>
        </p:nvSpPr>
        <p:spPr>
          <a:xfrm>
            <a:off x="8772054" y="40844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8"/>
          <p:cNvSpPr/>
          <p:nvPr/>
        </p:nvSpPr>
        <p:spPr>
          <a:xfrm>
            <a:off x="6204618" y="4731335"/>
            <a:ext cx="4892100" cy="1051500"/>
          </a:xfrm>
          <a:prstGeom prst="roundRect">
            <a:avLst>
              <a:gd fmla="val 6957" name="adj"/>
            </a:avLst>
          </a:prstGeom>
          <a:solidFill>
            <a:srgbClr val="FCE4E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4" name="Google Shape;664;p8"/>
          <p:cNvSpPr/>
          <p:nvPr/>
        </p:nvSpPr>
        <p:spPr>
          <a:xfrm>
            <a:off x="6341778" y="4841063"/>
            <a:ext cx="461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8"/>
          <p:cNvSpPr/>
          <p:nvPr/>
        </p:nvSpPr>
        <p:spPr>
          <a:xfrm>
            <a:off x="6341778" y="5142815"/>
            <a:ext cx="461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A[1][3] = 4 means </a:t>
            </a:r>
            <a:br>
              <a:rPr b="0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 directed edge 1 -&gt; 3 with weight 4.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778c2bce4_1_17"/>
          <p:cNvSpPr/>
          <p:nvPr/>
        </p:nvSpPr>
        <p:spPr>
          <a:xfrm>
            <a:off x="502920" y="292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Weighted Matrix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f778c2bce4_1_17"/>
          <p:cNvSpPr/>
          <p:nvPr/>
        </p:nvSpPr>
        <p:spPr>
          <a:xfrm>
            <a:off x="530352" y="777240"/>
            <a:ext cx="1115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edge format is {source, destination, weight}.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f778c2bce4_1_17"/>
          <p:cNvSpPr/>
          <p:nvPr/>
        </p:nvSpPr>
        <p:spPr>
          <a:xfrm>
            <a:off x="288400" y="1051550"/>
            <a:ext cx="7288800" cy="55935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f778c2bce4_1_17"/>
          <p:cNvSpPr/>
          <p:nvPr/>
        </p:nvSpPr>
        <p:spPr>
          <a:xfrm>
            <a:off x="409879" y="1128702"/>
            <a:ext cx="7045800" cy="54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GraphDirectedWeightedMatrix {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GraphDirectedWeightedMatrix(int numVertices) {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b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5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1" i="0" sz="1560" u="none" cap="none" strike="noStrike">
              <a:solidFill>
                <a:srgbClr val="00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5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1" i="0" sz="1560" u="none" cap="none" strike="noStrike">
              <a:solidFill>
                <a:srgbClr val="00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5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weight = edges[i][2];</a:t>
            </a:r>
            <a:endParaRPr b="1" i="0" sz="1560" u="none" cap="none" strike="noStrike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t/>
            </a:r>
            <a:endParaRPr b="1" sz="156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6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    // For DIRECTED graph:</a:t>
            </a:r>
            <a:endParaRPr b="1" sz="16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lang="en-US" sz="16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    // Add edge in only ONE direction</a:t>
            </a:r>
            <a:endParaRPr b="1" i="0" sz="1860" u="none" cap="none" strike="noStrike">
              <a:solidFill>
                <a:srgbClr val="0B7A3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i="0" lang="en-US" sz="156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adjMatrix[source][destination] = weight;</a:t>
            </a:r>
            <a:endParaRPr b="1" i="0" sz="1560" u="none" cap="none" strike="noStrike">
              <a:solidFill>
                <a:srgbClr val="99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t/>
            </a:r>
            <a:endParaRPr sz="156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5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f778c2bce4_1_17"/>
          <p:cNvSpPr/>
          <p:nvPr/>
        </p:nvSpPr>
        <p:spPr>
          <a:xfrm>
            <a:off x="7677750" y="3684689"/>
            <a:ext cx="4442100" cy="2883300"/>
          </a:xfrm>
          <a:prstGeom prst="roundRect">
            <a:avLst>
              <a:gd fmla="val 3226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77" name="Google Shape;677;g3f778c2bce4_1_17"/>
          <p:cNvSpPr/>
          <p:nvPr/>
        </p:nvSpPr>
        <p:spPr>
          <a:xfrm>
            <a:off x="7797536" y="3833507"/>
            <a:ext cx="4202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br>
              <a:rPr b="0" i="0" lang="en-US" sz="13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GraphDirectedWeightedMatrix graph =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new GraphDirectedWeightedMatrix(5);</a:t>
            </a:r>
            <a:b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3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{0,1,2},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{0,2,3},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{1,3,4},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{1,4,5},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{2,3,6}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3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t/>
            </a:r>
            <a:endParaRPr sz="13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sz="13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8" name="Google Shape;678;g3f778c2bce4_1_17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9" name="Google Shape;679;g3f778c2bce4_1_17"/>
          <p:cNvCxnSpPr/>
          <p:nvPr/>
        </p:nvCxnSpPr>
        <p:spPr>
          <a:xfrm flipH="1" rot="10800000">
            <a:off x="8259678" y="1778504"/>
            <a:ext cx="1000800" cy="4203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0" name="Google Shape;680;g3f778c2bce4_1_17"/>
          <p:cNvSpPr/>
          <p:nvPr/>
        </p:nvSpPr>
        <p:spPr>
          <a:xfrm>
            <a:off x="8650277" y="1897227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f778c2bce4_1_17"/>
          <p:cNvSpPr/>
          <p:nvPr/>
        </p:nvSpPr>
        <p:spPr>
          <a:xfrm>
            <a:off x="8650277" y="1906371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2" name="Google Shape;682;g3f778c2bce4_1_17"/>
          <p:cNvCxnSpPr/>
          <p:nvPr/>
        </p:nvCxnSpPr>
        <p:spPr>
          <a:xfrm>
            <a:off x="8251174" y="2372362"/>
            <a:ext cx="1337700" cy="723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3" name="Google Shape;683;g3f778c2bce4_1_17"/>
          <p:cNvSpPr/>
          <p:nvPr/>
        </p:nvSpPr>
        <p:spPr>
          <a:xfrm>
            <a:off x="8810297" y="2642463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f778c2bce4_1_17"/>
          <p:cNvSpPr/>
          <p:nvPr/>
        </p:nvSpPr>
        <p:spPr>
          <a:xfrm>
            <a:off x="8810297" y="2651607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g3f778c2bce4_1_17"/>
          <p:cNvCxnSpPr/>
          <p:nvPr/>
        </p:nvCxnSpPr>
        <p:spPr>
          <a:xfrm>
            <a:off x="9624649" y="1792736"/>
            <a:ext cx="1471200" cy="7575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6" name="Google Shape;686;g3f778c2bce4_1_17"/>
          <p:cNvSpPr/>
          <p:nvPr/>
        </p:nvSpPr>
        <p:spPr>
          <a:xfrm>
            <a:off x="10250477" y="2080107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f778c2bce4_1_17"/>
          <p:cNvSpPr/>
          <p:nvPr/>
        </p:nvSpPr>
        <p:spPr>
          <a:xfrm>
            <a:off x="10250477" y="2089251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g3f778c2bce4_1_17"/>
          <p:cNvCxnSpPr/>
          <p:nvPr/>
        </p:nvCxnSpPr>
        <p:spPr>
          <a:xfrm flipH="1" rot="10800000">
            <a:off x="9636526" y="1289247"/>
            <a:ext cx="1035900" cy="347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9" name="Google Shape;689;g3f778c2bce4_1_17"/>
          <p:cNvSpPr/>
          <p:nvPr/>
        </p:nvSpPr>
        <p:spPr>
          <a:xfrm>
            <a:off x="10044737" y="1371447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f778c2bce4_1_17"/>
          <p:cNvSpPr/>
          <p:nvPr/>
        </p:nvSpPr>
        <p:spPr>
          <a:xfrm>
            <a:off x="10044737" y="1380591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g3f778c2bce4_1_17"/>
          <p:cNvCxnSpPr/>
          <p:nvPr/>
        </p:nvCxnSpPr>
        <p:spPr>
          <a:xfrm flipH="1" rot="10800000">
            <a:off x="9954901" y="2711355"/>
            <a:ext cx="1130700" cy="411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2" name="Google Shape;692;g3f778c2bce4_1_17"/>
          <p:cNvSpPr/>
          <p:nvPr/>
        </p:nvSpPr>
        <p:spPr>
          <a:xfrm>
            <a:off x="10410497" y="2825343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f778c2bce4_1_17"/>
          <p:cNvSpPr/>
          <p:nvPr/>
        </p:nvSpPr>
        <p:spPr>
          <a:xfrm>
            <a:off x="10410497" y="2834487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f778c2bce4_1_17"/>
          <p:cNvSpPr/>
          <p:nvPr/>
        </p:nvSpPr>
        <p:spPr>
          <a:xfrm>
            <a:off x="7873037" y="2075535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f778c2bce4_1_17"/>
          <p:cNvSpPr/>
          <p:nvPr/>
        </p:nvSpPr>
        <p:spPr>
          <a:xfrm>
            <a:off x="7964477" y="2176119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f778c2bce4_1_17"/>
          <p:cNvSpPr/>
          <p:nvPr/>
        </p:nvSpPr>
        <p:spPr>
          <a:xfrm>
            <a:off x="9244637" y="1499463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f778c2bce4_1_17"/>
          <p:cNvSpPr/>
          <p:nvPr/>
        </p:nvSpPr>
        <p:spPr>
          <a:xfrm>
            <a:off x="9336077" y="1600047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f778c2bce4_1_17"/>
          <p:cNvSpPr/>
          <p:nvPr/>
        </p:nvSpPr>
        <p:spPr>
          <a:xfrm>
            <a:off x="9564677" y="2989935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f778c2bce4_1_17"/>
          <p:cNvSpPr/>
          <p:nvPr/>
        </p:nvSpPr>
        <p:spPr>
          <a:xfrm>
            <a:off x="9656117" y="3090519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f778c2bce4_1_17"/>
          <p:cNvSpPr/>
          <p:nvPr/>
        </p:nvSpPr>
        <p:spPr>
          <a:xfrm>
            <a:off x="11073437" y="2441295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f778c2bce4_1_17"/>
          <p:cNvSpPr/>
          <p:nvPr/>
        </p:nvSpPr>
        <p:spPr>
          <a:xfrm>
            <a:off x="11164877" y="2541879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f778c2bce4_1_17"/>
          <p:cNvSpPr/>
          <p:nvPr/>
        </p:nvSpPr>
        <p:spPr>
          <a:xfrm>
            <a:off x="10661957" y="1023975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03" name="Google Shape;703;g3f778c2bce4_1_17"/>
          <p:cNvSpPr/>
          <p:nvPr/>
        </p:nvSpPr>
        <p:spPr>
          <a:xfrm>
            <a:off x="10753397" y="1124559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Weighted Matrix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9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edge format is {source, destination, weight}.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9"/>
          <p:cNvSpPr/>
          <p:nvPr/>
        </p:nvSpPr>
        <p:spPr>
          <a:xfrm>
            <a:off x="288400" y="1051550"/>
            <a:ext cx="7288800" cy="55935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"/>
          <p:cNvSpPr/>
          <p:nvPr/>
        </p:nvSpPr>
        <p:spPr>
          <a:xfrm>
            <a:off x="409879" y="1128702"/>
            <a:ext cx="7045800" cy="54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GraphDirectedWeightedMatrix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</a:t>
            </a:r>
            <a: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vertex</a:t>
            </a: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</a:t>
            </a:r>
            <a: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vertex</a:t>
            </a: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][i] != 0) { 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 Columns changing 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  System.out.print(i + " "); 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//print neighbor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 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6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9"/>
          <p:cNvSpPr/>
          <p:nvPr/>
        </p:nvSpPr>
        <p:spPr>
          <a:xfrm>
            <a:off x="7749575" y="4023924"/>
            <a:ext cx="4442100" cy="1161000"/>
          </a:xfrm>
          <a:prstGeom prst="roundRect">
            <a:avLst>
              <a:gd fmla="val 3226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14" name="Google Shape;714;p9"/>
          <p:cNvSpPr/>
          <p:nvPr/>
        </p:nvSpPr>
        <p:spPr>
          <a:xfrm>
            <a:off x="7869361" y="4083849"/>
            <a:ext cx="42024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(2);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3</a:t>
            </a:r>
            <a:endParaRPr sz="11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5" name="Google Shape;715;p9"/>
          <p:cNvSpPr/>
          <p:nvPr/>
        </p:nvSpPr>
        <p:spPr>
          <a:xfrm>
            <a:off x="7749601" y="5395084"/>
            <a:ext cx="4442100" cy="960000"/>
          </a:xfrm>
          <a:prstGeom prst="roundRect">
            <a:avLst>
              <a:gd fmla="val 7619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16" name="Google Shape;716;p9"/>
          <p:cNvSpPr/>
          <p:nvPr/>
        </p:nvSpPr>
        <p:spPr>
          <a:xfrm>
            <a:off x="7899334" y="5504811"/>
            <a:ext cx="414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Neighbor check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9"/>
          <p:cNvSpPr/>
          <p:nvPr/>
        </p:nvSpPr>
        <p:spPr>
          <a:xfrm>
            <a:off x="7899334" y="5806562"/>
            <a:ext cx="414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!= 0 because weights may be any nonzero number.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9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9"/>
          <p:cNvSpPr/>
          <p:nvPr/>
        </p:nvSpPr>
        <p:spPr>
          <a:xfrm>
            <a:off x="8855550" y="9633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9"/>
          <p:cNvSpPr/>
          <p:nvPr/>
        </p:nvSpPr>
        <p:spPr>
          <a:xfrm>
            <a:off x="9349326" y="9633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9"/>
          <p:cNvSpPr/>
          <p:nvPr/>
        </p:nvSpPr>
        <p:spPr>
          <a:xfrm>
            <a:off x="9843102" y="9633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9"/>
          <p:cNvSpPr/>
          <p:nvPr/>
        </p:nvSpPr>
        <p:spPr>
          <a:xfrm>
            <a:off x="10336878" y="9633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9"/>
          <p:cNvSpPr/>
          <p:nvPr/>
        </p:nvSpPr>
        <p:spPr>
          <a:xfrm>
            <a:off x="10830654" y="96338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9"/>
          <p:cNvSpPr/>
          <p:nvPr/>
        </p:nvSpPr>
        <p:spPr>
          <a:xfrm>
            <a:off x="8509907" y="1467037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9"/>
          <p:cNvSpPr/>
          <p:nvPr/>
        </p:nvSpPr>
        <p:spPr>
          <a:xfrm>
            <a:off x="8855550" y="13830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6" name="Google Shape;726;p9"/>
          <p:cNvSpPr/>
          <p:nvPr/>
        </p:nvSpPr>
        <p:spPr>
          <a:xfrm>
            <a:off x="8855550" y="14670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9"/>
          <p:cNvSpPr/>
          <p:nvPr/>
        </p:nvSpPr>
        <p:spPr>
          <a:xfrm>
            <a:off x="9349326" y="13830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8" name="Google Shape;728;p9"/>
          <p:cNvSpPr/>
          <p:nvPr/>
        </p:nvSpPr>
        <p:spPr>
          <a:xfrm>
            <a:off x="9349326" y="14670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9"/>
          <p:cNvSpPr/>
          <p:nvPr/>
        </p:nvSpPr>
        <p:spPr>
          <a:xfrm>
            <a:off x="9843102" y="13830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0" name="Google Shape;730;p9"/>
          <p:cNvSpPr/>
          <p:nvPr/>
        </p:nvSpPr>
        <p:spPr>
          <a:xfrm>
            <a:off x="9843102" y="14670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9"/>
          <p:cNvSpPr/>
          <p:nvPr/>
        </p:nvSpPr>
        <p:spPr>
          <a:xfrm>
            <a:off x="10336878" y="13830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2" name="Google Shape;732;p9"/>
          <p:cNvSpPr/>
          <p:nvPr/>
        </p:nvSpPr>
        <p:spPr>
          <a:xfrm>
            <a:off x="10336878" y="14670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9"/>
          <p:cNvSpPr/>
          <p:nvPr/>
        </p:nvSpPr>
        <p:spPr>
          <a:xfrm>
            <a:off x="10830654" y="138309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4" name="Google Shape;734;p9"/>
          <p:cNvSpPr/>
          <p:nvPr/>
        </p:nvSpPr>
        <p:spPr>
          <a:xfrm>
            <a:off x="10830654" y="146703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9"/>
          <p:cNvSpPr/>
          <p:nvPr/>
        </p:nvSpPr>
        <p:spPr>
          <a:xfrm>
            <a:off x="8509907" y="1960813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9"/>
          <p:cNvSpPr/>
          <p:nvPr/>
        </p:nvSpPr>
        <p:spPr>
          <a:xfrm>
            <a:off x="8855550" y="18768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7" name="Google Shape;737;p9"/>
          <p:cNvSpPr/>
          <p:nvPr/>
        </p:nvSpPr>
        <p:spPr>
          <a:xfrm>
            <a:off x="8855550" y="19608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9"/>
          <p:cNvSpPr/>
          <p:nvPr/>
        </p:nvSpPr>
        <p:spPr>
          <a:xfrm>
            <a:off x="9349326" y="18768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9" name="Google Shape;739;p9"/>
          <p:cNvSpPr/>
          <p:nvPr/>
        </p:nvSpPr>
        <p:spPr>
          <a:xfrm>
            <a:off x="9349326" y="19608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9"/>
          <p:cNvSpPr/>
          <p:nvPr/>
        </p:nvSpPr>
        <p:spPr>
          <a:xfrm>
            <a:off x="9843102" y="18768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1" name="Google Shape;741;p9"/>
          <p:cNvSpPr/>
          <p:nvPr/>
        </p:nvSpPr>
        <p:spPr>
          <a:xfrm>
            <a:off x="9843102" y="19608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9"/>
          <p:cNvSpPr/>
          <p:nvPr/>
        </p:nvSpPr>
        <p:spPr>
          <a:xfrm>
            <a:off x="10336878" y="18768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3" name="Google Shape;743;p9"/>
          <p:cNvSpPr/>
          <p:nvPr/>
        </p:nvSpPr>
        <p:spPr>
          <a:xfrm>
            <a:off x="10336878" y="19608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9"/>
          <p:cNvSpPr/>
          <p:nvPr/>
        </p:nvSpPr>
        <p:spPr>
          <a:xfrm>
            <a:off x="10830654" y="187687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5" name="Google Shape;745;p9"/>
          <p:cNvSpPr/>
          <p:nvPr/>
        </p:nvSpPr>
        <p:spPr>
          <a:xfrm>
            <a:off x="10830654" y="196081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9"/>
          <p:cNvSpPr/>
          <p:nvPr/>
        </p:nvSpPr>
        <p:spPr>
          <a:xfrm>
            <a:off x="8509907" y="2454589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9"/>
          <p:cNvSpPr/>
          <p:nvPr/>
        </p:nvSpPr>
        <p:spPr>
          <a:xfrm>
            <a:off x="8855550" y="23706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8" name="Google Shape;748;p9"/>
          <p:cNvSpPr/>
          <p:nvPr/>
        </p:nvSpPr>
        <p:spPr>
          <a:xfrm>
            <a:off x="8855550" y="24545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9"/>
          <p:cNvSpPr/>
          <p:nvPr/>
        </p:nvSpPr>
        <p:spPr>
          <a:xfrm>
            <a:off x="9349326" y="23706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0" name="Google Shape;750;p9"/>
          <p:cNvSpPr/>
          <p:nvPr/>
        </p:nvSpPr>
        <p:spPr>
          <a:xfrm>
            <a:off x="9349326" y="24545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9"/>
          <p:cNvSpPr/>
          <p:nvPr/>
        </p:nvSpPr>
        <p:spPr>
          <a:xfrm>
            <a:off x="9843102" y="23706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2" name="Google Shape;752;p9"/>
          <p:cNvSpPr/>
          <p:nvPr/>
        </p:nvSpPr>
        <p:spPr>
          <a:xfrm>
            <a:off x="9843102" y="24545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9"/>
          <p:cNvSpPr/>
          <p:nvPr/>
        </p:nvSpPr>
        <p:spPr>
          <a:xfrm>
            <a:off x="10336878" y="23706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4" name="Google Shape;754;p9"/>
          <p:cNvSpPr/>
          <p:nvPr/>
        </p:nvSpPr>
        <p:spPr>
          <a:xfrm>
            <a:off x="10336878" y="24545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9"/>
          <p:cNvSpPr/>
          <p:nvPr/>
        </p:nvSpPr>
        <p:spPr>
          <a:xfrm>
            <a:off x="10830654" y="237064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6" name="Google Shape;756;p9"/>
          <p:cNvSpPr/>
          <p:nvPr/>
        </p:nvSpPr>
        <p:spPr>
          <a:xfrm>
            <a:off x="10830654" y="245458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9"/>
          <p:cNvSpPr/>
          <p:nvPr/>
        </p:nvSpPr>
        <p:spPr>
          <a:xfrm>
            <a:off x="8509907" y="2948365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9"/>
          <p:cNvSpPr/>
          <p:nvPr/>
        </p:nvSpPr>
        <p:spPr>
          <a:xfrm>
            <a:off x="8855550" y="28644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9" name="Google Shape;759;p9"/>
          <p:cNvSpPr/>
          <p:nvPr/>
        </p:nvSpPr>
        <p:spPr>
          <a:xfrm>
            <a:off x="8855550" y="29483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9"/>
          <p:cNvSpPr/>
          <p:nvPr/>
        </p:nvSpPr>
        <p:spPr>
          <a:xfrm>
            <a:off x="9349326" y="28644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1" name="Google Shape;761;p9"/>
          <p:cNvSpPr/>
          <p:nvPr/>
        </p:nvSpPr>
        <p:spPr>
          <a:xfrm>
            <a:off x="9349326" y="29483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9"/>
          <p:cNvSpPr/>
          <p:nvPr/>
        </p:nvSpPr>
        <p:spPr>
          <a:xfrm>
            <a:off x="9843102" y="28644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3" name="Google Shape;763;p9"/>
          <p:cNvSpPr/>
          <p:nvPr/>
        </p:nvSpPr>
        <p:spPr>
          <a:xfrm>
            <a:off x="9843102" y="29483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9"/>
          <p:cNvSpPr/>
          <p:nvPr/>
        </p:nvSpPr>
        <p:spPr>
          <a:xfrm>
            <a:off x="10336878" y="28644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5" name="Google Shape;765;p9"/>
          <p:cNvSpPr/>
          <p:nvPr/>
        </p:nvSpPr>
        <p:spPr>
          <a:xfrm>
            <a:off x="10336878" y="29483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9"/>
          <p:cNvSpPr/>
          <p:nvPr/>
        </p:nvSpPr>
        <p:spPr>
          <a:xfrm>
            <a:off x="10830654" y="286442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7" name="Google Shape;767;p9"/>
          <p:cNvSpPr/>
          <p:nvPr/>
        </p:nvSpPr>
        <p:spPr>
          <a:xfrm>
            <a:off x="10830654" y="294836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9"/>
          <p:cNvSpPr/>
          <p:nvPr/>
        </p:nvSpPr>
        <p:spPr>
          <a:xfrm>
            <a:off x="8509907" y="3442141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9"/>
          <p:cNvSpPr/>
          <p:nvPr/>
        </p:nvSpPr>
        <p:spPr>
          <a:xfrm>
            <a:off x="8855550" y="33581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0" name="Google Shape;770;p9"/>
          <p:cNvSpPr/>
          <p:nvPr/>
        </p:nvSpPr>
        <p:spPr>
          <a:xfrm>
            <a:off x="8855550" y="34421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"/>
          <p:cNvSpPr/>
          <p:nvPr/>
        </p:nvSpPr>
        <p:spPr>
          <a:xfrm>
            <a:off x="9349326" y="33581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2" name="Google Shape;772;p9"/>
          <p:cNvSpPr/>
          <p:nvPr/>
        </p:nvSpPr>
        <p:spPr>
          <a:xfrm>
            <a:off x="9349326" y="34421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9"/>
          <p:cNvSpPr/>
          <p:nvPr/>
        </p:nvSpPr>
        <p:spPr>
          <a:xfrm>
            <a:off x="9843102" y="33581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4" name="Google Shape;774;p9"/>
          <p:cNvSpPr/>
          <p:nvPr/>
        </p:nvSpPr>
        <p:spPr>
          <a:xfrm>
            <a:off x="9843102" y="34421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9"/>
          <p:cNvSpPr/>
          <p:nvPr/>
        </p:nvSpPr>
        <p:spPr>
          <a:xfrm>
            <a:off x="10336878" y="33581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6" name="Google Shape;776;p9"/>
          <p:cNvSpPr/>
          <p:nvPr/>
        </p:nvSpPr>
        <p:spPr>
          <a:xfrm>
            <a:off x="10336878" y="34421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9"/>
          <p:cNvSpPr/>
          <p:nvPr/>
        </p:nvSpPr>
        <p:spPr>
          <a:xfrm>
            <a:off x="10830654" y="335819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8" name="Google Shape;778;p9"/>
          <p:cNvSpPr/>
          <p:nvPr/>
        </p:nvSpPr>
        <p:spPr>
          <a:xfrm>
            <a:off x="10830654" y="344214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Undirected Weighted Graph (4)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0"/>
          <p:cNvSpPr/>
          <p:nvPr/>
        </p:nvSpPr>
        <p:spPr>
          <a:xfrm>
            <a:off x="530352" y="777240"/>
            <a:ext cx="1115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same weight is stored in both symmetric positions.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0"/>
          <p:cNvSpPr/>
          <p:nvPr/>
        </p:nvSpPr>
        <p:spPr>
          <a:xfrm>
            <a:off x="777240" y="1552105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7" name="Google Shape;787;p10"/>
          <p:cNvCxnSpPr/>
          <p:nvPr/>
        </p:nvCxnSpPr>
        <p:spPr>
          <a:xfrm flipH="1" rot="10800000">
            <a:off x="1739953" y="3019866"/>
            <a:ext cx="1000800" cy="4203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10"/>
          <p:cNvSpPr/>
          <p:nvPr/>
        </p:nvSpPr>
        <p:spPr>
          <a:xfrm>
            <a:off x="2130552" y="3138589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0"/>
          <p:cNvSpPr/>
          <p:nvPr/>
        </p:nvSpPr>
        <p:spPr>
          <a:xfrm>
            <a:off x="2130552" y="314773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0" name="Google Shape;790;p10"/>
          <p:cNvCxnSpPr/>
          <p:nvPr/>
        </p:nvCxnSpPr>
        <p:spPr>
          <a:xfrm>
            <a:off x="1731449" y="3613724"/>
            <a:ext cx="1337700" cy="723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10"/>
          <p:cNvSpPr/>
          <p:nvPr/>
        </p:nvSpPr>
        <p:spPr>
          <a:xfrm>
            <a:off x="2290572" y="3883825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0"/>
          <p:cNvSpPr/>
          <p:nvPr/>
        </p:nvSpPr>
        <p:spPr>
          <a:xfrm>
            <a:off x="2290572" y="3892969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p10"/>
          <p:cNvCxnSpPr/>
          <p:nvPr/>
        </p:nvCxnSpPr>
        <p:spPr>
          <a:xfrm>
            <a:off x="3104924" y="3034098"/>
            <a:ext cx="1471200" cy="7575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10"/>
          <p:cNvSpPr/>
          <p:nvPr/>
        </p:nvSpPr>
        <p:spPr>
          <a:xfrm>
            <a:off x="3730752" y="3321469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0"/>
          <p:cNvSpPr/>
          <p:nvPr/>
        </p:nvSpPr>
        <p:spPr>
          <a:xfrm>
            <a:off x="3730752" y="333061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p10"/>
          <p:cNvCxnSpPr/>
          <p:nvPr/>
        </p:nvCxnSpPr>
        <p:spPr>
          <a:xfrm flipH="1" rot="10800000">
            <a:off x="3116801" y="2530609"/>
            <a:ext cx="1035900" cy="347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7" name="Google Shape;797;p10"/>
          <p:cNvSpPr/>
          <p:nvPr/>
        </p:nvSpPr>
        <p:spPr>
          <a:xfrm>
            <a:off x="3525012" y="2612809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0"/>
          <p:cNvSpPr/>
          <p:nvPr/>
        </p:nvSpPr>
        <p:spPr>
          <a:xfrm>
            <a:off x="3525012" y="262195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p10"/>
          <p:cNvCxnSpPr/>
          <p:nvPr/>
        </p:nvCxnSpPr>
        <p:spPr>
          <a:xfrm flipH="1" rot="10800000">
            <a:off x="3435176" y="3952717"/>
            <a:ext cx="1130700" cy="411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0" name="Google Shape;800;p10"/>
          <p:cNvSpPr/>
          <p:nvPr/>
        </p:nvSpPr>
        <p:spPr>
          <a:xfrm>
            <a:off x="3890772" y="4066705"/>
            <a:ext cx="219600" cy="1737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0"/>
          <p:cNvSpPr/>
          <p:nvPr/>
        </p:nvSpPr>
        <p:spPr>
          <a:xfrm>
            <a:off x="3890772" y="4075849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0"/>
          <p:cNvSpPr/>
          <p:nvPr/>
        </p:nvSpPr>
        <p:spPr>
          <a:xfrm>
            <a:off x="1353312" y="331689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0"/>
          <p:cNvSpPr/>
          <p:nvPr/>
        </p:nvSpPr>
        <p:spPr>
          <a:xfrm>
            <a:off x="1444752" y="341748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0"/>
          <p:cNvSpPr/>
          <p:nvPr/>
        </p:nvSpPr>
        <p:spPr>
          <a:xfrm>
            <a:off x="2724912" y="2740825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0"/>
          <p:cNvSpPr/>
          <p:nvPr/>
        </p:nvSpPr>
        <p:spPr>
          <a:xfrm>
            <a:off x="2816352" y="2841409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0"/>
          <p:cNvSpPr/>
          <p:nvPr/>
        </p:nvSpPr>
        <p:spPr>
          <a:xfrm>
            <a:off x="3044952" y="423129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0"/>
          <p:cNvSpPr/>
          <p:nvPr/>
        </p:nvSpPr>
        <p:spPr>
          <a:xfrm>
            <a:off x="3136392" y="433188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0"/>
          <p:cNvSpPr/>
          <p:nvPr/>
        </p:nvSpPr>
        <p:spPr>
          <a:xfrm>
            <a:off x="4553712" y="368265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0"/>
          <p:cNvSpPr/>
          <p:nvPr/>
        </p:nvSpPr>
        <p:spPr>
          <a:xfrm>
            <a:off x="4645152" y="378324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0"/>
          <p:cNvSpPr/>
          <p:nvPr/>
        </p:nvSpPr>
        <p:spPr>
          <a:xfrm>
            <a:off x="4142232" y="226533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0"/>
          <p:cNvSpPr/>
          <p:nvPr/>
        </p:nvSpPr>
        <p:spPr>
          <a:xfrm>
            <a:off x="4233672" y="236592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0"/>
          <p:cNvSpPr/>
          <p:nvPr/>
        </p:nvSpPr>
        <p:spPr>
          <a:xfrm>
            <a:off x="6355080" y="1552105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0"/>
          <p:cNvSpPr/>
          <p:nvPr/>
        </p:nvSpPr>
        <p:spPr>
          <a:xfrm>
            <a:off x="6629400" y="19096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0"/>
          <p:cNvSpPr/>
          <p:nvPr/>
        </p:nvSpPr>
        <p:spPr>
          <a:xfrm>
            <a:off x="7123176" y="19096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0"/>
          <p:cNvSpPr/>
          <p:nvPr/>
        </p:nvSpPr>
        <p:spPr>
          <a:xfrm>
            <a:off x="7616952" y="19096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0"/>
          <p:cNvSpPr/>
          <p:nvPr/>
        </p:nvSpPr>
        <p:spPr>
          <a:xfrm>
            <a:off x="8110728" y="19096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0"/>
          <p:cNvSpPr/>
          <p:nvPr/>
        </p:nvSpPr>
        <p:spPr>
          <a:xfrm>
            <a:off x="8604504" y="1909635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10"/>
          <p:cNvSpPr/>
          <p:nvPr/>
        </p:nvSpPr>
        <p:spPr>
          <a:xfrm>
            <a:off x="6283757" y="2413287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0"/>
          <p:cNvSpPr/>
          <p:nvPr/>
        </p:nvSpPr>
        <p:spPr>
          <a:xfrm>
            <a:off x="6629400" y="23293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20" name="Google Shape;820;p10"/>
          <p:cNvSpPr/>
          <p:nvPr/>
        </p:nvSpPr>
        <p:spPr>
          <a:xfrm>
            <a:off x="6629400" y="24132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0"/>
          <p:cNvSpPr/>
          <p:nvPr/>
        </p:nvSpPr>
        <p:spPr>
          <a:xfrm>
            <a:off x="7123176" y="23293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22" name="Google Shape;822;p10"/>
          <p:cNvSpPr/>
          <p:nvPr/>
        </p:nvSpPr>
        <p:spPr>
          <a:xfrm>
            <a:off x="7123176" y="24132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0"/>
          <p:cNvSpPr/>
          <p:nvPr/>
        </p:nvSpPr>
        <p:spPr>
          <a:xfrm>
            <a:off x="7616952" y="23293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24" name="Google Shape;824;p10"/>
          <p:cNvSpPr/>
          <p:nvPr/>
        </p:nvSpPr>
        <p:spPr>
          <a:xfrm>
            <a:off x="7616952" y="24132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0"/>
          <p:cNvSpPr/>
          <p:nvPr/>
        </p:nvSpPr>
        <p:spPr>
          <a:xfrm>
            <a:off x="8110728" y="23293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26" name="Google Shape;826;p10"/>
          <p:cNvSpPr/>
          <p:nvPr/>
        </p:nvSpPr>
        <p:spPr>
          <a:xfrm>
            <a:off x="8110728" y="24132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0"/>
          <p:cNvSpPr/>
          <p:nvPr/>
        </p:nvSpPr>
        <p:spPr>
          <a:xfrm>
            <a:off x="8604504" y="2329345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28" name="Google Shape;828;p10"/>
          <p:cNvSpPr/>
          <p:nvPr/>
        </p:nvSpPr>
        <p:spPr>
          <a:xfrm>
            <a:off x="8604504" y="2413287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0"/>
          <p:cNvSpPr/>
          <p:nvPr/>
        </p:nvSpPr>
        <p:spPr>
          <a:xfrm>
            <a:off x="6283757" y="2907063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0"/>
          <p:cNvSpPr/>
          <p:nvPr/>
        </p:nvSpPr>
        <p:spPr>
          <a:xfrm>
            <a:off x="6629400" y="28231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31" name="Google Shape;831;p10"/>
          <p:cNvSpPr/>
          <p:nvPr/>
        </p:nvSpPr>
        <p:spPr>
          <a:xfrm>
            <a:off x="6629400" y="29070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0"/>
          <p:cNvSpPr/>
          <p:nvPr/>
        </p:nvSpPr>
        <p:spPr>
          <a:xfrm>
            <a:off x="7123176" y="28231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33" name="Google Shape;833;p10"/>
          <p:cNvSpPr/>
          <p:nvPr/>
        </p:nvSpPr>
        <p:spPr>
          <a:xfrm>
            <a:off x="7123176" y="29070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0"/>
          <p:cNvSpPr/>
          <p:nvPr/>
        </p:nvSpPr>
        <p:spPr>
          <a:xfrm>
            <a:off x="7616952" y="28231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35" name="Google Shape;835;p10"/>
          <p:cNvSpPr/>
          <p:nvPr/>
        </p:nvSpPr>
        <p:spPr>
          <a:xfrm>
            <a:off x="7616952" y="29070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0"/>
          <p:cNvSpPr/>
          <p:nvPr/>
        </p:nvSpPr>
        <p:spPr>
          <a:xfrm>
            <a:off x="8110728" y="28231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37" name="Google Shape;837;p10"/>
          <p:cNvSpPr/>
          <p:nvPr/>
        </p:nvSpPr>
        <p:spPr>
          <a:xfrm>
            <a:off x="8110728" y="29070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0"/>
          <p:cNvSpPr/>
          <p:nvPr/>
        </p:nvSpPr>
        <p:spPr>
          <a:xfrm>
            <a:off x="8604504" y="2823121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39" name="Google Shape;839;p10"/>
          <p:cNvSpPr/>
          <p:nvPr/>
        </p:nvSpPr>
        <p:spPr>
          <a:xfrm>
            <a:off x="8604504" y="2907063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0"/>
          <p:cNvSpPr/>
          <p:nvPr/>
        </p:nvSpPr>
        <p:spPr>
          <a:xfrm>
            <a:off x="6283757" y="3400839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0"/>
          <p:cNvSpPr/>
          <p:nvPr/>
        </p:nvSpPr>
        <p:spPr>
          <a:xfrm>
            <a:off x="6629400" y="33168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42" name="Google Shape;842;p10"/>
          <p:cNvSpPr/>
          <p:nvPr/>
        </p:nvSpPr>
        <p:spPr>
          <a:xfrm>
            <a:off x="6629400" y="34008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0"/>
          <p:cNvSpPr/>
          <p:nvPr/>
        </p:nvSpPr>
        <p:spPr>
          <a:xfrm>
            <a:off x="7123176" y="33168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44" name="Google Shape;844;p10"/>
          <p:cNvSpPr/>
          <p:nvPr/>
        </p:nvSpPr>
        <p:spPr>
          <a:xfrm>
            <a:off x="7123176" y="34008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0"/>
          <p:cNvSpPr/>
          <p:nvPr/>
        </p:nvSpPr>
        <p:spPr>
          <a:xfrm>
            <a:off x="7616952" y="33168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46" name="Google Shape;846;p10"/>
          <p:cNvSpPr/>
          <p:nvPr/>
        </p:nvSpPr>
        <p:spPr>
          <a:xfrm>
            <a:off x="7616952" y="34008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0"/>
          <p:cNvSpPr/>
          <p:nvPr/>
        </p:nvSpPr>
        <p:spPr>
          <a:xfrm>
            <a:off x="8110728" y="33168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48" name="Google Shape;848;p10"/>
          <p:cNvSpPr/>
          <p:nvPr/>
        </p:nvSpPr>
        <p:spPr>
          <a:xfrm>
            <a:off x="8110728" y="34008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0"/>
          <p:cNvSpPr/>
          <p:nvPr/>
        </p:nvSpPr>
        <p:spPr>
          <a:xfrm>
            <a:off x="8604504" y="3316897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50" name="Google Shape;850;p10"/>
          <p:cNvSpPr/>
          <p:nvPr/>
        </p:nvSpPr>
        <p:spPr>
          <a:xfrm>
            <a:off x="8604504" y="3400839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0"/>
          <p:cNvSpPr/>
          <p:nvPr/>
        </p:nvSpPr>
        <p:spPr>
          <a:xfrm>
            <a:off x="6283757" y="3894615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0"/>
          <p:cNvSpPr/>
          <p:nvPr/>
        </p:nvSpPr>
        <p:spPr>
          <a:xfrm>
            <a:off x="6629400" y="38106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53" name="Google Shape;853;p10"/>
          <p:cNvSpPr/>
          <p:nvPr/>
        </p:nvSpPr>
        <p:spPr>
          <a:xfrm>
            <a:off x="6629400" y="38946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0"/>
          <p:cNvSpPr/>
          <p:nvPr/>
        </p:nvSpPr>
        <p:spPr>
          <a:xfrm>
            <a:off x="7123176" y="38106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55" name="Google Shape;855;p10"/>
          <p:cNvSpPr/>
          <p:nvPr/>
        </p:nvSpPr>
        <p:spPr>
          <a:xfrm>
            <a:off x="7123176" y="38946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0"/>
          <p:cNvSpPr/>
          <p:nvPr/>
        </p:nvSpPr>
        <p:spPr>
          <a:xfrm>
            <a:off x="7616952" y="38106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57" name="Google Shape;857;p10"/>
          <p:cNvSpPr/>
          <p:nvPr/>
        </p:nvSpPr>
        <p:spPr>
          <a:xfrm>
            <a:off x="7616952" y="38946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0"/>
          <p:cNvSpPr/>
          <p:nvPr/>
        </p:nvSpPr>
        <p:spPr>
          <a:xfrm>
            <a:off x="8110728" y="38106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59" name="Google Shape;859;p10"/>
          <p:cNvSpPr/>
          <p:nvPr/>
        </p:nvSpPr>
        <p:spPr>
          <a:xfrm>
            <a:off x="8110728" y="38946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0"/>
          <p:cNvSpPr/>
          <p:nvPr/>
        </p:nvSpPr>
        <p:spPr>
          <a:xfrm>
            <a:off x="8604504" y="3810673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61" name="Google Shape;861;p10"/>
          <p:cNvSpPr/>
          <p:nvPr/>
        </p:nvSpPr>
        <p:spPr>
          <a:xfrm>
            <a:off x="8604504" y="3894615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0"/>
          <p:cNvSpPr/>
          <p:nvPr/>
        </p:nvSpPr>
        <p:spPr>
          <a:xfrm>
            <a:off x="6283757" y="4388391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0"/>
          <p:cNvSpPr/>
          <p:nvPr/>
        </p:nvSpPr>
        <p:spPr>
          <a:xfrm>
            <a:off x="6629400" y="43044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64" name="Google Shape;864;p10"/>
          <p:cNvSpPr/>
          <p:nvPr/>
        </p:nvSpPr>
        <p:spPr>
          <a:xfrm>
            <a:off x="6629400" y="43883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0"/>
          <p:cNvSpPr/>
          <p:nvPr/>
        </p:nvSpPr>
        <p:spPr>
          <a:xfrm>
            <a:off x="7123176" y="43044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66" name="Google Shape;866;p10"/>
          <p:cNvSpPr/>
          <p:nvPr/>
        </p:nvSpPr>
        <p:spPr>
          <a:xfrm>
            <a:off x="7123176" y="43883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10"/>
          <p:cNvSpPr/>
          <p:nvPr/>
        </p:nvSpPr>
        <p:spPr>
          <a:xfrm>
            <a:off x="7616952" y="43044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68" name="Google Shape;868;p10"/>
          <p:cNvSpPr/>
          <p:nvPr/>
        </p:nvSpPr>
        <p:spPr>
          <a:xfrm>
            <a:off x="7616952" y="43883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0"/>
          <p:cNvSpPr/>
          <p:nvPr/>
        </p:nvSpPr>
        <p:spPr>
          <a:xfrm>
            <a:off x="8110728" y="43044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70" name="Google Shape;870;p10"/>
          <p:cNvSpPr/>
          <p:nvPr/>
        </p:nvSpPr>
        <p:spPr>
          <a:xfrm>
            <a:off x="8110728" y="43883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0"/>
          <p:cNvSpPr/>
          <p:nvPr/>
        </p:nvSpPr>
        <p:spPr>
          <a:xfrm>
            <a:off x="8604504" y="4304449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72" name="Google Shape;872;p10"/>
          <p:cNvSpPr/>
          <p:nvPr/>
        </p:nvSpPr>
        <p:spPr>
          <a:xfrm>
            <a:off x="8604504" y="4388391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0"/>
          <p:cNvSpPr/>
          <p:nvPr/>
        </p:nvSpPr>
        <p:spPr>
          <a:xfrm>
            <a:off x="6216593" y="5074210"/>
            <a:ext cx="4892100" cy="1051500"/>
          </a:xfrm>
          <a:prstGeom prst="roundRect">
            <a:avLst>
              <a:gd fmla="val 6957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74" name="Google Shape;874;p10"/>
          <p:cNvSpPr/>
          <p:nvPr/>
        </p:nvSpPr>
        <p:spPr>
          <a:xfrm>
            <a:off x="6353753" y="5183938"/>
            <a:ext cx="461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0"/>
          <p:cNvSpPr/>
          <p:nvPr/>
        </p:nvSpPr>
        <p:spPr>
          <a:xfrm>
            <a:off x="6353753" y="5485690"/>
            <a:ext cx="461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</a:t>
            </a:r>
            <a:r>
              <a:rPr lang="en-US" sz="1550"/>
              <a:t>i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][</a:t>
            </a:r>
            <a:r>
              <a:rPr lang="en-US" sz="1550"/>
              <a:t>j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550"/>
              <a:t>w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A[</a:t>
            </a:r>
            <a:r>
              <a:rPr lang="en-US" sz="1550"/>
              <a:t>j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en-US" sz="1550"/>
              <a:t>[i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550"/>
              <a:t>w for all edges</a:t>
            </a:r>
            <a:br>
              <a:rPr lang="en-US" sz="1550"/>
            </a:br>
            <a:r>
              <a:rPr lang="en-US" sz="1550"/>
              <a:t>Therefore, t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matrix is symmetric.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0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Weighted Matrix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One weighted edge updates two cells (</a:t>
            </a:r>
            <a:r>
              <a:rPr lang="en-US" sz="1450">
                <a:solidFill>
                  <a:srgbClr val="444444"/>
                </a:solidFill>
              </a:rPr>
              <a:t>A[source][destination]  and A[destination][source] </a:t>
            </a:r>
            <a:r>
              <a:rPr b="0" i="0" lang="en-US" sz="15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5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1"/>
          <p:cNvSpPr/>
          <p:nvPr/>
        </p:nvSpPr>
        <p:spPr>
          <a:xfrm>
            <a:off x="372175" y="1051550"/>
            <a:ext cx="7109400" cy="56949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1"/>
          <p:cNvSpPr/>
          <p:nvPr/>
        </p:nvSpPr>
        <p:spPr>
          <a:xfrm>
            <a:off x="485440" y="1130100"/>
            <a:ext cx="6909600" cy="55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GraphUndirectedWeightedMatrix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GraphUndirectedWeightedMatrix(int numVertices)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b="0" i="0" sz="1460" u="none" cap="none" strike="noStrike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t/>
            </a:r>
            <a:endParaRPr sz="146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1" i="0" sz="1460" u="none" cap="none" strike="noStrike">
              <a:solidFill>
                <a:srgbClr val="00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1" i="0" sz="1460" u="none" cap="none" strike="noStrike">
              <a:solidFill>
                <a:srgbClr val="00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weight = edges[i][2];</a:t>
            </a:r>
            <a:b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For UNDIRECTED graph:</a:t>
            </a:r>
            <a:r>
              <a:rPr b="1" lang="en-US" sz="1900">
                <a:solidFill>
                  <a:srgbClr val="0B7A3B"/>
                </a:solidFill>
              </a:rPr>
              <a:t> </a:t>
            </a:r>
            <a:r>
              <a:rPr b="1" lang="en-US" sz="14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Add edge in BOTH directions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46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adjMatrix[source][destination] = weight;</a:t>
            </a:r>
            <a:endParaRPr b="1" i="0" sz="1460" u="none" cap="none" strike="noStrike">
              <a:solidFill>
                <a:srgbClr val="99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1" i="0" lang="en-US" sz="146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adjMatrix[destination][source] = weight;</a:t>
            </a:r>
            <a:endParaRPr b="1" i="0" sz="1460" u="none" cap="none" strike="noStrike">
              <a:solidFill>
                <a:srgbClr val="9900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t/>
            </a:r>
            <a:endParaRPr sz="146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1"/>
          <p:cNvSpPr/>
          <p:nvPr/>
        </p:nvSpPr>
        <p:spPr>
          <a:xfrm>
            <a:off x="7553350" y="3975125"/>
            <a:ext cx="4366800" cy="2471400"/>
          </a:xfrm>
          <a:prstGeom prst="roundRect">
            <a:avLst>
              <a:gd fmla="val 3226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7" name="Google Shape;887;p11"/>
          <p:cNvSpPr/>
          <p:nvPr/>
        </p:nvSpPr>
        <p:spPr>
          <a:xfrm>
            <a:off x="7740950" y="4102700"/>
            <a:ext cx="4069200" cy="22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{0,1,2},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{0,2,3},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{1,3,4},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{1,4,5},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{2,3,6}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b="0" i="0" lang="en-US" sz="14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GraphDirectedeWightedMatrix graph =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new GraphDirectedWeightedMatrix(5);</a:t>
            </a:r>
            <a:b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3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sz="143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8" name="Google Shape;888;p11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9" name="Google Shape;889;p11"/>
          <p:cNvCxnSpPr/>
          <p:nvPr/>
        </p:nvCxnSpPr>
        <p:spPr>
          <a:xfrm flipH="1" rot="10800000">
            <a:off x="8322053" y="1987516"/>
            <a:ext cx="1000800" cy="4203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11"/>
          <p:cNvSpPr/>
          <p:nvPr/>
        </p:nvSpPr>
        <p:spPr>
          <a:xfrm>
            <a:off x="8712652" y="2106239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1"/>
          <p:cNvSpPr/>
          <p:nvPr/>
        </p:nvSpPr>
        <p:spPr>
          <a:xfrm>
            <a:off x="8712652" y="211538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2" name="Google Shape;892;p11"/>
          <p:cNvCxnSpPr/>
          <p:nvPr/>
        </p:nvCxnSpPr>
        <p:spPr>
          <a:xfrm>
            <a:off x="8313549" y="2581374"/>
            <a:ext cx="1337700" cy="723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11"/>
          <p:cNvSpPr/>
          <p:nvPr/>
        </p:nvSpPr>
        <p:spPr>
          <a:xfrm>
            <a:off x="8872672" y="2851475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1"/>
          <p:cNvSpPr/>
          <p:nvPr/>
        </p:nvSpPr>
        <p:spPr>
          <a:xfrm>
            <a:off x="8872672" y="2860619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5" name="Google Shape;895;p11"/>
          <p:cNvCxnSpPr/>
          <p:nvPr/>
        </p:nvCxnSpPr>
        <p:spPr>
          <a:xfrm>
            <a:off x="9687024" y="2001748"/>
            <a:ext cx="1471200" cy="7575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6" name="Google Shape;896;p11"/>
          <p:cNvSpPr/>
          <p:nvPr/>
        </p:nvSpPr>
        <p:spPr>
          <a:xfrm>
            <a:off x="10312852" y="2289119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1"/>
          <p:cNvSpPr/>
          <p:nvPr/>
        </p:nvSpPr>
        <p:spPr>
          <a:xfrm>
            <a:off x="10312852" y="229826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8" name="Google Shape;898;p11"/>
          <p:cNvCxnSpPr/>
          <p:nvPr/>
        </p:nvCxnSpPr>
        <p:spPr>
          <a:xfrm flipH="1" rot="10800000">
            <a:off x="9698901" y="1498259"/>
            <a:ext cx="1035900" cy="347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9" name="Google Shape;899;p11"/>
          <p:cNvSpPr/>
          <p:nvPr/>
        </p:nvSpPr>
        <p:spPr>
          <a:xfrm>
            <a:off x="10107112" y="1580459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1"/>
          <p:cNvSpPr/>
          <p:nvPr/>
        </p:nvSpPr>
        <p:spPr>
          <a:xfrm>
            <a:off x="10107112" y="1589603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1" name="Google Shape;901;p11"/>
          <p:cNvCxnSpPr/>
          <p:nvPr/>
        </p:nvCxnSpPr>
        <p:spPr>
          <a:xfrm flipH="1" rot="10800000">
            <a:off x="10017276" y="2920367"/>
            <a:ext cx="1130700" cy="4110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11"/>
          <p:cNvSpPr/>
          <p:nvPr/>
        </p:nvSpPr>
        <p:spPr>
          <a:xfrm>
            <a:off x="10472872" y="3034355"/>
            <a:ext cx="219600" cy="1737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1"/>
          <p:cNvSpPr/>
          <p:nvPr/>
        </p:nvSpPr>
        <p:spPr>
          <a:xfrm>
            <a:off x="10472872" y="3043499"/>
            <a:ext cx="219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1"/>
          <p:cNvSpPr/>
          <p:nvPr/>
        </p:nvSpPr>
        <p:spPr>
          <a:xfrm>
            <a:off x="7935412" y="228454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1"/>
          <p:cNvSpPr/>
          <p:nvPr/>
        </p:nvSpPr>
        <p:spPr>
          <a:xfrm>
            <a:off x="8026852" y="238513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1"/>
          <p:cNvSpPr/>
          <p:nvPr/>
        </p:nvSpPr>
        <p:spPr>
          <a:xfrm>
            <a:off x="9307012" y="1708475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"/>
          <p:cNvSpPr/>
          <p:nvPr/>
        </p:nvSpPr>
        <p:spPr>
          <a:xfrm>
            <a:off x="9398452" y="1809059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1"/>
          <p:cNvSpPr/>
          <p:nvPr/>
        </p:nvSpPr>
        <p:spPr>
          <a:xfrm>
            <a:off x="9627052" y="319894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1"/>
          <p:cNvSpPr/>
          <p:nvPr/>
        </p:nvSpPr>
        <p:spPr>
          <a:xfrm>
            <a:off x="9718492" y="329953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1"/>
          <p:cNvSpPr/>
          <p:nvPr/>
        </p:nvSpPr>
        <p:spPr>
          <a:xfrm>
            <a:off x="11135812" y="265030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1"/>
          <p:cNvSpPr/>
          <p:nvPr/>
        </p:nvSpPr>
        <p:spPr>
          <a:xfrm>
            <a:off x="11227252" y="275089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1"/>
          <p:cNvSpPr/>
          <p:nvPr/>
        </p:nvSpPr>
        <p:spPr>
          <a:xfrm>
            <a:off x="10724332" y="1232987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1"/>
          <p:cNvSpPr/>
          <p:nvPr/>
        </p:nvSpPr>
        <p:spPr>
          <a:xfrm>
            <a:off x="10815772" y="1333571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8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f778c2bce4_1_34"/>
          <p:cNvSpPr/>
          <p:nvPr/>
        </p:nvSpPr>
        <p:spPr>
          <a:xfrm>
            <a:off x="502920" y="292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Weighted Matrix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f778c2bce4_1_34"/>
          <p:cNvSpPr/>
          <p:nvPr/>
        </p:nvSpPr>
        <p:spPr>
          <a:xfrm>
            <a:off x="530352" y="777240"/>
            <a:ext cx="1115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555555"/>
                </a:solidFill>
              </a:rPr>
              <a:t>One weighted edge updates two cells (A[source][destination]  and A[destination][source] ).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921" name="Google Shape;921;g3f778c2bce4_1_34"/>
          <p:cNvSpPr/>
          <p:nvPr/>
        </p:nvSpPr>
        <p:spPr>
          <a:xfrm>
            <a:off x="372175" y="1051550"/>
            <a:ext cx="7109400" cy="569490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g3f778c2bce4_1_34"/>
          <p:cNvSpPr/>
          <p:nvPr/>
        </p:nvSpPr>
        <p:spPr>
          <a:xfrm>
            <a:off x="485440" y="1130100"/>
            <a:ext cx="6909600" cy="55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GraphUndirectedWeightedMatrix {</a:t>
            </a:r>
            <a:endParaRPr sz="146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t/>
            </a:r>
            <a:endParaRPr sz="146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</a:t>
            </a:r>
            <a: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vertex</a:t>
            </a: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i++){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</a:t>
            </a:r>
            <a:r>
              <a:rPr b="1" i="0" lang="en-US" sz="146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vertex</a:t>
            </a: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i="0" lang="en-US" sz="1460" u="none" cap="none" strike="noStrike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!= 0){ 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 Columns changing 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System.out.print(i + " "); </a:t>
            </a:r>
            <a:r>
              <a:rPr b="1" lang="en-US" sz="14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//print neighbor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b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lang="en-US" sz="146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6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14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f778c2bce4_1_34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f778c2bce4_1_34"/>
          <p:cNvSpPr/>
          <p:nvPr/>
        </p:nvSpPr>
        <p:spPr>
          <a:xfrm>
            <a:off x="7703150" y="4204550"/>
            <a:ext cx="4366800" cy="2296500"/>
          </a:xfrm>
          <a:prstGeom prst="roundRect">
            <a:avLst>
              <a:gd fmla="val 3226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5" name="Google Shape;925;g3f778c2bce4_1_34"/>
          <p:cNvSpPr/>
          <p:nvPr/>
        </p:nvSpPr>
        <p:spPr>
          <a:xfrm>
            <a:off x="7941950" y="4461274"/>
            <a:ext cx="38892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(2);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0, 3</a:t>
            </a: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(3);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1, 2</a:t>
            </a: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7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</a:t>
            </a: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(4);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lang="en-US" sz="165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1</a:t>
            </a:r>
            <a:endParaRPr sz="165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6" name="Google Shape;926;g3f778c2bce4_1_34"/>
          <p:cNvSpPr/>
          <p:nvPr/>
        </p:nvSpPr>
        <p:spPr>
          <a:xfrm>
            <a:off x="8652100" y="107891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f778c2bce4_1_34"/>
          <p:cNvSpPr/>
          <p:nvPr/>
        </p:nvSpPr>
        <p:spPr>
          <a:xfrm>
            <a:off x="9145876" y="107891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f778c2bce4_1_34"/>
          <p:cNvSpPr/>
          <p:nvPr/>
        </p:nvSpPr>
        <p:spPr>
          <a:xfrm>
            <a:off x="9639652" y="107891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f778c2bce4_1_34"/>
          <p:cNvSpPr/>
          <p:nvPr/>
        </p:nvSpPr>
        <p:spPr>
          <a:xfrm>
            <a:off x="10133428" y="107891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f778c2bce4_1_34"/>
          <p:cNvSpPr/>
          <p:nvPr/>
        </p:nvSpPr>
        <p:spPr>
          <a:xfrm>
            <a:off x="10627204" y="1078910"/>
            <a:ext cx="493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f778c2bce4_1_34"/>
          <p:cNvSpPr/>
          <p:nvPr/>
        </p:nvSpPr>
        <p:spPr>
          <a:xfrm>
            <a:off x="8306457" y="1582562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3f778c2bce4_1_34"/>
          <p:cNvSpPr/>
          <p:nvPr/>
        </p:nvSpPr>
        <p:spPr>
          <a:xfrm>
            <a:off x="8652100" y="149862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33" name="Google Shape;933;g3f778c2bce4_1_34"/>
          <p:cNvSpPr/>
          <p:nvPr/>
        </p:nvSpPr>
        <p:spPr>
          <a:xfrm>
            <a:off x="8652100" y="158256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f778c2bce4_1_34"/>
          <p:cNvSpPr/>
          <p:nvPr/>
        </p:nvSpPr>
        <p:spPr>
          <a:xfrm>
            <a:off x="9145876" y="149862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35" name="Google Shape;935;g3f778c2bce4_1_34"/>
          <p:cNvSpPr/>
          <p:nvPr/>
        </p:nvSpPr>
        <p:spPr>
          <a:xfrm>
            <a:off x="9145876" y="158256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778c2bce4_1_34"/>
          <p:cNvSpPr/>
          <p:nvPr/>
        </p:nvSpPr>
        <p:spPr>
          <a:xfrm>
            <a:off x="9639652" y="149862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37" name="Google Shape;937;g3f778c2bce4_1_34"/>
          <p:cNvSpPr/>
          <p:nvPr/>
        </p:nvSpPr>
        <p:spPr>
          <a:xfrm>
            <a:off x="9639652" y="158256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f778c2bce4_1_34"/>
          <p:cNvSpPr/>
          <p:nvPr/>
        </p:nvSpPr>
        <p:spPr>
          <a:xfrm>
            <a:off x="10133428" y="149862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39" name="Google Shape;939;g3f778c2bce4_1_34"/>
          <p:cNvSpPr/>
          <p:nvPr/>
        </p:nvSpPr>
        <p:spPr>
          <a:xfrm>
            <a:off x="10133428" y="158256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f778c2bce4_1_34"/>
          <p:cNvSpPr/>
          <p:nvPr/>
        </p:nvSpPr>
        <p:spPr>
          <a:xfrm>
            <a:off x="10627204" y="1498620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41" name="Google Shape;941;g3f778c2bce4_1_34"/>
          <p:cNvSpPr/>
          <p:nvPr/>
        </p:nvSpPr>
        <p:spPr>
          <a:xfrm>
            <a:off x="10627204" y="1582562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f778c2bce4_1_34"/>
          <p:cNvSpPr/>
          <p:nvPr/>
        </p:nvSpPr>
        <p:spPr>
          <a:xfrm>
            <a:off x="8306457" y="2076338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f778c2bce4_1_34"/>
          <p:cNvSpPr/>
          <p:nvPr/>
        </p:nvSpPr>
        <p:spPr>
          <a:xfrm>
            <a:off x="8652100" y="199239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44" name="Google Shape;944;g3f778c2bce4_1_34"/>
          <p:cNvSpPr/>
          <p:nvPr/>
        </p:nvSpPr>
        <p:spPr>
          <a:xfrm>
            <a:off x="8652100" y="207633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f778c2bce4_1_34"/>
          <p:cNvSpPr/>
          <p:nvPr/>
        </p:nvSpPr>
        <p:spPr>
          <a:xfrm>
            <a:off x="9145876" y="199239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46" name="Google Shape;946;g3f778c2bce4_1_34"/>
          <p:cNvSpPr/>
          <p:nvPr/>
        </p:nvSpPr>
        <p:spPr>
          <a:xfrm>
            <a:off x="9145876" y="207633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3f778c2bce4_1_34"/>
          <p:cNvSpPr/>
          <p:nvPr/>
        </p:nvSpPr>
        <p:spPr>
          <a:xfrm>
            <a:off x="9639652" y="199239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48" name="Google Shape;948;g3f778c2bce4_1_34"/>
          <p:cNvSpPr/>
          <p:nvPr/>
        </p:nvSpPr>
        <p:spPr>
          <a:xfrm>
            <a:off x="9639652" y="207633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f778c2bce4_1_34"/>
          <p:cNvSpPr/>
          <p:nvPr/>
        </p:nvSpPr>
        <p:spPr>
          <a:xfrm>
            <a:off x="10133428" y="199239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0" name="Google Shape;950;g3f778c2bce4_1_34"/>
          <p:cNvSpPr/>
          <p:nvPr/>
        </p:nvSpPr>
        <p:spPr>
          <a:xfrm>
            <a:off x="10133428" y="207633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f778c2bce4_1_34"/>
          <p:cNvSpPr/>
          <p:nvPr/>
        </p:nvSpPr>
        <p:spPr>
          <a:xfrm>
            <a:off x="10627204" y="1992396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2" name="Google Shape;952;g3f778c2bce4_1_34"/>
          <p:cNvSpPr/>
          <p:nvPr/>
        </p:nvSpPr>
        <p:spPr>
          <a:xfrm>
            <a:off x="10627204" y="2076338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778c2bce4_1_34"/>
          <p:cNvSpPr/>
          <p:nvPr/>
        </p:nvSpPr>
        <p:spPr>
          <a:xfrm>
            <a:off x="8306457" y="2570114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f778c2bce4_1_34"/>
          <p:cNvSpPr/>
          <p:nvPr/>
        </p:nvSpPr>
        <p:spPr>
          <a:xfrm>
            <a:off x="8652100" y="248617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5" name="Google Shape;955;g3f778c2bce4_1_34"/>
          <p:cNvSpPr/>
          <p:nvPr/>
        </p:nvSpPr>
        <p:spPr>
          <a:xfrm>
            <a:off x="8652100" y="257011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3f778c2bce4_1_34"/>
          <p:cNvSpPr/>
          <p:nvPr/>
        </p:nvSpPr>
        <p:spPr>
          <a:xfrm>
            <a:off x="9145876" y="248617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7" name="Google Shape;957;g3f778c2bce4_1_34"/>
          <p:cNvSpPr/>
          <p:nvPr/>
        </p:nvSpPr>
        <p:spPr>
          <a:xfrm>
            <a:off x="9145876" y="257011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g3f778c2bce4_1_34"/>
          <p:cNvSpPr/>
          <p:nvPr/>
        </p:nvSpPr>
        <p:spPr>
          <a:xfrm>
            <a:off x="9639652" y="248617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9" name="Google Shape;959;g3f778c2bce4_1_34"/>
          <p:cNvSpPr/>
          <p:nvPr/>
        </p:nvSpPr>
        <p:spPr>
          <a:xfrm>
            <a:off x="9639652" y="257011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f778c2bce4_1_34"/>
          <p:cNvSpPr/>
          <p:nvPr/>
        </p:nvSpPr>
        <p:spPr>
          <a:xfrm>
            <a:off x="10133428" y="248617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61" name="Google Shape;961;g3f778c2bce4_1_34"/>
          <p:cNvSpPr/>
          <p:nvPr/>
        </p:nvSpPr>
        <p:spPr>
          <a:xfrm>
            <a:off x="10133428" y="257011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f778c2bce4_1_34"/>
          <p:cNvSpPr/>
          <p:nvPr/>
        </p:nvSpPr>
        <p:spPr>
          <a:xfrm>
            <a:off x="10627204" y="2486172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63" name="Google Shape;963;g3f778c2bce4_1_34"/>
          <p:cNvSpPr/>
          <p:nvPr/>
        </p:nvSpPr>
        <p:spPr>
          <a:xfrm>
            <a:off x="10627204" y="2570114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f778c2bce4_1_34"/>
          <p:cNvSpPr/>
          <p:nvPr/>
        </p:nvSpPr>
        <p:spPr>
          <a:xfrm>
            <a:off x="8306457" y="3063890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f778c2bce4_1_34"/>
          <p:cNvSpPr/>
          <p:nvPr/>
        </p:nvSpPr>
        <p:spPr>
          <a:xfrm>
            <a:off x="8652100" y="297994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66" name="Google Shape;966;g3f778c2bce4_1_34"/>
          <p:cNvSpPr/>
          <p:nvPr/>
        </p:nvSpPr>
        <p:spPr>
          <a:xfrm>
            <a:off x="8652100" y="306389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f778c2bce4_1_34"/>
          <p:cNvSpPr/>
          <p:nvPr/>
        </p:nvSpPr>
        <p:spPr>
          <a:xfrm>
            <a:off x="9145876" y="297994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68" name="Google Shape;968;g3f778c2bce4_1_34"/>
          <p:cNvSpPr/>
          <p:nvPr/>
        </p:nvSpPr>
        <p:spPr>
          <a:xfrm>
            <a:off x="9145876" y="306389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f778c2bce4_1_34"/>
          <p:cNvSpPr/>
          <p:nvPr/>
        </p:nvSpPr>
        <p:spPr>
          <a:xfrm>
            <a:off x="9639652" y="297994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70" name="Google Shape;970;g3f778c2bce4_1_34"/>
          <p:cNvSpPr/>
          <p:nvPr/>
        </p:nvSpPr>
        <p:spPr>
          <a:xfrm>
            <a:off x="9639652" y="306389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f778c2bce4_1_34"/>
          <p:cNvSpPr/>
          <p:nvPr/>
        </p:nvSpPr>
        <p:spPr>
          <a:xfrm>
            <a:off x="10133428" y="297994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72" name="Google Shape;972;g3f778c2bce4_1_34"/>
          <p:cNvSpPr/>
          <p:nvPr/>
        </p:nvSpPr>
        <p:spPr>
          <a:xfrm>
            <a:off x="10133428" y="306389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g3f778c2bce4_1_34"/>
          <p:cNvSpPr/>
          <p:nvPr/>
        </p:nvSpPr>
        <p:spPr>
          <a:xfrm>
            <a:off x="10627204" y="2979948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74" name="Google Shape;974;g3f778c2bce4_1_34"/>
          <p:cNvSpPr/>
          <p:nvPr/>
        </p:nvSpPr>
        <p:spPr>
          <a:xfrm>
            <a:off x="10627204" y="3063890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f778c2bce4_1_34"/>
          <p:cNvSpPr/>
          <p:nvPr/>
        </p:nvSpPr>
        <p:spPr>
          <a:xfrm>
            <a:off x="8306457" y="3557666"/>
            <a:ext cx="246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f778c2bce4_1_34"/>
          <p:cNvSpPr/>
          <p:nvPr/>
        </p:nvSpPr>
        <p:spPr>
          <a:xfrm>
            <a:off x="8652100" y="347372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77" name="Google Shape;977;g3f778c2bce4_1_34"/>
          <p:cNvSpPr/>
          <p:nvPr/>
        </p:nvSpPr>
        <p:spPr>
          <a:xfrm>
            <a:off x="8652100" y="355766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3f778c2bce4_1_34"/>
          <p:cNvSpPr/>
          <p:nvPr/>
        </p:nvSpPr>
        <p:spPr>
          <a:xfrm>
            <a:off x="9145876" y="347372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79" name="Google Shape;979;g3f778c2bce4_1_34"/>
          <p:cNvSpPr/>
          <p:nvPr/>
        </p:nvSpPr>
        <p:spPr>
          <a:xfrm>
            <a:off x="9145876" y="355766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3f778c2bce4_1_34"/>
          <p:cNvSpPr/>
          <p:nvPr/>
        </p:nvSpPr>
        <p:spPr>
          <a:xfrm>
            <a:off x="9639652" y="347372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81" name="Google Shape;981;g3f778c2bce4_1_34"/>
          <p:cNvSpPr/>
          <p:nvPr/>
        </p:nvSpPr>
        <p:spPr>
          <a:xfrm>
            <a:off x="9639652" y="355766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g3f778c2bce4_1_34"/>
          <p:cNvSpPr/>
          <p:nvPr/>
        </p:nvSpPr>
        <p:spPr>
          <a:xfrm>
            <a:off x="10133428" y="347372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83" name="Google Shape;983;g3f778c2bce4_1_34"/>
          <p:cNvSpPr/>
          <p:nvPr/>
        </p:nvSpPr>
        <p:spPr>
          <a:xfrm>
            <a:off x="10133428" y="355766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g3f778c2bce4_1_34"/>
          <p:cNvSpPr/>
          <p:nvPr/>
        </p:nvSpPr>
        <p:spPr>
          <a:xfrm>
            <a:off x="10627204" y="3473724"/>
            <a:ext cx="493800" cy="493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85" name="Google Shape;985;g3f778c2bce4_1_34"/>
          <p:cNvSpPr/>
          <p:nvPr/>
        </p:nvSpPr>
        <p:spPr>
          <a:xfrm>
            <a:off x="10627204" y="3557666"/>
            <a:ext cx="493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f778c2bce4_5_459"/>
          <p:cNvSpPr txBox="1"/>
          <p:nvPr/>
        </p:nvSpPr>
        <p:spPr>
          <a:xfrm>
            <a:off x="4512150" y="286050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2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Core Idea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12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Each vertex stores a list of its neighbors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2"/>
          <p:cNvSpPr/>
          <p:nvPr/>
        </p:nvSpPr>
        <p:spPr>
          <a:xfrm>
            <a:off x="988380" y="2615319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0" name="Google Shape;1000;p12"/>
          <p:cNvCxnSpPr/>
          <p:nvPr/>
        </p:nvCxnSpPr>
        <p:spPr>
          <a:xfrm>
            <a:off x="1262700" y="2715903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1" name="Google Shape;1001;p12"/>
          <p:cNvSpPr/>
          <p:nvPr/>
        </p:nvSpPr>
        <p:spPr>
          <a:xfrm>
            <a:off x="1610172" y="251473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2"/>
          <p:cNvSpPr/>
          <p:nvPr/>
        </p:nvSpPr>
        <p:spPr>
          <a:xfrm>
            <a:off x="1637604" y="258788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3" name="Google Shape;1003;p12"/>
          <p:cNvCxnSpPr/>
          <p:nvPr/>
        </p:nvCxnSpPr>
        <p:spPr>
          <a:xfrm>
            <a:off x="2177100" y="2679327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4" name="Google Shape;1004;p12"/>
          <p:cNvSpPr/>
          <p:nvPr/>
        </p:nvSpPr>
        <p:spPr>
          <a:xfrm>
            <a:off x="2323404" y="251473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2"/>
          <p:cNvSpPr/>
          <p:nvPr/>
        </p:nvSpPr>
        <p:spPr>
          <a:xfrm>
            <a:off x="2350836" y="258788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2"/>
          <p:cNvSpPr/>
          <p:nvPr/>
        </p:nvSpPr>
        <p:spPr>
          <a:xfrm>
            <a:off x="988380" y="3182247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7" name="Google Shape;1007;p12"/>
          <p:cNvCxnSpPr/>
          <p:nvPr/>
        </p:nvCxnSpPr>
        <p:spPr>
          <a:xfrm>
            <a:off x="1262700" y="3282831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8" name="Google Shape;1008;p12"/>
          <p:cNvSpPr/>
          <p:nvPr/>
        </p:nvSpPr>
        <p:spPr>
          <a:xfrm>
            <a:off x="1610172" y="3081663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2"/>
          <p:cNvSpPr/>
          <p:nvPr/>
        </p:nvSpPr>
        <p:spPr>
          <a:xfrm>
            <a:off x="1637604" y="3154815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0" name="Google Shape;1010;p12"/>
          <p:cNvCxnSpPr/>
          <p:nvPr/>
        </p:nvCxnSpPr>
        <p:spPr>
          <a:xfrm>
            <a:off x="2177100" y="3246255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1" name="Google Shape;1011;p12"/>
          <p:cNvSpPr/>
          <p:nvPr/>
        </p:nvSpPr>
        <p:spPr>
          <a:xfrm>
            <a:off x="2323404" y="3081663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2"/>
          <p:cNvSpPr/>
          <p:nvPr/>
        </p:nvSpPr>
        <p:spPr>
          <a:xfrm>
            <a:off x="2350836" y="3154815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3" name="Google Shape;1013;p12"/>
          <p:cNvCxnSpPr/>
          <p:nvPr/>
        </p:nvCxnSpPr>
        <p:spPr>
          <a:xfrm>
            <a:off x="2890332" y="3246255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4" name="Google Shape;1014;p12"/>
          <p:cNvSpPr/>
          <p:nvPr/>
        </p:nvSpPr>
        <p:spPr>
          <a:xfrm>
            <a:off x="3036636" y="3081663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2"/>
          <p:cNvSpPr/>
          <p:nvPr/>
        </p:nvSpPr>
        <p:spPr>
          <a:xfrm>
            <a:off x="3064068" y="3154815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6" name="Google Shape;1016;p12"/>
          <p:cNvCxnSpPr/>
          <p:nvPr/>
        </p:nvCxnSpPr>
        <p:spPr>
          <a:xfrm>
            <a:off x="3603564" y="3246255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7" name="Google Shape;1017;p12"/>
          <p:cNvSpPr/>
          <p:nvPr/>
        </p:nvSpPr>
        <p:spPr>
          <a:xfrm>
            <a:off x="3749868" y="3081663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2"/>
          <p:cNvSpPr/>
          <p:nvPr/>
        </p:nvSpPr>
        <p:spPr>
          <a:xfrm>
            <a:off x="3777300" y="3154815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2"/>
          <p:cNvSpPr/>
          <p:nvPr/>
        </p:nvSpPr>
        <p:spPr>
          <a:xfrm>
            <a:off x="988380" y="3749175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0" name="Google Shape;1020;p12"/>
          <p:cNvCxnSpPr/>
          <p:nvPr/>
        </p:nvCxnSpPr>
        <p:spPr>
          <a:xfrm>
            <a:off x="1262700" y="3849759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1" name="Google Shape;1021;p12"/>
          <p:cNvSpPr/>
          <p:nvPr/>
        </p:nvSpPr>
        <p:spPr>
          <a:xfrm>
            <a:off x="1610172" y="3648591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2"/>
          <p:cNvSpPr/>
          <p:nvPr/>
        </p:nvSpPr>
        <p:spPr>
          <a:xfrm>
            <a:off x="1637604" y="3721743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3" name="Google Shape;1023;p12"/>
          <p:cNvCxnSpPr/>
          <p:nvPr/>
        </p:nvCxnSpPr>
        <p:spPr>
          <a:xfrm>
            <a:off x="2177100" y="3813183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4" name="Google Shape;1024;p12"/>
          <p:cNvSpPr/>
          <p:nvPr/>
        </p:nvSpPr>
        <p:spPr>
          <a:xfrm>
            <a:off x="2323404" y="3648591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2"/>
          <p:cNvSpPr/>
          <p:nvPr/>
        </p:nvSpPr>
        <p:spPr>
          <a:xfrm>
            <a:off x="2350836" y="3721743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2"/>
          <p:cNvSpPr/>
          <p:nvPr/>
        </p:nvSpPr>
        <p:spPr>
          <a:xfrm>
            <a:off x="988380" y="4316103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7" name="Google Shape;1027;p12"/>
          <p:cNvCxnSpPr/>
          <p:nvPr/>
        </p:nvCxnSpPr>
        <p:spPr>
          <a:xfrm>
            <a:off x="1262700" y="4416687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8" name="Google Shape;1028;p12"/>
          <p:cNvSpPr/>
          <p:nvPr/>
        </p:nvSpPr>
        <p:spPr>
          <a:xfrm>
            <a:off x="1610172" y="4215519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2"/>
          <p:cNvSpPr/>
          <p:nvPr/>
        </p:nvSpPr>
        <p:spPr>
          <a:xfrm>
            <a:off x="1637604" y="4288671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0" name="Google Shape;1030;p12"/>
          <p:cNvCxnSpPr/>
          <p:nvPr/>
        </p:nvCxnSpPr>
        <p:spPr>
          <a:xfrm>
            <a:off x="2177100" y="4380111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1" name="Google Shape;1031;p12"/>
          <p:cNvSpPr/>
          <p:nvPr/>
        </p:nvSpPr>
        <p:spPr>
          <a:xfrm>
            <a:off x="2323404" y="4215519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2"/>
          <p:cNvSpPr/>
          <p:nvPr/>
        </p:nvSpPr>
        <p:spPr>
          <a:xfrm>
            <a:off x="2350836" y="4288671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12"/>
          <p:cNvCxnSpPr/>
          <p:nvPr/>
        </p:nvCxnSpPr>
        <p:spPr>
          <a:xfrm>
            <a:off x="2890332" y="4380111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4" name="Google Shape;1034;p12"/>
          <p:cNvSpPr/>
          <p:nvPr/>
        </p:nvSpPr>
        <p:spPr>
          <a:xfrm>
            <a:off x="3036636" y="4215519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2"/>
          <p:cNvSpPr/>
          <p:nvPr/>
        </p:nvSpPr>
        <p:spPr>
          <a:xfrm>
            <a:off x="3064068" y="4288671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2"/>
          <p:cNvSpPr/>
          <p:nvPr/>
        </p:nvSpPr>
        <p:spPr>
          <a:xfrm>
            <a:off x="988380" y="4883031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20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7" name="Google Shape;1037;p12"/>
          <p:cNvCxnSpPr/>
          <p:nvPr/>
        </p:nvCxnSpPr>
        <p:spPr>
          <a:xfrm>
            <a:off x="1262700" y="4983615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8" name="Google Shape;1038;p12"/>
          <p:cNvSpPr/>
          <p:nvPr/>
        </p:nvSpPr>
        <p:spPr>
          <a:xfrm>
            <a:off x="1610172" y="478244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2"/>
          <p:cNvSpPr/>
          <p:nvPr/>
        </p:nvSpPr>
        <p:spPr>
          <a:xfrm>
            <a:off x="1637604" y="4855599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0" name="Google Shape;1040;p12"/>
          <p:cNvCxnSpPr/>
          <p:nvPr/>
        </p:nvCxnSpPr>
        <p:spPr>
          <a:xfrm>
            <a:off x="2177100" y="4947039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1" name="Google Shape;1041;p12"/>
          <p:cNvSpPr/>
          <p:nvPr/>
        </p:nvSpPr>
        <p:spPr>
          <a:xfrm>
            <a:off x="2323404" y="478244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2"/>
          <p:cNvSpPr/>
          <p:nvPr/>
        </p:nvSpPr>
        <p:spPr>
          <a:xfrm>
            <a:off x="2350836" y="4855599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3" name="Google Shape;1043;p12"/>
          <p:cNvCxnSpPr/>
          <p:nvPr/>
        </p:nvCxnSpPr>
        <p:spPr>
          <a:xfrm>
            <a:off x="2890332" y="4947039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4" name="Google Shape;1044;p12"/>
          <p:cNvSpPr/>
          <p:nvPr/>
        </p:nvSpPr>
        <p:spPr>
          <a:xfrm>
            <a:off x="3036636" y="478244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12"/>
          <p:cNvSpPr/>
          <p:nvPr/>
        </p:nvSpPr>
        <p:spPr>
          <a:xfrm>
            <a:off x="3064068" y="4855599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2"/>
          <p:cNvSpPr/>
          <p:nvPr/>
        </p:nvSpPr>
        <p:spPr>
          <a:xfrm>
            <a:off x="6111875" y="2263088"/>
            <a:ext cx="6079800" cy="1097400"/>
          </a:xfrm>
          <a:prstGeom prst="roundRect">
            <a:avLst>
              <a:gd fmla="val 6667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47" name="Google Shape;1047;p12"/>
          <p:cNvSpPr/>
          <p:nvPr/>
        </p:nvSpPr>
        <p:spPr>
          <a:xfrm>
            <a:off x="6285586" y="2372815"/>
            <a:ext cx="573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Why adjacency list?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2"/>
          <p:cNvSpPr/>
          <p:nvPr/>
        </p:nvSpPr>
        <p:spPr>
          <a:xfrm>
            <a:off x="6285586" y="2674566"/>
            <a:ext cx="5732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stores only existing edges, </a:t>
            </a:r>
            <a:b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it is usually </a:t>
            </a:r>
            <a:r>
              <a:rPr b="1" i="0" lang="en-US" sz="1550" u="sng" cap="none" strike="noStrike">
                <a:solidFill>
                  <a:srgbClr val="000000"/>
                </a:solidFill>
              </a:rPr>
              <a:t>more space-efficient for sparse graphs</a:t>
            </a: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2"/>
          <p:cNvSpPr/>
          <p:nvPr/>
        </p:nvSpPr>
        <p:spPr>
          <a:xfrm>
            <a:off x="6111875" y="3817562"/>
            <a:ext cx="6079800" cy="1097400"/>
          </a:xfrm>
          <a:prstGeom prst="roundRect">
            <a:avLst>
              <a:gd fmla="val 6667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50" name="Google Shape;1050;p12"/>
          <p:cNvSpPr/>
          <p:nvPr/>
        </p:nvSpPr>
        <p:spPr>
          <a:xfrm>
            <a:off x="6285586" y="3927290"/>
            <a:ext cx="573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Neighbor search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2"/>
          <p:cNvSpPr/>
          <p:nvPr/>
        </p:nvSpPr>
        <p:spPr>
          <a:xfrm>
            <a:off x="6285586" y="4229041"/>
            <a:ext cx="5732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find neighbors of vertex u, </a:t>
            </a:r>
            <a:r>
              <a:rPr b="1" i="0" lang="en-US" sz="1550" u="sng" cap="none" strike="noStrike">
                <a:solidFill>
                  <a:srgbClr val="000000"/>
                </a:solidFill>
              </a:rPr>
              <a:t>traverse only list[u].</a:t>
            </a:r>
            <a:endParaRPr b="1" i="0" sz="1550" u="sng" cap="none" strike="noStrike">
              <a:solidFill>
                <a:schemeClr val="dk1"/>
              </a:solidFill>
            </a:endParaRPr>
          </a:p>
        </p:txBody>
      </p:sp>
      <p:sp>
        <p:nvSpPr>
          <p:cNvPr id="1052" name="Google Shape;1052;p1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3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Undirected Unweighted Graph (5)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3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555555"/>
                </a:solidFill>
              </a:rPr>
              <a:t>In an undirected graph, both vertices are added to each other’s adjacency list.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060" name="Google Shape;1060;p13"/>
          <p:cNvSpPr/>
          <p:nvPr/>
        </p:nvSpPr>
        <p:spPr>
          <a:xfrm>
            <a:off x="411065" y="161193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1" name="Google Shape;1061;p13"/>
          <p:cNvCxnSpPr/>
          <p:nvPr/>
        </p:nvCxnSpPr>
        <p:spPr>
          <a:xfrm flipH="1" rot="10800000">
            <a:off x="1133099" y="2491174"/>
            <a:ext cx="1207800" cy="710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13"/>
          <p:cNvCxnSpPr/>
          <p:nvPr/>
        </p:nvCxnSpPr>
        <p:spPr>
          <a:xfrm>
            <a:off x="1060719" y="3477538"/>
            <a:ext cx="621000" cy="10695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13"/>
          <p:cNvCxnSpPr/>
          <p:nvPr/>
        </p:nvCxnSpPr>
        <p:spPr>
          <a:xfrm flipH="1">
            <a:off x="1842867" y="2581114"/>
            <a:ext cx="611100" cy="19479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13"/>
          <p:cNvCxnSpPr/>
          <p:nvPr/>
        </p:nvCxnSpPr>
        <p:spPr>
          <a:xfrm>
            <a:off x="2640586" y="2545667"/>
            <a:ext cx="707400" cy="8757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13"/>
          <p:cNvCxnSpPr/>
          <p:nvPr/>
        </p:nvCxnSpPr>
        <p:spPr>
          <a:xfrm>
            <a:off x="2587837" y="2576370"/>
            <a:ext cx="950100" cy="2414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13"/>
          <p:cNvCxnSpPr/>
          <p:nvPr/>
        </p:nvCxnSpPr>
        <p:spPr>
          <a:xfrm>
            <a:off x="3491485" y="3778323"/>
            <a:ext cx="102900" cy="11994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13"/>
          <p:cNvCxnSpPr/>
          <p:nvPr/>
        </p:nvCxnSpPr>
        <p:spPr>
          <a:xfrm>
            <a:off x="1977827" y="4769680"/>
            <a:ext cx="1438500" cy="35970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8" name="Google Shape;1068;p13"/>
          <p:cNvSpPr/>
          <p:nvPr/>
        </p:nvSpPr>
        <p:spPr>
          <a:xfrm>
            <a:off x="758537" y="310240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3"/>
          <p:cNvSpPr/>
          <p:nvPr/>
        </p:nvSpPr>
        <p:spPr>
          <a:xfrm>
            <a:off x="849977" y="320298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13"/>
          <p:cNvSpPr/>
          <p:nvPr/>
        </p:nvSpPr>
        <p:spPr>
          <a:xfrm>
            <a:off x="2313017" y="218800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3"/>
          <p:cNvSpPr/>
          <p:nvPr/>
        </p:nvSpPr>
        <p:spPr>
          <a:xfrm>
            <a:off x="2404457" y="228858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3"/>
          <p:cNvSpPr/>
          <p:nvPr/>
        </p:nvSpPr>
        <p:spPr>
          <a:xfrm>
            <a:off x="3273137" y="337672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3"/>
          <p:cNvSpPr/>
          <p:nvPr/>
        </p:nvSpPr>
        <p:spPr>
          <a:xfrm>
            <a:off x="3364577" y="347730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3"/>
          <p:cNvSpPr/>
          <p:nvPr/>
        </p:nvSpPr>
        <p:spPr>
          <a:xfrm>
            <a:off x="1581497" y="451972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3"/>
          <p:cNvSpPr/>
          <p:nvPr/>
        </p:nvSpPr>
        <p:spPr>
          <a:xfrm>
            <a:off x="1672937" y="462030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3"/>
          <p:cNvSpPr/>
          <p:nvPr/>
        </p:nvSpPr>
        <p:spPr>
          <a:xfrm>
            <a:off x="3410297" y="4976922"/>
            <a:ext cx="402300" cy="402300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13"/>
          <p:cNvSpPr/>
          <p:nvPr/>
        </p:nvSpPr>
        <p:spPr>
          <a:xfrm>
            <a:off x="3501737" y="5077506"/>
            <a:ext cx="21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3"/>
          <p:cNvSpPr/>
          <p:nvPr/>
        </p:nvSpPr>
        <p:spPr>
          <a:xfrm>
            <a:off x="4233230" y="170561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3"/>
          <p:cNvSpPr/>
          <p:nvPr/>
        </p:nvSpPr>
        <p:spPr>
          <a:xfrm>
            <a:off x="4324670" y="240056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0" name="Google Shape;1080;p13"/>
          <p:cNvCxnSpPr/>
          <p:nvPr/>
        </p:nvCxnSpPr>
        <p:spPr>
          <a:xfrm>
            <a:off x="4598990" y="250114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1" name="Google Shape;1081;p13"/>
          <p:cNvSpPr/>
          <p:nvPr/>
        </p:nvSpPr>
        <p:spPr>
          <a:xfrm>
            <a:off x="4946462" y="229997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3"/>
          <p:cNvSpPr/>
          <p:nvPr/>
        </p:nvSpPr>
        <p:spPr>
          <a:xfrm>
            <a:off x="4973894" y="237313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3" name="Google Shape;1083;p13"/>
          <p:cNvCxnSpPr/>
          <p:nvPr/>
        </p:nvCxnSpPr>
        <p:spPr>
          <a:xfrm>
            <a:off x="5513390" y="246457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4" name="Google Shape;1084;p13"/>
          <p:cNvSpPr/>
          <p:nvPr/>
        </p:nvSpPr>
        <p:spPr>
          <a:xfrm>
            <a:off x="5659694" y="229997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3"/>
          <p:cNvSpPr/>
          <p:nvPr/>
        </p:nvSpPr>
        <p:spPr>
          <a:xfrm>
            <a:off x="5687126" y="237313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3"/>
          <p:cNvSpPr/>
          <p:nvPr/>
        </p:nvSpPr>
        <p:spPr>
          <a:xfrm>
            <a:off x="4324670" y="299492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7" name="Google Shape;1087;p13"/>
          <p:cNvCxnSpPr/>
          <p:nvPr/>
        </p:nvCxnSpPr>
        <p:spPr>
          <a:xfrm>
            <a:off x="4598990" y="309550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8" name="Google Shape;1088;p13"/>
          <p:cNvSpPr/>
          <p:nvPr/>
        </p:nvSpPr>
        <p:spPr>
          <a:xfrm>
            <a:off x="4946462" y="289433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13"/>
          <p:cNvSpPr/>
          <p:nvPr/>
        </p:nvSpPr>
        <p:spPr>
          <a:xfrm>
            <a:off x="4973894" y="296749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0" name="Google Shape;1090;p13"/>
          <p:cNvCxnSpPr/>
          <p:nvPr/>
        </p:nvCxnSpPr>
        <p:spPr>
          <a:xfrm>
            <a:off x="5513390" y="305893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1" name="Google Shape;1091;p13"/>
          <p:cNvSpPr/>
          <p:nvPr/>
        </p:nvSpPr>
        <p:spPr>
          <a:xfrm>
            <a:off x="5659694" y="289433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13"/>
          <p:cNvSpPr/>
          <p:nvPr/>
        </p:nvSpPr>
        <p:spPr>
          <a:xfrm>
            <a:off x="5687126" y="296749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3" name="Google Shape;1093;p13"/>
          <p:cNvCxnSpPr/>
          <p:nvPr/>
        </p:nvCxnSpPr>
        <p:spPr>
          <a:xfrm>
            <a:off x="6226622" y="305893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4" name="Google Shape;1094;p13"/>
          <p:cNvSpPr/>
          <p:nvPr/>
        </p:nvSpPr>
        <p:spPr>
          <a:xfrm>
            <a:off x="6372926" y="289433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3"/>
          <p:cNvSpPr/>
          <p:nvPr/>
        </p:nvSpPr>
        <p:spPr>
          <a:xfrm>
            <a:off x="6400358" y="296749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6" name="Google Shape;1096;p13"/>
          <p:cNvCxnSpPr/>
          <p:nvPr/>
        </p:nvCxnSpPr>
        <p:spPr>
          <a:xfrm>
            <a:off x="6939854" y="305893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7" name="Google Shape;1097;p13"/>
          <p:cNvSpPr/>
          <p:nvPr/>
        </p:nvSpPr>
        <p:spPr>
          <a:xfrm>
            <a:off x="7086158" y="289433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3"/>
          <p:cNvSpPr/>
          <p:nvPr/>
        </p:nvSpPr>
        <p:spPr>
          <a:xfrm>
            <a:off x="7113590" y="296749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3"/>
          <p:cNvSpPr/>
          <p:nvPr/>
        </p:nvSpPr>
        <p:spPr>
          <a:xfrm>
            <a:off x="4324670" y="358928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0" name="Google Shape;1100;p13"/>
          <p:cNvCxnSpPr/>
          <p:nvPr/>
        </p:nvCxnSpPr>
        <p:spPr>
          <a:xfrm>
            <a:off x="4598990" y="368986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1" name="Google Shape;1101;p13"/>
          <p:cNvSpPr/>
          <p:nvPr/>
        </p:nvSpPr>
        <p:spPr>
          <a:xfrm>
            <a:off x="4946462" y="348869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13"/>
          <p:cNvSpPr/>
          <p:nvPr/>
        </p:nvSpPr>
        <p:spPr>
          <a:xfrm>
            <a:off x="4973894" y="356185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3" name="Google Shape;1103;p13"/>
          <p:cNvCxnSpPr/>
          <p:nvPr/>
        </p:nvCxnSpPr>
        <p:spPr>
          <a:xfrm>
            <a:off x="5513390" y="3653289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4" name="Google Shape;1104;p13"/>
          <p:cNvSpPr/>
          <p:nvPr/>
        </p:nvSpPr>
        <p:spPr>
          <a:xfrm>
            <a:off x="5659694" y="348869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13"/>
          <p:cNvSpPr/>
          <p:nvPr/>
        </p:nvSpPr>
        <p:spPr>
          <a:xfrm>
            <a:off x="5687126" y="356185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13"/>
          <p:cNvSpPr/>
          <p:nvPr/>
        </p:nvSpPr>
        <p:spPr>
          <a:xfrm>
            <a:off x="4324670" y="418364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7" name="Google Shape;1107;p13"/>
          <p:cNvCxnSpPr/>
          <p:nvPr/>
        </p:nvCxnSpPr>
        <p:spPr>
          <a:xfrm>
            <a:off x="4598990" y="428422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8" name="Google Shape;1108;p13"/>
          <p:cNvSpPr/>
          <p:nvPr/>
        </p:nvSpPr>
        <p:spPr>
          <a:xfrm>
            <a:off x="4946462" y="408305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3"/>
          <p:cNvSpPr/>
          <p:nvPr/>
        </p:nvSpPr>
        <p:spPr>
          <a:xfrm>
            <a:off x="4973894" y="415621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0" name="Google Shape;1110;p13"/>
          <p:cNvCxnSpPr/>
          <p:nvPr/>
        </p:nvCxnSpPr>
        <p:spPr>
          <a:xfrm>
            <a:off x="5513390" y="424765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1" name="Google Shape;1111;p13"/>
          <p:cNvSpPr/>
          <p:nvPr/>
        </p:nvSpPr>
        <p:spPr>
          <a:xfrm>
            <a:off x="5659694" y="408305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3"/>
          <p:cNvSpPr/>
          <p:nvPr/>
        </p:nvSpPr>
        <p:spPr>
          <a:xfrm>
            <a:off x="5687126" y="415621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3" name="Google Shape;1113;p13"/>
          <p:cNvCxnSpPr/>
          <p:nvPr/>
        </p:nvCxnSpPr>
        <p:spPr>
          <a:xfrm>
            <a:off x="6226622" y="424765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4" name="Google Shape;1114;p13"/>
          <p:cNvSpPr/>
          <p:nvPr/>
        </p:nvSpPr>
        <p:spPr>
          <a:xfrm>
            <a:off x="6372926" y="408305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3"/>
          <p:cNvSpPr/>
          <p:nvPr/>
        </p:nvSpPr>
        <p:spPr>
          <a:xfrm>
            <a:off x="6400358" y="415621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3"/>
          <p:cNvSpPr/>
          <p:nvPr/>
        </p:nvSpPr>
        <p:spPr>
          <a:xfrm>
            <a:off x="4324670" y="477800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7" name="Google Shape;1117;p13"/>
          <p:cNvCxnSpPr/>
          <p:nvPr/>
        </p:nvCxnSpPr>
        <p:spPr>
          <a:xfrm>
            <a:off x="4598990" y="487858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8" name="Google Shape;1118;p13"/>
          <p:cNvSpPr/>
          <p:nvPr/>
        </p:nvSpPr>
        <p:spPr>
          <a:xfrm>
            <a:off x="4946462" y="467741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3"/>
          <p:cNvSpPr/>
          <p:nvPr/>
        </p:nvSpPr>
        <p:spPr>
          <a:xfrm>
            <a:off x="4973894" y="475057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0" name="Google Shape;1120;p13"/>
          <p:cNvCxnSpPr/>
          <p:nvPr/>
        </p:nvCxnSpPr>
        <p:spPr>
          <a:xfrm>
            <a:off x="5513390" y="484201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1" name="Google Shape;1121;p13"/>
          <p:cNvSpPr/>
          <p:nvPr/>
        </p:nvSpPr>
        <p:spPr>
          <a:xfrm>
            <a:off x="5659694" y="467741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13"/>
          <p:cNvSpPr/>
          <p:nvPr/>
        </p:nvSpPr>
        <p:spPr>
          <a:xfrm>
            <a:off x="5687126" y="475057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3" name="Google Shape;1123;p13"/>
          <p:cNvCxnSpPr/>
          <p:nvPr/>
        </p:nvCxnSpPr>
        <p:spPr>
          <a:xfrm>
            <a:off x="6226622" y="484201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4" name="Google Shape;1124;p13"/>
          <p:cNvSpPr/>
          <p:nvPr/>
        </p:nvSpPr>
        <p:spPr>
          <a:xfrm>
            <a:off x="6372926" y="467741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3"/>
          <p:cNvSpPr/>
          <p:nvPr/>
        </p:nvSpPr>
        <p:spPr>
          <a:xfrm>
            <a:off x="6400358" y="475057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3"/>
          <p:cNvSpPr/>
          <p:nvPr/>
        </p:nvSpPr>
        <p:spPr>
          <a:xfrm>
            <a:off x="4434375" y="5541700"/>
            <a:ext cx="6051300" cy="971700"/>
          </a:xfrm>
          <a:prstGeom prst="roundRect">
            <a:avLst>
              <a:gd fmla="val 10667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3"/>
          <p:cNvSpPr/>
          <p:nvPr/>
        </p:nvSpPr>
        <p:spPr>
          <a:xfrm>
            <a:off x="4793265" y="5632211"/>
            <a:ext cx="489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13"/>
          <p:cNvSpPr/>
          <p:nvPr/>
        </p:nvSpPr>
        <p:spPr>
          <a:xfrm>
            <a:off x="4714550" y="5983988"/>
            <a:ext cx="5910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edge (u, v): insert v into list[u] and insert u into list[v].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3"/>
          <p:cNvSpPr txBox="1"/>
          <p:nvPr/>
        </p:nvSpPr>
        <p:spPr>
          <a:xfrm>
            <a:off x="8168350" y="2735900"/>
            <a:ext cx="42084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class Edge {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int destination;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Edge next;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Edge(int destination) {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this.destination = destination;</a:t>
            </a:r>
            <a:endParaRPr b="1" sz="144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n-US" sz="14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this.next = null;</a:t>
            </a:r>
            <a:endParaRPr b="1" sz="144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4"/>
          <p:cNvSpPr/>
          <p:nvPr/>
        </p:nvSpPr>
        <p:spPr>
          <a:xfrm>
            <a:off x="132795" y="2248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4"/>
          <p:cNvSpPr/>
          <p:nvPr/>
        </p:nvSpPr>
        <p:spPr>
          <a:xfrm>
            <a:off x="132800" y="720600"/>
            <a:ext cx="7552200" cy="59484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4"/>
          <p:cNvSpPr/>
          <p:nvPr/>
        </p:nvSpPr>
        <p:spPr>
          <a:xfrm>
            <a:off x="252043" y="801946"/>
            <a:ext cx="7313400" cy="57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GraphUndirectedWeightedAdjacencyList {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private int numVertices;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Total number of vertices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private Edge[] adjList;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Array of linked lists (Adjacency List)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/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 Constructor: initialize graph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GraphUndirectedUnweightedAdjacencyList(int numVertices) {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Create an array of size = numVertices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Each index will store the head of a linked list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adjList = new Edge[numVertices];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Initially all values are null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4"/>
          <p:cNvSpPr/>
          <p:nvPr/>
        </p:nvSpPr>
        <p:spPr>
          <a:xfrm>
            <a:off x="7830100" y="3892275"/>
            <a:ext cx="4259400" cy="24903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4"/>
          <p:cNvSpPr/>
          <p:nvPr/>
        </p:nvSpPr>
        <p:spPr>
          <a:xfrm>
            <a:off x="7949500" y="4071800"/>
            <a:ext cx="4056300" cy="22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GraphUndirectedUnweightedList graph =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new GraphUndirectedUnweightedList(5);</a:t>
            </a:r>
            <a:b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2" name="Google Shape;1142;p14"/>
          <p:cNvCxnSpPr/>
          <p:nvPr/>
        </p:nvCxnSpPr>
        <p:spPr>
          <a:xfrm flipH="1" rot="10800000">
            <a:off x="8968786" y="1169029"/>
            <a:ext cx="975300" cy="5733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3" name="Google Shape;1143;p14"/>
          <p:cNvCxnSpPr/>
          <p:nvPr/>
        </p:nvCxnSpPr>
        <p:spPr>
          <a:xfrm>
            <a:off x="8910353" y="1965113"/>
            <a:ext cx="501300" cy="8634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4" name="Google Shape;1144;p14"/>
          <p:cNvCxnSpPr/>
          <p:nvPr/>
        </p:nvCxnSpPr>
        <p:spPr>
          <a:xfrm flipH="1">
            <a:off x="9541631" y="1241433"/>
            <a:ext cx="493500" cy="15726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14"/>
          <p:cNvCxnSpPr/>
          <p:nvPr/>
        </p:nvCxnSpPr>
        <p:spPr>
          <a:xfrm>
            <a:off x="10185790" y="1212817"/>
            <a:ext cx="571200" cy="7071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14"/>
          <p:cNvCxnSpPr/>
          <p:nvPr/>
        </p:nvCxnSpPr>
        <p:spPr>
          <a:xfrm>
            <a:off x="10143206" y="1237603"/>
            <a:ext cx="767100" cy="19491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7" name="Google Shape;1147;p14"/>
          <p:cNvCxnSpPr/>
          <p:nvPr/>
        </p:nvCxnSpPr>
        <p:spPr>
          <a:xfrm>
            <a:off x="10872727" y="2207936"/>
            <a:ext cx="83100" cy="9684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8" name="Google Shape;1148;p14"/>
          <p:cNvCxnSpPr/>
          <p:nvPr/>
        </p:nvCxnSpPr>
        <p:spPr>
          <a:xfrm>
            <a:off x="9650740" y="3008256"/>
            <a:ext cx="1161300" cy="2904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9" name="Google Shape;1149;p14"/>
          <p:cNvSpPr/>
          <p:nvPr/>
        </p:nvSpPr>
        <p:spPr>
          <a:xfrm>
            <a:off x="8666399" y="1662267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14"/>
          <p:cNvSpPr/>
          <p:nvPr/>
        </p:nvSpPr>
        <p:spPr>
          <a:xfrm>
            <a:off x="8740219" y="1743468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4"/>
          <p:cNvSpPr/>
          <p:nvPr/>
        </p:nvSpPr>
        <p:spPr>
          <a:xfrm>
            <a:off x="9921342" y="924075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4"/>
          <p:cNvSpPr/>
          <p:nvPr/>
        </p:nvSpPr>
        <p:spPr>
          <a:xfrm>
            <a:off x="9995162" y="1005276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4"/>
          <p:cNvSpPr/>
          <p:nvPr/>
        </p:nvSpPr>
        <p:spPr>
          <a:xfrm>
            <a:off x="10696453" y="1883725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4"/>
          <p:cNvSpPr/>
          <p:nvPr/>
        </p:nvSpPr>
        <p:spPr>
          <a:xfrm>
            <a:off x="10770273" y="1964926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4"/>
          <p:cNvSpPr/>
          <p:nvPr/>
        </p:nvSpPr>
        <p:spPr>
          <a:xfrm>
            <a:off x="9330780" y="2806465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4"/>
          <p:cNvSpPr/>
          <p:nvPr/>
        </p:nvSpPr>
        <p:spPr>
          <a:xfrm>
            <a:off x="9404601" y="2887666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14"/>
          <p:cNvSpPr/>
          <p:nvPr/>
        </p:nvSpPr>
        <p:spPr>
          <a:xfrm>
            <a:off x="10807183" y="3175561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4"/>
          <p:cNvSpPr/>
          <p:nvPr/>
        </p:nvSpPr>
        <p:spPr>
          <a:xfrm>
            <a:off x="10881003" y="3256763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f778c2bce4_2_426"/>
          <p:cNvSpPr/>
          <p:nvPr/>
        </p:nvSpPr>
        <p:spPr>
          <a:xfrm>
            <a:off x="132795" y="2248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g3f778c2bce4_2_426"/>
          <p:cNvSpPr/>
          <p:nvPr/>
        </p:nvSpPr>
        <p:spPr>
          <a:xfrm>
            <a:off x="132800" y="720600"/>
            <a:ext cx="7552200" cy="59484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g3f778c2bce4_2_426"/>
          <p:cNvSpPr/>
          <p:nvPr/>
        </p:nvSpPr>
        <p:spPr>
          <a:xfrm>
            <a:off x="291468" y="883496"/>
            <a:ext cx="7313400" cy="57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GraphUndirectedWeightedAdjacencyList {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Add multiple edges to the graph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b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b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2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For UNDIRECTED graph:</a:t>
            </a:r>
            <a:r>
              <a:rPr b="1" lang="en-US" sz="1700">
                <a:solidFill>
                  <a:srgbClr val="0B7A3B"/>
                </a:solidFill>
              </a:rPr>
              <a:t> </a:t>
            </a:r>
            <a:r>
              <a:rPr b="1" lang="en-US" sz="12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Add edge in BOTH directions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addEdge(source, destination);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source → destination</a:t>
            </a:r>
            <a:br>
              <a:rPr b="1" lang="en-US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addEdge(destination, source);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destination → source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Helper method to add a single edge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private void addEdge(int source, int destination) {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Step 1: Create a new edge node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Edge newEdge = new Edge(destination);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2: Insert at the beginning (prepend) ensuring O(1) 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3: Update head of the list</a:t>
            </a:r>
            <a:endParaRPr b="1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7" name="Google Shape;1167;g3f778c2bce4_2_426"/>
          <p:cNvSpPr/>
          <p:nvPr/>
        </p:nvSpPr>
        <p:spPr>
          <a:xfrm>
            <a:off x="7830100" y="3892275"/>
            <a:ext cx="4259400" cy="24903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g3f778c2bce4_2_426"/>
          <p:cNvSpPr/>
          <p:nvPr/>
        </p:nvSpPr>
        <p:spPr>
          <a:xfrm>
            <a:off x="7949500" y="4071800"/>
            <a:ext cx="4056300" cy="22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{0,1}, {0,3},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{1,3}, {1,2}, {1,4},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{2,4}, </a:t>
            </a:r>
            <a:b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{3,4}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3f778c2bce4_2_426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0" name="Google Shape;1170;g3f778c2bce4_2_426"/>
          <p:cNvCxnSpPr/>
          <p:nvPr/>
        </p:nvCxnSpPr>
        <p:spPr>
          <a:xfrm flipH="1" rot="10800000">
            <a:off x="9124386" y="1324629"/>
            <a:ext cx="975300" cy="5733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1" name="Google Shape;1171;g3f778c2bce4_2_426"/>
          <p:cNvCxnSpPr/>
          <p:nvPr/>
        </p:nvCxnSpPr>
        <p:spPr>
          <a:xfrm>
            <a:off x="9065953" y="2120713"/>
            <a:ext cx="501300" cy="8634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g3f778c2bce4_2_426"/>
          <p:cNvCxnSpPr/>
          <p:nvPr/>
        </p:nvCxnSpPr>
        <p:spPr>
          <a:xfrm flipH="1">
            <a:off x="9697231" y="1397033"/>
            <a:ext cx="493500" cy="15726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3" name="Google Shape;1173;g3f778c2bce4_2_426"/>
          <p:cNvCxnSpPr/>
          <p:nvPr/>
        </p:nvCxnSpPr>
        <p:spPr>
          <a:xfrm>
            <a:off x="10341390" y="1368417"/>
            <a:ext cx="571200" cy="7071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g3f778c2bce4_2_426"/>
          <p:cNvCxnSpPr/>
          <p:nvPr/>
        </p:nvCxnSpPr>
        <p:spPr>
          <a:xfrm>
            <a:off x="10298806" y="1393203"/>
            <a:ext cx="767100" cy="19491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g3f778c2bce4_2_426"/>
          <p:cNvCxnSpPr/>
          <p:nvPr/>
        </p:nvCxnSpPr>
        <p:spPr>
          <a:xfrm>
            <a:off x="11028327" y="2363536"/>
            <a:ext cx="83100" cy="9684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6" name="Google Shape;1176;g3f778c2bce4_2_426"/>
          <p:cNvCxnSpPr/>
          <p:nvPr/>
        </p:nvCxnSpPr>
        <p:spPr>
          <a:xfrm>
            <a:off x="9806340" y="3163856"/>
            <a:ext cx="1161300" cy="290400"/>
          </a:xfrm>
          <a:prstGeom prst="straightConnector1">
            <a:avLst/>
          </a:prstGeom>
          <a:noFill/>
          <a:ln cap="flat" cmpd="sng" w="1177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7" name="Google Shape;1177;g3f778c2bce4_2_426"/>
          <p:cNvSpPr/>
          <p:nvPr/>
        </p:nvSpPr>
        <p:spPr>
          <a:xfrm>
            <a:off x="8821999" y="1817867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g3f778c2bce4_2_426"/>
          <p:cNvSpPr/>
          <p:nvPr/>
        </p:nvSpPr>
        <p:spPr>
          <a:xfrm>
            <a:off x="8895819" y="1899068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g3f778c2bce4_2_426"/>
          <p:cNvSpPr/>
          <p:nvPr/>
        </p:nvSpPr>
        <p:spPr>
          <a:xfrm>
            <a:off x="10076942" y="1079675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g3f778c2bce4_2_426"/>
          <p:cNvSpPr/>
          <p:nvPr/>
        </p:nvSpPr>
        <p:spPr>
          <a:xfrm>
            <a:off x="10150762" y="1160876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g3f778c2bce4_2_426"/>
          <p:cNvSpPr/>
          <p:nvPr/>
        </p:nvSpPr>
        <p:spPr>
          <a:xfrm>
            <a:off x="10852053" y="2039325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g3f778c2bce4_2_426"/>
          <p:cNvSpPr/>
          <p:nvPr/>
        </p:nvSpPr>
        <p:spPr>
          <a:xfrm>
            <a:off x="10925873" y="2120526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g3f778c2bce4_2_426"/>
          <p:cNvSpPr/>
          <p:nvPr/>
        </p:nvSpPr>
        <p:spPr>
          <a:xfrm>
            <a:off x="9486380" y="2962065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g3f778c2bce4_2_426"/>
          <p:cNvSpPr/>
          <p:nvPr/>
        </p:nvSpPr>
        <p:spPr>
          <a:xfrm>
            <a:off x="9560201" y="3043266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3f778c2bce4_2_426"/>
          <p:cNvSpPr/>
          <p:nvPr/>
        </p:nvSpPr>
        <p:spPr>
          <a:xfrm>
            <a:off x="10962783" y="3331161"/>
            <a:ext cx="324900" cy="324900"/>
          </a:xfrm>
          <a:prstGeom prst="ellipse">
            <a:avLst/>
          </a:prstGeom>
          <a:solidFill>
            <a:srgbClr val="BFD7EA"/>
          </a:solidFill>
          <a:ln cap="flat" cmpd="sng" w="112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25" lIns="73825" spcFirstLastPara="1" rIns="73825" wrap="square" tIns="7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g3f778c2bce4_2_426"/>
          <p:cNvSpPr/>
          <p:nvPr/>
        </p:nvSpPr>
        <p:spPr>
          <a:xfrm>
            <a:off x="11036603" y="3412363"/>
            <a:ext cx="177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928"/>
              <a:buFont typeface="Arial"/>
              <a:buNone/>
            </a:pPr>
            <a:r>
              <a:rPr b="1" i="0" lang="en-US" sz="133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f778c2bce4_2_398"/>
          <p:cNvSpPr/>
          <p:nvPr/>
        </p:nvSpPr>
        <p:spPr>
          <a:xfrm>
            <a:off x="502920" y="292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g3f778c2bce4_2_398"/>
          <p:cNvSpPr/>
          <p:nvPr/>
        </p:nvSpPr>
        <p:spPr>
          <a:xfrm>
            <a:off x="132800" y="876200"/>
            <a:ext cx="7552200" cy="58704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g3f778c2bce4_2_398"/>
          <p:cNvSpPr/>
          <p:nvPr/>
        </p:nvSpPr>
        <p:spPr>
          <a:xfrm>
            <a:off x="252043" y="953464"/>
            <a:ext cx="7313400" cy="54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i="0" sz="144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GraphUndirectedUnweightedList {</a:t>
            </a:r>
            <a:br>
              <a:rPr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i="0" sz="144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neighbors of a given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</a:t>
            </a:r>
            <a:r>
              <a:rPr b="1" lang="en-US" sz="14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int vertex</a:t>
            </a: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System.out.print("\nNeighbors of vertex " + vertex + ": ");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Edge current = adjList[</a:t>
            </a:r>
            <a:r>
              <a:rPr b="1" lang="en-US" sz="14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vertex</a:t>
            </a: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//Get the head of LL to traverse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all neighbors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current neighbor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System.out.print(current.destination);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comma if not the last element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if (current.next != null) {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System.out.print(",");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 // Move to next edge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i="0" sz="144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i="0" lang="en-US" sz="144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i="0" sz="144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5" name="Google Shape;1195;g3f778c2bce4_2_398"/>
          <p:cNvSpPr/>
          <p:nvPr/>
        </p:nvSpPr>
        <p:spPr>
          <a:xfrm>
            <a:off x="7830100" y="4718100"/>
            <a:ext cx="4259400" cy="16644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g3f778c2bce4_2_398"/>
          <p:cNvSpPr/>
          <p:nvPr/>
        </p:nvSpPr>
        <p:spPr>
          <a:xfrm>
            <a:off x="7949500" y="4838092"/>
            <a:ext cx="40563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findNeighbors(2)</a:t>
            </a:r>
            <a: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 </a:t>
            </a: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4, 1</a:t>
            </a:r>
            <a:b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graph.findNeighbors(3);</a:t>
            </a:r>
            <a:b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 4, 1, 0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g3f778c2bce4_2_398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g3f778c2bce4_2_398"/>
          <p:cNvSpPr/>
          <p:nvPr/>
        </p:nvSpPr>
        <p:spPr>
          <a:xfrm>
            <a:off x="8147245" y="147211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9" name="Google Shape;1199;g3f778c2bce4_2_398"/>
          <p:cNvCxnSpPr/>
          <p:nvPr/>
        </p:nvCxnSpPr>
        <p:spPr>
          <a:xfrm>
            <a:off x="8421565" y="157269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0" name="Google Shape;1200;g3f778c2bce4_2_398"/>
          <p:cNvSpPr/>
          <p:nvPr/>
        </p:nvSpPr>
        <p:spPr>
          <a:xfrm>
            <a:off x="8769037" y="137152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g3f778c2bce4_2_398"/>
          <p:cNvSpPr/>
          <p:nvPr/>
        </p:nvSpPr>
        <p:spPr>
          <a:xfrm>
            <a:off x="8796469" y="144468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2" name="Google Shape;1202;g3f778c2bce4_2_398"/>
          <p:cNvCxnSpPr/>
          <p:nvPr/>
        </p:nvCxnSpPr>
        <p:spPr>
          <a:xfrm>
            <a:off x="9335965" y="153612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3" name="Google Shape;1203;g3f778c2bce4_2_398"/>
          <p:cNvSpPr/>
          <p:nvPr/>
        </p:nvSpPr>
        <p:spPr>
          <a:xfrm>
            <a:off x="9482269" y="137152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g3f778c2bce4_2_398"/>
          <p:cNvSpPr/>
          <p:nvPr/>
        </p:nvSpPr>
        <p:spPr>
          <a:xfrm>
            <a:off x="9509701" y="144468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g3f778c2bce4_2_398"/>
          <p:cNvSpPr/>
          <p:nvPr/>
        </p:nvSpPr>
        <p:spPr>
          <a:xfrm>
            <a:off x="8147245" y="206647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6" name="Google Shape;1206;g3f778c2bce4_2_398"/>
          <p:cNvCxnSpPr/>
          <p:nvPr/>
        </p:nvCxnSpPr>
        <p:spPr>
          <a:xfrm>
            <a:off x="8421565" y="216705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7" name="Google Shape;1207;g3f778c2bce4_2_398"/>
          <p:cNvSpPr/>
          <p:nvPr/>
        </p:nvSpPr>
        <p:spPr>
          <a:xfrm>
            <a:off x="8769037" y="196588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g3f778c2bce4_2_398"/>
          <p:cNvSpPr/>
          <p:nvPr/>
        </p:nvSpPr>
        <p:spPr>
          <a:xfrm>
            <a:off x="8796469" y="203904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9" name="Google Shape;1209;g3f778c2bce4_2_398"/>
          <p:cNvCxnSpPr/>
          <p:nvPr/>
        </p:nvCxnSpPr>
        <p:spPr>
          <a:xfrm>
            <a:off x="9335965" y="213048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0" name="Google Shape;1210;g3f778c2bce4_2_398"/>
          <p:cNvSpPr/>
          <p:nvPr/>
        </p:nvSpPr>
        <p:spPr>
          <a:xfrm>
            <a:off x="9482269" y="196588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g3f778c2bce4_2_398"/>
          <p:cNvSpPr/>
          <p:nvPr/>
        </p:nvSpPr>
        <p:spPr>
          <a:xfrm>
            <a:off x="9509701" y="203904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2" name="Google Shape;1212;g3f778c2bce4_2_398"/>
          <p:cNvCxnSpPr/>
          <p:nvPr/>
        </p:nvCxnSpPr>
        <p:spPr>
          <a:xfrm>
            <a:off x="10049197" y="213048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3" name="Google Shape;1213;g3f778c2bce4_2_398"/>
          <p:cNvSpPr/>
          <p:nvPr/>
        </p:nvSpPr>
        <p:spPr>
          <a:xfrm>
            <a:off x="10195501" y="196588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g3f778c2bce4_2_398"/>
          <p:cNvSpPr/>
          <p:nvPr/>
        </p:nvSpPr>
        <p:spPr>
          <a:xfrm>
            <a:off x="10222933" y="203904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g3f778c2bce4_2_398"/>
          <p:cNvCxnSpPr/>
          <p:nvPr/>
        </p:nvCxnSpPr>
        <p:spPr>
          <a:xfrm>
            <a:off x="10762429" y="213048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6" name="Google Shape;1216;g3f778c2bce4_2_398"/>
          <p:cNvSpPr/>
          <p:nvPr/>
        </p:nvSpPr>
        <p:spPr>
          <a:xfrm>
            <a:off x="10908733" y="196588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g3f778c2bce4_2_398"/>
          <p:cNvSpPr/>
          <p:nvPr/>
        </p:nvSpPr>
        <p:spPr>
          <a:xfrm>
            <a:off x="10936165" y="203904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g3f778c2bce4_2_398"/>
          <p:cNvSpPr/>
          <p:nvPr/>
        </p:nvSpPr>
        <p:spPr>
          <a:xfrm>
            <a:off x="8147245" y="266083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9" name="Google Shape;1219;g3f778c2bce4_2_398"/>
          <p:cNvCxnSpPr/>
          <p:nvPr/>
        </p:nvCxnSpPr>
        <p:spPr>
          <a:xfrm>
            <a:off x="8421565" y="276141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0" name="Google Shape;1220;g3f778c2bce4_2_398"/>
          <p:cNvSpPr/>
          <p:nvPr/>
        </p:nvSpPr>
        <p:spPr>
          <a:xfrm>
            <a:off x="8769037" y="256024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g3f778c2bce4_2_398"/>
          <p:cNvSpPr/>
          <p:nvPr/>
        </p:nvSpPr>
        <p:spPr>
          <a:xfrm>
            <a:off x="8796469" y="263340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2" name="Google Shape;1222;g3f778c2bce4_2_398"/>
          <p:cNvCxnSpPr/>
          <p:nvPr/>
        </p:nvCxnSpPr>
        <p:spPr>
          <a:xfrm>
            <a:off x="9335965" y="272484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3" name="Google Shape;1223;g3f778c2bce4_2_398"/>
          <p:cNvSpPr/>
          <p:nvPr/>
        </p:nvSpPr>
        <p:spPr>
          <a:xfrm>
            <a:off x="9482269" y="256024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g3f778c2bce4_2_398"/>
          <p:cNvSpPr/>
          <p:nvPr/>
        </p:nvSpPr>
        <p:spPr>
          <a:xfrm>
            <a:off x="9509701" y="263340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3f778c2bce4_2_398"/>
          <p:cNvSpPr/>
          <p:nvPr/>
        </p:nvSpPr>
        <p:spPr>
          <a:xfrm>
            <a:off x="8147245" y="325519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6" name="Google Shape;1226;g3f778c2bce4_2_398"/>
          <p:cNvCxnSpPr/>
          <p:nvPr/>
        </p:nvCxnSpPr>
        <p:spPr>
          <a:xfrm>
            <a:off x="8421565" y="3355775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7" name="Google Shape;1227;g3f778c2bce4_2_398"/>
          <p:cNvSpPr/>
          <p:nvPr/>
        </p:nvSpPr>
        <p:spPr>
          <a:xfrm>
            <a:off x="8769037" y="315460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g3f778c2bce4_2_398"/>
          <p:cNvSpPr/>
          <p:nvPr/>
        </p:nvSpPr>
        <p:spPr>
          <a:xfrm>
            <a:off x="8796469" y="322776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9" name="Google Shape;1229;g3f778c2bce4_2_398"/>
          <p:cNvCxnSpPr/>
          <p:nvPr/>
        </p:nvCxnSpPr>
        <p:spPr>
          <a:xfrm>
            <a:off x="9335965" y="331920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0" name="Google Shape;1230;g3f778c2bce4_2_398"/>
          <p:cNvSpPr/>
          <p:nvPr/>
        </p:nvSpPr>
        <p:spPr>
          <a:xfrm>
            <a:off x="9482269" y="315460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g3f778c2bce4_2_398"/>
          <p:cNvSpPr/>
          <p:nvPr/>
        </p:nvSpPr>
        <p:spPr>
          <a:xfrm>
            <a:off x="9509701" y="322776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2" name="Google Shape;1232;g3f778c2bce4_2_398"/>
          <p:cNvCxnSpPr/>
          <p:nvPr/>
        </p:nvCxnSpPr>
        <p:spPr>
          <a:xfrm>
            <a:off x="10049197" y="331920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3" name="Google Shape;1233;g3f778c2bce4_2_398"/>
          <p:cNvSpPr/>
          <p:nvPr/>
        </p:nvSpPr>
        <p:spPr>
          <a:xfrm>
            <a:off x="10195501" y="3154607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g3f778c2bce4_2_398"/>
          <p:cNvSpPr/>
          <p:nvPr/>
        </p:nvSpPr>
        <p:spPr>
          <a:xfrm>
            <a:off x="10222933" y="322776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g3f778c2bce4_2_398"/>
          <p:cNvSpPr/>
          <p:nvPr/>
        </p:nvSpPr>
        <p:spPr>
          <a:xfrm>
            <a:off x="8147245" y="3849552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6" name="Google Shape;1236;g3f778c2bce4_2_398"/>
          <p:cNvCxnSpPr/>
          <p:nvPr/>
        </p:nvCxnSpPr>
        <p:spPr>
          <a:xfrm>
            <a:off x="8421565" y="3950136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7" name="Google Shape;1237;g3f778c2bce4_2_398"/>
          <p:cNvSpPr/>
          <p:nvPr/>
        </p:nvSpPr>
        <p:spPr>
          <a:xfrm>
            <a:off x="8769037" y="374896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g3f778c2bce4_2_398"/>
          <p:cNvSpPr/>
          <p:nvPr/>
        </p:nvSpPr>
        <p:spPr>
          <a:xfrm>
            <a:off x="8796469" y="382212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9" name="Google Shape;1239;g3f778c2bce4_2_398"/>
          <p:cNvCxnSpPr/>
          <p:nvPr/>
        </p:nvCxnSpPr>
        <p:spPr>
          <a:xfrm>
            <a:off x="9335965" y="391356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0" name="Google Shape;1240;g3f778c2bce4_2_398"/>
          <p:cNvSpPr/>
          <p:nvPr/>
        </p:nvSpPr>
        <p:spPr>
          <a:xfrm>
            <a:off x="9482269" y="374896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g3f778c2bce4_2_398"/>
          <p:cNvSpPr/>
          <p:nvPr/>
        </p:nvSpPr>
        <p:spPr>
          <a:xfrm>
            <a:off x="9509701" y="382212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2" name="Google Shape;1242;g3f778c2bce4_2_398"/>
          <p:cNvCxnSpPr/>
          <p:nvPr/>
        </p:nvCxnSpPr>
        <p:spPr>
          <a:xfrm>
            <a:off x="10049197" y="3913560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3" name="Google Shape;1243;g3f778c2bce4_2_398"/>
          <p:cNvSpPr/>
          <p:nvPr/>
        </p:nvSpPr>
        <p:spPr>
          <a:xfrm>
            <a:off x="10195501" y="3748968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g3f778c2bce4_2_398"/>
          <p:cNvSpPr/>
          <p:nvPr/>
        </p:nvSpPr>
        <p:spPr>
          <a:xfrm>
            <a:off x="10222933" y="3822120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f778c2bce4_2_453"/>
          <p:cNvSpPr/>
          <p:nvPr/>
        </p:nvSpPr>
        <p:spPr>
          <a:xfrm>
            <a:off x="502920" y="292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g3f778c2bce4_2_453"/>
          <p:cNvSpPr/>
          <p:nvPr/>
        </p:nvSpPr>
        <p:spPr>
          <a:xfrm>
            <a:off x="132800" y="876200"/>
            <a:ext cx="7552200" cy="56499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g3f778c2bce4_2_453"/>
          <p:cNvSpPr/>
          <p:nvPr/>
        </p:nvSpPr>
        <p:spPr>
          <a:xfrm>
            <a:off x="252043" y="953464"/>
            <a:ext cx="7313400" cy="54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the full adjacency list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printList() {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List:");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each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System.out.print(i + ": ");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linked list of edges for vertex i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Edge current = adjList[i];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while (current != null) {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neighbor (destination only, since unweighted)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System.out.print(current.destination + " ");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current = current.next;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3" name="Google Shape;1253;g3f778c2bce4_2_453"/>
          <p:cNvSpPr/>
          <p:nvPr/>
        </p:nvSpPr>
        <p:spPr>
          <a:xfrm>
            <a:off x="7932850" y="3657625"/>
            <a:ext cx="4259400" cy="5778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f778c2bce4_2_453"/>
          <p:cNvSpPr/>
          <p:nvPr/>
        </p:nvSpPr>
        <p:spPr>
          <a:xfrm>
            <a:off x="8052250" y="3699272"/>
            <a:ext cx="4056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printList()</a:t>
            </a: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g3f778c2bce4_2_453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g3f778c2bce4_2_453"/>
          <p:cNvSpPr/>
          <p:nvPr/>
        </p:nvSpPr>
        <p:spPr>
          <a:xfrm>
            <a:off x="8087400" y="1045810"/>
            <a:ext cx="20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0"/>
              <a:buFont typeface="Arial"/>
              <a:buNone/>
            </a:pPr>
            <a:r>
              <a:rPr b="1" i="0" lang="en-US" sz="1469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7" name="Google Shape;1257;g3f778c2bce4_2_453"/>
          <p:cNvCxnSpPr/>
          <p:nvPr/>
        </p:nvCxnSpPr>
        <p:spPr>
          <a:xfrm>
            <a:off x="8339221" y="1138145"/>
            <a:ext cx="268500" cy="0"/>
          </a:xfrm>
          <a:prstGeom prst="straightConnector1">
            <a:avLst/>
          </a:prstGeom>
          <a:noFill/>
          <a:ln cap="flat" cmpd="sng" w="128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8" name="Google Shape;1258;g3f778c2bce4_2_453"/>
          <p:cNvSpPr/>
          <p:nvPr/>
        </p:nvSpPr>
        <p:spPr>
          <a:xfrm>
            <a:off x="8658195" y="953475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g3f778c2bce4_2_453"/>
          <p:cNvSpPr/>
          <p:nvPr/>
        </p:nvSpPr>
        <p:spPr>
          <a:xfrm>
            <a:off x="8683377" y="1020628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0" name="Google Shape;1260;g3f778c2bce4_2_453"/>
          <p:cNvCxnSpPr/>
          <p:nvPr/>
        </p:nvCxnSpPr>
        <p:spPr>
          <a:xfrm>
            <a:off x="9178626" y="1104569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1" name="Google Shape;1261;g3f778c2bce4_2_453"/>
          <p:cNvSpPr/>
          <p:nvPr/>
        </p:nvSpPr>
        <p:spPr>
          <a:xfrm>
            <a:off x="9312931" y="953475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g3f778c2bce4_2_453"/>
          <p:cNvSpPr/>
          <p:nvPr/>
        </p:nvSpPr>
        <p:spPr>
          <a:xfrm>
            <a:off x="9338113" y="1020628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g3f778c2bce4_2_453"/>
          <p:cNvSpPr/>
          <p:nvPr/>
        </p:nvSpPr>
        <p:spPr>
          <a:xfrm>
            <a:off x="8087400" y="1591427"/>
            <a:ext cx="20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0"/>
              <a:buFont typeface="Arial"/>
              <a:buNone/>
            </a:pPr>
            <a:r>
              <a:rPr b="1" i="0" lang="en-US" sz="1469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4" name="Google Shape;1264;g3f778c2bce4_2_453"/>
          <p:cNvCxnSpPr/>
          <p:nvPr/>
        </p:nvCxnSpPr>
        <p:spPr>
          <a:xfrm>
            <a:off x="8339221" y="1683762"/>
            <a:ext cx="268500" cy="0"/>
          </a:xfrm>
          <a:prstGeom prst="straightConnector1">
            <a:avLst/>
          </a:prstGeom>
          <a:noFill/>
          <a:ln cap="flat" cmpd="sng" w="128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5" name="Google Shape;1265;g3f778c2bce4_2_453"/>
          <p:cNvSpPr/>
          <p:nvPr/>
        </p:nvSpPr>
        <p:spPr>
          <a:xfrm>
            <a:off x="8658195" y="1499092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f778c2bce4_2_453"/>
          <p:cNvSpPr/>
          <p:nvPr/>
        </p:nvSpPr>
        <p:spPr>
          <a:xfrm>
            <a:off x="8683377" y="1566244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7" name="Google Shape;1267;g3f778c2bce4_2_453"/>
          <p:cNvCxnSpPr/>
          <p:nvPr/>
        </p:nvCxnSpPr>
        <p:spPr>
          <a:xfrm>
            <a:off x="9178626" y="1650185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8" name="Google Shape;1268;g3f778c2bce4_2_453"/>
          <p:cNvSpPr/>
          <p:nvPr/>
        </p:nvSpPr>
        <p:spPr>
          <a:xfrm>
            <a:off x="9312931" y="1499092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g3f778c2bce4_2_453"/>
          <p:cNvSpPr/>
          <p:nvPr/>
        </p:nvSpPr>
        <p:spPr>
          <a:xfrm>
            <a:off x="9338113" y="1566244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0" name="Google Shape;1270;g3f778c2bce4_2_453"/>
          <p:cNvCxnSpPr/>
          <p:nvPr/>
        </p:nvCxnSpPr>
        <p:spPr>
          <a:xfrm>
            <a:off x="9833362" y="1650185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1" name="Google Shape;1271;g3f778c2bce4_2_453"/>
          <p:cNvSpPr/>
          <p:nvPr/>
        </p:nvSpPr>
        <p:spPr>
          <a:xfrm>
            <a:off x="9967666" y="1499092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g3f778c2bce4_2_453"/>
          <p:cNvSpPr/>
          <p:nvPr/>
        </p:nvSpPr>
        <p:spPr>
          <a:xfrm>
            <a:off x="9992848" y="1566244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3" name="Google Shape;1273;g3f778c2bce4_2_453"/>
          <p:cNvCxnSpPr/>
          <p:nvPr/>
        </p:nvCxnSpPr>
        <p:spPr>
          <a:xfrm>
            <a:off x="10488097" y="1650185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4" name="Google Shape;1274;g3f778c2bce4_2_453"/>
          <p:cNvSpPr/>
          <p:nvPr/>
        </p:nvSpPr>
        <p:spPr>
          <a:xfrm>
            <a:off x="10622402" y="1499092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g3f778c2bce4_2_453"/>
          <p:cNvSpPr/>
          <p:nvPr/>
        </p:nvSpPr>
        <p:spPr>
          <a:xfrm>
            <a:off x="10647584" y="1566244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g3f778c2bce4_2_453"/>
          <p:cNvSpPr/>
          <p:nvPr/>
        </p:nvSpPr>
        <p:spPr>
          <a:xfrm>
            <a:off x="8087400" y="2137044"/>
            <a:ext cx="20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0"/>
              <a:buFont typeface="Arial"/>
              <a:buNone/>
            </a:pPr>
            <a:r>
              <a:rPr b="1" i="0" lang="en-US" sz="1469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7" name="Google Shape;1277;g3f778c2bce4_2_453"/>
          <p:cNvCxnSpPr/>
          <p:nvPr/>
        </p:nvCxnSpPr>
        <p:spPr>
          <a:xfrm>
            <a:off x="8339221" y="2229379"/>
            <a:ext cx="268500" cy="0"/>
          </a:xfrm>
          <a:prstGeom prst="straightConnector1">
            <a:avLst/>
          </a:prstGeom>
          <a:noFill/>
          <a:ln cap="flat" cmpd="sng" w="128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8" name="Google Shape;1278;g3f778c2bce4_2_453"/>
          <p:cNvSpPr/>
          <p:nvPr/>
        </p:nvSpPr>
        <p:spPr>
          <a:xfrm>
            <a:off x="8658195" y="2044708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g3f778c2bce4_2_453"/>
          <p:cNvSpPr/>
          <p:nvPr/>
        </p:nvSpPr>
        <p:spPr>
          <a:xfrm>
            <a:off x="8683377" y="2111861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0" name="Google Shape;1280;g3f778c2bce4_2_453"/>
          <p:cNvCxnSpPr/>
          <p:nvPr/>
        </p:nvCxnSpPr>
        <p:spPr>
          <a:xfrm>
            <a:off x="9178626" y="2195802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1" name="Google Shape;1281;g3f778c2bce4_2_453"/>
          <p:cNvSpPr/>
          <p:nvPr/>
        </p:nvSpPr>
        <p:spPr>
          <a:xfrm>
            <a:off x="9312931" y="2044708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g3f778c2bce4_2_453"/>
          <p:cNvSpPr/>
          <p:nvPr/>
        </p:nvSpPr>
        <p:spPr>
          <a:xfrm>
            <a:off x="9338113" y="2111861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g3f778c2bce4_2_453"/>
          <p:cNvSpPr/>
          <p:nvPr/>
        </p:nvSpPr>
        <p:spPr>
          <a:xfrm>
            <a:off x="8087400" y="2682661"/>
            <a:ext cx="20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0"/>
              <a:buFont typeface="Arial"/>
              <a:buNone/>
            </a:pPr>
            <a:r>
              <a:rPr b="1" i="0" lang="en-US" sz="1469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4" name="Google Shape;1284;g3f778c2bce4_2_453"/>
          <p:cNvCxnSpPr/>
          <p:nvPr/>
        </p:nvCxnSpPr>
        <p:spPr>
          <a:xfrm>
            <a:off x="8339221" y="2774996"/>
            <a:ext cx="268500" cy="0"/>
          </a:xfrm>
          <a:prstGeom prst="straightConnector1">
            <a:avLst/>
          </a:prstGeom>
          <a:noFill/>
          <a:ln cap="flat" cmpd="sng" w="128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5" name="Google Shape;1285;g3f778c2bce4_2_453"/>
          <p:cNvSpPr/>
          <p:nvPr/>
        </p:nvSpPr>
        <p:spPr>
          <a:xfrm>
            <a:off x="8658195" y="2590325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g3f778c2bce4_2_453"/>
          <p:cNvSpPr/>
          <p:nvPr/>
        </p:nvSpPr>
        <p:spPr>
          <a:xfrm>
            <a:off x="8683377" y="2657478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7" name="Google Shape;1287;g3f778c2bce4_2_453"/>
          <p:cNvCxnSpPr/>
          <p:nvPr/>
        </p:nvCxnSpPr>
        <p:spPr>
          <a:xfrm>
            <a:off x="9178626" y="2741419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8" name="Google Shape;1288;g3f778c2bce4_2_453"/>
          <p:cNvSpPr/>
          <p:nvPr/>
        </p:nvSpPr>
        <p:spPr>
          <a:xfrm>
            <a:off x="9312931" y="2590325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g3f778c2bce4_2_453"/>
          <p:cNvSpPr/>
          <p:nvPr/>
        </p:nvSpPr>
        <p:spPr>
          <a:xfrm>
            <a:off x="9338113" y="2657478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0" name="Google Shape;1290;g3f778c2bce4_2_453"/>
          <p:cNvCxnSpPr/>
          <p:nvPr/>
        </p:nvCxnSpPr>
        <p:spPr>
          <a:xfrm>
            <a:off x="9833362" y="2741419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1" name="Google Shape;1291;g3f778c2bce4_2_453"/>
          <p:cNvSpPr/>
          <p:nvPr/>
        </p:nvSpPr>
        <p:spPr>
          <a:xfrm>
            <a:off x="9967666" y="2590325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g3f778c2bce4_2_453"/>
          <p:cNvSpPr/>
          <p:nvPr/>
        </p:nvSpPr>
        <p:spPr>
          <a:xfrm>
            <a:off x="9992848" y="2657478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g3f778c2bce4_2_453"/>
          <p:cNvSpPr/>
          <p:nvPr/>
        </p:nvSpPr>
        <p:spPr>
          <a:xfrm>
            <a:off x="8087400" y="3228277"/>
            <a:ext cx="20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0"/>
              <a:buFont typeface="Arial"/>
              <a:buNone/>
            </a:pPr>
            <a:r>
              <a:rPr b="1" i="0" lang="en-US" sz="1469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4" name="Google Shape;1294;g3f778c2bce4_2_453"/>
          <p:cNvCxnSpPr/>
          <p:nvPr/>
        </p:nvCxnSpPr>
        <p:spPr>
          <a:xfrm>
            <a:off x="8339221" y="3320613"/>
            <a:ext cx="268500" cy="0"/>
          </a:xfrm>
          <a:prstGeom prst="straightConnector1">
            <a:avLst/>
          </a:prstGeom>
          <a:noFill/>
          <a:ln cap="flat" cmpd="sng" w="128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5" name="Google Shape;1295;g3f778c2bce4_2_453"/>
          <p:cNvSpPr/>
          <p:nvPr/>
        </p:nvSpPr>
        <p:spPr>
          <a:xfrm>
            <a:off x="8658195" y="3135942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g3f778c2bce4_2_453"/>
          <p:cNvSpPr/>
          <p:nvPr/>
        </p:nvSpPr>
        <p:spPr>
          <a:xfrm>
            <a:off x="8683377" y="3203095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7" name="Google Shape;1297;g3f778c2bce4_2_453"/>
          <p:cNvCxnSpPr/>
          <p:nvPr/>
        </p:nvCxnSpPr>
        <p:spPr>
          <a:xfrm>
            <a:off x="9178626" y="3287036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8" name="Google Shape;1298;g3f778c2bce4_2_453"/>
          <p:cNvSpPr/>
          <p:nvPr/>
        </p:nvSpPr>
        <p:spPr>
          <a:xfrm>
            <a:off x="9312931" y="3135942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g3f778c2bce4_2_453"/>
          <p:cNvSpPr/>
          <p:nvPr/>
        </p:nvSpPr>
        <p:spPr>
          <a:xfrm>
            <a:off x="9338113" y="3203095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0" name="Google Shape;1300;g3f778c2bce4_2_453"/>
          <p:cNvCxnSpPr/>
          <p:nvPr/>
        </p:nvCxnSpPr>
        <p:spPr>
          <a:xfrm>
            <a:off x="9833362" y="3287036"/>
            <a:ext cx="134400" cy="0"/>
          </a:xfrm>
          <a:prstGeom prst="straightConnector1">
            <a:avLst/>
          </a:prstGeom>
          <a:noFill/>
          <a:ln cap="flat" cmpd="sng" w="10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1" name="Google Shape;1301;g3f778c2bce4_2_453"/>
          <p:cNvSpPr/>
          <p:nvPr/>
        </p:nvSpPr>
        <p:spPr>
          <a:xfrm>
            <a:off x="9967666" y="3135942"/>
            <a:ext cx="520500" cy="302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5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925" lIns="83925" spcFirstLastPara="1" rIns="83925" wrap="square" tIns="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g3f778c2bce4_2_453"/>
          <p:cNvSpPr/>
          <p:nvPr/>
        </p:nvSpPr>
        <p:spPr>
          <a:xfrm>
            <a:off x="9992848" y="3203095"/>
            <a:ext cx="470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z="14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g3f778c2bce4_2_453"/>
          <p:cNvSpPr txBox="1"/>
          <p:nvPr/>
        </p:nvSpPr>
        <p:spPr>
          <a:xfrm>
            <a:off x="8025990" y="4630530"/>
            <a:ext cx="37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Resulting adjacency list</a:t>
            </a:r>
            <a:endParaRPr sz="1700"/>
          </a:p>
        </p:txBody>
      </p:sp>
      <p:sp>
        <p:nvSpPr>
          <p:cNvPr id="1304" name="Google Shape;1304;g3f778c2bce4_2_453"/>
          <p:cNvSpPr txBox="1"/>
          <p:nvPr/>
        </p:nvSpPr>
        <p:spPr>
          <a:xfrm>
            <a:off x="8025990" y="5023722"/>
            <a:ext cx="37032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0: 3 1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1: 4 2 3 0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2: 4 1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3: 4 1 0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4: 3 2 1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5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Directed Unweighted Graph (6)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15"/>
          <p:cNvSpPr/>
          <p:nvPr/>
        </p:nvSpPr>
        <p:spPr>
          <a:xfrm>
            <a:off x="530352" y="777240"/>
            <a:ext cx="1115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Only outgoing neighbors are stored in each source vertex list.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15"/>
          <p:cNvSpPr/>
          <p:nvPr/>
        </p:nvSpPr>
        <p:spPr>
          <a:xfrm>
            <a:off x="551050" y="1847150"/>
            <a:ext cx="37629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590"/>
              <a:buFont typeface="Arial"/>
              <a:buNone/>
            </a:pPr>
            <a:r>
              <a:rPr b="1" i="0" lang="en-US" sz="159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3" name="Google Shape;1313;p15"/>
          <p:cNvCxnSpPr/>
          <p:nvPr/>
        </p:nvCxnSpPr>
        <p:spPr>
          <a:xfrm flipH="1" rot="10800000">
            <a:off x="940469" y="2649774"/>
            <a:ext cx="1316400" cy="5067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4" name="Google Shape;1314;p15"/>
          <p:cNvCxnSpPr/>
          <p:nvPr/>
        </p:nvCxnSpPr>
        <p:spPr>
          <a:xfrm>
            <a:off x="838864" y="3397004"/>
            <a:ext cx="536100" cy="12531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5" name="Google Shape;1315;p15"/>
          <p:cNvCxnSpPr/>
          <p:nvPr/>
        </p:nvCxnSpPr>
        <p:spPr>
          <a:xfrm>
            <a:off x="2577806" y="2702199"/>
            <a:ext cx="1163400" cy="9582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6" name="Google Shape;1316;p15"/>
          <p:cNvCxnSpPr/>
          <p:nvPr/>
        </p:nvCxnSpPr>
        <p:spPr>
          <a:xfrm>
            <a:off x="2510006" y="2754066"/>
            <a:ext cx="1042500" cy="23085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7" name="Google Shape;1317;p15"/>
          <p:cNvCxnSpPr/>
          <p:nvPr/>
        </p:nvCxnSpPr>
        <p:spPr>
          <a:xfrm flipH="1" rot="10800000">
            <a:off x="1524668" y="2754723"/>
            <a:ext cx="832200" cy="18963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8" name="Google Shape;1318;p15"/>
          <p:cNvCxnSpPr/>
          <p:nvPr/>
        </p:nvCxnSpPr>
        <p:spPr>
          <a:xfrm>
            <a:off x="1633950" y="4858115"/>
            <a:ext cx="1810800" cy="3411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9" name="Google Shape;1319;p15"/>
          <p:cNvCxnSpPr/>
          <p:nvPr/>
        </p:nvCxnSpPr>
        <p:spPr>
          <a:xfrm flipH="1" rot="10800000">
            <a:off x="3662592" y="3964935"/>
            <a:ext cx="191100" cy="10836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0" name="Google Shape;1320;p15"/>
          <p:cNvSpPr/>
          <p:nvPr/>
        </p:nvSpPr>
        <p:spPr>
          <a:xfrm>
            <a:off x="576707" y="3035865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5"/>
          <p:cNvSpPr/>
          <p:nvPr/>
        </p:nvSpPr>
        <p:spPr>
          <a:xfrm>
            <a:off x="662230" y="3129941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5"/>
          <p:cNvSpPr/>
          <p:nvPr/>
        </p:nvSpPr>
        <p:spPr>
          <a:xfrm>
            <a:off x="2244414" y="2394437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5"/>
          <p:cNvSpPr/>
          <p:nvPr/>
        </p:nvSpPr>
        <p:spPr>
          <a:xfrm>
            <a:off x="2329938" y="2488513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5"/>
          <p:cNvSpPr/>
          <p:nvPr/>
        </p:nvSpPr>
        <p:spPr>
          <a:xfrm>
            <a:off x="3698313" y="3591769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5"/>
          <p:cNvSpPr/>
          <p:nvPr/>
        </p:nvSpPr>
        <p:spPr>
          <a:xfrm>
            <a:off x="3783836" y="3685845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15"/>
          <p:cNvSpPr/>
          <p:nvPr/>
        </p:nvSpPr>
        <p:spPr>
          <a:xfrm>
            <a:off x="1260895" y="4635158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5"/>
          <p:cNvSpPr/>
          <p:nvPr/>
        </p:nvSpPr>
        <p:spPr>
          <a:xfrm>
            <a:off x="1346418" y="4729234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15"/>
          <p:cNvSpPr/>
          <p:nvPr/>
        </p:nvSpPr>
        <p:spPr>
          <a:xfrm>
            <a:off x="3441742" y="5045672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5"/>
          <p:cNvSpPr/>
          <p:nvPr/>
        </p:nvSpPr>
        <p:spPr>
          <a:xfrm>
            <a:off x="3527266" y="5139748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15"/>
          <p:cNvSpPr/>
          <p:nvPr/>
        </p:nvSpPr>
        <p:spPr>
          <a:xfrm>
            <a:off x="4450755" y="189401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15"/>
          <p:cNvSpPr/>
          <p:nvPr/>
        </p:nvSpPr>
        <p:spPr>
          <a:xfrm>
            <a:off x="5265245" y="2571724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2" name="Google Shape;1332;p15"/>
          <p:cNvCxnSpPr/>
          <p:nvPr/>
        </p:nvCxnSpPr>
        <p:spPr>
          <a:xfrm>
            <a:off x="5539565" y="2672308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3" name="Google Shape;1333;p15"/>
          <p:cNvSpPr/>
          <p:nvPr/>
        </p:nvSpPr>
        <p:spPr>
          <a:xfrm>
            <a:off x="5887037" y="2471140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5"/>
          <p:cNvSpPr/>
          <p:nvPr/>
        </p:nvSpPr>
        <p:spPr>
          <a:xfrm>
            <a:off x="5914469" y="2544292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5" name="Google Shape;1335;p15"/>
          <p:cNvCxnSpPr/>
          <p:nvPr/>
        </p:nvCxnSpPr>
        <p:spPr>
          <a:xfrm>
            <a:off x="6453965" y="2635732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6" name="Google Shape;1336;p15"/>
          <p:cNvSpPr/>
          <p:nvPr/>
        </p:nvSpPr>
        <p:spPr>
          <a:xfrm>
            <a:off x="6600269" y="2471140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5"/>
          <p:cNvSpPr/>
          <p:nvPr/>
        </p:nvSpPr>
        <p:spPr>
          <a:xfrm>
            <a:off x="6627701" y="2544292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15"/>
          <p:cNvSpPr/>
          <p:nvPr/>
        </p:nvSpPr>
        <p:spPr>
          <a:xfrm>
            <a:off x="5265245" y="3211804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9" name="Google Shape;1339;p15"/>
          <p:cNvCxnSpPr/>
          <p:nvPr/>
        </p:nvCxnSpPr>
        <p:spPr>
          <a:xfrm>
            <a:off x="5539565" y="3312388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0" name="Google Shape;1340;p15"/>
          <p:cNvSpPr/>
          <p:nvPr/>
        </p:nvSpPr>
        <p:spPr>
          <a:xfrm>
            <a:off x="5887037" y="3111220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5"/>
          <p:cNvSpPr/>
          <p:nvPr/>
        </p:nvSpPr>
        <p:spPr>
          <a:xfrm>
            <a:off x="5914469" y="3184372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2" name="Google Shape;1342;p15"/>
          <p:cNvCxnSpPr/>
          <p:nvPr/>
        </p:nvCxnSpPr>
        <p:spPr>
          <a:xfrm>
            <a:off x="6453965" y="3275812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3" name="Google Shape;1343;p15"/>
          <p:cNvSpPr/>
          <p:nvPr/>
        </p:nvSpPr>
        <p:spPr>
          <a:xfrm>
            <a:off x="6600269" y="3111220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5"/>
          <p:cNvSpPr/>
          <p:nvPr/>
        </p:nvSpPr>
        <p:spPr>
          <a:xfrm>
            <a:off x="6627701" y="3184372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15"/>
          <p:cNvSpPr/>
          <p:nvPr/>
        </p:nvSpPr>
        <p:spPr>
          <a:xfrm>
            <a:off x="5265245" y="3851884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15"/>
          <p:cNvSpPr/>
          <p:nvPr/>
        </p:nvSpPr>
        <p:spPr>
          <a:xfrm>
            <a:off x="5265245" y="4491964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7" name="Google Shape;1347;p15"/>
          <p:cNvCxnSpPr/>
          <p:nvPr/>
        </p:nvCxnSpPr>
        <p:spPr>
          <a:xfrm>
            <a:off x="5539565" y="4592548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8" name="Google Shape;1348;p15"/>
          <p:cNvSpPr/>
          <p:nvPr/>
        </p:nvSpPr>
        <p:spPr>
          <a:xfrm>
            <a:off x="5887037" y="4391380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5"/>
          <p:cNvSpPr/>
          <p:nvPr/>
        </p:nvSpPr>
        <p:spPr>
          <a:xfrm>
            <a:off x="5914469" y="4464532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0" name="Google Shape;1350;p15"/>
          <p:cNvCxnSpPr/>
          <p:nvPr/>
        </p:nvCxnSpPr>
        <p:spPr>
          <a:xfrm>
            <a:off x="6453965" y="4555972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1" name="Google Shape;1351;p15"/>
          <p:cNvSpPr/>
          <p:nvPr/>
        </p:nvSpPr>
        <p:spPr>
          <a:xfrm>
            <a:off x="6600269" y="4391380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5"/>
          <p:cNvSpPr/>
          <p:nvPr/>
        </p:nvSpPr>
        <p:spPr>
          <a:xfrm>
            <a:off x="6627701" y="4464532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5"/>
          <p:cNvSpPr/>
          <p:nvPr/>
        </p:nvSpPr>
        <p:spPr>
          <a:xfrm>
            <a:off x="5265245" y="5132044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4" name="Google Shape;1354;p15"/>
          <p:cNvCxnSpPr/>
          <p:nvPr/>
        </p:nvCxnSpPr>
        <p:spPr>
          <a:xfrm>
            <a:off x="5539565" y="5232628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5" name="Google Shape;1355;p15"/>
          <p:cNvSpPr/>
          <p:nvPr/>
        </p:nvSpPr>
        <p:spPr>
          <a:xfrm>
            <a:off x="5887037" y="5031460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5"/>
          <p:cNvSpPr/>
          <p:nvPr/>
        </p:nvSpPr>
        <p:spPr>
          <a:xfrm>
            <a:off x="5914469" y="5104612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5"/>
          <p:cNvSpPr/>
          <p:nvPr/>
        </p:nvSpPr>
        <p:spPr>
          <a:xfrm>
            <a:off x="5131905" y="5632695"/>
            <a:ext cx="5166300" cy="685800"/>
          </a:xfrm>
          <a:prstGeom prst="roundRect">
            <a:avLst>
              <a:gd fmla="val 10667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8" name="Google Shape;1358;p15"/>
          <p:cNvSpPr/>
          <p:nvPr/>
        </p:nvSpPr>
        <p:spPr>
          <a:xfrm>
            <a:off x="5269065" y="5742423"/>
            <a:ext cx="489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5"/>
          <p:cNvSpPr/>
          <p:nvPr/>
        </p:nvSpPr>
        <p:spPr>
          <a:xfrm>
            <a:off x="5269065" y="6044175"/>
            <a:ext cx="489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edge (u, v): insert only v into list[u].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5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5"/>
          <p:cNvSpPr/>
          <p:nvPr/>
        </p:nvSpPr>
        <p:spPr>
          <a:xfrm>
            <a:off x="5914475" y="3847300"/>
            <a:ext cx="68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B7A3B"/>
                </a:solidFill>
              </a:rPr>
              <a:t>Null</a:t>
            </a:r>
            <a:endParaRPr b="1" i="0" sz="1500" u="none" cap="none" strike="noStrike">
              <a:solidFill>
                <a:srgbClr val="0B7A3B"/>
              </a:solidFill>
            </a:endParaRPr>
          </a:p>
        </p:txBody>
      </p:sp>
      <p:sp>
        <p:nvSpPr>
          <p:cNvPr id="1362" name="Google Shape;1362;p15"/>
          <p:cNvSpPr txBox="1"/>
          <p:nvPr/>
        </p:nvSpPr>
        <p:spPr>
          <a:xfrm>
            <a:off x="8067325" y="2499263"/>
            <a:ext cx="42084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class Edge {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int destination;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Edge next;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Edge(int destination) {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this.destination = destination;</a:t>
            </a:r>
            <a:endParaRPr b="1" sz="144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n-US" sz="14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this.next = null;</a:t>
            </a:r>
            <a:endParaRPr b="1" sz="144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63" name="Google Shape;1363;p15"/>
          <p:cNvCxnSpPr/>
          <p:nvPr/>
        </p:nvCxnSpPr>
        <p:spPr>
          <a:xfrm>
            <a:off x="5562700" y="3952485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6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6"/>
          <p:cNvSpPr/>
          <p:nvPr/>
        </p:nvSpPr>
        <p:spPr>
          <a:xfrm>
            <a:off x="120850" y="961475"/>
            <a:ext cx="7336800" cy="53493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6"/>
          <p:cNvSpPr/>
          <p:nvPr/>
        </p:nvSpPr>
        <p:spPr>
          <a:xfrm>
            <a:off x="236692" y="1034627"/>
            <a:ext cx="7104900" cy="52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GraphDirectedUnweightedAdjacencyList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Total number of vertices in the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Edge[] adjList;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Array of linked lists (Adjacency List)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Constructor: initialize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GraphDirectedUnweightedAdjacencyList(int numVertices)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Create an array of size = numVertices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Each index will store the head of a linked list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 = new Edge[numVertices];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Initially all values are null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2" name="Google Shape;1372;p16"/>
          <p:cNvSpPr/>
          <p:nvPr/>
        </p:nvSpPr>
        <p:spPr>
          <a:xfrm>
            <a:off x="7577275" y="4847725"/>
            <a:ext cx="4548000" cy="14631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16"/>
          <p:cNvSpPr/>
          <p:nvPr/>
        </p:nvSpPr>
        <p:spPr>
          <a:xfrm>
            <a:off x="7710386" y="4920877"/>
            <a:ext cx="42813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 numVertices = 5;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GraphDirectedUnweightedAdjacencyList graph = new GraphDirectedUnweightedAdjacencyList(numVertices);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4" name="Google Shape;1374;p1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5" name="Google Shape;1375;p16"/>
          <p:cNvCxnSpPr/>
          <p:nvPr/>
        </p:nvCxnSpPr>
        <p:spPr>
          <a:xfrm flipH="1" rot="10800000">
            <a:off x="8169519" y="1428999"/>
            <a:ext cx="1316400" cy="5067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6" name="Google Shape;1376;p16"/>
          <p:cNvCxnSpPr/>
          <p:nvPr/>
        </p:nvCxnSpPr>
        <p:spPr>
          <a:xfrm>
            <a:off x="8067914" y="2176229"/>
            <a:ext cx="536100" cy="12531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7" name="Google Shape;1377;p16"/>
          <p:cNvCxnSpPr/>
          <p:nvPr/>
        </p:nvCxnSpPr>
        <p:spPr>
          <a:xfrm>
            <a:off x="9806856" y="1481424"/>
            <a:ext cx="1163400" cy="9582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8" name="Google Shape;1378;p16"/>
          <p:cNvCxnSpPr/>
          <p:nvPr/>
        </p:nvCxnSpPr>
        <p:spPr>
          <a:xfrm>
            <a:off x="9739056" y="1533291"/>
            <a:ext cx="1042500" cy="23085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9" name="Google Shape;1379;p16"/>
          <p:cNvCxnSpPr/>
          <p:nvPr/>
        </p:nvCxnSpPr>
        <p:spPr>
          <a:xfrm flipH="1" rot="10800000">
            <a:off x="8753718" y="1533948"/>
            <a:ext cx="832200" cy="18963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0" name="Google Shape;1380;p16"/>
          <p:cNvCxnSpPr/>
          <p:nvPr/>
        </p:nvCxnSpPr>
        <p:spPr>
          <a:xfrm>
            <a:off x="8863000" y="3637340"/>
            <a:ext cx="1810800" cy="3411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1" name="Google Shape;1381;p16"/>
          <p:cNvCxnSpPr/>
          <p:nvPr/>
        </p:nvCxnSpPr>
        <p:spPr>
          <a:xfrm flipH="1" rot="10800000">
            <a:off x="10891642" y="2744160"/>
            <a:ext cx="191100" cy="10836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2" name="Google Shape;1382;p16"/>
          <p:cNvSpPr/>
          <p:nvPr/>
        </p:nvSpPr>
        <p:spPr>
          <a:xfrm>
            <a:off x="7805757" y="1815090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6"/>
          <p:cNvSpPr/>
          <p:nvPr/>
        </p:nvSpPr>
        <p:spPr>
          <a:xfrm>
            <a:off x="7891280" y="1909166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16"/>
          <p:cNvSpPr/>
          <p:nvPr/>
        </p:nvSpPr>
        <p:spPr>
          <a:xfrm>
            <a:off x="9473464" y="1173662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6"/>
          <p:cNvSpPr/>
          <p:nvPr/>
        </p:nvSpPr>
        <p:spPr>
          <a:xfrm>
            <a:off x="9558988" y="1267738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6"/>
          <p:cNvSpPr/>
          <p:nvPr/>
        </p:nvSpPr>
        <p:spPr>
          <a:xfrm>
            <a:off x="10927363" y="2370994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16"/>
          <p:cNvSpPr/>
          <p:nvPr/>
        </p:nvSpPr>
        <p:spPr>
          <a:xfrm>
            <a:off x="11012886" y="2465070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16"/>
          <p:cNvSpPr/>
          <p:nvPr/>
        </p:nvSpPr>
        <p:spPr>
          <a:xfrm>
            <a:off x="8489945" y="3414383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6"/>
          <p:cNvSpPr/>
          <p:nvPr/>
        </p:nvSpPr>
        <p:spPr>
          <a:xfrm>
            <a:off x="8575468" y="3508459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6"/>
          <p:cNvSpPr/>
          <p:nvPr/>
        </p:nvSpPr>
        <p:spPr>
          <a:xfrm>
            <a:off x="10670792" y="3824897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6"/>
          <p:cNvSpPr/>
          <p:nvPr/>
        </p:nvSpPr>
        <p:spPr>
          <a:xfrm>
            <a:off x="10756316" y="3918973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f778c2bce4_2_608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g3f778c2bce4_2_608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g3f778c2bce4_2_608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multiple edges to the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edges format: { {source, destination}, ... }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source = edges[i][0]; 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Starting vertex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destination = edges[i][1];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Ending vertex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For DIRECTED graph: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edge in only ONE direction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addEdge(source, destination);</a:t>
            </a:r>
            <a:endParaRPr b="1" sz="134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Helper method to add a single directed edge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void addEdge(int source, int destination)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1: Create a new edge node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Edge newEdge = new Edge(destination);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2: Insert at the beginning (prepend) ensuring O(1) 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3: Update the head of the list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0" name="Google Shape;1400;g3f778c2bce4_2_608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g3f778c2bce4_2_608"/>
          <p:cNvSpPr/>
          <p:nvPr/>
        </p:nvSpPr>
        <p:spPr>
          <a:xfrm>
            <a:off x="7710375" y="4920875"/>
            <a:ext cx="42813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{0, 1}, {0, 3},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{1, 2}, {1, 4},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{3, 1}, {3, 4},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{4, 2}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};</a:t>
            </a:r>
            <a:b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2" name="Google Shape;1402;g3f778c2bce4_2_608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3" name="Google Shape;1403;g3f778c2bce4_2_608"/>
          <p:cNvCxnSpPr/>
          <p:nvPr/>
        </p:nvCxnSpPr>
        <p:spPr>
          <a:xfrm flipH="1" rot="10800000">
            <a:off x="8169519" y="1428999"/>
            <a:ext cx="1316400" cy="5067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4" name="Google Shape;1404;g3f778c2bce4_2_608"/>
          <p:cNvCxnSpPr/>
          <p:nvPr/>
        </p:nvCxnSpPr>
        <p:spPr>
          <a:xfrm>
            <a:off x="8067914" y="2176229"/>
            <a:ext cx="536100" cy="12531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5" name="Google Shape;1405;g3f778c2bce4_2_608"/>
          <p:cNvCxnSpPr/>
          <p:nvPr/>
        </p:nvCxnSpPr>
        <p:spPr>
          <a:xfrm>
            <a:off x="9806856" y="1481424"/>
            <a:ext cx="1163400" cy="9582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6" name="Google Shape;1406;g3f778c2bce4_2_608"/>
          <p:cNvCxnSpPr/>
          <p:nvPr/>
        </p:nvCxnSpPr>
        <p:spPr>
          <a:xfrm>
            <a:off x="9739056" y="1533291"/>
            <a:ext cx="1042500" cy="23085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7" name="Google Shape;1407;g3f778c2bce4_2_608"/>
          <p:cNvCxnSpPr/>
          <p:nvPr/>
        </p:nvCxnSpPr>
        <p:spPr>
          <a:xfrm flipH="1" rot="10800000">
            <a:off x="8753718" y="1533948"/>
            <a:ext cx="832200" cy="18963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8" name="Google Shape;1408;g3f778c2bce4_2_608"/>
          <p:cNvCxnSpPr/>
          <p:nvPr/>
        </p:nvCxnSpPr>
        <p:spPr>
          <a:xfrm>
            <a:off x="8863000" y="3637340"/>
            <a:ext cx="1810800" cy="3411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9" name="Google Shape;1409;g3f778c2bce4_2_608"/>
          <p:cNvCxnSpPr/>
          <p:nvPr/>
        </p:nvCxnSpPr>
        <p:spPr>
          <a:xfrm flipH="1" rot="10800000">
            <a:off x="10891642" y="2744160"/>
            <a:ext cx="191100" cy="1083600"/>
          </a:xfrm>
          <a:prstGeom prst="straightConnector1">
            <a:avLst/>
          </a:prstGeom>
          <a:noFill/>
          <a:ln cap="flat" cmpd="sng" w="1365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0" name="Google Shape;1410;g3f778c2bce4_2_608"/>
          <p:cNvSpPr/>
          <p:nvPr/>
        </p:nvSpPr>
        <p:spPr>
          <a:xfrm>
            <a:off x="7805757" y="1815090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g3f778c2bce4_2_608"/>
          <p:cNvSpPr/>
          <p:nvPr/>
        </p:nvSpPr>
        <p:spPr>
          <a:xfrm>
            <a:off x="7891280" y="1909166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g3f778c2bce4_2_608"/>
          <p:cNvSpPr/>
          <p:nvPr/>
        </p:nvSpPr>
        <p:spPr>
          <a:xfrm>
            <a:off x="9473464" y="1173662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g3f778c2bce4_2_608"/>
          <p:cNvSpPr/>
          <p:nvPr/>
        </p:nvSpPr>
        <p:spPr>
          <a:xfrm>
            <a:off x="9558988" y="1267738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g3f778c2bce4_2_608"/>
          <p:cNvSpPr/>
          <p:nvPr/>
        </p:nvSpPr>
        <p:spPr>
          <a:xfrm>
            <a:off x="10927363" y="2370994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3f778c2bce4_2_608"/>
          <p:cNvSpPr/>
          <p:nvPr/>
        </p:nvSpPr>
        <p:spPr>
          <a:xfrm>
            <a:off x="11012886" y="2465070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g3f778c2bce4_2_608"/>
          <p:cNvSpPr/>
          <p:nvPr/>
        </p:nvSpPr>
        <p:spPr>
          <a:xfrm>
            <a:off x="8489945" y="3414383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g3f778c2bce4_2_608"/>
          <p:cNvSpPr/>
          <p:nvPr/>
        </p:nvSpPr>
        <p:spPr>
          <a:xfrm>
            <a:off x="8575468" y="3508459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g3f778c2bce4_2_608"/>
          <p:cNvSpPr/>
          <p:nvPr/>
        </p:nvSpPr>
        <p:spPr>
          <a:xfrm>
            <a:off x="10670792" y="3824897"/>
            <a:ext cx="376200" cy="376200"/>
          </a:xfrm>
          <a:prstGeom prst="ellipse">
            <a:avLst/>
          </a:prstGeom>
          <a:solidFill>
            <a:srgbClr val="BFD7EA"/>
          </a:solidFill>
          <a:ln cap="flat" cmpd="sng" w="130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g3f778c2bce4_2_608"/>
          <p:cNvSpPr/>
          <p:nvPr/>
        </p:nvSpPr>
        <p:spPr>
          <a:xfrm>
            <a:off x="10756316" y="3918973"/>
            <a:ext cx="205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76"/>
              <a:buFont typeface="Arial"/>
              <a:buNone/>
            </a:pPr>
            <a:r>
              <a:rPr b="1" i="0" lang="en-US" sz="1543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g3f778c2bce4_2_608"/>
          <p:cNvSpPr txBox="1"/>
          <p:nvPr/>
        </p:nvSpPr>
        <p:spPr>
          <a:xfrm>
            <a:off x="0" y="0"/>
            <a:ext cx="3000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f778c2bce4_5_0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g3f778c2bce4_5_0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g3f778c2bce4_5_0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Method to find and print neighbors of a given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System.out.print("\nNeighbors of vertex " + vertex + ":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Edge current = adjList[vertex];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all neighbors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current neighbor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System.out.print(current.destination);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comma if not the last element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(current.next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System.out.print(",");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9" name="Google Shape;1429;g3f778c2bce4_5_0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g3f778c2bce4_5_0"/>
          <p:cNvSpPr/>
          <p:nvPr/>
        </p:nvSpPr>
        <p:spPr>
          <a:xfrm>
            <a:off x="7710625" y="4779625"/>
            <a:ext cx="42813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graph.findNeighbors(2);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null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graph.findNeighbors(3);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4, 1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1" name="Google Shape;1431;g3f778c2bce4_5_0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g3f778c2bce4_5_0"/>
          <p:cNvSpPr txBox="1"/>
          <p:nvPr/>
        </p:nvSpPr>
        <p:spPr>
          <a:xfrm>
            <a:off x="0" y="0"/>
            <a:ext cx="3000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/>
          </a:p>
        </p:txBody>
      </p:sp>
      <p:sp>
        <p:nvSpPr>
          <p:cNvPr id="1433" name="Google Shape;1433;g3f778c2bce4_5_0"/>
          <p:cNvSpPr/>
          <p:nvPr/>
        </p:nvSpPr>
        <p:spPr>
          <a:xfrm>
            <a:off x="8401020" y="1039749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4" name="Google Shape;1434;g3f778c2bce4_5_0"/>
          <p:cNvCxnSpPr/>
          <p:nvPr/>
        </p:nvCxnSpPr>
        <p:spPr>
          <a:xfrm>
            <a:off x="8675340" y="1140333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5" name="Google Shape;1435;g3f778c2bce4_5_0"/>
          <p:cNvSpPr/>
          <p:nvPr/>
        </p:nvSpPr>
        <p:spPr>
          <a:xfrm>
            <a:off x="9022812" y="93916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g3f778c2bce4_5_0"/>
          <p:cNvSpPr/>
          <p:nvPr/>
        </p:nvSpPr>
        <p:spPr>
          <a:xfrm>
            <a:off x="9050244" y="101231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g3f778c2bce4_5_0"/>
          <p:cNvCxnSpPr/>
          <p:nvPr/>
        </p:nvCxnSpPr>
        <p:spPr>
          <a:xfrm>
            <a:off x="9589740" y="1103757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8" name="Google Shape;1438;g3f778c2bce4_5_0"/>
          <p:cNvSpPr/>
          <p:nvPr/>
        </p:nvSpPr>
        <p:spPr>
          <a:xfrm>
            <a:off x="9736044" y="93916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g3f778c2bce4_5_0"/>
          <p:cNvSpPr/>
          <p:nvPr/>
        </p:nvSpPr>
        <p:spPr>
          <a:xfrm>
            <a:off x="9763476" y="101231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g3f778c2bce4_5_0"/>
          <p:cNvSpPr/>
          <p:nvPr/>
        </p:nvSpPr>
        <p:spPr>
          <a:xfrm>
            <a:off x="8401020" y="1679829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1" name="Google Shape;1441;g3f778c2bce4_5_0"/>
          <p:cNvCxnSpPr/>
          <p:nvPr/>
        </p:nvCxnSpPr>
        <p:spPr>
          <a:xfrm>
            <a:off x="8675340" y="1780413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2" name="Google Shape;1442;g3f778c2bce4_5_0"/>
          <p:cNvSpPr/>
          <p:nvPr/>
        </p:nvSpPr>
        <p:spPr>
          <a:xfrm>
            <a:off x="9022812" y="157924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g3f778c2bce4_5_0"/>
          <p:cNvSpPr/>
          <p:nvPr/>
        </p:nvSpPr>
        <p:spPr>
          <a:xfrm>
            <a:off x="9050244" y="165239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4" name="Google Shape;1444;g3f778c2bce4_5_0"/>
          <p:cNvCxnSpPr/>
          <p:nvPr/>
        </p:nvCxnSpPr>
        <p:spPr>
          <a:xfrm>
            <a:off x="9589740" y="1743837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5" name="Google Shape;1445;g3f778c2bce4_5_0"/>
          <p:cNvSpPr/>
          <p:nvPr/>
        </p:nvSpPr>
        <p:spPr>
          <a:xfrm>
            <a:off x="9736044" y="157924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g3f778c2bce4_5_0"/>
          <p:cNvSpPr/>
          <p:nvPr/>
        </p:nvSpPr>
        <p:spPr>
          <a:xfrm>
            <a:off x="9763476" y="165239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g3f778c2bce4_5_0"/>
          <p:cNvSpPr/>
          <p:nvPr/>
        </p:nvSpPr>
        <p:spPr>
          <a:xfrm>
            <a:off x="8401020" y="2319909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8" name="Google Shape;1448;g3f778c2bce4_5_0"/>
          <p:cNvCxnSpPr/>
          <p:nvPr/>
        </p:nvCxnSpPr>
        <p:spPr>
          <a:xfrm>
            <a:off x="8675340" y="2420493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9" name="Google Shape;1449;g3f778c2bce4_5_0"/>
          <p:cNvSpPr/>
          <p:nvPr/>
        </p:nvSpPr>
        <p:spPr>
          <a:xfrm>
            <a:off x="8401020" y="2959989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g3f778c2bce4_5_0"/>
          <p:cNvCxnSpPr/>
          <p:nvPr/>
        </p:nvCxnSpPr>
        <p:spPr>
          <a:xfrm>
            <a:off x="8675340" y="3060573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1" name="Google Shape;1451;g3f778c2bce4_5_0"/>
          <p:cNvSpPr/>
          <p:nvPr/>
        </p:nvSpPr>
        <p:spPr>
          <a:xfrm>
            <a:off x="9022812" y="285940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g3f778c2bce4_5_0"/>
          <p:cNvSpPr/>
          <p:nvPr/>
        </p:nvSpPr>
        <p:spPr>
          <a:xfrm>
            <a:off x="9050244" y="293255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3" name="Google Shape;1453;g3f778c2bce4_5_0"/>
          <p:cNvCxnSpPr/>
          <p:nvPr/>
        </p:nvCxnSpPr>
        <p:spPr>
          <a:xfrm>
            <a:off x="9589740" y="3023997"/>
            <a:ext cx="146400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4" name="Google Shape;1454;g3f778c2bce4_5_0"/>
          <p:cNvSpPr/>
          <p:nvPr/>
        </p:nvSpPr>
        <p:spPr>
          <a:xfrm>
            <a:off x="9736044" y="285940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g3f778c2bce4_5_0"/>
          <p:cNvSpPr/>
          <p:nvPr/>
        </p:nvSpPr>
        <p:spPr>
          <a:xfrm>
            <a:off x="9763476" y="293255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g3f778c2bce4_5_0"/>
          <p:cNvSpPr/>
          <p:nvPr/>
        </p:nvSpPr>
        <p:spPr>
          <a:xfrm>
            <a:off x="8401020" y="3600069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7" name="Google Shape;1457;g3f778c2bce4_5_0"/>
          <p:cNvCxnSpPr/>
          <p:nvPr/>
        </p:nvCxnSpPr>
        <p:spPr>
          <a:xfrm>
            <a:off x="8675340" y="3700653"/>
            <a:ext cx="292500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8" name="Google Shape;1458;g3f778c2bce4_5_0"/>
          <p:cNvSpPr/>
          <p:nvPr/>
        </p:nvSpPr>
        <p:spPr>
          <a:xfrm>
            <a:off x="9022812" y="3499485"/>
            <a:ext cx="567000" cy="329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g3f778c2bce4_5_0"/>
          <p:cNvSpPr/>
          <p:nvPr/>
        </p:nvSpPr>
        <p:spPr>
          <a:xfrm>
            <a:off x="9050244" y="3572637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g3f778c2bce4_5_0"/>
          <p:cNvSpPr/>
          <p:nvPr/>
        </p:nvSpPr>
        <p:spPr>
          <a:xfrm>
            <a:off x="9050250" y="2315324"/>
            <a:ext cx="512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B7A3B"/>
                </a:solidFill>
              </a:rPr>
              <a:t>Null</a:t>
            </a:r>
            <a:endParaRPr b="1" i="0" sz="1500" u="none" cap="none" strike="noStrike">
              <a:solidFill>
                <a:srgbClr val="0B7A3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f778c2bce4_5_56"/>
          <p:cNvSpPr/>
          <p:nvPr/>
        </p:nvSpPr>
        <p:spPr>
          <a:xfrm>
            <a:off x="120857" y="1112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Unweighted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g3f778c2bce4_5_56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g3f778c2bce4_5_56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the full adjacency list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printList()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List:");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each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System.out.print(i + ":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linked list of edges for vertex i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Edge current = adjList[i];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while (current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only destination (unweighted graph)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System.out.print(current.destination + "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current = current.next;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9" name="Google Shape;1469;g3f778c2bce4_5_56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g3f778c2bce4_5_56"/>
          <p:cNvSpPr txBox="1"/>
          <p:nvPr/>
        </p:nvSpPr>
        <p:spPr>
          <a:xfrm>
            <a:off x="0" y="0"/>
            <a:ext cx="3000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/>
          </a:p>
        </p:txBody>
      </p:sp>
      <p:sp>
        <p:nvSpPr>
          <p:cNvPr id="1471" name="Google Shape;1471;g3f778c2bce4_5_56"/>
          <p:cNvSpPr/>
          <p:nvPr/>
        </p:nvSpPr>
        <p:spPr>
          <a:xfrm>
            <a:off x="8556625" y="976612"/>
            <a:ext cx="201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968"/>
              <a:buFont typeface="Arial"/>
              <a:buNone/>
            </a:pPr>
            <a:r>
              <a:rPr b="1" i="0" lang="en-US" sz="1408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2" name="Google Shape;1472;g3f778c2bce4_5_56"/>
          <p:cNvCxnSpPr/>
          <p:nvPr/>
        </p:nvCxnSpPr>
        <p:spPr>
          <a:xfrm>
            <a:off x="8797950" y="1065098"/>
            <a:ext cx="257400" cy="0"/>
          </a:xfrm>
          <a:prstGeom prst="straightConnector1">
            <a:avLst/>
          </a:prstGeom>
          <a:noFill/>
          <a:ln cap="flat" cmpd="sng" w="1227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3" name="Google Shape;1473;g3f778c2bce4_5_56"/>
          <p:cNvSpPr/>
          <p:nvPr/>
        </p:nvSpPr>
        <p:spPr>
          <a:xfrm>
            <a:off x="9103629" y="888125"/>
            <a:ext cx="498900" cy="289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g3f778c2bce4_5_56"/>
          <p:cNvSpPr/>
          <p:nvPr/>
        </p:nvSpPr>
        <p:spPr>
          <a:xfrm>
            <a:off x="9127762" y="952479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13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5" name="Google Shape;1475;g3f778c2bce4_5_56"/>
          <p:cNvCxnSpPr/>
          <p:nvPr/>
        </p:nvCxnSpPr>
        <p:spPr>
          <a:xfrm>
            <a:off x="9602368" y="1032921"/>
            <a:ext cx="128700" cy="0"/>
          </a:xfrm>
          <a:prstGeom prst="straightConnector1">
            <a:avLst/>
          </a:prstGeom>
          <a:noFill/>
          <a:ln cap="flat" cmpd="sng" w="10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6" name="Google Shape;1476;g3f778c2bce4_5_56"/>
          <p:cNvSpPr/>
          <p:nvPr/>
        </p:nvSpPr>
        <p:spPr>
          <a:xfrm>
            <a:off x="9731075" y="888125"/>
            <a:ext cx="498900" cy="289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g3f778c2bce4_5_56"/>
          <p:cNvSpPr/>
          <p:nvPr/>
        </p:nvSpPr>
        <p:spPr>
          <a:xfrm>
            <a:off x="9755208" y="952479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13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g3f778c2bce4_5_56"/>
          <p:cNvSpPr/>
          <p:nvPr/>
        </p:nvSpPr>
        <p:spPr>
          <a:xfrm>
            <a:off x="8556625" y="1539707"/>
            <a:ext cx="201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968"/>
              <a:buFont typeface="Arial"/>
              <a:buNone/>
            </a:pPr>
            <a:r>
              <a:rPr b="1" i="0" lang="en-US" sz="1408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9" name="Google Shape;1479;g3f778c2bce4_5_56"/>
          <p:cNvCxnSpPr/>
          <p:nvPr/>
        </p:nvCxnSpPr>
        <p:spPr>
          <a:xfrm>
            <a:off x="8797950" y="1628193"/>
            <a:ext cx="257400" cy="0"/>
          </a:xfrm>
          <a:prstGeom prst="straightConnector1">
            <a:avLst/>
          </a:prstGeom>
          <a:noFill/>
          <a:ln cap="flat" cmpd="sng" w="1227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0" name="Google Shape;1480;g3f778c2bce4_5_56"/>
          <p:cNvSpPr/>
          <p:nvPr/>
        </p:nvSpPr>
        <p:spPr>
          <a:xfrm>
            <a:off x="9103629" y="1451220"/>
            <a:ext cx="498900" cy="289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g3f778c2bce4_5_56"/>
          <p:cNvSpPr/>
          <p:nvPr/>
        </p:nvSpPr>
        <p:spPr>
          <a:xfrm>
            <a:off x="9127762" y="1515574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13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2" name="Google Shape;1482;g3f778c2bce4_5_56"/>
          <p:cNvCxnSpPr/>
          <p:nvPr/>
        </p:nvCxnSpPr>
        <p:spPr>
          <a:xfrm>
            <a:off x="9602368" y="1596016"/>
            <a:ext cx="128700" cy="0"/>
          </a:xfrm>
          <a:prstGeom prst="straightConnector1">
            <a:avLst/>
          </a:prstGeom>
          <a:noFill/>
          <a:ln cap="flat" cmpd="sng" w="10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3" name="Google Shape;1483;g3f778c2bce4_5_56"/>
          <p:cNvSpPr/>
          <p:nvPr/>
        </p:nvSpPr>
        <p:spPr>
          <a:xfrm>
            <a:off x="9731075" y="1451220"/>
            <a:ext cx="498900" cy="289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g3f778c2bce4_5_56"/>
          <p:cNvSpPr/>
          <p:nvPr/>
        </p:nvSpPr>
        <p:spPr>
          <a:xfrm>
            <a:off x="9755208" y="1515574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13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g3f778c2bce4_5_56"/>
          <p:cNvSpPr/>
          <p:nvPr/>
        </p:nvSpPr>
        <p:spPr>
          <a:xfrm>
            <a:off x="8556625" y="2102802"/>
            <a:ext cx="201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968"/>
              <a:buFont typeface="Arial"/>
              <a:buNone/>
            </a:pPr>
            <a:r>
              <a:rPr b="1" i="0" lang="en-US" sz="1408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6" name="Google Shape;1486;g3f778c2bce4_5_56"/>
          <p:cNvCxnSpPr/>
          <p:nvPr/>
        </p:nvCxnSpPr>
        <p:spPr>
          <a:xfrm>
            <a:off x="8797950" y="2191288"/>
            <a:ext cx="257400" cy="0"/>
          </a:xfrm>
          <a:prstGeom prst="straightConnector1">
            <a:avLst/>
          </a:prstGeom>
          <a:noFill/>
          <a:ln cap="flat" cmpd="sng" w="122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7" name="Google Shape;1487;g3f778c2bce4_5_56"/>
          <p:cNvSpPr/>
          <p:nvPr/>
        </p:nvSpPr>
        <p:spPr>
          <a:xfrm>
            <a:off x="8556625" y="2665897"/>
            <a:ext cx="201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968"/>
              <a:buFont typeface="Arial"/>
              <a:buNone/>
            </a:pPr>
            <a:r>
              <a:rPr b="1" i="0" lang="en-US" sz="1408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8" name="Google Shape;1488;g3f778c2bce4_5_56"/>
          <p:cNvCxnSpPr/>
          <p:nvPr/>
        </p:nvCxnSpPr>
        <p:spPr>
          <a:xfrm>
            <a:off x="8797950" y="2754384"/>
            <a:ext cx="257400" cy="0"/>
          </a:xfrm>
          <a:prstGeom prst="straightConnector1">
            <a:avLst/>
          </a:prstGeom>
          <a:noFill/>
          <a:ln cap="flat" cmpd="sng" w="1227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9" name="Google Shape;1489;g3f778c2bce4_5_56"/>
          <p:cNvSpPr/>
          <p:nvPr/>
        </p:nvSpPr>
        <p:spPr>
          <a:xfrm>
            <a:off x="9103629" y="2577411"/>
            <a:ext cx="498900" cy="289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g3f778c2bce4_5_56"/>
          <p:cNvSpPr/>
          <p:nvPr/>
        </p:nvSpPr>
        <p:spPr>
          <a:xfrm>
            <a:off x="9127762" y="2641765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13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1" name="Google Shape;1491;g3f778c2bce4_5_56"/>
          <p:cNvCxnSpPr/>
          <p:nvPr/>
        </p:nvCxnSpPr>
        <p:spPr>
          <a:xfrm>
            <a:off x="9602368" y="2722207"/>
            <a:ext cx="128700" cy="0"/>
          </a:xfrm>
          <a:prstGeom prst="straightConnector1">
            <a:avLst/>
          </a:prstGeom>
          <a:noFill/>
          <a:ln cap="flat" cmpd="sng" w="10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2" name="Google Shape;1492;g3f778c2bce4_5_56"/>
          <p:cNvSpPr/>
          <p:nvPr/>
        </p:nvSpPr>
        <p:spPr>
          <a:xfrm>
            <a:off x="9731075" y="2577411"/>
            <a:ext cx="498900" cy="289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g3f778c2bce4_5_56"/>
          <p:cNvSpPr/>
          <p:nvPr/>
        </p:nvSpPr>
        <p:spPr>
          <a:xfrm>
            <a:off x="9755208" y="2641765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13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g3f778c2bce4_5_56"/>
          <p:cNvSpPr/>
          <p:nvPr/>
        </p:nvSpPr>
        <p:spPr>
          <a:xfrm>
            <a:off x="8556625" y="3228992"/>
            <a:ext cx="201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968"/>
              <a:buFont typeface="Arial"/>
              <a:buNone/>
            </a:pPr>
            <a:r>
              <a:rPr b="1" i="0" lang="en-US" sz="1408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5" name="Google Shape;1495;g3f778c2bce4_5_56"/>
          <p:cNvCxnSpPr/>
          <p:nvPr/>
        </p:nvCxnSpPr>
        <p:spPr>
          <a:xfrm>
            <a:off x="8797950" y="3317479"/>
            <a:ext cx="257400" cy="0"/>
          </a:xfrm>
          <a:prstGeom prst="straightConnector1">
            <a:avLst/>
          </a:prstGeom>
          <a:noFill/>
          <a:ln cap="flat" cmpd="sng" w="1227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6" name="Google Shape;1496;g3f778c2bce4_5_56"/>
          <p:cNvSpPr/>
          <p:nvPr/>
        </p:nvSpPr>
        <p:spPr>
          <a:xfrm>
            <a:off x="9103629" y="3140506"/>
            <a:ext cx="498900" cy="289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25" lIns="80425" spcFirstLastPara="1" rIns="80425" wrap="square" tIns="80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g3f778c2bce4_5_56"/>
          <p:cNvSpPr/>
          <p:nvPr/>
        </p:nvSpPr>
        <p:spPr>
          <a:xfrm>
            <a:off x="9127762" y="3204860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13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g3f778c2bce4_5_56"/>
          <p:cNvSpPr/>
          <p:nvPr/>
        </p:nvSpPr>
        <p:spPr>
          <a:xfrm>
            <a:off x="9127767" y="2098769"/>
            <a:ext cx="450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1" lang="en-US" sz="1320">
                <a:solidFill>
                  <a:srgbClr val="0B7A3B"/>
                </a:solidFill>
              </a:rPr>
              <a:t>Null</a:t>
            </a:r>
            <a:endParaRPr b="1" i="0" sz="1320" u="none" cap="none" strike="noStrike">
              <a:solidFill>
                <a:srgbClr val="0B7A3B"/>
              </a:solidFill>
            </a:endParaRPr>
          </a:p>
        </p:txBody>
      </p:sp>
      <p:sp>
        <p:nvSpPr>
          <p:cNvPr id="1499" name="Google Shape;1499;g3f778c2bce4_5_56"/>
          <p:cNvSpPr/>
          <p:nvPr/>
        </p:nvSpPr>
        <p:spPr>
          <a:xfrm>
            <a:off x="8011899" y="3627650"/>
            <a:ext cx="3749100" cy="5778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g3f778c2bce4_5_56"/>
          <p:cNvSpPr/>
          <p:nvPr/>
        </p:nvSpPr>
        <p:spPr>
          <a:xfrm>
            <a:off x="8131298" y="3669300"/>
            <a:ext cx="3473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printList()</a:t>
            </a: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g3f778c2bce4_5_56"/>
          <p:cNvSpPr txBox="1"/>
          <p:nvPr/>
        </p:nvSpPr>
        <p:spPr>
          <a:xfrm>
            <a:off x="8034853" y="4330530"/>
            <a:ext cx="37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Resulting adjacency list</a:t>
            </a:r>
            <a:endParaRPr sz="1700"/>
          </a:p>
        </p:txBody>
      </p:sp>
      <p:sp>
        <p:nvSpPr>
          <p:cNvPr id="1502" name="Google Shape;1502;g3f778c2bce4_5_56"/>
          <p:cNvSpPr txBox="1"/>
          <p:nvPr/>
        </p:nvSpPr>
        <p:spPr>
          <a:xfrm>
            <a:off x="8034853" y="4723722"/>
            <a:ext cx="37032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0: 3 1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1: 4 2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2: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3: 4 1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4: 2</a:t>
            </a:r>
            <a:endParaRPr sz="19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7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Directed Weighted Graph (7)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17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Each list node stores both destination and weight.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17"/>
          <p:cNvSpPr/>
          <p:nvPr/>
        </p:nvSpPr>
        <p:spPr>
          <a:xfrm>
            <a:off x="275515" y="2106093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1" name="Google Shape;1511;p17"/>
          <p:cNvCxnSpPr/>
          <p:nvPr/>
        </p:nvCxnSpPr>
        <p:spPr>
          <a:xfrm flipH="1" rot="10800000">
            <a:off x="686810" y="3340150"/>
            <a:ext cx="1255800" cy="4833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2" name="Google Shape;1512;p17"/>
          <p:cNvSpPr/>
          <p:nvPr/>
        </p:nvSpPr>
        <p:spPr>
          <a:xfrm>
            <a:off x="1216800" y="350037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7"/>
          <p:cNvSpPr/>
          <p:nvPr/>
        </p:nvSpPr>
        <p:spPr>
          <a:xfrm>
            <a:off x="1216800" y="35085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4" name="Google Shape;1514;p17"/>
          <p:cNvCxnSpPr/>
          <p:nvPr/>
        </p:nvCxnSpPr>
        <p:spPr>
          <a:xfrm>
            <a:off x="589891" y="4052889"/>
            <a:ext cx="511500" cy="11958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5" name="Google Shape;1515;p17"/>
          <p:cNvSpPr/>
          <p:nvPr/>
        </p:nvSpPr>
        <p:spPr>
          <a:xfrm>
            <a:off x="747720" y="4569072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17"/>
          <p:cNvSpPr/>
          <p:nvPr/>
        </p:nvSpPr>
        <p:spPr>
          <a:xfrm>
            <a:off x="747720" y="45772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7" name="Google Shape;1517;p17"/>
          <p:cNvCxnSpPr/>
          <p:nvPr/>
        </p:nvCxnSpPr>
        <p:spPr>
          <a:xfrm>
            <a:off x="2248633" y="3390121"/>
            <a:ext cx="1109700" cy="9141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8" name="Google Shape;1518;p17"/>
          <p:cNvSpPr/>
          <p:nvPr/>
        </p:nvSpPr>
        <p:spPr>
          <a:xfrm>
            <a:off x="2705619" y="3765508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17"/>
          <p:cNvSpPr/>
          <p:nvPr/>
        </p:nvSpPr>
        <p:spPr>
          <a:xfrm>
            <a:off x="2705619" y="3773666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0" name="Google Shape;1520;p17"/>
          <p:cNvCxnSpPr/>
          <p:nvPr/>
        </p:nvCxnSpPr>
        <p:spPr>
          <a:xfrm>
            <a:off x="2183960" y="3439596"/>
            <a:ext cx="994200" cy="22020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1" name="Google Shape;1521;p17"/>
          <p:cNvSpPr/>
          <p:nvPr/>
        </p:nvSpPr>
        <p:spPr>
          <a:xfrm>
            <a:off x="2583250" y="445893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7"/>
          <p:cNvSpPr/>
          <p:nvPr/>
        </p:nvSpPr>
        <p:spPr>
          <a:xfrm>
            <a:off x="2583250" y="44670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3" name="Google Shape;1523;p17"/>
          <p:cNvCxnSpPr/>
          <p:nvPr/>
        </p:nvCxnSpPr>
        <p:spPr>
          <a:xfrm flipH="1" rot="10800000">
            <a:off x="1244065" y="3440385"/>
            <a:ext cx="793800" cy="18087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4" name="Google Shape;1524;p17"/>
          <p:cNvSpPr/>
          <p:nvPr/>
        </p:nvSpPr>
        <p:spPr>
          <a:xfrm>
            <a:off x="1543117" y="4263147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7"/>
          <p:cNvSpPr/>
          <p:nvPr/>
        </p:nvSpPr>
        <p:spPr>
          <a:xfrm>
            <a:off x="1543117" y="4271305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6" name="Google Shape;1526;p17"/>
          <p:cNvCxnSpPr/>
          <p:nvPr/>
        </p:nvCxnSpPr>
        <p:spPr>
          <a:xfrm>
            <a:off x="1348308" y="5446628"/>
            <a:ext cx="1727400" cy="3252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7" name="Google Shape;1527;p17"/>
          <p:cNvSpPr/>
          <p:nvPr/>
        </p:nvSpPr>
        <p:spPr>
          <a:xfrm>
            <a:off x="2114170" y="5527639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7"/>
          <p:cNvSpPr/>
          <p:nvPr/>
        </p:nvSpPr>
        <p:spPr>
          <a:xfrm>
            <a:off x="2114170" y="55357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9" name="Google Shape;1529;p17"/>
          <p:cNvCxnSpPr/>
          <p:nvPr/>
        </p:nvCxnSpPr>
        <p:spPr>
          <a:xfrm flipH="1" rot="10800000">
            <a:off x="3283388" y="4594767"/>
            <a:ext cx="182400" cy="10335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0" name="Google Shape;1530;p17"/>
          <p:cNvSpPr/>
          <p:nvPr/>
        </p:nvSpPr>
        <p:spPr>
          <a:xfrm>
            <a:off x="3276672" y="5030000"/>
            <a:ext cx="195900" cy="154800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17"/>
          <p:cNvSpPr/>
          <p:nvPr/>
        </p:nvSpPr>
        <p:spPr>
          <a:xfrm>
            <a:off x="3276672" y="5038158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17"/>
          <p:cNvSpPr/>
          <p:nvPr/>
        </p:nvSpPr>
        <p:spPr>
          <a:xfrm>
            <a:off x="339825" y="370840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7"/>
          <p:cNvSpPr/>
          <p:nvPr/>
        </p:nvSpPr>
        <p:spPr>
          <a:xfrm>
            <a:off x="421404" y="3798140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17"/>
          <p:cNvSpPr/>
          <p:nvPr/>
        </p:nvSpPr>
        <p:spPr>
          <a:xfrm>
            <a:off x="1930617" y="3096550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17"/>
          <p:cNvSpPr/>
          <p:nvPr/>
        </p:nvSpPr>
        <p:spPr>
          <a:xfrm>
            <a:off x="2012196" y="3186288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7"/>
          <p:cNvSpPr/>
          <p:nvPr/>
        </p:nvSpPr>
        <p:spPr>
          <a:xfrm>
            <a:off x="3317462" y="4238673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17"/>
          <p:cNvSpPr/>
          <p:nvPr/>
        </p:nvSpPr>
        <p:spPr>
          <a:xfrm>
            <a:off x="3399041" y="4328411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17"/>
          <p:cNvSpPr/>
          <p:nvPr/>
        </p:nvSpPr>
        <p:spPr>
          <a:xfrm>
            <a:off x="992458" y="523395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17"/>
          <p:cNvSpPr/>
          <p:nvPr/>
        </p:nvSpPr>
        <p:spPr>
          <a:xfrm>
            <a:off x="1074037" y="5323689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7"/>
          <p:cNvSpPr/>
          <p:nvPr/>
        </p:nvSpPr>
        <p:spPr>
          <a:xfrm>
            <a:off x="3072724" y="5625536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17"/>
          <p:cNvSpPr/>
          <p:nvPr/>
        </p:nvSpPr>
        <p:spPr>
          <a:xfrm>
            <a:off x="3154304" y="5715274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7"/>
          <p:cNvSpPr/>
          <p:nvPr/>
        </p:nvSpPr>
        <p:spPr>
          <a:xfrm>
            <a:off x="3930475" y="2532000"/>
            <a:ext cx="37665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45"/>
              <a:buFont typeface="Arial"/>
              <a:buNone/>
            </a:pPr>
            <a:r>
              <a:rPr b="1" i="0" lang="en-US" sz="1645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List with Weights</a:t>
            </a:r>
            <a:endParaRPr b="0" i="0" sz="16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17"/>
          <p:cNvSpPr/>
          <p:nvPr/>
        </p:nvSpPr>
        <p:spPr>
          <a:xfrm>
            <a:off x="4532008" y="3350468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4" name="Google Shape;1544;p17"/>
          <p:cNvCxnSpPr/>
          <p:nvPr/>
        </p:nvCxnSpPr>
        <p:spPr>
          <a:xfrm>
            <a:off x="4797400" y="3447778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5" name="Google Shape;1545;p17"/>
          <p:cNvSpPr/>
          <p:nvPr/>
        </p:nvSpPr>
        <p:spPr>
          <a:xfrm>
            <a:off x="5133563" y="325315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17"/>
          <p:cNvSpPr/>
          <p:nvPr/>
        </p:nvSpPr>
        <p:spPr>
          <a:xfrm>
            <a:off x="5160102" y="332392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1</a:t>
            </a:r>
            <a:r>
              <a:rPr lang="en-US" sz="1500"/>
              <a:t>, 2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547" name="Google Shape;1547;p17"/>
          <p:cNvCxnSpPr/>
          <p:nvPr/>
        </p:nvCxnSpPr>
        <p:spPr>
          <a:xfrm>
            <a:off x="6071282" y="3412392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8" name="Google Shape;1548;p17"/>
          <p:cNvSpPr/>
          <p:nvPr/>
        </p:nvSpPr>
        <p:spPr>
          <a:xfrm>
            <a:off x="6212824" y="325315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17"/>
          <p:cNvSpPr/>
          <p:nvPr/>
        </p:nvSpPr>
        <p:spPr>
          <a:xfrm>
            <a:off x="6239363" y="332392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3</a:t>
            </a:r>
            <a:r>
              <a:rPr lang="en-US" sz="1500"/>
              <a:t>, 6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550" name="Google Shape;1550;p17"/>
          <p:cNvSpPr/>
          <p:nvPr/>
        </p:nvSpPr>
        <p:spPr>
          <a:xfrm>
            <a:off x="4532008" y="3969713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1" name="Google Shape;1551;p17"/>
          <p:cNvCxnSpPr/>
          <p:nvPr/>
        </p:nvCxnSpPr>
        <p:spPr>
          <a:xfrm>
            <a:off x="4797400" y="4067023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2" name="Google Shape;1552;p17"/>
          <p:cNvSpPr/>
          <p:nvPr/>
        </p:nvSpPr>
        <p:spPr>
          <a:xfrm>
            <a:off x="5133563" y="387240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17"/>
          <p:cNvSpPr/>
          <p:nvPr/>
        </p:nvSpPr>
        <p:spPr>
          <a:xfrm>
            <a:off x="5171682" y="394317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2</a:t>
            </a:r>
            <a:r>
              <a:rPr lang="en-US" sz="1500"/>
              <a:t>, 3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554" name="Google Shape;1554;p17"/>
          <p:cNvCxnSpPr/>
          <p:nvPr/>
        </p:nvCxnSpPr>
        <p:spPr>
          <a:xfrm>
            <a:off x="6071282" y="4031637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5" name="Google Shape;1555;p17"/>
          <p:cNvSpPr/>
          <p:nvPr/>
        </p:nvSpPr>
        <p:spPr>
          <a:xfrm>
            <a:off x="6212824" y="387240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17"/>
          <p:cNvSpPr/>
          <p:nvPr/>
        </p:nvSpPr>
        <p:spPr>
          <a:xfrm>
            <a:off x="6239363" y="394317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4</a:t>
            </a:r>
            <a:r>
              <a:rPr lang="en-US" sz="1500"/>
              <a:t>, 5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557" name="Google Shape;1557;p17"/>
          <p:cNvSpPr/>
          <p:nvPr/>
        </p:nvSpPr>
        <p:spPr>
          <a:xfrm>
            <a:off x="4532008" y="4588958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17"/>
          <p:cNvSpPr/>
          <p:nvPr/>
        </p:nvSpPr>
        <p:spPr>
          <a:xfrm>
            <a:off x="4532008" y="5208202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9" name="Google Shape;1559;p17"/>
          <p:cNvCxnSpPr/>
          <p:nvPr/>
        </p:nvCxnSpPr>
        <p:spPr>
          <a:xfrm>
            <a:off x="4797400" y="5305512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0" name="Google Shape;1560;p17"/>
          <p:cNvSpPr/>
          <p:nvPr/>
        </p:nvSpPr>
        <p:spPr>
          <a:xfrm>
            <a:off x="5133563" y="5110892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7"/>
          <p:cNvSpPr/>
          <p:nvPr/>
        </p:nvSpPr>
        <p:spPr>
          <a:xfrm>
            <a:off x="5160102" y="5181663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1</a:t>
            </a:r>
            <a:r>
              <a:rPr lang="en-US" sz="1500"/>
              <a:t>, 4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562" name="Google Shape;1562;p17"/>
          <p:cNvCxnSpPr/>
          <p:nvPr/>
        </p:nvCxnSpPr>
        <p:spPr>
          <a:xfrm>
            <a:off x="6071282" y="5270127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3" name="Google Shape;1563;p17"/>
          <p:cNvSpPr/>
          <p:nvPr/>
        </p:nvSpPr>
        <p:spPr>
          <a:xfrm>
            <a:off x="6212824" y="5110892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7"/>
          <p:cNvSpPr/>
          <p:nvPr/>
        </p:nvSpPr>
        <p:spPr>
          <a:xfrm>
            <a:off x="6239363" y="5181663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4</a:t>
            </a:r>
            <a:r>
              <a:rPr lang="en-US" sz="1500"/>
              <a:t>, 2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565" name="Google Shape;1565;p17"/>
          <p:cNvSpPr/>
          <p:nvPr/>
        </p:nvSpPr>
        <p:spPr>
          <a:xfrm>
            <a:off x="4532008" y="5827447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6" name="Google Shape;1566;p17"/>
          <p:cNvCxnSpPr/>
          <p:nvPr/>
        </p:nvCxnSpPr>
        <p:spPr>
          <a:xfrm>
            <a:off x="4797400" y="5924757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7" name="Google Shape;1567;p17"/>
          <p:cNvSpPr/>
          <p:nvPr/>
        </p:nvSpPr>
        <p:spPr>
          <a:xfrm>
            <a:off x="5133563" y="5730137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17"/>
          <p:cNvSpPr/>
          <p:nvPr/>
        </p:nvSpPr>
        <p:spPr>
          <a:xfrm>
            <a:off x="5160102" y="5800908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2</a:t>
            </a:r>
            <a:r>
              <a:rPr lang="en-US" sz="1500"/>
              <a:t>, 1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569" name="Google Shape;1569;p1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17"/>
          <p:cNvSpPr/>
          <p:nvPr/>
        </p:nvSpPr>
        <p:spPr>
          <a:xfrm>
            <a:off x="5171679" y="4579979"/>
            <a:ext cx="663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4"/>
              <a:buFont typeface="Arial"/>
              <a:buNone/>
            </a:pPr>
            <a:r>
              <a:rPr b="1" lang="en-US" sz="1451">
                <a:solidFill>
                  <a:srgbClr val="0B7A3B"/>
                </a:solidFill>
              </a:rPr>
              <a:t>Null</a:t>
            </a:r>
            <a:endParaRPr b="1" i="0" sz="1451" u="none" cap="none" strike="noStrike">
              <a:solidFill>
                <a:srgbClr val="0B7A3B"/>
              </a:solidFill>
            </a:endParaRPr>
          </a:p>
        </p:txBody>
      </p:sp>
      <p:sp>
        <p:nvSpPr>
          <p:cNvPr id="1571" name="Google Shape;1571;p17"/>
          <p:cNvSpPr/>
          <p:nvPr/>
        </p:nvSpPr>
        <p:spPr>
          <a:xfrm>
            <a:off x="7756800" y="3223900"/>
            <a:ext cx="4458000" cy="26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class WEdge {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destination;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weight;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WEdge next;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WEdge(int destination, int weight){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37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this.destination = destination;</a:t>
            </a:r>
            <a:br>
              <a:rPr b="1" lang="en-US" sz="137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this.weight = weight;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this.next = null;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72" name="Google Shape;1572;p17"/>
          <p:cNvCxnSpPr/>
          <p:nvPr/>
        </p:nvCxnSpPr>
        <p:spPr>
          <a:xfrm>
            <a:off x="4797400" y="4686273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3f778c2bce4_5_113"/>
          <p:cNvSpPr/>
          <p:nvPr/>
        </p:nvSpPr>
        <p:spPr>
          <a:xfrm>
            <a:off x="233150" y="292600"/>
            <a:ext cx="11516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g3f778c2bce4_5_113"/>
          <p:cNvSpPr/>
          <p:nvPr/>
        </p:nvSpPr>
        <p:spPr>
          <a:xfrm>
            <a:off x="120850" y="961475"/>
            <a:ext cx="7113000" cy="53493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g3f778c2bce4_5_113"/>
          <p:cNvSpPr/>
          <p:nvPr/>
        </p:nvSpPr>
        <p:spPr>
          <a:xfrm>
            <a:off x="233160" y="1034627"/>
            <a:ext cx="6888300" cy="52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GraphDirectedWeightedAdjacencyList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Total number of vertices in the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WEdge[] adjList;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Array of linked lists (Adjacency List)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Constructor: initialize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GraphDirectedWeightedAdjacencyList(int numVertices)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Create an array of size = numVertices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Each index will store the head of a linked list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 = new WEdge[numVertices];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//Initially all values are null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1" name="Google Shape;1581;g3f778c2bce4_5_113"/>
          <p:cNvSpPr/>
          <p:nvPr/>
        </p:nvSpPr>
        <p:spPr>
          <a:xfrm>
            <a:off x="7385775" y="4847725"/>
            <a:ext cx="4751400" cy="14631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g3f778c2bce4_5_113"/>
          <p:cNvSpPr/>
          <p:nvPr/>
        </p:nvSpPr>
        <p:spPr>
          <a:xfrm>
            <a:off x="7528875" y="4920875"/>
            <a:ext cx="45486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GraphDirectedWeightedAdjacencyList graph = new GraphDirectedWeightedAdjacencyList(numVertices);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3" name="Google Shape;1583;g3f778c2bce4_5_113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4" name="Google Shape;1584;g3f778c2bce4_5_113"/>
          <p:cNvCxnSpPr/>
          <p:nvPr/>
        </p:nvCxnSpPr>
        <p:spPr>
          <a:xfrm flipH="1" rot="10800000">
            <a:off x="8298835" y="1508950"/>
            <a:ext cx="1255800" cy="4833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5" name="Google Shape;1585;g3f778c2bce4_5_113"/>
          <p:cNvSpPr/>
          <p:nvPr/>
        </p:nvSpPr>
        <p:spPr>
          <a:xfrm>
            <a:off x="8828825" y="1669172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g3f778c2bce4_5_113"/>
          <p:cNvSpPr/>
          <p:nvPr/>
        </p:nvSpPr>
        <p:spPr>
          <a:xfrm>
            <a:off x="8828825" y="16773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7" name="Google Shape;1587;g3f778c2bce4_5_113"/>
          <p:cNvCxnSpPr/>
          <p:nvPr/>
        </p:nvCxnSpPr>
        <p:spPr>
          <a:xfrm>
            <a:off x="8201916" y="2221689"/>
            <a:ext cx="511500" cy="11958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8" name="Google Shape;1588;g3f778c2bce4_5_113"/>
          <p:cNvSpPr/>
          <p:nvPr/>
        </p:nvSpPr>
        <p:spPr>
          <a:xfrm>
            <a:off x="8359745" y="2737872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g3f778c2bce4_5_113"/>
          <p:cNvSpPr/>
          <p:nvPr/>
        </p:nvSpPr>
        <p:spPr>
          <a:xfrm>
            <a:off x="8359745" y="274603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0" name="Google Shape;1590;g3f778c2bce4_5_113"/>
          <p:cNvCxnSpPr/>
          <p:nvPr/>
        </p:nvCxnSpPr>
        <p:spPr>
          <a:xfrm>
            <a:off x="9860658" y="1558921"/>
            <a:ext cx="1109700" cy="9141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1" name="Google Shape;1591;g3f778c2bce4_5_113"/>
          <p:cNvSpPr/>
          <p:nvPr/>
        </p:nvSpPr>
        <p:spPr>
          <a:xfrm>
            <a:off x="10317644" y="1934308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g3f778c2bce4_5_113"/>
          <p:cNvSpPr/>
          <p:nvPr/>
        </p:nvSpPr>
        <p:spPr>
          <a:xfrm>
            <a:off x="10317644" y="1942466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3" name="Google Shape;1593;g3f778c2bce4_5_113"/>
          <p:cNvCxnSpPr/>
          <p:nvPr/>
        </p:nvCxnSpPr>
        <p:spPr>
          <a:xfrm>
            <a:off x="9795985" y="1608396"/>
            <a:ext cx="994200" cy="22020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4" name="Google Shape;1594;g3f778c2bce4_5_113"/>
          <p:cNvSpPr/>
          <p:nvPr/>
        </p:nvSpPr>
        <p:spPr>
          <a:xfrm>
            <a:off x="10195275" y="2627739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g3f778c2bce4_5_113"/>
          <p:cNvSpPr/>
          <p:nvPr/>
        </p:nvSpPr>
        <p:spPr>
          <a:xfrm>
            <a:off x="10195275" y="26358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6" name="Google Shape;1596;g3f778c2bce4_5_113"/>
          <p:cNvCxnSpPr/>
          <p:nvPr/>
        </p:nvCxnSpPr>
        <p:spPr>
          <a:xfrm flipH="1" rot="10800000">
            <a:off x="8856090" y="1609185"/>
            <a:ext cx="793800" cy="18087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7" name="Google Shape;1597;g3f778c2bce4_5_113"/>
          <p:cNvSpPr/>
          <p:nvPr/>
        </p:nvSpPr>
        <p:spPr>
          <a:xfrm>
            <a:off x="9155142" y="2431947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g3f778c2bce4_5_113"/>
          <p:cNvSpPr/>
          <p:nvPr/>
        </p:nvSpPr>
        <p:spPr>
          <a:xfrm>
            <a:off x="9155142" y="2440105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9" name="Google Shape;1599;g3f778c2bce4_5_113"/>
          <p:cNvCxnSpPr/>
          <p:nvPr/>
        </p:nvCxnSpPr>
        <p:spPr>
          <a:xfrm>
            <a:off x="8960333" y="3615428"/>
            <a:ext cx="1727400" cy="3252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0" name="Google Shape;1600;g3f778c2bce4_5_113"/>
          <p:cNvSpPr/>
          <p:nvPr/>
        </p:nvSpPr>
        <p:spPr>
          <a:xfrm>
            <a:off x="9726195" y="3696439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g3f778c2bce4_5_113"/>
          <p:cNvSpPr/>
          <p:nvPr/>
        </p:nvSpPr>
        <p:spPr>
          <a:xfrm>
            <a:off x="9726195" y="370459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2" name="Google Shape;1602;g3f778c2bce4_5_113"/>
          <p:cNvCxnSpPr/>
          <p:nvPr/>
        </p:nvCxnSpPr>
        <p:spPr>
          <a:xfrm flipH="1" rot="10800000">
            <a:off x="10895413" y="2763567"/>
            <a:ext cx="182400" cy="10335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3" name="Google Shape;1603;g3f778c2bce4_5_113"/>
          <p:cNvSpPr/>
          <p:nvPr/>
        </p:nvSpPr>
        <p:spPr>
          <a:xfrm>
            <a:off x="10888697" y="3198800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g3f778c2bce4_5_113"/>
          <p:cNvSpPr/>
          <p:nvPr/>
        </p:nvSpPr>
        <p:spPr>
          <a:xfrm>
            <a:off x="10888697" y="3206958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g3f778c2bce4_5_113"/>
          <p:cNvSpPr/>
          <p:nvPr/>
        </p:nvSpPr>
        <p:spPr>
          <a:xfrm>
            <a:off x="7951850" y="187720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g3f778c2bce4_5_113"/>
          <p:cNvSpPr/>
          <p:nvPr/>
        </p:nvSpPr>
        <p:spPr>
          <a:xfrm>
            <a:off x="8033429" y="1966940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g3f778c2bce4_5_113"/>
          <p:cNvSpPr/>
          <p:nvPr/>
        </p:nvSpPr>
        <p:spPr>
          <a:xfrm>
            <a:off x="9542642" y="1265350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g3f778c2bce4_5_113"/>
          <p:cNvSpPr/>
          <p:nvPr/>
        </p:nvSpPr>
        <p:spPr>
          <a:xfrm>
            <a:off x="9624221" y="1355088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g3f778c2bce4_5_113"/>
          <p:cNvSpPr/>
          <p:nvPr/>
        </p:nvSpPr>
        <p:spPr>
          <a:xfrm>
            <a:off x="10929487" y="2407473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g3f778c2bce4_5_113"/>
          <p:cNvSpPr/>
          <p:nvPr/>
        </p:nvSpPr>
        <p:spPr>
          <a:xfrm>
            <a:off x="11011066" y="2497211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g3f778c2bce4_5_113"/>
          <p:cNvSpPr/>
          <p:nvPr/>
        </p:nvSpPr>
        <p:spPr>
          <a:xfrm>
            <a:off x="8604483" y="340275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g3f778c2bce4_5_113"/>
          <p:cNvSpPr/>
          <p:nvPr/>
        </p:nvSpPr>
        <p:spPr>
          <a:xfrm>
            <a:off x="8686062" y="3492489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g3f778c2bce4_5_113"/>
          <p:cNvSpPr/>
          <p:nvPr/>
        </p:nvSpPr>
        <p:spPr>
          <a:xfrm>
            <a:off x="10684749" y="3794336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g3f778c2bce4_5_113"/>
          <p:cNvSpPr/>
          <p:nvPr/>
        </p:nvSpPr>
        <p:spPr>
          <a:xfrm>
            <a:off x="10766329" y="3884074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3f778c2bce4_5_140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g3f778c2bce4_5_140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g3f778c2bce4_5_140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multiple weighted edges to the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edges format: { {source, destination, weight}, ... }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source = edges[i][0];  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Starting vertex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destination = edges[i][1];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Ending vertex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weight = edges[i][2]; 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Edge weight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// For DIRECTED graph:</a:t>
            </a:r>
            <a:endParaRPr b="1" sz="134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// Add edge in only ONE direction</a:t>
            </a:r>
            <a:endParaRPr b="1" sz="134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4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addEdge(source, destination, weight);</a:t>
            </a:r>
            <a:endParaRPr b="1" sz="144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Helper method to add a single directed weighted edge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addEdge(int source, int destination, int weight)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Step 1: Create a new weighted edge node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WEdge newEdge = new WEdge(destination, weight);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2: Insert at the beginning (prepend) ensuring O(1)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3: Update the head of the list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3" name="Google Shape;1623;g3f778c2bce4_5_140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g3f778c2bce4_5_140"/>
          <p:cNvSpPr/>
          <p:nvPr/>
        </p:nvSpPr>
        <p:spPr>
          <a:xfrm>
            <a:off x="7710375" y="4610400"/>
            <a:ext cx="42813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 numVertices = 5;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b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{0, 1, 2}, {0, 3, 6},</a:t>
            </a:r>
            <a:b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{1, 2, 3}, {1, 4, 5},</a:t>
            </a:r>
            <a:b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{3, 1, 4}, {3, 4, 2},</a:t>
            </a:r>
            <a:b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{4, 2, 1}</a:t>
            </a:r>
            <a:b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b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5" name="Google Shape;1625;g3f778c2bce4_5_140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g3f778c2bce4_5_140"/>
          <p:cNvSpPr txBox="1"/>
          <p:nvPr/>
        </p:nvSpPr>
        <p:spPr>
          <a:xfrm>
            <a:off x="0" y="0"/>
            <a:ext cx="3000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/>
          </a:p>
        </p:txBody>
      </p:sp>
      <p:cxnSp>
        <p:nvCxnSpPr>
          <p:cNvPr id="1627" name="Google Shape;1627;g3f778c2bce4_5_140"/>
          <p:cNvCxnSpPr/>
          <p:nvPr/>
        </p:nvCxnSpPr>
        <p:spPr>
          <a:xfrm flipH="1" rot="10800000">
            <a:off x="8406560" y="1405200"/>
            <a:ext cx="1255800" cy="4833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8" name="Google Shape;1628;g3f778c2bce4_5_140"/>
          <p:cNvSpPr/>
          <p:nvPr/>
        </p:nvSpPr>
        <p:spPr>
          <a:xfrm>
            <a:off x="8936550" y="1565422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g3f778c2bce4_5_140"/>
          <p:cNvSpPr/>
          <p:nvPr/>
        </p:nvSpPr>
        <p:spPr>
          <a:xfrm>
            <a:off x="8936550" y="157358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0" name="Google Shape;1630;g3f778c2bce4_5_140"/>
          <p:cNvCxnSpPr/>
          <p:nvPr/>
        </p:nvCxnSpPr>
        <p:spPr>
          <a:xfrm>
            <a:off x="8309641" y="2117939"/>
            <a:ext cx="511500" cy="11958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1" name="Google Shape;1631;g3f778c2bce4_5_140"/>
          <p:cNvSpPr/>
          <p:nvPr/>
        </p:nvSpPr>
        <p:spPr>
          <a:xfrm>
            <a:off x="8467470" y="2634122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g3f778c2bce4_5_140"/>
          <p:cNvSpPr/>
          <p:nvPr/>
        </p:nvSpPr>
        <p:spPr>
          <a:xfrm>
            <a:off x="8467470" y="2642280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3" name="Google Shape;1633;g3f778c2bce4_5_140"/>
          <p:cNvCxnSpPr/>
          <p:nvPr/>
        </p:nvCxnSpPr>
        <p:spPr>
          <a:xfrm>
            <a:off x="9968383" y="1455171"/>
            <a:ext cx="1109700" cy="9141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4" name="Google Shape;1634;g3f778c2bce4_5_140"/>
          <p:cNvSpPr/>
          <p:nvPr/>
        </p:nvSpPr>
        <p:spPr>
          <a:xfrm>
            <a:off x="10425369" y="1830558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g3f778c2bce4_5_140"/>
          <p:cNvSpPr/>
          <p:nvPr/>
        </p:nvSpPr>
        <p:spPr>
          <a:xfrm>
            <a:off x="10425369" y="1838716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6" name="Google Shape;1636;g3f778c2bce4_5_140"/>
          <p:cNvCxnSpPr/>
          <p:nvPr/>
        </p:nvCxnSpPr>
        <p:spPr>
          <a:xfrm>
            <a:off x="9903710" y="1504646"/>
            <a:ext cx="994200" cy="22020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7" name="Google Shape;1637;g3f778c2bce4_5_140"/>
          <p:cNvSpPr/>
          <p:nvPr/>
        </p:nvSpPr>
        <p:spPr>
          <a:xfrm>
            <a:off x="10303000" y="2523989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g3f778c2bce4_5_140"/>
          <p:cNvSpPr/>
          <p:nvPr/>
        </p:nvSpPr>
        <p:spPr>
          <a:xfrm>
            <a:off x="10303000" y="253214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9" name="Google Shape;1639;g3f778c2bce4_5_140"/>
          <p:cNvCxnSpPr/>
          <p:nvPr/>
        </p:nvCxnSpPr>
        <p:spPr>
          <a:xfrm flipH="1" rot="10800000">
            <a:off x="8963815" y="1505435"/>
            <a:ext cx="793800" cy="18087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0" name="Google Shape;1640;g3f778c2bce4_5_140"/>
          <p:cNvSpPr/>
          <p:nvPr/>
        </p:nvSpPr>
        <p:spPr>
          <a:xfrm>
            <a:off x="9262867" y="2328197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g3f778c2bce4_5_140"/>
          <p:cNvSpPr/>
          <p:nvPr/>
        </p:nvSpPr>
        <p:spPr>
          <a:xfrm>
            <a:off x="9262867" y="2336355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2" name="Google Shape;1642;g3f778c2bce4_5_140"/>
          <p:cNvCxnSpPr/>
          <p:nvPr/>
        </p:nvCxnSpPr>
        <p:spPr>
          <a:xfrm>
            <a:off x="9068058" y="3511678"/>
            <a:ext cx="1727400" cy="3252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3" name="Google Shape;1643;g3f778c2bce4_5_140"/>
          <p:cNvSpPr/>
          <p:nvPr/>
        </p:nvSpPr>
        <p:spPr>
          <a:xfrm>
            <a:off x="9833920" y="3592689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g3f778c2bce4_5_140"/>
          <p:cNvSpPr/>
          <p:nvPr/>
        </p:nvSpPr>
        <p:spPr>
          <a:xfrm>
            <a:off x="9833920" y="3600847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5" name="Google Shape;1645;g3f778c2bce4_5_140"/>
          <p:cNvCxnSpPr/>
          <p:nvPr/>
        </p:nvCxnSpPr>
        <p:spPr>
          <a:xfrm flipH="1" rot="10800000">
            <a:off x="11003138" y="2659817"/>
            <a:ext cx="182400" cy="1033500"/>
          </a:xfrm>
          <a:prstGeom prst="straightConnector1">
            <a:avLst/>
          </a:prstGeom>
          <a:noFill/>
          <a:ln cap="flat" cmpd="sng" w="13025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6" name="Google Shape;1646;g3f778c2bce4_5_140"/>
          <p:cNvSpPr/>
          <p:nvPr/>
        </p:nvSpPr>
        <p:spPr>
          <a:xfrm>
            <a:off x="10996422" y="3095050"/>
            <a:ext cx="195900" cy="154800"/>
          </a:xfrm>
          <a:prstGeom prst="rect">
            <a:avLst/>
          </a:prstGeom>
          <a:solidFill>
            <a:srgbClr val="FFFFFF">
              <a:alpha val="94120"/>
            </a:srgbClr>
          </a:solidFill>
          <a:ln cap="flat" cmpd="sng" w="113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g3f778c2bce4_5_140"/>
          <p:cNvSpPr/>
          <p:nvPr/>
        </p:nvSpPr>
        <p:spPr>
          <a:xfrm>
            <a:off x="10996422" y="3103208"/>
            <a:ext cx="195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8"/>
              <a:buFont typeface="Arial"/>
              <a:buNone/>
            </a:pPr>
            <a:r>
              <a:rPr b="1" i="0" lang="en-US" sz="12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g3f778c2bce4_5_140"/>
          <p:cNvSpPr/>
          <p:nvPr/>
        </p:nvSpPr>
        <p:spPr>
          <a:xfrm>
            <a:off x="8059575" y="177345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g3f778c2bce4_5_140"/>
          <p:cNvSpPr/>
          <p:nvPr/>
        </p:nvSpPr>
        <p:spPr>
          <a:xfrm>
            <a:off x="8141154" y="1863190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g3f778c2bce4_5_140"/>
          <p:cNvSpPr/>
          <p:nvPr/>
        </p:nvSpPr>
        <p:spPr>
          <a:xfrm>
            <a:off x="9650367" y="1161600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g3f778c2bce4_5_140"/>
          <p:cNvSpPr/>
          <p:nvPr/>
        </p:nvSpPr>
        <p:spPr>
          <a:xfrm>
            <a:off x="9731946" y="1251338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g3f778c2bce4_5_140"/>
          <p:cNvSpPr/>
          <p:nvPr/>
        </p:nvSpPr>
        <p:spPr>
          <a:xfrm>
            <a:off x="11037212" y="2303723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g3f778c2bce4_5_140"/>
          <p:cNvSpPr/>
          <p:nvPr/>
        </p:nvSpPr>
        <p:spPr>
          <a:xfrm>
            <a:off x="11118791" y="2393461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g3f778c2bce4_5_140"/>
          <p:cNvSpPr/>
          <p:nvPr/>
        </p:nvSpPr>
        <p:spPr>
          <a:xfrm>
            <a:off x="8712208" y="3299001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g3f778c2bce4_5_140"/>
          <p:cNvSpPr/>
          <p:nvPr/>
        </p:nvSpPr>
        <p:spPr>
          <a:xfrm>
            <a:off x="8793787" y="3388739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g3f778c2bce4_5_140"/>
          <p:cNvSpPr/>
          <p:nvPr/>
        </p:nvSpPr>
        <p:spPr>
          <a:xfrm>
            <a:off x="10792474" y="3690586"/>
            <a:ext cx="359100" cy="359100"/>
          </a:xfrm>
          <a:prstGeom prst="ellipse">
            <a:avLst/>
          </a:prstGeom>
          <a:solidFill>
            <a:srgbClr val="BFD7EA"/>
          </a:solidFill>
          <a:ln cap="flat" cmpd="sng" w="124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g3f778c2bce4_5_140"/>
          <p:cNvSpPr/>
          <p:nvPr/>
        </p:nvSpPr>
        <p:spPr>
          <a:xfrm>
            <a:off x="10874054" y="3780324"/>
            <a:ext cx="1959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026"/>
              <a:buFont typeface="Arial"/>
              <a:buNone/>
            </a:pPr>
            <a:r>
              <a:rPr b="1" i="0" lang="en-US" sz="1472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7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3f778c2bce4_5_168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g3f778c2bce4_5_168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g3f778c2bce4_5_168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Method to find and print neighbors of a given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System.out.print("\nNeighbors of vertex " + vertex + ":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WEdge current = adjList[vertex];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all neighbors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neighbor and edge weight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System.out.print("(" + current.destination + ", "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+ current.weight + ")");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comma if not the last element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(current.next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System.out.print(",");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6" name="Google Shape;1666;g3f778c2bce4_5_168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g3f778c2bce4_5_168"/>
          <p:cNvSpPr/>
          <p:nvPr/>
        </p:nvSpPr>
        <p:spPr>
          <a:xfrm>
            <a:off x="7710625" y="4779625"/>
            <a:ext cx="42813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graph.findNeighbors(2);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null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graph.findNeighbors(3);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1, 4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8" name="Google Shape;1668;g3f778c2bce4_5_168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g3f778c2bce4_5_168"/>
          <p:cNvSpPr/>
          <p:nvPr/>
        </p:nvSpPr>
        <p:spPr>
          <a:xfrm>
            <a:off x="7787483" y="1208093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0" name="Google Shape;1670;g3f778c2bce4_5_168"/>
          <p:cNvCxnSpPr/>
          <p:nvPr/>
        </p:nvCxnSpPr>
        <p:spPr>
          <a:xfrm>
            <a:off x="8052875" y="1305403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1" name="Google Shape;1671;g3f778c2bce4_5_168"/>
          <p:cNvSpPr/>
          <p:nvPr/>
        </p:nvSpPr>
        <p:spPr>
          <a:xfrm>
            <a:off x="8389038" y="111078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g3f778c2bce4_5_168"/>
          <p:cNvSpPr/>
          <p:nvPr/>
        </p:nvSpPr>
        <p:spPr>
          <a:xfrm>
            <a:off x="8415577" y="118155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1</a:t>
            </a:r>
            <a:r>
              <a:rPr lang="en-US" sz="1500"/>
              <a:t>, 2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673" name="Google Shape;1673;g3f778c2bce4_5_168"/>
          <p:cNvCxnSpPr/>
          <p:nvPr/>
        </p:nvCxnSpPr>
        <p:spPr>
          <a:xfrm>
            <a:off x="9326757" y="1270017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4" name="Google Shape;1674;g3f778c2bce4_5_168"/>
          <p:cNvSpPr/>
          <p:nvPr/>
        </p:nvSpPr>
        <p:spPr>
          <a:xfrm>
            <a:off x="9468299" y="1110783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g3f778c2bce4_5_168"/>
          <p:cNvSpPr/>
          <p:nvPr/>
        </p:nvSpPr>
        <p:spPr>
          <a:xfrm>
            <a:off x="9494838" y="1181554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3</a:t>
            </a:r>
            <a:r>
              <a:rPr lang="en-US" sz="1500"/>
              <a:t>, 6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676" name="Google Shape;1676;g3f778c2bce4_5_168"/>
          <p:cNvSpPr/>
          <p:nvPr/>
        </p:nvSpPr>
        <p:spPr>
          <a:xfrm>
            <a:off x="7787483" y="1827338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7" name="Google Shape;1677;g3f778c2bce4_5_168"/>
          <p:cNvCxnSpPr/>
          <p:nvPr/>
        </p:nvCxnSpPr>
        <p:spPr>
          <a:xfrm>
            <a:off x="8052875" y="1924648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8" name="Google Shape;1678;g3f778c2bce4_5_168"/>
          <p:cNvSpPr/>
          <p:nvPr/>
        </p:nvSpPr>
        <p:spPr>
          <a:xfrm>
            <a:off x="8389038" y="173002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g3f778c2bce4_5_168"/>
          <p:cNvSpPr/>
          <p:nvPr/>
        </p:nvSpPr>
        <p:spPr>
          <a:xfrm>
            <a:off x="8427157" y="180079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2</a:t>
            </a:r>
            <a:r>
              <a:rPr lang="en-US" sz="1500"/>
              <a:t>, 3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680" name="Google Shape;1680;g3f778c2bce4_5_168"/>
          <p:cNvCxnSpPr/>
          <p:nvPr/>
        </p:nvCxnSpPr>
        <p:spPr>
          <a:xfrm>
            <a:off x="9326757" y="1889262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1" name="Google Shape;1681;g3f778c2bce4_5_168"/>
          <p:cNvSpPr/>
          <p:nvPr/>
        </p:nvSpPr>
        <p:spPr>
          <a:xfrm>
            <a:off x="9468299" y="1730028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g3f778c2bce4_5_168"/>
          <p:cNvSpPr/>
          <p:nvPr/>
        </p:nvSpPr>
        <p:spPr>
          <a:xfrm>
            <a:off x="9494838" y="1800799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4</a:t>
            </a:r>
            <a:r>
              <a:rPr lang="en-US" sz="1500"/>
              <a:t>, 5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683" name="Google Shape;1683;g3f778c2bce4_5_168"/>
          <p:cNvSpPr/>
          <p:nvPr/>
        </p:nvSpPr>
        <p:spPr>
          <a:xfrm>
            <a:off x="7787483" y="2446583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g3f778c2bce4_5_168"/>
          <p:cNvSpPr/>
          <p:nvPr/>
        </p:nvSpPr>
        <p:spPr>
          <a:xfrm>
            <a:off x="7787483" y="3065827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5" name="Google Shape;1685;g3f778c2bce4_5_168"/>
          <p:cNvCxnSpPr/>
          <p:nvPr/>
        </p:nvCxnSpPr>
        <p:spPr>
          <a:xfrm>
            <a:off x="8052875" y="3163137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6" name="Google Shape;1686;g3f778c2bce4_5_168"/>
          <p:cNvSpPr/>
          <p:nvPr/>
        </p:nvSpPr>
        <p:spPr>
          <a:xfrm>
            <a:off x="8389038" y="2968517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g3f778c2bce4_5_168"/>
          <p:cNvSpPr/>
          <p:nvPr/>
        </p:nvSpPr>
        <p:spPr>
          <a:xfrm>
            <a:off x="8415577" y="3039288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1</a:t>
            </a:r>
            <a:r>
              <a:rPr lang="en-US" sz="1500"/>
              <a:t>, 4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688" name="Google Shape;1688;g3f778c2bce4_5_168"/>
          <p:cNvCxnSpPr/>
          <p:nvPr/>
        </p:nvCxnSpPr>
        <p:spPr>
          <a:xfrm>
            <a:off x="9326757" y="3127752"/>
            <a:ext cx="141600" cy="0"/>
          </a:xfrm>
          <a:prstGeom prst="straightConnector1">
            <a:avLst/>
          </a:prstGeom>
          <a:noFill/>
          <a:ln cap="flat" cmpd="sng" w="110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9" name="Google Shape;1689;g3f778c2bce4_5_168"/>
          <p:cNvSpPr/>
          <p:nvPr/>
        </p:nvSpPr>
        <p:spPr>
          <a:xfrm>
            <a:off x="9468299" y="2968517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g3f778c2bce4_5_168"/>
          <p:cNvSpPr/>
          <p:nvPr/>
        </p:nvSpPr>
        <p:spPr>
          <a:xfrm>
            <a:off x="9494838" y="3039288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4</a:t>
            </a:r>
            <a:r>
              <a:rPr lang="en-US" sz="1500"/>
              <a:t>, 2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691" name="Google Shape;1691;g3f778c2bce4_5_168"/>
          <p:cNvSpPr/>
          <p:nvPr/>
        </p:nvSpPr>
        <p:spPr>
          <a:xfrm>
            <a:off x="7787483" y="3685072"/>
            <a:ext cx="221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16"/>
              <a:buFont typeface="Arial"/>
              <a:buNone/>
            </a:pPr>
            <a:r>
              <a:rPr b="1" i="0" lang="en-US" sz="15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2" name="Google Shape;1692;g3f778c2bce4_5_168"/>
          <p:cNvCxnSpPr/>
          <p:nvPr/>
        </p:nvCxnSpPr>
        <p:spPr>
          <a:xfrm>
            <a:off x="8052875" y="3782382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3" name="Google Shape;1693;g3f778c2bce4_5_168"/>
          <p:cNvSpPr/>
          <p:nvPr/>
        </p:nvSpPr>
        <p:spPr>
          <a:xfrm>
            <a:off x="8389038" y="3587762"/>
            <a:ext cx="937800" cy="3183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0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450" lIns="88450" spcFirstLastPara="1" rIns="88450" wrap="square" tIns="8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g3f778c2bce4_5_168"/>
          <p:cNvSpPr/>
          <p:nvPr/>
        </p:nvSpPr>
        <p:spPr>
          <a:xfrm>
            <a:off x="8415577" y="3658533"/>
            <a:ext cx="88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rPr i="0" lang="en-US" sz="1500" u="none" cap="none" strike="noStrike">
                <a:solidFill>
                  <a:srgbClr val="000000"/>
                </a:solidFill>
              </a:rPr>
              <a:t>2</a:t>
            </a:r>
            <a:r>
              <a:rPr lang="en-US" sz="1500"/>
              <a:t>, 1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695" name="Google Shape;1695;g3f778c2bce4_5_168"/>
          <p:cNvSpPr/>
          <p:nvPr/>
        </p:nvSpPr>
        <p:spPr>
          <a:xfrm>
            <a:off x="8427154" y="2437604"/>
            <a:ext cx="6636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4"/>
              <a:buFont typeface="Arial"/>
              <a:buNone/>
            </a:pPr>
            <a:r>
              <a:rPr b="1" lang="en-US" sz="1451">
                <a:solidFill>
                  <a:srgbClr val="0B7A3B"/>
                </a:solidFill>
              </a:rPr>
              <a:t>Null</a:t>
            </a:r>
            <a:endParaRPr b="1" i="0" sz="1451" u="none" cap="none" strike="noStrike">
              <a:solidFill>
                <a:srgbClr val="0B7A3B"/>
              </a:solidFill>
            </a:endParaRPr>
          </a:p>
        </p:txBody>
      </p:sp>
      <p:cxnSp>
        <p:nvCxnSpPr>
          <p:cNvPr id="1696" name="Google Shape;1696;g3f778c2bce4_5_168"/>
          <p:cNvCxnSpPr/>
          <p:nvPr/>
        </p:nvCxnSpPr>
        <p:spPr>
          <a:xfrm>
            <a:off x="8052875" y="2543898"/>
            <a:ext cx="282900" cy="0"/>
          </a:xfrm>
          <a:prstGeom prst="straightConnector1">
            <a:avLst/>
          </a:prstGeom>
          <a:noFill/>
          <a:ln cap="flat" cmpd="sng" w="135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f778c2bce4_5_207"/>
          <p:cNvSpPr/>
          <p:nvPr/>
        </p:nvSpPr>
        <p:spPr>
          <a:xfrm>
            <a:off x="120857" y="1112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g3f778c2bce4_5_207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g3f778c2bce4_5_207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the full adjacency list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printList()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List with Weights:");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each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System.out.print(i + ":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Traverse linked list of edges for vertex i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WEdge current = adjList[i];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while (current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destination and edge weight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System.out.print("(" + current.destination + ", "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+ current.weight + ")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current = current.next;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5" name="Google Shape;1705;g3f778c2bce4_5_207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g3f778c2bce4_5_207"/>
          <p:cNvSpPr/>
          <p:nvPr/>
        </p:nvSpPr>
        <p:spPr>
          <a:xfrm>
            <a:off x="8011899" y="3627650"/>
            <a:ext cx="3749100" cy="5778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g3f778c2bce4_5_207"/>
          <p:cNvSpPr/>
          <p:nvPr/>
        </p:nvSpPr>
        <p:spPr>
          <a:xfrm>
            <a:off x="8131298" y="3669300"/>
            <a:ext cx="3473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printList()</a:t>
            </a: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g3f778c2bce4_5_207"/>
          <p:cNvSpPr txBox="1"/>
          <p:nvPr/>
        </p:nvSpPr>
        <p:spPr>
          <a:xfrm>
            <a:off x="8034853" y="4330530"/>
            <a:ext cx="37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Resulting adjacency list</a:t>
            </a:r>
            <a:endParaRPr sz="1700"/>
          </a:p>
        </p:txBody>
      </p:sp>
      <p:sp>
        <p:nvSpPr>
          <p:cNvPr id="1709" name="Google Shape;1709;g3f778c2bce4_5_207"/>
          <p:cNvSpPr txBox="1"/>
          <p:nvPr/>
        </p:nvSpPr>
        <p:spPr>
          <a:xfrm>
            <a:off x="8034853" y="4723722"/>
            <a:ext cx="37032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0: (3, 6) (1, 2)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1: (4, 5) (2, 3)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2: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3: (4, 2) (1, 4)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4: (2, 1)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0" name="Google Shape;1710;g3f778c2bce4_5_207"/>
          <p:cNvSpPr/>
          <p:nvPr/>
        </p:nvSpPr>
        <p:spPr>
          <a:xfrm>
            <a:off x="8131301" y="1120081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1" name="Google Shape;1711;g3f778c2bce4_5_207"/>
          <p:cNvCxnSpPr/>
          <p:nvPr/>
        </p:nvCxnSpPr>
        <p:spPr>
          <a:xfrm>
            <a:off x="8365659" y="1206012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2" name="Google Shape;1712;g3f778c2bce4_5_207"/>
          <p:cNvSpPr/>
          <p:nvPr/>
        </p:nvSpPr>
        <p:spPr>
          <a:xfrm>
            <a:off x="8662511" y="103415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g3f778c2bce4_5_207"/>
          <p:cNvSpPr/>
          <p:nvPr/>
        </p:nvSpPr>
        <p:spPr>
          <a:xfrm>
            <a:off x="8685947" y="109664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i="0" lang="en-US" sz="1324" u="none" cap="none" strike="noStrike">
                <a:solidFill>
                  <a:srgbClr val="000000"/>
                </a:solidFill>
              </a:rPr>
              <a:t>1</a:t>
            </a:r>
            <a:r>
              <a:rPr lang="en-US" sz="1324"/>
              <a:t>, 2</a:t>
            </a:r>
            <a:endParaRPr i="0" sz="1324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14" name="Google Shape;1714;g3f778c2bce4_5_207"/>
          <p:cNvCxnSpPr/>
          <p:nvPr/>
        </p:nvCxnSpPr>
        <p:spPr>
          <a:xfrm>
            <a:off x="9490575" y="1174764"/>
            <a:ext cx="125100" cy="0"/>
          </a:xfrm>
          <a:prstGeom prst="straightConnector1">
            <a:avLst/>
          </a:prstGeom>
          <a:noFill/>
          <a:ln cap="flat" cmpd="sng" w="97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5" name="Google Shape;1715;g3f778c2bce4_5_207"/>
          <p:cNvSpPr/>
          <p:nvPr/>
        </p:nvSpPr>
        <p:spPr>
          <a:xfrm>
            <a:off x="9615566" y="103415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g3f778c2bce4_5_207"/>
          <p:cNvSpPr/>
          <p:nvPr/>
        </p:nvSpPr>
        <p:spPr>
          <a:xfrm>
            <a:off x="9639001" y="109664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i="0" lang="en-US" sz="1324" u="none" cap="none" strike="noStrike">
                <a:solidFill>
                  <a:srgbClr val="000000"/>
                </a:solidFill>
              </a:rPr>
              <a:t>3</a:t>
            </a:r>
            <a:r>
              <a:rPr lang="en-US" sz="1324"/>
              <a:t>, 6</a:t>
            </a:r>
            <a:endParaRPr i="0" sz="1324" u="none" cap="none" strike="noStrike">
              <a:solidFill>
                <a:schemeClr val="dk1"/>
              </a:solidFill>
            </a:endParaRPr>
          </a:p>
        </p:txBody>
      </p:sp>
      <p:sp>
        <p:nvSpPr>
          <p:cNvPr id="1717" name="Google Shape;1717;g3f778c2bce4_5_207"/>
          <p:cNvSpPr/>
          <p:nvPr/>
        </p:nvSpPr>
        <p:spPr>
          <a:xfrm>
            <a:off x="8131301" y="1666912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8" name="Google Shape;1718;g3f778c2bce4_5_207"/>
          <p:cNvCxnSpPr/>
          <p:nvPr/>
        </p:nvCxnSpPr>
        <p:spPr>
          <a:xfrm>
            <a:off x="8365659" y="1752842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9" name="Google Shape;1719;g3f778c2bce4_5_207"/>
          <p:cNvSpPr/>
          <p:nvPr/>
        </p:nvSpPr>
        <p:spPr>
          <a:xfrm>
            <a:off x="8662511" y="158098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g3f778c2bce4_5_207"/>
          <p:cNvSpPr/>
          <p:nvPr/>
        </p:nvSpPr>
        <p:spPr>
          <a:xfrm>
            <a:off x="8696172" y="164347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i="0" lang="en-US" sz="1324" u="none" cap="none" strike="noStrike">
                <a:solidFill>
                  <a:srgbClr val="000000"/>
                </a:solidFill>
              </a:rPr>
              <a:t>2</a:t>
            </a:r>
            <a:r>
              <a:rPr lang="en-US" sz="1324"/>
              <a:t>, 3</a:t>
            </a:r>
            <a:endParaRPr i="0" sz="1324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21" name="Google Shape;1721;g3f778c2bce4_5_207"/>
          <p:cNvCxnSpPr/>
          <p:nvPr/>
        </p:nvCxnSpPr>
        <p:spPr>
          <a:xfrm>
            <a:off x="9490575" y="1721595"/>
            <a:ext cx="125100" cy="0"/>
          </a:xfrm>
          <a:prstGeom prst="straightConnector1">
            <a:avLst/>
          </a:prstGeom>
          <a:noFill/>
          <a:ln cap="flat" cmpd="sng" w="97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2" name="Google Shape;1722;g3f778c2bce4_5_207"/>
          <p:cNvSpPr/>
          <p:nvPr/>
        </p:nvSpPr>
        <p:spPr>
          <a:xfrm>
            <a:off x="9615566" y="1580981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g3f778c2bce4_5_207"/>
          <p:cNvSpPr/>
          <p:nvPr/>
        </p:nvSpPr>
        <p:spPr>
          <a:xfrm>
            <a:off x="9639001" y="1643476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i="0" lang="en-US" sz="1324" u="none" cap="none" strike="noStrike">
                <a:solidFill>
                  <a:srgbClr val="000000"/>
                </a:solidFill>
              </a:rPr>
              <a:t>4</a:t>
            </a:r>
            <a:r>
              <a:rPr lang="en-US" sz="1324"/>
              <a:t>, 5</a:t>
            </a:r>
            <a:endParaRPr i="0" sz="1324" u="none" cap="none" strike="noStrike">
              <a:solidFill>
                <a:schemeClr val="dk1"/>
              </a:solidFill>
            </a:endParaRPr>
          </a:p>
        </p:txBody>
      </p:sp>
      <p:sp>
        <p:nvSpPr>
          <p:cNvPr id="1724" name="Google Shape;1724;g3f778c2bce4_5_207"/>
          <p:cNvSpPr/>
          <p:nvPr/>
        </p:nvSpPr>
        <p:spPr>
          <a:xfrm>
            <a:off x="8131301" y="2213742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g3f778c2bce4_5_207"/>
          <p:cNvSpPr/>
          <p:nvPr/>
        </p:nvSpPr>
        <p:spPr>
          <a:xfrm>
            <a:off x="8131301" y="2760573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6" name="Google Shape;1726;g3f778c2bce4_5_207"/>
          <p:cNvCxnSpPr/>
          <p:nvPr/>
        </p:nvCxnSpPr>
        <p:spPr>
          <a:xfrm>
            <a:off x="8365659" y="2846503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7" name="Google Shape;1727;g3f778c2bce4_5_207"/>
          <p:cNvSpPr/>
          <p:nvPr/>
        </p:nvSpPr>
        <p:spPr>
          <a:xfrm>
            <a:off x="8662511" y="2674642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g3f778c2bce4_5_207"/>
          <p:cNvSpPr/>
          <p:nvPr/>
        </p:nvSpPr>
        <p:spPr>
          <a:xfrm>
            <a:off x="8685947" y="2737137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i="0" lang="en-US" sz="1324" u="none" cap="none" strike="noStrike">
                <a:solidFill>
                  <a:srgbClr val="000000"/>
                </a:solidFill>
              </a:rPr>
              <a:t>1</a:t>
            </a:r>
            <a:r>
              <a:rPr lang="en-US" sz="1324"/>
              <a:t>, 4</a:t>
            </a:r>
            <a:endParaRPr i="0" sz="1324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29" name="Google Shape;1729;g3f778c2bce4_5_207"/>
          <p:cNvCxnSpPr/>
          <p:nvPr/>
        </p:nvCxnSpPr>
        <p:spPr>
          <a:xfrm>
            <a:off x="9490575" y="2815256"/>
            <a:ext cx="125100" cy="0"/>
          </a:xfrm>
          <a:prstGeom prst="straightConnector1">
            <a:avLst/>
          </a:prstGeom>
          <a:noFill/>
          <a:ln cap="flat" cmpd="sng" w="97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0" name="Google Shape;1730;g3f778c2bce4_5_207"/>
          <p:cNvSpPr/>
          <p:nvPr/>
        </p:nvSpPr>
        <p:spPr>
          <a:xfrm>
            <a:off x="9615566" y="2674642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g3f778c2bce4_5_207"/>
          <p:cNvSpPr/>
          <p:nvPr/>
        </p:nvSpPr>
        <p:spPr>
          <a:xfrm>
            <a:off x="9639001" y="2737137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i="0" lang="en-US" sz="1324" u="none" cap="none" strike="noStrike">
                <a:solidFill>
                  <a:srgbClr val="000000"/>
                </a:solidFill>
              </a:rPr>
              <a:t>4</a:t>
            </a:r>
            <a:r>
              <a:rPr lang="en-US" sz="1324"/>
              <a:t>, 2</a:t>
            </a:r>
            <a:endParaRPr i="0" sz="1324" u="none" cap="none" strike="noStrike">
              <a:solidFill>
                <a:schemeClr val="dk1"/>
              </a:solidFill>
            </a:endParaRPr>
          </a:p>
        </p:txBody>
      </p:sp>
      <p:sp>
        <p:nvSpPr>
          <p:cNvPr id="1732" name="Google Shape;1732;g3f778c2bce4_5_207"/>
          <p:cNvSpPr/>
          <p:nvPr/>
        </p:nvSpPr>
        <p:spPr>
          <a:xfrm>
            <a:off x="8131301" y="3307403"/>
            <a:ext cx="195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897"/>
              <a:buFont typeface="Arial"/>
              <a:buNone/>
            </a:pPr>
            <a:r>
              <a:rPr b="1" i="0" lang="en-US" sz="1324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3" name="Google Shape;1733;g3f778c2bce4_5_207"/>
          <p:cNvCxnSpPr/>
          <p:nvPr/>
        </p:nvCxnSpPr>
        <p:spPr>
          <a:xfrm>
            <a:off x="8365659" y="3393334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4" name="Google Shape;1734;g3f778c2bce4_5_207"/>
          <p:cNvSpPr/>
          <p:nvPr/>
        </p:nvSpPr>
        <p:spPr>
          <a:xfrm>
            <a:off x="8662511" y="3221473"/>
            <a:ext cx="828000" cy="281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75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g3f778c2bce4_5_207"/>
          <p:cNvSpPr/>
          <p:nvPr/>
        </p:nvSpPr>
        <p:spPr>
          <a:xfrm>
            <a:off x="8685947" y="3283968"/>
            <a:ext cx="781200" cy="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7"/>
              <a:buFont typeface="Arial"/>
              <a:buNone/>
            </a:pPr>
            <a:r>
              <a:rPr i="0" lang="en-US" sz="1324" u="none" cap="none" strike="noStrike">
                <a:solidFill>
                  <a:srgbClr val="000000"/>
                </a:solidFill>
              </a:rPr>
              <a:t>2</a:t>
            </a:r>
            <a:r>
              <a:rPr lang="en-US" sz="1324"/>
              <a:t>, 1</a:t>
            </a:r>
            <a:endParaRPr i="0" sz="1324" u="none" cap="none" strike="noStrike">
              <a:solidFill>
                <a:schemeClr val="dk1"/>
              </a:solidFill>
            </a:endParaRPr>
          </a:p>
        </p:txBody>
      </p:sp>
      <p:sp>
        <p:nvSpPr>
          <p:cNvPr id="1736" name="Google Shape;1736;g3f778c2bce4_5_207"/>
          <p:cNvSpPr/>
          <p:nvPr/>
        </p:nvSpPr>
        <p:spPr>
          <a:xfrm>
            <a:off x="8696170" y="2205813"/>
            <a:ext cx="5859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"/>
              <a:buFont typeface="Arial"/>
              <a:buNone/>
            </a:pPr>
            <a:r>
              <a:rPr b="1" lang="en-US" sz="1281">
                <a:solidFill>
                  <a:srgbClr val="0B7A3B"/>
                </a:solidFill>
              </a:rPr>
              <a:t>Null</a:t>
            </a:r>
            <a:endParaRPr b="1" i="0" sz="1281" u="none" cap="none" strike="noStrike">
              <a:solidFill>
                <a:srgbClr val="0B7A3B"/>
              </a:solidFill>
            </a:endParaRPr>
          </a:p>
        </p:txBody>
      </p:sp>
      <p:cxnSp>
        <p:nvCxnSpPr>
          <p:cNvPr id="1737" name="Google Shape;1737;g3f778c2bce4_5_207"/>
          <p:cNvCxnSpPr/>
          <p:nvPr/>
        </p:nvCxnSpPr>
        <p:spPr>
          <a:xfrm>
            <a:off x="8365659" y="2299677"/>
            <a:ext cx="249900" cy="0"/>
          </a:xfrm>
          <a:prstGeom prst="straightConnector1">
            <a:avLst/>
          </a:prstGeom>
          <a:noFill/>
          <a:ln cap="flat" cmpd="sng" w="119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f778c2bce4_5_517"/>
          <p:cNvSpPr/>
          <p:nvPr/>
        </p:nvSpPr>
        <p:spPr>
          <a:xfrm>
            <a:off x="502920" y="292608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irected Weighted Graph (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g3f778c2bce4_5_517"/>
          <p:cNvSpPr/>
          <p:nvPr/>
        </p:nvSpPr>
        <p:spPr>
          <a:xfrm>
            <a:off x="530352" y="777240"/>
            <a:ext cx="1115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Each list node stores both destination and weight.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g3f778c2bce4_5_517"/>
          <p:cNvSpPr/>
          <p:nvPr/>
        </p:nvSpPr>
        <p:spPr>
          <a:xfrm>
            <a:off x="166140" y="2926418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g3f778c2bce4_5_517"/>
          <p:cNvSpPr/>
          <p:nvPr/>
        </p:nvSpPr>
        <p:spPr>
          <a:xfrm>
            <a:off x="3894150" y="3099975"/>
            <a:ext cx="37665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45"/>
              <a:buFont typeface="Arial"/>
              <a:buNone/>
            </a:pPr>
            <a:r>
              <a:rPr b="1" i="0" lang="en-US" sz="1645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List with Weights</a:t>
            </a:r>
            <a:endParaRPr b="0" i="0" sz="16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g3f778c2bce4_5_517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g3f778c2bce4_5_517"/>
          <p:cNvSpPr/>
          <p:nvPr/>
        </p:nvSpPr>
        <p:spPr>
          <a:xfrm>
            <a:off x="7660650" y="777250"/>
            <a:ext cx="46263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class WEdge {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destination;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weight;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WEdge next;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WEdge(int destination, int weight){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27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this.destination = destination;</a:t>
            </a:r>
            <a:br>
              <a:rPr b="1" lang="en-US" sz="127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27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this.weight = weight;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this.next = null;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2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9" name="Google Shape;1749;g3f778c2bce4_5_517"/>
          <p:cNvSpPr/>
          <p:nvPr/>
        </p:nvSpPr>
        <p:spPr>
          <a:xfrm>
            <a:off x="4303250" y="3602467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0" name="Google Shape;1750;g3f778c2bce4_5_517"/>
          <p:cNvCxnSpPr/>
          <p:nvPr/>
        </p:nvCxnSpPr>
        <p:spPr>
          <a:xfrm>
            <a:off x="4572549" y="3701209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1" name="Google Shape;1751;g3f778c2bce4_5_517"/>
          <p:cNvSpPr/>
          <p:nvPr/>
        </p:nvSpPr>
        <p:spPr>
          <a:xfrm>
            <a:off x="4913660" y="3503725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g3f778c2bce4_5_517"/>
          <p:cNvSpPr/>
          <p:nvPr/>
        </p:nvSpPr>
        <p:spPr>
          <a:xfrm>
            <a:off x="4940600" y="3575537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3, 6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53" name="Google Shape;1753;g3f778c2bce4_5_517"/>
          <p:cNvCxnSpPr/>
          <p:nvPr/>
        </p:nvCxnSpPr>
        <p:spPr>
          <a:xfrm>
            <a:off x="5865182" y="3665303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4" name="Google Shape;1754;g3f778c2bce4_5_517"/>
          <p:cNvSpPr/>
          <p:nvPr/>
        </p:nvSpPr>
        <p:spPr>
          <a:xfrm>
            <a:off x="6008808" y="3503725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g3f778c2bce4_5_517"/>
          <p:cNvSpPr/>
          <p:nvPr/>
        </p:nvSpPr>
        <p:spPr>
          <a:xfrm>
            <a:off x="6035750" y="3575537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756" name="Google Shape;1756;g3f778c2bce4_5_517"/>
          <p:cNvSpPr/>
          <p:nvPr/>
        </p:nvSpPr>
        <p:spPr>
          <a:xfrm>
            <a:off x="4303250" y="4230824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7" name="Google Shape;1757;g3f778c2bce4_5_517"/>
          <p:cNvCxnSpPr/>
          <p:nvPr/>
        </p:nvCxnSpPr>
        <p:spPr>
          <a:xfrm>
            <a:off x="4572549" y="4329566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8" name="Google Shape;1758;g3f778c2bce4_5_517"/>
          <p:cNvSpPr/>
          <p:nvPr/>
        </p:nvSpPr>
        <p:spPr>
          <a:xfrm>
            <a:off x="4913660" y="413208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g3f778c2bce4_5_517"/>
          <p:cNvSpPr/>
          <p:nvPr/>
        </p:nvSpPr>
        <p:spPr>
          <a:xfrm>
            <a:off x="4952350" y="4203883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4, 5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60" name="Google Shape;1760;g3f778c2bce4_5_517"/>
          <p:cNvCxnSpPr/>
          <p:nvPr/>
        </p:nvCxnSpPr>
        <p:spPr>
          <a:xfrm>
            <a:off x="5865182" y="4293660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1" name="Google Shape;1761;g3f778c2bce4_5_517"/>
          <p:cNvSpPr/>
          <p:nvPr/>
        </p:nvSpPr>
        <p:spPr>
          <a:xfrm>
            <a:off x="6008808" y="413208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g3f778c2bce4_5_517"/>
          <p:cNvSpPr/>
          <p:nvPr/>
        </p:nvSpPr>
        <p:spPr>
          <a:xfrm>
            <a:off x="6035749" y="4203883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2, 3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763" name="Google Shape;1763;g3f778c2bce4_5_517"/>
          <p:cNvSpPr/>
          <p:nvPr/>
        </p:nvSpPr>
        <p:spPr>
          <a:xfrm>
            <a:off x="4303250" y="4859181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g3f778c2bce4_5_517"/>
          <p:cNvSpPr/>
          <p:nvPr/>
        </p:nvSpPr>
        <p:spPr>
          <a:xfrm>
            <a:off x="4303250" y="5487539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5" name="Google Shape;1765;g3f778c2bce4_5_517"/>
          <p:cNvCxnSpPr/>
          <p:nvPr/>
        </p:nvCxnSpPr>
        <p:spPr>
          <a:xfrm>
            <a:off x="4572549" y="5586280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6" name="Google Shape;1766;g3f778c2bce4_5_517"/>
          <p:cNvSpPr/>
          <p:nvPr/>
        </p:nvSpPr>
        <p:spPr>
          <a:xfrm>
            <a:off x="4913660" y="538879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g3f778c2bce4_5_517"/>
          <p:cNvSpPr/>
          <p:nvPr/>
        </p:nvSpPr>
        <p:spPr>
          <a:xfrm>
            <a:off x="4940600" y="5460616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68" name="Google Shape;1768;g3f778c2bce4_5_517"/>
          <p:cNvCxnSpPr/>
          <p:nvPr/>
        </p:nvCxnSpPr>
        <p:spPr>
          <a:xfrm>
            <a:off x="5865182" y="5550374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9" name="Google Shape;1769;g3f778c2bce4_5_517"/>
          <p:cNvSpPr/>
          <p:nvPr/>
        </p:nvSpPr>
        <p:spPr>
          <a:xfrm>
            <a:off x="6008808" y="538879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g3f778c2bce4_5_517"/>
          <p:cNvSpPr/>
          <p:nvPr/>
        </p:nvSpPr>
        <p:spPr>
          <a:xfrm>
            <a:off x="6035749" y="5460616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0, 6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771" name="Google Shape;1771;g3f778c2bce4_5_517"/>
          <p:cNvSpPr/>
          <p:nvPr/>
        </p:nvSpPr>
        <p:spPr>
          <a:xfrm>
            <a:off x="4303250" y="6115896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2" name="Google Shape;1772;g3f778c2bce4_5_517"/>
          <p:cNvCxnSpPr/>
          <p:nvPr/>
        </p:nvCxnSpPr>
        <p:spPr>
          <a:xfrm>
            <a:off x="4572549" y="6214637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3" name="Google Shape;1773;g3f778c2bce4_5_517"/>
          <p:cNvCxnSpPr/>
          <p:nvPr/>
        </p:nvCxnSpPr>
        <p:spPr>
          <a:xfrm>
            <a:off x="4572549" y="4957928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4" name="Google Shape;1774;g3f778c2bce4_5_517"/>
          <p:cNvCxnSpPr/>
          <p:nvPr/>
        </p:nvCxnSpPr>
        <p:spPr>
          <a:xfrm>
            <a:off x="6960232" y="4293660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5" name="Google Shape;1775;g3f778c2bce4_5_517"/>
          <p:cNvSpPr/>
          <p:nvPr/>
        </p:nvSpPr>
        <p:spPr>
          <a:xfrm>
            <a:off x="7103858" y="413208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g3f778c2bce4_5_517"/>
          <p:cNvSpPr/>
          <p:nvPr/>
        </p:nvSpPr>
        <p:spPr>
          <a:xfrm>
            <a:off x="7130799" y="4203883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0, 2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777" name="Google Shape;1777;g3f778c2bce4_5_517"/>
          <p:cNvSpPr/>
          <p:nvPr/>
        </p:nvSpPr>
        <p:spPr>
          <a:xfrm>
            <a:off x="4904560" y="601705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g3f778c2bce4_5_517"/>
          <p:cNvSpPr/>
          <p:nvPr/>
        </p:nvSpPr>
        <p:spPr>
          <a:xfrm>
            <a:off x="4943250" y="608885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i="0" lang="en-US" sz="1522" u="none" cap="none" strike="noStrike">
                <a:solidFill>
                  <a:srgbClr val="000000"/>
                </a:solidFill>
              </a:rPr>
              <a:t>2</a:t>
            </a:r>
            <a:r>
              <a:rPr lang="en-US" sz="1522"/>
              <a:t>, 1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79" name="Google Shape;1779;g3f778c2bce4_5_517"/>
          <p:cNvCxnSpPr/>
          <p:nvPr/>
        </p:nvCxnSpPr>
        <p:spPr>
          <a:xfrm>
            <a:off x="5856082" y="6178635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0" name="Google Shape;1780;g3f778c2bce4_5_517"/>
          <p:cNvSpPr/>
          <p:nvPr/>
        </p:nvSpPr>
        <p:spPr>
          <a:xfrm>
            <a:off x="5999708" y="601705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g3f778c2bce4_5_517"/>
          <p:cNvSpPr/>
          <p:nvPr/>
        </p:nvSpPr>
        <p:spPr>
          <a:xfrm>
            <a:off x="6026649" y="608885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3, 2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82" name="Google Shape;1782;g3f778c2bce4_5_517"/>
          <p:cNvCxnSpPr/>
          <p:nvPr/>
        </p:nvCxnSpPr>
        <p:spPr>
          <a:xfrm>
            <a:off x="6951132" y="6178635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3" name="Google Shape;1783;g3f778c2bce4_5_517"/>
          <p:cNvSpPr/>
          <p:nvPr/>
        </p:nvSpPr>
        <p:spPr>
          <a:xfrm>
            <a:off x="7094758" y="601705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g3f778c2bce4_5_517"/>
          <p:cNvSpPr/>
          <p:nvPr/>
        </p:nvSpPr>
        <p:spPr>
          <a:xfrm>
            <a:off x="7121699" y="608885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1, 5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785" name="Google Shape;1785;g3f778c2bce4_5_517"/>
          <p:cNvSpPr/>
          <p:nvPr/>
        </p:nvSpPr>
        <p:spPr>
          <a:xfrm>
            <a:off x="4904560" y="4796359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g3f778c2bce4_5_517"/>
          <p:cNvSpPr/>
          <p:nvPr/>
        </p:nvSpPr>
        <p:spPr>
          <a:xfrm>
            <a:off x="4931500" y="486817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4, 1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787" name="Google Shape;1787;g3f778c2bce4_5_517"/>
          <p:cNvCxnSpPr/>
          <p:nvPr/>
        </p:nvCxnSpPr>
        <p:spPr>
          <a:xfrm>
            <a:off x="5856082" y="4957937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8" name="Google Shape;1788;g3f778c2bce4_5_517"/>
          <p:cNvSpPr/>
          <p:nvPr/>
        </p:nvSpPr>
        <p:spPr>
          <a:xfrm>
            <a:off x="5999708" y="4796359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g3f778c2bce4_5_517"/>
          <p:cNvSpPr/>
          <p:nvPr/>
        </p:nvSpPr>
        <p:spPr>
          <a:xfrm>
            <a:off x="6026649" y="486817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1, 3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pic>
        <p:nvPicPr>
          <p:cNvPr id="1790" name="Google Shape;1790;g3f778c2bce4_5_517" title="undirected)weightList.png"/>
          <p:cNvPicPr preferRelativeResize="0"/>
          <p:nvPr/>
        </p:nvPicPr>
        <p:blipFill rotWithShape="1">
          <a:blip r:embed="rId3">
            <a:alphaModFix/>
          </a:blip>
          <a:srcRect b="4847" l="7548" r="5691" t="2294"/>
          <a:stretch/>
        </p:blipFill>
        <p:spPr>
          <a:xfrm>
            <a:off x="437375" y="3602475"/>
            <a:ext cx="2986027" cy="239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f778c2bce4_5_586"/>
          <p:cNvSpPr/>
          <p:nvPr/>
        </p:nvSpPr>
        <p:spPr>
          <a:xfrm>
            <a:off x="233150" y="292600"/>
            <a:ext cx="11516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g3f778c2bce4_5_586"/>
          <p:cNvSpPr/>
          <p:nvPr/>
        </p:nvSpPr>
        <p:spPr>
          <a:xfrm>
            <a:off x="120850" y="961475"/>
            <a:ext cx="7113000" cy="53493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g3f778c2bce4_5_586"/>
          <p:cNvSpPr/>
          <p:nvPr/>
        </p:nvSpPr>
        <p:spPr>
          <a:xfrm>
            <a:off x="233160" y="1034627"/>
            <a:ext cx="6888300" cy="52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GraphUndirectedWeightedAdjacencyList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Total number of vertices in the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WEdge[] adjList;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Array of linked lists (Adjacency List)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Constructor: initialize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Undi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rectedWeightedAdjacencyList(int numVertices)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Create an array of size = numVertices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       // Each index will store the head of a linked list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 = new WEdge[numVertices];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//Initially all values are null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9" name="Google Shape;1799;g3f778c2bce4_5_586"/>
          <p:cNvSpPr/>
          <p:nvPr/>
        </p:nvSpPr>
        <p:spPr>
          <a:xfrm>
            <a:off x="7385775" y="4847725"/>
            <a:ext cx="4751400" cy="14631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g3f778c2bce4_5_586"/>
          <p:cNvSpPr/>
          <p:nvPr/>
        </p:nvSpPr>
        <p:spPr>
          <a:xfrm>
            <a:off x="7528875" y="4920875"/>
            <a:ext cx="45486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Undi</a:t>
            </a: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rectedWeightedAdjacencyList graph = new Graph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Undi</a:t>
            </a: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rectedWeightedAdjacencyList(numVertices);</a:t>
            </a:r>
            <a:endParaRPr sz="12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1" name="Google Shape;1801;g3f778c2bce4_5_586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2" name="Google Shape;1802;g3f778c2bce4_5_586" title="undirected)weightList.png"/>
          <p:cNvPicPr preferRelativeResize="0"/>
          <p:nvPr/>
        </p:nvPicPr>
        <p:blipFill rotWithShape="1">
          <a:blip r:embed="rId3">
            <a:alphaModFix/>
          </a:blip>
          <a:srcRect b="4847" l="7548" r="5691" t="2294"/>
          <a:stretch/>
        </p:blipFill>
        <p:spPr>
          <a:xfrm>
            <a:off x="7875075" y="1272725"/>
            <a:ext cx="3512198" cy="281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3f778c2bce4_5_627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g3f778c2bce4_5_627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g3f778c2bce4_5_627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multiple weighted edges to the graph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edges format: { {source, destination, weight}, ... }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source = edges[i][0]; 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Starting vertex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destination = edges[i][1]; 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Ending vertex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4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 weight = edges[i][2]; </a:t>
            </a: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Edge weight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3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For UNDIRECTED graph:</a:t>
            </a:r>
            <a:r>
              <a:rPr b="1" lang="en-US" sz="1800">
                <a:solidFill>
                  <a:srgbClr val="0B7A3B"/>
                </a:solidFill>
              </a:rPr>
              <a:t> </a:t>
            </a:r>
            <a:r>
              <a:rPr b="1" lang="en-US" sz="135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Add edge in BOTH directions</a:t>
            </a:r>
            <a:br>
              <a:rPr lang="en-US" sz="13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addEdge(source, destination, weight); </a:t>
            </a:r>
            <a:r>
              <a:rPr b="1" lang="en-US" sz="130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source → destination</a:t>
            </a:r>
            <a:br>
              <a:rPr b="1" lang="en-US" sz="13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3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            addEdge(destination, source, weight); </a:t>
            </a:r>
            <a:r>
              <a:rPr b="1" lang="en-US" sz="130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destination → source</a:t>
            </a:r>
            <a:endParaRPr sz="12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Helper method to add a single directed weighted edge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addEdge(int source, int destination, int weight) {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Step 1: Create a new weighted edge node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WEdge newEdge = new WEdge(destination, weight);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2: Insert at the beginning (prepend) ensuring O(1)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3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Step 3: Update the head of the list</a:t>
            </a:r>
            <a:endParaRPr b="1" sz="13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3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1" name="Google Shape;1811;g3f778c2bce4_5_627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g3f778c2bce4_5_627"/>
          <p:cNvSpPr/>
          <p:nvPr/>
        </p:nvSpPr>
        <p:spPr>
          <a:xfrm>
            <a:off x="7710375" y="4610400"/>
            <a:ext cx="42813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 numVertices = 5;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sz="15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{0, 1, 2}, {0, 3, 6},</a:t>
            </a:r>
            <a:endParaRPr sz="15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{1, 2, 3}, {1, 4, 5},</a:t>
            </a:r>
            <a:endParaRPr sz="15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{3, 4, 2},</a:t>
            </a:r>
            <a:endParaRPr sz="15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{4, 2, 1}</a:t>
            </a:r>
            <a:endParaRPr sz="15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5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b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sz="15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3" name="Google Shape;1813;g3f778c2bce4_5_627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g3f778c2bce4_5_627"/>
          <p:cNvSpPr txBox="1"/>
          <p:nvPr/>
        </p:nvSpPr>
        <p:spPr>
          <a:xfrm>
            <a:off x="0" y="0"/>
            <a:ext cx="3000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/>
          </a:p>
        </p:txBody>
      </p:sp>
      <p:pic>
        <p:nvPicPr>
          <p:cNvPr id="1815" name="Google Shape;1815;g3f778c2bce4_5_627" title="undirected)weightList.png"/>
          <p:cNvPicPr preferRelativeResize="0"/>
          <p:nvPr/>
        </p:nvPicPr>
        <p:blipFill rotWithShape="1">
          <a:blip r:embed="rId3">
            <a:alphaModFix/>
          </a:blip>
          <a:srcRect b="4847" l="7548" r="5691" t="2294"/>
          <a:stretch/>
        </p:blipFill>
        <p:spPr>
          <a:xfrm>
            <a:off x="7973525" y="868000"/>
            <a:ext cx="3851250" cy="30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3f778c2bce4_5_669"/>
          <p:cNvSpPr/>
          <p:nvPr/>
        </p:nvSpPr>
        <p:spPr>
          <a:xfrm>
            <a:off x="236707" y="2457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g3f778c2bce4_5_669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g3f778c2bce4_5_669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Method to find and print neighbors of a given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System.out.print("\nNeighbors of vertex " + vertex + ":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WEdge current = adjList[vertex];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all neighbors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neighbor and edge weight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System.out.print("(" + current.destination + ", "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+ current.weight + ")");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Add comma if not the last element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(current.next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System.out.print(",");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4" name="Google Shape;1824;g3f778c2bce4_5_669"/>
          <p:cNvSpPr/>
          <p:nvPr/>
        </p:nvSpPr>
        <p:spPr>
          <a:xfrm>
            <a:off x="7577275" y="4526600"/>
            <a:ext cx="4548000" cy="2082600"/>
          </a:xfrm>
          <a:prstGeom prst="roundRect">
            <a:avLst>
              <a:gd fmla="val 312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g3f778c2bce4_5_669"/>
          <p:cNvSpPr/>
          <p:nvPr/>
        </p:nvSpPr>
        <p:spPr>
          <a:xfrm>
            <a:off x="7710625" y="4779625"/>
            <a:ext cx="42813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graph.findNeighbors(2);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4, 1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graph.findNeighbors(3);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lang="en-US" sz="16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//Output: 4, 0</a:t>
            </a:r>
            <a:endParaRPr sz="16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6" name="Google Shape;1826;g3f778c2bce4_5_669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g3f778c2bce4_5_669"/>
          <p:cNvSpPr/>
          <p:nvPr/>
        </p:nvSpPr>
        <p:spPr>
          <a:xfrm>
            <a:off x="7867975" y="1412667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8" name="Google Shape;1828;g3f778c2bce4_5_669"/>
          <p:cNvCxnSpPr/>
          <p:nvPr/>
        </p:nvCxnSpPr>
        <p:spPr>
          <a:xfrm>
            <a:off x="8137274" y="1511409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9" name="Google Shape;1829;g3f778c2bce4_5_669"/>
          <p:cNvSpPr/>
          <p:nvPr/>
        </p:nvSpPr>
        <p:spPr>
          <a:xfrm>
            <a:off x="8478385" y="1313925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g3f778c2bce4_5_669"/>
          <p:cNvSpPr/>
          <p:nvPr/>
        </p:nvSpPr>
        <p:spPr>
          <a:xfrm>
            <a:off x="8505325" y="1385737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3, 6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31" name="Google Shape;1831;g3f778c2bce4_5_669"/>
          <p:cNvCxnSpPr/>
          <p:nvPr/>
        </p:nvCxnSpPr>
        <p:spPr>
          <a:xfrm>
            <a:off x="9429907" y="1475503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2" name="Google Shape;1832;g3f778c2bce4_5_669"/>
          <p:cNvSpPr/>
          <p:nvPr/>
        </p:nvSpPr>
        <p:spPr>
          <a:xfrm>
            <a:off x="9573533" y="1313925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g3f778c2bce4_5_669"/>
          <p:cNvSpPr/>
          <p:nvPr/>
        </p:nvSpPr>
        <p:spPr>
          <a:xfrm>
            <a:off x="9600475" y="1385737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834" name="Google Shape;1834;g3f778c2bce4_5_669"/>
          <p:cNvSpPr/>
          <p:nvPr/>
        </p:nvSpPr>
        <p:spPr>
          <a:xfrm>
            <a:off x="7867975" y="2041024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5" name="Google Shape;1835;g3f778c2bce4_5_669"/>
          <p:cNvCxnSpPr/>
          <p:nvPr/>
        </p:nvCxnSpPr>
        <p:spPr>
          <a:xfrm>
            <a:off x="8137274" y="2139766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6" name="Google Shape;1836;g3f778c2bce4_5_669"/>
          <p:cNvSpPr/>
          <p:nvPr/>
        </p:nvSpPr>
        <p:spPr>
          <a:xfrm>
            <a:off x="8478385" y="194228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g3f778c2bce4_5_669"/>
          <p:cNvSpPr/>
          <p:nvPr/>
        </p:nvSpPr>
        <p:spPr>
          <a:xfrm>
            <a:off x="8517075" y="2014083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4, 5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38" name="Google Shape;1838;g3f778c2bce4_5_669"/>
          <p:cNvCxnSpPr/>
          <p:nvPr/>
        </p:nvCxnSpPr>
        <p:spPr>
          <a:xfrm>
            <a:off x="9429907" y="2103860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9" name="Google Shape;1839;g3f778c2bce4_5_669"/>
          <p:cNvSpPr/>
          <p:nvPr/>
        </p:nvSpPr>
        <p:spPr>
          <a:xfrm>
            <a:off x="9573533" y="194228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g3f778c2bce4_5_669"/>
          <p:cNvSpPr/>
          <p:nvPr/>
        </p:nvSpPr>
        <p:spPr>
          <a:xfrm>
            <a:off x="9600474" y="2014083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2, 3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841" name="Google Shape;1841;g3f778c2bce4_5_669"/>
          <p:cNvSpPr/>
          <p:nvPr/>
        </p:nvSpPr>
        <p:spPr>
          <a:xfrm>
            <a:off x="7867975" y="2669381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g3f778c2bce4_5_669"/>
          <p:cNvSpPr/>
          <p:nvPr/>
        </p:nvSpPr>
        <p:spPr>
          <a:xfrm>
            <a:off x="7867975" y="3297739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3" name="Google Shape;1843;g3f778c2bce4_5_669"/>
          <p:cNvCxnSpPr/>
          <p:nvPr/>
        </p:nvCxnSpPr>
        <p:spPr>
          <a:xfrm>
            <a:off x="8137274" y="3396480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4" name="Google Shape;1844;g3f778c2bce4_5_669"/>
          <p:cNvSpPr/>
          <p:nvPr/>
        </p:nvSpPr>
        <p:spPr>
          <a:xfrm>
            <a:off x="8478385" y="319899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g3f778c2bce4_5_669"/>
          <p:cNvSpPr/>
          <p:nvPr/>
        </p:nvSpPr>
        <p:spPr>
          <a:xfrm>
            <a:off x="8505325" y="3270816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46" name="Google Shape;1846;g3f778c2bce4_5_669"/>
          <p:cNvCxnSpPr/>
          <p:nvPr/>
        </p:nvCxnSpPr>
        <p:spPr>
          <a:xfrm>
            <a:off x="9429907" y="3360574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7" name="Google Shape;1847;g3f778c2bce4_5_669"/>
          <p:cNvSpPr/>
          <p:nvPr/>
        </p:nvSpPr>
        <p:spPr>
          <a:xfrm>
            <a:off x="9573533" y="319899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g3f778c2bce4_5_669"/>
          <p:cNvSpPr/>
          <p:nvPr/>
        </p:nvSpPr>
        <p:spPr>
          <a:xfrm>
            <a:off x="9600474" y="3270816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0, 6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849" name="Google Shape;1849;g3f778c2bce4_5_669"/>
          <p:cNvSpPr/>
          <p:nvPr/>
        </p:nvSpPr>
        <p:spPr>
          <a:xfrm>
            <a:off x="7867975" y="3926096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0" name="Google Shape;1850;g3f778c2bce4_5_669"/>
          <p:cNvCxnSpPr/>
          <p:nvPr/>
        </p:nvCxnSpPr>
        <p:spPr>
          <a:xfrm>
            <a:off x="8137274" y="4024837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1" name="Google Shape;1851;g3f778c2bce4_5_669"/>
          <p:cNvCxnSpPr/>
          <p:nvPr/>
        </p:nvCxnSpPr>
        <p:spPr>
          <a:xfrm>
            <a:off x="8137274" y="2768128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2" name="Google Shape;1852;g3f778c2bce4_5_669"/>
          <p:cNvCxnSpPr/>
          <p:nvPr/>
        </p:nvCxnSpPr>
        <p:spPr>
          <a:xfrm>
            <a:off x="10524957" y="2103860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3" name="Google Shape;1853;g3f778c2bce4_5_669"/>
          <p:cNvSpPr/>
          <p:nvPr/>
        </p:nvSpPr>
        <p:spPr>
          <a:xfrm>
            <a:off x="10668583" y="194228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g3f778c2bce4_5_669"/>
          <p:cNvSpPr/>
          <p:nvPr/>
        </p:nvSpPr>
        <p:spPr>
          <a:xfrm>
            <a:off x="10695524" y="2014083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0, 2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855" name="Google Shape;1855;g3f778c2bce4_5_669"/>
          <p:cNvSpPr/>
          <p:nvPr/>
        </p:nvSpPr>
        <p:spPr>
          <a:xfrm>
            <a:off x="8469285" y="382725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g3f778c2bce4_5_669"/>
          <p:cNvSpPr/>
          <p:nvPr/>
        </p:nvSpPr>
        <p:spPr>
          <a:xfrm>
            <a:off x="8507975" y="389905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i="0" lang="en-US" sz="1522" u="none" cap="none" strike="noStrike">
                <a:solidFill>
                  <a:srgbClr val="000000"/>
                </a:solidFill>
              </a:rPr>
              <a:t>2</a:t>
            </a:r>
            <a:r>
              <a:rPr lang="en-US" sz="1522"/>
              <a:t>, 1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57" name="Google Shape;1857;g3f778c2bce4_5_669"/>
          <p:cNvCxnSpPr/>
          <p:nvPr/>
        </p:nvCxnSpPr>
        <p:spPr>
          <a:xfrm>
            <a:off x="9420807" y="3988835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8" name="Google Shape;1858;g3f778c2bce4_5_669"/>
          <p:cNvSpPr/>
          <p:nvPr/>
        </p:nvSpPr>
        <p:spPr>
          <a:xfrm>
            <a:off x="9564433" y="382725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g3f778c2bce4_5_669"/>
          <p:cNvSpPr/>
          <p:nvPr/>
        </p:nvSpPr>
        <p:spPr>
          <a:xfrm>
            <a:off x="9591374" y="389905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3, 2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60" name="Google Shape;1860;g3f778c2bce4_5_669"/>
          <p:cNvCxnSpPr/>
          <p:nvPr/>
        </p:nvCxnSpPr>
        <p:spPr>
          <a:xfrm>
            <a:off x="10515857" y="3988835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1" name="Google Shape;1861;g3f778c2bce4_5_669"/>
          <p:cNvSpPr/>
          <p:nvPr/>
        </p:nvSpPr>
        <p:spPr>
          <a:xfrm>
            <a:off x="10659483" y="3827257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g3f778c2bce4_5_669"/>
          <p:cNvSpPr/>
          <p:nvPr/>
        </p:nvSpPr>
        <p:spPr>
          <a:xfrm>
            <a:off x="10686424" y="389905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1, 5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863" name="Google Shape;1863;g3f778c2bce4_5_669"/>
          <p:cNvSpPr/>
          <p:nvPr/>
        </p:nvSpPr>
        <p:spPr>
          <a:xfrm>
            <a:off x="8469285" y="2606559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g3f778c2bce4_5_669"/>
          <p:cNvSpPr/>
          <p:nvPr/>
        </p:nvSpPr>
        <p:spPr>
          <a:xfrm>
            <a:off x="8496225" y="267837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4, 1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65" name="Google Shape;1865;g3f778c2bce4_5_669"/>
          <p:cNvCxnSpPr/>
          <p:nvPr/>
        </p:nvCxnSpPr>
        <p:spPr>
          <a:xfrm>
            <a:off x="9420807" y="2768137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6" name="Google Shape;1866;g3f778c2bce4_5_669"/>
          <p:cNvSpPr/>
          <p:nvPr/>
        </p:nvSpPr>
        <p:spPr>
          <a:xfrm>
            <a:off x="9564433" y="2606559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g3f778c2bce4_5_669"/>
          <p:cNvSpPr/>
          <p:nvPr/>
        </p:nvSpPr>
        <p:spPr>
          <a:xfrm>
            <a:off x="9591374" y="267837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1, 3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3f778c2bce4_5_707"/>
          <p:cNvSpPr/>
          <p:nvPr/>
        </p:nvSpPr>
        <p:spPr>
          <a:xfrm>
            <a:off x="120857" y="111283"/>
            <a:ext cx="11247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Und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irected </a:t>
            </a: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W</a:t>
            </a: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eighted Adjacency List Code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g3f778c2bce4_5_707"/>
          <p:cNvSpPr/>
          <p:nvPr/>
        </p:nvSpPr>
        <p:spPr>
          <a:xfrm>
            <a:off x="120850" y="731500"/>
            <a:ext cx="7336800" cy="5937600"/>
          </a:xfrm>
          <a:prstGeom prst="roundRect">
            <a:avLst>
              <a:gd fmla="val 855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g3f778c2bce4_5_707"/>
          <p:cNvSpPr/>
          <p:nvPr/>
        </p:nvSpPr>
        <p:spPr>
          <a:xfrm>
            <a:off x="236692" y="812695"/>
            <a:ext cx="71049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the full adjacency list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printList()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List with Weights:");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Traverse each vertex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System.out.print(i + ":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 // Traverse linked list of edges for vertex i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WEdge current = adjList[i];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while (current != null) {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Print destination and edge weight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System.out.print("(" + current.destination + ", " 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+ current.weight + ") ");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current = current.next; </a:t>
            </a:r>
            <a:r>
              <a:rPr b="1" lang="en-US" sz="1440">
                <a:solidFill>
                  <a:srgbClr val="0B7A3B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 b="1" sz="1440">
              <a:solidFill>
                <a:srgbClr val="0B7A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t/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40"/>
              <a:buFont typeface="Consolas"/>
              <a:buNone/>
            </a:pPr>
            <a:r>
              <a:rPr lang="en-US" sz="144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4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6" name="Google Shape;1876;g3f778c2bce4_5_707"/>
          <p:cNvSpPr txBox="1"/>
          <p:nvPr>
            <p:ph idx="4294967295" type="sldNum"/>
          </p:nvPr>
        </p:nvSpPr>
        <p:spPr>
          <a:xfrm>
            <a:off x="1147572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g3f778c2bce4_5_707"/>
          <p:cNvSpPr/>
          <p:nvPr/>
        </p:nvSpPr>
        <p:spPr>
          <a:xfrm>
            <a:off x="8075299" y="3872413"/>
            <a:ext cx="3749100" cy="57780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g3f778c2bce4_5_707"/>
          <p:cNvSpPr/>
          <p:nvPr/>
        </p:nvSpPr>
        <p:spPr>
          <a:xfrm>
            <a:off x="8194698" y="3914063"/>
            <a:ext cx="3473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</a:t>
            </a:r>
            <a:r>
              <a:rPr lang="en-US" sz="17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printList()</a:t>
            </a:r>
            <a:r>
              <a:rPr b="0" i="0" lang="en-US" sz="170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onsola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g3f778c2bce4_5_707"/>
          <p:cNvSpPr txBox="1"/>
          <p:nvPr/>
        </p:nvSpPr>
        <p:spPr>
          <a:xfrm>
            <a:off x="8098253" y="4575293"/>
            <a:ext cx="37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Resulting adjacency list</a:t>
            </a:r>
            <a:endParaRPr sz="1700"/>
          </a:p>
        </p:txBody>
      </p:sp>
      <p:sp>
        <p:nvSpPr>
          <p:cNvPr id="1880" name="Google Shape;1880;g3f778c2bce4_5_707"/>
          <p:cNvSpPr txBox="1"/>
          <p:nvPr/>
        </p:nvSpPr>
        <p:spPr>
          <a:xfrm>
            <a:off x="8098253" y="4968485"/>
            <a:ext cx="370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0: (3, 6) (1, 2)</a:t>
            </a:r>
            <a:b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1: (4, 5) (2, 3) (0, 2)</a:t>
            </a:r>
            <a:b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2: (4, 1) (1, 3)</a:t>
            </a:r>
            <a:b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3: (4, 2) (0, 6)</a:t>
            </a:r>
            <a:b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4: (2, 1) (3, 2) (1, 5)</a:t>
            </a:r>
            <a:endParaRPr sz="1700">
              <a:solidFill>
                <a:srgbClr val="11111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1" name="Google Shape;1881;g3f778c2bce4_5_707"/>
          <p:cNvSpPr/>
          <p:nvPr/>
        </p:nvSpPr>
        <p:spPr>
          <a:xfrm>
            <a:off x="8131300" y="764880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2" name="Google Shape;1882;g3f778c2bce4_5_707"/>
          <p:cNvCxnSpPr/>
          <p:nvPr/>
        </p:nvCxnSpPr>
        <p:spPr>
          <a:xfrm>
            <a:off x="8400599" y="863621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3" name="Google Shape;1883;g3f778c2bce4_5_707"/>
          <p:cNvSpPr/>
          <p:nvPr/>
        </p:nvSpPr>
        <p:spPr>
          <a:xfrm>
            <a:off x="8741710" y="666138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g3f778c2bce4_5_707"/>
          <p:cNvSpPr/>
          <p:nvPr/>
        </p:nvSpPr>
        <p:spPr>
          <a:xfrm>
            <a:off x="8768650" y="737950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3</a:t>
            </a:r>
            <a:r>
              <a:rPr lang="en-US" sz="1522"/>
              <a:t>, 6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85" name="Google Shape;1885;g3f778c2bce4_5_707"/>
          <p:cNvCxnSpPr/>
          <p:nvPr/>
        </p:nvCxnSpPr>
        <p:spPr>
          <a:xfrm>
            <a:off x="9693232" y="827715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6" name="Google Shape;1886;g3f778c2bce4_5_707"/>
          <p:cNvSpPr/>
          <p:nvPr/>
        </p:nvSpPr>
        <p:spPr>
          <a:xfrm>
            <a:off x="9836858" y="666138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g3f778c2bce4_5_707"/>
          <p:cNvSpPr/>
          <p:nvPr/>
        </p:nvSpPr>
        <p:spPr>
          <a:xfrm>
            <a:off x="9863800" y="737950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</a:t>
            </a:r>
            <a:r>
              <a:rPr lang="en-US" sz="1522"/>
              <a:t>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888" name="Google Shape;1888;g3f778c2bce4_5_707"/>
          <p:cNvSpPr/>
          <p:nvPr/>
        </p:nvSpPr>
        <p:spPr>
          <a:xfrm>
            <a:off x="8131300" y="1393237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9" name="Google Shape;1889;g3f778c2bce4_5_707"/>
          <p:cNvCxnSpPr/>
          <p:nvPr/>
        </p:nvCxnSpPr>
        <p:spPr>
          <a:xfrm>
            <a:off x="8400599" y="1491979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0" name="Google Shape;1890;g3f778c2bce4_5_707"/>
          <p:cNvSpPr/>
          <p:nvPr/>
        </p:nvSpPr>
        <p:spPr>
          <a:xfrm>
            <a:off x="8741710" y="1294495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g3f778c2bce4_5_707"/>
          <p:cNvSpPr/>
          <p:nvPr/>
        </p:nvSpPr>
        <p:spPr>
          <a:xfrm>
            <a:off x="8780400" y="1366296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</a:t>
            </a:r>
            <a:r>
              <a:rPr lang="en-US" sz="1522"/>
              <a:t>, 5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892" name="Google Shape;1892;g3f778c2bce4_5_707"/>
          <p:cNvCxnSpPr/>
          <p:nvPr/>
        </p:nvCxnSpPr>
        <p:spPr>
          <a:xfrm>
            <a:off x="9693232" y="1456072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3" name="Google Shape;1893;g3f778c2bce4_5_707"/>
          <p:cNvSpPr/>
          <p:nvPr/>
        </p:nvSpPr>
        <p:spPr>
          <a:xfrm>
            <a:off x="9836858" y="1294495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g3f778c2bce4_5_707"/>
          <p:cNvSpPr/>
          <p:nvPr/>
        </p:nvSpPr>
        <p:spPr>
          <a:xfrm>
            <a:off x="9863799" y="1366296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2</a:t>
            </a:r>
            <a:r>
              <a:rPr lang="en-US" sz="1522"/>
              <a:t>, 3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895" name="Google Shape;1895;g3f778c2bce4_5_707"/>
          <p:cNvSpPr/>
          <p:nvPr/>
        </p:nvSpPr>
        <p:spPr>
          <a:xfrm>
            <a:off x="8131300" y="2021594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g3f778c2bce4_5_707"/>
          <p:cNvSpPr/>
          <p:nvPr/>
        </p:nvSpPr>
        <p:spPr>
          <a:xfrm>
            <a:off x="8131300" y="2649951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7" name="Google Shape;1897;g3f778c2bce4_5_707"/>
          <p:cNvCxnSpPr/>
          <p:nvPr/>
        </p:nvCxnSpPr>
        <p:spPr>
          <a:xfrm>
            <a:off x="8400599" y="2748693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8" name="Google Shape;1898;g3f778c2bce4_5_707"/>
          <p:cNvSpPr/>
          <p:nvPr/>
        </p:nvSpPr>
        <p:spPr>
          <a:xfrm>
            <a:off x="8741710" y="2551209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g3f778c2bce4_5_707"/>
          <p:cNvSpPr/>
          <p:nvPr/>
        </p:nvSpPr>
        <p:spPr>
          <a:xfrm>
            <a:off x="8768650" y="262302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</a:t>
            </a:r>
            <a:r>
              <a:rPr lang="en-US" sz="1522"/>
              <a:t>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900" name="Google Shape;1900;g3f778c2bce4_5_707"/>
          <p:cNvCxnSpPr/>
          <p:nvPr/>
        </p:nvCxnSpPr>
        <p:spPr>
          <a:xfrm>
            <a:off x="9693232" y="2712787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1" name="Google Shape;1901;g3f778c2bce4_5_707"/>
          <p:cNvSpPr/>
          <p:nvPr/>
        </p:nvSpPr>
        <p:spPr>
          <a:xfrm>
            <a:off x="9836858" y="2551209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g3f778c2bce4_5_707"/>
          <p:cNvSpPr/>
          <p:nvPr/>
        </p:nvSpPr>
        <p:spPr>
          <a:xfrm>
            <a:off x="9863799" y="2623028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0</a:t>
            </a:r>
            <a:r>
              <a:rPr lang="en-US" sz="1522"/>
              <a:t>, 6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903" name="Google Shape;1903;g3f778c2bce4_5_707"/>
          <p:cNvSpPr/>
          <p:nvPr/>
        </p:nvSpPr>
        <p:spPr>
          <a:xfrm>
            <a:off x="8131300" y="3278308"/>
            <a:ext cx="2244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031"/>
              <a:buFont typeface="Arial"/>
              <a:buNone/>
            </a:pPr>
            <a:r>
              <a:rPr b="1" i="0" lang="en-US" sz="1522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4" name="Google Shape;1904;g3f778c2bce4_5_707"/>
          <p:cNvCxnSpPr/>
          <p:nvPr/>
        </p:nvCxnSpPr>
        <p:spPr>
          <a:xfrm>
            <a:off x="8400599" y="3377050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5" name="Google Shape;1905;g3f778c2bce4_5_707"/>
          <p:cNvCxnSpPr/>
          <p:nvPr/>
        </p:nvCxnSpPr>
        <p:spPr>
          <a:xfrm>
            <a:off x="8400599" y="2120341"/>
            <a:ext cx="287100" cy="0"/>
          </a:xfrm>
          <a:prstGeom prst="straightConnector1">
            <a:avLst/>
          </a:prstGeom>
          <a:noFill/>
          <a:ln cap="flat" cmpd="sng" w="137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6" name="Google Shape;1906;g3f778c2bce4_5_707"/>
          <p:cNvCxnSpPr/>
          <p:nvPr/>
        </p:nvCxnSpPr>
        <p:spPr>
          <a:xfrm>
            <a:off x="10788282" y="1456072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7" name="Google Shape;1907;g3f778c2bce4_5_707"/>
          <p:cNvSpPr/>
          <p:nvPr/>
        </p:nvSpPr>
        <p:spPr>
          <a:xfrm>
            <a:off x="10931908" y="1294495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g3f778c2bce4_5_707"/>
          <p:cNvSpPr/>
          <p:nvPr/>
        </p:nvSpPr>
        <p:spPr>
          <a:xfrm>
            <a:off x="10958849" y="1366296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0</a:t>
            </a:r>
            <a:r>
              <a:rPr lang="en-US" sz="1522"/>
              <a:t>,</a:t>
            </a:r>
            <a:r>
              <a:rPr lang="en-US" sz="1522"/>
              <a:t>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909" name="Google Shape;1909;g3f778c2bce4_5_707"/>
          <p:cNvSpPr/>
          <p:nvPr/>
        </p:nvSpPr>
        <p:spPr>
          <a:xfrm>
            <a:off x="8732610" y="3179470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g3f778c2bce4_5_707"/>
          <p:cNvSpPr/>
          <p:nvPr/>
        </p:nvSpPr>
        <p:spPr>
          <a:xfrm>
            <a:off x="8771300" y="3251271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i="0" lang="en-US" sz="1522" u="none" cap="none" strike="noStrike">
                <a:solidFill>
                  <a:srgbClr val="000000"/>
                </a:solidFill>
              </a:rPr>
              <a:t>2</a:t>
            </a:r>
            <a:r>
              <a:rPr lang="en-US" sz="1522"/>
              <a:t>, 1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911" name="Google Shape;1911;g3f778c2bce4_5_707"/>
          <p:cNvCxnSpPr/>
          <p:nvPr/>
        </p:nvCxnSpPr>
        <p:spPr>
          <a:xfrm>
            <a:off x="9684132" y="3341047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2" name="Google Shape;1912;g3f778c2bce4_5_707"/>
          <p:cNvSpPr/>
          <p:nvPr/>
        </p:nvSpPr>
        <p:spPr>
          <a:xfrm>
            <a:off x="9827758" y="3179470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g3f778c2bce4_5_707"/>
          <p:cNvSpPr/>
          <p:nvPr/>
        </p:nvSpPr>
        <p:spPr>
          <a:xfrm>
            <a:off x="9854699" y="3251271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3</a:t>
            </a:r>
            <a:r>
              <a:rPr lang="en-US" sz="1522"/>
              <a:t>, 2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914" name="Google Shape;1914;g3f778c2bce4_5_707"/>
          <p:cNvCxnSpPr/>
          <p:nvPr/>
        </p:nvCxnSpPr>
        <p:spPr>
          <a:xfrm>
            <a:off x="10779182" y="3341047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5" name="Google Shape;1915;g3f778c2bce4_5_707"/>
          <p:cNvSpPr/>
          <p:nvPr/>
        </p:nvSpPr>
        <p:spPr>
          <a:xfrm>
            <a:off x="10922808" y="3179470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g3f778c2bce4_5_707"/>
          <p:cNvSpPr/>
          <p:nvPr/>
        </p:nvSpPr>
        <p:spPr>
          <a:xfrm>
            <a:off x="10949749" y="3251271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</a:t>
            </a:r>
            <a:r>
              <a:rPr lang="en-US" sz="1522"/>
              <a:t>, 5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sp>
        <p:nvSpPr>
          <p:cNvPr id="1917" name="Google Shape;1917;g3f778c2bce4_5_707"/>
          <p:cNvSpPr/>
          <p:nvPr/>
        </p:nvSpPr>
        <p:spPr>
          <a:xfrm>
            <a:off x="8732610" y="195877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g3f778c2bce4_5_707"/>
          <p:cNvSpPr/>
          <p:nvPr/>
        </p:nvSpPr>
        <p:spPr>
          <a:xfrm>
            <a:off x="8759550" y="2030591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4, 1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919" name="Google Shape;1919;g3f778c2bce4_5_707"/>
          <p:cNvCxnSpPr/>
          <p:nvPr/>
        </p:nvCxnSpPr>
        <p:spPr>
          <a:xfrm>
            <a:off x="9684132" y="2120349"/>
            <a:ext cx="143700" cy="0"/>
          </a:xfrm>
          <a:prstGeom prst="straightConnector1">
            <a:avLst/>
          </a:prstGeom>
          <a:noFill/>
          <a:ln cap="flat" cmpd="sng" w="1120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0" name="Google Shape;1920;g3f778c2bce4_5_707"/>
          <p:cNvSpPr/>
          <p:nvPr/>
        </p:nvSpPr>
        <p:spPr>
          <a:xfrm>
            <a:off x="9827758" y="1958772"/>
            <a:ext cx="951300" cy="3231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200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50" lIns="89750" spcFirstLastPara="1" rIns="89750" wrap="square" tIns="8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g3f778c2bce4_5_707"/>
          <p:cNvSpPr/>
          <p:nvPr/>
        </p:nvSpPr>
        <p:spPr>
          <a:xfrm>
            <a:off x="9854699" y="2030591"/>
            <a:ext cx="8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lang="en-US" sz="1522"/>
              <a:t>1</a:t>
            </a:r>
            <a:r>
              <a:rPr lang="en-US" sz="1522"/>
              <a:t>, 3</a:t>
            </a:r>
            <a:endParaRPr i="0" sz="1522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19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Matrix vs List: Quick Comparison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19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Choose representation based on what your algorithm needs.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19"/>
          <p:cNvSpPr/>
          <p:nvPr/>
        </p:nvSpPr>
        <p:spPr>
          <a:xfrm>
            <a:off x="502925" y="1234450"/>
            <a:ext cx="2466300" cy="502800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123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30" name="Google Shape;1930;p19"/>
          <p:cNvSpPr/>
          <p:nvPr/>
        </p:nvSpPr>
        <p:spPr>
          <a:xfrm>
            <a:off x="556536" y="1371609"/>
            <a:ext cx="235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19"/>
          <p:cNvSpPr/>
          <p:nvPr/>
        </p:nvSpPr>
        <p:spPr>
          <a:xfrm>
            <a:off x="2969375" y="1234450"/>
            <a:ext cx="4070100" cy="502800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123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32" name="Google Shape;1932;p19"/>
          <p:cNvSpPr/>
          <p:nvPr/>
        </p:nvSpPr>
        <p:spPr>
          <a:xfrm>
            <a:off x="3014600" y="1371609"/>
            <a:ext cx="397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19"/>
          <p:cNvSpPr/>
          <p:nvPr/>
        </p:nvSpPr>
        <p:spPr>
          <a:xfrm>
            <a:off x="7039652" y="1234450"/>
            <a:ext cx="4070100" cy="502800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123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34" name="Google Shape;1934;p19"/>
          <p:cNvSpPr/>
          <p:nvPr/>
        </p:nvSpPr>
        <p:spPr>
          <a:xfrm>
            <a:off x="7084878" y="1371609"/>
            <a:ext cx="397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19"/>
          <p:cNvSpPr/>
          <p:nvPr/>
        </p:nvSpPr>
        <p:spPr>
          <a:xfrm>
            <a:off x="502925" y="1737365"/>
            <a:ext cx="2466300" cy="658500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36" name="Google Shape;1936;p19"/>
          <p:cNvSpPr/>
          <p:nvPr/>
        </p:nvSpPr>
        <p:spPr>
          <a:xfrm>
            <a:off x="588702" y="1920243"/>
            <a:ext cx="229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9"/>
          <p:cNvSpPr/>
          <p:nvPr/>
        </p:nvSpPr>
        <p:spPr>
          <a:xfrm>
            <a:off x="2969375" y="1737365"/>
            <a:ext cx="4070100" cy="658500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38" name="Google Shape;1938;p19"/>
          <p:cNvSpPr/>
          <p:nvPr/>
        </p:nvSpPr>
        <p:spPr>
          <a:xfrm>
            <a:off x="3041736" y="1920243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x V cells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9"/>
          <p:cNvSpPr/>
          <p:nvPr/>
        </p:nvSpPr>
        <p:spPr>
          <a:xfrm>
            <a:off x="7039652" y="1737365"/>
            <a:ext cx="4070100" cy="658500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40" name="Google Shape;1940;p19"/>
          <p:cNvSpPr/>
          <p:nvPr/>
        </p:nvSpPr>
        <p:spPr>
          <a:xfrm>
            <a:off x="7112013" y="1920243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lists + existing edges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9"/>
          <p:cNvSpPr/>
          <p:nvPr/>
        </p:nvSpPr>
        <p:spPr>
          <a:xfrm>
            <a:off x="502925" y="2395727"/>
            <a:ext cx="2466300" cy="6585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42" name="Google Shape;1942;p19"/>
          <p:cNvSpPr/>
          <p:nvPr/>
        </p:nvSpPr>
        <p:spPr>
          <a:xfrm>
            <a:off x="588702" y="2578605"/>
            <a:ext cx="229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Check edge u-&gt;v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19"/>
          <p:cNvSpPr/>
          <p:nvPr/>
        </p:nvSpPr>
        <p:spPr>
          <a:xfrm>
            <a:off x="2969375" y="2395727"/>
            <a:ext cx="4070100" cy="6585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44" name="Google Shape;1944;p19"/>
          <p:cNvSpPr/>
          <p:nvPr/>
        </p:nvSpPr>
        <p:spPr>
          <a:xfrm>
            <a:off x="3041736" y="2578605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direct lookup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9"/>
          <p:cNvSpPr/>
          <p:nvPr/>
        </p:nvSpPr>
        <p:spPr>
          <a:xfrm>
            <a:off x="7039652" y="2395727"/>
            <a:ext cx="4070100" cy="6585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46" name="Google Shape;1946;p19"/>
          <p:cNvSpPr/>
          <p:nvPr/>
        </p:nvSpPr>
        <p:spPr>
          <a:xfrm>
            <a:off x="7112013" y="2578605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list[u]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9"/>
          <p:cNvSpPr/>
          <p:nvPr/>
        </p:nvSpPr>
        <p:spPr>
          <a:xfrm>
            <a:off x="502925" y="3054088"/>
            <a:ext cx="2466300" cy="658500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48" name="Google Shape;1948;p19"/>
          <p:cNvSpPr/>
          <p:nvPr/>
        </p:nvSpPr>
        <p:spPr>
          <a:xfrm>
            <a:off x="588702" y="3236967"/>
            <a:ext cx="229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Find neighbors of u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9"/>
          <p:cNvSpPr/>
          <p:nvPr/>
        </p:nvSpPr>
        <p:spPr>
          <a:xfrm>
            <a:off x="2969375" y="3054088"/>
            <a:ext cx="4070100" cy="658500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50" name="Google Shape;1950;p19"/>
          <p:cNvSpPr/>
          <p:nvPr/>
        </p:nvSpPr>
        <p:spPr>
          <a:xfrm>
            <a:off x="3041736" y="3236967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 row u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19"/>
          <p:cNvSpPr/>
          <p:nvPr/>
        </p:nvSpPr>
        <p:spPr>
          <a:xfrm>
            <a:off x="7039652" y="3054088"/>
            <a:ext cx="4070100" cy="658500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52" name="Google Shape;1952;p19"/>
          <p:cNvSpPr/>
          <p:nvPr/>
        </p:nvSpPr>
        <p:spPr>
          <a:xfrm>
            <a:off x="7112013" y="3236967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Traverse list[u]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19"/>
          <p:cNvSpPr/>
          <p:nvPr/>
        </p:nvSpPr>
        <p:spPr>
          <a:xfrm>
            <a:off x="502925" y="3712450"/>
            <a:ext cx="2466300" cy="6585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54" name="Google Shape;1954;p19"/>
          <p:cNvSpPr/>
          <p:nvPr/>
        </p:nvSpPr>
        <p:spPr>
          <a:xfrm>
            <a:off x="588702" y="3895328"/>
            <a:ext cx="229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Sparse 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19"/>
          <p:cNvSpPr/>
          <p:nvPr/>
        </p:nvSpPr>
        <p:spPr>
          <a:xfrm>
            <a:off x="2969375" y="3712450"/>
            <a:ext cx="4070100" cy="6585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56" name="Google Shape;1956;p19"/>
          <p:cNvSpPr/>
          <p:nvPr/>
        </p:nvSpPr>
        <p:spPr>
          <a:xfrm>
            <a:off x="3041736" y="3895328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waste space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9"/>
          <p:cNvSpPr/>
          <p:nvPr/>
        </p:nvSpPr>
        <p:spPr>
          <a:xfrm>
            <a:off x="7039652" y="3712450"/>
            <a:ext cx="4070100" cy="6585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58" name="Google Shape;1958;p19"/>
          <p:cNvSpPr/>
          <p:nvPr/>
        </p:nvSpPr>
        <p:spPr>
          <a:xfrm>
            <a:off x="7112013" y="3895328"/>
            <a:ext cx="392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efficient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19"/>
          <p:cNvSpPr/>
          <p:nvPr/>
        </p:nvSpPr>
        <p:spPr>
          <a:xfrm>
            <a:off x="914400" y="4846329"/>
            <a:ext cx="10287000" cy="1391700"/>
          </a:xfrm>
          <a:prstGeom prst="roundRect">
            <a:avLst>
              <a:gd fmla="val 9412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9"/>
          <p:cNvSpPr/>
          <p:nvPr/>
        </p:nvSpPr>
        <p:spPr>
          <a:xfrm>
            <a:off x="1051560" y="4956048"/>
            <a:ext cx="10012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900">
                <a:solidFill>
                  <a:srgbClr val="12355B"/>
                </a:solidFill>
              </a:rPr>
              <a:t>T</a:t>
            </a:r>
            <a:r>
              <a:rPr b="1" i="0" lang="en-US" sz="19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akeaway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9"/>
          <p:cNvSpPr/>
          <p:nvPr/>
        </p:nvSpPr>
        <p:spPr>
          <a:xfrm>
            <a:off x="1051550" y="5257800"/>
            <a:ext cx="100128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750"/>
              <a:t>Adjacency </a:t>
            </a:r>
            <a:r>
              <a:rPr b="1" i="0" lang="en-US" sz="1750" u="none" cap="none" strike="noStrike">
                <a:solidFill>
                  <a:srgbClr val="000000"/>
                </a:solidFill>
              </a:rPr>
              <a:t>Matrices</a:t>
            </a:r>
            <a:r>
              <a:rPr b="0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simpler for </a:t>
            </a:r>
            <a:r>
              <a:rPr b="1" i="0" lang="en-US" sz="1750" u="sng" cap="none" strike="noStrike">
                <a:solidFill>
                  <a:srgbClr val="000000"/>
                </a:solidFill>
              </a:rPr>
              <a:t>direct edge lookup</a:t>
            </a:r>
            <a:r>
              <a:rPr b="0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br>
              <a:rPr b="0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50" u="none" cap="none" strike="noStrike">
                <a:solidFill>
                  <a:srgbClr val="000000"/>
                </a:solidFill>
              </a:rPr>
              <a:t>Adjacency lists</a:t>
            </a:r>
            <a:r>
              <a:rPr b="0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more natural for </a:t>
            </a:r>
            <a:r>
              <a:rPr b="1" i="0" lang="en-US" sz="1750" u="none" cap="none" strike="noStrike">
                <a:solidFill>
                  <a:srgbClr val="000000"/>
                </a:solidFill>
              </a:rPr>
              <a:t>neighbor traversal</a:t>
            </a:r>
            <a:r>
              <a:rPr b="0" i="0" lang="en-US" sz="1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9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21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Summary Cheat Sheet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21"/>
          <p:cNvSpPr/>
          <p:nvPr/>
        </p:nvSpPr>
        <p:spPr>
          <a:xfrm>
            <a:off x="530350" y="777250"/>
            <a:ext cx="11954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Use the rule that matches the graph type.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21"/>
          <p:cNvSpPr/>
          <p:nvPr/>
        </p:nvSpPr>
        <p:spPr>
          <a:xfrm>
            <a:off x="433298" y="1585860"/>
            <a:ext cx="2851200" cy="310800"/>
          </a:xfrm>
          <a:prstGeom prst="roundRect">
            <a:avLst>
              <a:gd fmla="val 23529" name="adj"/>
            </a:avLst>
          </a:prstGeom>
          <a:solidFill>
            <a:srgbClr val="1E5AA8"/>
          </a:solidFill>
          <a:ln cap="flat" cmpd="sng" w="12700">
            <a:solidFill>
              <a:srgbClr val="1E5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1" name="Google Shape;1971;p21"/>
          <p:cNvSpPr/>
          <p:nvPr/>
        </p:nvSpPr>
        <p:spPr>
          <a:xfrm>
            <a:off x="509330" y="1659013"/>
            <a:ext cx="2699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Undirected + Unweighted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21"/>
          <p:cNvSpPr/>
          <p:nvPr/>
        </p:nvSpPr>
        <p:spPr>
          <a:xfrm>
            <a:off x="3569643" y="1494420"/>
            <a:ext cx="3659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3" name="Google Shape;1973;p21"/>
          <p:cNvSpPr/>
          <p:nvPr/>
        </p:nvSpPr>
        <p:spPr>
          <a:xfrm>
            <a:off x="3712204" y="1604148"/>
            <a:ext cx="337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21"/>
          <p:cNvSpPr/>
          <p:nvPr/>
        </p:nvSpPr>
        <p:spPr>
          <a:xfrm>
            <a:off x="3712204" y="1905901"/>
            <a:ext cx="3373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1; A[v][u] = 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21"/>
          <p:cNvSpPr/>
          <p:nvPr/>
        </p:nvSpPr>
        <p:spPr>
          <a:xfrm>
            <a:off x="7790029" y="1494420"/>
            <a:ext cx="3968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6" name="Google Shape;1976;p21"/>
          <p:cNvSpPr/>
          <p:nvPr/>
        </p:nvSpPr>
        <p:spPr>
          <a:xfrm>
            <a:off x="7937005" y="1604149"/>
            <a:ext cx="367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21"/>
          <p:cNvSpPr/>
          <p:nvPr/>
        </p:nvSpPr>
        <p:spPr>
          <a:xfrm>
            <a:off x="7937000" y="1905900"/>
            <a:ext cx="3821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 in list[u]; insert u in list[v]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21"/>
          <p:cNvSpPr/>
          <p:nvPr/>
        </p:nvSpPr>
        <p:spPr>
          <a:xfrm>
            <a:off x="433298" y="2792870"/>
            <a:ext cx="2851200" cy="310800"/>
          </a:xfrm>
          <a:prstGeom prst="roundRect">
            <a:avLst>
              <a:gd fmla="val 23529" name="adj"/>
            </a:avLst>
          </a:prstGeom>
          <a:solidFill>
            <a:srgbClr val="B00020"/>
          </a:solidFill>
          <a:ln cap="flat" cmpd="sng" w="12700">
            <a:solidFill>
              <a:srgbClr val="B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9" name="Google Shape;1979;p21"/>
          <p:cNvSpPr/>
          <p:nvPr/>
        </p:nvSpPr>
        <p:spPr>
          <a:xfrm>
            <a:off x="509330" y="2866022"/>
            <a:ext cx="2699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Directed + Unweighted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21"/>
          <p:cNvSpPr/>
          <p:nvPr/>
        </p:nvSpPr>
        <p:spPr>
          <a:xfrm>
            <a:off x="3569643" y="2701430"/>
            <a:ext cx="3659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81" name="Google Shape;1981;p21"/>
          <p:cNvSpPr/>
          <p:nvPr/>
        </p:nvSpPr>
        <p:spPr>
          <a:xfrm>
            <a:off x="3712204" y="2811158"/>
            <a:ext cx="337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21"/>
          <p:cNvSpPr/>
          <p:nvPr/>
        </p:nvSpPr>
        <p:spPr>
          <a:xfrm>
            <a:off x="3712204" y="3112910"/>
            <a:ext cx="3373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21"/>
          <p:cNvSpPr/>
          <p:nvPr/>
        </p:nvSpPr>
        <p:spPr>
          <a:xfrm>
            <a:off x="7790029" y="2701430"/>
            <a:ext cx="3968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84" name="Google Shape;1984;p21"/>
          <p:cNvSpPr/>
          <p:nvPr/>
        </p:nvSpPr>
        <p:spPr>
          <a:xfrm>
            <a:off x="7937005" y="2811158"/>
            <a:ext cx="367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21"/>
          <p:cNvSpPr/>
          <p:nvPr/>
        </p:nvSpPr>
        <p:spPr>
          <a:xfrm>
            <a:off x="7937000" y="3112910"/>
            <a:ext cx="3821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 in list[u]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21"/>
          <p:cNvSpPr/>
          <p:nvPr/>
        </p:nvSpPr>
        <p:spPr>
          <a:xfrm>
            <a:off x="433298" y="3999880"/>
            <a:ext cx="2851200" cy="310800"/>
          </a:xfrm>
          <a:prstGeom prst="roundRect">
            <a:avLst>
              <a:gd fmla="val 23529" name="adj"/>
            </a:avLst>
          </a:prstGeom>
          <a:solidFill>
            <a:srgbClr val="1E5AA8"/>
          </a:solidFill>
          <a:ln cap="flat" cmpd="sng" w="12700">
            <a:solidFill>
              <a:srgbClr val="1E5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87" name="Google Shape;1987;p21"/>
          <p:cNvSpPr/>
          <p:nvPr/>
        </p:nvSpPr>
        <p:spPr>
          <a:xfrm>
            <a:off x="509330" y="4073032"/>
            <a:ext cx="2699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Directed + Weighted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21"/>
          <p:cNvSpPr/>
          <p:nvPr/>
        </p:nvSpPr>
        <p:spPr>
          <a:xfrm>
            <a:off x="3569643" y="3908439"/>
            <a:ext cx="3659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89" name="Google Shape;1989;p21"/>
          <p:cNvSpPr/>
          <p:nvPr/>
        </p:nvSpPr>
        <p:spPr>
          <a:xfrm>
            <a:off x="3712204" y="4018168"/>
            <a:ext cx="337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21"/>
          <p:cNvSpPr/>
          <p:nvPr/>
        </p:nvSpPr>
        <p:spPr>
          <a:xfrm>
            <a:off x="3712204" y="4319920"/>
            <a:ext cx="3373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w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21"/>
          <p:cNvSpPr/>
          <p:nvPr/>
        </p:nvSpPr>
        <p:spPr>
          <a:xfrm>
            <a:off x="7790029" y="3908440"/>
            <a:ext cx="3968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92" name="Google Shape;1992;p21"/>
          <p:cNvSpPr/>
          <p:nvPr/>
        </p:nvSpPr>
        <p:spPr>
          <a:xfrm>
            <a:off x="7937005" y="4018168"/>
            <a:ext cx="367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21"/>
          <p:cNvSpPr/>
          <p:nvPr/>
        </p:nvSpPr>
        <p:spPr>
          <a:xfrm>
            <a:off x="7937000" y="4319919"/>
            <a:ext cx="3821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v(w) in list[u]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21"/>
          <p:cNvSpPr/>
          <p:nvPr/>
        </p:nvSpPr>
        <p:spPr>
          <a:xfrm>
            <a:off x="433298" y="5206889"/>
            <a:ext cx="2851200" cy="310800"/>
          </a:xfrm>
          <a:prstGeom prst="roundRect">
            <a:avLst>
              <a:gd fmla="val 23529" name="adj"/>
            </a:avLst>
          </a:prstGeom>
          <a:solidFill>
            <a:srgbClr val="B00020"/>
          </a:solidFill>
          <a:ln cap="flat" cmpd="sng" w="12700">
            <a:solidFill>
              <a:srgbClr val="B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95" name="Google Shape;1995;p21"/>
          <p:cNvSpPr/>
          <p:nvPr/>
        </p:nvSpPr>
        <p:spPr>
          <a:xfrm>
            <a:off x="509330" y="5280041"/>
            <a:ext cx="2699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Undirected + Weighted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p21"/>
          <p:cNvSpPr/>
          <p:nvPr/>
        </p:nvSpPr>
        <p:spPr>
          <a:xfrm>
            <a:off x="3569643" y="5115449"/>
            <a:ext cx="3659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97" name="Google Shape;1997;p21"/>
          <p:cNvSpPr/>
          <p:nvPr/>
        </p:nvSpPr>
        <p:spPr>
          <a:xfrm>
            <a:off x="3712204" y="5225177"/>
            <a:ext cx="337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21"/>
          <p:cNvSpPr/>
          <p:nvPr/>
        </p:nvSpPr>
        <p:spPr>
          <a:xfrm>
            <a:off x="3712204" y="5526929"/>
            <a:ext cx="3373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w; A[v][u] = w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21"/>
          <p:cNvSpPr/>
          <p:nvPr/>
        </p:nvSpPr>
        <p:spPr>
          <a:xfrm>
            <a:off x="7790029" y="5115450"/>
            <a:ext cx="3968100" cy="713100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000" name="Google Shape;2000;p21"/>
          <p:cNvSpPr/>
          <p:nvPr/>
        </p:nvSpPr>
        <p:spPr>
          <a:xfrm>
            <a:off x="7937000" y="5225176"/>
            <a:ext cx="382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21"/>
          <p:cNvSpPr/>
          <p:nvPr/>
        </p:nvSpPr>
        <p:spPr>
          <a:xfrm>
            <a:off x="7937005" y="5526930"/>
            <a:ext cx="3674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v(w) in list[u]; insert u(w) in list[v]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3f778c2bce4_2_394"/>
          <p:cNvSpPr txBox="1"/>
          <p:nvPr/>
        </p:nvSpPr>
        <p:spPr>
          <a:xfrm>
            <a:off x="5566676" y="2897425"/>
            <a:ext cx="161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latin typeface="Tahoma"/>
                <a:ea typeface="Tahoma"/>
                <a:cs typeface="Tahoma"/>
                <a:sym typeface="Tahoma"/>
              </a:rPr>
              <a:t>The End</a:t>
            </a:r>
            <a:endParaRPr sz="3350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2026-08-18T06:55:44Z</dcterms:created>
  <dc:creator>OpenAI</dc:creator>
</cp:coreProperties>
</file>