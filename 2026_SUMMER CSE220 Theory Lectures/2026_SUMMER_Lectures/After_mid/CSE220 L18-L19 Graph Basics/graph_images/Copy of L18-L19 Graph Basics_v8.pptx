
<file path=[Content_Types].xml><?xml version="1.0" encoding="utf-8"?>
<Types xmlns="http://schemas.openxmlformats.org/package/2006/content-types">
  <Default ContentType="image/jpeg" Extension="jpg"/>
  <Default ContentType="application/x-fontdata" Extension="fntdata"/>
  <Default ContentType="application/xml" Extension="xml"/>
  <Default ContentType="image/png" Extension="png"/>
  <Default ContentType="application/vnd.openxmlformats-officedocument.obfuscatedFont" Extension="odttf"/>
  <Default ContentType="application/vnd.openxmlformats-package.relationships+xml" Extension="rels"/>
  <Override ContentType="application/vnd.openxmlformats-officedocument.presentationml.tableStyles+xml" PartName="/ppt/tableStyles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4.xml"/>
  <Override ContentType="application/vnd.openxmlformats-officedocument.presentationml.slide+xml" PartName="/ppt/slides/slide18.xml"/>
  <Override ContentType="application/vnd.openxmlformats-officedocument.presentationml.slide+xml" PartName="/ppt/slides/slide43.xml"/>
  <Override ContentType="application/vnd.openxmlformats-officedocument.presentationml.slide+xml" PartName="/ppt/slides/slide35.xml"/>
  <Override ContentType="application/vnd.openxmlformats-officedocument.presentationml.slide+xml" PartName="/ppt/slides/slide52.xml"/>
  <Override ContentType="application/vnd.openxmlformats-officedocument.presentationml.slide+xml" PartName="/ppt/slides/slide26.xml"/>
  <Override ContentType="application/vnd.openxmlformats-officedocument.presentationml.slide+xml" PartName="/ppt/slides/slide19.xml"/>
  <Override ContentType="application/vnd.openxmlformats-officedocument.presentationml.slide+xml" PartName="/ppt/slides/slide3.xml"/>
  <Override ContentType="application/vnd.openxmlformats-officedocument.presentationml.slide+xml" PartName="/ppt/slides/slide5.xml"/>
  <Override ContentType="application/vnd.openxmlformats-officedocument.presentationml.slide+xml" PartName="/ppt/slides/slide17.xml"/>
  <Override ContentType="application/vnd.openxmlformats-officedocument.presentationml.slide+xml" PartName="/ppt/slides/slide42.xml"/>
  <Override ContentType="application/vnd.openxmlformats-officedocument.presentationml.slide+xml" PartName="/ppt/slides/slide25.xml"/>
  <Override ContentType="application/vnd.openxmlformats-officedocument.presentationml.slide+xml" PartName="/ppt/slides/slide50.xml"/>
  <Override ContentType="application/vnd.openxmlformats-officedocument.presentationml.slide+xml" PartName="/ppt/slides/slide34.xml"/>
  <Override ContentType="application/vnd.openxmlformats-officedocument.presentationml.slide+xml" PartName="/ppt/slides/slide33.xml"/>
  <Override ContentType="application/vnd.openxmlformats-officedocument.presentationml.slide+xml" PartName="/ppt/slides/slide51.xml"/>
  <Override ContentType="application/vnd.openxmlformats-officedocument.presentationml.slide+xml" PartName="/ppt/slides/slide16.xml"/>
  <Override ContentType="application/vnd.openxmlformats-officedocument.presentationml.slide+xml" PartName="/ppt/slides/slide24.xml"/>
  <Override ContentType="application/vnd.openxmlformats-officedocument.presentationml.slide+xml" PartName="/ppt/slides/slide11.xml"/>
  <Override ContentType="application/vnd.openxmlformats-officedocument.presentationml.slide+xml" PartName="/ppt/slides/slide37.xml"/>
  <Override ContentType="application/vnd.openxmlformats-officedocument.presentationml.slide+xml" PartName="/ppt/slides/slide41.xml"/>
  <Override ContentType="application/vnd.openxmlformats-officedocument.presentationml.slide+xml" PartName="/ppt/slides/slide7.xml"/>
  <Override ContentType="application/vnd.openxmlformats-officedocument.presentationml.slide+xml" PartName="/ppt/slides/slide54.xml"/>
  <Override ContentType="application/vnd.openxmlformats-officedocument.presentationml.slide+xml" PartName="/ppt/slides/slide36.xml"/>
  <Override ContentType="application/vnd.openxmlformats-officedocument.presentationml.slide+xml" PartName="/ppt/slides/slide23.xml"/>
  <Override ContentType="application/vnd.openxmlformats-officedocument.presentationml.slide+xml" PartName="/ppt/slides/slide49.xml"/>
  <Override ContentType="application/vnd.openxmlformats-officedocument.presentationml.slide+xml" PartName="/ppt/slides/slide10.xml"/>
  <Override ContentType="application/vnd.openxmlformats-officedocument.presentationml.slide+xml" PartName="/ppt/slides/slide6.xml"/>
  <Override ContentType="application/vnd.openxmlformats-officedocument.presentationml.slide+xml" PartName="/ppt/slides/slide53.xml"/>
  <Override ContentType="application/vnd.openxmlformats-officedocument.presentationml.slide+xml" PartName="/ppt/slides/slide40.xml"/>
  <Override ContentType="application/vnd.openxmlformats-officedocument.presentationml.slide+xml" PartName="/ppt/slides/slide48.xml"/>
  <Override ContentType="application/vnd.openxmlformats-officedocument.presentationml.slide+xml" PartName="/ppt/slides/slide30.xml"/>
  <Override ContentType="application/vnd.openxmlformats-officedocument.presentationml.slide+xml" PartName="/ppt/slides/slide22.xml"/>
  <Override ContentType="application/vnd.openxmlformats-officedocument.presentationml.slide+xml" PartName="/ppt/slides/slide39.xml"/>
  <Override ContentType="application/vnd.openxmlformats-officedocument.presentationml.slide+xml" PartName="/ppt/slides/slide9.xml"/>
  <Override ContentType="application/vnd.openxmlformats-officedocument.presentationml.slide+xml" PartName="/ppt/slides/slide13.xml"/>
  <Override ContentType="application/vnd.openxmlformats-officedocument.presentationml.slide+xml" PartName="/ppt/slides/slide56.xml"/>
  <Override ContentType="application/vnd.openxmlformats-officedocument.presentationml.slide+xml" PartName="/ppt/slides/slide12.xml"/>
  <Override ContentType="application/vnd.openxmlformats-officedocument.presentationml.slide+xml" PartName="/ppt/slides/slide47.xml"/>
  <Override ContentType="application/vnd.openxmlformats-officedocument.presentationml.slide+xml" PartName="/ppt/slides/slide20.xml"/>
  <Override ContentType="application/vnd.openxmlformats-officedocument.presentationml.slide+xml" PartName="/ppt/slides/slide21.xml"/>
  <Override ContentType="application/vnd.openxmlformats-officedocument.presentationml.slide+xml" PartName="/ppt/slides/slide38.xml"/>
  <Override ContentType="application/vnd.openxmlformats-officedocument.presentationml.slide+xml" PartName="/ppt/slides/slide46.xml"/>
  <Override ContentType="application/vnd.openxmlformats-officedocument.presentationml.slide+xml" PartName="/ppt/slides/slide8.xml"/>
  <Override ContentType="application/vnd.openxmlformats-officedocument.presentationml.slide+xml" PartName="/ppt/slides/slide55.xml"/>
  <Override ContentType="application/vnd.openxmlformats-officedocument.presentationml.slide+xml" PartName="/ppt/slides/slide29.xml"/>
  <Override ContentType="application/vnd.openxmlformats-officedocument.presentationml.slide+xml" PartName="/ppt/slides/slide32.xml"/>
  <Override ContentType="application/vnd.openxmlformats-officedocument.presentationml.slide+xml" PartName="/ppt/slides/slide1.xml"/>
  <Override ContentType="application/vnd.openxmlformats-officedocument.presentationml.slide+xml" PartName="/ppt/slides/slide58.xml"/>
  <Override ContentType="application/vnd.openxmlformats-officedocument.presentationml.slide+xml" PartName="/ppt/slides/slide45.xml"/>
  <Override ContentType="application/vnd.openxmlformats-officedocument.presentationml.slide+xml" PartName="/ppt/slides/slide28.xml"/>
  <Override ContentType="application/vnd.openxmlformats-officedocument.presentationml.slide+xml" PartName="/ppt/slides/slide15.xml"/>
  <Override ContentType="application/vnd.openxmlformats-officedocument.presentationml.slide+xml" PartName="/ppt/slides/slide31.xml"/>
  <Override ContentType="application/vnd.openxmlformats-officedocument.presentationml.slide+xml" PartName="/ppt/slides/slide27.xml"/>
  <Override ContentType="application/vnd.openxmlformats-officedocument.presentationml.slide+xml" PartName="/ppt/slides/slide57.xml"/>
  <Override ContentType="application/vnd.openxmlformats-officedocument.presentationml.slide+xml" PartName="/ppt/slides/slide2.xml"/>
  <Override ContentType="application/vnd.openxmlformats-officedocument.presentationml.slide+xml" PartName="/ppt/slides/slide44.xml"/>
  <Override ContentType="application/vnd.openxmlformats-officedocument.presentationml.slide+xml" PartName="/ppt/slides/slide14.xml"/>
  <Override ContentType="application/vnd.openxmlformats-package.core-properties+xml" PartName="/docProps/core.xml"/>
  <Override ContentType="application/vnd.openxmlformats-officedocument.presentationml.presentation.main+xml" PartName="/ppt/presentation.xml"/>
  <Override ContentType="application/vnd.openxmlformats-officedocument.theme+xml" PartName="/ppt/theme/theme1.xml"/>
  <Override ContentType="application/vnd.openxmlformats-officedocument.theme+xml" PartName="/ppt/theme/theme2.xml"/>
  <Override ContentType="application/vnd.openxmlformats-officedocument.presentationml.notesSlide+xml" PartName="/ppt/notesSlides/notesSlide32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33.xml"/>
  <Override ContentType="application/vnd.openxmlformats-officedocument.presentationml.notesSlide+xml" PartName="/ppt/notesSlides/notesSlide41.xml"/>
  <Override ContentType="application/vnd.openxmlformats-officedocument.presentationml.notesSlide+xml" PartName="/ppt/notesSlides/notesSlide15.xml"/>
  <Override ContentType="application/vnd.openxmlformats-officedocument.presentationml.notesSlide+xml" PartName="/ppt/notesSlides/notesSlide24.xml"/>
  <Override ContentType="application/vnd.openxmlformats-officedocument.presentationml.notesSlide+xml" PartName="/ppt/notesSlides/notesSlide50.xml"/>
  <Override ContentType="application/vnd.openxmlformats-officedocument.presentationml.notesSlide+xml" PartName="/ppt/notesSlides/notesSlide17.xml"/>
  <Override ContentType="application/vnd.openxmlformats-officedocument.presentationml.notesSlide+xml" PartName="/ppt/notesSlides/notesSlide42.xml"/>
  <Override ContentType="application/vnd.openxmlformats-officedocument.presentationml.notesSlide+xml" PartName="/ppt/notesSlides/notesSlide16.xml"/>
  <Override ContentType="application/vnd.openxmlformats-officedocument.presentationml.notesSlide+xml" PartName="/ppt/notesSlides/notesSlide34.xml"/>
  <Override ContentType="application/vnd.openxmlformats-officedocument.presentationml.notesSlide+xml" PartName="/ppt/notesSlides/notesSlide51.xml"/>
  <Override ContentType="application/vnd.openxmlformats-officedocument.presentationml.notesSlide+xml" PartName="/ppt/notesSlides/notesSlide4.xml"/>
  <Override ContentType="application/vnd.openxmlformats-officedocument.presentationml.notesSlide+xml" PartName="/ppt/notesSlides/notesSlide25.xml"/>
  <Override ContentType="application/vnd.openxmlformats-officedocument.presentationml.notesSlide+xml" PartName="/ppt/notesSlides/notesSlide43.xml"/>
  <Override ContentType="application/vnd.openxmlformats-officedocument.presentationml.notesSlide+xml" PartName="/ppt/notesSlides/notesSlide13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56.xml"/>
  <Override ContentType="application/vnd.openxmlformats-officedocument.presentationml.notesSlide+xml" PartName="/ppt/notesSlides/notesSlide30.xml"/>
  <Override ContentType="application/vnd.openxmlformats-officedocument.presentationml.notesSlide+xml" PartName="/ppt/notesSlides/notesSlide26.xml"/>
  <Override ContentType="application/vnd.openxmlformats-officedocument.presentationml.notesSlide+xml" PartName="/ppt/notesSlides/notesSlide39.xml"/>
  <Override ContentType="application/vnd.openxmlformats-officedocument.presentationml.notesSlide+xml" PartName="/ppt/notesSlides/notesSlide31.xml"/>
  <Override ContentType="application/vnd.openxmlformats-officedocument.presentationml.notesSlide+xml" PartName="/ppt/notesSlides/notesSlide57.xml"/>
  <Override ContentType="application/vnd.openxmlformats-officedocument.presentationml.notesSlide+xml" PartName="/ppt/notesSlides/notesSlide44.xml"/>
  <Override ContentType="application/vnd.openxmlformats-officedocument.presentationml.notesSlide+xml" PartName="/ppt/notesSlides/notesSlide58.xml"/>
  <Override ContentType="application/vnd.openxmlformats-officedocument.presentationml.notesSlide+xml" PartName="/ppt/notesSlides/notesSlide27.xml"/>
  <Override ContentType="application/vnd.openxmlformats-officedocument.presentationml.notesSlide+xml" PartName="/ppt/notesSlides/notesSlide14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37.xml"/>
  <Override ContentType="application/vnd.openxmlformats-officedocument.presentationml.notesSlide+xml" PartName="/ppt/notesSlides/notesSlide29.xml"/>
  <Override ContentType="application/vnd.openxmlformats-officedocument.presentationml.notesSlide+xml" PartName="/ppt/notesSlides/notesSlide54.xml"/>
  <Override ContentType="application/vnd.openxmlformats-officedocument.presentationml.notesSlide+xml" PartName="/ppt/notesSlides/notesSlide45.xml"/>
  <Override ContentType="application/vnd.openxmlformats-officedocument.presentationml.notesSlide+xml" PartName="/ppt/notesSlides/notesSlide46.xml"/>
  <Override ContentType="application/vnd.openxmlformats-officedocument.presentationml.notesSlide+xml" PartName="/ppt/notesSlides/notesSlide9.xml"/>
  <Override ContentType="application/vnd.openxmlformats-officedocument.presentationml.notesSlide+xml" PartName="/ppt/notesSlides/notesSlide28.xml"/>
  <Override ContentType="application/vnd.openxmlformats-officedocument.presentationml.notesSlide+xml" PartName="/ppt/notesSlides/notesSlide11.xml"/>
  <Override ContentType="application/vnd.openxmlformats-officedocument.presentationml.notesSlide+xml" PartName="/ppt/notesSlides/notesSlide55.xml"/>
  <Override ContentType="application/vnd.openxmlformats-officedocument.presentationml.notesSlide+xml" PartName="/ppt/notesSlides/notesSlide12.xml"/>
  <Override ContentType="application/vnd.openxmlformats-officedocument.presentationml.notesSlide+xml" PartName="/ppt/notesSlides/notesSlide20.xml"/>
  <Override ContentType="application/vnd.openxmlformats-officedocument.presentationml.notesSlide+xml" PartName="/ppt/notesSlides/notesSlide47.xml"/>
  <Override ContentType="application/vnd.openxmlformats-officedocument.presentationml.notesSlide+xml" PartName="/ppt/notesSlides/notesSlide21.xml"/>
  <Override ContentType="application/vnd.openxmlformats-officedocument.presentationml.notesSlide+xml" PartName="/ppt/notesSlides/notesSlide8.xml"/>
  <Override ContentType="application/vnd.openxmlformats-officedocument.presentationml.notesSlide+xml" PartName="/ppt/notesSlides/notesSlide38.xml"/>
  <Override ContentType="application/vnd.openxmlformats-officedocument.presentationml.notesSlide+xml" PartName="/ppt/notesSlides/notesSlide18.xml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48.xml"/>
  <Override ContentType="application/vnd.openxmlformats-officedocument.presentationml.notesSlide+xml" PartName="/ppt/notesSlides/notesSlide22.xml"/>
  <Override ContentType="application/vnd.openxmlformats-officedocument.presentationml.notesSlide+xml" PartName="/ppt/notesSlides/notesSlide52.xml"/>
  <Override ContentType="application/vnd.openxmlformats-officedocument.presentationml.notesSlide+xml" PartName="/ppt/notesSlides/notesSlide7.xml"/>
  <Override ContentType="application/vnd.openxmlformats-officedocument.presentationml.notesSlide+xml" PartName="/ppt/notesSlides/notesSlide35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36.xml"/>
  <Override ContentType="application/vnd.openxmlformats-officedocument.presentationml.notesSlide+xml" PartName="/ppt/notesSlides/notesSlide49.xml"/>
  <Override ContentType="application/vnd.openxmlformats-officedocument.presentationml.notesSlide+xml" PartName="/ppt/notesSlides/notesSlide19.xml"/>
  <Override ContentType="application/vnd.openxmlformats-officedocument.presentationml.notesSlide+xml" PartName="/ppt/notesSlides/notesSlide53.xml"/>
  <Override ContentType="application/vnd.openxmlformats-officedocument.presentationml.notesSlide+xml" PartName="/ppt/notesSlides/notesSlide40.xml"/>
  <Override ContentType="application/vnd.openxmlformats-officedocument.presentationml.notesSlide+xml" PartName="/ppt/notesSlides/notesSlide23.xml"/>
  <Override ContentType="application/vnd.openxmlformats-officedocument.presentationml.notesSlide+xml" PartName="/ppt/notesSlides/notesSlide10.xml"/>
  <Override ContentType="application/vnd.openxmlformats-officedocument.custom-properties+xml" PartName="/docProps/custom.xml"/>
  <Override ContentType="application/binary" PartName="/ppt/metadata"/>
  <Override ContentType="application/vnd.openxmlformats-officedocument.presentationml.notesMaster+xml" PartName="/ppt/notesMasters/notesMaster1.xml"/>
  <Override ContentType="application/vnd.openxmlformats-officedocument.presentationml.presProps+xml" PartName="/ppt/presProps.xml"/>
  <Override ContentType="application/vnd.openxmlformats-officedocument.presentationml.viewProps+xml" PartName="/ppt/viewProps.xml"/>
</Types>
</file>

<file path=_rels/.rels><?xml version="1.0" encoding="UTF-8" standalone="yes"?><Relationships xmlns="http://schemas.openxmlformats.org/package/2006/relationships"><Relationship Id="rId1" Type="http://schemas.openxmlformats.org/officeDocument/2006/relationships/custom-properties" Target="docProps/custom.xml"/><Relationship Id="rId2" Type="http://schemas.openxmlformats.org/package/2006/relationships/metadata/core-properties" Target="docProps/core.xml"/><Relationship Id="rId3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embedTrueTypeFonts="1" strictFirstAndLastChars="0" saveSubsetFonts="1">
  <p:sldMasterIdLst>
    <p:sldMasterId id="2147483648" r:id="rId5"/>
  </p:sldMasterIdLst>
  <p:notesMasterIdLst>
    <p:notesMasterId r:id="rId6"/>
  </p:notes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  <p:sldId id="271" r:id="rId22"/>
    <p:sldId id="272" r:id="rId23"/>
    <p:sldId id="273" r:id="rId24"/>
    <p:sldId id="274" r:id="rId25"/>
    <p:sldId id="275" r:id="rId26"/>
    <p:sldId id="276" r:id="rId27"/>
    <p:sldId id="277" r:id="rId28"/>
    <p:sldId id="278" r:id="rId29"/>
    <p:sldId id="279" r:id="rId30"/>
    <p:sldId id="280" r:id="rId31"/>
    <p:sldId id="281" r:id="rId32"/>
    <p:sldId id="282" r:id="rId33"/>
    <p:sldId id="283" r:id="rId34"/>
    <p:sldId id="284" r:id="rId35"/>
    <p:sldId id="285" r:id="rId36"/>
    <p:sldId id="286" r:id="rId37"/>
    <p:sldId id="287" r:id="rId38"/>
    <p:sldId id="288" r:id="rId39"/>
    <p:sldId id="289" r:id="rId40"/>
    <p:sldId id="290" r:id="rId41"/>
    <p:sldId id="291" r:id="rId42"/>
    <p:sldId id="292" r:id="rId43"/>
    <p:sldId id="293" r:id="rId44"/>
    <p:sldId id="294" r:id="rId45"/>
    <p:sldId id="295" r:id="rId46"/>
    <p:sldId id="296" r:id="rId47"/>
    <p:sldId id="297" r:id="rId48"/>
    <p:sldId id="298" r:id="rId49"/>
    <p:sldId id="299" r:id="rId50"/>
    <p:sldId id="300" r:id="rId51"/>
    <p:sldId id="301" r:id="rId52"/>
    <p:sldId id="302" r:id="rId53"/>
    <p:sldId id="303" r:id="rId54"/>
    <p:sldId id="304" r:id="rId55"/>
    <p:sldId id="305" r:id="rId56"/>
    <p:sldId id="306" r:id="rId57"/>
    <p:sldId id="307" r:id="rId58"/>
    <p:sldId id="308" r:id="rId59"/>
    <p:sldId id="309" r:id="rId60"/>
    <p:sldId id="310" r:id="rId61"/>
    <p:sldId id="311" r:id="rId62"/>
    <p:sldId id="312" r:id="rId63"/>
    <p:sldId id="313" r:id="rId64"/>
  </p:sldIdLst>
  <p:sldSz cy="3244850" cx="5765800"/>
  <p:notesSz cx="5765800" cy="3244850"/>
  <p:embeddedFontLst>
    <p:embeddedFont>
      <p:font typeface="Tahoma"/>
      <p:regular r:id="rId65"/>
      <p:bold r:id="rId66"/>
    </p:embeddedFont>
    <p:embeddedFont>
      <p:font typeface="Helvetica Neue"/>
      <p:regular r:id="rId67"/>
      <p:bold r:id="rId68"/>
      <p:italic r:id="rId69"/>
      <p:boldItalic r:id="rId70"/>
    </p:embeddedFont>
  </p:embeddedFontLst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>
        <p15:guide id="1" orient="horz" pos="2880">
          <p15:clr>
            <a:srgbClr val="000000"/>
          </p15:clr>
        </p15:guide>
        <p15:guide id="2" pos="2160">
          <p15:clr>
            <a:srgbClr val="000000"/>
          </p15:clr>
        </p15:guide>
        <p15:guide id="3" orient="horz" pos="43">
          <p15:clr>
            <a:srgbClr val="747775"/>
          </p15:clr>
        </p15:guide>
      </p15:sldGuideLst>
    </p:ext>
    <p:ext uri="GoogleSlidesCustomDataVersion2">
      <go:slidesCustomData xmlns:go="http://customooxmlschemas.google.com/" r:id="rId71" roundtripDataSignature="AMtx7miLwbBP/+vhQZbcLjYsBuhVsaUVhQ==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tableStyles.xml><?xml version="1.0" encoding="utf-8"?>
<a:tblStyleLst xmlns:a="http://schemas.openxmlformats.org/drawingml/2006/main" xmlns:r="http://schemas.openxmlformats.org/officeDocument/2006/relationships" def="{21AF7ECD-3733-4280-87E1-7B343A0D3181}">
  <a:tblStyle styleId="{21AF7ECD-3733-4280-87E1-7B343A0D3181}" styleName="Table_0">
    <a:wholeTbl>
      <a:tcTxStyle b="off" i="off">
        <a:font>
          <a:latin typeface="Calibri"/>
          <a:ea typeface="Calibri"/>
          <a:cs typeface="Calibri"/>
        </a:font>
        <a:srgbClr val="000000"/>
      </a:tcTxStyle>
      <a:tcStyle>
        <a:tcBdr>
          <a:left>
            <a:ln cap="flat" cmpd="sng" w="9525">
              <a:solidFill>
                <a:srgbClr val="000000">
                  <a:alpha val="0"/>
                </a:srgbClr>
              </a:solidFill>
              <a:prstDash val="solid"/>
              <a:round/>
              <a:headEnd len="sm" w="sm" type="none"/>
              <a:tailEnd len="sm" w="sm" type="none"/>
            </a:ln>
          </a:left>
          <a:right>
            <a:ln cap="flat" cmpd="sng" w="9525">
              <a:solidFill>
                <a:srgbClr val="000000">
                  <a:alpha val="0"/>
                </a:srgbClr>
              </a:solidFill>
              <a:prstDash val="solid"/>
              <a:round/>
              <a:headEnd len="sm" w="sm" type="none"/>
              <a:tailEnd len="sm" w="sm" type="none"/>
            </a:ln>
          </a:right>
          <a:top>
            <a:ln cap="flat" cmpd="sng" w="9525">
              <a:solidFill>
                <a:srgbClr val="000000">
                  <a:alpha val="0"/>
                </a:srgbClr>
              </a:solidFill>
              <a:prstDash val="solid"/>
              <a:round/>
              <a:headEnd len="sm" w="sm" type="none"/>
              <a:tailEnd len="sm" w="sm" type="none"/>
            </a:ln>
          </a:top>
          <a:bottom>
            <a:ln cap="flat" cmpd="sng" w="9525">
              <a:solidFill>
                <a:srgbClr val="000000">
                  <a:alpha val="0"/>
                </a:srgbClr>
              </a:solidFill>
              <a:prstDash val="solid"/>
              <a:round/>
              <a:headEnd len="sm" w="sm" type="none"/>
              <a:tailEnd len="sm" w="sm" type="none"/>
            </a:ln>
          </a:bottom>
          <a:insideH>
            <a:ln cap="flat" cmpd="sng" w="9525">
              <a:solidFill>
                <a:srgbClr val="000000">
                  <a:alpha val="0"/>
                </a:srgbClr>
              </a:solidFill>
              <a:prstDash val="solid"/>
              <a:round/>
              <a:headEnd len="sm" w="sm" type="none"/>
              <a:tailEnd len="sm" w="sm" type="none"/>
            </a:ln>
          </a:insideH>
          <a:insideV>
            <a:ln cap="flat" cmpd="sng" w="9525">
              <a:solidFill>
                <a:srgbClr val="000000">
                  <a:alpha val="0"/>
                </a:srgbClr>
              </a:solidFill>
              <a:prstDash val="solid"/>
              <a:round/>
              <a:headEnd len="sm" w="sm" type="none"/>
              <a:tailEnd len="sm" w="sm" type="none"/>
            </a:ln>
          </a:insideV>
        </a:tcBdr>
        <a:fill>
          <a:solidFill>
            <a:srgbClr val="FFFFFF">
              <a:alpha val="0"/>
            </a:srgbClr>
          </a:solidFill>
        </a:fill>
      </a:tcStyle>
    </a:wholeTbl>
    <a:band1H>
      <a:tcTxStyle b="off" i="off"/>
    </a:band1H>
    <a:band2H>
      <a:tcTxStyle b="off" i="off"/>
    </a:band2H>
    <a:band1V>
      <a:tcTxStyle b="off" i="off"/>
    </a:band1V>
    <a:band2V>
      <a:tcTxStyle b="off" i="off"/>
    </a:band2V>
    <a:lastCol>
      <a:tcTxStyle b="off" i="off"/>
    </a:lastCol>
    <a:firstCol>
      <a:tcTxStyle b="off" i="off"/>
    </a:firstCol>
    <a:lastRow>
      <a:tcTxStyle b="off" i="off"/>
    </a:lastRow>
    <a:seCell>
      <a:tcTxStyle b="off" i="off"/>
    </a:seCell>
    <a:swCell>
      <a:tcTxStyle b="off" i="off"/>
    </a:swCell>
    <a:firstRow>
      <a:tcTxStyle b="off" i="off"/>
    </a:firstRow>
    <a:neCell>
      <a:tcTxStyle b="off" i="off"/>
    </a:neCell>
    <a:nwCell>
      <a:tcTxStyle b="off" i="off"/>
    </a:nwCell>
  </a:tblStyle>
  <a:tblStyle styleId="{A196B3C8-27C8-4E07-9160-8CB4F96E31A8}" styleName="Table_1">
    <a:wholeTbl>
      <a:tcTxStyle b="off" i="off">
        <a:font>
          <a:latin typeface="Arial"/>
          <a:ea typeface="Arial"/>
          <a:cs typeface="Arial"/>
        </a:font>
        <a:srgbClr val="000000"/>
      </a:tcTxStyle>
      <a:tcStyle>
        <a:tcBdr>
          <a:left>
            <a:ln cap="flat" cmpd="sng" w="9525">
              <a:solidFill>
                <a:srgbClr val="9E9E9E"/>
              </a:solidFill>
              <a:prstDash val="solid"/>
              <a:round/>
              <a:headEnd len="sm" w="sm" type="none"/>
              <a:tailEnd len="sm" w="sm" type="none"/>
            </a:ln>
          </a:left>
          <a:right>
            <a:ln cap="flat" cmpd="sng" w="9525">
              <a:solidFill>
                <a:srgbClr val="9E9E9E"/>
              </a:solidFill>
              <a:prstDash val="solid"/>
              <a:round/>
              <a:headEnd len="sm" w="sm" type="none"/>
              <a:tailEnd len="sm" w="sm" type="none"/>
            </a:ln>
          </a:right>
          <a:top>
            <a:ln cap="flat" cmpd="sng" w="9525">
              <a:solidFill>
                <a:srgbClr val="9E9E9E"/>
              </a:solidFill>
              <a:prstDash val="solid"/>
              <a:round/>
              <a:headEnd len="sm" w="sm" type="none"/>
              <a:tailEnd len="sm" w="sm" type="none"/>
            </a:ln>
          </a:top>
          <a:bottom>
            <a:ln cap="flat" cmpd="sng" w="9525">
              <a:solidFill>
                <a:srgbClr val="9E9E9E"/>
              </a:solidFill>
              <a:prstDash val="solid"/>
              <a:round/>
              <a:headEnd len="sm" w="sm" type="none"/>
              <a:tailEnd len="sm" w="sm" type="none"/>
            </a:ln>
          </a:bottom>
          <a:insideH>
            <a:ln cap="flat" cmpd="sng" w="9525">
              <a:solidFill>
                <a:srgbClr val="9E9E9E"/>
              </a:solidFill>
              <a:prstDash val="solid"/>
              <a:round/>
              <a:headEnd len="sm" w="sm" type="none"/>
              <a:tailEnd len="sm" w="sm" type="none"/>
            </a:ln>
          </a:insideH>
          <a:insideV>
            <a:ln cap="flat" cmpd="sng" w="9525">
              <a:solidFill>
                <a:srgbClr val="9E9E9E"/>
              </a:solidFill>
              <a:prstDash val="solid"/>
              <a:round/>
              <a:headEnd len="sm" w="sm" type="none"/>
              <a:tailEnd len="sm" w="sm" type="none"/>
            </a:ln>
          </a:insideV>
        </a:tcBdr>
      </a:tcStyle>
    </a:wholeTbl>
    <a:band1H>
      <a:tcTxStyle b="off" i="off"/>
    </a:band1H>
    <a:band2H>
      <a:tcTxStyle b="off" i="off"/>
    </a:band2H>
    <a:band1V>
      <a:tcTxStyle b="off" i="off"/>
    </a:band1V>
    <a:band2V>
      <a:tcTxStyle b="off" i="off"/>
    </a:band2V>
    <a:lastCol>
      <a:tcTxStyle b="off" i="off"/>
    </a:lastCol>
    <a:firstCol>
      <a:tcTxStyle b="off" i="off"/>
    </a:firstCol>
    <a:lastRow>
      <a:tcTxStyle b="off" i="off"/>
    </a:lastRow>
    <a:seCell>
      <a:tcTxStyle b="off" i="off"/>
    </a:seCell>
    <a:swCell>
      <a:tcTxStyle b="off" i="off"/>
    </a:swCell>
    <a:firstRow>
      <a:tcTxStyle b="off" i="off"/>
    </a:firstRow>
    <a:neCell>
      <a:tcTxStyle b="off" i="off"/>
    </a:neCell>
    <a:nwCell>
      <a:tcTxStyle b="off" i="off"/>
    </a:nwCell>
  </a:tblStyle>
</a:tblStyleLst>
</file>

<file path=ppt/viewProps.xml><?xml version="1.0" encoding="utf-8"?>
<p:view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Comments="0">
  <p:slideViewPr>
    <p:cSldViewPr snapToGrid="0">
      <p:cViewPr varScale="1">
        <p:scale>
          <a:sx n="100" d="100"/>
          <a:sy n="100" d="100"/>
        </p:scale>
        <p:origin x="0" y="0"/>
      </p:cViewPr>
      <p:guideLst>
        <p:guide pos="2880" orient="horz"/>
        <p:guide pos="2160"/>
        <p:guide pos="43" orient="horz"/>
      </p:guideLst>
    </p:cSldViewPr>
  </p:slideViewPr>
</p:viewPr>
</file>

<file path=ppt/_rels/presentation.xml.rels><?xml version="1.0" encoding="UTF-8" standalone="yes"?><Relationships xmlns="http://schemas.openxmlformats.org/package/2006/relationships"><Relationship Id="rId40" Type="http://schemas.openxmlformats.org/officeDocument/2006/relationships/slide" Target="slides/slide34.xml"/><Relationship Id="rId42" Type="http://schemas.openxmlformats.org/officeDocument/2006/relationships/slide" Target="slides/slide36.xml"/><Relationship Id="rId41" Type="http://schemas.openxmlformats.org/officeDocument/2006/relationships/slide" Target="slides/slide35.xml"/><Relationship Id="rId44" Type="http://schemas.openxmlformats.org/officeDocument/2006/relationships/slide" Target="slides/slide38.xml"/><Relationship Id="rId43" Type="http://schemas.openxmlformats.org/officeDocument/2006/relationships/slide" Target="slides/slide37.xml"/><Relationship Id="rId46" Type="http://schemas.openxmlformats.org/officeDocument/2006/relationships/slide" Target="slides/slide40.xml"/><Relationship Id="rId45" Type="http://schemas.openxmlformats.org/officeDocument/2006/relationships/slide" Target="slides/slide39.xml"/><Relationship Id="rId1" Type="http://schemas.openxmlformats.org/officeDocument/2006/relationships/theme" Target="theme/theme1.xml"/><Relationship Id="rId2" Type="http://schemas.openxmlformats.org/officeDocument/2006/relationships/viewProps" Target="viewProps.xml"/><Relationship Id="rId3" Type="http://schemas.openxmlformats.org/officeDocument/2006/relationships/presProps" Target="presProps.xml"/><Relationship Id="rId4" Type="http://schemas.openxmlformats.org/officeDocument/2006/relationships/tableStyles" Target="tableStyles.xml"/><Relationship Id="rId9" Type="http://schemas.openxmlformats.org/officeDocument/2006/relationships/slide" Target="slides/slide3.xml"/><Relationship Id="rId48" Type="http://schemas.openxmlformats.org/officeDocument/2006/relationships/slide" Target="slides/slide42.xml"/><Relationship Id="rId47" Type="http://schemas.openxmlformats.org/officeDocument/2006/relationships/slide" Target="slides/slide41.xml"/><Relationship Id="rId49" Type="http://schemas.openxmlformats.org/officeDocument/2006/relationships/slide" Target="slides/slide43.xml"/><Relationship Id="rId5" Type="http://schemas.openxmlformats.org/officeDocument/2006/relationships/slideMaster" Target="slideMasters/slideMaster1.xml"/><Relationship Id="rId6" Type="http://schemas.openxmlformats.org/officeDocument/2006/relationships/notesMaster" Target="notesMasters/notesMaster1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31" Type="http://schemas.openxmlformats.org/officeDocument/2006/relationships/slide" Target="slides/slide25.xml"/><Relationship Id="rId30" Type="http://schemas.openxmlformats.org/officeDocument/2006/relationships/slide" Target="slides/slide24.xml"/><Relationship Id="rId33" Type="http://schemas.openxmlformats.org/officeDocument/2006/relationships/slide" Target="slides/slide27.xml"/><Relationship Id="rId32" Type="http://schemas.openxmlformats.org/officeDocument/2006/relationships/slide" Target="slides/slide26.xml"/><Relationship Id="rId35" Type="http://schemas.openxmlformats.org/officeDocument/2006/relationships/slide" Target="slides/slide29.xml"/><Relationship Id="rId34" Type="http://schemas.openxmlformats.org/officeDocument/2006/relationships/slide" Target="slides/slide28.xml"/><Relationship Id="rId71" Type="http://customschemas.google.com/relationships/presentationmetadata" Target="metadata"/><Relationship Id="rId70" Type="http://schemas.openxmlformats.org/officeDocument/2006/relationships/font" Target="fonts/HelveticaNeue-boldItalic.fntdata"/><Relationship Id="rId37" Type="http://schemas.openxmlformats.org/officeDocument/2006/relationships/slide" Target="slides/slide31.xml"/><Relationship Id="rId36" Type="http://schemas.openxmlformats.org/officeDocument/2006/relationships/slide" Target="slides/slide30.xml"/><Relationship Id="rId39" Type="http://schemas.openxmlformats.org/officeDocument/2006/relationships/slide" Target="slides/slide33.xml"/><Relationship Id="rId38" Type="http://schemas.openxmlformats.org/officeDocument/2006/relationships/slide" Target="slides/slide32.xml"/><Relationship Id="rId62" Type="http://schemas.openxmlformats.org/officeDocument/2006/relationships/slide" Target="slides/slide56.xml"/><Relationship Id="rId61" Type="http://schemas.openxmlformats.org/officeDocument/2006/relationships/slide" Target="slides/slide55.xml"/><Relationship Id="rId20" Type="http://schemas.openxmlformats.org/officeDocument/2006/relationships/slide" Target="slides/slide14.xml"/><Relationship Id="rId64" Type="http://schemas.openxmlformats.org/officeDocument/2006/relationships/slide" Target="slides/slide58.xml"/><Relationship Id="rId63" Type="http://schemas.openxmlformats.org/officeDocument/2006/relationships/slide" Target="slides/slide57.xml"/><Relationship Id="rId22" Type="http://schemas.openxmlformats.org/officeDocument/2006/relationships/slide" Target="slides/slide16.xml"/><Relationship Id="rId66" Type="http://schemas.openxmlformats.org/officeDocument/2006/relationships/font" Target="fonts/Tahoma-bold.fntdata"/><Relationship Id="rId21" Type="http://schemas.openxmlformats.org/officeDocument/2006/relationships/slide" Target="slides/slide15.xml"/><Relationship Id="rId65" Type="http://schemas.openxmlformats.org/officeDocument/2006/relationships/font" Target="fonts/Tahoma-regular.fntdata"/><Relationship Id="rId24" Type="http://schemas.openxmlformats.org/officeDocument/2006/relationships/slide" Target="slides/slide18.xml"/><Relationship Id="rId68" Type="http://schemas.openxmlformats.org/officeDocument/2006/relationships/font" Target="fonts/HelveticaNeue-bold.fntdata"/><Relationship Id="rId23" Type="http://schemas.openxmlformats.org/officeDocument/2006/relationships/slide" Target="slides/slide17.xml"/><Relationship Id="rId67" Type="http://schemas.openxmlformats.org/officeDocument/2006/relationships/font" Target="fonts/HelveticaNeue-regular.fntdata"/><Relationship Id="rId60" Type="http://schemas.openxmlformats.org/officeDocument/2006/relationships/slide" Target="slides/slide54.xml"/><Relationship Id="rId26" Type="http://schemas.openxmlformats.org/officeDocument/2006/relationships/slide" Target="slides/slide20.xml"/><Relationship Id="rId25" Type="http://schemas.openxmlformats.org/officeDocument/2006/relationships/slide" Target="slides/slide19.xml"/><Relationship Id="rId69" Type="http://schemas.openxmlformats.org/officeDocument/2006/relationships/font" Target="fonts/HelveticaNeue-italic.fntdata"/><Relationship Id="rId28" Type="http://schemas.openxmlformats.org/officeDocument/2006/relationships/slide" Target="slides/slide22.xml"/><Relationship Id="rId27" Type="http://schemas.openxmlformats.org/officeDocument/2006/relationships/slide" Target="slides/slide21.xml"/><Relationship Id="rId29" Type="http://schemas.openxmlformats.org/officeDocument/2006/relationships/slide" Target="slides/slide23.xml"/><Relationship Id="rId51" Type="http://schemas.openxmlformats.org/officeDocument/2006/relationships/slide" Target="slides/slide45.xml"/><Relationship Id="rId50" Type="http://schemas.openxmlformats.org/officeDocument/2006/relationships/slide" Target="slides/slide44.xml"/><Relationship Id="rId53" Type="http://schemas.openxmlformats.org/officeDocument/2006/relationships/slide" Target="slides/slide47.xml"/><Relationship Id="rId52" Type="http://schemas.openxmlformats.org/officeDocument/2006/relationships/slide" Target="slides/slide46.xml"/><Relationship Id="rId11" Type="http://schemas.openxmlformats.org/officeDocument/2006/relationships/slide" Target="slides/slide5.xml"/><Relationship Id="rId55" Type="http://schemas.openxmlformats.org/officeDocument/2006/relationships/slide" Target="slides/slide49.xml"/><Relationship Id="rId10" Type="http://schemas.openxmlformats.org/officeDocument/2006/relationships/slide" Target="slides/slide4.xml"/><Relationship Id="rId54" Type="http://schemas.openxmlformats.org/officeDocument/2006/relationships/slide" Target="slides/slide48.xml"/><Relationship Id="rId13" Type="http://schemas.openxmlformats.org/officeDocument/2006/relationships/slide" Target="slides/slide7.xml"/><Relationship Id="rId57" Type="http://schemas.openxmlformats.org/officeDocument/2006/relationships/slide" Target="slides/slide51.xml"/><Relationship Id="rId12" Type="http://schemas.openxmlformats.org/officeDocument/2006/relationships/slide" Target="slides/slide6.xml"/><Relationship Id="rId56" Type="http://schemas.openxmlformats.org/officeDocument/2006/relationships/slide" Target="slides/slide50.xml"/><Relationship Id="rId15" Type="http://schemas.openxmlformats.org/officeDocument/2006/relationships/slide" Target="slides/slide9.xml"/><Relationship Id="rId59" Type="http://schemas.openxmlformats.org/officeDocument/2006/relationships/slide" Target="slides/slide53.xml"/><Relationship Id="rId14" Type="http://schemas.openxmlformats.org/officeDocument/2006/relationships/slide" Target="slides/slide8.xml"/><Relationship Id="rId58" Type="http://schemas.openxmlformats.org/officeDocument/2006/relationships/slide" Target="slides/slide52.xml"/><Relationship Id="rId17" Type="http://schemas.openxmlformats.org/officeDocument/2006/relationships/slide" Target="slides/slide11.xml"/><Relationship Id="rId16" Type="http://schemas.openxmlformats.org/officeDocument/2006/relationships/slide" Target="slides/slide10.xml"/><Relationship Id="rId19" Type="http://schemas.openxmlformats.org/officeDocument/2006/relationships/slide" Target="slides/slide13.xml"/><Relationship Id="rId18" Type="http://schemas.openxmlformats.org/officeDocument/2006/relationships/slide" Target="slides/slide12.xml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/>
          <p:nvPr>
            <p:ph idx="2" type="sldImg"/>
          </p:nvPr>
        </p:nvSpPr>
        <p:spPr>
          <a:xfrm>
            <a:off x="961150" y="243350"/>
            <a:ext cx="3844050" cy="12168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" name="Google Shape;4;n"/>
          <p:cNvSpPr txBox="1"/>
          <p:nvPr>
            <p:ph idx="1" type="body"/>
          </p:nvPr>
        </p:nvSpPr>
        <p:spPr>
          <a:xfrm>
            <a:off x="576575" y="1541300"/>
            <a:ext cx="4612625" cy="1460175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29845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●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-298450" lvl="1" marL="9144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○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-298450" lvl="2" marL="13716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■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-298450" lvl="3" marL="18288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●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-298450" lvl="4" marL="22860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○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-298450" lvl="5" marL="2743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■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-298450" lvl="6" marL="32004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●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-298450" lvl="7" marL="36576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○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-298450" lvl="8" marL="41148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■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0" name="Shape 4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" name="Google Shape;41;p1:notes"/>
          <p:cNvSpPr txBox="1"/>
          <p:nvPr>
            <p:ph idx="1" type="body"/>
          </p:nvPr>
        </p:nvSpPr>
        <p:spPr>
          <a:xfrm>
            <a:off x="576575" y="1541300"/>
            <a:ext cx="4612625" cy="1460175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  <p:sp>
        <p:nvSpPr>
          <p:cNvPr id="42" name="Google Shape;42;p1:notes"/>
          <p:cNvSpPr/>
          <p:nvPr>
            <p:ph idx="2" type="sldImg"/>
          </p:nvPr>
        </p:nvSpPr>
        <p:spPr>
          <a:xfrm>
            <a:off x="961150" y="243350"/>
            <a:ext cx="3844050" cy="12168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5" name="Shape 4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" name="Google Shape;46;p2:notes"/>
          <p:cNvSpPr txBox="1"/>
          <p:nvPr>
            <p:ph idx="1" type="body"/>
          </p:nvPr>
        </p:nvSpPr>
        <p:spPr>
          <a:xfrm>
            <a:off x="576575" y="1541300"/>
            <a:ext cx="4612625" cy="1460175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  <p:sp>
        <p:nvSpPr>
          <p:cNvPr id="47" name="Google Shape;47;p2:notes"/>
          <p:cNvSpPr/>
          <p:nvPr>
            <p:ph idx="2" type="sldImg"/>
          </p:nvPr>
        </p:nvSpPr>
        <p:spPr>
          <a:xfrm>
            <a:off x="961150" y="243350"/>
            <a:ext cx="3844050" cy="12168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1" name="Shape 5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2" name="Google Shape;52;g3220fd27c11_0_99:notes"/>
          <p:cNvSpPr txBox="1"/>
          <p:nvPr>
            <p:ph idx="1" type="body"/>
          </p:nvPr>
        </p:nvSpPr>
        <p:spPr>
          <a:xfrm>
            <a:off x="576575" y="1541300"/>
            <a:ext cx="4612500" cy="1460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  <p:sp>
        <p:nvSpPr>
          <p:cNvPr id="53" name="Google Shape;53;g3220fd27c11_0_99:notes"/>
          <p:cNvSpPr/>
          <p:nvPr>
            <p:ph idx="2" type="sldImg"/>
          </p:nvPr>
        </p:nvSpPr>
        <p:spPr>
          <a:xfrm>
            <a:off x="961150" y="243350"/>
            <a:ext cx="3844200" cy="12168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7" name="Shape 5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8" name="Google Shape;58;g3220fd27c11_4_44:notes"/>
          <p:cNvSpPr txBox="1"/>
          <p:nvPr>
            <p:ph idx="1" type="body"/>
          </p:nvPr>
        </p:nvSpPr>
        <p:spPr>
          <a:xfrm>
            <a:off x="576575" y="1541300"/>
            <a:ext cx="4612500" cy="1460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  <p:sp>
        <p:nvSpPr>
          <p:cNvPr id="59" name="Google Shape;59;g3220fd27c11_4_44:notes"/>
          <p:cNvSpPr/>
          <p:nvPr>
            <p:ph idx="2" type="sldImg"/>
          </p:nvPr>
        </p:nvSpPr>
        <p:spPr>
          <a:xfrm>
            <a:off x="961150" y="243350"/>
            <a:ext cx="3844200" cy="12168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8" name="Shape 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9" name="Google Shape;69;g3534be74e08_0_7:notes"/>
          <p:cNvSpPr txBox="1"/>
          <p:nvPr>
            <p:ph idx="1" type="body"/>
          </p:nvPr>
        </p:nvSpPr>
        <p:spPr>
          <a:xfrm>
            <a:off x="576575" y="1541300"/>
            <a:ext cx="4612500" cy="1460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  <p:sp>
        <p:nvSpPr>
          <p:cNvPr id="70" name="Google Shape;70;g3534be74e08_0_7:notes"/>
          <p:cNvSpPr/>
          <p:nvPr>
            <p:ph idx="2" type="sldImg"/>
          </p:nvPr>
        </p:nvSpPr>
        <p:spPr>
          <a:xfrm>
            <a:off x="961150" y="243350"/>
            <a:ext cx="3844200" cy="12168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76" name="Shape 7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7" name="Google Shape;77;g3220fd27c11_4_52:notes"/>
          <p:cNvSpPr txBox="1"/>
          <p:nvPr>
            <p:ph idx="1" type="body"/>
          </p:nvPr>
        </p:nvSpPr>
        <p:spPr>
          <a:xfrm>
            <a:off x="576575" y="1541300"/>
            <a:ext cx="4612500" cy="1460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  <p:sp>
        <p:nvSpPr>
          <p:cNvPr id="78" name="Google Shape;78;g3220fd27c11_4_52:notes"/>
          <p:cNvSpPr/>
          <p:nvPr>
            <p:ph idx="2" type="sldImg"/>
          </p:nvPr>
        </p:nvSpPr>
        <p:spPr>
          <a:xfrm>
            <a:off x="961150" y="243350"/>
            <a:ext cx="3844200" cy="12168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5" name="Shape 8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6" name="Google Shape;86;g3220fd27c11_0_89:notes"/>
          <p:cNvSpPr txBox="1"/>
          <p:nvPr>
            <p:ph idx="1" type="body"/>
          </p:nvPr>
        </p:nvSpPr>
        <p:spPr>
          <a:xfrm>
            <a:off x="576575" y="1541300"/>
            <a:ext cx="4612500" cy="1460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  <p:sp>
        <p:nvSpPr>
          <p:cNvPr id="87" name="Google Shape;87;g3220fd27c11_0_89:notes"/>
          <p:cNvSpPr/>
          <p:nvPr>
            <p:ph idx="2" type="sldImg"/>
          </p:nvPr>
        </p:nvSpPr>
        <p:spPr>
          <a:xfrm>
            <a:off x="961150" y="243350"/>
            <a:ext cx="3844200" cy="12168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4" name="Shape 9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5" name="Google Shape;95;g3220fd27c11_0_80:notes"/>
          <p:cNvSpPr txBox="1"/>
          <p:nvPr>
            <p:ph idx="1" type="body"/>
          </p:nvPr>
        </p:nvSpPr>
        <p:spPr>
          <a:xfrm>
            <a:off x="576575" y="1541300"/>
            <a:ext cx="4612500" cy="1460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  <p:sp>
        <p:nvSpPr>
          <p:cNvPr id="96" name="Google Shape;96;g3220fd27c11_0_80:notes"/>
          <p:cNvSpPr/>
          <p:nvPr>
            <p:ph idx="2" type="sldImg"/>
          </p:nvPr>
        </p:nvSpPr>
        <p:spPr>
          <a:xfrm>
            <a:off x="961150" y="243350"/>
            <a:ext cx="3844200" cy="12168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02" name="Shape 10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3" name="Google Shape;103;g3b15aef4537_0_0:notes"/>
          <p:cNvSpPr txBox="1"/>
          <p:nvPr>
            <p:ph idx="1" type="body"/>
          </p:nvPr>
        </p:nvSpPr>
        <p:spPr>
          <a:xfrm>
            <a:off x="576575" y="1541300"/>
            <a:ext cx="4612500" cy="1460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  <p:sp>
        <p:nvSpPr>
          <p:cNvPr id="104" name="Google Shape;104;g3b15aef4537_0_0:notes"/>
          <p:cNvSpPr/>
          <p:nvPr>
            <p:ph idx="2" type="sldImg"/>
          </p:nvPr>
        </p:nvSpPr>
        <p:spPr>
          <a:xfrm>
            <a:off x="961150" y="243350"/>
            <a:ext cx="3844200" cy="12168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10" name="Shape 11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1" name="Google Shape;111;g3220fd27c11_4_91:notes"/>
          <p:cNvSpPr txBox="1"/>
          <p:nvPr>
            <p:ph idx="1" type="body"/>
          </p:nvPr>
        </p:nvSpPr>
        <p:spPr>
          <a:xfrm>
            <a:off x="576575" y="1541300"/>
            <a:ext cx="4612500" cy="1460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  <p:sp>
        <p:nvSpPr>
          <p:cNvPr id="112" name="Google Shape;112;g3220fd27c11_4_91:notes"/>
          <p:cNvSpPr/>
          <p:nvPr>
            <p:ph idx="2" type="sldImg"/>
          </p:nvPr>
        </p:nvSpPr>
        <p:spPr>
          <a:xfrm>
            <a:off x="961150" y="243350"/>
            <a:ext cx="3844200" cy="12168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29" name="Shape 12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0" name="Google Shape;130;g3220fd27c11_4_22:notes"/>
          <p:cNvSpPr txBox="1"/>
          <p:nvPr>
            <p:ph idx="1" type="body"/>
          </p:nvPr>
        </p:nvSpPr>
        <p:spPr>
          <a:xfrm>
            <a:off x="576575" y="1541300"/>
            <a:ext cx="4612500" cy="1460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  <p:sp>
        <p:nvSpPr>
          <p:cNvPr id="131" name="Google Shape;131;g3220fd27c11_4_22:notes"/>
          <p:cNvSpPr/>
          <p:nvPr>
            <p:ph idx="2" type="sldImg"/>
          </p:nvPr>
        </p:nvSpPr>
        <p:spPr>
          <a:xfrm>
            <a:off x="961150" y="243350"/>
            <a:ext cx="3844200" cy="12168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37" name="Shape 13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8" name="Google Shape;138;g3b15aef4537_0_8:notes"/>
          <p:cNvSpPr txBox="1"/>
          <p:nvPr>
            <p:ph idx="1" type="body"/>
          </p:nvPr>
        </p:nvSpPr>
        <p:spPr>
          <a:xfrm>
            <a:off x="576575" y="1541300"/>
            <a:ext cx="4612500" cy="1460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  <p:sp>
        <p:nvSpPr>
          <p:cNvPr id="139" name="Google Shape;139;g3b15aef4537_0_8:notes"/>
          <p:cNvSpPr/>
          <p:nvPr>
            <p:ph idx="2" type="sldImg"/>
          </p:nvPr>
        </p:nvSpPr>
        <p:spPr>
          <a:xfrm>
            <a:off x="961150" y="243350"/>
            <a:ext cx="3844200" cy="12168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45" name="Shape 14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6" name="Google Shape;146;g3220fd27c11_4_70:notes"/>
          <p:cNvSpPr txBox="1"/>
          <p:nvPr>
            <p:ph idx="1" type="body"/>
          </p:nvPr>
        </p:nvSpPr>
        <p:spPr>
          <a:xfrm>
            <a:off x="576575" y="1541300"/>
            <a:ext cx="4612500" cy="1460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  <p:sp>
        <p:nvSpPr>
          <p:cNvPr id="147" name="Google Shape;147;g3220fd27c11_4_70:notes"/>
          <p:cNvSpPr/>
          <p:nvPr>
            <p:ph idx="2" type="sldImg"/>
          </p:nvPr>
        </p:nvSpPr>
        <p:spPr>
          <a:xfrm>
            <a:off x="961150" y="243350"/>
            <a:ext cx="3844200" cy="12168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64" name="Shape 16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5" name="Google Shape;165;g3220fd27c11_5_0:notes"/>
          <p:cNvSpPr txBox="1"/>
          <p:nvPr>
            <p:ph idx="1" type="body"/>
          </p:nvPr>
        </p:nvSpPr>
        <p:spPr>
          <a:xfrm>
            <a:off x="576575" y="1541300"/>
            <a:ext cx="4612500" cy="1460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  <p:sp>
        <p:nvSpPr>
          <p:cNvPr id="166" name="Google Shape;166;g3220fd27c11_5_0:notes"/>
          <p:cNvSpPr/>
          <p:nvPr>
            <p:ph idx="2" type="sldImg"/>
          </p:nvPr>
        </p:nvSpPr>
        <p:spPr>
          <a:xfrm>
            <a:off x="961150" y="243350"/>
            <a:ext cx="3844200" cy="12168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71" name="Shape 17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2" name="Google Shape;172;g3220fd27c11_5_35:notes"/>
          <p:cNvSpPr txBox="1"/>
          <p:nvPr>
            <p:ph idx="1" type="body"/>
          </p:nvPr>
        </p:nvSpPr>
        <p:spPr>
          <a:xfrm>
            <a:off x="576575" y="1541300"/>
            <a:ext cx="4612500" cy="1460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  <p:sp>
        <p:nvSpPr>
          <p:cNvPr id="173" name="Google Shape;173;g3220fd27c11_5_35:notes"/>
          <p:cNvSpPr/>
          <p:nvPr>
            <p:ph idx="2" type="sldImg"/>
          </p:nvPr>
        </p:nvSpPr>
        <p:spPr>
          <a:xfrm>
            <a:off x="961150" y="243350"/>
            <a:ext cx="3844200" cy="12168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78" name="Shape 17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9" name="Google Shape;179;g3220fd27c11_5_123:notes"/>
          <p:cNvSpPr txBox="1"/>
          <p:nvPr>
            <p:ph idx="1" type="body"/>
          </p:nvPr>
        </p:nvSpPr>
        <p:spPr>
          <a:xfrm>
            <a:off x="576575" y="1541300"/>
            <a:ext cx="4612500" cy="1460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  <p:sp>
        <p:nvSpPr>
          <p:cNvPr id="180" name="Google Shape;180;g3220fd27c11_5_123:notes"/>
          <p:cNvSpPr/>
          <p:nvPr>
            <p:ph idx="2" type="sldImg"/>
          </p:nvPr>
        </p:nvSpPr>
        <p:spPr>
          <a:xfrm>
            <a:off x="961150" y="243350"/>
            <a:ext cx="3844200" cy="12168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85" name="Shape 18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6" name="Google Shape;186;g3220fd27c11_5_26:notes"/>
          <p:cNvSpPr txBox="1"/>
          <p:nvPr>
            <p:ph idx="1" type="body"/>
          </p:nvPr>
        </p:nvSpPr>
        <p:spPr>
          <a:xfrm>
            <a:off x="576575" y="1541300"/>
            <a:ext cx="4612500" cy="1460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  <p:sp>
        <p:nvSpPr>
          <p:cNvPr id="187" name="Google Shape;187;g3220fd27c11_5_26:notes"/>
          <p:cNvSpPr/>
          <p:nvPr>
            <p:ph idx="2" type="sldImg"/>
          </p:nvPr>
        </p:nvSpPr>
        <p:spPr>
          <a:xfrm>
            <a:off x="961150" y="243350"/>
            <a:ext cx="3844200" cy="12168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92" name="Shape 19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3" name="Google Shape;193;g3534be74e08_0_0:notes"/>
          <p:cNvSpPr txBox="1"/>
          <p:nvPr>
            <p:ph idx="1" type="body"/>
          </p:nvPr>
        </p:nvSpPr>
        <p:spPr>
          <a:xfrm>
            <a:off x="576575" y="1541300"/>
            <a:ext cx="4612500" cy="1460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  <p:sp>
        <p:nvSpPr>
          <p:cNvPr id="194" name="Google Shape;194;g3534be74e08_0_0:notes"/>
          <p:cNvSpPr/>
          <p:nvPr>
            <p:ph idx="2" type="sldImg"/>
          </p:nvPr>
        </p:nvSpPr>
        <p:spPr>
          <a:xfrm>
            <a:off x="961150" y="243350"/>
            <a:ext cx="3844200" cy="12168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99" name="Shape 19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0" name="Google Shape;200;g3220fd27c11_5_46:notes"/>
          <p:cNvSpPr txBox="1"/>
          <p:nvPr>
            <p:ph idx="1" type="body"/>
          </p:nvPr>
        </p:nvSpPr>
        <p:spPr>
          <a:xfrm>
            <a:off x="576575" y="1541300"/>
            <a:ext cx="4612500" cy="1460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  <p:sp>
        <p:nvSpPr>
          <p:cNvPr id="201" name="Google Shape;201;g3220fd27c11_5_46:notes"/>
          <p:cNvSpPr/>
          <p:nvPr>
            <p:ph idx="2" type="sldImg"/>
          </p:nvPr>
        </p:nvSpPr>
        <p:spPr>
          <a:xfrm>
            <a:off x="961150" y="243350"/>
            <a:ext cx="3844200" cy="12168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06" name="Shape 20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7" name="Google Shape;207;g3220fd27c11_5_62:notes"/>
          <p:cNvSpPr txBox="1"/>
          <p:nvPr>
            <p:ph idx="1" type="body"/>
          </p:nvPr>
        </p:nvSpPr>
        <p:spPr>
          <a:xfrm>
            <a:off x="576575" y="1541300"/>
            <a:ext cx="4612500" cy="1460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  <p:sp>
        <p:nvSpPr>
          <p:cNvPr id="208" name="Google Shape;208;g3220fd27c11_5_62:notes"/>
          <p:cNvSpPr/>
          <p:nvPr>
            <p:ph idx="2" type="sldImg"/>
          </p:nvPr>
        </p:nvSpPr>
        <p:spPr>
          <a:xfrm>
            <a:off x="961150" y="243350"/>
            <a:ext cx="3844200" cy="12168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15" name="Shape 2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6" name="Google Shape;216;g3220fd27c11_5_72:notes"/>
          <p:cNvSpPr txBox="1"/>
          <p:nvPr>
            <p:ph idx="1" type="body"/>
          </p:nvPr>
        </p:nvSpPr>
        <p:spPr>
          <a:xfrm>
            <a:off x="576575" y="1541300"/>
            <a:ext cx="4612500" cy="1460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  <p:sp>
        <p:nvSpPr>
          <p:cNvPr id="217" name="Google Shape;217;g3220fd27c11_5_72:notes"/>
          <p:cNvSpPr/>
          <p:nvPr>
            <p:ph idx="2" type="sldImg"/>
          </p:nvPr>
        </p:nvSpPr>
        <p:spPr>
          <a:xfrm>
            <a:off x="961150" y="243350"/>
            <a:ext cx="3844200" cy="12168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22" name="Shape 22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3" name="Google Shape;223;g3220fd27c11_5_96:notes"/>
          <p:cNvSpPr txBox="1"/>
          <p:nvPr>
            <p:ph idx="1" type="body"/>
          </p:nvPr>
        </p:nvSpPr>
        <p:spPr>
          <a:xfrm>
            <a:off x="576575" y="1541300"/>
            <a:ext cx="4612500" cy="1460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  <p:sp>
        <p:nvSpPr>
          <p:cNvPr id="224" name="Google Shape;224;g3220fd27c11_5_96:notes"/>
          <p:cNvSpPr/>
          <p:nvPr>
            <p:ph idx="2" type="sldImg"/>
          </p:nvPr>
        </p:nvSpPr>
        <p:spPr>
          <a:xfrm>
            <a:off x="961150" y="243350"/>
            <a:ext cx="3844200" cy="12168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30" name="Shape 23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1" name="Google Shape;231;g3220fd27c11_5_113:notes"/>
          <p:cNvSpPr txBox="1"/>
          <p:nvPr>
            <p:ph idx="1" type="body"/>
          </p:nvPr>
        </p:nvSpPr>
        <p:spPr>
          <a:xfrm>
            <a:off x="576575" y="1541300"/>
            <a:ext cx="4612500" cy="1460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  <p:sp>
        <p:nvSpPr>
          <p:cNvPr id="232" name="Google Shape;232;g3220fd27c11_5_113:notes"/>
          <p:cNvSpPr/>
          <p:nvPr>
            <p:ph idx="2" type="sldImg"/>
          </p:nvPr>
        </p:nvSpPr>
        <p:spPr>
          <a:xfrm>
            <a:off x="961150" y="243350"/>
            <a:ext cx="3844200" cy="12168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36" name="Shape 23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7" name="Google Shape;237;g3220fd27c11_5_87:notes"/>
          <p:cNvSpPr txBox="1"/>
          <p:nvPr>
            <p:ph idx="1" type="body"/>
          </p:nvPr>
        </p:nvSpPr>
        <p:spPr>
          <a:xfrm>
            <a:off x="576575" y="1541300"/>
            <a:ext cx="4612500" cy="1460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  <p:sp>
        <p:nvSpPr>
          <p:cNvPr id="238" name="Google Shape;238;g3220fd27c11_5_87:notes"/>
          <p:cNvSpPr/>
          <p:nvPr>
            <p:ph idx="2" type="sldImg"/>
          </p:nvPr>
        </p:nvSpPr>
        <p:spPr>
          <a:xfrm>
            <a:off x="961150" y="243350"/>
            <a:ext cx="3844200" cy="12168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44" name="Shape 2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5" name="Google Shape;245;g3220fd27c11_0_0:notes"/>
          <p:cNvSpPr txBox="1"/>
          <p:nvPr>
            <p:ph idx="1" type="body"/>
          </p:nvPr>
        </p:nvSpPr>
        <p:spPr>
          <a:xfrm>
            <a:off x="576575" y="1541300"/>
            <a:ext cx="4612500" cy="1460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  <p:sp>
        <p:nvSpPr>
          <p:cNvPr id="246" name="Google Shape;246;g3220fd27c11_0_0:notes"/>
          <p:cNvSpPr/>
          <p:nvPr>
            <p:ph idx="2" type="sldImg"/>
          </p:nvPr>
        </p:nvSpPr>
        <p:spPr>
          <a:xfrm>
            <a:off x="961150" y="243350"/>
            <a:ext cx="3844200" cy="12168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52" name="Shape 25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3" name="Google Shape;253;g3534be74e08_0_25:notes"/>
          <p:cNvSpPr txBox="1"/>
          <p:nvPr>
            <p:ph idx="1" type="body"/>
          </p:nvPr>
        </p:nvSpPr>
        <p:spPr>
          <a:xfrm>
            <a:off x="576575" y="1541300"/>
            <a:ext cx="4612500" cy="1460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  <p:sp>
        <p:nvSpPr>
          <p:cNvPr id="254" name="Google Shape;254;g3534be74e08_0_25:notes"/>
          <p:cNvSpPr/>
          <p:nvPr>
            <p:ph idx="2" type="sldImg"/>
          </p:nvPr>
        </p:nvSpPr>
        <p:spPr>
          <a:xfrm>
            <a:off x="961150" y="243350"/>
            <a:ext cx="3844200" cy="12168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2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60" name="Shape 26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1" name="Google Shape;261;g3220fd27c11_5_133:notes"/>
          <p:cNvSpPr txBox="1"/>
          <p:nvPr>
            <p:ph idx="1" type="body"/>
          </p:nvPr>
        </p:nvSpPr>
        <p:spPr>
          <a:xfrm>
            <a:off x="576575" y="1541300"/>
            <a:ext cx="4612500" cy="1460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  <p:sp>
        <p:nvSpPr>
          <p:cNvPr id="262" name="Google Shape;262;g3220fd27c11_5_133:notes"/>
          <p:cNvSpPr/>
          <p:nvPr>
            <p:ph idx="2" type="sldImg"/>
          </p:nvPr>
        </p:nvSpPr>
        <p:spPr>
          <a:xfrm>
            <a:off x="961150" y="243350"/>
            <a:ext cx="3844200" cy="12168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2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68" name="Shape 2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9" name="Google Shape;269;g3220fd27c11_5_143:notes"/>
          <p:cNvSpPr txBox="1"/>
          <p:nvPr>
            <p:ph idx="1" type="body"/>
          </p:nvPr>
        </p:nvSpPr>
        <p:spPr>
          <a:xfrm>
            <a:off x="576575" y="1541300"/>
            <a:ext cx="4612500" cy="1460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  <p:sp>
        <p:nvSpPr>
          <p:cNvPr id="270" name="Google Shape;270;g3220fd27c11_5_143:notes"/>
          <p:cNvSpPr/>
          <p:nvPr>
            <p:ph idx="2" type="sldImg"/>
          </p:nvPr>
        </p:nvSpPr>
        <p:spPr>
          <a:xfrm>
            <a:off x="961150" y="243350"/>
            <a:ext cx="3844200" cy="12168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2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76" name="Shape 27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7" name="Google Shape;277;g3534be74e08_0_32:notes"/>
          <p:cNvSpPr txBox="1"/>
          <p:nvPr>
            <p:ph idx="1" type="body"/>
          </p:nvPr>
        </p:nvSpPr>
        <p:spPr>
          <a:xfrm>
            <a:off x="576575" y="1541300"/>
            <a:ext cx="4612500" cy="1460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  <p:sp>
        <p:nvSpPr>
          <p:cNvPr id="278" name="Google Shape;278;g3534be74e08_0_32:notes"/>
          <p:cNvSpPr/>
          <p:nvPr>
            <p:ph idx="2" type="sldImg"/>
          </p:nvPr>
        </p:nvSpPr>
        <p:spPr>
          <a:xfrm>
            <a:off x="961150" y="243350"/>
            <a:ext cx="3844200" cy="12168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3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83" name="Shape 28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4" name="Google Shape;284;g3220fd27c11_5_165:notes"/>
          <p:cNvSpPr txBox="1"/>
          <p:nvPr>
            <p:ph idx="1" type="body"/>
          </p:nvPr>
        </p:nvSpPr>
        <p:spPr>
          <a:xfrm>
            <a:off x="576575" y="1541300"/>
            <a:ext cx="4612500" cy="1460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  <p:sp>
        <p:nvSpPr>
          <p:cNvPr id="285" name="Google Shape;285;g3220fd27c11_5_165:notes"/>
          <p:cNvSpPr/>
          <p:nvPr>
            <p:ph idx="2" type="sldImg"/>
          </p:nvPr>
        </p:nvSpPr>
        <p:spPr>
          <a:xfrm>
            <a:off x="961150" y="243350"/>
            <a:ext cx="3844200" cy="12168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3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02" name="Shape 30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3" name="Google Shape;303;g3220fd27c11_5_156:notes"/>
          <p:cNvSpPr txBox="1"/>
          <p:nvPr>
            <p:ph idx="1" type="body"/>
          </p:nvPr>
        </p:nvSpPr>
        <p:spPr>
          <a:xfrm>
            <a:off x="576575" y="1541300"/>
            <a:ext cx="4612500" cy="1460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  <p:sp>
        <p:nvSpPr>
          <p:cNvPr id="304" name="Google Shape;304;g3220fd27c11_5_156:notes"/>
          <p:cNvSpPr/>
          <p:nvPr>
            <p:ph idx="2" type="sldImg"/>
          </p:nvPr>
        </p:nvSpPr>
        <p:spPr>
          <a:xfrm>
            <a:off x="961150" y="243350"/>
            <a:ext cx="3844200" cy="12168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3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10" name="Shape 31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1" name="Google Shape;311;g3220fd27c11_5_186:notes"/>
          <p:cNvSpPr txBox="1"/>
          <p:nvPr>
            <p:ph idx="1" type="body"/>
          </p:nvPr>
        </p:nvSpPr>
        <p:spPr>
          <a:xfrm>
            <a:off x="576575" y="1541300"/>
            <a:ext cx="4612500" cy="1460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  <p:sp>
        <p:nvSpPr>
          <p:cNvPr id="312" name="Google Shape;312;g3220fd27c11_5_186:notes"/>
          <p:cNvSpPr/>
          <p:nvPr>
            <p:ph idx="2" type="sldImg"/>
          </p:nvPr>
        </p:nvSpPr>
        <p:spPr>
          <a:xfrm>
            <a:off x="961150" y="243350"/>
            <a:ext cx="3844200" cy="12168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3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29" name="Shape 32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0" name="Google Shape;330;p8:notes"/>
          <p:cNvSpPr txBox="1"/>
          <p:nvPr>
            <p:ph idx="1" type="body"/>
          </p:nvPr>
        </p:nvSpPr>
        <p:spPr>
          <a:xfrm>
            <a:off x="576575" y="1541300"/>
            <a:ext cx="4612625" cy="1460175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  <p:sp>
        <p:nvSpPr>
          <p:cNvPr id="331" name="Google Shape;331;p8:notes"/>
          <p:cNvSpPr/>
          <p:nvPr>
            <p:ph idx="2" type="sldImg"/>
          </p:nvPr>
        </p:nvSpPr>
        <p:spPr>
          <a:xfrm>
            <a:off x="961150" y="243350"/>
            <a:ext cx="3844050" cy="12168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3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42" name="Shape 34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3" name="Google Shape;343;g3220fd27c11_5_208:notes"/>
          <p:cNvSpPr txBox="1"/>
          <p:nvPr>
            <p:ph idx="1" type="body"/>
          </p:nvPr>
        </p:nvSpPr>
        <p:spPr>
          <a:xfrm>
            <a:off x="576575" y="1541300"/>
            <a:ext cx="4612500" cy="1460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  <p:sp>
        <p:nvSpPr>
          <p:cNvPr id="344" name="Google Shape;344;g3220fd27c11_5_208:notes"/>
          <p:cNvSpPr/>
          <p:nvPr>
            <p:ph idx="2" type="sldImg"/>
          </p:nvPr>
        </p:nvSpPr>
        <p:spPr>
          <a:xfrm>
            <a:off x="961150" y="243350"/>
            <a:ext cx="3844200" cy="12168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3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51" name="Shape 35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2" name="Google Shape;352;p10:notes"/>
          <p:cNvSpPr txBox="1"/>
          <p:nvPr>
            <p:ph idx="1" type="body"/>
          </p:nvPr>
        </p:nvSpPr>
        <p:spPr>
          <a:xfrm>
            <a:off x="576575" y="1541300"/>
            <a:ext cx="4612625" cy="1460175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  <p:sp>
        <p:nvSpPr>
          <p:cNvPr id="353" name="Google Shape;353;p10:notes"/>
          <p:cNvSpPr/>
          <p:nvPr>
            <p:ph idx="2" type="sldImg"/>
          </p:nvPr>
        </p:nvSpPr>
        <p:spPr>
          <a:xfrm>
            <a:off x="961150" y="243350"/>
            <a:ext cx="3844050" cy="12168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3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58" name="Shape 35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9" name="Google Shape;359;p4:notes"/>
          <p:cNvSpPr txBox="1"/>
          <p:nvPr>
            <p:ph idx="1" type="body"/>
          </p:nvPr>
        </p:nvSpPr>
        <p:spPr>
          <a:xfrm>
            <a:off x="576575" y="1541300"/>
            <a:ext cx="4612625" cy="1460175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  <p:sp>
        <p:nvSpPr>
          <p:cNvPr id="360" name="Google Shape;360;p4:notes"/>
          <p:cNvSpPr/>
          <p:nvPr>
            <p:ph idx="2" type="sldImg"/>
          </p:nvPr>
        </p:nvSpPr>
        <p:spPr>
          <a:xfrm>
            <a:off x="961150" y="243350"/>
            <a:ext cx="3844050" cy="12168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3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67" name="Shape 36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8" name="Google Shape;368;p5:notes"/>
          <p:cNvSpPr txBox="1"/>
          <p:nvPr>
            <p:ph idx="1" type="body"/>
          </p:nvPr>
        </p:nvSpPr>
        <p:spPr>
          <a:xfrm>
            <a:off x="576575" y="1541300"/>
            <a:ext cx="4612625" cy="1460175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  <p:sp>
        <p:nvSpPr>
          <p:cNvPr id="369" name="Google Shape;369;p5:notes"/>
          <p:cNvSpPr/>
          <p:nvPr>
            <p:ph idx="2" type="sldImg"/>
          </p:nvPr>
        </p:nvSpPr>
        <p:spPr>
          <a:xfrm>
            <a:off x="961150" y="243350"/>
            <a:ext cx="3844050" cy="12168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3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77" name="Shape 37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8" name="Google Shape;378;g3534be74e08_0_47:notes"/>
          <p:cNvSpPr txBox="1"/>
          <p:nvPr>
            <p:ph idx="1" type="body"/>
          </p:nvPr>
        </p:nvSpPr>
        <p:spPr>
          <a:xfrm>
            <a:off x="576575" y="1541300"/>
            <a:ext cx="4612500" cy="1460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  <p:sp>
        <p:nvSpPr>
          <p:cNvPr id="379" name="Google Shape;379;g3534be74e08_0_47:notes"/>
          <p:cNvSpPr/>
          <p:nvPr>
            <p:ph idx="2" type="sldImg"/>
          </p:nvPr>
        </p:nvSpPr>
        <p:spPr>
          <a:xfrm>
            <a:off x="961150" y="243350"/>
            <a:ext cx="3844200" cy="12168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3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86" name="Shape 38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7" name="Google Shape;387;g3220fd27c11_5_351:notes"/>
          <p:cNvSpPr txBox="1"/>
          <p:nvPr>
            <p:ph idx="1" type="body"/>
          </p:nvPr>
        </p:nvSpPr>
        <p:spPr>
          <a:xfrm>
            <a:off x="576575" y="1541300"/>
            <a:ext cx="4612500" cy="1460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  <p:sp>
        <p:nvSpPr>
          <p:cNvPr id="388" name="Google Shape;388;g3220fd27c11_5_351:notes"/>
          <p:cNvSpPr/>
          <p:nvPr>
            <p:ph idx="2" type="sldImg"/>
          </p:nvPr>
        </p:nvSpPr>
        <p:spPr>
          <a:xfrm>
            <a:off x="961150" y="243350"/>
            <a:ext cx="3844200" cy="12168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4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94" name="Shape 39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5" name="Google Shape;395;g3220fd27c11_5_298:notes"/>
          <p:cNvSpPr txBox="1"/>
          <p:nvPr>
            <p:ph idx="1" type="body"/>
          </p:nvPr>
        </p:nvSpPr>
        <p:spPr>
          <a:xfrm>
            <a:off x="576575" y="1541300"/>
            <a:ext cx="4612500" cy="1460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  <p:sp>
        <p:nvSpPr>
          <p:cNvPr id="396" name="Google Shape;396;g3220fd27c11_5_298:notes"/>
          <p:cNvSpPr/>
          <p:nvPr>
            <p:ph idx="2" type="sldImg"/>
          </p:nvPr>
        </p:nvSpPr>
        <p:spPr>
          <a:xfrm>
            <a:off x="961150" y="243350"/>
            <a:ext cx="3844200" cy="12168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4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02" name="Shape 40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3" name="Google Shape;403;p6:notes"/>
          <p:cNvSpPr txBox="1"/>
          <p:nvPr>
            <p:ph idx="1" type="body"/>
          </p:nvPr>
        </p:nvSpPr>
        <p:spPr>
          <a:xfrm>
            <a:off x="576575" y="1541300"/>
            <a:ext cx="4612625" cy="1460175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  <p:sp>
        <p:nvSpPr>
          <p:cNvPr id="404" name="Google Shape;404;p6:notes"/>
          <p:cNvSpPr/>
          <p:nvPr>
            <p:ph idx="2" type="sldImg"/>
          </p:nvPr>
        </p:nvSpPr>
        <p:spPr>
          <a:xfrm>
            <a:off x="961150" y="243350"/>
            <a:ext cx="3844050" cy="12168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4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12" name="Shape 41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3" name="Google Shape;413;g3220fd27c11_5_363:notes"/>
          <p:cNvSpPr txBox="1"/>
          <p:nvPr>
            <p:ph idx="1" type="body"/>
          </p:nvPr>
        </p:nvSpPr>
        <p:spPr>
          <a:xfrm>
            <a:off x="576575" y="1541300"/>
            <a:ext cx="4612500" cy="1460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  <p:sp>
        <p:nvSpPr>
          <p:cNvPr id="414" name="Google Shape;414;g3220fd27c11_5_363:notes"/>
          <p:cNvSpPr/>
          <p:nvPr>
            <p:ph idx="2" type="sldImg"/>
          </p:nvPr>
        </p:nvSpPr>
        <p:spPr>
          <a:xfrm>
            <a:off x="961150" y="243350"/>
            <a:ext cx="3844200" cy="12168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4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20" name="Shape 4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1" name="Google Shape;421;g3220fd27c11_5_311:notes"/>
          <p:cNvSpPr txBox="1"/>
          <p:nvPr>
            <p:ph idx="1" type="body"/>
          </p:nvPr>
        </p:nvSpPr>
        <p:spPr>
          <a:xfrm>
            <a:off x="576575" y="1541300"/>
            <a:ext cx="4612500" cy="1460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  <p:sp>
        <p:nvSpPr>
          <p:cNvPr id="422" name="Google Shape;422;g3220fd27c11_5_311:notes"/>
          <p:cNvSpPr/>
          <p:nvPr>
            <p:ph idx="2" type="sldImg"/>
          </p:nvPr>
        </p:nvSpPr>
        <p:spPr>
          <a:xfrm>
            <a:off x="961150" y="243350"/>
            <a:ext cx="3844200" cy="12168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4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28" name="Shape 4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9" name="Google Shape;429;g3220fd27c11_5_334:notes"/>
          <p:cNvSpPr txBox="1"/>
          <p:nvPr>
            <p:ph idx="1" type="body"/>
          </p:nvPr>
        </p:nvSpPr>
        <p:spPr>
          <a:xfrm>
            <a:off x="576575" y="1541300"/>
            <a:ext cx="4612500" cy="1460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  <p:sp>
        <p:nvSpPr>
          <p:cNvPr id="430" name="Google Shape;430;g3220fd27c11_5_334:notes"/>
          <p:cNvSpPr/>
          <p:nvPr>
            <p:ph idx="2" type="sldImg"/>
          </p:nvPr>
        </p:nvSpPr>
        <p:spPr>
          <a:xfrm>
            <a:off x="961150" y="243350"/>
            <a:ext cx="3844200" cy="12168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4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34" name="Shape 43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35" name="Google Shape;435;g32230ee4132_0_0:notes"/>
          <p:cNvSpPr txBox="1"/>
          <p:nvPr>
            <p:ph idx="1" type="body"/>
          </p:nvPr>
        </p:nvSpPr>
        <p:spPr>
          <a:xfrm>
            <a:off x="576575" y="1541300"/>
            <a:ext cx="4612500" cy="1460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  <p:sp>
        <p:nvSpPr>
          <p:cNvPr id="436" name="Google Shape;436;g32230ee4132_0_0:notes"/>
          <p:cNvSpPr/>
          <p:nvPr>
            <p:ph idx="2" type="sldImg"/>
          </p:nvPr>
        </p:nvSpPr>
        <p:spPr>
          <a:xfrm>
            <a:off x="961150" y="243350"/>
            <a:ext cx="3844200" cy="12168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4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42" name="Shape 44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43" name="Google Shape;443;g35359bad66d_0_1:notes"/>
          <p:cNvSpPr txBox="1"/>
          <p:nvPr>
            <p:ph idx="1" type="body"/>
          </p:nvPr>
        </p:nvSpPr>
        <p:spPr>
          <a:xfrm>
            <a:off x="576575" y="1541300"/>
            <a:ext cx="4612500" cy="1460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  <p:sp>
        <p:nvSpPr>
          <p:cNvPr id="444" name="Google Shape;444;g35359bad66d_0_1:notes"/>
          <p:cNvSpPr/>
          <p:nvPr>
            <p:ph idx="2" type="sldImg"/>
          </p:nvPr>
        </p:nvSpPr>
        <p:spPr>
          <a:xfrm>
            <a:off x="961150" y="243350"/>
            <a:ext cx="3844200" cy="12168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4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50" name="Shape 4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1" name="Google Shape;451;g3220fd27c11_5_324:notes"/>
          <p:cNvSpPr txBox="1"/>
          <p:nvPr>
            <p:ph idx="1" type="body"/>
          </p:nvPr>
        </p:nvSpPr>
        <p:spPr>
          <a:xfrm>
            <a:off x="576575" y="1541300"/>
            <a:ext cx="4612500" cy="1460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  <p:sp>
        <p:nvSpPr>
          <p:cNvPr id="452" name="Google Shape;452;g3220fd27c11_5_324:notes"/>
          <p:cNvSpPr/>
          <p:nvPr>
            <p:ph idx="2" type="sldImg"/>
          </p:nvPr>
        </p:nvSpPr>
        <p:spPr>
          <a:xfrm>
            <a:off x="961150" y="243350"/>
            <a:ext cx="3844200" cy="12168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4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59" name="Shape 45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0" name="Google Shape;460;p7:notes"/>
          <p:cNvSpPr txBox="1"/>
          <p:nvPr>
            <p:ph idx="1" type="body"/>
          </p:nvPr>
        </p:nvSpPr>
        <p:spPr>
          <a:xfrm>
            <a:off x="576575" y="1541300"/>
            <a:ext cx="4612625" cy="1460175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  <p:sp>
        <p:nvSpPr>
          <p:cNvPr id="461" name="Google Shape;461;p7:notes"/>
          <p:cNvSpPr/>
          <p:nvPr>
            <p:ph idx="2" type="sldImg"/>
          </p:nvPr>
        </p:nvSpPr>
        <p:spPr>
          <a:xfrm>
            <a:off x="961150" y="243350"/>
            <a:ext cx="3844050" cy="12168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4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66" name="Shape 46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7" name="Google Shape;467;g3534be74e08_0_58:notes"/>
          <p:cNvSpPr txBox="1"/>
          <p:nvPr>
            <p:ph idx="1" type="body"/>
          </p:nvPr>
        </p:nvSpPr>
        <p:spPr>
          <a:xfrm>
            <a:off x="576575" y="1541300"/>
            <a:ext cx="4612500" cy="1460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  <p:sp>
        <p:nvSpPr>
          <p:cNvPr id="468" name="Google Shape;468;g3534be74e08_0_58:notes"/>
          <p:cNvSpPr/>
          <p:nvPr>
            <p:ph idx="2" type="sldImg"/>
          </p:nvPr>
        </p:nvSpPr>
        <p:spPr>
          <a:xfrm>
            <a:off x="961150" y="243350"/>
            <a:ext cx="3844200" cy="12168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5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75" name="Shape 47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76" name="Google Shape;476;g3220fd27c11_5_412:notes"/>
          <p:cNvSpPr txBox="1"/>
          <p:nvPr>
            <p:ph idx="1" type="body"/>
          </p:nvPr>
        </p:nvSpPr>
        <p:spPr>
          <a:xfrm>
            <a:off x="576575" y="1541300"/>
            <a:ext cx="4612500" cy="1460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  <p:sp>
        <p:nvSpPr>
          <p:cNvPr id="477" name="Google Shape;477;g3220fd27c11_5_412:notes"/>
          <p:cNvSpPr/>
          <p:nvPr>
            <p:ph idx="2" type="sldImg"/>
          </p:nvPr>
        </p:nvSpPr>
        <p:spPr>
          <a:xfrm>
            <a:off x="1801813" y="242888"/>
            <a:ext cx="2162175" cy="1217612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5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84" name="Shape 48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85" name="Google Shape;485;g35359bad66d_0_8:notes"/>
          <p:cNvSpPr txBox="1"/>
          <p:nvPr>
            <p:ph idx="1" type="body"/>
          </p:nvPr>
        </p:nvSpPr>
        <p:spPr>
          <a:xfrm>
            <a:off x="576575" y="1541300"/>
            <a:ext cx="4612500" cy="1460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  <p:sp>
        <p:nvSpPr>
          <p:cNvPr id="486" name="Google Shape;486;g35359bad66d_0_8:notes"/>
          <p:cNvSpPr/>
          <p:nvPr>
            <p:ph idx="2" type="sldImg"/>
          </p:nvPr>
        </p:nvSpPr>
        <p:spPr>
          <a:xfrm>
            <a:off x="1801813" y="242888"/>
            <a:ext cx="2162175" cy="1217612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5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91" name="Shape 49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2" name="Google Shape;492;p11:notes"/>
          <p:cNvSpPr txBox="1"/>
          <p:nvPr>
            <p:ph idx="1" type="body"/>
          </p:nvPr>
        </p:nvSpPr>
        <p:spPr>
          <a:xfrm>
            <a:off x="576575" y="1541300"/>
            <a:ext cx="4612625" cy="1460175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  <p:sp>
        <p:nvSpPr>
          <p:cNvPr id="493" name="Google Shape;493;p11:notes"/>
          <p:cNvSpPr/>
          <p:nvPr>
            <p:ph idx="2" type="sldImg"/>
          </p:nvPr>
        </p:nvSpPr>
        <p:spPr>
          <a:xfrm>
            <a:off x="1801813" y="242888"/>
            <a:ext cx="2162175" cy="1217612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5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00" name="Shape 50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1" name="Google Shape;501;g377a08ae626_1_0:notes"/>
          <p:cNvSpPr/>
          <p:nvPr>
            <p:ph idx="2" type="sldImg"/>
          </p:nvPr>
        </p:nvSpPr>
        <p:spPr>
          <a:xfrm>
            <a:off x="961150" y="243350"/>
            <a:ext cx="3844200" cy="12168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502" name="Google Shape;502;g377a08ae626_1_0:notes"/>
          <p:cNvSpPr txBox="1"/>
          <p:nvPr>
            <p:ph idx="1" type="body"/>
          </p:nvPr>
        </p:nvSpPr>
        <p:spPr>
          <a:xfrm>
            <a:off x="576575" y="1541300"/>
            <a:ext cx="4612500" cy="1460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5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06" name="Shape 50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7" name="Google Shape;507;g3220fd27c11_5_233:notes"/>
          <p:cNvSpPr txBox="1"/>
          <p:nvPr>
            <p:ph idx="1" type="body"/>
          </p:nvPr>
        </p:nvSpPr>
        <p:spPr>
          <a:xfrm>
            <a:off x="576575" y="1541300"/>
            <a:ext cx="4612500" cy="1460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  <p:sp>
        <p:nvSpPr>
          <p:cNvPr id="508" name="Google Shape;508;g3220fd27c11_5_233:notes"/>
          <p:cNvSpPr/>
          <p:nvPr>
            <p:ph idx="2" type="sldImg"/>
          </p:nvPr>
        </p:nvSpPr>
        <p:spPr>
          <a:xfrm>
            <a:off x="961150" y="243350"/>
            <a:ext cx="3844200" cy="12168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5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12" name="Shape 51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3" name="Google Shape;513;g3220fd27c11_5_258:notes"/>
          <p:cNvSpPr txBox="1"/>
          <p:nvPr>
            <p:ph idx="1" type="body"/>
          </p:nvPr>
        </p:nvSpPr>
        <p:spPr>
          <a:xfrm>
            <a:off x="576575" y="1541300"/>
            <a:ext cx="4612500" cy="1460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  <p:sp>
        <p:nvSpPr>
          <p:cNvPr id="514" name="Google Shape;514;g3220fd27c11_5_258:notes"/>
          <p:cNvSpPr/>
          <p:nvPr>
            <p:ph idx="2" type="sldImg"/>
          </p:nvPr>
        </p:nvSpPr>
        <p:spPr>
          <a:xfrm>
            <a:off x="961150" y="243350"/>
            <a:ext cx="3844200" cy="12168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5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19" name="Shape 51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20" name="Google Shape;520;g3220fd27c11_5_268:notes"/>
          <p:cNvSpPr txBox="1"/>
          <p:nvPr>
            <p:ph idx="1" type="body"/>
          </p:nvPr>
        </p:nvSpPr>
        <p:spPr>
          <a:xfrm>
            <a:off x="576575" y="1541300"/>
            <a:ext cx="4612500" cy="1460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  <p:sp>
        <p:nvSpPr>
          <p:cNvPr id="521" name="Google Shape;521;g3220fd27c11_5_268:notes"/>
          <p:cNvSpPr/>
          <p:nvPr>
            <p:ph idx="2" type="sldImg"/>
          </p:nvPr>
        </p:nvSpPr>
        <p:spPr>
          <a:xfrm>
            <a:off x="961150" y="243350"/>
            <a:ext cx="3844200" cy="12168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5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27" name="Shape 5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28" name="Google Shape;528;g3220fd27c11_5_251:notes"/>
          <p:cNvSpPr txBox="1"/>
          <p:nvPr>
            <p:ph idx="1" type="body"/>
          </p:nvPr>
        </p:nvSpPr>
        <p:spPr>
          <a:xfrm>
            <a:off x="576575" y="1541300"/>
            <a:ext cx="4612500" cy="1460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  <p:sp>
        <p:nvSpPr>
          <p:cNvPr id="529" name="Google Shape;529;g3220fd27c11_5_251:notes"/>
          <p:cNvSpPr/>
          <p:nvPr>
            <p:ph idx="2" type="sldImg"/>
          </p:nvPr>
        </p:nvSpPr>
        <p:spPr>
          <a:xfrm>
            <a:off x="961150" y="243350"/>
            <a:ext cx="3844200" cy="12168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5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33" name="Shape 5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34" name="Google Shape;534;p28:notes"/>
          <p:cNvSpPr txBox="1"/>
          <p:nvPr>
            <p:ph idx="1" type="body"/>
          </p:nvPr>
        </p:nvSpPr>
        <p:spPr>
          <a:xfrm>
            <a:off x="576575" y="1541300"/>
            <a:ext cx="4612625" cy="1460175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  <p:sp>
        <p:nvSpPr>
          <p:cNvPr id="535" name="Google Shape;535;p28:notes"/>
          <p:cNvSpPr/>
          <p:nvPr>
            <p:ph idx="2" type="sldImg"/>
          </p:nvPr>
        </p:nvSpPr>
        <p:spPr>
          <a:xfrm>
            <a:off x="961150" y="243350"/>
            <a:ext cx="3844050" cy="12168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Content" type="obj">
  <p:cSld name="OBJECT">
    <p:spTree>
      <p:nvGrpSpPr>
        <p:cNvPr id="12" name="Shape 1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Google Shape;13;p30"/>
          <p:cNvSpPr txBox="1"/>
          <p:nvPr>
            <p:ph type="title"/>
          </p:nvPr>
        </p:nvSpPr>
        <p:spPr>
          <a:xfrm>
            <a:off x="737717" y="133858"/>
            <a:ext cx="4231005" cy="312292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700">
                <a:solidFill>
                  <a:srgbClr val="334669"/>
                </a:solidFill>
                <a:latin typeface="Tahoma"/>
                <a:ea typeface="Tahoma"/>
                <a:cs typeface="Tahoma"/>
                <a:sym typeface="Tahoma"/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4" name="Google Shape;14;p30"/>
          <p:cNvSpPr txBox="1"/>
          <p:nvPr>
            <p:ph idx="1" type="body"/>
          </p:nvPr>
        </p:nvSpPr>
        <p:spPr>
          <a:xfrm>
            <a:off x="249504" y="628650"/>
            <a:ext cx="5266791" cy="1161414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>
            <a:lvl1pPr indent="-228600" lvl="0" marL="4572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defRPr>
            </a:lvl1pPr>
            <a:lvl2pPr indent="-228600" lvl="1" marL="9144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indent="-228600" lvl="2" marL="1371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indent="-228600" lvl="3" marL="18288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indent="-228600" lvl="4" marL="22860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indent="-228600" lvl="5" marL="27432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indent="-228600" lvl="6" marL="32004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indent="-228600" lvl="7" marL="3657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indent="-228600" lvl="8" marL="41148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5" name="Google Shape;15;p30"/>
          <p:cNvSpPr txBox="1"/>
          <p:nvPr>
            <p:ph idx="11" type="ftr"/>
          </p:nvPr>
        </p:nvSpPr>
        <p:spPr>
          <a:xfrm>
            <a:off x="1960372" y="3017710"/>
            <a:ext cx="1845056" cy="162242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>
                <a:solidFill>
                  <a:srgbClr val="888888"/>
                </a:solidFill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6" name="Google Shape;16;p30"/>
          <p:cNvSpPr txBox="1"/>
          <p:nvPr>
            <p:ph idx="10" type="dt"/>
          </p:nvPr>
        </p:nvSpPr>
        <p:spPr>
          <a:xfrm>
            <a:off x="288290" y="3017710"/>
            <a:ext cx="1326134" cy="162242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>
                <a:solidFill>
                  <a:srgbClr val="888888"/>
                </a:solidFill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7" name="Google Shape;17;p30"/>
          <p:cNvSpPr txBox="1"/>
          <p:nvPr>
            <p:ph idx="12" type="sldNum"/>
          </p:nvPr>
        </p:nvSpPr>
        <p:spPr>
          <a:xfrm>
            <a:off x="5349494" y="3106281"/>
            <a:ext cx="245110" cy="11747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>
            <a:lvl1pPr indent="0" lvl="0" marL="57785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600"/>
              <a:buFont typeface="Arial"/>
              <a:buNone/>
              <a:defRPr b="0" i="0" sz="600" u="none" cap="none" strike="noStrike">
                <a:solidFill>
                  <a:srgbClr val="394660"/>
                </a:solidFill>
                <a:latin typeface="Tahoma"/>
                <a:ea typeface="Tahoma"/>
                <a:cs typeface="Tahoma"/>
                <a:sym typeface="Tahoma"/>
              </a:defRPr>
            </a:lvl1pPr>
            <a:lvl2pPr indent="0" lvl="1" marL="57785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600"/>
              <a:buFont typeface="Arial"/>
              <a:buNone/>
              <a:defRPr b="0" i="0" sz="600" u="none" cap="none" strike="noStrike">
                <a:solidFill>
                  <a:srgbClr val="394660"/>
                </a:solidFill>
                <a:latin typeface="Tahoma"/>
                <a:ea typeface="Tahoma"/>
                <a:cs typeface="Tahoma"/>
                <a:sym typeface="Tahoma"/>
              </a:defRPr>
            </a:lvl2pPr>
            <a:lvl3pPr indent="0" lvl="2" marL="57785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600"/>
              <a:buFont typeface="Arial"/>
              <a:buNone/>
              <a:defRPr b="0" i="0" sz="600" u="none" cap="none" strike="noStrike">
                <a:solidFill>
                  <a:srgbClr val="394660"/>
                </a:solidFill>
                <a:latin typeface="Tahoma"/>
                <a:ea typeface="Tahoma"/>
                <a:cs typeface="Tahoma"/>
                <a:sym typeface="Tahoma"/>
              </a:defRPr>
            </a:lvl3pPr>
            <a:lvl4pPr indent="0" lvl="3" marL="57785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600"/>
              <a:buFont typeface="Arial"/>
              <a:buNone/>
              <a:defRPr b="0" i="0" sz="600" u="none" cap="none" strike="noStrike">
                <a:solidFill>
                  <a:srgbClr val="394660"/>
                </a:solidFill>
                <a:latin typeface="Tahoma"/>
                <a:ea typeface="Tahoma"/>
                <a:cs typeface="Tahoma"/>
                <a:sym typeface="Tahoma"/>
              </a:defRPr>
            </a:lvl4pPr>
            <a:lvl5pPr indent="0" lvl="4" marL="57785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600"/>
              <a:buFont typeface="Arial"/>
              <a:buNone/>
              <a:defRPr b="0" i="0" sz="600" u="none" cap="none" strike="noStrike">
                <a:solidFill>
                  <a:srgbClr val="394660"/>
                </a:solidFill>
                <a:latin typeface="Tahoma"/>
                <a:ea typeface="Tahoma"/>
                <a:cs typeface="Tahoma"/>
                <a:sym typeface="Tahoma"/>
              </a:defRPr>
            </a:lvl5pPr>
            <a:lvl6pPr indent="0" lvl="5" marL="57785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600"/>
              <a:buFont typeface="Arial"/>
              <a:buNone/>
              <a:defRPr b="0" i="0" sz="600" u="none" cap="none" strike="noStrike">
                <a:solidFill>
                  <a:srgbClr val="394660"/>
                </a:solidFill>
                <a:latin typeface="Tahoma"/>
                <a:ea typeface="Tahoma"/>
                <a:cs typeface="Tahoma"/>
                <a:sym typeface="Tahoma"/>
              </a:defRPr>
            </a:lvl6pPr>
            <a:lvl7pPr indent="0" lvl="6" marL="57785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600"/>
              <a:buFont typeface="Arial"/>
              <a:buNone/>
              <a:defRPr b="0" i="0" sz="600" u="none" cap="none" strike="noStrike">
                <a:solidFill>
                  <a:srgbClr val="394660"/>
                </a:solidFill>
                <a:latin typeface="Tahoma"/>
                <a:ea typeface="Tahoma"/>
                <a:cs typeface="Tahoma"/>
                <a:sym typeface="Tahoma"/>
              </a:defRPr>
            </a:lvl7pPr>
            <a:lvl8pPr indent="0" lvl="7" marL="57785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600"/>
              <a:buFont typeface="Arial"/>
              <a:buNone/>
              <a:defRPr b="0" i="0" sz="600" u="none" cap="none" strike="noStrike">
                <a:solidFill>
                  <a:srgbClr val="394660"/>
                </a:solidFill>
                <a:latin typeface="Tahoma"/>
                <a:ea typeface="Tahoma"/>
                <a:cs typeface="Tahoma"/>
                <a:sym typeface="Tahoma"/>
              </a:defRPr>
            </a:lvl8pPr>
            <a:lvl9pPr indent="0" lvl="8" marL="57785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600"/>
              <a:buFont typeface="Arial"/>
              <a:buNone/>
              <a:defRPr b="0" i="0" sz="600" u="none" cap="none" strike="noStrike">
                <a:solidFill>
                  <a:srgbClr val="394660"/>
                </a:solidFill>
                <a:latin typeface="Tahoma"/>
                <a:ea typeface="Tahoma"/>
                <a:cs typeface="Tahoma"/>
                <a:sym typeface="Tahoma"/>
              </a:defRPr>
            </a:lvl9pPr>
          </a:lstStyle>
          <a:p>
            <a:pPr indent="0" lvl="0" marL="57785" rtl="0" algn="l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r>
              <a:rPr lang="en-US"/>
              <a:t>/23</a:t>
            </a:r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>
  <p:cSld name="Blank">
    <p:spTree>
      <p:nvGrpSpPr>
        <p:cNvPr id="18" name="Shape 1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" name="Google Shape;19;p31"/>
          <p:cNvSpPr txBox="1"/>
          <p:nvPr>
            <p:ph idx="11" type="ftr"/>
          </p:nvPr>
        </p:nvSpPr>
        <p:spPr>
          <a:xfrm>
            <a:off x="1960372" y="3017710"/>
            <a:ext cx="1845056" cy="162242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>
                <a:solidFill>
                  <a:srgbClr val="888888"/>
                </a:solidFill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0" name="Google Shape;20;p31"/>
          <p:cNvSpPr txBox="1"/>
          <p:nvPr>
            <p:ph idx="10" type="dt"/>
          </p:nvPr>
        </p:nvSpPr>
        <p:spPr>
          <a:xfrm>
            <a:off x="288290" y="3017710"/>
            <a:ext cx="1326134" cy="162242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>
                <a:solidFill>
                  <a:srgbClr val="888888"/>
                </a:solidFill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1" name="Google Shape;21;p31"/>
          <p:cNvSpPr txBox="1"/>
          <p:nvPr>
            <p:ph idx="12" type="sldNum"/>
          </p:nvPr>
        </p:nvSpPr>
        <p:spPr>
          <a:xfrm>
            <a:off x="5349494" y="3106281"/>
            <a:ext cx="245110" cy="11747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>
            <a:lvl1pPr indent="0" lvl="0" marL="57785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600"/>
              <a:buFont typeface="Arial"/>
              <a:buNone/>
              <a:defRPr b="0" i="0" sz="600" u="none" cap="none" strike="noStrike">
                <a:solidFill>
                  <a:srgbClr val="394660"/>
                </a:solidFill>
                <a:latin typeface="Tahoma"/>
                <a:ea typeface="Tahoma"/>
                <a:cs typeface="Tahoma"/>
                <a:sym typeface="Tahoma"/>
              </a:defRPr>
            </a:lvl1pPr>
            <a:lvl2pPr indent="0" lvl="1" marL="57785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600"/>
              <a:buFont typeface="Arial"/>
              <a:buNone/>
              <a:defRPr b="0" i="0" sz="600" u="none" cap="none" strike="noStrike">
                <a:solidFill>
                  <a:srgbClr val="394660"/>
                </a:solidFill>
                <a:latin typeface="Tahoma"/>
                <a:ea typeface="Tahoma"/>
                <a:cs typeface="Tahoma"/>
                <a:sym typeface="Tahoma"/>
              </a:defRPr>
            </a:lvl2pPr>
            <a:lvl3pPr indent="0" lvl="2" marL="57785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600"/>
              <a:buFont typeface="Arial"/>
              <a:buNone/>
              <a:defRPr b="0" i="0" sz="600" u="none" cap="none" strike="noStrike">
                <a:solidFill>
                  <a:srgbClr val="394660"/>
                </a:solidFill>
                <a:latin typeface="Tahoma"/>
                <a:ea typeface="Tahoma"/>
                <a:cs typeface="Tahoma"/>
                <a:sym typeface="Tahoma"/>
              </a:defRPr>
            </a:lvl3pPr>
            <a:lvl4pPr indent="0" lvl="3" marL="57785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600"/>
              <a:buFont typeface="Arial"/>
              <a:buNone/>
              <a:defRPr b="0" i="0" sz="600" u="none" cap="none" strike="noStrike">
                <a:solidFill>
                  <a:srgbClr val="394660"/>
                </a:solidFill>
                <a:latin typeface="Tahoma"/>
                <a:ea typeface="Tahoma"/>
                <a:cs typeface="Tahoma"/>
                <a:sym typeface="Tahoma"/>
              </a:defRPr>
            </a:lvl4pPr>
            <a:lvl5pPr indent="0" lvl="4" marL="57785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600"/>
              <a:buFont typeface="Arial"/>
              <a:buNone/>
              <a:defRPr b="0" i="0" sz="600" u="none" cap="none" strike="noStrike">
                <a:solidFill>
                  <a:srgbClr val="394660"/>
                </a:solidFill>
                <a:latin typeface="Tahoma"/>
                <a:ea typeface="Tahoma"/>
                <a:cs typeface="Tahoma"/>
                <a:sym typeface="Tahoma"/>
              </a:defRPr>
            </a:lvl5pPr>
            <a:lvl6pPr indent="0" lvl="5" marL="57785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600"/>
              <a:buFont typeface="Arial"/>
              <a:buNone/>
              <a:defRPr b="0" i="0" sz="600" u="none" cap="none" strike="noStrike">
                <a:solidFill>
                  <a:srgbClr val="394660"/>
                </a:solidFill>
                <a:latin typeface="Tahoma"/>
                <a:ea typeface="Tahoma"/>
                <a:cs typeface="Tahoma"/>
                <a:sym typeface="Tahoma"/>
              </a:defRPr>
            </a:lvl6pPr>
            <a:lvl7pPr indent="0" lvl="6" marL="57785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600"/>
              <a:buFont typeface="Arial"/>
              <a:buNone/>
              <a:defRPr b="0" i="0" sz="600" u="none" cap="none" strike="noStrike">
                <a:solidFill>
                  <a:srgbClr val="394660"/>
                </a:solidFill>
                <a:latin typeface="Tahoma"/>
                <a:ea typeface="Tahoma"/>
                <a:cs typeface="Tahoma"/>
                <a:sym typeface="Tahoma"/>
              </a:defRPr>
            </a:lvl7pPr>
            <a:lvl8pPr indent="0" lvl="7" marL="57785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600"/>
              <a:buFont typeface="Arial"/>
              <a:buNone/>
              <a:defRPr b="0" i="0" sz="600" u="none" cap="none" strike="noStrike">
                <a:solidFill>
                  <a:srgbClr val="394660"/>
                </a:solidFill>
                <a:latin typeface="Tahoma"/>
                <a:ea typeface="Tahoma"/>
                <a:cs typeface="Tahoma"/>
                <a:sym typeface="Tahoma"/>
              </a:defRPr>
            </a:lvl8pPr>
            <a:lvl9pPr indent="0" lvl="8" marL="57785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600"/>
              <a:buFont typeface="Arial"/>
              <a:buNone/>
              <a:defRPr b="0" i="0" sz="600" u="none" cap="none" strike="noStrike">
                <a:solidFill>
                  <a:srgbClr val="394660"/>
                </a:solidFill>
                <a:latin typeface="Tahoma"/>
                <a:ea typeface="Tahoma"/>
                <a:cs typeface="Tahoma"/>
                <a:sym typeface="Tahoma"/>
              </a:defRPr>
            </a:lvl9pPr>
          </a:lstStyle>
          <a:p>
            <a:pPr indent="0" lvl="0" marL="57785" rtl="0" algn="l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r>
              <a:rPr lang="en-US"/>
              <a:t>/23</a:t>
            </a:r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>
  <p:cSld name="Title Slide">
    <p:spTree>
      <p:nvGrpSpPr>
        <p:cNvPr id="22" name="Shape 2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" name="Google Shape;23;p32"/>
          <p:cNvSpPr txBox="1"/>
          <p:nvPr>
            <p:ph type="ctrTitle"/>
          </p:nvPr>
        </p:nvSpPr>
        <p:spPr>
          <a:xfrm>
            <a:off x="1434846" y="161036"/>
            <a:ext cx="2867025" cy="28511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700">
                <a:solidFill>
                  <a:srgbClr val="334669"/>
                </a:solidFill>
                <a:latin typeface="Tahoma"/>
                <a:ea typeface="Tahoma"/>
                <a:cs typeface="Tahoma"/>
                <a:sym typeface="Tahoma"/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4" name="Google Shape;24;p32"/>
          <p:cNvSpPr txBox="1"/>
          <p:nvPr>
            <p:ph idx="1" type="subTitle"/>
          </p:nvPr>
        </p:nvSpPr>
        <p:spPr>
          <a:xfrm>
            <a:off x="86664" y="2450693"/>
            <a:ext cx="4694555" cy="647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5" name="Google Shape;25;p32"/>
          <p:cNvSpPr txBox="1"/>
          <p:nvPr>
            <p:ph idx="11" type="ftr"/>
          </p:nvPr>
        </p:nvSpPr>
        <p:spPr>
          <a:xfrm>
            <a:off x="1960372" y="3017710"/>
            <a:ext cx="1845056" cy="162242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>
                <a:solidFill>
                  <a:srgbClr val="888888"/>
                </a:solidFill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6" name="Google Shape;26;p32"/>
          <p:cNvSpPr txBox="1"/>
          <p:nvPr>
            <p:ph idx="10" type="dt"/>
          </p:nvPr>
        </p:nvSpPr>
        <p:spPr>
          <a:xfrm>
            <a:off x="288290" y="3017710"/>
            <a:ext cx="1326134" cy="162242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>
                <a:solidFill>
                  <a:srgbClr val="888888"/>
                </a:solidFill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7" name="Google Shape;27;p32"/>
          <p:cNvSpPr txBox="1"/>
          <p:nvPr>
            <p:ph idx="12" type="sldNum"/>
          </p:nvPr>
        </p:nvSpPr>
        <p:spPr>
          <a:xfrm>
            <a:off x="5349494" y="3106281"/>
            <a:ext cx="245110" cy="11747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>
            <a:lvl1pPr indent="0" lvl="0" marL="57785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600"/>
              <a:buFont typeface="Arial"/>
              <a:buNone/>
              <a:defRPr b="0" i="0" sz="600" u="none" cap="none" strike="noStrike">
                <a:solidFill>
                  <a:srgbClr val="394660"/>
                </a:solidFill>
                <a:latin typeface="Tahoma"/>
                <a:ea typeface="Tahoma"/>
                <a:cs typeface="Tahoma"/>
                <a:sym typeface="Tahoma"/>
              </a:defRPr>
            </a:lvl1pPr>
            <a:lvl2pPr indent="0" lvl="1" marL="57785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600"/>
              <a:buFont typeface="Arial"/>
              <a:buNone/>
              <a:defRPr b="0" i="0" sz="600" u="none" cap="none" strike="noStrike">
                <a:solidFill>
                  <a:srgbClr val="394660"/>
                </a:solidFill>
                <a:latin typeface="Tahoma"/>
                <a:ea typeface="Tahoma"/>
                <a:cs typeface="Tahoma"/>
                <a:sym typeface="Tahoma"/>
              </a:defRPr>
            </a:lvl2pPr>
            <a:lvl3pPr indent="0" lvl="2" marL="57785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600"/>
              <a:buFont typeface="Arial"/>
              <a:buNone/>
              <a:defRPr b="0" i="0" sz="600" u="none" cap="none" strike="noStrike">
                <a:solidFill>
                  <a:srgbClr val="394660"/>
                </a:solidFill>
                <a:latin typeface="Tahoma"/>
                <a:ea typeface="Tahoma"/>
                <a:cs typeface="Tahoma"/>
                <a:sym typeface="Tahoma"/>
              </a:defRPr>
            </a:lvl3pPr>
            <a:lvl4pPr indent="0" lvl="3" marL="57785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600"/>
              <a:buFont typeface="Arial"/>
              <a:buNone/>
              <a:defRPr b="0" i="0" sz="600" u="none" cap="none" strike="noStrike">
                <a:solidFill>
                  <a:srgbClr val="394660"/>
                </a:solidFill>
                <a:latin typeface="Tahoma"/>
                <a:ea typeface="Tahoma"/>
                <a:cs typeface="Tahoma"/>
                <a:sym typeface="Tahoma"/>
              </a:defRPr>
            </a:lvl4pPr>
            <a:lvl5pPr indent="0" lvl="4" marL="57785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600"/>
              <a:buFont typeface="Arial"/>
              <a:buNone/>
              <a:defRPr b="0" i="0" sz="600" u="none" cap="none" strike="noStrike">
                <a:solidFill>
                  <a:srgbClr val="394660"/>
                </a:solidFill>
                <a:latin typeface="Tahoma"/>
                <a:ea typeface="Tahoma"/>
                <a:cs typeface="Tahoma"/>
                <a:sym typeface="Tahoma"/>
              </a:defRPr>
            </a:lvl5pPr>
            <a:lvl6pPr indent="0" lvl="5" marL="57785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600"/>
              <a:buFont typeface="Arial"/>
              <a:buNone/>
              <a:defRPr b="0" i="0" sz="600" u="none" cap="none" strike="noStrike">
                <a:solidFill>
                  <a:srgbClr val="394660"/>
                </a:solidFill>
                <a:latin typeface="Tahoma"/>
                <a:ea typeface="Tahoma"/>
                <a:cs typeface="Tahoma"/>
                <a:sym typeface="Tahoma"/>
              </a:defRPr>
            </a:lvl6pPr>
            <a:lvl7pPr indent="0" lvl="6" marL="57785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600"/>
              <a:buFont typeface="Arial"/>
              <a:buNone/>
              <a:defRPr b="0" i="0" sz="600" u="none" cap="none" strike="noStrike">
                <a:solidFill>
                  <a:srgbClr val="394660"/>
                </a:solidFill>
                <a:latin typeface="Tahoma"/>
                <a:ea typeface="Tahoma"/>
                <a:cs typeface="Tahoma"/>
                <a:sym typeface="Tahoma"/>
              </a:defRPr>
            </a:lvl7pPr>
            <a:lvl8pPr indent="0" lvl="7" marL="57785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600"/>
              <a:buFont typeface="Arial"/>
              <a:buNone/>
              <a:defRPr b="0" i="0" sz="600" u="none" cap="none" strike="noStrike">
                <a:solidFill>
                  <a:srgbClr val="394660"/>
                </a:solidFill>
                <a:latin typeface="Tahoma"/>
                <a:ea typeface="Tahoma"/>
                <a:cs typeface="Tahoma"/>
                <a:sym typeface="Tahoma"/>
              </a:defRPr>
            </a:lvl8pPr>
            <a:lvl9pPr indent="0" lvl="8" marL="57785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600"/>
              <a:buFont typeface="Arial"/>
              <a:buNone/>
              <a:defRPr b="0" i="0" sz="600" u="none" cap="none" strike="noStrike">
                <a:solidFill>
                  <a:srgbClr val="394660"/>
                </a:solidFill>
                <a:latin typeface="Tahoma"/>
                <a:ea typeface="Tahoma"/>
                <a:cs typeface="Tahoma"/>
                <a:sym typeface="Tahoma"/>
              </a:defRPr>
            </a:lvl9pPr>
          </a:lstStyle>
          <a:p>
            <a:pPr indent="0" lvl="0" marL="57785" rtl="0" algn="l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r>
              <a:rPr lang="en-US"/>
              <a:t>/23</a:t>
            </a:r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>
  <p:cSld name="Title Only">
    <p:spTree>
      <p:nvGrpSpPr>
        <p:cNvPr id="28" name="Shape 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" name="Google Shape;29;p33"/>
          <p:cNvSpPr txBox="1"/>
          <p:nvPr>
            <p:ph type="title"/>
          </p:nvPr>
        </p:nvSpPr>
        <p:spPr>
          <a:xfrm>
            <a:off x="737717" y="133858"/>
            <a:ext cx="4231005" cy="312292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700">
                <a:solidFill>
                  <a:srgbClr val="334669"/>
                </a:solidFill>
                <a:latin typeface="Tahoma"/>
                <a:ea typeface="Tahoma"/>
                <a:cs typeface="Tahoma"/>
                <a:sym typeface="Tahoma"/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0" name="Google Shape;30;p33"/>
          <p:cNvSpPr txBox="1"/>
          <p:nvPr>
            <p:ph idx="11" type="ftr"/>
          </p:nvPr>
        </p:nvSpPr>
        <p:spPr>
          <a:xfrm>
            <a:off x="1960372" y="3017710"/>
            <a:ext cx="1845056" cy="162242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>
                <a:solidFill>
                  <a:srgbClr val="888888"/>
                </a:solidFill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1" name="Google Shape;31;p33"/>
          <p:cNvSpPr txBox="1"/>
          <p:nvPr>
            <p:ph idx="10" type="dt"/>
          </p:nvPr>
        </p:nvSpPr>
        <p:spPr>
          <a:xfrm>
            <a:off x="288290" y="3017710"/>
            <a:ext cx="1326134" cy="162242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>
                <a:solidFill>
                  <a:srgbClr val="888888"/>
                </a:solidFill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2" name="Google Shape;32;p33"/>
          <p:cNvSpPr txBox="1"/>
          <p:nvPr>
            <p:ph idx="12" type="sldNum"/>
          </p:nvPr>
        </p:nvSpPr>
        <p:spPr>
          <a:xfrm>
            <a:off x="5349494" y="3106281"/>
            <a:ext cx="245110" cy="11747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>
            <a:lvl1pPr indent="0" lvl="0" marL="57785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600"/>
              <a:buFont typeface="Arial"/>
              <a:buNone/>
              <a:defRPr b="0" i="0" sz="600" u="none" cap="none" strike="noStrike">
                <a:solidFill>
                  <a:srgbClr val="394660"/>
                </a:solidFill>
                <a:latin typeface="Tahoma"/>
                <a:ea typeface="Tahoma"/>
                <a:cs typeface="Tahoma"/>
                <a:sym typeface="Tahoma"/>
              </a:defRPr>
            </a:lvl1pPr>
            <a:lvl2pPr indent="0" lvl="1" marL="57785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600"/>
              <a:buFont typeface="Arial"/>
              <a:buNone/>
              <a:defRPr b="0" i="0" sz="600" u="none" cap="none" strike="noStrike">
                <a:solidFill>
                  <a:srgbClr val="394660"/>
                </a:solidFill>
                <a:latin typeface="Tahoma"/>
                <a:ea typeface="Tahoma"/>
                <a:cs typeface="Tahoma"/>
                <a:sym typeface="Tahoma"/>
              </a:defRPr>
            </a:lvl2pPr>
            <a:lvl3pPr indent="0" lvl="2" marL="57785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600"/>
              <a:buFont typeface="Arial"/>
              <a:buNone/>
              <a:defRPr b="0" i="0" sz="600" u="none" cap="none" strike="noStrike">
                <a:solidFill>
                  <a:srgbClr val="394660"/>
                </a:solidFill>
                <a:latin typeface="Tahoma"/>
                <a:ea typeface="Tahoma"/>
                <a:cs typeface="Tahoma"/>
                <a:sym typeface="Tahoma"/>
              </a:defRPr>
            </a:lvl3pPr>
            <a:lvl4pPr indent="0" lvl="3" marL="57785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600"/>
              <a:buFont typeface="Arial"/>
              <a:buNone/>
              <a:defRPr b="0" i="0" sz="600" u="none" cap="none" strike="noStrike">
                <a:solidFill>
                  <a:srgbClr val="394660"/>
                </a:solidFill>
                <a:latin typeface="Tahoma"/>
                <a:ea typeface="Tahoma"/>
                <a:cs typeface="Tahoma"/>
                <a:sym typeface="Tahoma"/>
              </a:defRPr>
            </a:lvl4pPr>
            <a:lvl5pPr indent="0" lvl="4" marL="57785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600"/>
              <a:buFont typeface="Arial"/>
              <a:buNone/>
              <a:defRPr b="0" i="0" sz="600" u="none" cap="none" strike="noStrike">
                <a:solidFill>
                  <a:srgbClr val="394660"/>
                </a:solidFill>
                <a:latin typeface="Tahoma"/>
                <a:ea typeface="Tahoma"/>
                <a:cs typeface="Tahoma"/>
                <a:sym typeface="Tahoma"/>
              </a:defRPr>
            </a:lvl5pPr>
            <a:lvl6pPr indent="0" lvl="5" marL="57785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600"/>
              <a:buFont typeface="Arial"/>
              <a:buNone/>
              <a:defRPr b="0" i="0" sz="600" u="none" cap="none" strike="noStrike">
                <a:solidFill>
                  <a:srgbClr val="394660"/>
                </a:solidFill>
                <a:latin typeface="Tahoma"/>
                <a:ea typeface="Tahoma"/>
                <a:cs typeface="Tahoma"/>
                <a:sym typeface="Tahoma"/>
              </a:defRPr>
            </a:lvl6pPr>
            <a:lvl7pPr indent="0" lvl="6" marL="57785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600"/>
              <a:buFont typeface="Arial"/>
              <a:buNone/>
              <a:defRPr b="0" i="0" sz="600" u="none" cap="none" strike="noStrike">
                <a:solidFill>
                  <a:srgbClr val="394660"/>
                </a:solidFill>
                <a:latin typeface="Tahoma"/>
                <a:ea typeface="Tahoma"/>
                <a:cs typeface="Tahoma"/>
                <a:sym typeface="Tahoma"/>
              </a:defRPr>
            </a:lvl7pPr>
            <a:lvl8pPr indent="0" lvl="7" marL="57785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600"/>
              <a:buFont typeface="Arial"/>
              <a:buNone/>
              <a:defRPr b="0" i="0" sz="600" u="none" cap="none" strike="noStrike">
                <a:solidFill>
                  <a:srgbClr val="394660"/>
                </a:solidFill>
                <a:latin typeface="Tahoma"/>
                <a:ea typeface="Tahoma"/>
                <a:cs typeface="Tahoma"/>
                <a:sym typeface="Tahoma"/>
              </a:defRPr>
            </a:lvl8pPr>
            <a:lvl9pPr indent="0" lvl="8" marL="57785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600"/>
              <a:buFont typeface="Arial"/>
              <a:buNone/>
              <a:defRPr b="0" i="0" sz="600" u="none" cap="none" strike="noStrike">
                <a:solidFill>
                  <a:srgbClr val="394660"/>
                </a:solidFill>
                <a:latin typeface="Tahoma"/>
                <a:ea typeface="Tahoma"/>
                <a:cs typeface="Tahoma"/>
                <a:sym typeface="Tahoma"/>
              </a:defRPr>
            </a:lvl9pPr>
          </a:lstStyle>
          <a:p>
            <a:pPr indent="0" lvl="0" marL="57785" rtl="0" algn="l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r>
              <a:rPr lang="en-US"/>
              <a:t>/23</a:t>
            </a:r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wo Content">
  <p:cSld name="Two Content">
    <p:spTree>
      <p:nvGrpSpPr>
        <p:cNvPr id="33" name="Shape 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" name="Google Shape;34;p34"/>
          <p:cNvSpPr txBox="1"/>
          <p:nvPr>
            <p:ph type="title"/>
          </p:nvPr>
        </p:nvSpPr>
        <p:spPr>
          <a:xfrm>
            <a:off x="737717" y="133858"/>
            <a:ext cx="4231005" cy="312292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700">
                <a:solidFill>
                  <a:srgbClr val="334669"/>
                </a:solidFill>
                <a:latin typeface="Tahoma"/>
                <a:ea typeface="Tahoma"/>
                <a:cs typeface="Tahoma"/>
                <a:sym typeface="Tahoma"/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5" name="Google Shape;35;p34"/>
          <p:cNvSpPr txBox="1"/>
          <p:nvPr>
            <p:ph idx="1" type="body"/>
          </p:nvPr>
        </p:nvSpPr>
        <p:spPr>
          <a:xfrm>
            <a:off x="288290" y="746315"/>
            <a:ext cx="2508123" cy="2141601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>
            <a:lvl1pPr indent="-228600" lvl="0" marL="4572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indent="-228600" lvl="1" marL="9144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indent="-228600" lvl="2" marL="1371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indent="-228600" lvl="3" marL="18288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indent="-228600" lvl="4" marL="22860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indent="-228600" lvl="5" marL="27432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indent="-228600" lvl="6" marL="32004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indent="-228600" lvl="7" marL="3657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indent="-228600" lvl="8" marL="41148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6" name="Google Shape;36;p34"/>
          <p:cNvSpPr txBox="1"/>
          <p:nvPr>
            <p:ph idx="2" type="body"/>
          </p:nvPr>
        </p:nvSpPr>
        <p:spPr>
          <a:xfrm>
            <a:off x="2969387" y="746315"/>
            <a:ext cx="2508123" cy="2141601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>
            <a:lvl1pPr indent="-228600" lvl="0" marL="4572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indent="-228600" lvl="1" marL="9144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indent="-228600" lvl="2" marL="1371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indent="-228600" lvl="3" marL="18288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indent="-228600" lvl="4" marL="22860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indent="-228600" lvl="5" marL="27432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indent="-228600" lvl="6" marL="32004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indent="-228600" lvl="7" marL="3657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indent="-228600" lvl="8" marL="41148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7" name="Google Shape;37;p34"/>
          <p:cNvSpPr txBox="1"/>
          <p:nvPr>
            <p:ph idx="11" type="ftr"/>
          </p:nvPr>
        </p:nvSpPr>
        <p:spPr>
          <a:xfrm>
            <a:off x="1960372" y="3017710"/>
            <a:ext cx="1845056" cy="162242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>
                <a:solidFill>
                  <a:srgbClr val="888888"/>
                </a:solidFill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8" name="Google Shape;38;p34"/>
          <p:cNvSpPr txBox="1"/>
          <p:nvPr>
            <p:ph idx="10" type="dt"/>
          </p:nvPr>
        </p:nvSpPr>
        <p:spPr>
          <a:xfrm>
            <a:off x="288290" y="3017710"/>
            <a:ext cx="1326134" cy="162242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>
                <a:solidFill>
                  <a:srgbClr val="888888"/>
                </a:solidFill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9" name="Google Shape;39;p34"/>
          <p:cNvSpPr txBox="1"/>
          <p:nvPr>
            <p:ph idx="12" type="sldNum"/>
          </p:nvPr>
        </p:nvSpPr>
        <p:spPr>
          <a:xfrm>
            <a:off x="5349494" y="3106281"/>
            <a:ext cx="245110" cy="11747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>
            <a:lvl1pPr indent="0" lvl="0" marL="57785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600"/>
              <a:buFont typeface="Arial"/>
              <a:buNone/>
              <a:defRPr b="0" i="0" sz="600" u="none" cap="none" strike="noStrike">
                <a:solidFill>
                  <a:srgbClr val="394660"/>
                </a:solidFill>
                <a:latin typeface="Tahoma"/>
                <a:ea typeface="Tahoma"/>
                <a:cs typeface="Tahoma"/>
                <a:sym typeface="Tahoma"/>
              </a:defRPr>
            </a:lvl1pPr>
            <a:lvl2pPr indent="0" lvl="1" marL="57785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600"/>
              <a:buFont typeface="Arial"/>
              <a:buNone/>
              <a:defRPr b="0" i="0" sz="600" u="none" cap="none" strike="noStrike">
                <a:solidFill>
                  <a:srgbClr val="394660"/>
                </a:solidFill>
                <a:latin typeface="Tahoma"/>
                <a:ea typeface="Tahoma"/>
                <a:cs typeface="Tahoma"/>
                <a:sym typeface="Tahoma"/>
              </a:defRPr>
            </a:lvl2pPr>
            <a:lvl3pPr indent="0" lvl="2" marL="57785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600"/>
              <a:buFont typeface="Arial"/>
              <a:buNone/>
              <a:defRPr b="0" i="0" sz="600" u="none" cap="none" strike="noStrike">
                <a:solidFill>
                  <a:srgbClr val="394660"/>
                </a:solidFill>
                <a:latin typeface="Tahoma"/>
                <a:ea typeface="Tahoma"/>
                <a:cs typeface="Tahoma"/>
                <a:sym typeface="Tahoma"/>
              </a:defRPr>
            </a:lvl3pPr>
            <a:lvl4pPr indent="0" lvl="3" marL="57785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600"/>
              <a:buFont typeface="Arial"/>
              <a:buNone/>
              <a:defRPr b="0" i="0" sz="600" u="none" cap="none" strike="noStrike">
                <a:solidFill>
                  <a:srgbClr val="394660"/>
                </a:solidFill>
                <a:latin typeface="Tahoma"/>
                <a:ea typeface="Tahoma"/>
                <a:cs typeface="Tahoma"/>
                <a:sym typeface="Tahoma"/>
              </a:defRPr>
            </a:lvl4pPr>
            <a:lvl5pPr indent="0" lvl="4" marL="57785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600"/>
              <a:buFont typeface="Arial"/>
              <a:buNone/>
              <a:defRPr b="0" i="0" sz="600" u="none" cap="none" strike="noStrike">
                <a:solidFill>
                  <a:srgbClr val="394660"/>
                </a:solidFill>
                <a:latin typeface="Tahoma"/>
                <a:ea typeface="Tahoma"/>
                <a:cs typeface="Tahoma"/>
                <a:sym typeface="Tahoma"/>
              </a:defRPr>
            </a:lvl5pPr>
            <a:lvl6pPr indent="0" lvl="5" marL="57785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600"/>
              <a:buFont typeface="Arial"/>
              <a:buNone/>
              <a:defRPr b="0" i="0" sz="600" u="none" cap="none" strike="noStrike">
                <a:solidFill>
                  <a:srgbClr val="394660"/>
                </a:solidFill>
                <a:latin typeface="Tahoma"/>
                <a:ea typeface="Tahoma"/>
                <a:cs typeface="Tahoma"/>
                <a:sym typeface="Tahoma"/>
              </a:defRPr>
            </a:lvl6pPr>
            <a:lvl7pPr indent="0" lvl="6" marL="57785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600"/>
              <a:buFont typeface="Arial"/>
              <a:buNone/>
              <a:defRPr b="0" i="0" sz="600" u="none" cap="none" strike="noStrike">
                <a:solidFill>
                  <a:srgbClr val="394660"/>
                </a:solidFill>
                <a:latin typeface="Tahoma"/>
                <a:ea typeface="Tahoma"/>
                <a:cs typeface="Tahoma"/>
                <a:sym typeface="Tahoma"/>
              </a:defRPr>
            </a:lvl7pPr>
            <a:lvl8pPr indent="0" lvl="7" marL="57785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600"/>
              <a:buFont typeface="Arial"/>
              <a:buNone/>
              <a:defRPr b="0" i="0" sz="600" u="none" cap="none" strike="noStrike">
                <a:solidFill>
                  <a:srgbClr val="394660"/>
                </a:solidFill>
                <a:latin typeface="Tahoma"/>
                <a:ea typeface="Tahoma"/>
                <a:cs typeface="Tahoma"/>
                <a:sym typeface="Tahoma"/>
              </a:defRPr>
            </a:lvl8pPr>
            <a:lvl9pPr indent="0" lvl="8" marL="57785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600"/>
              <a:buFont typeface="Arial"/>
              <a:buNone/>
              <a:defRPr b="0" i="0" sz="600" u="none" cap="none" strike="noStrike">
                <a:solidFill>
                  <a:srgbClr val="394660"/>
                </a:solidFill>
                <a:latin typeface="Tahoma"/>
                <a:ea typeface="Tahoma"/>
                <a:cs typeface="Tahoma"/>
                <a:sym typeface="Tahoma"/>
              </a:defRPr>
            </a:lvl9pPr>
          </a:lstStyle>
          <a:p>
            <a:pPr indent="0" lvl="0" marL="57785" rtl="0" algn="l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r>
              <a:rPr lang="en-US"/>
              <a:t>/23</a:t>
            </a:r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1" Type="http://schemas.openxmlformats.org/officeDocument/2006/relationships/image" Target="../media/image1.png"/><Relationship Id="rId2" Type="http://schemas.openxmlformats.org/officeDocument/2006/relationships/slideLayout" Target="../slideLayouts/slideLayout1.xml"/><Relationship Id="rId3" Type="http://schemas.openxmlformats.org/officeDocument/2006/relationships/slideLayout" Target="../slideLayouts/slideLayout2.xml"/><Relationship Id="rId4" Type="http://schemas.openxmlformats.org/officeDocument/2006/relationships/slideLayout" Target="../slideLayouts/slideLayout3.xml"/><Relationship Id="rId5" Type="http://schemas.openxmlformats.org/officeDocument/2006/relationships/slideLayout" Target="../slideLayouts/slideLayout4.xml"/><Relationship Id="rId6" Type="http://schemas.openxmlformats.org/officeDocument/2006/relationships/slideLayout" Target="../slideLayouts/slideLayout5.xml"/><Relationship Id="rId7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Google Shape;6;p29"/>
          <p:cNvPicPr preferRelativeResize="0"/>
          <p:nvPr/>
        </p:nvPicPr>
        <p:blipFill rotWithShape="1">
          <a:blip r:embed="rId1">
            <a:alphaModFix/>
          </a:blip>
          <a:srcRect b="0" l="0" r="0" t="0"/>
          <a:stretch/>
        </p:blipFill>
        <p:spPr>
          <a:xfrm>
            <a:off x="0" y="0"/>
            <a:ext cx="5760719" cy="719328"/>
          </a:xfrm>
          <a:prstGeom prst="rect">
            <a:avLst/>
          </a:prstGeom>
          <a:noFill/>
          <a:ln>
            <a:noFill/>
          </a:ln>
        </p:spPr>
      </p:pic>
      <p:sp>
        <p:nvSpPr>
          <p:cNvPr id="7" name="Google Shape;7;p29"/>
          <p:cNvSpPr txBox="1"/>
          <p:nvPr>
            <p:ph type="title"/>
          </p:nvPr>
        </p:nvSpPr>
        <p:spPr>
          <a:xfrm>
            <a:off x="737717" y="133858"/>
            <a:ext cx="4231005" cy="312292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>
            <a:lvl1pPr lv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700" u="none" cap="none" strike="noStrike">
                <a:solidFill>
                  <a:srgbClr val="334669"/>
                </a:solidFill>
                <a:latin typeface="Tahoma"/>
                <a:ea typeface="Tahoma"/>
                <a:cs typeface="Tahoma"/>
                <a:sym typeface="Tahoma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8" name="Google Shape;8;p29"/>
          <p:cNvSpPr txBox="1"/>
          <p:nvPr>
            <p:ph idx="1" type="body"/>
          </p:nvPr>
        </p:nvSpPr>
        <p:spPr>
          <a:xfrm>
            <a:off x="249504" y="628650"/>
            <a:ext cx="5266791" cy="1161414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>
            <a:lvl1pPr indent="-22860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defRPr>
            </a:lvl1pPr>
            <a:lvl2pPr indent="-228600" lvl="1" marL="9144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-228600" lvl="2" marL="13716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-228600" lvl="3" marL="18288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-228600" lvl="4" marL="22860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-228600" lvl="5" marL="2743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-228600" lvl="6" marL="32004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-228600" lvl="7" marL="36576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-228600" lvl="8" marL="41148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9" name="Google Shape;9;p29"/>
          <p:cNvSpPr txBox="1"/>
          <p:nvPr>
            <p:ph idx="11" type="ftr"/>
          </p:nvPr>
        </p:nvSpPr>
        <p:spPr>
          <a:xfrm>
            <a:off x="1960372" y="3017710"/>
            <a:ext cx="1845056" cy="162242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>
            <a:lvl1pPr lv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10" name="Google Shape;10;p29"/>
          <p:cNvSpPr txBox="1"/>
          <p:nvPr>
            <p:ph idx="10" type="dt"/>
          </p:nvPr>
        </p:nvSpPr>
        <p:spPr>
          <a:xfrm>
            <a:off x="288290" y="3017710"/>
            <a:ext cx="1326134" cy="162242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>
            <a:lvl1pPr lv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11" name="Google Shape;11;p29"/>
          <p:cNvSpPr txBox="1"/>
          <p:nvPr>
            <p:ph idx="12" type="sldNum"/>
          </p:nvPr>
        </p:nvSpPr>
        <p:spPr>
          <a:xfrm>
            <a:off x="5349494" y="3106281"/>
            <a:ext cx="245110" cy="11747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>
            <a:lvl1pPr indent="0" lvl="0" marL="5778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600"/>
              <a:buFont typeface="Arial"/>
              <a:buNone/>
              <a:defRPr b="0" i="0" sz="600" u="none" cap="none" strike="noStrike">
                <a:solidFill>
                  <a:srgbClr val="394660"/>
                </a:solidFill>
                <a:latin typeface="Tahoma"/>
                <a:ea typeface="Tahoma"/>
                <a:cs typeface="Tahoma"/>
                <a:sym typeface="Tahoma"/>
              </a:defRPr>
            </a:lvl1pPr>
            <a:lvl2pPr indent="0" lvl="1" marL="5778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600"/>
              <a:buFont typeface="Arial"/>
              <a:buNone/>
              <a:defRPr b="0" i="0" sz="600" u="none" cap="none" strike="noStrike">
                <a:solidFill>
                  <a:srgbClr val="394660"/>
                </a:solidFill>
                <a:latin typeface="Tahoma"/>
                <a:ea typeface="Tahoma"/>
                <a:cs typeface="Tahoma"/>
                <a:sym typeface="Tahoma"/>
              </a:defRPr>
            </a:lvl2pPr>
            <a:lvl3pPr indent="0" lvl="2" marL="5778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600"/>
              <a:buFont typeface="Arial"/>
              <a:buNone/>
              <a:defRPr b="0" i="0" sz="600" u="none" cap="none" strike="noStrike">
                <a:solidFill>
                  <a:srgbClr val="394660"/>
                </a:solidFill>
                <a:latin typeface="Tahoma"/>
                <a:ea typeface="Tahoma"/>
                <a:cs typeface="Tahoma"/>
                <a:sym typeface="Tahoma"/>
              </a:defRPr>
            </a:lvl3pPr>
            <a:lvl4pPr indent="0" lvl="3" marL="5778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600"/>
              <a:buFont typeface="Arial"/>
              <a:buNone/>
              <a:defRPr b="0" i="0" sz="600" u="none" cap="none" strike="noStrike">
                <a:solidFill>
                  <a:srgbClr val="394660"/>
                </a:solidFill>
                <a:latin typeface="Tahoma"/>
                <a:ea typeface="Tahoma"/>
                <a:cs typeface="Tahoma"/>
                <a:sym typeface="Tahoma"/>
              </a:defRPr>
            </a:lvl4pPr>
            <a:lvl5pPr indent="0" lvl="4" marL="5778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600"/>
              <a:buFont typeface="Arial"/>
              <a:buNone/>
              <a:defRPr b="0" i="0" sz="600" u="none" cap="none" strike="noStrike">
                <a:solidFill>
                  <a:srgbClr val="394660"/>
                </a:solidFill>
                <a:latin typeface="Tahoma"/>
                <a:ea typeface="Tahoma"/>
                <a:cs typeface="Tahoma"/>
                <a:sym typeface="Tahoma"/>
              </a:defRPr>
            </a:lvl5pPr>
            <a:lvl6pPr indent="0" lvl="5" marL="5778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600"/>
              <a:buFont typeface="Arial"/>
              <a:buNone/>
              <a:defRPr b="0" i="0" sz="600" u="none" cap="none" strike="noStrike">
                <a:solidFill>
                  <a:srgbClr val="394660"/>
                </a:solidFill>
                <a:latin typeface="Tahoma"/>
                <a:ea typeface="Tahoma"/>
                <a:cs typeface="Tahoma"/>
                <a:sym typeface="Tahoma"/>
              </a:defRPr>
            </a:lvl6pPr>
            <a:lvl7pPr indent="0" lvl="6" marL="5778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600"/>
              <a:buFont typeface="Arial"/>
              <a:buNone/>
              <a:defRPr b="0" i="0" sz="600" u="none" cap="none" strike="noStrike">
                <a:solidFill>
                  <a:srgbClr val="394660"/>
                </a:solidFill>
                <a:latin typeface="Tahoma"/>
                <a:ea typeface="Tahoma"/>
                <a:cs typeface="Tahoma"/>
                <a:sym typeface="Tahoma"/>
              </a:defRPr>
            </a:lvl7pPr>
            <a:lvl8pPr indent="0" lvl="7" marL="5778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600"/>
              <a:buFont typeface="Arial"/>
              <a:buNone/>
              <a:defRPr b="0" i="0" sz="600" u="none" cap="none" strike="noStrike">
                <a:solidFill>
                  <a:srgbClr val="394660"/>
                </a:solidFill>
                <a:latin typeface="Tahoma"/>
                <a:ea typeface="Tahoma"/>
                <a:cs typeface="Tahoma"/>
                <a:sym typeface="Tahoma"/>
              </a:defRPr>
            </a:lvl8pPr>
            <a:lvl9pPr indent="0" lvl="8" marL="5778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600"/>
              <a:buFont typeface="Arial"/>
              <a:buNone/>
              <a:defRPr b="0" i="0" sz="600" u="none" cap="none" strike="noStrike">
                <a:solidFill>
                  <a:srgbClr val="394660"/>
                </a:solidFill>
                <a:latin typeface="Tahoma"/>
                <a:ea typeface="Tahoma"/>
                <a:cs typeface="Tahoma"/>
                <a:sym typeface="Tahoma"/>
              </a:defRPr>
            </a:lvl9pPr>
          </a:lstStyle>
          <a:p>
            <a:pPr indent="0" lvl="0" marL="57785" rtl="0" algn="l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r>
              <a:rPr lang="en-US"/>
              <a:t>/23</a:t>
            </a:r>
            <a:endParaRPr sz="140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9" r:id="rId2"/>
    <p:sldLayoutId id="2147483650" r:id="rId3"/>
    <p:sldLayoutId id="2147483651" r:id="rId4"/>
    <p:sldLayoutId id="2147483652" r:id="rId5"/>
    <p:sldLayoutId id="2147483653" r:id="rId6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Relationship Id="rId3" Type="http://schemas.openxmlformats.org/officeDocument/2006/relationships/image" Target="../media/image6.png"/><Relationship Id="rId4" Type="http://schemas.openxmlformats.org/officeDocument/2006/relationships/hyperlink" Target="https://www.researchgate.net/figure/An-example-of-road-network-extraction-and-graph-representation_fig12_279263325" TargetMode="External"/><Relationship Id="rId10" Type="http://schemas.openxmlformats.org/officeDocument/2006/relationships/image" Target="../media/image3.jpg"/><Relationship Id="rId9" Type="http://schemas.openxmlformats.org/officeDocument/2006/relationships/image" Target="../media/image2.png"/><Relationship Id="rId5" Type="http://schemas.openxmlformats.org/officeDocument/2006/relationships/hyperlink" Target="https://www.researchgate.net/figure/An-example-of-road-network-extraction-and-graph-representation_fig12_279263325" TargetMode="External"/><Relationship Id="rId6" Type="http://schemas.openxmlformats.org/officeDocument/2006/relationships/hyperlink" Target="https://www.researchgate.net/figure/2-A-graph-visualisation-of-the-topology-of-network-connections-of-the-core-of-the_fig2_239550496" TargetMode="External"/><Relationship Id="rId7" Type="http://schemas.openxmlformats.org/officeDocument/2006/relationships/hyperlink" Target="https://www.researchgate.net/figure/2-A-graph-visualisation-of-the-topology-of-network-connections-of-the-core-of-the_fig2_239550496" TargetMode="External"/><Relationship Id="rId8" Type="http://schemas.openxmlformats.org/officeDocument/2006/relationships/image" Target="../media/image13.png"/></Relationships>
</file>

<file path=ppt/slides/_rels/slide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Relationship Id="rId3" Type="http://schemas.openxmlformats.org/officeDocument/2006/relationships/image" Target="../media/image7.png"/></Relationships>
</file>

<file path=ppt/slides/_rels/slide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Relationship Id="rId3" Type="http://schemas.openxmlformats.org/officeDocument/2006/relationships/hyperlink" Target="https://www.researchgate.net/publication/340347681_A_Study_on_Graph_Theory_Properties_of_On-line_Social_Networks" TargetMode="External"/><Relationship Id="rId4" Type="http://schemas.openxmlformats.org/officeDocument/2006/relationships/hyperlink" Target="https://www.researchgate.net/publication/340347681_A_Study_on_Graph_Theory_Properties_of_On-line_Social_Networks" TargetMode="External"/><Relationship Id="rId5" Type="http://schemas.openxmlformats.org/officeDocument/2006/relationships/hyperlink" Target="https://benthamopen.com/contents/supplementary-material/TOBIOIJ-5-53_SD1.pdf" TargetMode="External"/><Relationship Id="rId6" Type="http://schemas.openxmlformats.org/officeDocument/2006/relationships/hyperlink" Target="https://benthamopen.com/contents/supplementary-material/TOBIOIJ-5-53_SD1.pdf" TargetMode="External"/><Relationship Id="rId7" Type="http://schemas.openxmlformats.org/officeDocument/2006/relationships/image" Target="../media/image11.png"/><Relationship Id="rId8" Type="http://schemas.openxmlformats.org/officeDocument/2006/relationships/image" Target="../media/image37.png"/></Relationships>
</file>

<file path=ppt/slides/_rels/slide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Relationship Id="rId3" Type="http://schemas.openxmlformats.org/officeDocument/2006/relationships/image" Target="../media/image4.png"/></Relationships>
</file>

<file path=ppt/slides/_rels/slide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Relationship Id="rId3" Type="http://schemas.openxmlformats.org/officeDocument/2006/relationships/image" Target="../media/image9.png"/></Relationships>
</file>

<file path=ppt/slides/_rels/slide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Relationship Id="rId3" Type="http://schemas.openxmlformats.org/officeDocument/2006/relationships/image" Target="../media/image9.png"/></Relationships>
</file>

<file path=ppt/slides/_rels/slide1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Relationship Id="rId3" Type="http://schemas.openxmlformats.org/officeDocument/2006/relationships/image" Target="../media/image35.png"/><Relationship Id="rId4" Type="http://schemas.openxmlformats.org/officeDocument/2006/relationships/image" Target="../media/image14.png"/><Relationship Id="rId5" Type="http://schemas.openxmlformats.org/officeDocument/2006/relationships/image" Target="../media/image10.png"/><Relationship Id="rId6" Type="http://schemas.openxmlformats.org/officeDocument/2006/relationships/image" Target="../media/image12.png"/><Relationship Id="rId7" Type="http://schemas.openxmlformats.org/officeDocument/2006/relationships/image" Target="../media/image8.jpg"/></Relationships>
</file>

<file path=ppt/slides/_rels/slide1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Relationship Id="rId3" Type="http://schemas.openxmlformats.org/officeDocument/2006/relationships/image" Target="../media/image5.png"/></Relationships>
</file>

<file path=ppt/slides/_rels/slide1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Relationship Id="rId3" Type="http://schemas.openxmlformats.org/officeDocument/2006/relationships/image" Target="../media/image5.png"/></Relationships>
</file>

<file path=ppt/slides/_rels/slide1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3.xml"/><Relationship Id="rId3" Type="http://schemas.openxmlformats.org/officeDocument/2006/relationships/image" Target="../media/image35.png"/><Relationship Id="rId4" Type="http://schemas.openxmlformats.org/officeDocument/2006/relationships/image" Target="../media/image14.png"/><Relationship Id="rId5" Type="http://schemas.openxmlformats.org/officeDocument/2006/relationships/image" Target="../media/image10.png"/><Relationship Id="rId6" Type="http://schemas.openxmlformats.org/officeDocument/2006/relationships/image" Target="../media/image12.png"/><Relationship Id="rId7" Type="http://schemas.openxmlformats.org/officeDocument/2006/relationships/image" Target="../media/image15.jpg"/></Relationships>
</file>

<file path=ppt/slides/_rels/slide1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4.xml"/><Relationship Id="rId3" Type="http://schemas.openxmlformats.org/officeDocument/2006/relationships/image" Target="../media/image9.png"/></Relationships>
</file>

<file path=ppt/slides/_rels/slide1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5.xml"/><Relationship Id="rId3" Type="http://schemas.openxmlformats.org/officeDocument/2006/relationships/image" Target="../media/image5.png"/></Relationships>
</file>

<file path=ppt/slides/_rels/slide1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6.xml"/><Relationship Id="rId3" Type="http://schemas.openxmlformats.org/officeDocument/2006/relationships/image" Target="../media/image16.png"/></Relationships>
</file>

<file path=ppt/slides/_rels/slide1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7.xml"/><Relationship Id="rId3" Type="http://schemas.openxmlformats.org/officeDocument/2006/relationships/image" Target="../media/image20.png"/></Relationships>
</file>

<file path=ppt/slides/_rels/slide1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8.xml"/><Relationship Id="rId3" Type="http://schemas.openxmlformats.org/officeDocument/2006/relationships/image" Target="../media/image18.png"/></Relationships>
</file>

<file path=ppt/slides/_rels/slide1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9.xml"/><Relationship Id="rId3" Type="http://schemas.openxmlformats.org/officeDocument/2006/relationships/image" Target="../media/image29.png"/></Relationships>
</file>

<file path=ppt/slides/_rels/slide2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0.xml"/><Relationship Id="rId3" Type="http://schemas.openxmlformats.org/officeDocument/2006/relationships/image" Target="../media/image5.png"/><Relationship Id="rId4" Type="http://schemas.openxmlformats.org/officeDocument/2006/relationships/image" Target="../media/image19.png"/></Relationships>
</file>

<file path=ppt/slides/_rels/slide2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1.xml"/><Relationship Id="rId3" Type="http://schemas.openxmlformats.org/officeDocument/2006/relationships/image" Target="../media/image6.png"/></Relationships>
</file>

<file path=ppt/slides/_rels/slide2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2.xml"/><Relationship Id="rId3" Type="http://schemas.openxmlformats.org/officeDocument/2006/relationships/image" Target="../media/image23.png"/><Relationship Id="rId4" Type="http://schemas.openxmlformats.org/officeDocument/2006/relationships/image" Target="../media/image17.png"/></Relationships>
</file>

<file path=ppt/slides/_rels/slide2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3.xml"/></Relationships>
</file>

<file path=ppt/slides/_rels/slide2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4.xml"/><Relationship Id="rId3" Type="http://schemas.openxmlformats.org/officeDocument/2006/relationships/image" Target="../media/image21.png"/></Relationships>
</file>

<file path=ppt/slides/_rels/slide2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5.xml"/><Relationship Id="rId3" Type="http://schemas.openxmlformats.org/officeDocument/2006/relationships/slide" Target="/ppt/slides/slide25.xml"/><Relationship Id="rId4" Type="http://schemas.openxmlformats.org/officeDocument/2006/relationships/image" Target="../media/image20.png"/></Relationships>
</file>

<file path=ppt/slides/_rels/slide2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6.xml"/><Relationship Id="rId3" Type="http://schemas.openxmlformats.org/officeDocument/2006/relationships/slide" Target="/ppt/slides/slide26.xml"/></Relationships>
</file>

<file path=ppt/slides/_rels/slide2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7.xml"/><Relationship Id="rId3" Type="http://schemas.openxmlformats.org/officeDocument/2006/relationships/slide" Target="/ppt/slides/slide27.xml"/><Relationship Id="rId4" Type="http://schemas.openxmlformats.org/officeDocument/2006/relationships/image" Target="../media/image25.png"/><Relationship Id="rId5" Type="http://schemas.openxmlformats.org/officeDocument/2006/relationships/image" Target="../media/image24.png"/></Relationships>
</file>

<file path=ppt/slides/_rels/slide2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8.xml"/><Relationship Id="rId3" Type="http://schemas.openxmlformats.org/officeDocument/2006/relationships/slide" Target="/ppt/slides/slide28.xml"/><Relationship Id="rId4" Type="http://schemas.openxmlformats.org/officeDocument/2006/relationships/image" Target="../media/image24.png"/></Relationships>
</file>

<file path=ppt/slides/_rels/slide2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9.xml"/><Relationship Id="rId3" Type="http://schemas.openxmlformats.org/officeDocument/2006/relationships/image" Target="../media/image27.png"/><Relationship Id="rId4" Type="http://schemas.openxmlformats.org/officeDocument/2006/relationships/image" Target="../media/image26.png"/></Relationships>
</file>

<file path=ppt/slides/_rels/slide3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0.xml"/><Relationship Id="rId3" Type="http://schemas.openxmlformats.org/officeDocument/2006/relationships/slide" Target="/ppt/slides/slide30.xml"/><Relationship Id="rId4" Type="http://schemas.openxmlformats.org/officeDocument/2006/relationships/image" Target="../media/image28.png"/><Relationship Id="rId5" Type="http://schemas.openxmlformats.org/officeDocument/2006/relationships/image" Target="../media/image22.png"/><Relationship Id="rId6" Type="http://schemas.openxmlformats.org/officeDocument/2006/relationships/image" Target="../media/image30.png"/><Relationship Id="rId7" Type="http://schemas.openxmlformats.org/officeDocument/2006/relationships/image" Target="../media/image31.png"/><Relationship Id="rId8" Type="http://schemas.openxmlformats.org/officeDocument/2006/relationships/image" Target="../media/image33.jpg"/></Relationships>
</file>

<file path=ppt/slides/_rels/slide3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1.xml"/><Relationship Id="rId3" Type="http://schemas.openxmlformats.org/officeDocument/2006/relationships/slide" Target="/ppt/slides/slide31.xml"/><Relationship Id="rId4" Type="http://schemas.openxmlformats.org/officeDocument/2006/relationships/image" Target="../media/image34.png"/></Relationships>
</file>

<file path=ppt/slides/_rels/slide3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2.xml"/><Relationship Id="rId3" Type="http://schemas.openxmlformats.org/officeDocument/2006/relationships/slide" Target="/ppt/slides/slide32.xml"/><Relationship Id="rId4" Type="http://schemas.openxmlformats.org/officeDocument/2006/relationships/image" Target="../media/image28.png"/><Relationship Id="rId5" Type="http://schemas.openxmlformats.org/officeDocument/2006/relationships/image" Target="../media/image22.png"/><Relationship Id="rId6" Type="http://schemas.openxmlformats.org/officeDocument/2006/relationships/image" Target="../media/image30.png"/><Relationship Id="rId7" Type="http://schemas.openxmlformats.org/officeDocument/2006/relationships/image" Target="../media/image31.png"/><Relationship Id="rId8" Type="http://schemas.openxmlformats.org/officeDocument/2006/relationships/image" Target="../media/image40.jpg"/></Relationships>
</file>

<file path=ppt/slides/_rels/slide3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3.xml"/><Relationship Id="rId3" Type="http://schemas.openxmlformats.org/officeDocument/2006/relationships/image" Target="../media/image38.jpg"/><Relationship Id="rId4" Type="http://schemas.openxmlformats.org/officeDocument/2006/relationships/image" Target="../media/image39.png"/><Relationship Id="rId5" Type="http://schemas.openxmlformats.org/officeDocument/2006/relationships/image" Target="../media/image32.jpg"/><Relationship Id="rId6" Type="http://schemas.openxmlformats.org/officeDocument/2006/relationships/image" Target="../media/image45.jpg"/></Relationships>
</file>

<file path=ppt/slides/_rels/slide3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4.xml"/><Relationship Id="rId3" Type="http://schemas.openxmlformats.org/officeDocument/2006/relationships/image" Target="../media/image41.png"/></Relationships>
</file>

<file path=ppt/slides/_rels/slide3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5.xml"/></Relationships>
</file>

<file path=ppt/slides/_rels/slide3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6.xml"/><Relationship Id="rId3" Type="http://schemas.openxmlformats.org/officeDocument/2006/relationships/image" Target="../media/image36.jpg"/><Relationship Id="rId4" Type="http://schemas.openxmlformats.org/officeDocument/2006/relationships/image" Target="../media/image44.png"/></Relationships>
</file>

<file path=ppt/slides/_rels/slide3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37.xml"/><Relationship Id="rId3" Type="http://schemas.openxmlformats.org/officeDocument/2006/relationships/image" Target="../media/image44.png"/></Relationships>
</file>

<file path=ppt/slides/_rels/slide3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38.xml"/><Relationship Id="rId3" Type="http://schemas.openxmlformats.org/officeDocument/2006/relationships/image" Target="../media/image27.png"/><Relationship Id="rId4" Type="http://schemas.openxmlformats.org/officeDocument/2006/relationships/image" Target="../media/image42.png"/></Relationships>
</file>

<file path=ppt/slides/_rels/slide3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39.xml"/><Relationship Id="rId3" Type="http://schemas.openxmlformats.org/officeDocument/2006/relationships/image" Target="../media/image46.png"/></Relationships>
</file>

<file path=ppt/slides/_rels/slide4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40.xml"/><Relationship Id="rId3" Type="http://schemas.openxmlformats.org/officeDocument/2006/relationships/image" Target="../media/image43.png"/><Relationship Id="rId4" Type="http://schemas.openxmlformats.org/officeDocument/2006/relationships/image" Target="../media/image49.png"/></Relationships>
</file>

<file path=ppt/slides/_rels/slide4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41.xml"/><Relationship Id="rId3" Type="http://schemas.openxmlformats.org/officeDocument/2006/relationships/image" Target="../media/image36.jpg"/></Relationships>
</file>

<file path=ppt/slides/_rels/slide4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42.xml"/><Relationship Id="rId3" Type="http://schemas.openxmlformats.org/officeDocument/2006/relationships/image" Target="../media/image48.png"/></Relationships>
</file>

<file path=ppt/slides/_rels/slide4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43.xml"/><Relationship Id="rId3" Type="http://schemas.openxmlformats.org/officeDocument/2006/relationships/image" Target="../media/image53.png"/><Relationship Id="rId4" Type="http://schemas.openxmlformats.org/officeDocument/2006/relationships/image" Target="../media/image47.png"/></Relationships>
</file>

<file path=ppt/slides/_rels/slide4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44.xml"/></Relationships>
</file>

<file path=ppt/slides/_rels/slide4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45.xml"/><Relationship Id="rId3" Type="http://schemas.openxmlformats.org/officeDocument/2006/relationships/image" Target="../media/image55.jpg"/></Relationships>
</file>

<file path=ppt/slides/_rels/slide4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46.xml"/><Relationship Id="rId3" Type="http://schemas.openxmlformats.org/officeDocument/2006/relationships/image" Target="../media/image52.jpg"/></Relationships>
</file>

<file path=ppt/slides/_rels/slide4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47.xml"/><Relationship Id="rId3" Type="http://schemas.openxmlformats.org/officeDocument/2006/relationships/image" Target="../media/image50.png"/><Relationship Id="rId4" Type="http://schemas.openxmlformats.org/officeDocument/2006/relationships/image" Target="../media/image51.png"/></Relationships>
</file>

<file path=ppt/slides/_rels/slide4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48.xml"/></Relationships>
</file>

<file path=ppt/slides/_rels/slide4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49.xml"/><Relationship Id="rId3" Type="http://schemas.openxmlformats.org/officeDocument/2006/relationships/image" Target="../media/image27.png"/><Relationship Id="rId4" Type="http://schemas.openxmlformats.org/officeDocument/2006/relationships/image" Target="../media/image26.png"/><Relationship Id="rId5" Type="http://schemas.openxmlformats.org/officeDocument/2006/relationships/image" Target="../media/image42.png"/></Relationships>
</file>

<file path=ppt/slides/_rels/slide5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50.xml"/><Relationship Id="rId3" Type="http://schemas.openxmlformats.org/officeDocument/2006/relationships/image" Target="../media/image46.png"/><Relationship Id="rId4" Type="http://schemas.openxmlformats.org/officeDocument/2006/relationships/image" Target="../media/image58.png"/></Relationships>
</file>

<file path=ppt/slides/_rels/slide5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51.xml"/><Relationship Id="rId3" Type="http://schemas.openxmlformats.org/officeDocument/2006/relationships/image" Target="../media/image54.png"/></Relationships>
</file>

<file path=ppt/slides/_rels/slide5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2.xml"/><Relationship Id="rId3" Type="http://schemas.openxmlformats.org/officeDocument/2006/relationships/image" Target="../media/image21.png"/></Relationships>
</file>

<file path=ppt/slides/_rels/slide5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3.xml"/></Relationships>
</file>

<file path=ppt/slides/_rels/slide5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4.xml"/></Relationships>
</file>

<file path=ppt/slides/_rels/slide5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5.xml"/><Relationship Id="rId3" Type="http://schemas.openxmlformats.org/officeDocument/2006/relationships/image" Target="../media/image57.png"/></Relationships>
</file>

<file path=ppt/slides/_rels/slide5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6.xml"/><Relationship Id="rId3" Type="http://schemas.openxmlformats.org/officeDocument/2006/relationships/image" Target="../media/image56.png"/></Relationships>
</file>

<file path=ppt/slides/_rels/slide5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7.xml"/></Relationships>
</file>

<file path=ppt/slides/_rels/slide5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58.xml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43" name="Shape 4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4" name="Google Shape;44;p1"/>
          <p:cNvSpPr txBox="1"/>
          <p:nvPr/>
        </p:nvSpPr>
        <p:spPr>
          <a:xfrm>
            <a:off x="1568151" y="1237300"/>
            <a:ext cx="2214900" cy="289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12700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r>
              <a:rPr b="0" i="0" lang="en-US" sz="1800" u="none" cap="none" strike="noStrike">
                <a:solidFill>
                  <a:srgbClr val="3C4452"/>
                </a:solidFill>
                <a:latin typeface="Tahoma"/>
                <a:ea typeface="Tahoma"/>
                <a:cs typeface="Tahoma"/>
                <a:sym typeface="Tahoma"/>
              </a:rPr>
              <a:t>Lecture: Graph Basics </a:t>
            </a:r>
            <a:endParaRPr b="0" i="0" sz="1400" u="none" cap="none" strike="noStrike">
              <a:solidFill>
                <a:srgbClr val="000000"/>
              </a:solidFill>
              <a:latin typeface="Tahoma"/>
              <a:ea typeface="Tahoma"/>
              <a:cs typeface="Tahoma"/>
              <a:sym typeface="Tahoma"/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48" name="Shape 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" name="Google Shape;49;p2"/>
          <p:cNvSpPr txBox="1"/>
          <p:nvPr>
            <p:ph type="title"/>
          </p:nvPr>
        </p:nvSpPr>
        <p:spPr>
          <a:xfrm>
            <a:off x="737717" y="133858"/>
            <a:ext cx="4231005" cy="312292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12700">
            <a:spAutoFit/>
          </a:bodyPr>
          <a:lstStyle/>
          <a:p>
            <a:pPr indent="0" lvl="0" marL="17526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rPr lang="en-US"/>
              <a:t>Overview</a:t>
            </a:r>
            <a:endParaRPr/>
          </a:p>
        </p:txBody>
      </p:sp>
      <p:sp>
        <p:nvSpPr>
          <p:cNvPr id="50" name="Google Shape;50;p2"/>
          <p:cNvSpPr txBox="1"/>
          <p:nvPr/>
        </p:nvSpPr>
        <p:spPr>
          <a:xfrm>
            <a:off x="124764" y="1070228"/>
            <a:ext cx="2957100" cy="443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12700">
            <a:spAutoFit/>
          </a:bodyPr>
          <a:lstStyle/>
          <a:p>
            <a:pPr indent="-217170" lvl="0" marL="22987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334669"/>
              </a:buClr>
              <a:buSzPts val="1400"/>
              <a:buFont typeface="Tahoma"/>
              <a:buAutoNum type="arabicPeriod"/>
            </a:pPr>
            <a:r>
              <a:rPr b="0" i="0" lang="en-US" sz="1400" u="sng" cap="none" strike="noStrike">
                <a:solidFill>
                  <a:srgbClr val="0000FF"/>
                </a:solidFill>
                <a:latin typeface="Tahoma"/>
                <a:ea typeface="Tahoma"/>
                <a:cs typeface="Tahoma"/>
                <a:sym typeface="Tahoma"/>
              </a:rPr>
              <a:t>Graph representation Ch 22.1</a:t>
            </a:r>
            <a:endParaRPr b="0" i="0" sz="1400" u="none" cap="none" strike="noStrike">
              <a:solidFill>
                <a:srgbClr val="000000"/>
              </a:solidFill>
              <a:latin typeface="Tahoma"/>
              <a:ea typeface="Tahoma"/>
              <a:cs typeface="Tahoma"/>
              <a:sym typeface="Tahoma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Tahoma"/>
              <a:ea typeface="Tahoma"/>
              <a:cs typeface="Tahoma"/>
              <a:sym typeface="Tahoma"/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4" name="Shape 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" name="Google Shape;55;g3220fd27c11_0_99"/>
          <p:cNvSpPr txBox="1"/>
          <p:nvPr>
            <p:ph type="title"/>
          </p:nvPr>
        </p:nvSpPr>
        <p:spPr>
          <a:xfrm>
            <a:off x="257642" y="145433"/>
            <a:ext cx="4230900" cy="2745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12700">
            <a:spAutoFit/>
          </a:bodyPr>
          <a:lstStyle/>
          <a:p>
            <a:pPr indent="0" lvl="0" marL="17526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rPr lang="en-US"/>
              <a:t>What is a Graph? (Recap)</a:t>
            </a:r>
            <a:endParaRPr/>
          </a:p>
        </p:txBody>
      </p:sp>
      <p:sp>
        <p:nvSpPr>
          <p:cNvPr id="56" name="Google Shape;56;g3220fd27c11_0_99"/>
          <p:cNvSpPr txBox="1"/>
          <p:nvPr/>
        </p:nvSpPr>
        <p:spPr>
          <a:xfrm>
            <a:off x="116800" y="633925"/>
            <a:ext cx="5349600" cy="2156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-298450" lvl="0" marL="457200" marR="30480" rtl="0" algn="l">
              <a:lnSpc>
                <a:spcPct val="115000"/>
              </a:lnSpc>
              <a:spcBef>
                <a:spcPts val="195"/>
              </a:spcBef>
              <a:spcAft>
                <a:spcPts val="0"/>
              </a:spcAft>
              <a:buClr>
                <a:schemeClr val="dk1"/>
              </a:buClr>
              <a:buSzPts val="1100"/>
              <a:buFont typeface="Tahoma"/>
              <a:buChar char="●"/>
            </a:pPr>
            <a:r>
              <a:rPr b="0" i="0" lang="en-US" sz="1100" u="none" cap="none" strike="noStrik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rPr>
              <a:t>Graph Definition:</a:t>
            </a:r>
            <a:endParaRPr b="0" i="0" sz="1100" u="none" cap="none" strike="noStrike">
              <a:solidFill>
                <a:schemeClr val="dk1"/>
              </a:solidFill>
              <a:latin typeface="Tahoma"/>
              <a:ea typeface="Tahoma"/>
              <a:cs typeface="Tahoma"/>
              <a:sym typeface="Tahoma"/>
            </a:endParaRPr>
          </a:p>
          <a:p>
            <a:pPr indent="-298450" lvl="1" marL="914400" marR="3048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Tahoma"/>
              <a:buChar char="○"/>
            </a:pPr>
            <a:r>
              <a:rPr b="0" i="0" lang="en-US" sz="1100" u="none" cap="none" strike="noStrik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rPr>
              <a:t>Graphs have vertices (nodes) connected by edges </a:t>
            </a:r>
            <a:endParaRPr b="0" i="0" sz="1100" u="none" cap="none" strike="noStrike">
              <a:solidFill>
                <a:schemeClr val="dk1"/>
              </a:solidFill>
              <a:latin typeface="Tahoma"/>
              <a:ea typeface="Tahoma"/>
              <a:cs typeface="Tahoma"/>
              <a:sym typeface="Tahoma"/>
            </a:endParaRPr>
          </a:p>
          <a:p>
            <a:pPr indent="-298450" lvl="1" marL="914400" marR="3048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Tahoma"/>
              <a:buChar char="○"/>
            </a:pPr>
            <a:r>
              <a:rPr b="0" i="0" lang="en-US" sz="1100" u="none" cap="none" strike="noStrik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rPr>
              <a:t>Graph G is a pair (V, E), where</a:t>
            </a:r>
            <a:endParaRPr b="0" i="0" sz="1100" u="none" cap="none" strike="noStrike">
              <a:solidFill>
                <a:schemeClr val="dk1"/>
              </a:solidFill>
              <a:latin typeface="Tahoma"/>
              <a:ea typeface="Tahoma"/>
              <a:cs typeface="Tahoma"/>
              <a:sym typeface="Tahoma"/>
            </a:endParaRPr>
          </a:p>
          <a:p>
            <a:pPr indent="-298450" lvl="2" marL="1371600" marR="3048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Tahoma"/>
              <a:buChar char="■"/>
            </a:pPr>
            <a:r>
              <a:rPr b="0" i="0" lang="en-US" sz="1100" u="none" cap="none" strike="noStrik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rPr>
              <a:t>V: Finite set of vertices (n=∣V∣)</a:t>
            </a:r>
            <a:endParaRPr b="0" i="0" sz="1100" u="none" cap="none" strike="noStrike">
              <a:solidFill>
                <a:schemeClr val="dk1"/>
              </a:solidFill>
              <a:latin typeface="Tahoma"/>
              <a:ea typeface="Tahoma"/>
              <a:cs typeface="Tahoma"/>
              <a:sym typeface="Tahoma"/>
            </a:endParaRPr>
          </a:p>
          <a:p>
            <a:pPr indent="-298450" lvl="2" marL="1371600" marR="3048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Tahoma"/>
              <a:buChar char="■"/>
            </a:pPr>
            <a:r>
              <a:rPr b="0" i="0" lang="en-US" sz="1100" u="none" cap="none" strike="noStrik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rPr>
              <a:t>E: Finite set of edges (m=∣E∣)</a:t>
            </a:r>
            <a:endParaRPr b="0" i="0" sz="1100" u="none" cap="none" strike="noStrike">
              <a:solidFill>
                <a:schemeClr val="dk1"/>
              </a:solidFill>
              <a:latin typeface="Tahoma"/>
              <a:ea typeface="Tahoma"/>
              <a:cs typeface="Tahoma"/>
              <a:sym typeface="Tahoma"/>
            </a:endParaRPr>
          </a:p>
          <a:p>
            <a:pPr indent="0" lvl="0" marL="0" marR="30480" rtl="0" algn="l">
              <a:lnSpc>
                <a:spcPct val="115000"/>
              </a:lnSpc>
              <a:spcBef>
                <a:spcPts val="195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t/>
            </a:r>
            <a:endParaRPr b="0" i="0" sz="1100" u="none" cap="none" strike="noStrike">
              <a:solidFill>
                <a:schemeClr val="dk1"/>
              </a:solidFill>
              <a:latin typeface="Tahoma"/>
              <a:ea typeface="Tahoma"/>
              <a:cs typeface="Tahoma"/>
              <a:sym typeface="Tahoma"/>
            </a:endParaRPr>
          </a:p>
          <a:p>
            <a:pPr indent="-298450" lvl="0" marL="457200" marR="30480" rtl="0" algn="l">
              <a:lnSpc>
                <a:spcPct val="115000"/>
              </a:lnSpc>
              <a:spcBef>
                <a:spcPts val="195"/>
              </a:spcBef>
              <a:spcAft>
                <a:spcPts val="0"/>
              </a:spcAft>
              <a:buClr>
                <a:schemeClr val="dk1"/>
              </a:buClr>
              <a:buSzPts val="1100"/>
              <a:buFont typeface="Tahoma"/>
              <a:buChar char="●"/>
            </a:pPr>
            <a:r>
              <a:rPr b="0" i="0" lang="en-US" sz="1100" u="none" cap="none" strike="noStrik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rPr>
              <a:t>In graph, </a:t>
            </a:r>
            <a:endParaRPr b="0" i="0" sz="1100" u="none" cap="none" strike="noStrike">
              <a:solidFill>
                <a:schemeClr val="dk1"/>
              </a:solidFill>
              <a:latin typeface="Tahoma"/>
              <a:ea typeface="Tahoma"/>
              <a:cs typeface="Tahoma"/>
              <a:sym typeface="Tahoma"/>
            </a:endParaRPr>
          </a:p>
          <a:p>
            <a:pPr indent="-298450" lvl="1" marL="914400" marR="3048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Tahoma"/>
              <a:buChar char="○"/>
            </a:pPr>
            <a:r>
              <a:rPr b="0" i="0" lang="en-US" sz="1100" u="none" cap="none" strike="noStrik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rPr>
              <a:t>node = Vertex, </a:t>
            </a:r>
            <a:endParaRPr b="0" i="0" sz="1100" u="none" cap="none" strike="noStrike">
              <a:solidFill>
                <a:schemeClr val="dk1"/>
              </a:solidFill>
              <a:latin typeface="Tahoma"/>
              <a:ea typeface="Tahoma"/>
              <a:cs typeface="Tahoma"/>
              <a:sym typeface="Tahoma"/>
            </a:endParaRPr>
          </a:p>
          <a:p>
            <a:pPr indent="-298450" lvl="1" marL="914400" marR="3048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Tahoma"/>
              <a:buChar char="○"/>
            </a:pPr>
            <a:r>
              <a:rPr b="0" i="0" lang="en-US" sz="1100" u="none" cap="none" strike="noStrik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rPr>
              <a:t>nodes = vertices</a:t>
            </a:r>
            <a:endParaRPr b="0" i="0" sz="1100" u="none" cap="none" strike="noStrike">
              <a:solidFill>
                <a:schemeClr val="dk1"/>
              </a:solidFill>
              <a:latin typeface="Tahoma"/>
              <a:ea typeface="Tahoma"/>
              <a:cs typeface="Tahoma"/>
              <a:sym typeface="Tahoma"/>
            </a:endParaRPr>
          </a:p>
          <a:p>
            <a:pPr indent="-298450" lvl="1" marL="914400" marR="3048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Tahoma"/>
              <a:buChar char="○"/>
            </a:pPr>
            <a:r>
              <a:rPr b="0" i="0" lang="en-US" sz="1100" u="none" cap="none" strike="noStrik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rPr>
              <a:t>connection between 2 nodes = edge</a:t>
            </a:r>
            <a:endParaRPr b="1" i="0" sz="1000" u="none" cap="none" strike="noStrike">
              <a:solidFill>
                <a:schemeClr val="dk1"/>
              </a:solidFill>
              <a:latin typeface="Tahoma"/>
              <a:ea typeface="Tahoma"/>
              <a:cs typeface="Tahoma"/>
              <a:sym typeface="Tahoma"/>
            </a:endParaRP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60" name="Shape 6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" name="Google Shape;61;g3220fd27c11_4_44"/>
          <p:cNvSpPr txBox="1"/>
          <p:nvPr>
            <p:ph type="title"/>
          </p:nvPr>
        </p:nvSpPr>
        <p:spPr>
          <a:xfrm>
            <a:off x="257642" y="145433"/>
            <a:ext cx="4230900" cy="2745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12700">
            <a:spAutoFit/>
          </a:bodyPr>
          <a:lstStyle/>
          <a:p>
            <a:pPr indent="0" lvl="0" marL="17526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rPr lang="en-US"/>
              <a:t>Examples of graphs</a:t>
            </a:r>
            <a:endParaRPr/>
          </a:p>
        </p:txBody>
      </p:sp>
      <p:sp>
        <p:nvSpPr>
          <p:cNvPr id="62" name="Google Shape;62;g3220fd27c11_4_44"/>
          <p:cNvSpPr txBox="1"/>
          <p:nvPr/>
        </p:nvSpPr>
        <p:spPr>
          <a:xfrm>
            <a:off x="100300" y="419925"/>
            <a:ext cx="5570700" cy="1177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-789305" lvl="0" marL="801370" marR="5080" rtl="0" algn="l">
              <a:lnSpc>
                <a:spcPct val="102600"/>
              </a:lnSpc>
              <a:spcBef>
                <a:spcPts val="295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0" i="0" lang="en-US" sz="900" u="none" cap="none" strike="noStrike">
                <a:solidFill>
                  <a:srgbClr val="3333B2"/>
                </a:solidFill>
                <a:latin typeface="Trebuchet MS"/>
                <a:ea typeface="Trebuchet MS"/>
                <a:cs typeface="Trebuchet MS"/>
                <a:sym typeface="Trebuchet MS"/>
              </a:rPr>
              <a:t>Transportation Networks </a:t>
            </a:r>
            <a:r>
              <a:rPr b="0" i="0" lang="en-US" sz="900" u="none" cap="none" strike="noStrike">
                <a:solidFill>
                  <a:schemeClr val="dk1"/>
                </a:solidFill>
                <a:latin typeface="Trebuchet MS"/>
                <a:ea typeface="Trebuchet MS"/>
                <a:cs typeface="Trebuchet MS"/>
                <a:sym typeface="Trebuchet MS"/>
              </a:rPr>
              <a:t>(e.g., Road maps: Pathao, Uber;   Flight routes: Emirates, US-Bangla Airlines)</a:t>
            </a:r>
            <a:endParaRPr b="0" i="0" sz="900" u="none" cap="none" strike="noStrike">
              <a:solidFill>
                <a:schemeClr val="dk1"/>
              </a:solidFill>
              <a:latin typeface="Trebuchet MS"/>
              <a:ea typeface="Trebuchet MS"/>
              <a:cs typeface="Trebuchet MS"/>
              <a:sym typeface="Trebuchet MS"/>
            </a:endParaRPr>
          </a:p>
          <a:p>
            <a:pPr indent="-789305" lvl="0" marL="801370" marR="5080" rtl="0" algn="l">
              <a:lnSpc>
                <a:spcPct val="102600"/>
              </a:lnSpc>
              <a:spcBef>
                <a:spcPts val="295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0" i="0" lang="en-US" sz="900" u="none" cap="none" strike="noStrike">
                <a:solidFill>
                  <a:srgbClr val="3333B2"/>
                </a:solidFill>
                <a:latin typeface="Trebuchet MS"/>
                <a:ea typeface="Trebuchet MS"/>
                <a:cs typeface="Trebuchet MS"/>
                <a:sym typeface="Trebuchet MS"/>
              </a:rPr>
              <a:t>Communication Networks </a:t>
            </a:r>
            <a:r>
              <a:rPr b="0" i="0" lang="en-US" sz="900" u="none" cap="none" strike="noStrike">
                <a:solidFill>
                  <a:schemeClr val="dk1"/>
                </a:solidFill>
                <a:latin typeface="Trebuchet MS"/>
                <a:ea typeface="Trebuchet MS"/>
                <a:cs typeface="Trebuchet MS"/>
                <a:sym typeface="Trebuchet MS"/>
              </a:rPr>
              <a:t>(e.g., the internet, telecommunication systems)</a:t>
            </a:r>
            <a:endParaRPr b="0" i="0" sz="900" u="none" cap="none" strike="noStrike">
              <a:solidFill>
                <a:schemeClr val="dk1"/>
              </a:solidFill>
              <a:latin typeface="Trebuchet MS"/>
              <a:ea typeface="Trebuchet MS"/>
              <a:cs typeface="Trebuchet MS"/>
              <a:sym typeface="Trebuchet MS"/>
            </a:endParaRPr>
          </a:p>
          <a:p>
            <a:pPr indent="-789305" lvl="0" marL="801370" marR="5080" rtl="0" algn="l">
              <a:lnSpc>
                <a:spcPct val="102600"/>
              </a:lnSpc>
              <a:spcBef>
                <a:spcPts val="295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0" i="0" lang="en-US" sz="900" u="none" cap="none" strike="noStrike">
                <a:solidFill>
                  <a:srgbClr val="3333B2"/>
                </a:solidFill>
                <a:latin typeface="Trebuchet MS"/>
                <a:ea typeface="Trebuchet MS"/>
                <a:cs typeface="Trebuchet MS"/>
                <a:sym typeface="Trebuchet MS"/>
              </a:rPr>
              <a:t>Information Networks </a:t>
            </a:r>
            <a:r>
              <a:rPr b="0" i="0" lang="en-US" sz="900" u="none" cap="none" strike="noStrike">
                <a:solidFill>
                  <a:schemeClr val="dk1"/>
                </a:solidFill>
                <a:latin typeface="Trebuchet MS"/>
                <a:ea typeface="Trebuchet MS"/>
                <a:cs typeface="Trebuchet MS"/>
                <a:sym typeface="Trebuchet MS"/>
              </a:rPr>
              <a:t>(e.g., citation graphs, knowledge graphs, protein structure)</a:t>
            </a:r>
            <a:endParaRPr b="0" i="0" sz="900" u="none" cap="none" strike="noStrike">
              <a:solidFill>
                <a:schemeClr val="dk1"/>
              </a:solidFill>
              <a:latin typeface="Trebuchet MS"/>
              <a:ea typeface="Trebuchet MS"/>
              <a:cs typeface="Trebuchet MS"/>
              <a:sym typeface="Trebuchet MS"/>
            </a:endParaRPr>
          </a:p>
          <a:p>
            <a:pPr indent="0" lvl="0" marL="12065" marR="5080" rtl="0" algn="l">
              <a:lnSpc>
                <a:spcPct val="102600"/>
              </a:lnSpc>
              <a:spcBef>
                <a:spcPts val="295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t/>
            </a:r>
            <a:endParaRPr b="0" i="0" sz="900" u="none" cap="none" strike="noStrike">
              <a:solidFill>
                <a:schemeClr val="dk1"/>
              </a:solidFill>
              <a:latin typeface="Trebuchet MS"/>
              <a:ea typeface="Trebuchet MS"/>
              <a:cs typeface="Trebuchet MS"/>
              <a:sym typeface="Trebuchet MS"/>
            </a:endParaRPr>
          </a:p>
          <a:p>
            <a:pPr indent="-789305" lvl="0" marL="801370" marR="5080" rtl="0" algn="l">
              <a:lnSpc>
                <a:spcPct val="102600"/>
              </a:lnSpc>
              <a:spcBef>
                <a:spcPts val="295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t/>
            </a:r>
            <a:endParaRPr b="0" i="0" sz="900" u="none" cap="none" strike="noStrike">
              <a:solidFill>
                <a:srgbClr val="3333B2"/>
              </a:solidFill>
              <a:latin typeface="Trebuchet MS"/>
              <a:ea typeface="Trebuchet MS"/>
              <a:cs typeface="Trebuchet MS"/>
              <a:sym typeface="Trebuchet MS"/>
            </a:endParaRPr>
          </a:p>
          <a:p>
            <a:pPr indent="0" lvl="0" marL="0" marR="30480" rtl="0" algn="l">
              <a:lnSpc>
                <a:spcPct val="86250"/>
              </a:lnSpc>
              <a:spcBef>
                <a:spcPts val="195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</a:pPr>
            <a:r>
              <a:t/>
            </a:r>
            <a:endParaRPr b="1" i="0" sz="800" u="none" cap="none" strike="noStrike">
              <a:solidFill>
                <a:schemeClr val="dk1"/>
              </a:solidFill>
              <a:latin typeface="Trebuchet MS"/>
              <a:ea typeface="Trebuchet MS"/>
              <a:cs typeface="Trebuchet MS"/>
              <a:sym typeface="Trebuchet MS"/>
            </a:endParaRPr>
          </a:p>
        </p:txBody>
      </p:sp>
      <p:pic>
        <p:nvPicPr>
          <p:cNvPr id="63" name="Google Shape;63;g3220fd27c11_4_44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222950" y="1278050"/>
            <a:ext cx="1532427" cy="1475174"/>
          </a:xfrm>
          <a:prstGeom prst="rect">
            <a:avLst/>
          </a:prstGeom>
          <a:noFill/>
          <a:ln>
            <a:noFill/>
          </a:ln>
        </p:spPr>
      </p:pic>
      <p:sp>
        <p:nvSpPr>
          <p:cNvPr id="64" name="Google Shape;64;g3220fd27c11_4_44"/>
          <p:cNvSpPr txBox="1"/>
          <p:nvPr/>
        </p:nvSpPr>
        <p:spPr>
          <a:xfrm>
            <a:off x="100300" y="2753225"/>
            <a:ext cx="5382600" cy="523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600"/>
              <a:buFont typeface="Arial"/>
              <a:buNone/>
            </a:pPr>
            <a:r>
              <a:rPr b="0" i="0" lang="en-US" sz="6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Image source3:</a:t>
            </a:r>
            <a:r>
              <a:rPr b="0" i="0" lang="en-US" sz="600" u="none" cap="none" strike="noStrike">
                <a:solidFill>
                  <a:schemeClr val="dk1"/>
                </a:solidFill>
                <a:uFill>
                  <a:noFill/>
                </a:uFill>
                <a:latin typeface="Calibri"/>
                <a:ea typeface="Calibri"/>
                <a:cs typeface="Calibri"/>
                <a:sym typeface="Calibri"/>
                <a:hlinkClick r:id="rId4">
                  <a:extLst>
                    <a:ext uri="{A12FA001-AC4F-418D-AE19-62706E023703}">
                      <ahyp:hlinkClr val="tx"/>
                    </a:ext>
                  </a:extLst>
                </a:hlinkClick>
              </a:rPr>
              <a:t> </a:t>
            </a:r>
            <a:r>
              <a:rPr b="0" i="0" lang="en-US" sz="600" u="sng" cap="none" strike="noStrike">
                <a:solidFill>
                  <a:srgbClr val="1155CC"/>
                </a:solidFill>
                <a:latin typeface="Calibri"/>
                <a:ea typeface="Calibri"/>
                <a:cs typeface="Calibri"/>
                <a:sym typeface="Calibri"/>
                <a:hlinkClick r:id="rId5">
                  <a:extLst>
                    <a:ext uri="{A12FA001-AC4F-418D-AE19-62706E023703}">
                      <ahyp:hlinkClr val="tx"/>
                    </a:ext>
                  </a:extLst>
                </a:hlinkClick>
              </a:rPr>
              <a:t>https://www.researchgate.net/figure/An-example-of-road-network-extraction-and-graph-representation_fig12_279263325</a:t>
            </a:r>
            <a:endParaRPr b="0" i="0" sz="12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</a:pPr>
            <a:r>
              <a:rPr b="0" i="0" lang="en-US" sz="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 </a:t>
            </a:r>
            <a:r>
              <a:rPr b="0" i="0" lang="en-US" sz="6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Image source5:</a:t>
            </a:r>
            <a:r>
              <a:rPr b="0" i="0" lang="en-US" sz="600" u="none" cap="none" strike="noStrike">
                <a:solidFill>
                  <a:schemeClr val="dk1"/>
                </a:solidFill>
                <a:uFill>
                  <a:noFill/>
                </a:uFill>
                <a:latin typeface="Arial"/>
                <a:ea typeface="Arial"/>
                <a:cs typeface="Arial"/>
                <a:sym typeface="Arial"/>
                <a:hlinkClick r:id="rId6">
                  <a:extLst>
                    <a:ext uri="{A12FA001-AC4F-418D-AE19-62706E023703}">
                      <ahyp:hlinkClr val="tx"/>
                    </a:ext>
                  </a:extLst>
                </a:hlinkClick>
              </a:rPr>
              <a:t> </a:t>
            </a:r>
            <a:r>
              <a:rPr b="0" i="0" lang="en-US" sz="600" u="sng" cap="none" strike="noStrike">
                <a:solidFill>
                  <a:srgbClr val="1155CC"/>
                </a:solidFill>
                <a:latin typeface="Arial"/>
                <a:ea typeface="Arial"/>
                <a:cs typeface="Arial"/>
                <a:sym typeface="Arial"/>
                <a:hlinkClick r:id="rId7">
                  <a:extLst>
                    <a:ext uri="{A12FA001-AC4F-418D-AE19-62706E023703}">
                      <ahyp:hlinkClr val="tx"/>
                    </a:ext>
                  </a:extLst>
                </a:hlinkClick>
              </a:rPr>
              <a:t>https://www.researchgate.net/figure/2-A-graph-visualisation-of-the-topology-of-network-connections-of-the-core-of-the_fig2_239550496</a:t>
            </a:r>
            <a:br>
              <a:rPr b="0" i="0" lang="en-US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</a:br>
            <a:r>
              <a:rPr b="0" i="0" lang="en-US" sz="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 </a:t>
            </a:r>
            <a:r>
              <a:rPr b="0" i="0" lang="en-US" sz="6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Image source7: https://www.semrush.com/blog/knowledge-graph/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65" name="Google Shape;65;g3220fd27c11_4_44"/>
          <p:cNvPicPr preferRelativeResize="0"/>
          <p:nvPr/>
        </p:nvPicPr>
        <p:blipFill rotWithShape="1">
          <a:blip r:embed="rId8">
            <a:alphaModFix/>
          </a:blip>
          <a:srcRect b="0" l="0" r="0" t="0"/>
          <a:stretch/>
        </p:blipFill>
        <p:spPr>
          <a:xfrm>
            <a:off x="1969600" y="1334475"/>
            <a:ext cx="1532571" cy="1362301"/>
          </a:xfrm>
          <a:prstGeom prst="rect">
            <a:avLst/>
          </a:prstGeom>
          <a:noFill/>
          <a:ln>
            <a:noFill/>
          </a:ln>
        </p:spPr>
      </p:pic>
      <p:pic>
        <p:nvPicPr>
          <p:cNvPr id="66" name="Google Shape;66;g3220fd27c11_4_44"/>
          <p:cNvPicPr preferRelativeResize="0"/>
          <p:nvPr/>
        </p:nvPicPr>
        <p:blipFill rotWithShape="1">
          <a:blip r:embed="rId9">
            <a:alphaModFix/>
          </a:blip>
          <a:srcRect b="0" l="0" r="0" t="0"/>
          <a:stretch/>
        </p:blipFill>
        <p:spPr>
          <a:xfrm>
            <a:off x="4659375" y="701875"/>
            <a:ext cx="904256" cy="817100"/>
          </a:xfrm>
          <a:prstGeom prst="rect">
            <a:avLst/>
          </a:prstGeom>
          <a:noFill/>
          <a:ln>
            <a:noFill/>
          </a:ln>
        </p:spPr>
      </p:pic>
      <p:pic>
        <p:nvPicPr>
          <p:cNvPr id="67" name="Google Shape;67;g3220fd27c11_4_44" title="y8v87DG48ThckQiaAX837PWLAgvIS9XODapqEkYGJhC4UvMgiXtx6bCQzSw6mS3Tj5uAA3PUhvRwHG9tTo5OGXIZLDhIzbAjc-Zc2J2w17Gr3RMfhDwWreSE0YwE5sh7yEFy9_YMrpaMxZUMVOsCYp_h324LC2ld0EKzmHoUce4lKzMiSv7qLVgj_t1AKbKc.jpg"/>
          <p:cNvPicPr preferRelativeResize="0"/>
          <p:nvPr/>
        </p:nvPicPr>
        <p:blipFill rotWithShape="1">
          <a:blip r:embed="rId10">
            <a:alphaModFix/>
          </a:blip>
          <a:srcRect b="10482" l="0" r="0" t="0"/>
          <a:stretch/>
        </p:blipFill>
        <p:spPr>
          <a:xfrm>
            <a:off x="3638350" y="1518975"/>
            <a:ext cx="1925278" cy="11778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71" name="Shape 7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2" name="Google Shape;72;g3534be74e08_0_7"/>
          <p:cNvSpPr txBox="1"/>
          <p:nvPr>
            <p:ph type="title"/>
          </p:nvPr>
        </p:nvSpPr>
        <p:spPr>
          <a:xfrm>
            <a:off x="739300" y="163800"/>
            <a:ext cx="4312500" cy="443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12700">
            <a:spAutoFit/>
          </a:bodyPr>
          <a:lstStyle/>
          <a:p>
            <a:pPr indent="-400050" lvl="0" marL="62865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rPr lang="en-US" sz="1400"/>
              <a:t>Transportation Networks : flight routes example</a:t>
            </a:r>
            <a:endParaRPr sz="1400"/>
          </a:p>
          <a:p>
            <a:pPr indent="0" lvl="0" marL="17526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 sz="1400"/>
          </a:p>
        </p:txBody>
      </p:sp>
      <p:sp>
        <p:nvSpPr>
          <p:cNvPr id="73" name="Google Shape;73;g3534be74e08_0_7"/>
          <p:cNvSpPr txBox="1"/>
          <p:nvPr/>
        </p:nvSpPr>
        <p:spPr>
          <a:xfrm>
            <a:off x="133300" y="419925"/>
            <a:ext cx="5349600" cy="338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-789305" lvl="0" marL="801370" marR="5080" rtl="0" algn="l">
              <a:lnSpc>
                <a:spcPct val="102600"/>
              </a:lnSpc>
              <a:spcBef>
                <a:spcPts val="295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t/>
            </a:r>
            <a:endParaRPr b="1" i="0" sz="1000" u="none" cap="none" strike="noStrike">
              <a:solidFill>
                <a:schemeClr val="dk1"/>
              </a:solidFill>
              <a:latin typeface="Tahoma"/>
              <a:ea typeface="Tahoma"/>
              <a:cs typeface="Tahoma"/>
              <a:sym typeface="Tahoma"/>
            </a:endParaRPr>
          </a:p>
        </p:txBody>
      </p:sp>
      <p:pic>
        <p:nvPicPr>
          <p:cNvPr id="74" name="Google Shape;74;g3534be74e08_0_7"/>
          <p:cNvPicPr preferRelativeResize="0"/>
          <p:nvPr/>
        </p:nvPicPr>
        <p:blipFill rotWithShape="1">
          <a:blip r:embed="rId3">
            <a:alphaModFix/>
          </a:blip>
          <a:srcRect b="3017" l="3794" r="7340" t="3818"/>
          <a:stretch/>
        </p:blipFill>
        <p:spPr>
          <a:xfrm>
            <a:off x="2621250" y="419925"/>
            <a:ext cx="3116401" cy="1993950"/>
          </a:xfrm>
          <a:prstGeom prst="rect">
            <a:avLst/>
          </a:prstGeom>
          <a:noFill/>
          <a:ln>
            <a:noFill/>
          </a:ln>
        </p:spPr>
      </p:pic>
      <p:sp>
        <p:nvSpPr>
          <p:cNvPr id="75" name="Google Shape;75;g3534be74e08_0_7"/>
          <p:cNvSpPr txBox="1"/>
          <p:nvPr/>
        </p:nvSpPr>
        <p:spPr>
          <a:xfrm>
            <a:off x="-33050" y="2085975"/>
            <a:ext cx="5682300" cy="1108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-177800" lvl="0" marL="28575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Arial"/>
              <a:buChar char="●"/>
            </a:pPr>
            <a:r>
              <a:rPr b="0" i="0" lang="en-US" sz="10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Each </a:t>
            </a:r>
            <a:r>
              <a:rPr b="1" i="0" lang="en-US" sz="10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vertex</a:t>
            </a:r>
            <a:r>
              <a:rPr b="0" i="0" lang="en-US" sz="10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 represents a </a:t>
            </a:r>
            <a:r>
              <a:rPr b="1" i="0" lang="en-US" sz="10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city</a:t>
            </a:r>
            <a:endParaRPr b="1" i="0" sz="10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177800" lvl="0" marL="28575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Arial"/>
              <a:buChar char="●"/>
            </a:pPr>
            <a:r>
              <a:rPr b="0" i="0" lang="en-US" sz="10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Each </a:t>
            </a:r>
            <a:r>
              <a:rPr b="1" i="0" lang="en-US" sz="10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edge</a:t>
            </a:r>
            <a:r>
              <a:rPr b="0" i="0" lang="en-US" sz="10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 represents a </a:t>
            </a:r>
            <a:r>
              <a:rPr b="1" i="0" lang="en-US" sz="10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direct flight</a:t>
            </a:r>
            <a:r>
              <a:rPr b="0" i="0" lang="en-US" sz="10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 between two cities</a:t>
            </a:r>
            <a:endParaRPr b="0" i="0" sz="10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177800" lvl="0" marL="28575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Arial"/>
              <a:buChar char="●"/>
            </a:pPr>
            <a:r>
              <a:rPr b="0" i="0" lang="en-US" sz="10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A </a:t>
            </a:r>
            <a:r>
              <a:rPr b="1" i="0" lang="en-US" sz="10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query on direct flights</a:t>
            </a:r>
            <a:r>
              <a:rPr b="0" i="0" lang="en-US" sz="10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 = check whether an </a:t>
            </a:r>
            <a:r>
              <a:rPr b="1" i="0" lang="en-US" sz="10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edge exists</a:t>
            </a:r>
            <a:r>
              <a:rPr b="0" i="0" lang="en-US" sz="10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 between two vertices</a:t>
            </a:r>
            <a:endParaRPr b="0" i="0" sz="10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177800" lvl="0" marL="28575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Arial"/>
              <a:buChar char="●"/>
            </a:pPr>
            <a:r>
              <a:rPr b="0" i="0" lang="en-US" sz="10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A </a:t>
            </a:r>
            <a:r>
              <a:rPr b="1" i="0" lang="en-US" sz="10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query on how to get to a location</a:t>
            </a:r>
            <a:r>
              <a:rPr b="0" i="0" lang="en-US" sz="10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 = check whether a </a:t>
            </a:r>
            <a:r>
              <a:rPr b="1" i="0" lang="en-US" sz="10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path exists</a:t>
            </a:r>
            <a:r>
              <a:rPr b="0" i="0" lang="en-US" sz="10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 from city A to city B</a:t>
            </a:r>
            <a:endParaRPr b="0" i="0" sz="10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177800" lvl="0" marL="28575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Arial"/>
              <a:buChar char="●"/>
            </a:pPr>
            <a:r>
              <a:rPr b="0" i="0" lang="en-US" sz="10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If </a:t>
            </a:r>
            <a:r>
              <a:rPr b="1" i="0" lang="en-US" sz="10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costs</a:t>
            </a:r>
            <a:r>
              <a:rPr b="0" i="0" lang="en-US" sz="10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 are associated with edges (i.e., </a:t>
            </a:r>
            <a:r>
              <a:rPr b="1" i="0" lang="en-US" sz="10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weighted graphs</a:t>
            </a:r>
            <a:r>
              <a:rPr b="0" i="0" lang="en-US" sz="10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), </a:t>
            </a:r>
            <a:br>
              <a:rPr b="0" i="0" lang="en-US" sz="10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</a:br>
            <a:r>
              <a:rPr b="0" i="0" lang="en-US" sz="10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we can Ask: “What is the </a:t>
            </a:r>
            <a:r>
              <a:rPr b="1" i="0" lang="en-US" sz="10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cheapest path</a:t>
            </a:r>
            <a:r>
              <a:rPr b="0" i="0" lang="en-US" sz="10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 from A to B?”</a:t>
            </a:r>
            <a:endParaRPr b="0" i="0" sz="10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79" name="Shape 7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0" name="Google Shape;80;g3220fd27c11_4_52"/>
          <p:cNvSpPr txBox="1"/>
          <p:nvPr>
            <p:ph type="title"/>
          </p:nvPr>
        </p:nvSpPr>
        <p:spPr>
          <a:xfrm>
            <a:off x="257642" y="145433"/>
            <a:ext cx="4230900" cy="2745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12700">
            <a:spAutoFit/>
          </a:bodyPr>
          <a:lstStyle/>
          <a:p>
            <a:pPr indent="0" lvl="0" marL="17526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rPr lang="en-US"/>
              <a:t>Examples of graphs</a:t>
            </a:r>
            <a:endParaRPr/>
          </a:p>
        </p:txBody>
      </p:sp>
      <p:sp>
        <p:nvSpPr>
          <p:cNvPr id="81" name="Google Shape;81;g3220fd27c11_4_52"/>
          <p:cNvSpPr txBox="1"/>
          <p:nvPr/>
        </p:nvSpPr>
        <p:spPr>
          <a:xfrm>
            <a:off x="134150" y="443050"/>
            <a:ext cx="5349600" cy="566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-789305" lvl="0" marL="801370" marR="267335" rtl="0" algn="l">
              <a:lnSpc>
                <a:spcPct val="102600"/>
              </a:lnSpc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0" i="0" lang="en-US" sz="1100" u="none" cap="none" strike="noStrike">
                <a:solidFill>
                  <a:srgbClr val="3333B2"/>
                </a:solidFill>
                <a:latin typeface="Calibri"/>
                <a:ea typeface="Calibri"/>
                <a:cs typeface="Calibri"/>
                <a:sym typeface="Calibri"/>
              </a:rPr>
              <a:t>Social Networks </a:t>
            </a:r>
            <a:r>
              <a:rPr b="0" i="0" lang="en-US" sz="11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(e.g., Facebook, LinkedIn)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789305" lvl="0" marL="801370" marR="267335" rtl="0" algn="l">
              <a:lnSpc>
                <a:spcPct val="102600"/>
              </a:lnSpc>
              <a:spcBef>
                <a:spcPts val="30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b="0" i="0" lang="en-US" sz="1100" u="none" cap="none" strike="noStrike">
                <a:solidFill>
                  <a:srgbClr val="3333B2"/>
                </a:solidFill>
                <a:latin typeface="Calibri"/>
                <a:ea typeface="Calibri"/>
                <a:cs typeface="Calibri"/>
                <a:sym typeface="Calibri"/>
              </a:rPr>
              <a:t>Dependency Networks</a:t>
            </a:r>
            <a:r>
              <a:rPr b="0" i="0" lang="en-US" sz="11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(e.g., task scheduling, software dependencies)</a:t>
            </a:r>
            <a:endParaRPr b="1" i="0" sz="1000" u="none" cap="none" strike="noStrike">
              <a:solidFill>
                <a:schemeClr val="dk1"/>
              </a:solidFill>
              <a:latin typeface="Tahoma"/>
              <a:ea typeface="Tahoma"/>
              <a:cs typeface="Tahoma"/>
              <a:sym typeface="Tahoma"/>
            </a:endParaRPr>
          </a:p>
        </p:txBody>
      </p:sp>
      <p:sp>
        <p:nvSpPr>
          <p:cNvPr id="82" name="Google Shape;82;g3220fd27c11_4_52"/>
          <p:cNvSpPr txBox="1"/>
          <p:nvPr/>
        </p:nvSpPr>
        <p:spPr>
          <a:xfrm>
            <a:off x="117650" y="2706975"/>
            <a:ext cx="5382600" cy="3693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600"/>
              <a:buFont typeface="Arial"/>
              <a:buNone/>
            </a:pPr>
            <a:r>
              <a:rPr b="0" i="0" lang="en-US" sz="600" u="none" cap="none" strike="noStrik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rPr>
              <a:t>Image source6:</a:t>
            </a:r>
            <a:r>
              <a:rPr b="0" i="0" lang="en-US" sz="600" u="none" cap="none" strike="noStrike">
                <a:solidFill>
                  <a:schemeClr val="dk1"/>
                </a:solidFill>
                <a:uFill>
                  <a:noFill/>
                </a:uFill>
                <a:latin typeface="Tahoma"/>
                <a:ea typeface="Tahoma"/>
                <a:cs typeface="Tahoma"/>
                <a:sym typeface="Tahoma"/>
                <a:hlinkClick r:id="rId3">
                  <a:extLst>
                    <a:ext uri="{A12FA001-AC4F-418D-AE19-62706E023703}">
                      <ahyp:hlinkClr val="tx"/>
                    </a:ext>
                  </a:extLst>
                </a:hlinkClick>
              </a:rPr>
              <a:t> </a:t>
            </a:r>
            <a:r>
              <a:rPr b="0" i="0" lang="en-US" sz="600" u="sng" cap="none" strike="noStrike">
                <a:solidFill>
                  <a:srgbClr val="1155CC"/>
                </a:solidFill>
                <a:latin typeface="Tahoma"/>
                <a:ea typeface="Tahoma"/>
                <a:cs typeface="Tahoma"/>
                <a:sym typeface="Tahoma"/>
                <a:hlinkClick r:id="rId4">
                  <a:extLst>
                    <a:ext uri="{A12FA001-AC4F-418D-AE19-62706E023703}">
                      <ahyp:hlinkClr val="tx"/>
                    </a:ext>
                  </a:extLst>
                </a:hlinkClick>
              </a:rPr>
              <a:t>https://www.researchgate.net/publication/340347681_A_Study_on_Graph_Theory_Properties_of_On-line_Social_Networks</a:t>
            </a:r>
            <a:br>
              <a:rPr b="0" i="0" lang="en-US" sz="1200" u="none" cap="none" strike="noStrike">
                <a:solidFill>
                  <a:srgbClr val="000000"/>
                </a:solidFill>
                <a:latin typeface="Tahoma"/>
                <a:ea typeface="Tahoma"/>
                <a:cs typeface="Tahoma"/>
                <a:sym typeface="Tahoma"/>
              </a:rPr>
            </a:br>
            <a:r>
              <a:rPr b="0" i="0" lang="en-US" sz="600" u="none" cap="none" strike="noStrik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rPr>
              <a:t>Image source4:</a:t>
            </a:r>
            <a:r>
              <a:rPr b="0" i="0" lang="en-US" sz="600" u="none" cap="none" strike="noStrike">
                <a:solidFill>
                  <a:schemeClr val="dk1"/>
                </a:solidFill>
                <a:uFill>
                  <a:noFill/>
                </a:uFill>
                <a:latin typeface="Tahoma"/>
                <a:ea typeface="Tahoma"/>
                <a:cs typeface="Tahoma"/>
                <a:sym typeface="Tahoma"/>
                <a:hlinkClick r:id="rId5">
                  <a:extLst>
                    <a:ext uri="{A12FA001-AC4F-418D-AE19-62706E023703}">
                      <ahyp:hlinkClr val="tx"/>
                    </a:ext>
                  </a:extLst>
                </a:hlinkClick>
              </a:rPr>
              <a:t> </a:t>
            </a:r>
            <a:r>
              <a:rPr b="0" i="0" lang="en-US" sz="600" u="sng" cap="none" strike="noStrike">
                <a:solidFill>
                  <a:srgbClr val="1155CC"/>
                </a:solidFill>
                <a:latin typeface="Tahoma"/>
                <a:ea typeface="Tahoma"/>
                <a:cs typeface="Tahoma"/>
                <a:sym typeface="Tahoma"/>
                <a:hlinkClick r:id="rId6">
                  <a:extLst>
                    <a:ext uri="{A12FA001-AC4F-418D-AE19-62706E023703}">
                      <ahyp:hlinkClr val="tx"/>
                    </a:ext>
                  </a:extLst>
                </a:hlinkClick>
              </a:rPr>
              <a:t>https://benthamopen.com/contents/supplementary-material/TOBIOIJ-5-53_SD1.pdf</a:t>
            </a:r>
            <a:endParaRPr b="0" i="0" sz="1200" u="none" cap="none" strike="noStrike">
              <a:solidFill>
                <a:srgbClr val="000000"/>
              </a:solidFill>
              <a:latin typeface="Tahoma"/>
              <a:ea typeface="Tahoma"/>
              <a:cs typeface="Tahoma"/>
              <a:sym typeface="Tahoma"/>
            </a:endParaRPr>
          </a:p>
        </p:txBody>
      </p:sp>
      <p:pic>
        <p:nvPicPr>
          <p:cNvPr id="83" name="Google Shape;83;g3220fd27c11_4_52"/>
          <p:cNvPicPr preferRelativeResize="0"/>
          <p:nvPr/>
        </p:nvPicPr>
        <p:blipFill rotWithShape="1">
          <a:blip r:embed="rId7">
            <a:alphaModFix/>
          </a:blip>
          <a:srcRect b="0" l="0" r="0" t="0"/>
          <a:stretch/>
        </p:blipFill>
        <p:spPr>
          <a:xfrm>
            <a:off x="648925" y="1107500"/>
            <a:ext cx="1680351" cy="1444375"/>
          </a:xfrm>
          <a:prstGeom prst="rect">
            <a:avLst/>
          </a:prstGeom>
          <a:noFill/>
          <a:ln>
            <a:noFill/>
          </a:ln>
        </p:spPr>
      </p:pic>
      <p:pic>
        <p:nvPicPr>
          <p:cNvPr id="84" name="Google Shape;84;g3220fd27c11_4_52"/>
          <p:cNvPicPr preferRelativeResize="0"/>
          <p:nvPr/>
        </p:nvPicPr>
        <p:blipFill rotWithShape="1">
          <a:blip r:embed="rId8">
            <a:alphaModFix/>
          </a:blip>
          <a:srcRect b="0" l="0" r="0" t="0"/>
          <a:stretch/>
        </p:blipFill>
        <p:spPr>
          <a:xfrm>
            <a:off x="2766426" y="1107499"/>
            <a:ext cx="1924398" cy="1444374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88" name="Shape 8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9" name="Google Shape;89;g3220fd27c11_0_89"/>
          <p:cNvSpPr txBox="1"/>
          <p:nvPr>
            <p:ph type="title"/>
          </p:nvPr>
        </p:nvSpPr>
        <p:spPr>
          <a:xfrm>
            <a:off x="1094450" y="104925"/>
            <a:ext cx="4449900" cy="5361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12700">
            <a:spAutoFit/>
          </a:bodyPr>
          <a:lstStyle/>
          <a:p>
            <a:pPr indent="0" lvl="0" marL="127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</a:pPr>
            <a:r>
              <a:rPr lang="en-US"/>
              <a:t>Directed vs undirected Graph (Recap)</a:t>
            </a:r>
            <a:endParaRPr/>
          </a:p>
          <a:p>
            <a:pPr indent="0" lvl="0" marL="17526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90" name="Google Shape;90;g3220fd27c11_0_89"/>
          <p:cNvSpPr txBox="1"/>
          <p:nvPr/>
        </p:nvSpPr>
        <p:spPr>
          <a:xfrm>
            <a:off x="58625" y="419925"/>
            <a:ext cx="5418300" cy="2316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</a:pPr>
            <a:r>
              <a:rPr b="1" i="0" lang="en-US" sz="800" u="none" cap="none" strike="noStrik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rPr>
              <a:t>Graph Types</a:t>
            </a:r>
            <a:r>
              <a:rPr b="0" i="0" lang="en-US" sz="800" u="none" cap="none" strike="noStrik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rPr>
              <a:t>:</a:t>
            </a:r>
            <a:endParaRPr b="0" i="0" sz="800" u="none" cap="none" strike="noStrike">
              <a:solidFill>
                <a:schemeClr val="dk1"/>
              </a:solidFill>
              <a:latin typeface="Tahoma"/>
              <a:ea typeface="Tahoma"/>
              <a:cs typeface="Tahoma"/>
              <a:sym typeface="Tahoma"/>
            </a:endParaRPr>
          </a:p>
          <a:p>
            <a:pPr indent="-279400" lvl="0" marL="457200" marR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800"/>
              <a:buFont typeface="Arial"/>
              <a:buChar char="●"/>
            </a:pPr>
            <a:r>
              <a:rPr b="1" i="0" lang="en-US" sz="800" u="none" cap="none" strike="noStrik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rPr>
              <a:t>Directed</a:t>
            </a:r>
            <a:r>
              <a:rPr b="0" i="0" lang="en-US" sz="800" u="none" cap="none" strike="noStrik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rPr>
              <a:t>: </a:t>
            </a:r>
            <a:endParaRPr b="0" i="0" sz="800" u="none" cap="none" strike="noStrike">
              <a:solidFill>
                <a:schemeClr val="dk1"/>
              </a:solidFill>
              <a:latin typeface="Tahoma"/>
              <a:ea typeface="Tahoma"/>
              <a:cs typeface="Tahoma"/>
              <a:sym typeface="Tahoma"/>
            </a:endParaRPr>
          </a:p>
          <a:p>
            <a:pPr indent="-279400" lvl="1" marL="9144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Font typeface="Arial"/>
              <a:buChar char="○"/>
            </a:pPr>
            <a:r>
              <a:rPr b="0" i="0" lang="en-US" sz="800" u="none" cap="none" strike="noStrik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rPr>
              <a:t>E contains </a:t>
            </a:r>
            <a:r>
              <a:rPr b="0" i="0" lang="en-US" sz="800" u="sng" cap="none" strike="noStrik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rPr>
              <a:t>ordered pairs</a:t>
            </a:r>
            <a:endParaRPr b="0" i="0" sz="800" u="sng" cap="none" strike="noStrike">
              <a:solidFill>
                <a:schemeClr val="dk1"/>
              </a:solidFill>
              <a:latin typeface="Tahoma"/>
              <a:ea typeface="Tahoma"/>
              <a:cs typeface="Tahoma"/>
              <a:sym typeface="Tahoma"/>
            </a:endParaRPr>
          </a:p>
          <a:p>
            <a:pPr indent="-279400" lvl="1" marL="914400" marR="0" rtl="0" algn="l">
              <a:lnSpc>
                <a:spcPct val="11875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Font typeface="Tahoma"/>
              <a:buChar char="○"/>
            </a:pPr>
            <a:r>
              <a:rPr b="0" i="0" lang="en-US" sz="900" u="none" cap="none" strike="noStrik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rPr>
              <a:t>Edges have direction (one-way streets)</a:t>
            </a:r>
            <a:endParaRPr b="0" i="0" sz="800" u="none" cap="none" strike="noStrike">
              <a:solidFill>
                <a:schemeClr val="dk1"/>
              </a:solidFill>
              <a:latin typeface="Tahoma"/>
              <a:ea typeface="Tahoma"/>
              <a:cs typeface="Tahoma"/>
              <a:sym typeface="Tahoma"/>
            </a:endParaRPr>
          </a:p>
          <a:p>
            <a:pPr indent="-279400" lvl="0" marL="4572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Font typeface="Arial"/>
              <a:buChar char="●"/>
            </a:pPr>
            <a:r>
              <a:rPr b="1" i="0" lang="en-US" sz="800" u="none" cap="none" strike="noStrik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rPr>
              <a:t>Undirected: (Bi-directional)</a:t>
            </a:r>
            <a:endParaRPr b="1" i="0" sz="800" u="none" cap="none" strike="noStrike">
              <a:solidFill>
                <a:schemeClr val="dk1"/>
              </a:solidFill>
              <a:latin typeface="Tahoma"/>
              <a:ea typeface="Tahoma"/>
              <a:cs typeface="Tahoma"/>
              <a:sym typeface="Tahoma"/>
            </a:endParaRPr>
          </a:p>
          <a:p>
            <a:pPr indent="-279400" lvl="1" marL="9144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Font typeface="Arial"/>
              <a:buChar char="○"/>
            </a:pPr>
            <a:r>
              <a:rPr b="0" i="0" lang="en-US" sz="800" u="none" cap="none" strike="noStrik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rPr>
              <a:t>E contains </a:t>
            </a:r>
            <a:r>
              <a:rPr b="0" i="0" lang="en-US" sz="800" u="sng" cap="none" strike="noStrik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rPr>
              <a:t>unordered pairs</a:t>
            </a:r>
            <a:endParaRPr b="0" i="0" sz="800" u="sng" cap="none" strike="noStrike">
              <a:solidFill>
                <a:schemeClr val="dk1"/>
              </a:solidFill>
              <a:latin typeface="Tahoma"/>
              <a:ea typeface="Tahoma"/>
              <a:cs typeface="Tahoma"/>
              <a:sym typeface="Tahoma"/>
            </a:endParaRPr>
          </a:p>
          <a:p>
            <a:pPr indent="-279400" lvl="1" marL="914400" marR="110488" rtl="0" algn="just">
              <a:lnSpc>
                <a:spcPct val="102600"/>
              </a:lnSpc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800"/>
              <a:buFont typeface="Tahoma"/>
              <a:buChar char="○"/>
            </a:pPr>
            <a:r>
              <a:rPr b="0" i="0" lang="en-US" sz="900" u="none" cap="none" strike="noStrik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rPr>
              <a:t>Edges have no direction (two-way streets)</a:t>
            </a:r>
            <a:endParaRPr b="0" i="0" sz="900" u="none" cap="none" strike="noStrike">
              <a:solidFill>
                <a:schemeClr val="dk1"/>
              </a:solidFill>
              <a:latin typeface="Tahoma"/>
              <a:ea typeface="Tahoma"/>
              <a:cs typeface="Tahoma"/>
              <a:sym typeface="Tahoma"/>
            </a:endParaRPr>
          </a:p>
          <a:p>
            <a:pPr indent="0" lvl="0" marL="0" marR="110488" rtl="0" algn="just">
              <a:lnSpc>
                <a:spcPct val="102600"/>
              </a:lnSpc>
              <a:spcBef>
                <a:spcPts val="30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</a:pPr>
            <a:r>
              <a:t/>
            </a:r>
            <a:endParaRPr b="0" i="0" sz="900" u="none" cap="none" strike="noStrike">
              <a:solidFill>
                <a:schemeClr val="dk1"/>
              </a:solidFill>
              <a:latin typeface="Tahoma"/>
              <a:ea typeface="Tahoma"/>
              <a:cs typeface="Tahoma"/>
              <a:sym typeface="Tahoma"/>
            </a:endParaRPr>
          </a:p>
          <a:p>
            <a:pPr indent="0" lvl="0" marL="0" marR="110488" rtl="0" algn="just">
              <a:lnSpc>
                <a:spcPct val="102600"/>
              </a:lnSpc>
              <a:spcBef>
                <a:spcPts val="30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</a:pPr>
            <a:r>
              <a:t/>
            </a:r>
            <a:endParaRPr b="0" i="0" sz="900" u="none" cap="none" strike="noStrike">
              <a:solidFill>
                <a:schemeClr val="dk1"/>
              </a:solidFill>
              <a:latin typeface="Tahoma"/>
              <a:ea typeface="Tahoma"/>
              <a:cs typeface="Tahoma"/>
              <a:sym typeface="Tahoma"/>
            </a:endParaRPr>
          </a:p>
          <a:p>
            <a:pPr indent="0" lvl="0" marL="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</a:pPr>
            <a:r>
              <a:rPr b="1" i="0" lang="en-US" sz="800" u="none" cap="none" strike="noStrik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rPr>
              <a:t>Vertex Adjacency</a:t>
            </a:r>
            <a:r>
              <a:rPr b="0" i="0" lang="en-US" sz="800" u="none" cap="none" strike="noStrik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rPr>
              <a:t>:</a:t>
            </a:r>
            <a:endParaRPr b="0" i="0" sz="800" u="none" cap="none" strike="noStrike">
              <a:solidFill>
                <a:schemeClr val="dk1"/>
              </a:solidFill>
              <a:latin typeface="Tahoma"/>
              <a:ea typeface="Tahoma"/>
              <a:cs typeface="Tahoma"/>
              <a:sym typeface="Tahoma"/>
            </a:endParaRPr>
          </a:p>
          <a:p>
            <a:pPr indent="-279400" lvl="0" marL="457200" marR="110488" rtl="0" algn="just">
              <a:lnSpc>
                <a:spcPct val="102600"/>
              </a:lnSpc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800"/>
              <a:buFont typeface="Tahoma"/>
              <a:buChar char="●"/>
            </a:pPr>
            <a:r>
              <a:rPr b="0" i="0" lang="en-US" sz="800" u="none" cap="none" strike="noStrik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rPr>
              <a:t>If (</a:t>
            </a:r>
            <a:r>
              <a:rPr b="0" i="1" lang="en-US" sz="800" u="none" cap="none" strike="noStrik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rPr>
              <a:t>u, v </a:t>
            </a:r>
            <a:r>
              <a:rPr b="0" i="0" lang="en-US" sz="800" u="none" cap="none" strike="noStrik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rPr>
              <a:t>) </a:t>
            </a:r>
            <a:r>
              <a:rPr b="0" i="1" lang="en-US" sz="800" u="none" cap="none" strike="noStrik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rPr>
              <a:t>∈ E </a:t>
            </a:r>
            <a:r>
              <a:rPr b="0" i="0" lang="en-US" sz="800" u="none" cap="none" strike="noStrik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rPr>
              <a:t>, </a:t>
            </a:r>
            <a:endParaRPr b="0" i="0" sz="800" u="none" cap="none" strike="noStrike">
              <a:solidFill>
                <a:schemeClr val="dk1"/>
              </a:solidFill>
              <a:latin typeface="Tahoma"/>
              <a:ea typeface="Tahoma"/>
              <a:cs typeface="Tahoma"/>
              <a:sym typeface="Tahoma"/>
            </a:endParaRPr>
          </a:p>
          <a:p>
            <a:pPr indent="-279400" lvl="0" marL="457200" marR="110488" rtl="0" algn="just">
              <a:lnSpc>
                <a:spcPct val="102600"/>
              </a:lnSpc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800"/>
              <a:buFont typeface="Tahoma"/>
              <a:buChar char="●"/>
            </a:pPr>
            <a:r>
              <a:rPr b="0" i="0" lang="en-US" sz="800" u="none" cap="none" strike="noStrik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rPr>
              <a:t>then vertices </a:t>
            </a:r>
            <a:r>
              <a:rPr b="0" i="1" lang="en-US" sz="800" u="none" cap="none" strike="noStrik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rPr>
              <a:t>u </a:t>
            </a:r>
            <a:r>
              <a:rPr b="0" i="0" lang="en-US" sz="800" u="none" cap="none" strike="noStrik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rPr>
              <a:t>and </a:t>
            </a:r>
            <a:r>
              <a:rPr b="0" i="1" lang="en-US" sz="800" u="none" cap="none" strike="noStrik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rPr>
              <a:t>v </a:t>
            </a:r>
            <a:r>
              <a:rPr b="0" i="0" lang="en-US" sz="800" u="none" cap="none" strike="noStrik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rPr>
              <a:t>are </a:t>
            </a:r>
            <a:r>
              <a:rPr b="1" i="0" lang="en-US" sz="800" u="none" cap="none" strike="noStrik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rPr>
              <a:t>adjacent.</a:t>
            </a:r>
            <a:br>
              <a:rPr b="0" i="0" lang="en-US" sz="9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</a:br>
            <a:endParaRPr b="1" i="0" sz="600" u="none" cap="none" strike="noStrike">
              <a:solidFill>
                <a:schemeClr val="dk1"/>
              </a:solidFill>
              <a:latin typeface="Tahoma"/>
              <a:ea typeface="Tahoma"/>
              <a:cs typeface="Tahoma"/>
              <a:sym typeface="Tahoma"/>
            </a:endParaRPr>
          </a:p>
        </p:txBody>
      </p:sp>
      <p:sp>
        <p:nvSpPr>
          <p:cNvPr id="91" name="Google Shape;91;g3220fd27c11_0_89"/>
          <p:cNvSpPr txBox="1"/>
          <p:nvPr/>
        </p:nvSpPr>
        <p:spPr>
          <a:xfrm>
            <a:off x="3353250" y="493250"/>
            <a:ext cx="2499300" cy="931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marR="3048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</a:pPr>
            <a:r>
              <a:rPr b="0" baseline="30000" i="0" lang="en-US" sz="1300" u="none" cap="none" strike="noStrik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rPr>
              <a:t>In graph, </a:t>
            </a:r>
            <a:endParaRPr b="0" i="0" sz="1300" u="none" cap="none" strike="noStrike">
              <a:solidFill>
                <a:schemeClr val="dk1"/>
              </a:solidFill>
              <a:latin typeface="Tahoma"/>
              <a:ea typeface="Tahoma"/>
              <a:cs typeface="Tahoma"/>
              <a:sym typeface="Tahoma"/>
            </a:endParaRPr>
          </a:p>
          <a:p>
            <a:pPr indent="-311150" lvl="0" marL="457200" marR="30480" rtl="0" algn="l">
              <a:lnSpc>
                <a:spcPct val="86250"/>
              </a:lnSpc>
              <a:spcBef>
                <a:spcPts val="195"/>
              </a:spcBef>
              <a:spcAft>
                <a:spcPts val="0"/>
              </a:spcAft>
              <a:buClr>
                <a:srgbClr val="334669"/>
              </a:buClr>
              <a:buSzPts val="1300"/>
              <a:buFont typeface="Tahoma"/>
              <a:buChar char="•"/>
            </a:pPr>
            <a:r>
              <a:rPr b="0" baseline="30000" i="0" lang="en-US" sz="1300" u="none" cap="none" strike="noStrik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rPr>
              <a:t>node = Vertex, </a:t>
            </a:r>
            <a:endParaRPr b="0" baseline="30000" i="0" sz="1300" u="none" cap="none" strike="noStrike">
              <a:solidFill>
                <a:schemeClr val="dk1"/>
              </a:solidFill>
              <a:latin typeface="Tahoma"/>
              <a:ea typeface="Tahoma"/>
              <a:cs typeface="Tahoma"/>
              <a:sym typeface="Tahoma"/>
            </a:endParaRPr>
          </a:p>
          <a:p>
            <a:pPr indent="-311150" lvl="0" marL="457200" marR="30480" rtl="0" algn="l">
              <a:lnSpc>
                <a:spcPct val="86250"/>
              </a:lnSpc>
              <a:spcBef>
                <a:spcPts val="195"/>
              </a:spcBef>
              <a:spcAft>
                <a:spcPts val="0"/>
              </a:spcAft>
              <a:buClr>
                <a:srgbClr val="334669"/>
              </a:buClr>
              <a:buSzPts val="1300"/>
              <a:buFont typeface="Tahoma"/>
              <a:buChar char="•"/>
            </a:pPr>
            <a:r>
              <a:rPr b="0" baseline="30000" i="0" lang="en-US" sz="1300" u="none" cap="none" strike="noStrik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rPr>
              <a:t>nodes = vertices</a:t>
            </a:r>
            <a:endParaRPr b="0" i="0" sz="1300" u="none" cap="none" strike="noStrike">
              <a:solidFill>
                <a:schemeClr val="dk1"/>
              </a:solidFill>
              <a:latin typeface="Tahoma"/>
              <a:ea typeface="Tahoma"/>
              <a:cs typeface="Tahoma"/>
              <a:sym typeface="Tahoma"/>
            </a:endParaRPr>
          </a:p>
          <a:p>
            <a:pPr indent="-311150" lvl="0" marL="457200" marR="30480" rtl="0" algn="l">
              <a:lnSpc>
                <a:spcPct val="86250"/>
              </a:lnSpc>
              <a:spcBef>
                <a:spcPts val="195"/>
              </a:spcBef>
              <a:spcAft>
                <a:spcPts val="0"/>
              </a:spcAft>
              <a:buClr>
                <a:srgbClr val="334669"/>
              </a:buClr>
              <a:buSzPts val="1300"/>
              <a:buFont typeface="Tahoma"/>
              <a:buChar char="•"/>
            </a:pPr>
            <a:r>
              <a:rPr b="0" baseline="30000" i="0" lang="en-US" sz="1300" u="none" cap="none" strike="noStrik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rPr>
              <a:t>connection between 2 nodes = edge</a:t>
            </a:r>
            <a:endParaRPr b="0" i="0" sz="1300" u="none" cap="none" strike="noStrike">
              <a:solidFill>
                <a:schemeClr val="dk1"/>
              </a:solidFill>
              <a:latin typeface="Tahoma"/>
              <a:ea typeface="Tahoma"/>
              <a:cs typeface="Tahoma"/>
              <a:sym typeface="Tahoma"/>
            </a:endParaRPr>
          </a:p>
        </p:txBody>
      </p:sp>
      <p:pic>
        <p:nvPicPr>
          <p:cNvPr descr="A diagram of a connection&#10;&#10;Description automatically generated with medium confidence" id="92" name="Google Shape;92;g3220fd27c11_0_89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2556650" y="1869827"/>
            <a:ext cx="2970875" cy="890800"/>
          </a:xfrm>
          <a:prstGeom prst="rect">
            <a:avLst/>
          </a:prstGeom>
          <a:noFill/>
          <a:ln>
            <a:noFill/>
          </a:ln>
        </p:spPr>
      </p:pic>
      <p:sp>
        <p:nvSpPr>
          <p:cNvPr id="93" name="Google Shape;93;g3220fd27c11_0_89"/>
          <p:cNvSpPr txBox="1"/>
          <p:nvPr/>
        </p:nvSpPr>
        <p:spPr>
          <a:xfrm>
            <a:off x="264575" y="2934100"/>
            <a:ext cx="4762500" cy="1515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12700">
            <a:spAutoFit/>
          </a:bodyPr>
          <a:lstStyle/>
          <a:p>
            <a:pPr indent="0" lvl="0" marL="381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</a:pPr>
            <a:r>
              <a:rPr b="0" baseline="30000" i="0" lang="en-US" sz="900" u="none" cap="none" strike="noStrike">
                <a:solidFill>
                  <a:srgbClr val="000000"/>
                </a:solidFill>
                <a:latin typeface="Tahoma"/>
                <a:ea typeface="Tahoma"/>
                <a:cs typeface="Tahoma"/>
                <a:sym typeface="Tahoma"/>
              </a:rPr>
              <a:t>1</a:t>
            </a:r>
            <a:r>
              <a:rPr b="0" i="0" lang="en-US" sz="900" u="none" cap="none" strike="noStrike">
                <a:solidFill>
                  <a:srgbClr val="000000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Cormen, Leiserson, Rivest, Stein. Introduction to Algorithms, 3rd edition, MIT Press, 2009</a:t>
            </a:r>
            <a:endParaRPr b="0" i="0" sz="900" u="none" cap="none" strike="noStrike">
              <a:solidFill>
                <a:srgbClr val="000000"/>
              </a:solidFill>
              <a:latin typeface="Helvetica Neue"/>
              <a:ea typeface="Helvetica Neue"/>
              <a:cs typeface="Helvetica Neue"/>
              <a:sym typeface="Helvetica Neue"/>
            </a:endParaRP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97" name="Shape 9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8" name="Google Shape;98;g3220fd27c11_0_80"/>
          <p:cNvSpPr txBox="1"/>
          <p:nvPr>
            <p:ph type="title"/>
          </p:nvPr>
        </p:nvSpPr>
        <p:spPr>
          <a:xfrm>
            <a:off x="263417" y="68558"/>
            <a:ext cx="4230900" cy="2745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12700">
            <a:spAutoFit/>
          </a:bodyPr>
          <a:lstStyle/>
          <a:p>
            <a:pPr indent="0" lvl="0" marL="17526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lang="en-US"/>
              <a:t>Vertex Degrees</a:t>
            </a:r>
            <a:endParaRPr/>
          </a:p>
        </p:txBody>
      </p:sp>
      <p:pic>
        <p:nvPicPr>
          <p:cNvPr id="99" name="Google Shape;99;g3220fd27c11_0_80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317325" y="1385875"/>
            <a:ext cx="2781249" cy="1577776"/>
          </a:xfrm>
          <a:prstGeom prst="rect">
            <a:avLst/>
          </a:prstGeom>
          <a:noFill/>
          <a:ln>
            <a:noFill/>
          </a:ln>
        </p:spPr>
      </p:pic>
      <p:sp>
        <p:nvSpPr>
          <p:cNvPr id="100" name="Google Shape;100;g3220fd27c11_0_80"/>
          <p:cNvSpPr txBox="1"/>
          <p:nvPr/>
        </p:nvSpPr>
        <p:spPr>
          <a:xfrm>
            <a:off x="3279600" y="2020425"/>
            <a:ext cx="2271900" cy="338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</a:pPr>
            <a:r>
              <a:rPr b="0" i="0" lang="en-US" sz="1000" u="none" cap="none" strike="noStrik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rPr>
              <a:t>What is the degree of d here?</a:t>
            </a:r>
            <a:endParaRPr b="0" i="0" sz="1000" u="none" cap="none" strike="noStrike">
              <a:solidFill>
                <a:schemeClr val="dk1"/>
              </a:solidFill>
              <a:latin typeface="Tahoma"/>
              <a:ea typeface="Tahoma"/>
              <a:cs typeface="Tahoma"/>
              <a:sym typeface="Tahoma"/>
            </a:endParaRPr>
          </a:p>
        </p:txBody>
      </p:sp>
      <p:sp>
        <p:nvSpPr>
          <p:cNvPr id="101" name="Google Shape;101;g3220fd27c11_0_80"/>
          <p:cNvSpPr txBox="1"/>
          <p:nvPr/>
        </p:nvSpPr>
        <p:spPr>
          <a:xfrm>
            <a:off x="-85700" y="501900"/>
            <a:ext cx="5851500" cy="1108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</a:pPr>
            <a:r>
              <a:rPr b="0" i="0" lang="en-US" sz="800" u="none" cap="none" strike="noStrik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rPr>
              <a:t>              Here, v is a node/vertex</a:t>
            </a:r>
            <a:endParaRPr b="0" i="0" sz="800" u="none" cap="none" strike="noStrike">
              <a:solidFill>
                <a:schemeClr val="dk1"/>
              </a:solidFill>
              <a:latin typeface="Tahoma"/>
              <a:ea typeface="Tahoma"/>
              <a:cs typeface="Tahoma"/>
              <a:sym typeface="Tahoma"/>
            </a:endParaRPr>
          </a:p>
          <a:p>
            <a:pPr indent="-279400" lvl="0" marL="457200" marR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800"/>
              <a:buFont typeface="Tahoma"/>
              <a:buChar char="●"/>
            </a:pPr>
            <a:r>
              <a:rPr b="1" i="0" lang="en-US" sz="800" u="none" cap="none" strike="noStrik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rPr>
              <a:t>For undirected graph: </a:t>
            </a:r>
            <a:endParaRPr b="1" i="0" sz="800" u="none" cap="none" strike="noStrike">
              <a:solidFill>
                <a:schemeClr val="dk1"/>
              </a:solidFill>
              <a:latin typeface="Tahoma"/>
              <a:ea typeface="Tahoma"/>
              <a:cs typeface="Tahoma"/>
              <a:sym typeface="Tahoma"/>
            </a:endParaRPr>
          </a:p>
          <a:p>
            <a:pPr indent="-279400" lvl="1" marL="9144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Font typeface="Arial"/>
              <a:buChar char="○"/>
            </a:pPr>
            <a:r>
              <a:rPr b="1" i="0" lang="en-US" sz="800" u="none" cap="none" strike="noStrik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rPr>
              <a:t>Degree (deg⁡(v))</a:t>
            </a:r>
            <a:r>
              <a:rPr b="0" i="0" lang="en-US" sz="800" u="none" cap="none" strike="noStrik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rPr>
              <a:t>: Number of edges connected to v</a:t>
            </a:r>
            <a:br>
              <a:rPr b="0" i="0" lang="en-US" sz="800" u="none" cap="none" strike="noStrik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rPr>
            </a:br>
            <a:endParaRPr b="0" i="0" sz="800" u="none" cap="none" strike="noStrike">
              <a:solidFill>
                <a:schemeClr val="dk1"/>
              </a:solidFill>
              <a:latin typeface="Tahoma"/>
              <a:ea typeface="Tahoma"/>
              <a:cs typeface="Tahoma"/>
              <a:sym typeface="Tahoma"/>
            </a:endParaRPr>
          </a:p>
          <a:p>
            <a:pPr indent="0" lvl="0" marL="4572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</a:pPr>
            <a:r>
              <a:t/>
            </a:r>
            <a:endParaRPr b="0" i="0" sz="800" u="none" cap="none" strike="noStrike">
              <a:solidFill>
                <a:schemeClr val="dk1"/>
              </a:solidFill>
              <a:latin typeface="Tahoma"/>
              <a:ea typeface="Tahoma"/>
              <a:cs typeface="Tahoma"/>
              <a:sym typeface="Tahoma"/>
            </a:endParaRPr>
          </a:p>
          <a:p>
            <a:pPr indent="-228600" lvl="1" marL="9144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00"/>
              <a:buFont typeface="Tahoma"/>
              <a:buNone/>
            </a:pPr>
            <a:r>
              <a:t/>
            </a:r>
            <a:endParaRPr b="0" i="0" sz="400" u="none" cap="none" strike="noStrike">
              <a:solidFill>
                <a:schemeClr val="dk1"/>
              </a:solidFill>
              <a:latin typeface="Tahoma"/>
              <a:ea typeface="Tahoma"/>
              <a:cs typeface="Tahoma"/>
              <a:sym typeface="Tahoma"/>
            </a:endParaRP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05" name="Shape 10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6" name="Google Shape;106;g3b15aef4537_0_0"/>
          <p:cNvSpPr txBox="1"/>
          <p:nvPr>
            <p:ph type="title"/>
          </p:nvPr>
        </p:nvSpPr>
        <p:spPr>
          <a:xfrm>
            <a:off x="263417" y="68558"/>
            <a:ext cx="4230900" cy="2745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12700">
            <a:spAutoFit/>
          </a:bodyPr>
          <a:lstStyle/>
          <a:p>
            <a:pPr indent="0" lvl="0" marL="17526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lang="en-US"/>
              <a:t>Vertex Degrees</a:t>
            </a:r>
            <a:endParaRPr/>
          </a:p>
        </p:txBody>
      </p:sp>
      <p:pic>
        <p:nvPicPr>
          <p:cNvPr id="107" name="Google Shape;107;g3b15aef4537_0_0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317325" y="1396650"/>
            <a:ext cx="2762250" cy="1567001"/>
          </a:xfrm>
          <a:prstGeom prst="rect">
            <a:avLst/>
          </a:prstGeom>
          <a:noFill/>
          <a:ln>
            <a:noFill/>
          </a:ln>
        </p:spPr>
      </p:pic>
      <p:sp>
        <p:nvSpPr>
          <p:cNvPr id="108" name="Google Shape;108;g3b15aef4537_0_0"/>
          <p:cNvSpPr txBox="1"/>
          <p:nvPr/>
        </p:nvSpPr>
        <p:spPr>
          <a:xfrm>
            <a:off x="-85700" y="501900"/>
            <a:ext cx="5851500" cy="1108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</a:pPr>
            <a:r>
              <a:rPr b="0" i="0" lang="en-US" sz="800" u="none" cap="none" strike="noStrik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rPr>
              <a:t>    Here, v is a node/vertex</a:t>
            </a:r>
            <a:endParaRPr b="0" i="0" sz="800" u="none" cap="none" strike="noStrike">
              <a:solidFill>
                <a:schemeClr val="dk1"/>
              </a:solidFill>
              <a:latin typeface="Tahoma"/>
              <a:ea typeface="Tahoma"/>
              <a:cs typeface="Tahoma"/>
              <a:sym typeface="Tahoma"/>
            </a:endParaRPr>
          </a:p>
          <a:p>
            <a:pPr indent="-279400" lvl="0" marL="457200" marR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800"/>
              <a:buFont typeface="Tahoma"/>
              <a:buChar char="●"/>
            </a:pPr>
            <a:r>
              <a:rPr b="1" i="0" lang="en-US" sz="800" u="none" cap="none" strike="noStrik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rPr>
              <a:t>For undirected graph: </a:t>
            </a:r>
            <a:endParaRPr b="1" i="0" sz="800" u="none" cap="none" strike="noStrike">
              <a:solidFill>
                <a:schemeClr val="dk1"/>
              </a:solidFill>
              <a:latin typeface="Tahoma"/>
              <a:ea typeface="Tahoma"/>
              <a:cs typeface="Tahoma"/>
              <a:sym typeface="Tahoma"/>
            </a:endParaRPr>
          </a:p>
          <a:p>
            <a:pPr indent="-279400" lvl="1" marL="9144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Font typeface="Arial"/>
              <a:buChar char="○"/>
            </a:pPr>
            <a:r>
              <a:rPr b="1" i="0" lang="en-US" sz="800" u="none" cap="none" strike="noStrik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rPr>
              <a:t>Degree (deg⁡(v))</a:t>
            </a:r>
            <a:r>
              <a:rPr b="0" i="0" lang="en-US" sz="800" u="none" cap="none" strike="noStrik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rPr>
              <a:t>: Number of edges connected to v</a:t>
            </a:r>
            <a:br>
              <a:rPr b="0" i="0" lang="en-US" sz="800" u="none" cap="none" strike="noStrik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rPr>
            </a:br>
            <a:endParaRPr b="0" i="0" sz="800" u="none" cap="none" strike="noStrike">
              <a:solidFill>
                <a:schemeClr val="dk1"/>
              </a:solidFill>
              <a:latin typeface="Tahoma"/>
              <a:ea typeface="Tahoma"/>
              <a:cs typeface="Tahoma"/>
              <a:sym typeface="Tahoma"/>
            </a:endParaRPr>
          </a:p>
          <a:p>
            <a:pPr indent="0" lvl="0" marL="4572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</a:pPr>
            <a:r>
              <a:t/>
            </a:r>
            <a:endParaRPr b="0" i="0" sz="800" u="none" cap="none" strike="noStrike">
              <a:solidFill>
                <a:schemeClr val="dk1"/>
              </a:solidFill>
              <a:latin typeface="Tahoma"/>
              <a:ea typeface="Tahoma"/>
              <a:cs typeface="Tahoma"/>
              <a:sym typeface="Tahoma"/>
            </a:endParaRPr>
          </a:p>
          <a:p>
            <a:pPr indent="-228600" lvl="1" marL="9144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00"/>
              <a:buFont typeface="Tahoma"/>
              <a:buNone/>
            </a:pPr>
            <a:r>
              <a:t/>
            </a:r>
            <a:endParaRPr b="0" i="0" sz="400" u="none" cap="none" strike="noStrike">
              <a:solidFill>
                <a:schemeClr val="dk1"/>
              </a:solidFill>
              <a:latin typeface="Tahoma"/>
              <a:ea typeface="Tahoma"/>
              <a:cs typeface="Tahoma"/>
              <a:sym typeface="Tahoma"/>
            </a:endParaRPr>
          </a:p>
        </p:txBody>
      </p:sp>
      <p:sp>
        <p:nvSpPr>
          <p:cNvPr id="109" name="Google Shape;109;g3b15aef4537_0_0"/>
          <p:cNvSpPr txBox="1"/>
          <p:nvPr/>
        </p:nvSpPr>
        <p:spPr>
          <a:xfrm>
            <a:off x="3236475" y="1654625"/>
            <a:ext cx="2271900" cy="800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0" i="0" lang="en-US" sz="1000" u="none" cap="none" strike="noStrik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rPr>
              <a:t>Degree of d is 3.</a:t>
            </a:r>
            <a:br>
              <a:rPr b="0" i="0" lang="en-US" sz="1000" u="none" cap="none" strike="noStrik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rPr>
            </a:br>
            <a:r>
              <a:rPr b="0" i="0" lang="en-US" sz="1000" u="none" cap="none" strike="noStrik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rPr>
              <a:t>Because d is connected to b, c, e by 3 edges</a:t>
            </a:r>
            <a:endParaRPr b="0" i="0" sz="1000" u="none" cap="none" strike="noStrike">
              <a:solidFill>
                <a:schemeClr val="dk1"/>
              </a:solidFill>
              <a:latin typeface="Tahoma"/>
              <a:ea typeface="Tahoma"/>
              <a:cs typeface="Tahoma"/>
              <a:sym typeface="Tahoma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</a:pPr>
            <a:r>
              <a:t/>
            </a:r>
            <a:endParaRPr b="0" i="0" sz="1000" u="none" cap="none" strike="noStrike">
              <a:solidFill>
                <a:schemeClr val="dk1"/>
              </a:solidFill>
              <a:latin typeface="Tahoma"/>
              <a:ea typeface="Tahoma"/>
              <a:cs typeface="Tahoma"/>
              <a:sym typeface="Tahoma"/>
            </a:endParaRP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13" name="Shape 1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4" name="Google Shape;114;g3220fd27c11_4_91"/>
          <p:cNvSpPr txBox="1"/>
          <p:nvPr>
            <p:ph type="title"/>
          </p:nvPr>
        </p:nvSpPr>
        <p:spPr>
          <a:xfrm>
            <a:off x="213967" y="204833"/>
            <a:ext cx="4230900" cy="259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12700">
            <a:spAutoFit/>
          </a:bodyPr>
          <a:lstStyle/>
          <a:p>
            <a:pPr indent="0" lvl="0" marL="17526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lang="en-US" sz="1600"/>
              <a:t>Vertex Degrees</a:t>
            </a:r>
            <a:endParaRPr sz="1600"/>
          </a:p>
        </p:txBody>
      </p:sp>
      <p:sp>
        <p:nvSpPr>
          <p:cNvPr id="115" name="Google Shape;115;g3220fd27c11_4_91"/>
          <p:cNvSpPr txBox="1"/>
          <p:nvPr/>
        </p:nvSpPr>
        <p:spPr>
          <a:xfrm>
            <a:off x="25025" y="350350"/>
            <a:ext cx="5651100" cy="966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</a:pPr>
            <a:r>
              <a:t/>
            </a:r>
            <a:endParaRPr b="0" i="0" sz="800" u="none" cap="none" strike="noStrike">
              <a:solidFill>
                <a:schemeClr val="dk1"/>
              </a:solidFill>
              <a:latin typeface="Tahoma"/>
              <a:ea typeface="Tahoma"/>
              <a:cs typeface="Tahoma"/>
              <a:sym typeface="Tahoma"/>
            </a:endParaRPr>
          </a:p>
          <a:p>
            <a:pPr indent="-279400" lvl="0" marL="457200" marR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800"/>
              <a:buFont typeface="Tahoma"/>
              <a:buChar char="●"/>
            </a:pPr>
            <a:r>
              <a:rPr b="1" i="0" lang="en-US" sz="800" u="none" cap="none" strike="noStrik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rPr>
              <a:t>For undirected graph: </a:t>
            </a:r>
            <a:endParaRPr b="1" i="0" sz="800" u="none" cap="none" strike="noStrike">
              <a:solidFill>
                <a:schemeClr val="dk1"/>
              </a:solidFill>
              <a:latin typeface="Tahoma"/>
              <a:ea typeface="Tahoma"/>
              <a:cs typeface="Tahoma"/>
              <a:sym typeface="Tahoma"/>
            </a:endParaRPr>
          </a:p>
          <a:p>
            <a:pPr indent="-279400" lvl="1" marL="9144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Font typeface="Arial"/>
              <a:buChar char="○"/>
            </a:pPr>
            <a:r>
              <a:rPr b="1" i="0" lang="en-US" sz="800" u="none" cap="none" strike="noStrik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rPr>
              <a:t>Degree (deg⁡(v))</a:t>
            </a:r>
            <a:r>
              <a:rPr b="0" i="0" lang="en-US" sz="800" u="none" cap="none" strike="noStrik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rPr>
              <a:t>: Number of edges connected to v</a:t>
            </a:r>
            <a:endParaRPr b="0" i="0" sz="800" u="none" cap="none" strike="noStrike">
              <a:solidFill>
                <a:schemeClr val="dk1"/>
              </a:solidFill>
              <a:latin typeface="Tahoma"/>
              <a:ea typeface="Tahoma"/>
              <a:cs typeface="Tahoma"/>
              <a:sym typeface="Tahoma"/>
            </a:endParaRPr>
          </a:p>
          <a:p>
            <a:pPr indent="0" lvl="0" marL="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</a:pPr>
            <a:r>
              <a:t/>
            </a:r>
            <a:endParaRPr b="0" i="0" sz="800" u="none" cap="none" strike="noStrike">
              <a:solidFill>
                <a:schemeClr val="dk1"/>
              </a:solidFill>
              <a:latin typeface="Tahoma"/>
              <a:ea typeface="Tahoma"/>
              <a:cs typeface="Tahoma"/>
              <a:sym typeface="Tahoma"/>
            </a:endParaRPr>
          </a:p>
          <a:p>
            <a:pPr indent="-228600" lvl="1" marL="9144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00"/>
              <a:buFont typeface="Tahoma"/>
              <a:buNone/>
            </a:pPr>
            <a:r>
              <a:t/>
            </a:r>
            <a:endParaRPr b="0" i="0" sz="400" u="none" cap="none" strike="noStrike">
              <a:solidFill>
                <a:schemeClr val="dk1"/>
              </a:solidFill>
              <a:latin typeface="Tahoma"/>
              <a:ea typeface="Tahoma"/>
              <a:cs typeface="Tahoma"/>
              <a:sym typeface="Tahoma"/>
            </a:endParaRPr>
          </a:p>
        </p:txBody>
      </p:sp>
      <p:grpSp>
        <p:nvGrpSpPr>
          <p:cNvPr id="116" name="Google Shape;116;g3220fd27c11_4_91"/>
          <p:cNvGrpSpPr/>
          <p:nvPr/>
        </p:nvGrpSpPr>
        <p:grpSpPr>
          <a:xfrm>
            <a:off x="309197" y="1655280"/>
            <a:ext cx="4040453" cy="1589569"/>
            <a:chOff x="309197" y="1797780"/>
            <a:chExt cx="4040453" cy="1589569"/>
          </a:xfrm>
        </p:grpSpPr>
        <p:pic>
          <p:nvPicPr>
            <p:cNvPr id="117" name="Google Shape;117;g3220fd27c11_4_91"/>
            <p:cNvPicPr preferRelativeResize="0"/>
            <p:nvPr/>
          </p:nvPicPr>
          <p:blipFill rotWithShape="1">
            <a:blip r:embed="rId3">
              <a:alphaModFix/>
            </a:blip>
            <a:srcRect b="0" l="0" r="0" t="0"/>
            <a:stretch/>
          </p:blipFill>
          <p:spPr>
            <a:xfrm>
              <a:off x="309197" y="1942378"/>
              <a:ext cx="3989651" cy="50610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118" name="Google Shape;118;g3220fd27c11_4_91"/>
            <p:cNvPicPr preferRelativeResize="0"/>
            <p:nvPr/>
          </p:nvPicPr>
          <p:blipFill rotWithShape="1">
            <a:blip r:embed="rId4">
              <a:alphaModFix/>
            </a:blip>
            <a:srcRect b="0" l="0" r="0" t="0"/>
            <a:stretch/>
          </p:blipFill>
          <p:spPr>
            <a:xfrm>
              <a:off x="359998" y="3285749"/>
              <a:ext cx="101600" cy="101600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119" name="Google Shape;119;g3220fd27c11_4_91"/>
            <p:cNvPicPr preferRelativeResize="0"/>
            <p:nvPr/>
          </p:nvPicPr>
          <p:blipFill rotWithShape="1">
            <a:blip r:embed="rId5">
              <a:alphaModFix/>
            </a:blip>
            <a:srcRect b="0" l="0" r="0" t="0"/>
            <a:stretch/>
          </p:blipFill>
          <p:spPr>
            <a:xfrm>
              <a:off x="410798" y="3273048"/>
              <a:ext cx="3938852" cy="114301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120" name="Google Shape;120;g3220fd27c11_4_91"/>
            <p:cNvPicPr preferRelativeResize="0"/>
            <p:nvPr/>
          </p:nvPicPr>
          <p:blipFill rotWithShape="1">
            <a:blip r:embed="rId6">
              <a:alphaModFix/>
            </a:blip>
            <a:srcRect b="0" l="0" r="0" t="0"/>
            <a:stretch/>
          </p:blipFill>
          <p:spPr>
            <a:xfrm>
              <a:off x="4298849" y="1797780"/>
              <a:ext cx="50800" cy="1487968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121" name="Google Shape;121;g3220fd27c11_4_91"/>
            <p:cNvSpPr/>
            <p:nvPr/>
          </p:nvSpPr>
          <p:spPr>
            <a:xfrm>
              <a:off x="309197" y="1986646"/>
              <a:ext cx="3989704" cy="1350010"/>
            </a:xfrm>
            <a:custGeom>
              <a:rect b="b" l="l" r="r" t="t"/>
              <a:pathLst>
                <a:path extrusionOk="0" h="1350010" w="3989704">
                  <a:moveTo>
                    <a:pt x="3989652" y="0"/>
                  </a:moveTo>
                  <a:lnTo>
                    <a:pt x="0" y="0"/>
                  </a:lnTo>
                  <a:lnTo>
                    <a:pt x="0" y="1299102"/>
                  </a:lnTo>
                  <a:lnTo>
                    <a:pt x="4008" y="1318827"/>
                  </a:lnTo>
                  <a:lnTo>
                    <a:pt x="14922" y="1334980"/>
                  </a:lnTo>
                  <a:lnTo>
                    <a:pt x="31075" y="1345894"/>
                  </a:lnTo>
                  <a:lnTo>
                    <a:pt x="50800" y="1349902"/>
                  </a:lnTo>
                  <a:lnTo>
                    <a:pt x="3938852" y="1349902"/>
                  </a:lnTo>
                  <a:lnTo>
                    <a:pt x="3958576" y="1345894"/>
                  </a:lnTo>
                  <a:lnTo>
                    <a:pt x="3974729" y="1334980"/>
                  </a:lnTo>
                  <a:lnTo>
                    <a:pt x="3985644" y="1318827"/>
                  </a:lnTo>
                  <a:lnTo>
                    <a:pt x="3989652" y="1299102"/>
                  </a:lnTo>
                  <a:lnTo>
                    <a:pt x="3989652" y="0"/>
                  </a:lnTo>
                  <a:close/>
                </a:path>
              </a:pathLst>
            </a:custGeom>
            <a:solidFill>
              <a:srgbClr val="E5EFE5"/>
            </a:solidFill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22" name="Google Shape;122;g3220fd27c11_4_91"/>
            <p:cNvSpPr/>
            <p:nvPr/>
          </p:nvSpPr>
          <p:spPr>
            <a:xfrm>
              <a:off x="4298849" y="1835880"/>
              <a:ext cx="0" cy="1469389"/>
            </a:xfrm>
            <a:custGeom>
              <a:rect b="b" l="l" r="r" t="t"/>
              <a:pathLst>
                <a:path extrusionOk="0" h="1469389" w="120000">
                  <a:moveTo>
                    <a:pt x="0" y="1468918"/>
                  </a:moveTo>
                  <a:lnTo>
                    <a:pt x="0" y="0"/>
                  </a:lnTo>
                </a:path>
              </a:pathLst>
            </a:custGeom>
            <a:noFill/>
            <a:ln cap="flat" cmpd="sng" w="9525">
              <a:solidFill>
                <a:srgbClr val="7F7F7F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23" name="Google Shape;123;g3220fd27c11_4_91"/>
            <p:cNvSpPr/>
            <p:nvPr/>
          </p:nvSpPr>
          <p:spPr>
            <a:xfrm>
              <a:off x="4298849" y="1823180"/>
              <a:ext cx="0" cy="12700"/>
            </a:xfrm>
            <a:custGeom>
              <a:rect b="b" l="l" r="r" t="t"/>
              <a:pathLst>
                <a:path extrusionOk="0" h="12700" w="120000">
                  <a:moveTo>
                    <a:pt x="0" y="12700"/>
                  </a:moveTo>
                  <a:lnTo>
                    <a:pt x="0" y="0"/>
                  </a:lnTo>
                </a:path>
              </a:pathLst>
            </a:custGeom>
            <a:noFill/>
            <a:ln cap="flat" cmpd="sng" w="9525">
              <a:solidFill>
                <a:srgbClr val="AFAFAF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24" name="Google Shape;124;g3220fd27c11_4_91"/>
            <p:cNvSpPr/>
            <p:nvPr/>
          </p:nvSpPr>
          <p:spPr>
            <a:xfrm>
              <a:off x="4298849" y="1810480"/>
              <a:ext cx="0" cy="12700"/>
            </a:xfrm>
            <a:custGeom>
              <a:rect b="b" l="l" r="r" t="t"/>
              <a:pathLst>
                <a:path extrusionOk="0" h="12700" w="120000">
                  <a:moveTo>
                    <a:pt x="0" y="12700"/>
                  </a:moveTo>
                  <a:lnTo>
                    <a:pt x="0" y="0"/>
                  </a:lnTo>
                </a:path>
              </a:pathLst>
            </a:custGeom>
            <a:noFill/>
            <a:ln cap="flat" cmpd="sng" w="9525">
              <a:solidFill>
                <a:srgbClr val="CECECE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25" name="Google Shape;125;g3220fd27c11_4_91"/>
            <p:cNvSpPr/>
            <p:nvPr/>
          </p:nvSpPr>
          <p:spPr>
            <a:xfrm>
              <a:off x="4298849" y="1797780"/>
              <a:ext cx="0" cy="12700"/>
            </a:xfrm>
            <a:custGeom>
              <a:rect b="b" l="l" r="r" t="t"/>
              <a:pathLst>
                <a:path extrusionOk="0" h="12700" w="120000">
                  <a:moveTo>
                    <a:pt x="0" y="12700"/>
                  </a:moveTo>
                  <a:lnTo>
                    <a:pt x="0" y="0"/>
                  </a:lnTo>
                </a:path>
              </a:pathLst>
            </a:custGeom>
            <a:noFill/>
            <a:ln cap="flat" cmpd="sng" w="9525">
              <a:solidFill>
                <a:srgbClr val="EFEFEF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pic>
          <p:nvPicPr>
            <p:cNvPr id="126" name="Google Shape;126;g3220fd27c11_4_91"/>
            <p:cNvPicPr preferRelativeResize="0"/>
            <p:nvPr/>
          </p:nvPicPr>
          <p:blipFill rotWithShape="1">
            <a:blip r:embed="rId7">
              <a:alphaModFix/>
            </a:blip>
            <a:srcRect b="0" l="0" r="0" t="0"/>
            <a:stretch/>
          </p:blipFill>
          <p:spPr>
            <a:xfrm>
              <a:off x="359997" y="2011959"/>
              <a:ext cx="2280916" cy="1280164"/>
            </a:xfrm>
            <a:prstGeom prst="rect">
              <a:avLst/>
            </a:prstGeom>
            <a:noFill/>
            <a:ln>
              <a:noFill/>
            </a:ln>
          </p:spPr>
        </p:pic>
      </p:grpSp>
      <p:graphicFrame>
        <p:nvGraphicFramePr>
          <p:cNvPr id="127" name="Google Shape;127;g3220fd27c11_4_91"/>
          <p:cNvGraphicFramePr/>
          <p:nvPr/>
        </p:nvGraphicFramePr>
        <p:xfrm>
          <a:off x="3011509" y="1933165"/>
          <a:ext cx="3000000" cy="3000000"/>
        </p:xfrm>
        <a:graphic>
          <a:graphicData uri="http://schemas.openxmlformats.org/drawingml/2006/table">
            <a:tbl>
              <a:tblPr bandRow="1" firstRow="1">
                <a:noFill/>
                <a:tableStyleId>{21AF7ECD-3733-4280-87E1-7B343A0D3181}</a:tableStyleId>
              </a:tblPr>
              <a:tblGrid>
                <a:gridCol w="527050"/>
                <a:gridCol w="371475"/>
              </a:tblGrid>
              <a:tr h="174000">
                <a:tc>
                  <a:txBody>
                    <a:bodyPr/>
                    <a:lstStyle/>
                    <a:p>
                      <a:pPr indent="0" lvl="0" marL="75565" marR="0" rtl="0" algn="l">
                        <a:lnSpc>
                          <a:spcPct val="106363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100"/>
                        <a:buFont typeface="Arial"/>
                        <a:buNone/>
                      </a:pPr>
                      <a:r>
                        <a:rPr lang="en-US" sz="1100" u="none" cap="none" strike="noStrike"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Vertex</a:t>
                      </a:r>
                      <a:endParaRPr sz="110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0" marB="0" marR="0" marL="0"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CCCC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4445" rtl="0" algn="ctr">
                        <a:lnSpc>
                          <a:spcPct val="106363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100"/>
                        <a:buFont typeface="Arial"/>
                        <a:buNone/>
                      </a:pPr>
                      <a:r>
                        <a:rPr i="1" lang="en-US" sz="1100" u="none" cap="none" strike="noStrike"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deg</a:t>
                      </a:r>
                      <a:endParaRPr sz="110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0" marB="0" marR="0" marL="0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CCCCFF"/>
                    </a:solidFill>
                  </a:tcPr>
                </a:tc>
              </a:tr>
              <a:tr h="174000">
                <a:tc>
                  <a:txBody>
                    <a:bodyPr/>
                    <a:lstStyle/>
                    <a:p>
                      <a:pPr indent="0" lvl="0" marL="75565" marR="0" rtl="0" algn="l">
                        <a:lnSpc>
                          <a:spcPct val="108181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100"/>
                        <a:buFont typeface="Arial"/>
                        <a:buNone/>
                      </a:pPr>
                      <a:r>
                        <a:rPr i="1" lang="en-US" sz="1100" u="none" cap="none" strike="noStrike"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a</a:t>
                      </a:r>
                      <a:endParaRPr sz="110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0" marB="0" marR="0" marL="0"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solidFill>
                      <a:srgbClr val="E5E5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1905" marR="0" rtl="0" algn="ctr">
                        <a:lnSpc>
                          <a:spcPct val="108181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100"/>
                        <a:buFont typeface="Arial"/>
                        <a:buNone/>
                      </a:pPr>
                      <a:r>
                        <a:rPr lang="en-US" sz="1100" u="none" cap="none" strike="noStrike"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2</a:t>
                      </a:r>
                      <a:endParaRPr sz="110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0" marB="0" marR="0" marL="0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solidFill>
                      <a:srgbClr val="E5E5FF"/>
                    </a:solidFill>
                  </a:tcPr>
                </a:tc>
              </a:tr>
              <a:tr h="171450">
                <a:tc>
                  <a:txBody>
                    <a:bodyPr/>
                    <a:lstStyle/>
                    <a:p>
                      <a:pPr indent="0" lvl="0" marL="75565" marR="0" rtl="0" algn="l">
                        <a:lnSpc>
                          <a:spcPct val="106363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100"/>
                        <a:buFont typeface="Arial"/>
                        <a:buNone/>
                      </a:pPr>
                      <a:r>
                        <a:rPr i="1" lang="en-US" sz="1100" u="none" cap="none" strike="noStrike"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b</a:t>
                      </a:r>
                      <a:endParaRPr sz="110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0" marB="0" marR="0" marL="0"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solidFill>
                      <a:srgbClr val="CCCC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1905" marR="0" rtl="0" algn="ctr">
                        <a:lnSpc>
                          <a:spcPct val="106363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100"/>
                        <a:buFont typeface="Arial"/>
                        <a:buNone/>
                      </a:pPr>
                      <a:r>
                        <a:rPr lang="en-US" sz="1100" u="none" cap="none" strike="noStrike"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4</a:t>
                      </a:r>
                      <a:endParaRPr sz="110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0" marB="0" marR="0" marL="0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solidFill>
                      <a:srgbClr val="CCCCFF"/>
                    </a:solidFill>
                  </a:tcPr>
                </a:tc>
              </a:tr>
              <a:tr h="171450">
                <a:tc>
                  <a:txBody>
                    <a:bodyPr/>
                    <a:lstStyle/>
                    <a:p>
                      <a:pPr indent="0" lvl="0" marL="75565" marR="0" rtl="0" algn="l">
                        <a:lnSpc>
                          <a:spcPct val="106363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100"/>
                        <a:buFont typeface="Arial"/>
                        <a:buNone/>
                      </a:pPr>
                      <a:r>
                        <a:rPr i="1" lang="en-US" sz="1100" u="none" cap="none" strike="noStrike"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c</a:t>
                      </a:r>
                      <a:endParaRPr sz="110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0" marB="0" marR="0" marL="0"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solidFill>
                      <a:srgbClr val="E5E5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1905" marR="0" rtl="0" algn="ctr">
                        <a:lnSpc>
                          <a:spcPct val="106363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100"/>
                        <a:buFont typeface="Arial"/>
                        <a:buNone/>
                      </a:pPr>
                      <a:r>
                        <a:rPr lang="en-US" sz="1100" u="none" cap="none" strike="noStrike"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2</a:t>
                      </a:r>
                      <a:endParaRPr sz="110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0" marB="0" marR="0" marL="0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solidFill>
                      <a:srgbClr val="E5E5FF"/>
                    </a:solidFill>
                  </a:tcPr>
                </a:tc>
              </a:tr>
              <a:tr h="171450">
                <a:tc>
                  <a:txBody>
                    <a:bodyPr/>
                    <a:lstStyle/>
                    <a:p>
                      <a:pPr indent="0" lvl="0" marL="75565" marR="0" rtl="0" algn="l">
                        <a:lnSpc>
                          <a:spcPct val="106363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100"/>
                        <a:buFont typeface="Arial"/>
                        <a:buNone/>
                      </a:pPr>
                      <a:r>
                        <a:rPr i="1" lang="en-US" sz="1100" u="none" cap="none" strike="noStrike"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d</a:t>
                      </a:r>
                      <a:endParaRPr sz="110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0" marB="0" marR="0" marL="0"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solidFill>
                      <a:srgbClr val="CCCC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1905" marR="0" rtl="0" algn="ctr">
                        <a:lnSpc>
                          <a:spcPct val="106363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100"/>
                        <a:buFont typeface="Arial"/>
                        <a:buNone/>
                      </a:pPr>
                      <a:r>
                        <a:rPr lang="en-US" sz="1100" u="none" cap="none" strike="noStrike"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4</a:t>
                      </a:r>
                      <a:endParaRPr sz="110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0" marB="0" marR="0" marL="0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solidFill>
                      <a:srgbClr val="CCCCFF"/>
                    </a:solidFill>
                  </a:tcPr>
                </a:tc>
              </a:tr>
              <a:tr h="171450">
                <a:tc>
                  <a:txBody>
                    <a:bodyPr/>
                    <a:lstStyle/>
                    <a:p>
                      <a:pPr indent="0" lvl="0" marL="75565" marR="0" rtl="0" algn="l">
                        <a:lnSpc>
                          <a:spcPct val="106363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100"/>
                        <a:buFont typeface="Arial"/>
                        <a:buNone/>
                      </a:pPr>
                      <a:r>
                        <a:rPr i="1" lang="en-US" sz="1100" u="none" cap="none" strike="noStrike"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e</a:t>
                      </a:r>
                      <a:endParaRPr sz="110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0" marB="0" marR="0" marL="0"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solidFill>
                      <a:srgbClr val="E5E5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1905" marR="0" rtl="0" algn="ctr">
                        <a:lnSpc>
                          <a:spcPct val="106363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100"/>
                        <a:buFont typeface="Arial"/>
                        <a:buNone/>
                      </a:pPr>
                      <a:r>
                        <a:rPr lang="en-US" sz="1100" u="none" cap="none" strike="noStrike"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5</a:t>
                      </a:r>
                      <a:endParaRPr sz="110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0" marB="0" marR="0" marL="0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solidFill>
                      <a:srgbClr val="E5E5FF"/>
                    </a:solidFill>
                  </a:tcPr>
                </a:tc>
              </a:tr>
            </a:tbl>
          </a:graphicData>
        </a:graphic>
      </p:graphicFrame>
      <p:sp>
        <p:nvSpPr>
          <p:cNvPr id="128" name="Google Shape;128;g3220fd27c11_4_91"/>
          <p:cNvSpPr/>
          <p:nvPr/>
        </p:nvSpPr>
        <p:spPr>
          <a:xfrm>
            <a:off x="334572" y="1595837"/>
            <a:ext cx="3989704" cy="201930"/>
          </a:xfrm>
          <a:custGeom>
            <a:rect b="b" l="l" r="r" t="t"/>
            <a:pathLst>
              <a:path extrusionOk="0" h="201930" w="3989704">
                <a:moveTo>
                  <a:pt x="3938852" y="0"/>
                </a:moveTo>
                <a:lnTo>
                  <a:pt x="50800" y="0"/>
                </a:lnTo>
                <a:lnTo>
                  <a:pt x="31075" y="4008"/>
                </a:lnTo>
                <a:lnTo>
                  <a:pt x="14922" y="14922"/>
                </a:lnTo>
                <a:lnTo>
                  <a:pt x="4008" y="31075"/>
                </a:lnTo>
                <a:lnTo>
                  <a:pt x="0" y="50800"/>
                </a:lnTo>
                <a:lnTo>
                  <a:pt x="0" y="201471"/>
                </a:lnTo>
                <a:lnTo>
                  <a:pt x="3989652" y="201471"/>
                </a:lnTo>
                <a:lnTo>
                  <a:pt x="3989652" y="50800"/>
                </a:lnTo>
                <a:lnTo>
                  <a:pt x="3985644" y="31075"/>
                </a:lnTo>
                <a:lnTo>
                  <a:pt x="3974729" y="14922"/>
                </a:lnTo>
                <a:lnTo>
                  <a:pt x="3958576" y="4008"/>
                </a:lnTo>
                <a:lnTo>
                  <a:pt x="3938852" y="0"/>
                </a:lnTo>
                <a:close/>
              </a:path>
            </a:pathLst>
          </a:custGeom>
          <a:solidFill>
            <a:srgbClr val="005F00"/>
          </a:solidFill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205103" marR="0" rtl="0" algn="l">
              <a:lnSpc>
                <a:spcPct val="100000"/>
              </a:lnSpc>
              <a:spcBef>
                <a:spcPts val="1315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0" i="0" lang="en-US" sz="110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Example (Undirected graph)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32" name="Shape 1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3" name="Google Shape;133;g3220fd27c11_4_22"/>
          <p:cNvSpPr txBox="1"/>
          <p:nvPr>
            <p:ph type="title"/>
          </p:nvPr>
        </p:nvSpPr>
        <p:spPr>
          <a:xfrm>
            <a:off x="286567" y="35533"/>
            <a:ext cx="4230900" cy="2745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12700">
            <a:spAutoFit/>
          </a:bodyPr>
          <a:lstStyle/>
          <a:p>
            <a:pPr indent="0" lvl="0" marL="17526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lang="en-US"/>
              <a:t>Vertex Degrees</a:t>
            </a:r>
            <a:endParaRPr/>
          </a:p>
        </p:txBody>
      </p:sp>
      <p:sp>
        <p:nvSpPr>
          <p:cNvPr id="134" name="Google Shape;134;g3220fd27c11_4_22"/>
          <p:cNvSpPr txBox="1"/>
          <p:nvPr/>
        </p:nvSpPr>
        <p:spPr>
          <a:xfrm>
            <a:off x="29700" y="275350"/>
            <a:ext cx="5651100" cy="1379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</a:pPr>
            <a:r>
              <a:rPr b="1" i="0" lang="en-US" sz="800" u="none" cap="none" strike="noStrik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rPr>
              <a:t>Vertex Degrees</a:t>
            </a:r>
            <a:r>
              <a:rPr b="0" i="0" lang="en-US" sz="800" u="none" cap="none" strike="noStrik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rPr>
              <a:t>:, here v is a node/vertex</a:t>
            </a:r>
            <a:br>
              <a:rPr b="0" i="0" lang="en-US" sz="800" u="none" cap="none" strike="noStrik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rPr>
            </a:br>
            <a:endParaRPr b="0" i="0" sz="800" u="none" cap="none" strike="noStrike">
              <a:solidFill>
                <a:schemeClr val="dk1"/>
              </a:solidFill>
              <a:latin typeface="Tahoma"/>
              <a:ea typeface="Tahoma"/>
              <a:cs typeface="Tahoma"/>
              <a:sym typeface="Tahoma"/>
            </a:endParaRPr>
          </a:p>
          <a:p>
            <a:pPr indent="-279400" lvl="0" marL="4572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Font typeface="Tahoma"/>
              <a:buChar char="●"/>
            </a:pPr>
            <a:r>
              <a:rPr b="1" i="0" lang="en-US" sz="800" u="none" cap="none" strike="noStrik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rPr>
              <a:t>For directed graph: </a:t>
            </a:r>
            <a:endParaRPr b="1" i="0" sz="800" u="none" cap="none" strike="noStrike">
              <a:solidFill>
                <a:schemeClr val="dk1"/>
              </a:solidFill>
              <a:latin typeface="Tahoma"/>
              <a:ea typeface="Tahoma"/>
              <a:cs typeface="Tahoma"/>
              <a:sym typeface="Tahoma"/>
            </a:endParaRPr>
          </a:p>
          <a:p>
            <a:pPr indent="-136525" lvl="1" marL="714375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Font typeface="Arial"/>
              <a:buChar char="○"/>
            </a:pPr>
            <a:r>
              <a:rPr b="1" i="0" lang="en-US" sz="800" u="none" cap="none" strike="noStrik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rPr>
              <a:t>In-degree (indeg(v))</a:t>
            </a:r>
            <a:r>
              <a:rPr b="0" i="0" lang="en-US" sz="800" u="none" cap="none" strike="noStrik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rPr>
              <a:t>: Number of </a:t>
            </a:r>
            <a:r>
              <a:rPr b="1" i="0" lang="en-US" sz="800" u="none" cap="none" strike="noStrike">
                <a:solidFill>
                  <a:srgbClr val="0000FF"/>
                </a:solidFill>
                <a:latin typeface="Tahoma"/>
                <a:ea typeface="Tahoma"/>
                <a:cs typeface="Tahoma"/>
                <a:sym typeface="Tahoma"/>
              </a:rPr>
              <a:t>incoming </a:t>
            </a:r>
            <a:r>
              <a:rPr b="0" i="0" lang="en-US" sz="800" u="none" cap="none" strike="noStrik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rPr>
              <a:t> edges to v (Number of edges ending at the vertex)</a:t>
            </a:r>
            <a:endParaRPr b="0" i="0" sz="800" u="none" cap="none" strike="noStrike">
              <a:solidFill>
                <a:schemeClr val="dk1"/>
              </a:solidFill>
              <a:latin typeface="Tahoma"/>
              <a:ea typeface="Tahoma"/>
              <a:cs typeface="Tahoma"/>
              <a:sym typeface="Tahoma"/>
            </a:endParaRPr>
          </a:p>
          <a:p>
            <a:pPr indent="-136525" lvl="1" marL="714375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Font typeface="Arial"/>
              <a:buChar char="○"/>
            </a:pPr>
            <a:r>
              <a:rPr b="1" i="0" lang="en-US" sz="800" u="none" cap="none" strike="noStrik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rPr>
              <a:t>Out-degree (outdeg(v))</a:t>
            </a:r>
            <a:r>
              <a:rPr b="0" i="0" lang="en-US" sz="800" u="none" cap="none" strike="noStrik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rPr>
              <a:t>: Number of </a:t>
            </a:r>
            <a:r>
              <a:rPr b="1" i="0" lang="en-US" sz="800" u="none" cap="none" strike="noStrike">
                <a:solidFill>
                  <a:srgbClr val="0000FF"/>
                </a:solidFill>
                <a:latin typeface="Tahoma"/>
                <a:ea typeface="Tahoma"/>
                <a:cs typeface="Tahoma"/>
                <a:sym typeface="Tahoma"/>
              </a:rPr>
              <a:t>outgoing</a:t>
            </a:r>
            <a:r>
              <a:rPr b="0" i="0" lang="en-US" sz="800" u="none" cap="none" strike="noStrik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rPr>
              <a:t> edges from v (Number of edges originating from the vertex)</a:t>
            </a:r>
            <a:br>
              <a:rPr b="0" i="0" lang="en-US" sz="800" u="none" cap="none" strike="noStrik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rPr>
            </a:br>
            <a:endParaRPr b="0" i="0" sz="800" u="none" cap="none" strike="noStrike">
              <a:solidFill>
                <a:schemeClr val="dk1"/>
              </a:solidFill>
              <a:latin typeface="Tahoma"/>
              <a:ea typeface="Tahoma"/>
              <a:cs typeface="Tahoma"/>
              <a:sym typeface="Tahoma"/>
            </a:endParaRPr>
          </a:p>
          <a:p>
            <a:pPr indent="-279400" lvl="0" marL="4572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Font typeface="Arial"/>
              <a:buChar char="●"/>
            </a:pPr>
            <a:r>
              <a:rPr b="1" i="0" lang="en-US" sz="800" u="none" cap="none" strike="noStrik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rPr>
              <a:t>Directed Edge Representation</a:t>
            </a:r>
            <a:r>
              <a:rPr b="0" i="0" lang="en-US" sz="800" u="none" cap="none" strike="noStrik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rPr>
              <a:t>: Edge (a,b): Outgoing from a, incoming to b.</a:t>
            </a:r>
            <a:endParaRPr b="0" i="0" sz="800" u="none" cap="none" strike="noStrike">
              <a:solidFill>
                <a:schemeClr val="dk1"/>
              </a:solidFill>
              <a:latin typeface="Tahoma"/>
              <a:ea typeface="Tahoma"/>
              <a:cs typeface="Tahoma"/>
              <a:sym typeface="Tahoma"/>
            </a:endParaRPr>
          </a:p>
          <a:p>
            <a:pPr indent="-228600" lvl="1" marL="9144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00"/>
              <a:buFont typeface="Tahoma"/>
              <a:buNone/>
            </a:pPr>
            <a:r>
              <a:t/>
            </a:r>
            <a:endParaRPr b="0" i="0" sz="400" u="none" cap="none" strike="noStrike">
              <a:solidFill>
                <a:schemeClr val="dk1"/>
              </a:solidFill>
              <a:latin typeface="Tahoma"/>
              <a:ea typeface="Tahoma"/>
              <a:cs typeface="Tahoma"/>
              <a:sym typeface="Tahoma"/>
            </a:endParaRPr>
          </a:p>
        </p:txBody>
      </p:sp>
      <p:sp>
        <p:nvSpPr>
          <p:cNvPr id="135" name="Google Shape;135;g3220fd27c11_4_22"/>
          <p:cNvSpPr txBox="1"/>
          <p:nvPr/>
        </p:nvSpPr>
        <p:spPr>
          <a:xfrm>
            <a:off x="3143050" y="1936675"/>
            <a:ext cx="2396100" cy="338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</a:pPr>
            <a:r>
              <a:rPr b="0" i="0" lang="en-US" sz="1000" u="none" cap="none" strike="noStrik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rPr>
              <a:t>What is in-degree and out-degree of d?</a:t>
            </a:r>
            <a:endParaRPr b="0" i="0" sz="1000" u="none" cap="none" strike="noStrike">
              <a:solidFill>
                <a:schemeClr val="dk1"/>
              </a:solidFill>
              <a:latin typeface="Tahoma"/>
              <a:ea typeface="Tahoma"/>
              <a:cs typeface="Tahoma"/>
              <a:sym typeface="Tahoma"/>
            </a:endParaRPr>
          </a:p>
        </p:txBody>
      </p:sp>
      <p:pic>
        <p:nvPicPr>
          <p:cNvPr id="136" name="Google Shape;136;g3220fd27c11_4_22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202450" y="1823850"/>
            <a:ext cx="2638300" cy="138772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40" name="Shape 14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1" name="Google Shape;141;g3b15aef4537_0_8"/>
          <p:cNvSpPr txBox="1"/>
          <p:nvPr>
            <p:ph type="title"/>
          </p:nvPr>
        </p:nvSpPr>
        <p:spPr>
          <a:xfrm>
            <a:off x="286567" y="35533"/>
            <a:ext cx="4230900" cy="2745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12700">
            <a:spAutoFit/>
          </a:bodyPr>
          <a:lstStyle/>
          <a:p>
            <a:pPr indent="0" lvl="0" marL="17526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lang="en-US"/>
              <a:t>Vertex Degrees</a:t>
            </a:r>
            <a:endParaRPr/>
          </a:p>
        </p:txBody>
      </p:sp>
      <p:sp>
        <p:nvSpPr>
          <p:cNvPr id="142" name="Google Shape;142;g3b15aef4537_0_8"/>
          <p:cNvSpPr txBox="1"/>
          <p:nvPr/>
        </p:nvSpPr>
        <p:spPr>
          <a:xfrm>
            <a:off x="29700" y="275350"/>
            <a:ext cx="5651100" cy="1379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</a:pPr>
            <a:r>
              <a:rPr b="1" i="0" lang="en-US" sz="800" u="none" cap="none" strike="noStrik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rPr>
              <a:t>Vertex Degrees</a:t>
            </a:r>
            <a:r>
              <a:rPr b="0" i="0" lang="en-US" sz="800" u="none" cap="none" strike="noStrik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rPr>
              <a:t>:, here v is a node/vertex</a:t>
            </a:r>
            <a:br>
              <a:rPr b="0" i="0" lang="en-US" sz="800" u="none" cap="none" strike="noStrik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rPr>
            </a:br>
            <a:endParaRPr b="0" i="0" sz="800" u="none" cap="none" strike="noStrike">
              <a:solidFill>
                <a:schemeClr val="dk1"/>
              </a:solidFill>
              <a:latin typeface="Tahoma"/>
              <a:ea typeface="Tahoma"/>
              <a:cs typeface="Tahoma"/>
              <a:sym typeface="Tahoma"/>
            </a:endParaRPr>
          </a:p>
          <a:p>
            <a:pPr indent="-279400" lvl="0" marL="4572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Font typeface="Tahoma"/>
              <a:buChar char="●"/>
            </a:pPr>
            <a:r>
              <a:rPr b="1" i="0" lang="en-US" sz="800" u="none" cap="none" strike="noStrik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rPr>
              <a:t>For directed graph: </a:t>
            </a:r>
            <a:endParaRPr b="1" i="0" sz="800" u="none" cap="none" strike="noStrike">
              <a:solidFill>
                <a:schemeClr val="dk1"/>
              </a:solidFill>
              <a:latin typeface="Tahoma"/>
              <a:ea typeface="Tahoma"/>
              <a:cs typeface="Tahoma"/>
              <a:sym typeface="Tahoma"/>
            </a:endParaRPr>
          </a:p>
          <a:p>
            <a:pPr indent="-279400" lvl="1" marL="9144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Font typeface="Arial"/>
              <a:buChar char="○"/>
            </a:pPr>
            <a:r>
              <a:rPr b="1" i="0" lang="en-US" sz="800" u="none" cap="none" strike="noStrik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rPr>
              <a:t>In-degree (indeg(v))</a:t>
            </a:r>
            <a:r>
              <a:rPr b="0" i="0" lang="en-US" sz="800" u="none" cap="none" strike="noStrik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rPr>
              <a:t>: Number of incoming edges to v (Number of edges ending at the vertex)</a:t>
            </a:r>
            <a:endParaRPr b="0" i="0" sz="800" u="none" cap="none" strike="noStrike">
              <a:solidFill>
                <a:schemeClr val="dk1"/>
              </a:solidFill>
              <a:latin typeface="Tahoma"/>
              <a:ea typeface="Tahoma"/>
              <a:cs typeface="Tahoma"/>
              <a:sym typeface="Tahoma"/>
            </a:endParaRPr>
          </a:p>
          <a:p>
            <a:pPr indent="-279400" lvl="1" marL="9144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Font typeface="Arial"/>
              <a:buChar char="○"/>
            </a:pPr>
            <a:r>
              <a:rPr b="1" i="0" lang="en-US" sz="800" u="none" cap="none" strike="noStrik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rPr>
              <a:t>Out-degree (outdeg(v))</a:t>
            </a:r>
            <a:r>
              <a:rPr b="0" i="0" lang="en-US" sz="800" u="none" cap="none" strike="noStrik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rPr>
              <a:t>: Number of outgoing edges from v (Number of edges originating from the vertex)</a:t>
            </a:r>
            <a:br>
              <a:rPr b="0" i="0" lang="en-US" sz="800" u="none" cap="none" strike="noStrik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rPr>
            </a:br>
            <a:endParaRPr b="0" i="0" sz="800" u="none" cap="none" strike="noStrike">
              <a:solidFill>
                <a:schemeClr val="dk1"/>
              </a:solidFill>
              <a:latin typeface="Tahoma"/>
              <a:ea typeface="Tahoma"/>
              <a:cs typeface="Tahoma"/>
              <a:sym typeface="Tahoma"/>
            </a:endParaRPr>
          </a:p>
          <a:p>
            <a:pPr indent="-279400" lvl="0" marL="4572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Font typeface="Arial"/>
              <a:buChar char="●"/>
            </a:pPr>
            <a:r>
              <a:rPr b="1" i="0" lang="en-US" sz="800" u="none" cap="none" strike="noStrik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rPr>
              <a:t>Directed Edge Representation</a:t>
            </a:r>
            <a:r>
              <a:rPr b="0" i="0" lang="en-US" sz="800" u="none" cap="none" strike="noStrik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rPr>
              <a:t>: Edge (a,b): Outgoing from a, incoming to b.</a:t>
            </a:r>
            <a:endParaRPr b="0" i="0" sz="800" u="none" cap="none" strike="noStrike">
              <a:solidFill>
                <a:schemeClr val="dk1"/>
              </a:solidFill>
              <a:latin typeface="Tahoma"/>
              <a:ea typeface="Tahoma"/>
              <a:cs typeface="Tahoma"/>
              <a:sym typeface="Tahoma"/>
            </a:endParaRPr>
          </a:p>
          <a:p>
            <a:pPr indent="-228600" lvl="1" marL="9144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00"/>
              <a:buFont typeface="Tahoma"/>
              <a:buNone/>
            </a:pPr>
            <a:r>
              <a:t/>
            </a:r>
            <a:endParaRPr b="0" i="0" sz="400" u="none" cap="none" strike="noStrike">
              <a:solidFill>
                <a:schemeClr val="dk1"/>
              </a:solidFill>
              <a:latin typeface="Tahoma"/>
              <a:ea typeface="Tahoma"/>
              <a:cs typeface="Tahoma"/>
              <a:sym typeface="Tahoma"/>
            </a:endParaRPr>
          </a:p>
        </p:txBody>
      </p:sp>
      <p:pic>
        <p:nvPicPr>
          <p:cNvPr id="143" name="Google Shape;143;g3b15aef4537_0_8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202450" y="1823850"/>
            <a:ext cx="2638300" cy="1387725"/>
          </a:xfrm>
          <a:prstGeom prst="rect">
            <a:avLst/>
          </a:prstGeom>
          <a:noFill/>
          <a:ln>
            <a:noFill/>
          </a:ln>
        </p:spPr>
      </p:pic>
      <p:sp>
        <p:nvSpPr>
          <p:cNvPr id="144" name="Google Shape;144;g3b15aef4537_0_8"/>
          <p:cNvSpPr txBox="1"/>
          <p:nvPr/>
        </p:nvSpPr>
        <p:spPr>
          <a:xfrm>
            <a:off x="3322700" y="1716200"/>
            <a:ext cx="2271900" cy="877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-28575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900"/>
              <a:buFont typeface="Tahoma"/>
              <a:buChar char="●"/>
            </a:pPr>
            <a:r>
              <a:rPr b="0" i="0" lang="en-US" sz="900" u="none" cap="none" strike="noStrik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rPr>
              <a:t>In-degree of vertex d is 1. (incoming from b)</a:t>
            </a:r>
            <a:endParaRPr b="0" i="0" sz="900" u="none" cap="none" strike="noStrike">
              <a:solidFill>
                <a:schemeClr val="dk1"/>
              </a:solidFill>
              <a:latin typeface="Tahoma"/>
              <a:ea typeface="Tahoma"/>
              <a:cs typeface="Tahoma"/>
              <a:sym typeface="Tahoma"/>
            </a:endParaRPr>
          </a:p>
          <a:p>
            <a:pPr indent="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</a:pPr>
            <a:r>
              <a:t/>
            </a:r>
            <a:endParaRPr b="0" i="0" sz="900" u="none" cap="none" strike="noStrike">
              <a:solidFill>
                <a:schemeClr val="dk1"/>
              </a:solidFill>
              <a:latin typeface="Tahoma"/>
              <a:ea typeface="Tahoma"/>
              <a:cs typeface="Tahoma"/>
              <a:sym typeface="Tahoma"/>
            </a:endParaRPr>
          </a:p>
          <a:p>
            <a:pPr indent="-28575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900"/>
              <a:buFont typeface="Tahoma"/>
              <a:buChar char="●"/>
            </a:pPr>
            <a:r>
              <a:rPr b="0" i="0" lang="en-US" sz="900" u="none" cap="none" strike="noStrik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rPr>
              <a:t>Out-degree of vertex is 2. (out-going to c, e)</a:t>
            </a:r>
            <a:endParaRPr b="0" i="0" sz="900" u="none" cap="none" strike="noStrike">
              <a:solidFill>
                <a:schemeClr val="dk1"/>
              </a:solidFill>
              <a:latin typeface="Tahoma"/>
              <a:ea typeface="Tahoma"/>
              <a:cs typeface="Tahoma"/>
              <a:sym typeface="Tahoma"/>
            </a:endParaRP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48" name="Shape 1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9" name="Google Shape;149;g3220fd27c11_4_70"/>
          <p:cNvSpPr txBox="1"/>
          <p:nvPr>
            <p:ph type="title"/>
          </p:nvPr>
        </p:nvSpPr>
        <p:spPr>
          <a:xfrm>
            <a:off x="286567" y="35533"/>
            <a:ext cx="4230900" cy="2745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12700">
            <a:spAutoFit/>
          </a:bodyPr>
          <a:lstStyle/>
          <a:p>
            <a:pPr indent="0" lvl="0" marL="17526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lang="en-US"/>
              <a:t>Vertex Degrees</a:t>
            </a:r>
            <a:endParaRPr/>
          </a:p>
        </p:txBody>
      </p:sp>
      <p:sp>
        <p:nvSpPr>
          <p:cNvPr id="150" name="Google Shape;150;g3220fd27c11_4_70"/>
          <p:cNvSpPr txBox="1"/>
          <p:nvPr/>
        </p:nvSpPr>
        <p:spPr>
          <a:xfrm>
            <a:off x="64950" y="310025"/>
            <a:ext cx="5736000" cy="874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</a:pPr>
            <a:r>
              <a:t/>
            </a:r>
            <a:endParaRPr b="0" i="0" sz="800" u="none" cap="none" strike="noStrike">
              <a:solidFill>
                <a:schemeClr val="dk1"/>
              </a:solidFill>
              <a:latin typeface="Tahoma"/>
              <a:ea typeface="Tahoma"/>
              <a:cs typeface="Tahoma"/>
              <a:sym typeface="Tahoma"/>
            </a:endParaRPr>
          </a:p>
          <a:p>
            <a:pPr indent="-279400" lvl="0" marL="4572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Font typeface="Arial"/>
              <a:buChar char="●"/>
            </a:pPr>
            <a:r>
              <a:rPr b="1" i="0" lang="en-US" sz="800" u="none" cap="none" strike="noStrik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rPr>
              <a:t>For directed graph: </a:t>
            </a:r>
            <a:endParaRPr b="1" i="0" sz="800" u="none" cap="none" strike="noStrike">
              <a:solidFill>
                <a:schemeClr val="dk1"/>
              </a:solidFill>
              <a:latin typeface="Tahoma"/>
              <a:ea typeface="Tahoma"/>
              <a:cs typeface="Tahoma"/>
              <a:sym typeface="Tahoma"/>
            </a:endParaRPr>
          </a:p>
          <a:p>
            <a:pPr indent="-279400" lvl="1" marL="9144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Font typeface="Arial"/>
              <a:buChar char="○"/>
            </a:pPr>
            <a:r>
              <a:rPr b="1" i="0" lang="en-US" sz="800" u="none" cap="none" strike="noStrik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rPr>
              <a:t>In-degree (indeg(v))</a:t>
            </a:r>
            <a:r>
              <a:rPr b="0" i="0" lang="en-US" sz="800" u="none" cap="none" strike="noStrik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rPr>
              <a:t>: Number of incoming edges to v (Number of edges ending at the vertex)</a:t>
            </a:r>
            <a:endParaRPr b="0" i="0" sz="800" u="none" cap="none" strike="noStrike">
              <a:solidFill>
                <a:schemeClr val="dk1"/>
              </a:solidFill>
              <a:latin typeface="Tahoma"/>
              <a:ea typeface="Tahoma"/>
              <a:cs typeface="Tahoma"/>
              <a:sym typeface="Tahoma"/>
            </a:endParaRPr>
          </a:p>
          <a:p>
            <a:pPr indent="-279400" lvl="1" marL="9144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Font typeface="Arial"/>
              <a:buChar char="○"/>
            </a:pPr>
            <a:r>
              <a:rPr b="1" i="0" lang="en-US" sz="800" u="none" cap="none" strike="noStrik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rPr>
              <a:t>Out-degree (outdeg(v))</a:t>
            </a:r>
            <a:r>
              <a:rPr b="0" i="0" lang="en-US" sz="800" u="none" cap="none" strike="noStrik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rPr>
              <a:t>: Number of outgoing edges from v (Number of edges originating from the vertex)</a:t>
            </a:r>
            <a:endParaRPr b="1" i="0" sz="800" u="none" cap="none" strike="noStrike">
              <a:solidFill>
                <a:schemeClr val="dk1"/>
              </a:solidFill>
              <a:latin typeface="Tahoma"/>
              <a:ea typeface="Tahoma"/>
              <a:cs typeface="Tahoma"/>
              <a:sym typeface="Tahoma"/>
            </a:endParaRPr>
          </a:p>
        </p:txBody>
      </p:sp>
      <p:grpSp>
        <p:nvGrpSpPr>
          <p:cNvPr id="151" name="Google Shape;151;g3220fd27c11_4_70"/>
          <p:cNvGrpSpPr/>
          <p:nvPr/>
        </p:nvGrpSpPr>
        <p:grpSpPr>
          <a:xfrm>
            <a:off x="601922" y="1585830"/>
            <a:ext cx="4040453" cy="1589569"/>
            <a:chOff x="309197" y="1797780"/>
            <a:chExt cx="4040453" cy="1589569"/>
          </a:xfrm>
        </p:grpSpPr>
        <p:pic>
          <p:nvPicPr>
            <p:cNvPr id="152" name="Google Shape;152;g3220fd27c11_4_70"/>
            <p:cNvPicPr preferRelativeResize="0"/>
            <p:nvPr/>
          </p:nvPicPr>
          <p:blipFill rotWithShape="1">
            <a:blip r:embed="rId3">
              <a:alphaModFix/>
            </a:blip>
            <a:srcRect b="0" l="0" r="0" t="0"/>
            <a:stretch/>
          </p:blipFill>
          <p:spPr>
            <a:xfrm>
              <a:off x="309197" y="1942378"/>
              <a:ext cx="3989651" cy="50610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153" name="Google Shape;153;g3220fd27c11_4_70"/>
            <p:cNvPicPr preferRelativeResize="0"/>
            <p:nvPr/>
          </p:nvPicPr>
          <p:blipFill rotWithShape="1">
            <a:blip r:embed="rId4">
              <a:alphaModFix/>
            </a:blip>
            <a:srcRect b="0" l="0" r="0" t="0"/>
            <a:stretch/>
          </p:blipFill>
          <p:spPr>
            <a:xfrm>
              <a:off x="359998" y="3285749"/>
              <a:ext cx="101600" cy="101600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154" name="Google Shape;154;g3220fd27c11_4_70"/>
            <p:cNvPicPr preferRelativeResize="0"/>
            <p:nvPr/>
          </p:nvPicPr>
          <p:blipFill rotWithShape="1">
            <a:blip r:embed="rId5">
              <a:alphaModFix/>
            </a:blip>
            <a:srcRect b="0" l="0" r="0" t="0"/>
            <a:stretch/>
          </p:blipFill>
          <p:spPr>
            <a:xfrm>
              <a:off x="410798" y="3273048"/>
              <a:ext cx="3938852" cy="114301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155" name="Google Shape;155;g3220fd27c11_4_70"/>
            <p:cNvPicPr preferRelativeResize="0"/>
            <p:nvPr/>
          </p:nvPicPr>
          <p:blipFill rotWithShape="1">
            <a:blip r:embed="rId6">
              <a:alphaModFix/>
            </a:blip>
            <a:srcRect b="0" l="0" r="0" t="0"/>
            <a:stretch/>
          </p:blipFill>
          <p:spPr>
            <a:xfrm>
              <a:off x="4298849" y="1797780"/>
              <a:ext cx="50800" cy="1487968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156" name="Google Shape;156;g3220fd27c11_4_70"/>
            <p:cNvSpPr/>
            <p:nvPr/>
          </p:nvSpPr>
          <p:spPr>
            <a:xfrm>
              <a:off x="309197" y="1986646"/>
              <a:ext cx="3989704" cy="1350010"/>
            </a:xfrm>
            <a:custGeom>
              <a:rect b="b" l="l" r="r" t="t"/>
              <a:pathLst>
                <a:path extrusionOk="0" h="1350010" w="3989704">
                  <a:moveTo>
                    <a:pt x="3989652" y="0"/>
                  </a:moveTo>
                  <a:lnTo>
                    <a:pt x="0" y="0"/>
                  </a:lnTo>
                  <a:lnTo>
                    <a:pt x="0" y="1299102"/>
                  </a:lnTo>
                  <a:lnTo>
                    <a:pt x="4008" y="1318827"/>
                  </a:lnTo>
                  <a:lnTo>
                    <a:pt x="14922" y="1334980"/>
                  </a:lnTo>
                  <a:lnTo>
                    <a:pt x="31075" y="1345894"/>
                  </a:lnTo>
                  <a:lnTo>
                    <a:pt x="50800" y="1349902"/>
                  </a:lnTo>
                  <a:lnTo>
                    <a:pt x="3938852" y="1349902"/>
                  </a:lnTo>
                  <a:lnTo>
                    <a:pt x="3958576" y="1345894"/>
                  </a:lnTo>
                  <a:lnTo>
                    <a:pt x="3974729" y="1334980"/>
                  </a:lnTo>
                  <a:lnTo>
                    <a:pt x="3985644" y="1318827"/>
                  </a:lnTo>
                  <a:lnTo>
                    <a:pt x="3989652" y="1299102"/>
                  </a:lnTo>
                  <a:lnTo>
                    <a:pt x="3989652" y="0"/>
                  </a:lnTo>
                  <a:close/>
                </a:path>
              </a:pathLst>
            </a:custGeom>
            <a:solidFill>
              <a:srgbClr val="E5EFE5"/>
            </a:solidFill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57" name="Google Shape;157;g3220fd27c11_4_70"/>
            <p:cNvSpPr/>
            <p:nvPr/>
          </p:nvSpPr>
          <p:spPr>
            <a:xfrm>
              <a:off x="4298849" y="1835880"/>
              <a:ext cx="0" cy="1469389"/>
            </a:xfrm>
            <a:custGeom>
              <a:rect b="b" l="l" r="r" t="t"/>
              <a:pathLst>
                <a:path extrusionOk="0" h="1469389" w="120000">
                  <a:moveTo>
                    <a:pt x="0" y="1468918"/>
                  </a:moveTo>
                  <a:lnTo>
                    <a:pt x="0" y="0"/>
                  </a:lnTo>
                </a:path>
              </a:pathLst>
            </a:custGeom>
            <a:noFill/>
            <a:ln cap="flat" cmpd="sng" w="9525">
              <a:solidFill>
                <a:srgbClr val="7F7F7F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58" name="Google Shape;158;g3220fd27c11_4_70"/>
            <p:cNvSpPr/>
            <p:nvPr/>
          </p:nvSpPr>
          <p:spPr>
            <a:xfrm>
              <a:off x="4298849" y="1823180"/>
              <a:ext cx="0" cy="12700"/>
            </a:xfrm>
            <a:custGeom>
              <a:rect b="b" l="l" r="r" t="t"/>
              <a:pathLst>
                <a:path extrusionOk="0" h="12700" w="120000">
                  <a:moveTo>
                    <a:pt x="0" y="12700"/>
                  </a:moveTo>
                  <a:lnTo>
                    <a:pt x="0" y="0"/>
                  </a:lnTo>
                </a:path>
              </a:pathLst>
            </a:custGeom>
            <a:noFill/>
            <a:ln cap="flat" cmpd="sng" w="9525">
              <a:solidFill>
                <a:srgbClr val="AFAFAF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59" name="Google Shape;159;g3220fd27c11_4_70"/>
            <p:cNvSpPr/>
            <p:nvPr/>
          </p:nvSpPr>
          <p:spPr>
            <a:xfrm>
              <a:off x="4298849" y="1810480"/>
              <a:ext cx="0" cy="12700"/>
            </a:xfrm>
            <a:custGeom>
              <a:rect b="b" l="l" r="r" t="t"/>
              <a:pathLst>
                <a:path extrusionOk="0" h="12700" w="120000">
                  <a:moveTo>
                    <a:pt x="0" y="12700"/>
                  </a:moveTo>
                  <a:lnTo>
                    <a:pt x="0" y="0"/>
                  </a:lnTo>
                </a:path>
              </a:pathLst>
            </a:custGeom>
            <a:noFill/>
            <a:ln cap="flat" cmpd="sng" w="9525">
              <a:solidFill>
                <a:srgbClr val="CECECE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60" name="Google Shape;160;g3220fd27c11_4_70"/>
            <p:cNvSpPr/>
            <p:nvPr/>
          </p:nvSpPr>
          <p:spPr>
            <a:xfrm>
              <a:off x="4298849" y="1797780"/>
              <a:ext cx="0" cy="12700"/>
            </a:xfrm>
            <a:custGeom>
              <a:rect b="b" l="l" r="r" t="t"/>
              <a:pathLst>
                <a:path extrusionOk="0" h="12700" w="120000">
                  <a:moveTo>
                    <a:pt x="0" y="12700"/>
                  </a:moveTo>
                  <a:lnTo>
                    <a:pt x="0" y="0"/>
                  </a:lnTo>
                </a:path>
              </a:pathLst>
            </a:custGeom>
            <a:noFill/>
            <a:ln cap="flat" cmpd="sng" w="9525">
              <a:solidFill>
                <a:srgbClr val="EFEFEF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pic>
          <p:nvPicPr>
            <p:cNvPr id="161" name="Google Shape;161;g3220fd27c11_4_70"/>
            <p:cNvPicPr preferRelativeResize="0"/>
            <p:nvPr/>
          </p:nvPicPr>
          <p:blipFill rotWithShape="1">
            <a:blip r:embed="rId7">
              <a:alphaModFix/>
            </a:blip>
            <a:srcRect b="0" l="0" r="0" t="0"/>
            <a:stretch/>
          </p:blipFill>
          <p:spPr>
            <a:xfrm>
              <a:off x="359997" y="2011959"/>
              <a:ext cx="2280916" cy="1280164"/>
            </a:xfrm>
            <a:prstGeom prst="rect">
              <a:avLst/>
            </a:prstGeom>
            <a:noFill/>
            <a:ln>
              <a:noFill/>
            </a:ln>
          </p:spPr>
        </p:pic>
      </p:grpSp>
      <p:graphicFrame>
        <p:nvGraphicFramePr>
          <p:cNvPr id="162" name="Google Shape;162;g3220fd27c11_4_70"/>
          <p:cNvGraphicFramePr/>
          <p:nvPr/>
        </p:nvGraphicFramePr>
        <p:xfrm>
          <a:off x="3086709" y="1889877"/>
          <a:ext cx="3000000" cy="3000000"/>
        </p:xfrm>
        <a:graphic>
          <a:graphicData uri="http://schemas.openxmlformats.org/drawingml/2006/table">
            <a:tbl>
              <a:tblPr bandRow="1" firstRow="1">
                <a:noFill/>
                <a:tableStyleId>{21AF7ECD-3733-4280-87E1-7B343A0D3181}</a:tableStyleId>
              </a:tblPr>
              <a:tblGrid>
                <a:gridCol w="573150"/>
                <a:gridCol w="653950"/>
              </a:tblGrid>
              <a:tr h="174000">
                <a:tc>
                  <a:txBody>
                    <a:bodyPr/>
                    <a:lstStyle/>
                    <a:p>
                      <a:pPr indent="0" lvl="0" marL="75565" marR="0" rtl="0" algn="l">
                        <a:lnSpc>
                          <a:spcPct val="106363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100"/>
                        <a:buFont typeface="Arial"/>
                        <a:buNone/>
                      </a:pPr>
                      <a:r>
                        <a:rPr lang="en-US" sz="1100" u="none" cap="none" strike="noStrike"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Vertex</a:t>
                      </a:r>
                      <a:endParaRPr sz="110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0" marB="0" marR="0" marL="0"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CCCC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2540" marR="0" rtl="0" algn="ctr">
                        <a:lnSpc>
                          <a:spcPct val="106363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100"/>
                        <a:buFont typeface="Arial"/>
                        <a:buNone/>
                      </a:pPr>
                      <a:r>
                        <a:rPr lang="en-US" sz="1100" u="none" cap="none" strike="noStrike"/>
                        <a:t>  </a:t>
                      </a:r>
                      <a:r>
                        <a:rPr lang="en-US" sz="1100" u="none" cap="none" strike="noStrike"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in	out</a:t>
                      </a:r>
                      <a:endParaRPr sz="110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0" marB="0" marR="0" marL="0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CCCCFF"/>
                    </a:solidFill>
                  </a:tcPr>
                </a:tc>
              </a:tr>
              <a:tr h="174000">
                <a:tc>
                  <a:txBody>
                    <a:bodyPr/>
                    <a:lstStyle/>
                    <a:p>
                      <a:pPr indent="0" lvl="0" marL="75565" marR="0" rtl="0" algn="l">
                        <a:lnSpc>
                          <a:spcPct val="108181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100"/>
                        <a:buFont typeface="Arial"/>
                        <a:buNone/>
                      </a:pPr>
                      <a:r>
                        <a:rPr i="1" lang="en-US" sz="1100" u="none" cap="none" strike="noStrike"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a</a:t>
                      </a:r>
                      <a:endParaRPr sz="110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0" marB="0" marR="0" marL="0"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solidFill>
                      <a:srgbClr val="E5E5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95885" marR="0" rtl="0" algn="l">
                        <a:lnSpc>
                          <a:spcPct val="108181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100"/>
                        <a:buFont typeface="Arial"/>
                        <a:buNone/>
                      </a:pPr>
                      <a:r>
                        <a:rPr lang="en-US" sz="1100" u="none" cap="none" strike="noStrike"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0	2</a:t>
                      </a:r>
                      <a:endParaRPr sz="110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0" marB="0" marR="0" marL="0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solidFill>
                      <a:srgbClr val="E5E5FF"/>
                    </a:solidFill>
                  </a:tcPr>
                </a:tc>
              </a:tr>
              <a:tr h="171450">
                <a:tc>
                  <a:txBody>
                    <a:bodyPr/>
                    <a:lstStyle/>
                    <a:p>
                      <a:pPr indent="0" lvl="0" marL="75565" marR="0" rtl="0" algn="l">
                        <a:lnSpc>
                          <a:spcPct val="106363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100"/>
                        <a:buFont typeface="Arial"/>
                        <a:buNone/>
                      </a:pPr>
                      <a:r>
                        <a:rPr i="1" lang="en-US" sz="1100" u="none" cap="none" strike="noStrike"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b</a:t>
                      </a:r>
                      <a:endParaRPr sz="110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0" marB="0" marR="0" marL="0"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solidFill>
                      <a:srgbClr val="CCCC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95885" marR="0" rtl="0" algn="l">
                        <a:lnSpc>
                          <a:spcPct val="106363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100"/>
                        <a:buFont typeface="Arial"/>
                        <a:buNone/>
                      </a:pPr>
                      <a:r>
                        <a:rPr lang="en-US" sz="1100" u="none" cap="none" strike="noStrike"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2	2</a:t>
                      </a:r>
                      <a:endParaRPr sz="110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0" marB="0" marR="0" marL="0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solidFill>
                      <a:srgbClr val="CCCCFF"/>
                    </a:solidFill>
                  </a:tcPr>
                </a:tc>
              </a:tr>
              <a:tr h="171450">
                <a:tc>
                  <a:txBody>
                    <a:bodyPr/>
                    <a:lstStyle/>
                    <a:p>
                      <a:pPr indent="0" lvl="0" marL="75565" marR="0" rtl="0" algn="l">
                        <a:lnSpc>
                          <a:spcPct val="106363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100"/>
                        <a:buFont typeface="Arial"/>
                        <a:buNone/>
                      </a:pPr>
                      <a:r>
                        <a:rPr i="1" lang="en-US" sz="1100" u="none" cap="none" strike="noStrike"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c</a:t>
                      </a:r>
                      <a:endParaRPr sz="110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0" marB="0" marR="0" marL="0"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solidFill>
                      <a:srgbClr val="E5E5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95885" marR="0" rtl="0" algn="l">
                        <a:lnSpc>
                          <a:spcPct val="106363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100"/>
                        <a:buFont typeface="Arial"/>
                        <a:buNone/>
                      </a:pPr>
                      <a:r>
                        <a:rPr lang="en-US" sz="1100" u="none" cap="none" strike="noStrike"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2	0</a:t>
                      </a:r>
                      <a:endParaRPr sz="110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0" marB="0" marR="0" marL="0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solidFill>
                      <a:srgbClr val="E5E5FF"/>
                    </a:solidFill>
                  </a:tcPr>
                </a:tc>
              </a:tr>
              <a:tr h="171450">
                <a:tc>
                  <a:txBody>
                    <a:bodyPr/>
                    <a:lstStyle/>
                    <a:p>
                      <a:pPr indent="0" lvl="0" marL="75565" marR="0" rtl="0" algn="l">
                        <a:lnSpc>
                          <a:spcPct val="106363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100"/>
                        <a:buFont typeface="Arial"/>
                        <a:buNone/>
                      </a:pPr>
                      <a:r>
                        <a:rPr i="1" lang="en-US" sz="1100" u="none" cap="none" strike="noStrike"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d</a:t>
                      </a:r>
                      <a:endParaRPr sz="110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0" marB="0" marR="0" marL="0"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solidFill>
                      <a:srgbClr val="CCCC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95885" marR="0" rtl="0" algn="l">
                        <a:lnSpc>
                          <a:spcPct val="106363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100"/>
                        <a:buFont typeface="Arial"/>
                        <a:buNone/>
                      </a:pPr>
                      <a:r>
                        <a:rPr lang="en-US" sz="1100" u="none" cap="none" strike="noStrike"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2	2</a:t>
                      </a:r>
                      <a:endParaRPr sz="110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0" marB="0" marR="0" marL="0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solidFill>
                      <a:srgbClr val="CCCCFF"/>
                    </a:solidFill>
                  </a:tcPr>
                </a:tc>
              </a:tr>
              <a:tr h="171450">
                <a:tc>
                  <a:txBody>
                    <a:bodyPr/>
                    <a:lstStyle/>
                    <a:p>
                      <a:pPr indent="0" lvl="0" marL="75565" marR="0" rtl="0" algn="l">
                        <a:lnSpc>
                          <a:spcPct val="106363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100"/>
                        <a:buFont typeface="Arial"/>
                        <a:buNone/>
                      </a:pPr>
                      <a:r>
                        <a:rPr i="1" lang="en-US" sz="1100" u="none" cap="none" strike="noStrike"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e</a:t>
                      </a:r>
                      <a:endParaRPr sz="110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0" marB="0" marR="0" marL="0"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solidFill>
                      <a:srgbClr val="E5E5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95885" marR="0" rtl="0" algn="l">
                        <a:lnSpc>
                          <a:spcPct val="106363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100"/>
                        <a:buFont typeface="Arial"/>
                        <a:buNone/>
                      </a:pPr>
                      <a:r>
                        <a:rPr lang="en-US" sz="1100" u="none" cap="none" strike="noStrike"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2	3</a:t>
                      </a:r>
                      <a:endParaRPr sz="110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0" marB="0" marR="0" marL="0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solidFill>
                      <a:srgbClr val="E5E5FF"/>
                    </a:solidFill>
                  </a:tcPr>
                </a:tc>
              </a:tr>
            </a:tbl>
          </a:graphicData>
        </a:graphic>
      </p:graphicFrame>
      <p:sp>
        <p:nvSpPr>
          <p:cNvPr id="163" name="Google Shape;163;g3220fd27c11_4_70"/>
          <p:cNvSpPr/>
          <p:nvPr/>
        </p:nvSpPr>
        <p:spPr>
          <a:xfrm>
            <a:off x="627297" y="1546162"/>
            <a:ext cx="3989704" cy="201930"/>
          </a:xfrm>
          <a:custGeom>
            <a:rect b="b" l="l" r="r" t="t"/>
            <a:pathLst>
              <a:path extrusionOk="0" h="201930" w="3989704">
                <a:moveTo>
                  <a:pt x="3938852" y="0"/>
                </a:moveTo>
                <a:lnTo>
                  <a:pt x="50800" y="0"/>
                </a:lnTo>
                <a:lnTo>
                  <a:pt x="31075" y="4008"/>
                </a:lnTo>
                <a:lnTo>
                  <a:pt x="14922" y="14922"/>
                </a:lnTo>
                <a:lnTo>
                  <a:pt x="4008" y="31075"/>
                </a:lnTo>
                <a:lnTo>
                  <a:pt x="0" y="50800"/>
                </a:lnTo>
                <a:lnTo>
                  <a:pt x="0" y="201471"/>
                </a:lnTo>
                <a:lnTo>
                  <a:pt x="3989652" y="201471"/>
                </a:lnTo>
                <a:lnTo>
                  <a:pt x="3989652" y="50800"/>
                </a:lnTo>
                <a:lnTo>
                  <a:pt x="3985644" y="31075"/>
                </a:lnTo>
                <a:lnTo>
                  <a:pt x="3974729" y="14922"/>
                </a:lnTo>
                <a:lnTo>
                  <a:pt x="3958576" y="4008"/>
                </a:lnTo>
                <a:lnTo>
                  <a:pt x="3938852" y="0"/>
                </a:lnTo>
                <a:close/>
              </a:path>
            </a:pathLst>
          </a:custGeom>
          <a:solidFill>
            <a:srgbClr val="005F00"/>
          </a:solidFill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205103" marR="0" rtl="0" algn="l">
              <a:lnSpc>
                <a:spcPct val="100000"/>
              </a:lnSpc>
              <a:spcBef>
                <a:spcPts val="1315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0" i="0" lang="en-US" sz="110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Example (Directed graph)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67" name="Shape 16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8" name="Google Shape;168;g3220fd27c11_5_0"/>
          <p:cNvSpPr txBox="1"/>
          <p:nvPr>
            <p:ph type="title"/>
          </p:nvPr>
        </p:nvSpPr>
        <p:spPr>
          <a:xfrm>
            <a:off x="286567" y="35533"/>
            <a:ext cx="4230900" cy="2745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12700">
            <a:spAutoFit/>
          </a:bodyPr>
          <a:lstStyle/>
          <a:p>
            <a:pPr indent="0" lvl="0" marL="17526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lang="en-US"/>
              <a:t>Path in a Graph</a:t>
            </a:r>
            <a:endParaRPr/>
          </a:p>
        </p:txBody>
      </p:sp>
      <p:sp>
        <p:nvSpPr>
          <p:cNvPr id="169" name="Google Shape;169;g3220fd27c11_5_0"/>
          <p:cNvSpPr txBox="1"/>
          <p:nvPr/>
        </p:nvSpPr>
        <p:spPr>
          <a:xfrm>
            <a:off x="235575" y="383225"/>
            <a:ext cx="5651100" cy="23550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</a:pPr>
            <a:r>
              <a:rPr b="1" i="0" lang="en-US" sz="10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Path:</a:t>
            </a:r>
            <a:r>
              <a:rPr b="0" i="0" lang="en-US" sz="10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 A </a:t>
            </a:r>
            <a:r>
              <a:rPr b="0" i="0" lang="en-US" sz="1000" u="sng" cap="none" strike="noStrike">
                <a:solidFill>
                  <a:srgbClr val="0000FF"/>
                </a:solidFill>
                <a:latin typeface="Arial"/>
                <a:ea typeface="Arial"/>
                <a:cs typeface="Arial"/>
                <a:sym typeface="Arial"/>
              </a:rPr>
              <a:t>sequence of edges</a:t>
            </a:r>
            <a:r>
              <a:rPr b="0" i="0" lang="en-US" sz="10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 connecting two vertices. </a:t>
            </a:r>
            <a:endParaRPr b="0" i="0" sz="10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</a:pPr>
            <a:r>
              <a:rPr b="1" i="0" lang="en-US" sz="10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Length of Path</a:t>
            </a:r>
            <a:r>
              <a:rPr b="0" i="0" lang="en-US" sz="10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: </a:t>
            </a:r>
            <a:r>
              <a:rPr b="0" i="0" lang="en-US" sz="1000" u="sng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Number of edges</a:t>
            </a:r>
            <a:r>
              <a:rPr b="0" i="0" lang="en-US" sz="10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 in the path.</a:t>
            </a:r>
            <a:br>
              <a:rPr b="0" i="0" lang="en-US" sz="10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</a:br>
            <a:br>
              <a:rPr b="0" i="0" lang="en-US" sz="10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</a:br>
            <a:r>
              <a:rPr b="1" i="0" lang="en-US" sz="11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Distance</a:t>
            </a:r>
            <a:r>
              <a:rPr b="0" i="0" lang="en-US" sz="11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: </a:t>
            </a:r>
            <a:r>
              <a:rPr b="0" i="0" lang="en-US" sz="1100" u="sng" cap="none" strike="noStrike">
                <a:solidFill>
                  <a:srgbClr val="0000FF"/>
                </a:solidFill>
                <a:latin typeface="Arial"/>
                <a:ea typeface="Arial"/>
                <a:cs typeface="Arial"/>
                <a:sym typeface="Arial"/>
              </a:rPr>
              <a:t>Shortest path</a:t>
            </a:r>
            <a:r>
              <a:rPr b="0" i="0" lang="en-US" sz="1100" u="none" cap="none" strike="noStrike">
                <a:solidFill>
                  <a:srgbClr val="0000FF"/>
                </a:solidFill>
                <a:latin typeface="Arial"/>
                <a:ea typeface="Arial"/>
                <a:cs typeface="Arial"/>
                <a:sym typeface="Arial"/>
              </a:rPr>
              <a:t> </a:t>
            </a:r>
            <a:r>
              <a:rPr b="0" i="0" lang="en-US" sz="11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length (number of edges) between two vertices.</a:t>
            </a:r>
            <a:br>
              <a:rPr b="0" i="0" lang="en-US" sz="11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</a:br>
            <a:endParaRPr b="0" i="0" sz="10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</a:pPr>
            <a:r>
              <a:rPr b="1" i="0" lang="en-US" sz="10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Path from a to d:  (3 possible paths)</a:t>
            </a:r>
            <a:endParaRPr b="1" i="0" sz="10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292100" lvl="0" marL="457200" marR="0" rtl="0" algn="l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Arial"/>
              <a:buChar char="●"/>
            </a:pPr>
            <a:r>
              <a:rPr b="0" i="0" lang="en-US" sz="10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(a,b), (b, d), length=2</a:t>
            </a:r>
            <a:endParaRPr b="0" i="0" sz="10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29210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Arial"/>
              <a:buChar char="●"/>
            </a:pPr>
            <a:r>
              <a:rPr b="0" i="0" lang="en-US" sz="10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(a,b),(b,c),(c,d),  length=3</a:t>
            </a:r>
            <a:endParaRPr b="0" i="0" sz="10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29210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Arial"/>
              <a:buChar char="●"/>
            </a:pPr>
            <a:r>
              <a:rPr b="0" i="0" lang="en-US" sz="10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(a,b),(b,c),(c,e),(e,d), length=4</a:t>
            </a:r>
            <a:endParaRPr b="0" i="0" sz="10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1200"/>
              </a:spcBef>
              <a:spcAft>
                <a:spcPts val="1200"/>
              </a:spcAft>
              <a:buClr>
                <a:srgbClr val="000000"/>
              </a:buClr>
              <a:buSzPts val="1000"/>
              <a:buFont typeface="Arial"/>
              <a:buNone/>
            </a:pPr>
            <a:r>
              <a:rPr b="1" i="0" lang="en-US" sz="10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Distance from a to d: 2 [</a:t>
            </a:r>
            <a:r>
              <a:rPr b="0" i="0" lang="en-US" sz="10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(a,b), (b, d)</a:t>
            </a:r>
            <a:r>
              <a:rPr b="1" i="0" lang="en-US" sz="10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]</a:t>
            </a:r>
            <a:endParaRPr b="0" i="0" sz="10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170" name="Google Shape;170;g3220fd27c11_5_0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2836950" y="1374325"/>
            <a:ext cx="2709149" cy="1536876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74" name="Shape 1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5" name="Google Shape;175;g3220fd27c11_5_35"/>
          <p:cNvSpPr txBox="1"/>
          <p:nvPr>
            <p:ph type="title"/>
          </p:nvPr>
        </p:nvSpPr>
        <p:spPr>
          <a:xfrm>
            <a:off x="286567" y="35533"/>
            <a:ext cx="4230900" cy="2745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12700">
            <a:spAutoFit/>
          </a:bodyPr>
          <a:lstStyle/>
          <a:p>
            <a:pPr indent="0" lvl="0" marL="17526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lang="en-US"/>
              <a:t>Path in a Graph</a:t>
            </a:r>
            <a:endParaRPr/>
          </a:p>
        </p:txBody>
      </p:sp>
      <p:sp>
        <p:nvSpPr>
          <p:cNvPr id="176" name="Google Shape;176;g3220fd27c11_5_35"/>
          <p:cNvSpPr txBox="1"/>
          <p:nvPr/>
        </p:nvSpPr>
        <p:spPr>
          <a:xfrm>
            <a:off x="219650" y="408300"/>
            <a:ext cx="5718000" cy="1323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b="1" i="0" lang="en-US" sz="11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Path:</a:t>
            </a:r>
            <a:r>
              <a:rPr b="0" i="0" lang="en-US" sz="11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 A sequence of edges connecting two vertices. </a:t>
            </a:r>
            <a:endParaRPr b="0" i="0" sz="11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b="1" i="0" lang="en-US" sz="11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Length of Path</a:t>
            </a:r>
            <a:r>
              <a:rPr b="0" i="0" lang="en-US" sz="11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: Number of edges in the path.</a:t>
            </a:r>
            <a:endParaRPr b="0" i="0" sz="11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b="1" i="0" lang="en-US" sz="11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Path from a to d:  (Only 1 possible path)</a:t>
            </a:r>
            <a:endParaRPr b="0" i="0" sz="11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298450" lvl="0" marL="457200" marR="0" rtl="0" algn="l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Char char="●"/>
            </a:pPr>
            <a:r>
              <a:rPr b="0" i="0" lang="en-US" sz="11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(a,b), (b, d)</a:t>
            </a:r>
            <a:endParaRPr b="0" i="0" sz="11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177" name="Google Shape;177;g3220fd27c11_5_35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2586950" y="1391900"/>
            <a:ext cx="3040750" cy="171437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81" name="Shape 18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2" name="Google Shape;182;g3220fd27c11_5_123"/>
          <p:cNvSpPr txBox="1"/>
          <p:nvPr>
            <p:ph type="title"/>
          </p:nvPr>
        </p:nvSpPr>
        <p:spPr>
          <a:xfrm>
            <a:off x="286567" y="35533"/>
            <a:ext cx="4230900" cy="2745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12700">
            <a:spAutoFit/>
          </a:bodyPr>
          <a:lstStyle/>
          <a:p>
            <a:pPr indent="0" lvl="0" marL="17526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lang="en-US"/>
              <a:t>Connected Graph</a:t>
            </a:r>
            <a:endParaRPr/>
          </a:p>
        </p:txBody>
      </p:sp>
      <p:sp>
        <p:nvSpPr>
          <p:cNvPr id="183" name="Google Shape;183;g3220fd27c11_5_123"/>
          <p:cNvSpPr txBox="1"/>
          <p:nvPr/>
        </p:nvSpPr>
        <p:spPr>
          <a:xfrm>
            <a:off x="184525" y="667175"/>
            <a:ext cx="5651100" cy="548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-298450" lvl="0" marL="457200" marR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Char char="●"/>
            </a:pPr>
            <a:r>
              <a:rPr b="0" i="0" lang="en-US" sz="11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The </a:t>
            </a:r>
            <a:r>
              <a:rPr b="0" i="0" lang="en-US" sz="1100" u="sng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undirected graph</a:t>
            </a:r>
            <a:r>
              <a:rPr b="0" i="0" lang="en-US" sz="11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 G is </a:t>
            </a:r>
            <a:r>
              <a:rPr b="1" i="0" lang="en-US" sz="11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connected</a:t>
            </a:r>
            <a:r>
              <a:rPr b="0" i="0" lang="en-US" sz="11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, </a:t>
            </a:r>
            <a:br>
              <a:rPr b="0" i="0" lang="en-US" sz="11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</a:br>
            <a:r>
              <a:rPr b="0" i="0" lang="en-US" sz="11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if for every pair of vertices u, v there </a:t>
            </a:r>
            <a:r>
              <a:rPr b="1" i="0" lang="en-US" sz="1100" u="none" cap="none" strike="noStrike">
                <a:solidFill>
                  <a:srgbClr val="0000FF"/>
                </a:solidFill>
                <a:latin typeface="Arial"/>
                <a:ea typeface="Arial"/>
                <a:cs typeface="Arial"/>
                <a:sym typeface="Arial"/>
              </a:rPr>
              <a:t>exists a path from u to v </a:t>
            </a:r>
            <a:endParaRPr b="1" i="0" sz="1100" u="none" cap="none" strike="noStrike">
              <a:solidFill>
                <a:srgbClr val="0000FF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184" name="Google Shape;184;g3220fd27c11_5_123" title="fig5_undirected_graph.png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1063325" y="1292800"/>
            <a:ext cx="3321628" cy="172417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88" name="Shape 18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9" name="Google Shape;189;g3220fd27c11_5_26"/>
          <p:cNvSpPr txBox="1"/>
          <p:nvPr>
            <p:ph type="title"/>
          </p:nvPr>
        </p:nvSpPr>
        <p:spPr>
          <a:xfrm>
            <a:off x="286567" y="35533"/>
            <a:ext cx="4230900" cy="2745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12700">
            <a:spAutoFit/>
          </a:bodyPr>
          <a:lstStyle/>
          <a:p>
            <a:pPr indent="0" lvl="0" marL="17526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lang="en-US"/>
              <a:t>Disconnected Graph</a:t>
            </a:r>
            <a:endParaRPr/>
          </a:p>
        </p:txBody>
      </p:sp>
      <p:sp>
        <p:nvSpPr>
          <p:cNvPr id="190" name="Google Shape;190;g3220fd27c11_5_26"/>
          <p:cNvSpPr txBox="1"/>
          <p:nvPr/>
        </p:nvSpPr>
        <p:spPr>
          <a:xfrm>
            <a:off x="124875" y="310025"/>
            <a:ext cx="5340600" cy="1554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</a:pPr>
            <a:r>
              <a:rPr b="1" i="0" lang="en-US" sz="10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Disconnected Graph:</a:t>
            </a:r>
            <a:r>
              <a:rPr b="0" i="0" lang="en-US" sz="10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 No path exists between </a:t>
            </a:r>
            <a:r>
              <a:rPr b="1" i="0" lang="en-US" sz="1000" u="sng" cap="none" strike="noStrike">
                <a:solidFill>
                  <a:srgbClr val="0000FF"/>
                </a:solidFill>
                <a:latin typeface="Arial"/>
                <a:ea typeface="Arial"/>
                <a:cs typeface="Arial"/>
                <a:sym typeface="Arial"/>
              </a:rPr>
              <a:t>certain vertices.</a:t>
            </a:r>
            <a:endParaRPr b="1" i="0" sz="1000" u="sng" cap="none" strike="noStrike">
              <a:solidFill>
                <a:srgbClr val="0000FF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292100" lvl="0" marL="457200" marR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Arial"/>
              <a:buChar char="●"/>
            </a:pPr>
            <a:r>
              <a:rPr b="0" i="0" lang="en-US" sz="10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Vertices that are </a:t>
            </a:r>
            <a:r>
              <a:rPr b="0" i="0" lang="en-US" sz="1000" u="sng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mutually reachable,</a:t>
            </a:r>
            <a:r>
              <a:rPr b="0" i="0" lang="en-US" sz="10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 they form a </a:t>
            </a:r>
            <a:r>
              <a:rPr b="1" i="0" lang="en-US" sz="10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component</a:t>
            </a:r>
            <a:r>
              <a:rPr b="0" i="0" lang="en-US" sz="10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.</a:t>
            </a:r>
            <a:endParaRPr b="0" i="0" sz="10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292100" lvl="0" marL="4572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Arial"/>
              <a:buChar char="●"/>
            </a:pPr>
            <a:r>
              <a:rPr b="0" i="0" lang="en-US" sz="10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If a graph is not connected, the vertices of the graph can be divided into </a:t>
            </a:r>
            <a:br>
              <a:rPr b="0" i="0" lang="en-US" sz="10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</a:br>
            <a:r>
              <a:rPr b="1" i="0" lang="en-US" sz="1000" u="none" cap="none" strike="noStrike">
                <a:solidFill>
                  <a:srgbClr val="0000FF"/>
                </a:solidFill>
                <a:latin typeface="Arial"/>
                <a:ea typeface="Arial"/>
                <a:cs typeface="Arial"/>
                <a:sym typeface="Arial"/>
              </a:rPr>
              <a:t>connected components</a:t>
            </a:r>
            <a:r>
              <a:rPr b="1" i="0" lang="en-US" sz="10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.</a:t>
            </a:r>
            <a:r>
              <a:rPr b="0" i="0" lang="en-US" sz="10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 </a:t>
            </a:r>
            <a:endParaRPr b="0" i="0" sz="10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292100" lvl="0" marL="4572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Arial"/>
              <a:buChar char="●"/>
            </a:pPr>
            <a:r>
              <a:rPr b="0" i="0" lang="en-US" sz="10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Two vertices are in the </a:t>
            </a:r>
            <a:r>
              <a:rPr b="0" i="0" lang="en-US" sz="1000" u="sng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same connected component </a:t>
            </a:r>
            <a:br>
              <a:rPr b="0" i="0" lang="en-US" sz="1000" u="sng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</a:br>
            <a:r>
              <a:rPr b="0" i="0" lang="en-US" sz="10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If and only if they are </a:t>
            </a:r>
            <a:r>
              <a:rPr b="0" i="0" lang="en-US" sz="1000" u="sng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connected by a path.</a:t>
            </a:r>
            <a:endParaRPr b="0" i="0" sz="10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292100" lvl="0" marL="4572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Arial"/>
              <a:buChar char="●"/>
            </a:pPr>
            <a:r>
              <a:rPr b="0" i="0" lang="en-US" sz="10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Example (Figure 5): The graph has two components.</a:t>
            </a:r>
            <a:endParaRPr b="0" i="0" sz="10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191" name="Google Shape;191;g3220fd27c11_5_26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3483025" y="1864625"/>
            <a:ext cx="2160674" cy="122572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95" name="Shape 19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6" name="Google Shape;196;g3534be74e08_0_0"/>
          <p:cNvSpPr txBox="1"/>
          <p:nvPr>
            <p:ph type="title"/>
          </p:nvPr>
        </p:nvSpPr>
        <p:spPr>
          <a:xfrm>
            <a:off x="286567" y="35533"/>
            <a:ext cx="4230900" cy="2745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12700">
            <a:spAutoFit/>
          </a:bodyPr>
          <a:lstStyle/>
          <a:p>
            <a:pPr indent="0" lvl="0" marL="17526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lang="en-US"/>
              <a:t>Disconnected Graph</a:t>
            </a:r>
            <a:endParaRPr/>
          </a:p>
        </p:txBody>
      </p:sp>
      <p:sp>
        <p:nvSpPr>
          <p:cNvPr id="197" name="Google Shape;197;g3534be74e08_0_0"/>
          <p:cNvSpPr txBox="1"/>
          <p:nvPr/>
        </p:nvSpPr>
        <p:spPr>
          <a:xfrm>
            <a:off x="337550" y="310025"/>
            <a:ext cx="5240700" cy="1536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</a:pPr>
            <a:r>
              <a:rPr b="1" i="0" lang="en-US" sz="9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Disconnected Graph:</a:t>
            </a:r>
            <a:r>
              <a:rPr b="0" i="0" lang="en-US" sz="9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 No path exists between certain vertices.</a:t>
            </a:r>
            <a:endParaRPr b="0" i="0" sz="9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292100" lvl="0" marL="457200" marR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Arial"/>
              <a:buChar char="●"/>
            </a:pPr>
            <a:r>
              <a:rPr b="0" i="0" lang="en-US" sz="10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Vertices that are </a:t>
            </a:r>
            <a:r>
              <a:rPr b="0" i="0" lang="en-US" sz="1000" u="sng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mutually reachable,</a:t>
            </a:r>
            <a:r>
              <a:rPr b="0" i="0" lang="en-US" sz="10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 they form a </a:t>
            </a:r>
            <a:r>
              <a:rPr b="1" i="0" lang="en-US" sz="10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component</a:t>
            </a:r>
            <a:r>
              <a:rPr b="0" i="0" lang="en-US" sz="10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.</a:t>
            </a:r>
            <a:endParaRPr b="0" i="0" sz="10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292100" lvl="0" marL="4572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Arial"/>
              <a:buChar char="●"/>
            </a:pPr>
            <a:r>
              <a:rPr b="0" i="0" lang="en-US" sz="10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If a graph is not connected, the vertices of the graph can be divided into </a:t>
            </a:r>
            <a:r>
              <a:rPr b="1" i="0" lang="en-US" sz="1000" u="none" cap="none" strike="noStrike">
                <a:solidFill>
                  <a:srgbClr val="0000FF"/>
                </a:solidFill>
                <a:latin typeface="Arial"/>
                <a:ea typeface="Arial"/>
                <a:cs typeface="Arial"/>
                <a:sym typeface="Arial"/>
              </a:rPr>
              <a:t>connected components</a:t>
            </a:r>
            <a:r>
              <a:rPr b="1" i="0" lang="en-US" sz="10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.</a:t>
            </a:r>
            <a:r>
              <a:rPr b="0" i="0" lang="en-US" sz="10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 </a:t>
            </a:r>
            <a:endParaRPr b="0" i="0" sz="10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292100" lvl="0" marL="4572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Arial"/>
              <a:buChar char="●"/>
            </a:pPr>
            <a:r>
              <a:rPr b="0" i="0" lang="en-US" sz="10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Two vertices are in the </a:t>
            </a:r>
            <a:r>
              <a:rPr b="0" i="0" lang="en-US" sz="1000" u="sng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same connected component </a:t>
            </a:r>
            <a:br>
              <a:rPr b="0" i="0" lang="en-US" sz="1000" u="sng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</a:br>
            <a:r>
              <a:rPr b="0" i="0" lang="en-US" sz="10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If and only if they are </a:t>
            </a:r>
            <a:r>
              <a:rPr b="0" i="0" lang="en-US" sz="1000" u="sng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connected by a path.</a:t>
            </a:r>
            <a:endParaRPr b="0" i="0" sz="10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292100" lvl="0" marL="4572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Arial"/>
              <a:buChar char="●"/>
            </a:pPr>
            <a:r>
              <a:rPr b="0" i="0" lang="en-US" sz="10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Example: The graph has two components.</a:t>
            </a:r>
            <a:endParaRPr b="0" i="0" sz="10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198" name="Google Shape;198;g3534be74e08_0_0" title="connected_component.png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903963" y="1938475"/>
            <a:ext cx="3957874" cy="124067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02" name="Shape 20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3" name="Google Shape;203;g3220fd27c11_5_46"/>
          <p:cNvSpPr txBox="1"/>
          <p:nvPr>
            <p:ph type="title"/>
          </p:nvPr>
        </p:nvSpPr>
        <p:spPr>
          <a:xfrm>
            <a:off x="286567" y="35533"/>
            <a:ext cx="4230900" cy="2745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12700">
            <a:spAutoFit/>
          </a:bodyPr>
          <a:lstStyle/>
          <a:p>
            <a:pPr indent="0" lvl="0" marL="17526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lang="en-US"/>
              <a:t>Cycle in a Graph</a:t>
            </a:r>
            <a:endParaRPr/>
          </a:p>
        </p:txBody>
      </p:sp>
      <p:sp>
        <p:nvSpPr>
          <p:cNvPr id="204" name="Google Shape;204;g3220fd27c11_5_46"/>
          <p:cNvSpPr txBox="1"/>
          <p:nvPr/>
        </p:nvSpPr>
        <p:spPr>
          <a:xfrm>
            <a:off x="229700" y="-25525"/>
            <a:ext cx="5459400" cy="2047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t/>
            </a:r>
            <a:endParaRPr b="0" i="0" sz="11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298450" lvl="0" marL="457200" marR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Char char="●"/>
            </a:pPr>
            <a:r>
              <a:rPr b="0" i="0" lang="en-US" sz="1100" u="sng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A sequence of edges</a:t>
            </a:r>
            <a:r>
              <a:rPr b="0" i="0" lang="en-US" sz="11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 that </a:t>
            </a:r>
            <a:r>
              <a:rPr b="1" i="0" lang="en-US" sz="11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starts and ends at the </a:t>
            </a:r>
            <a:r>
              <a:rPr b="1" i="0" lang="en-US" sz="1100" u="none" cap="none" strike="noStrike">
                <a:solidFill>
                  <a:srgbClr val="0000FF"/>
                </a:solidFill>
                <a:latin typeface="Arial"/>
                <a:ea typeface="Arial"/>
                <a:cs typeface="Arial"/>
                <a:sym typeface="Arial"/>
              </a:rPr>
              <a:t>same vertex</a:t>
            </a:r>
            <a:r>
              <a:rPr b="0" i="0" lang="en-US" sz="11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.</a:t>
            </a:r>
            <a:endParaRPr b="0" i="0" sz="11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298450" lvl="1" marL="914400" marR="0" rtl="0" algn="just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Char char="○"/>
            </a:pPr>
            <a:r>
              <a:rPr b="0" i="0" lang="en-US" sz="11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In a </a:t>
            </a:r>
            <a:r>
              <a:rPr b="0" i="0" lang="en-US" sz="1100" u="sng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directed graph,</a:t>
            </a:r>
            <a:r>
              <a:rPr b="0" i="0" lang="en-US" sz="11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 the </a:t>
            </a:r>
            <a:r>
              <a:rPr b="0" i="0" lang="en-US" sz="1100" u="sng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cycles are also directional.</a:t>
            </a:r>
            <a:endParaRPr b="0" i="0" sz="1100" u="sng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298450" lvl="0" marL="4572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Char char="●"/>
            </a:pPr>
            <a:r>
              <a:rPr b="0" i="0" lang="en-US" sz="1000" u="none" cap="none" strike="noStrik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rPr>
              <a:t>There are </a:t>
            </a:r>
            <a:r>
              <a:rPr b="1" i="0" lang="en-US" sz="1000" u="none" cap="none" strike="noStrik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rPr>
              <a:t>no cycles,</a:t>
            </a:r>
            <a:r>
              <a:rPr b="0" i="0" lang="en-US" sz="1000" u="none" cap="none" strike="noStrik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rPr>
              <a:t> it’s called “</a:t>
            </a:r>
            <a:r>
              <a:rPr b="1" i="0" lang="en-US" sz="1000" u="none" cap="none" strike="noStrik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rPr>
              <a:t>Acyclic” graph</a:t>
            </a:r>
            <a:endParaRPr b="1" i="0" sz="1000" u="none" cap="none" strike="noStrike">
              <a:solidFill>
                <a:schemeClr val="dk1"/>
              </a:solidFill>
              <a:latin typeface="Tahoma"/>
              <a:ea typeface="Tahoma"/>
              <a:cs typeface="Tahoma"/>
              <a:sym typeface="Tahoma"/>
            </a:endParaRPr>
          </a:p>
          <a:p>
            <a:pPr indent="-292100" lvl="0" marL="4572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Tahoma"/>
              <a:buChar char="●"/>
            </a:pPr>
            <a:r>
              <a:rPr b="0" i="0" lang="en-US" sz="1000" u="none" cap="none" strike="noStrik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rPr>
              <a:t>If there is at</a:t>
            </a:r>
            <a:r>
              <a:rPr b="1" i="0" lang="en-US" sz="1000" u="none" cap="none" strike="noStrik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rPr>
              <a:t> least one cycle</a:t>
            </a:r>
            <a:r>
              <a:rPr b="0" i="0" lang="en-US" sz="1000" u="none" cap="none" strike="noStrik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rPr>
              <a:t>, it’s called </a:t>
            </a:r>
            <a:r>
              <a:rPr b="1" i="0" lang="en-US" sz="1000" u="none" cap="none" strike="noStrik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rPr>
              <a:t>“cyclic” graph</a:t>
            </a:r>
            <a:endParaRPr b="1" i="0" sz="1000" u="none" cap="none" strike="noStrike">
              <a:solidFill>
                <a:schemeClr val="dk1"/>
              </a:solidFill>
              <a:latin typeface="Tahoma"/>
              <a:ea typeface="Tahoma"/>
              <a:cs typeface="Tahoma"/>
              <a:sym typeface="Tahoma"/>
            </a:endParaRPr>
          </a:p>
          <a:p>
            <a:pPr indent="-298450" lvl="0" marL="4572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Char char="●"/>
            </a:pPr>
            <a:r>
              <a:rPr b="0" i="0" lang="en-US" sz="11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Example (Figure 5): formed cycles are</a:t>
            </a:r>
            <a:endParaRPr b="0" i="0" sz="11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298450" lvl="1" marL="9144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Char char="○"/>
            </a:pPr>
            <a:r>
              <a:rPr b="0" i="0" lang="en-US" sz="11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(b, d), (d, c), (b, c)</a:t>
            </a:r>
            <a:endParaRPr b="0" i="0" sz="11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298450" lvl="1" marL="9144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Char char="○"/>
            </a:pPr>
            <a:r>
              <a:rPr b="0" i="0" lang="en-US" sz="11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(d, e), (e, c), (c, d)</a:t>
            </a:r>
            <a:endParaRPr b="0" i="0" sz="11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298450" lvl="1" marL="9144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Char char="○"/>
            </a:pPr>
            <a:r>
              <a:rPr b="0" i="0" lang="en-US" sz="11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(b,d), (d,e), (e,c), (c,b) </a:t>
            </a:r>
            <a:endParaRPr b="0" i="0" sz="11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205" name="Google Shape;205;g3220fd27c11_5_46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2827175" y="1515775"/>
            <a:ext cx="2682225" cy="15216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09" name="Shape 20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0" name="Google Shape;210;g3220fd27c11_5_62"/>
          <p:cNvSpPr txBox="1"/>
          <p:nvPr>
            <p:ph type="title"/>
          </p:nvPr>
        </p:nvSpPr>
        <p:spPr>
          <a:xfrm>
            <a:off x="286567" y="35533"/>
            <a:ext cx="4230900" cy="2745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12700">
            <a:spAutoFit/>
          </a:bodyPr>
          <a:lstStyle/>
          <a:p>
            <a:pPr indent="0" lvl="0" marL="17526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lang="en-US"/>
              <a:t>Cycle in a Graph</a:t>
            </a:r>
            <a:endParaRPr/>
          </a:p>
        </p:txBody>
      </p:sp>
      <p:sp>
        <p:nvSpPr>
          <p:cNvPr id="211" name="Google Shape;211;g3220fd27c11_5_62"/>
          <p:cNvSpPr txBox="1"/>
          <p:nvPr/>
        </p:nvSpPr>
        <p:spPr>
          <a:xfrm>
            <a:off x="229700" y="68550"/>
            <a:ext cx="5459400" cy="15723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t/>
            </a:r>
            <a:endParaRPr b="0" i="0" sz="11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292100" lvl="0" marL="457200" marR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Arial"/>
              <a:buChar char="●"/>
            </a:pPr>
            <a:r>
              <a:rPr b="0" i="0" lang="en-US" sz="1000" u="sng" cap="none" strike="noStrik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rPr>
              <a:t>A sequence of edges</a:t>
            </a:r>
            <a:r>
              <a:rPr b="0" i="0" lang="en-US" sz="1000" u="none" cap="none" strike="noStrik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rPr>
              <a:t> that </a:t>
            </a:r>
            <a:r>
              <a:rPr b="1" i="0" lang="en-US" sz="1000" u="none" cap="none" strike="noStrik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rPr>
              <a:t>starts and ends at the same vertex</a:t>
            </a:r>
            <a:r>
              <a:rPr b="0" i="0" lang="en-US" sz="1000" u="none" cap="none" strike="noStrik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rPr>
              <a:t>.</a:t>
            </a:r>
            <a:endParaRPr b="0" i="0" sz="1000" u="none" cap="none" strike="noStrike">
              <a:solidFill>
                <a:schemeClr val="dk1"/>
              </a:solidFill>
              <a:latin typeface="Tahoma"/>
              <a:ea typeface="Tahoma"/>
              <a:cs typeface="Tahoma"/>
              <a:sym typeface="Tahoma"/>
            </a:endParaRPr>
          </a:p>
          <a:p>
            <a:pPr indent="-292100" lvl="0" marL="457200" marR="0" rtl="0" algn="just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Tahoma"/>
              <a:buChar char="●"/>
            </a:pPr>
            <a:r>
              <a:rPr b="0" i="0" lang="en-US" sz="1000" u="none" cap="none" strike="noStrik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rPr>
              <a:t>In a directed graph, the cycles are also directional.</a:t>
            </a:r>
            <a:endParaRPr b="0" i="0" sz="1000" u="none" cap="none" strike="noStrike">
              <a:solidFill>
                <a:schemeClr val="dk1"/>
              </a:solidFill>
              <a:latin typeface="Tahoma"/>
              <a:ea typeface="Tahoma"/>
              <a:cs typeface="Tahoma"/>
              <a:sym typeface="Tahoma"/>
            </a:endParaRPr>
          </a:p>
          <a:p>
            <a:pPr indent="-292100" lvl="0" marL="4572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Tahoma"/>
              <a:buChar char="●"/>
            </a:pPr>
            <a:r>
              <a:rPr b="0" i="0" lang="en-US" sz="1000" u="none" cap="none" strike="noStrik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rPr>
              <a:t>Example (Figure 6): There are </a:t>
            </a:r>
            <a:r>
              <a:rPr b="1" i="0" lang="en-US" sz="1000" u="none" cap="none" strike="noStrik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rPr>
              <a:t>no cycles,</a:t>
            </a:r>
            <a:r>
              <a:rPr b="0" i="0" lang="en-US" sz="1000" u="none" cap="none" strike="noStrik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rPr>
              <a:t> it’s called “</a:t>
            </a:r>
            <a:r>
              <a:rPr b="1" i="0" lang="en-US" sz="1000" u="none" cap="none" strike="noStrik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rPr>
              <a:t>Acyclic” graph</a:t>
            </a:r>
            <a:endParaRPr b="1" i="0" sz="1000" u="none" cap="none" strike="noStrike">
              <a:solidFill>
                <a:schemeClr val="dk1"/>
              </a:solidFill>
              <a:latin typeface="Tahoma"/>
              <a:ea typeface="Tahoma"/>
              <a:cs typeface="Tahoma"/>
              <a:sym typeface="Tahoma"/>
            </a:endParaRPr>
          </a:p>
          <a:p>
            <a:pPr indent="-292100" lvl="0" marL="4572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Tahoma"/>
              <a:buChar char="●"/>
            </a:pPr>
            <a:r>
              <a:rPr b="0" i="0" lang="en-US" sz="1000" u="none" cap="none" strike="noStrik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rPr>
              <a:t>Example (Figure 8): (B, C), (C, E), (E, D), (D, B)</a:t>
            </a:r>
            <a:endParaRPr b="0" i="0" sz="1000" u="none" cap="none" strike="noStrike">
              <a:solidFill>
                <a:schemeClr val="dk1"/>
              </a:solidFill>
              <a:latin typeface="Tahoma"/>
              <a:ea typeface="Tahoma"/>
              <a:cs typeface="Tahoma"/>
              <a:sym typeface="Tahoma"/>
            </a:endParaRPr>
          </a:p>
          <a:p>
            <a:pPr indent="-292100" lvl="0" marL="4572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Tahoma"/>
              <a:buChar char="●"/>
            </a:pPr>
            <a:r>
              <a:rPr b="0" i="0" lang="en-US" sz="1000" u="none" cap="none" strike="noStrik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rPr>
              <a:t>If there is at</a:t>
            </a:r>
            <a:r>
              <a:rPr b="1" i="0" lang="en-US" sz="1000" u="none" cap="none" strike="noStrik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rPr>
              <a:t> least one cycle</a:t>
            </a:r>
            <a:r>
              <a:rPr b="0" i="0" lang="en-US" sz="1000" u="none" cap="none" strike="noStrik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rPr>
              <a:t>, it’s called </a:t>
            </a:r>
            <a:r>
              <a:rPr b="1" i="0" lang="en-US" sz="1000" u="none" cap="none" strike="noStrik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rPr>
              <a:t>“cyclic” graph</a:t>
            </a:r>
            <a:endParaRPr b="1" i="0" sz="1000" u="none" cap="none" strike="noStrike">
              <a:solidFill>
                <a:schemeClr val="dk1"/>
              </a:solidFill>
              <a:latin typeface="Tahoma"/>
              <a:ea typeface="Tahoma"/>
              <a:cs typeface="Tahoma"/>
              <a:sym typeface="Tahoma"/>
            </a:endParaRPr>
          </a:p>
          <a:p>
            <a:pPr indent="0" lvl="0" marL="4572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</a:pPr>
            <a:r>
              <a:t/>
            </a:r>
            <a:endParaRPr b="0" i="0" sz="1000" u="none" cap="none" strike="noStrike">
              <a:solidFill>
                <a:schemeClr val="dk1"/>
              </a:solidFill>
              <a:latin typeface="Tahoma"/>
              <a:ea typeface="Tahoma"/>
              <a:cs typeface="Tahoma"/>
              <a:sym typeface="Tahoma"/>
            </a:endParaRPr>
          </a:p>
        </p:txBody>
      </p:sp>
      <p:pic>
        <p:nvPicPr>
          <p:cNvPr id="212" name="Google Shape;212;g3220fd27c11_5_62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366675" y="1397450"/>
            <a:ext cx="2684550" cy="1412075"/>
          </a:xfrm>
          <a:prstGeom prst="rect">
            <a:avLst/>
          </a:prstGeom>
          <a:noFill/>
          <a:ln>
            <a:noFill/>
          </a:ln>
        </p:spPr>
      </p:pic>
      <p:pic>
        <p:nvPicPr>
          <p:cNvPr id="213" name="Google Shape;213;g3220fd27c11_5_62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3490000" y="1602600"/>
            <a:ext cx="1375426" cy="855325"/>
          </a:xfrm>
          <a:prstGeom prst="rect">
            <a:avLst/>
          </a:prstGeom>
          <a:noFill/>
          <a:ln>
            <a:noFill/>
          </a:ln>
        </p:spPr>
      </p:pic>
      <p:sp>
        <p:nvSpPr>
          <p:cNvPr id="214" name="Google Shape;214;g3220fd27c11_5_62"/>
          <p:cNvSpPr txBox="1"/>
          <p:nvPr/>
        </p:nvSpPr>
        <p:spPr>
          <a:xfrm>
            <a:off x="3572200" y="2556675"/>
            <a:ext cx="2193600" cy="292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700"/>
              <a:buFont typeface="Arial"/>
              <a:buNone/>
            </a:pPr>
            <a:r>
              <a:rPr b="0" i="0" lang="en-US" sz="700" u="none" cap="none" strike="noStrik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rPr>
              <a:t>Figure-8: directed graph</a:t>
            </a:r>
            <a:endParaRPr b="0" i="0" sz="700" u="none" cap="none" strike="noStrike">
              <a:solidFill>
                <a:schemeClr val="dk1"/>
              </a:solidFill>
              <a:latin typeface="Tahoma"/>
              <a:ea typeface="Tahoma"/>
              <a:cs typeface="Tahoma"/>
              <a:sym typeface="Tahoma"/>
            </a:endParaRPr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18" name="Shape 21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9" name="Google Shape;219;g3220fd27c11_5_72"/>
          <p:cNvSpPr txBox="1"/>
          <p:nvPr>
            <p:ph type="title"/>
          </p:nvPr>
        </p:nvSpPr>
        <p:spPr>
          <a:xfrm>
            <a:off x="286567" y="35533"/>
            <a:ext cx="4230900" cy="2745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12700">
            <a:spAutoFit/>
          </a:bodyPr>
          <a:lstStyle/>
          <a:p>
            <a:pPr indent="0" lvl="0" marL="17526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lang="en-US"/>
              <a:t>Weighted Graphs</a:t>
            </a:r>
            <a:endParaRPr/>
          </a:p>
        </p:txBody>
      </p:sp>
      <p:sp>
        <p:nvSpPr>
          <p:cNvPr id="220" name="Google Shape;220;g3220fd27c11_5_72"/>
          <p:cNvSpPr txBox="1"/>
          <p:nvPr/>
        </p:nvSpPr>
        <p:spPr>
          <a:xfrm>
            <a:off x="0" y="183675"/>
            <a:ext cx="5663100" cy="2596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457200" marR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</a:pPr>
            <a:r>
              <a:t/>
            </a:r>
            <a:endParaRPr b="0" i="0" sz="1000" u="none" cap="none" strike="noStrike">
              <a:solidFill>
                <a:schemeClr val="dk1"/>
              </a:solidFill>
              <a:latin typeface="Tahoma"/>
              <a:ea typeface="Tahoma"/>
              <a:cs typeface="Tahoma"/>
              <a:sym typeface="Tahoma"/>
            </a:endParaRPr>
          </a:p>
          <a:p>
            <a:pPr indent="-292100" lvl="0" marL="457200" marR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Tahoma"/>
              <a:buChar char="●"/>
            </a:pPr>
            <a:r>
              <a:rPr b="0" i="0" lang="en-US" sz="1000" u="none" cap="none" strike="noStrik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rPr>
              <a:t>Vertices and/or edges can have weights assigned.</a:t>
            </a:r>
            <a:endParaRPr b="0" i="0" sz="1000" u="none" cap="none" strike="noStrike">
              <a:solidFill>
                <a:schemeClr val="dk1"/>
              </a:solidFill>
              <a:latin typeface="Tahoma"/>
              <a:ea typeface="Tahoma"/>
              <a:cs typeface="Tahoma"/>
              <a:sym typeface="Tahoma"/>
            </a:endParaRPr>
          </a:p>
          <a:p>
            <a:pPr indent="-177800" lvl="1" marL="74295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Arial"/>
              <a:buChar char="○"/>
            </a:pPr>
            <a:r>
              <a:rPr b="1" i="0" lang="en-US" sz="1000" u="none" cap="none" strike="noStrik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rPr>
              <a:t>Vertex Weight</a:t>
            </a:r>
            <a:r>
              <a:rPr b="0" i="0" lang="en-US" sz="1000" u="none" cap="none" strike="noStrik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rPr>
              <a:t>: Represents the </a:t>
            </a:r>
            <a:r>
              <a:rPr b="0" i="0" lang="en-US" sz="1000" u="sng" cap="none" strike="noStrike">
                <a:solidFill>
                  <a:srgbClr val="0000FF"/>
                </a:solidFill>
                <a:latin typeface="Tahoma"/>
                <a:ea typeface="Tahoma"/>
                <a:cs typeface="Tahoma"/>
                <a:sym typeface="Tahoma"/>
              </a:rPr>
              <a:t>importance</a:t>
            </a:r>
            <a:r>
              <a:rPr b="0" i="0" lang="en-US" sz="1000" u="none" cap="none" strike="noStrik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rPr>
              <a:t> of the </a:t>
            </a:r>
            <a:r>
              <a:rPr b="0" i="0" lang="en-US" sz="1000" u="sng" cap="none" strike="noStrik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rPr>
              <a:t>entity/object/concept</a:t>
            </a:r>
            <a:r>
              <a:rPr b="0" i="0" lang="en-US" sz="1000" u="none" cap="none" strike="noStrik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rPr>
              <a:t> </a:t>
            </a:r>
            <a:endParaRPr b="0" i="0" sz="1000" u="none" cap="none" strike="noStrike">
              <a:solidFill>
                <a:schemeClr val="dk1"/>
              </a:solidFill>
              <a:latin typeface="Tahoma"/>
              <a:ea typeface="Tahoma"/>
              <a:cs typeface="Tahoma"/>
              <a:sym typeface="Tahoma"/>
            </a:endParaRPr>
          </a:p>
          <a:p>
            <a:pPr indent="-292100" lvl="2" marL="13716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Arial"/>
              <a:buChar char="■"/>
            </a:pPr>
            <a:r>
              <a:rPr b="0" i="0" lang="en-US" sz="1000" u="none" cap="none" strike="noStrik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rPr>
              <a:t>(e.g., traffic capacity of a junction).</a:t>
            </a:r>
            <a:endParaRPr b="0" i="0" sz="1000" u="none" cap="none" strike="noStrike">
              <a:solidFill>
                <a:schemeClr val="dk1"/>
              </a:solidFill>
              <a:latin typeface="Tahoma"/>
              <a:ea typeface="Tahoma"/>
              <a:cs typeface="Tahoma"/>
              <a:sym typeface="Tahoma"/>
            </a:endParaRPr>
          </a:p>
          <a:p>
            <a:pPr indent="-177800" lvl="1" marL="74295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Arial"/>
              <a:buChar char="○"/>
            </a:pPr>
            <a:r>
              <a:rPr b="1" i="0" lang="en-US" sz="1000" u="none" cap="none" strike="noStrik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rPr>
              <a:t>Edge Weight</a:t>
            </a:r>
            <a:r>
              <a:rPr b="0" i="0" lang="en-US" sz="1000" u="none" cap="none" strike="noStrik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rPr>
              <a:t>: Represents the </a:t>
            </a:r>
            <a:r>
              <a:rPr b="0" i="0" lang="en-US" sz="1000" u="sng" cap="none" strike="noStrike">
                <a:solidFill>
                  <a:srgbClr val="0000FF"/>
                </a:solidFill>
                <a:latin typeface="Tahoma"/>
                <a:ea typeface="Tahoma"/>
                <a:cs typeface="Tahoma"/>
                <a:sym typeface="Tahoma"/>
              </a:rPr>
              <a:t>cost or strength</a:t>
            </a:r>
            <a:r>
              <a:rPr b="0" i="0" lang="en-US" sz="1000" u="none" cap="none" strike="noStrik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rPr>
              <a:t> of the </a:t>
            </a:r>
            <a:r>
              <a:rPr b="0" i="0" lang="en-US" sz="1000" u="sng" cap="none" strike="noStrik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rPr>
              <a:t>relationship between vertices</a:t>
            </a:r>
            <a:endParaRPr b="0" i="0" sz="1000" u="none" cap="none" strike="noStrike">
              <a:solidFill>
                <a:schemeClr val="dk1"/>
              </a:solidFill>
              <a:latin typeface="Tahoma"/>
              <a:ea typeface="Tahoma"/>
              <a:cs typeface="Tahoma"/>
              <a:sym typeface="Tahoma"/>
            </a:endParaRPr>
          </a:p>
          <a:p>
            <a:pPr indent="-292100" lvl="2" marL="13716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Arial"/>
              <a:buChar char="■"/>
            </a:pPr>
            <a:r>
              <a:rPr b="0" i="0" lang="en-US" sz="1000" u="none" cap="none" strike="noStrik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rPr>
              <a:t>(e.g., distance between road junctions).</a:t>
            </a:r>
            <a:endParaRPr b="0" i="0" sz="1000" u="none" cap="none" strike="noStrike">
              <a:solidFill>
                <a:schemeClr val="dk1"/>
              </a:solidFill>
              <a:latin typeface="Tahoma"/>
              <a:ea typeface="Tahoma"/>
              <a:cs typeface="Tahoma"/>
              <a:sym typeface="Tahoma"/>
            </a:endParaRPr>
          </a:p>
          <a:p>
            <a:pPr indent="-292100" lvl="0" marL="4572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Arial"/>
              <a:buChar char="●"/>
            </a:pPr>
            <a:r>
              <a:rPr b="0" i="0" lang="en-US" sz="1000" u="none" cap="none" strike="noStrik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rPr>
              <a:t>Graphs can be </a:t>
            </a:r>
            <a:r>
              <a:rPr b="1" i="0" lang="en-US" sz="1000" u="none" cap="none" strike="noStrik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rPr>
              <a:t>Weighted Directed</a:t>
            </a:r>
            <a:r>
              <a:rPr b="0" i="0" lang="en-US" sz="1000" u="none" cap="none" strike="noStrik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rPr>
              <a:t> or </a:t>
            </a:r>
            <a:r>
              <a:rPr b="1" i="0" lang="en-US" sz="1000" u="none" cap="none" strike="noStrik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rPr>
              <a:t>Weighted Undirected</a:t>
            </a:r>
            <a:r>
              <a:rPr b="0" i="0" lang="en-US" sz="1000" u="none" cap="none" strike="noStrik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rPr>
              <a:t>.</a:t>
            </a:r>
            <a:endParaRPr b="1" i="0" sz="1000" u="none" cap="none" strike="noStrike">
              <a:solidFill>
                <a:schemeClr val="dk1"/>
              </a:solidFill>
              <a:latin typeface="Tahoma"/>
              <a:ea typeface="Tahoma"/>
              <a:cs typeface="Tahoma"/>
              <a:sym typeface="Tahoma"/>
            </a:endParaRPr>
          </a:p>
          <a:p>
            <a:pPr indent="0" lvl="0" marL="0" marR="0" rtl="0" algn="l">
              <a:lnSpc>
                <a:spcPct val="115000"/>
              </a:lnSpc>
              <a:spcBef>
                <a:spcPts val="14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i="0" lang="en-US" sz="1000" u="none" cap="none" strike="noStrik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rPr>
              <a:t>Example: Road Network Graph</a:t>
            </a:r>
            <a:endParaRPr b="1" i="0" sz="1000" u="none" cap="none" strike="noStrike">
              <a:solidFill>
                <a:schemeClr val="dk1"/>
              </a:solidFill>
              <a:latin typeface="Tahoma"/>
              <a:ea typeface="Tahoma"/>
              <a:cs typeface="Tahoma"/>
              <a:sym typeface="Tahoma"/>
            </a:endParaRPr>
          </a:p>
          <a:p>
            <a:pPr indent="-292100" lvl="0" marL="457200" marR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Arial"/>
              <a:buChar char="●"/>
            </a:pPr>
            <a:r>
              <a:rPr b="1" i="0" lang="en-US" sz="1000" u="none" cap="none" strike="noStrik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rPr>
              <a:t>Vertices/nodes</a:t>
            </a:r>
            <a:r>
              <a:rPr b="0" i="0" lang="en-US" sz="1000" u="none" cap="none" strike="noStrik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rPr>
              <a:t>: Road junctions.</a:t>
            </a:r>
            <a:endParaRPr b="0" i="0" sz="1000" u="none" cap="none" strike="noStrike">
              <a:solidFill>
                <a:schemeClr val="dk1"/>
              </a:solidFill>
              <a:latin typeface="Tahoma"/>
              <a:ea typeface="Tahoma"/>
              <a:cs typeface="Tahoma"/>
              <a:sym typeface="Tahoma"/>
            </a:endParaRPr>
          </a:p>
          <a:p>
            <a:pPr indent="-292100" lvl="0" marL="4572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Tahoma"/>
              <a:buChar char="●"/>
            </a:pPr>
            <a:r>
              <a:rPr b="1" i="0" lang="en-US" sz="1000" u="none" cap="none" strike="noStrik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rPr>
              <a:t>Vertex Weights</a:t>
            </a:r>
            <a:r>
              <a:rPr b="0" i="0" lang="en-US" sz="1000" u="none" cap="none" strike="noStrik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rPr>
              <a:t>: Traffic capacity at each junction.</a:t>
            </a:r>
            <a:endParaRPr b="0" i="0" sz="1000" u="none" cap="none" strike="noStrike">
              <a:solidFill>
                <a:schemeClr val="dk1"/>
              </a:solidFill>
              <a:latin typeface="Tahoma"/>
              <a:ea typeface="Tahoma"/>
              <a:cs typeface="Tahoma"/>
              <a:sym typeface="Tahoma"/>
            </a:endParaRPr>
          </a:p>
          <a:p>
            <a:pPr indent="-292100" lvl="0" marL="4572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Arial"/>
              <a:buChar char="●"/>
            </a:pPr>
            <a:r>
              <a:rPr b="1" i="0" lang="en-US" sz="1000" u="none" cap="none" strike="noStrik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rPr>
              <a:t>Edge Weights</a:t>
            </a:r>
            <a:r>
              <a:rPr b="0" i="0" lang="en-US" sz="1000" u="none" cap="none" strike="noStrik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rPr>
              <a:t>: Distance between junctions (length of roads).</a:t>
            </a:r>
            <a:endParaRPr b="1" i="0" sz="1000" u="none" cap="none" strike="noStrike">
              <a:solidFill>
                <a:schemeClr val="dk1"/>
              </a:solidFill>
              <a:latin typeface="Tahoma"/>
              <a:ea typeface="Tahoma"/>
              <a:cs typeface="Tahoma"/>
              <a:sym typeface="Tahoma"/>
            </a:endParaRPr>
          </a:p>
        </p:txBody>
      </p:sp>
      <p:pic>
        <p:nvPicPr>
          <p:cNvPr id="221" name="Google Shape;221;g3220fd27c11_5_72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4199325" y="1603975"/>
            <a:ext cx="1532427" cy="1475174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25" name="Shape 2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6" name="Google Shape;226;g3220fd27c11_5_96"/>
          <p:cNvSpPr txBox="1"/>
          <p:nvPr>
            <p:ph type="title"/>
          </p:nvPr>
        </p:nvSpPr>
        <p:spPr>
          <a:xfrm>
            <a:off x="286567" y="35533"/>
            <a:ext cx="4230900" cy="2745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12700">
            <a:spAutoFit/>
          </a:bodyPr>
          <a:lstStyle/>
          <a:p>
            <a:pPr indent="0" lvl="0" marL="17526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lang="en-US"/>
              <a:t>Weighted Graphs</a:t>
            </a:r>
            <a:endParaRPr/>
          </a:p>
        </p:txBody>
      </p:sp>
      <p:sp>
        <p:nvSpPr>
          <p:cNvPr id="227" name="Google Shape;227;g3220fd27c11_5_96"/>
          <p:cNvSpPr txBox="1"/>
          <p:nvPr/>
        </p:nvSpPr>
        <p:spPr>
          <a:xfrm>
            <a:off x="408400" y="35525"/>
            <a:ext cx="5209200" cy="1554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457200" marR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</a:pPr>
            <a:r>
              <a:t/>
            </a:r>
            <a:endParaRPr b="0" i="0" sz="1000" u="none" cap="none" strike="noStrike">
              <a:solidFill>
                <a:schemeClr val="dk1"/>
              </a:solidFill>
              <a:latin typeface="Tahoma"/>
              <a:ea typeface="Tahoma"/>
              <a:cs typeface="Tahoma"/>
              <a:sym typeface="Tahoma"/>
            </a:endParaRPr>
          </a:p>
          <a:p>
            <a:pPr indent="-292100" lvl="0" marL="457200" marR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Tahoma"/>
              <a:buChar char="●"/>
            </a:pPr>
            <a:r>
              <a:rPr b="0" i="0" lang="en-US" sz="1000" u="none" cap="none" strike="noStrik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rPr>
              <a:t>Vertices and/or edges can have weights assigned.</a:t>
            </a:r>
            <a:endParaRPr b="0" i="0" sz="1000" u="none" cap="none" strike="noStrike">
              <a:solidFill>
                <a:schemeClr val="dk1"/>
              </a:solidFill>
              <a:latin typeface="Tahoma"/>
              <a:ea typeface="Tahoma"/>
              <a:cs typeface="Tahoma"/>
              <a:sym typeface="Tahoma"/>
            </a:endParaRPr>
          </a:p>
          <a:p>
            <a:pPr indent="-292100" lvl="1" marL="9144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Arial"/>
              <a:buChar char="○"/>
            </a:pPr>
            <a:r>
              <a:rPr b="1" i="0" lang="en-US" sz="1000" u="none" cap="none" strike="noStrik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rPr>
              <a:t>Vertex Weight</a:t>
            </a:r>
            <a:r>
              <a:rPr b="0" i="0" lang="en-US" sz="1000" u="none" cap="none" strike="noStrik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rPr>
              <a:t>: Represents the importance of the entity/object/concept (e.g., traffic capacity of a junction).</a:t>
            </a:r>
            <a:endParaRPr b="0" i="0" sz="1000" u="none" cap="none" strike="noStrike">
              <a:solidFill>
                <a:schemeClr val="dk1"/>
              </a:solidFill>
              <a:latin typeface="Tahoma"/>
              <a:ea typeface="Tahoma"/>
              <a:cs typeface="Tahoma"/>
              <a:sym typeface="Tahoma"/>
            </a:endParaRPr>
          </a:p>
          <a:p>
            <a:pPr indent="-292100" lvl="1" marL="9144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Arial"/>
              <a:buChar char="○"/>
            </a:pPr>
            <a:r>
              <a:rPr b="1" i="0" lang="en-US" sz="1000" u="none" cap="none" strike="noStrik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rPr>
              <a:t>Edge Weight</a:t>
            </a:r>
            <a:r>
              <a:rPr b="0" i="0" lang="en-US" sz="1000" u="none" cap="none" strike="noStrik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rPr>
              <a:t>: Represents the cost or strength of the relationship between vertices (e.g., distance between road junctions).</a:t>
            </a:r>
            <a:endParaRPr b="0" i="0" sz="1000" u="none" cap="none" strike="noStrike">
              <a:solidFill>
                <a:schemeClr val="dk1"/>
              </a:solidFill>
              <a:latin typeface="Tahoma"/>
              <a:ea typeface="Tahoma"/>
              <a:cs typeface="Tahoma"/>
              <a:sym typeface="Tahoma"/>
            </a:endParaRPr>
          </a:p>
          <a:p>
            <a:pPr indent="-292100" lvl="0" marL="4572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Arial"/>
              <a:buChar char="●"/>
            </a:pPr>
            <a:r>
              <a:rPr b="0" i="0" lang="en-US" sz="1000" u="none" cap="none" strike="noStrik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rPr>
              <a:t>Graphs can be </a:t>
            </a:r>
            <a:r>
              <a:rPr b="1" i="0" lang="en-US" sz="1000" u="none" cap="none" strike="noStrik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rPr>
              <a:t>Weighted Directed</a:t>
            </a:r>
            <a:r>
              <a:rPr b="0" i="0" lang="en-US" sz="1000" u="none" cap="none" strike="noStrik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rPr>
              <a:t> or </a:t>
            </a:r>
            <a:r>
              <a:rPr b="1" i="0" lang="en-US" sz="1000" u="none" cap="none" strike="noStrik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rPr>
              <a:t>Weighted Undirected</a:t>
            </a:r>
            <a:r>
              <a:rPr b="0" i="0" lang="en-US" sz="1000" u="none" cap="none" strike="noStrik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rPr>
              <a:t>.</a:t>
            </a:r>
            <a:endParaRPr b="1" i="0" sz="1000" u="none" cap="none" strike="noStrike">
              <a:solidFill>
                <a:schemeClr val="dk1"/>
              </a:solidFill>
              <a:latin typeface="Tahoma"/>
              <a:ea typeface="Tahoma"/>
              <a:cs typeface="Tahoma"/>
              <a:sym typeface="Tahoma"/>
            </a:endParaRPr>
          </a:p>
        </p:txBody>
      </p:sp>
      <p:pic>
        <p:nvPicPr>
          <p:cNvPr id="228" name="Google Shape;228;g3220fd27c11_5_96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3131327" y="1648575"/>
            <a:ext cx="1810003" cy="1330225"/>
          </a:xfrm>
          <a:prstGeom prst="rect">
            <a:avLst/>
          </a:prstGeom>
          <a:noFill/>
          <a:ln>
            <a:noFill/>
          </a:ln>
        </p:spPr>
      </p:pic>
      <p:pic>
        <p:nvPicPr>
          <p:cNvPr id="229" name="Google Shape;229;g3220fd27c11_5_96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866675" y="1648575"/>
            <a:ext cx="1863126" cy="139017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33" name="Shape 2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4" name="Google Shape;234;g3220fd27c11_5_113"/>
          <p:cNvSpPr txBox="1"/>
          <p:nvPr>
            <p:ph type="title"/>
          </p:nvPr>
        </p:nvSpPr>
        <p:spPr>
          <a:xfrm>
            <a:off x="334617" y="128758"/>
            <a:ext cx="4230900" cy="2745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12700">
            <a:spAutoFit/>
          </a:bodyPr>
          <a:lstStyle/>
          <a:p>
            <a:pPr indent="0" lvl="0" marL="17526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rPr lang="en-US"/>
              <a:t>Default Graph Type</a:t>
            </a:r>
            <a:endParaRPr/>
          </a:p>
        </p:txBody>
      </p:sp>
      <p:sp>
        <p:nvSpPr>
          <p:cNvPr id="235" name="Google Shape;235;g3220fd27c11_5_113"/>
          <p:cNvSpPr txBox="1"/>
          <p:nvPr/>
        </p:nvSpPr>
        <p:spPr>
          <a:xfrm>
            <a:off x="862475" y="1029425"/>
            <a:ext cx="4101900" cy="659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12700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en-US" sz="1400" u="none" cap="none" strike="noStrike">
                <a:solidFill>
                  <a:srgbClr val="000000"/>
                </a:solidFill>
                <a:latin typeface="Tahoma"/>
                <a:ea typeface="Tahoma"/>
                <a:cs typeface="Tahoma"/>
                <a:sym typeface="Tahoma"/>
              </a:rPr>
              <a:t>Unless specified, "graph" refers to </a:t>
            </a:r>
            <a:br>
              <a:rPr b="0" i="0" lang="en-US" sz="1400" u="none" cap="none" strike="noStrike">
                <a:solidFill>
                  <a:srgbClr val="000000"/>
                </a:solidFill>
                <a:latin typeface="Tahoma"/>
                <a:ea typeface="Tahoma"/>
                <a:cs typeface="Tahoma"/>
                <a:sym typeface="Tahoma"/>
              </a:rPr>
            </a:br>
            <a:r>
              <a:rPr b="0" i="0" lang="en-US" sz="1400" u="none" cap="none" strike="noStrike">
                <a:solidFill>
                  <a:srgbClr val="000000"/>
                </a:solidFill>
                <a:latin typeface="Tahoma"/>
                <a:ea typeface="Tahoma"/>
                <a:cs typeface="Tahoma"/>
                <a:sym typeface="Tahoma"/>
              </a:rPr>
              <a:t>an undirected, unweighted graph</a:t>
            </a:r>
            <a:endParaRPr b="0" i="0" sz="1400" u="none" cap="none" strike="noStrike">
              <a:solidFill>
                <a:srgbClr val="000000"/>
              </a:solidFill>
              <a:latin typeface="Tahoma"/>
              <a:ea typeface="Tahoma"/>
              <a:cs typeface="Tahoma"/>
              <a:sym typeface="Tahoma"/>
            </a:endParaRPr>
          </a:p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Tahoma"/>
              <a:ea typeface="Tahoma"/>
              <a:cs typeface="Tahoma"/>
              <a:sym typeface="Tahoma"/>
            </a:endParaRPr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39" name="Shape 23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0" name="Google Shape;240;g3220fd27c11_5_87"/>
          <p:cNvSpPr txBox="1"/>
          <p:nvPr>
            <p:ph type="title"/>
          </p:nvPr>
        </p:nvSpPr>
        <p:spPr>
          <a:xfrm>
            <a:off x="223067" y="68583"/>
            <a:ext cx="4230900" cy="2745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12700">
            <a:spAutoFit/>
          </a:bodyPr>
          <a:lstStyle/>
          <a:p>
            <a:pPr indent="0" lvl="0" marL="17526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rPr lang="en-US"/>
              <a:t>Sparse vs Dense Graph</a:t>
            </a:r>
            <a:endParaRPr/>
          </a:p>
        </p:txBody>
      </p:sp>
      <p:sp>
        <p:nvSpPr>
          <p:cNvPr id="241" name="Google Shape;241;g3220fd27c11_5_87"/>
          <p:cNvSpPr txBox="1"/>
          <p:nvPr/>
        </p:nvSpPr>
        <p:spPr>
          <a:xfrm>
            <a:off x="385050" y="362913"/>
            <a:ext cx="5173800" cy="1200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</a:pPr>
            <a:r>
              <a:rPr b="1" i="0" lang="en-US" sz="10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Sparse Graph</a:t>
            </a:r>
            <a:r>
              <a:rPr b="0" i="0" lang="en-US" sz="10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: </a:t>
            </a:r>
            <a:r>
              <a:rPr b="0" i="0" lang="en-US" sz="1000" u="sng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Few edges</a:t>
            </a:r>
            <a:r>
              <a:rPr b="0" i="0" lang="en-US" sz="10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 relative to the </a:t>
            </a:r>
            <a:r>
              <a:rPr b="0" i="0" lang="en-US" sz="1000" u="sng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number of vertices</a:t>
            </a:r>
            <a:r>
              <a:rPr b="0" i="0" lang="en-US" sz="10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 (nodes). </a:t>
            </a:r>
            <a:r>
              <a:rPr b="1" i="0" lang="en-US" sz="10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If |E|≈ |V|</a:t>
            </a:r>
            <a:endParaRPr b="0" i="0" sz="10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</a:pPr>
            <a:r>
              <a:rPr b="1" i="0" lang="en-US" sz="10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Dense Graph</a:t>
            </a:r>
            <a:r>
              <a:rPr b="0" i="0" lang="en-US" sz="10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: </a:t>
            </a:r>
            <a:r>
              <a:rPr b="0" i="0" lang="en-US" sz="1000" u="sng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Many edges</a:t>
            </a:r>
            <a:r>
              <a:rPr b="0" i="0" lang="en-US" sz="10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 relative to the </a:t>
            </a:r>
            <a:r>
              <a:rPr b="0" i="0" lang="en-US" sz="1000" u="sng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number of vertices</a:t>
            </a:r>
            <a:r>
              <a:rPr b="0" i="0" lang="en-US" sz="10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 (nodes). </a:t>
            </a:r>
            <a:r>
              <a:rPr b="1" i="0" lang="en-US" sz="10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If |E|≈ |V|</a:t>
            </a:r>
            <a:r>
              <a:rPr b="1" baseline="30000" i="0" lang="en-US" sz="10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2</a:t>
            </a:r>
            <a:endParaRPr b="1" baseline="30000" i="0" sz="10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</a:pPr>
            <a:br>
              <a:rPr b="1" i="0" lang="en-US" sz="10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</a:br>
            <a:r>
              <a:rPr b="1" i="0" lang="en-US" sz="10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Importance</a:t>
            </a:r>
            <a:r>
              <a:rPr b="0" i="0" lang="en-US" sz="10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:</a:t>
            </a:r>
            <a:br>
              <a:rPr b="0" i="0" lang="en-US" sz="10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</a:br>
            <a:r>
              <a:rPr b="0" i="0" lang="en-US" sz="10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The distinction between sparse and dense graphs influences the </a:t>
            </a:r>
            <a:br>
              <a:rPr b="0" i="0" lang="en-US" sz="10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</a:br>
            <a:r>
              <a:rPr b="1" i="0" lang="en-US" sz="10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choice of data structure for graph representation.</a:t>
            </a:r>
            <a:endParaRPr b="1" i="0" sz="10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242" name="Google Shape;242;g3220fd27c11_5_87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1715350" y="1583375"/>
            <a:ext cx="2131826" cy="1261550"/>
          </a:xfrm>
          <a:prstGeom prst="rect">
            <a:avLst/>
          </a:prstGeom>
          <a:noFill/>
          <a:ln>
            <a:noFill/>
          </a:ln>
        </p:spPr>
      </p:pic>
      <p:sp>
        <p:nvSpPr>
          <p:cNvPr id="243" name="Google Shape;243;g3220fd27c11_5_87"/>
          <p:cNvSpPr txBox="1"/>
          <p:nvPr/>
        </p:nvSpPr>
        <p:spPr>
          <a:xfrm>
            <a:off x="85850" y="2920125"/>
            <a:ext cx="5594100" cy="261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500"/>
              <a:buFont typeface="Arial"/>
              <a:buNone/>
            </a:pPr>
            <a:r>
              <a:rPr b="0" i="0" lang="en-US" sz="500" u="none" cap="none" strike="noStrike">
                <a:solidFill>
                  <a:srgbClr val="000000"/>
                </a:solidFill>
                <a:latin typeface="Tahoma"/>
                <a:ea typeface="Tahoma"/>
                <a:cs typeface="Tahoma"/>
                <a:sym typeface="Tahoma"/>
              </a:rPr>
              <a:t>image source: https://www.researchgate.net/publication/333950431_Multi-moth_flame_optimization_for_solving_the_link_prediction_problem_in_complex_networks</a:t>
            </a:r>
            <a:endParaRPr b="0" i="0" sz="500" u="none" cap="none" strike="noStrike">
              <a:solidFill>
                <a:srgbClr val="000000"/>
              </a:solidFill>
              <a:latin typeface="Tahoma"/>
              <a:ea typeface="Tahoma"/>
              <a:cs typeface="Tahoma"/>
              <a:sym typeface="Tahoma"/>
            </a:endParaRPr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47" name="Shape 24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8" name="Google Shape;248;g3220fd27c11_0_0"/>
          <p:cNvSpPr txBox="1"/>
          <p:nvPr>
            <p:ph type="title"/>
          </p:nvPr>
        </p:nvSpPr>
        <p:spPr>
          <a:xfrm>
            <a:off x="737717" y="133858"/>
            <a:ext cx="4230900" cy="2745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12700">
            <a:spAutoFit/>
          </a:bodyPr>
          <a:lstStyle/>
          <a:p>
            <a:pPr indent="0" lvl="0" marL="1247775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rPr lang="en-US"/>
              <a:t>Graph representation</a:t>
            </a:r>
            <a:endParaRPr/>
          </a:p>
        </p:txBody>
      </p:sp>
      <p:sp>
        <p:nvSpPr>
          <p:cNvPr id="249" name="Google Shape;249;g3220fd27c11_0_0"/>
          <p:cNvSpPr txBox="1"/>
          <p:nvPr/>
        </p:nvSpPr>
        <p:spPr>
          <a:xfrm>
            <a:off x="124451" y="2908881"/>
            <a:ext cx="983700" cy="197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12700">
            <a:spAutoFit/>
          </a:bodyPr>
          <a:lstStyle/>
          <a:p>
            <a:pPr indent="0" lvl="0" marL="127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600"/>
              <a:buFont typeface="Arial"/>
              <a:buNone/>
            </a:pPr>
            <a:r>
              <a:rPr b="0" i="0" lang="en-US" sz="600" u="sng" cap="none" strike="noStrike">
                <a:solidFill>
                  <a:srgbClr val="0000FF"/>
                </a:solidFill>
                <a:latin typeface="Tahoma"/>
                <a:ea typeface="Tahoma"/>
                <a:cs typeface="Tahoma"/>
                <a:sym typeface="Tahoma"/>
                <a:hlinkClick action="ppaction://hlinksldjump" r:id="rId3">
                  <a:extLst>
                    <a:ext uri="{A12FA001-AC4F-418D-AE19-62706E023703}">
                      <ahyp:hlinkClr val="tx"/>
                    </a:ext>
                  </a:extLst>
                </a:hlinkClick>
              </a:rPr>
              <a:t>Graph representation Ch 22.1</a:t>
            </a:r>
            <a:endParaRPr b="0" i="0" sz="600" u="none" cap="none" strike="noStrike">
              <a:solidFill>
                <a:srgbClr val="000000"/>
              </a:solidFill>
              <a:latin typeface="Tahoma"/>
              <a:ea typeface="Tahoma"/>
              <a:cs typeface="Tahoma"/>
              <a:sym typeface="Tahoma"/>
            </a:endParaRPr>
          </a:p>
        </p:txBody>
      </p:sp>
      <p:sp>
        <p:nvSpPr>
          <p:cNvPr id="250" name="Google Shape;250;g3220fd27c11_0_0"/>
          <p:cNvSpPr txBox="1"/>
          <p:nvPr/>
        </p:nvSpPr>
        <p:spPr>
          <a:xfrm>
            <a:off x="124450" y="498775"/>
            <a:ext cx="5307600" cy="1723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</a:pPr>
            <a:r>
              <a:rPr b="1" i="0" lang="en-US" sz="1000" u="none" cap="none" strike="noStrik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rPr>
              <a:t>Graphs vs Trees</a:t>
            </a:r>
            <a:r>
              <a:rPr b="0" i="0" lang="en-US" sz="1000" u="none" cap="none" strike="noStrik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rPr>
              <a:t>: Unlike trees, graphs may lack a root node, making it impossible to traverse all vertices from a single starting point, especially in disconnected graphs.</a:t>
            </a:r>
            <a:br>
              <a:rPr b="0" i="0" lang="en-US" sz="1000" u="none" cap="none" strike="noStrik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rPr>
            </a:br>
            <a:br>
              <a:rPr b="0" i="0" lang="en-US" sz="1000" u="none" cap="none" strike="noStrik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rPr>
            </a:br>
            <a:r>
              <a:rPr b="1" i="0" lang="en-US" sz="1000" u="none" cap="none" strike="noStrik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rPr>
              <a:t>Solution for Graph Representation</a:t>
            </a:r>
            <a:r>
              <a:rPr b="0" i="0" lang="en-US" sz="1000" u="none" cap="none" strike="noStrik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rPr>
              <a:t>: </a:t>
            </a:r>
            <a:br>
              <a:rPr b="0" i="0" lang="en-US" sz="1000" u="none" cap="none" strike="noStrik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rPr>
            </a:br>
            <a:r>
              <a:rPr b="0" i="0" lang="en-US" sz="1000" u="none" cap="none" strike="noStrik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rPr>
              <a:t>In typical graph representations, </a:t>
            </a:r>
            <a:r>
              <a:rPr b="0" i="0" lang="en-US" sz="1000" u="sng" cap="none" strike="noStrik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rPr>
              <a:t>all vertices and edges are explicitly provided </a:t>
            </a:r>
            <a:r>
              <a:rPr b="0" i="0" lang="en-US" sz="1000" u="none" cap="none" strike="noStrik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rPr>
              <a:t>to ensure the </a:t>
            </a:r>
            <a:r>
              <a:rPr b="0" i="0" lang="en-US" sz="1000" u="none" cap="none" strike="noStrike">
                <a:solidFill>
                  <a:srgbClr val="0000FF"/>
                </a:solidFill>
                <a:latin typeface="Tahoma"/>
                <a:ea typeface="Tahoma"/>
                <a:cs typeface="Tahoma"/>
                <a:sym typeface="Tahoma"/>
              </a:rPr>
              <a:t>entire graph structure is accessible</a:t>
            </a:r>
            <a:r>
              <a:rPr b="0" i="0" lang="en-US" sz="1000" u="none" cap="none" strike="noStrik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rPr>
              <a:t>, regardless of connectivity.</a:t>
            </a:r>
            <a:endParaRPr b="0" i="0" sz="1000" u="none" cap="none" strike="noStrike">
              <a:solidFill>
                <a:schemeClr val="dk1"/>
              </a:solidFill>
              <a:latin typeface="Tahoma"/>
              <a:ea typeface="Tahoma"/>
              <a:cs typeface="Tahoma"/>
              <a:sym typeface="Tahoma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br>
              <a:rPr b="0" i="0" lang="en-US" sz="1000" u="none" cap="none" strike="noStrik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rPr>
            </a:br>
            <a:br>
              <a:rPr b="0" i="0" lang="en-US" sz="1000" u="none" cap="none" strike="noStrik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rPr>
            </a:br>
            <a:br>
              <a:rPr b="0" i="0" lang="en-US" sz="1000" u="none" cap="none" strike="noStrik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rPr>
            </a:br>
            <a:endParaRPr b="0" i="0" sz="1000" u="none" cap="none" strike="noStrike">
              <a:solidFill>
                <a:schemeClr val="dk1"/>
              </a:solidFill>
              <a:latin typeface="Tahoma"/>
              <a:ea typeface="Tahoma"/>
              <a:cs typeface="Tahoma"/>
              <a:sym typeface="Tahoma"/>
            </a:endParaRPr>
          </a:p>
          <a:p>
            <a:pPr indent="0" lvl="0" marL="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</a:pPr>
            <a:r>
              <a:t/>
            </a:r>
            <a:endParaRPr b="0" i="0" sz="900" u="none" cap="none" strike="noStrike">
              <a:solidFill>
                <a:srgbClr val="000000"/>
              </a:solidFill>
              <a:latin typeface="Tahoma"/>
              <a:ea typeface="Tahoma"/>
              <a:cs typeface="Tahoma"/>
              <a:sym typeface="Tahoma"/>
            </a:endParaRPr>
          </a:p>
        </p:txBody>
      </p:sp>
      <p:pic>
        <p:nvPicPr>
          <p:cNvPr id="251" name="Google Shape;251;g3220fd27c11_0_0"/>
          <p:cNvPicPr preferRelativeResize="0"/>
          <p:nvPr/>
        </p:nvPicPr>
        <p:blipFill rotWithShape="1">
          <a:blip r:embed="rId4">
            <a:alphaModFix/>
          </a:blip>
          <a:srcRect b="10297" l="0" r="0" t="0"/>
          <a:stretch/>
        </p:blipFill>
        <p:spPr>
          <a:xfrm>
            <a:off x="1552675" y="1654700"/>
            <a:ext cx="2300249" cy="1170501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55" name="Shape 25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6" name="Google Shape;256;g3534be74e08_0_25"/>
          <p:cNvSpPr txBox="1"/>
          <p:nvPr>
            <p:ph type="title"/>
          </p:nvPr>
        </p:nvSpPr>
        <p:spPr>
          <a:xfrm>
            <a:off x="737717" y="133858"/>
            <a:ext cx="4230900" cy="2745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12700">
            <a:spAutoFit/>
          </a:bodyPr>
          <a:lstStyle/>
          <a:p>
            <a:pPr indent="0" lvl="0" marL="1247775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rPr lang="en-US"/>
              <a:t>Graph representation</a:t>
            </a:r>
            <a:endParaRPr/>
          </a:p>
        </p:txBody>
      </p:sp>
      <p:sp>
        <p:nvSpPr>
          <p:cNvPr id="257" name="Google Shape;257;g3534be74e08_0_25"/>
          <p:cNvSpPr txBox="1"/>
          <p:nvPr/>
        </p:nvSpPr>
        <p:spPr>
          <a:xfrm>
            <a:off x="124451" y="2908881"/>
            <a:ext cx="983700" cy="197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12700">
            <a:spAutoFit/>
          </a:bodyPr>
          <a:lstStyle/>
          <a:p>
            <a:pPr indent="0" lvl="0" marL="127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600"/>
              <a:buFont typeface="Arial"/>
              <a:buNone/>
            </a:pPr>
            <a:r>
              <a:rPr b="0" i="0" lang="en-US" sz="600" u="sng" cap="none" strike="noStrike">
                <a:solidFill>
                  <a:srgbClr val="0000FF"/>
                </a:solidFill>
                <a:latin typeface="Tahoma"/>
                <a:ea typeface="Tahoma"/>
                <a:cs typeface="Tahoma"/>
                <a:sym typeface="Tahoma"/>
                <a:hlinkClick action="ppaction://hlinksldjump" r:id="rId3">
                  <a:extLst>
                    <a:ext uri="{A12FA001-AC4F-418D-AE19-62706E023703}">
                      <ahyp:hlinkClr val="tx"/>
                    </a:ext>
                  </a:extLst>
                </a:hlinkClick>
              </a:rPr>
              <a:t>Graph representation Ch 22.1</a:t>
            </a:r>
            <a:endParaRPr b="0" i="0" sz="600" u="none" cap="none" strike="noStrike">
              <a:solidFill>
                <a:srgbClr val="000000"/>
              </a:solidFill>
              <a:latin typeface="Tahoma"/>
              <a:ea typeface="Tahoma"/>
              <a:cs typeface="Tahoma"/>
              <a:sym typeface="Tahoma"/>
            </a:endParaRPr>
          </a:p>
        </p:txBody>
      </p:sp>
      <p:sp>
        <p:nvSpPr>
          <p:cNvPr id="258" name="Google Shape;258;g3534be74e08_0_25"/>
          <p:cNvSpPr txBox="1"/>
          <p:nvPr/>
        </p:nvSpPr>
        <p:spPr>
          <a:xfrm>
            <a:off x="229100" y="792650"/>
            <a:ext cx="5307600" cy="1038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i="0" lang="en-US" sz="1000" u="none" cap="none" strike="noStrik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rPr>
              <a:t>Graph Representations</a:t>
            </a:r>
            <a:r>
              <a:rPr b="0" i="0" lang="en-US" sz="1000" u="none" cap="none" strike="noStrik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rPr>
              <a:t>:</a:t>
            </a:r>
            <a:endParaRPr b="0" i="0" sz="1000" u="none" cap="none" strike="noStrike">
              <a:solidFill>
                <a:schemeClr val="dk1"/>
              </a:solidFill>
              <a:latin typeface="Tahoma"/>
              <a:ea typeface="Tahoma"/>
              <a:cs typeface="Tahoma"/>
              <a:sym typeface="Tahoma"/>
            </a:endParaRPr>
          </a:p>
          <a:p>
            <a:pPr indent="-292100" lvl="0" marL="457200" marR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Tahoma"/>
              <a:buChar char="•"/>
            </a:pPr>
            <a:r>
              <a:rPr b="0" i="0" lang="en-US" sz="1000" u="none" cap="none" strike="noStrik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rPr>
              <a:t>Adjacency Matrix (Use a 2D matrix to represent the graph)</a:t>
            </a:r>
            <a:endParaRPr b="0" i="0" sz="1000" u="none" cap="none" strike="noStrike">
              <a:solidFill>
                <a:schemeClr val="dk1"/>
              </a:solidFill>
              <a:latin typeface="Tahoma"/>
              <a:ea typeface="Tahoma"/>
              <a:cs typeface="Tahoma"/>
              <a:sym typeface="Tahoma"/>
            </a:endParaRPr>
          </a:p>
          <a:p>
            <a:pPr indent="-292100" lvl="0" marL="4572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Tahoma"/>
              <a:buChar char="•"/>
            </a:pPr>
            <a:r>
              <a:rPr b="0" i="0" lang="en-US" sz="1000" u="none" cap="none" strike="noStrik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rPr>
              <a:t>Adjacency List  (Use a 1D array of linked lists)</a:t>
            </a:r>
            <a:endParaRPr b="0" i="0" sz="1000" u="none" cap="none" strike="noStrike">
              <a:solidFill>
                <a:schemeClr val="dk1"/>
              </a:solidFill>
              <a:latin typeface="Tahoma"/>
              <a:ea typeface="Tahoma"/>
              <a:cs typeface="Tahoma"/>
              <a:sym typeface="Tahoma"/>
            </a:endParaRPr>
          </a:p>
          <a:p>
            <a:pPr indent="-292100" lvl="0" marL="4572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990000"/>
              </a:buClr>
              <a:buSzPts val="1000"/>
              <a:buFont typeface="Tahoma"/>
              <a:buChar char="•"/>
            </a:pPr>
            <a:r>
              <a:rPr b="0" i="0" lang="en-US" sz="1000" u="none" cap="none" strike="noStrike">
                <a:solidFill>
                  <a:srgbClr val="990000"/>
                </a:solidFill>
                <a:latin typeface="Tahoma"/>
                <a:ea typeface="Tahoma"/>
                <a:cs typeface="Tahoma"/>
                <a:sym typeface="Tahoma"/>
              </a:rPr>
              <a:t>Incidence Matrix  (Use a 2D matrix to represent the graph)</a:t>
            </a:r>
            <a:endParaRPr b="0" i="0" sz="1000" u="none" cap="none" strike="noStrike">
              <a:solidFill>
                <a:srgbClr val="990000"/>
              </a:solidFill>
              <a:latin typeface="Tahoma"/>
              <a:ea typeface="Tahoma"/>
              <a:cs typeface="Tahoma"/>
              <a:sym typeface="Tahoma"/>
            </a:endParaRPr>
          </a:p>
          <a:p>
            <a:pPr indent="-292100" lvl="1" marL="9144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990000"/>
              </a:buClr>
              <a:buSzPts val="1000"/>
              <a:buFont typeface="Tahoma"/>
              <a:buChar char="○"/>
            </a:pPr>
            <a:r>
              <a:rPr b="0" i="0" lang="en-US" sz="1000" u="none" cap="none" strike="noStrike">
                <a:solidFill>
                  <a:srgbClr val="990000"/>
                </a:solidFill>
                <a:latin typeface="Tahoma"/>
                <a:ea typeface="Tahoma"/>
                <a:cs typeface="Tahoma"/>
                <a:sym typeface="Tahoma"/>
              </a:rPr>
              <a:t>(popular for electrical circuits) [Optional]</a:t>
            </a:r>
            <a:endParaRPr b="0" i="0" sz="900" u="none" cap="none" strike="noStrike">
              <a:solidFill>
                <a:srgbClr val="990000"/>
              </a:solidFill>
              <a:latin typeface="Tahoma"/>
              <a:ea typeface="Tahoma"/>
              <a:cs typeface="Tahoma"/>
              <a:sym typeface="Tahoma"/>
            </a:endParaRPr>
          </a:p>
        </p:txBody>
      </p:sp>
      <p:sp>
        <p:nvSpPr>
          <p:cNvPr id="259" name="Google Shape;259;g3534be74e08_0_25"/>
          <p:cNvSpPr txBox="1"/>
          <p:nvPr/>
        </p:nvSpPr>
        <p:spPr>
          <a:xfrm>
            <a:off x="406175" y="2083150"/>
            <a:ext cx="5043600" cy="338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127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</a:pPr>
            <a:r>
              <a:rPr b="1" i="0" lang="en-US" sz="1000" u="none" cap="none" strike="noStrike">
                <a:solidFill>
                  <a:srgbClr val="CC0000"/>
                </a:solidFill>
                <a:latin typeface="Tahoma"/>
                <a:ea typeface="Tahoma"/>
                <a:cs typeface="Tahoma"/>
                <a:sym typeface="Tahoma"/>
              </a:rPr>
              <a:t>Adjacency list-based and adjacency matrix Both are part of final syllabus</a:t>
            </a:r>
            <a:endParaRPr b="1" i="0" sz="800" u="none" cap="none" strike="noStrike">
              <a:solidFill>
                <a:srgbClr val="CC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63" name="Shape 26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4" name="Google Shape;264;g3220fd27c11_5_133"/>
          <p:cNvSpPr txBox="1"/>
          <p:nvPr>
            <p:ph type="title"/>
          </p:nvPr>
        </p:nvSpPr>
        <p:spPr>
          <a:xfrm>
            <a:off x="51301" y="108350"/>
            <a:ext cx="4672500" cy="2745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12700">
            <a:spAutoFit/>
          </a:bodyPr>
          <a:lstStyle/>
          <a:p>
            <a:pPr indent="0" lvl="0" marL="1247775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rPr lang="en-US"/>
              <a:t>Adjacency Matrix Representation</a:t>
            </a:r>
            <a:endParaRPr/>
          </a:p>
        </p:txBody>
      </p:sp>
      <p:sp>
        <p:nvSpPr>
          <p:cNvPr id="265" name="Google Shape;265;g3220fd27c11_5_133"/>
          <p:cNvSpPr txBox="1"/>
          <p:nvPr/>
        </p:nvSpPr>
        <p:spPr>
          <a:xfrm>
            <a:off x="124451" y="2908881"/>
            <a:ext cx="983700" cy="197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12700">
            <a:spAutoFit/>
          </a:bodyPr>
          <a:lstStyle/>
          <a:p>
            <a:pPr indent="0" lvl="0" marL="127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600"/>
              <a:buFont typeface="Arial"/>
              <a:buNone/>
            </a:pPr>
            <a:r>
              <a:rPr b="0" i="0" lang="en-US" sz="600" u="sng" cap="none" strike="noStrike">
                <a:solidFill>
                  <a:srgbClr val="0000FF"/>
                </a:solidFill>
                <a:latin typeface="Tahoma"/>
                <a:ea typeface="Tahoma"/>
                <a:cs typeface="Tahoma"/>
                <a:sym typeface="Tahoma"/>
                <a:hlinkClick action="ppaction://hlinksldjump" r:id="rId3">
                  <a:extLst>
                    <a:ext uri="{A12FA001-AC4F-418D-AE19-62706E023703}">
                      <ahyp:hlinkClr val="tx"/>
                    </a:ext>
                  </a:extLst>
                </a:hlinkClick>
              </a:rPr>
              <a:t>Graph representation Ch 22.1</a:t>
            </a:r>
            <a:endParaRPr b="0" i="0" sz="600" u="none" cap="none" strike="noStrike">
              <a:solidFill>
                <a:srgbClr val="000000"/>
              </a:solidFill>
              <a:latin typeface="Tahoma"/>
              <a:ea typeface="Tahoma"/>
              <a:cs typeface="Tahoma"/>
              <a:sym typeface="Tahoma"/>
            </a:endParaRPr>
          </a:p>
        </p:txBody>
      </p:sp>
      <p:pic>
        <p:nvPicPr>
          <p:cNvPr id="266" name="Google Shape;266;g3220fd27c11_5_133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1234575" y="397825"/>
            <a:ext cx="3023502" cy="597475"/>
          </a:xfrm>
          <a:prstGeom prst="rect">
            <a:avLst/>
          </a:prstGeom>
          <a:noFill/>
          <a:ln>
            <a:noFill/>
          </a:ln>
        </p:spPr>
      </p:pic>
      <p:pic>
        <p:nvPicPr>
          <p:cNvPr id="267" name="Google Shape;267;g3220fd27c11_5_133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750250" y="995300"/>
            <a:ext cx="3507826" cy="2194141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71" name="Shape 27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2" name="Google Shape;272;g3220fd27c11_5_143"/>
          <p:cNvSpPr txBox="1"/>
          <p:nvPr>
            <p:ph type="title"/>
          </p:nvPr>
        </p:nvSpPr>
        <p:spPr>
          <a:xfrm>
            <a:off x="51301" y="108350"/>
            <a:ext cx="4672500" cy="2745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12700">
            <a:spAutoFit/>
          </a:bodyPr>
          <a:lstStyle/>
          <a:p>
            <a:pPr indent="0" lvl="0" marL="1247775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rPr lang="en-US"/>
              <a:t>Adjacency Matrix Representation</a:t>
            </a:r>
            <a:endParaRPr/>
          </a:p>
        </p:txBody>
      </p:sp>
      <p:sp>
        <p:nvSpPr>
          <p:cNvPr id="273" name="Google Shape;273;g3220fd27c11_5_143"/>
          <p:cNvSpPr txBox="1"/>
          <p:nvPr/>
        </p:nvSpPr>
        <p:spPr>
          <a:xfrm>
            <a:off x="124451" y="2908881"/>
            <a:ext cx="983700" cy="197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12700">
            <a:spAutoFit/>
          </a:bodyPr>
          <a:lstStyle/>
          <a:p>
            <a:pPr indent="0" lvl="0" marL="127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600"/>
              <a:buFont typeface="Arial"/>
              <a:buNone/>
            </a:pPr>
            <a:r>
              <a:rPr b="0" i="0" lang="en-US" sz="600" u="sng" cap="none" strike="noStrike">
                <a:solidFill>
                  <a:srgbClr val="0000FF"/>
                </a:solidFill>
                <a:latin typeface="Tahoma"/>
                <a:ea typeface="Tahoma"/>
                <a:cs typeface="Tahoma"/>
                <a:sym typeface="Tahoma"/>
                <a:hlinkClick action="ppaction://hlinksldjump" r:id="rId3">
                  <a:extLst>
                    <a:ext uri="{A12FA001-AC4F-418D-AE19-62706E023703}">
                      <ahyp:hlinkClr val="tx"/>
                    </a:ext>
                  </a:extLst>
                </a:hlinkClick>
              </a:rPr>
              <a:t>Graph representation Ch 22.1</a:t>
            </a:r>
            <a:endParaRPr b="0" i="0" sz="600" u="none" cap="none" strike="noStrike">
              <a:solidFill>
                <a:srgbClr val="000000"/>
              </a:solidFill>
              <a:latin typeface="Tahoma"/>
              <a:ea typeface="Tahoma"/>
              <a:cs typeface="Tahoma"/>
              <a:sym typeface="Tahoma"/>
            </a:endParaRPr>
          </a:p>
        </p:txBody>
      </p:sp>
      <p:sp>
        <p:nvSpPr>
          <p:cNvPr id="274" name="Google Shape;274;g3220fd27c11_5_143"/>
          <p:cNvSpPr txBox="1"/>
          <p:nvPr/>
        </p:nvSpPr>
        <p:spPr>
          <a:xfrm>
            <a:off x="357400" y="418325"/>
            <a:ext cx="4872300" cy="800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</a:pPr>
            <a:r>
              <a:rPr b="1" i="0" lang="en-US" sz="800" u="none" cap="none" strike="noStrik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rPr>
              <a:t>Undirected Graphs</a:t>
            </a:r>
            <a:r>
              <a:rPr b="0" i="0" lang="en-US" sz="800" u="none" cap="none" strike="noStrik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rPr>
              <a:t>: The matrix is symmetric (A[i][j]=A[j][i]).</a:t>
            </a:r>
            <a:br>
              <a:rPr b="0" i="0" lang="en-US" sz="800" u="none" cap="none" strike="noStrik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rPr>
            </a:br>
            <a:r>
              <a:rPr b="0" i="0" lang="en-US" sz="800" u="none" cap="none" strike="noStrik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rPr>
              <a:t>For example, (2, 3) and (3, 2) have the same value</a:t>
            </a:r>
            <a:br>
              <a:rPr b="0" i="0" lang="en-US" sz="800" u="none" cap="none" strike="noStrik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rPr>
            </a:br>
            <a:br>
              <a:rPr b="0" i="0" lang="en-US" sz="800" u="none" cap="none" strike="noStrik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rPr>
            </a:br>
            <a:r>
              <a:rPr b="1" i="0" lang="en-US" sz="800" u="none" cap="none" strike="noStrik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rPr>
              <a:t>Directed Graphs</a:t>
            </a:r>
            <a:r>
              <a:rPr b="0" i="0" lang="en-US" sz="800" u="none" cap="none" strike="noStrik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rPr>
              <a:t>: The matrix is </a:t>
            </a:r>
            <a:r>
              <a:rPr b="1" i="0" lang="en-US" sz="800" u="none" cap="none" strike="noStrik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rPr>
              <a:t>not symmetric</a:t>
            </a:r>
            <a:r>
              <a:rPr b="0" i="0" lang="en-US" sz="800" u="none" cap="none" strike="noStrik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rPr>
              <a:t> unless each edge (a,b) has a corresponding (b,a).</a:t>
            </a:r>
            <a:endParaRPr b="0" i="0" sz="800" u="none" cap="none" strike="noStrike">
              <a:solidFill>
                <a:schemeClr val="dk1"/>
              </a:solidFill>
              <a:latin typeface="Tahoma"/>
              <a:ea typeface="Tahoma"/>
              <a:cs typeface="Tahoma"/>
              <a:sym typeface="Tahoma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</a:pPr>
            <a:r>
              <a:t/>
            </a:r>
            <a:endParaRPr b="0" i="0" sz="800" u="none" cap="none" strike="noStrike">
              <a:solidFill>
                <a:schemeClr val="dk1"/>
              </a:solidFill>
              <a:latin typeface="Tahoma"/>
              <a:ea typeface="Tahoma"/>
              <a:cs typeface="Tahoma"/>
              <a:sym typeface="Tahoma"/>
            </a:endParaRPr>
          </a:p>
        </p:txBody>
      </p:sp>
      <p:pic>
        <p:nvPicPr>
          <p:cNvPr id="275" name="Google Shape;275;g3220fd27c11_5_143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1049425" y="1098850"/>
            <a:ext cx="3341132" cy="2089876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79" name="Shape 27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0" name="Google Shape;280;g3534be74e08_0_32"/>
          <p:cNvSpPr txBox="1"/>
          <p:nvPr>
            <p:ph type="title"/>
          </p:nvPr>
        </p:nvSpPr>
        <p:spPr>
          <a:xfrm>
            <a:off x="51301" y="108350"/>
            <a:ext cx="4672500" cy="2745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12700">
            <a:spAutoFit/>
          </a:bodyPr>
          <a:lstStyle/>
          <a:p>
            <a:pPr indent="0" lvl="0" marL="1247775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rPr lang="en-US"/>
              <a:t>Adjacency Matrix Representation</a:t>
            </a:r>
            <a:endParaRPr/>
          </a:p>
        </p:txBody>
      </p:sp>
      <p:pic>
        <p:nvPicPr>
          <p:cNvPr id="281" name="Google Shape;281;g3534be74e08_0_32" title="graph.png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299350" y="829125"/>
            <a:ext cx="2347950" cy="1872500"/>
          </a:xfrm>
          <a:prstGeom prst="rect">
            <a:avLst/>
          </a:prstGeom>
          <a:noFill/>
          <a:ln>
            <a:noFill/>
          </a:ln>
        </p:spPr>
      </p:pic>
      <p:pic>
        <p:nvPicPr>
          <p:cNvPr id="282" name="Google Shape;282;g3534be74e08_0_32" title="graph1.png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3289475" y="945425"/>
            <a:ext cx="1756149" cy="191027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86" name="Shape 28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7" name="Google Shape;287;g3220fd27c11_5_165"/>
          <p:cNvSpPr txBox="1"/>
          <p:nvPr>
            <p:ph type="title"/>
          </p:nvPr>
        </p:nvSpPr>
        <p:spPr>
          <a:xfrm>
            <a:off x="51301" y="108350"/>
            <a:ext cx="4672500" cy="2745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12700">
            <a:spAutoFit/>
          </a:bodyPr>
          <a:lstStyle/>
          <a:p>
            <a:pPr indent="0" lvl="0" marL="1247775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rPr lang="en-US"/>
              <a:t>Adjacency Matrix Representation</a:t>
            </a:r>
            <a:endParaRPr/>
          </a:p>
        </p:txBody>
      </p:sp>
      <p:sp>
        <p:nvSpPr>
          <p:cNvPr id="288" name="Google Shape;288;g3220fd27c11_5_165"/>
          <p:cNvSpPr txBox="1"/>
          <p:nvPr/>
        </p:nvSpPr>
        <p:spPr>
          <a:xfrm>
            <a:off x="272401" y="2616331"/>
            <a:ext cx="983700" cy="197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12700">
            <a:spAutoFit/>
          </a:bodyPr>
          <a:lstStyle/>
          <a:p>
            <a:pPr indent="0" lvl="0" marL="127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600"/>
              <a:buFont typeface="Arial"/>
              <a:buNone/>
            </a:pPr>
            <a:r>
              <a:rPr b="0" i="0" lang="en-US" sz="600" u="sng" cap="none" strike="noStrike">
                <a:solidFill>
                  <a:srgbClr val="0000FF"/>
                </a:solidFill>
                <a:latin typeface="Tahoma"/>
                <a:ea typeface="Tahoma"/>
                <a:cs typeface="Tahoma"/>
                <a:sym typeface="Tahoma"/>
                <a:hlinkClick action="ppaction://hlinksldjump" r:id="rId3">
                  <a:extLst>
                    <a:ext uri="{A12FA001-AC4F-418D-AE19-62706E023703}">
                      <ahyp:hlinkClr val="tx"/>
                    </a:ext>
                  </a:extLst>
                </a:hlinkClick>
              </a:rPr>
              <a:t>Graph representation Ch 22.1</a:t>
            </a:r>
            <a:endParaRPr b="0" i="0" sz="600" u="none" cap="none" strike="noStrike">
              <a:solidFill>
                <a:srgbClr val="000000"/>
              </a:solidFill>
              <a:latin typeface="Tahoma"/>
              <a:ea typeface="Tahoma"/>
              <a:cs typeface="Tahoma"/>
              <a:sym typeface="Tahoma"/>
            </a:endParaRPr>
          </a:p>
        </p:txBody>
      </p:sp>
      <p:grpSp>
        <p:nvGrpSpPr>
          <p:cNvPr id="289" name="Google Shape;289;g3220fd27c11_5_165"/>
          <p:cNvGrpSpPr/>
          <p:nvPr/>
        </p:nvGrpSpPr>
        <p:grpSpPr>
          <a:xfrm>
            <a:off x="788747" y="939773"/>
            <a:ext cx="4040453" cy="1359480"/>
            <a:chOff x="309197" y="2023148"/>
            <a:chExt cx="4040453" cy="1359480"/>
          </a:xfrm>
        </p:grpSpPr>
        <p:sp>
          <p:nvSpPr>
            <p:cNvPr id="290" name="Google Shape;290;g3220fd27c11_5_165"/>
            <p:cNvSpPr/>
            <p:nvPr/>
          </p:nvSpPr>
          <p:spPr>
            <a:xfrm>
              <a:off x="309197" y="2023148"/>
              <a:ext cx="3989704" cy="201930"/>
            </a:xfrm>
            <a:custGeom>
              <a:rect b="b" l="l" r="r" t="t"/>
              <a:pathLst>
                <a:path extrusionOk="0" h="201930" w="3989704">
                  <a:moveTo>
                    <a:pt x="3938852" y="0"/>
                  </a:moveTo>
                  <a:lnTo>
                    <a:pt x="50800" y="0"/>
                  </a:lnTo>
                  <a:lnTo>
                    <a:pt x="31075" y="4008"/>
                  </a:lnTo>
                  <a:lnTo>
                    <a:pt x="14922" y="14922"/>
                  </a:lnTo>
                  <a:lnTo>
                    <a:pt x="4008" y="31075"/>
                  </a:lnTo>
                  <a:lnTo>
                    <a:pt x="0" y="50800"/>
                  </a:lnTo>
                  <a:lnTo>
                    <a:pt x="0" y="201471"/>
                  </a:lnTo>
                  <a:lnTo>
                    <a:pt x="3989652" y="201471"/>
                  </a:lnTo>
                  <a:lnTo>
                    <a:pt x="3989652" y="50800"/>
                  </a:lnTo>
                  <a:lnTo>
                    <a:pt x="3985644" y="31075"/>
                  </a:lnTo>
                  <a:lnTo>
                    <a:pt x="3974729" y="14922"/>
                  </a:lnTo>
                  <a:lnTo>
                    <a:pt x="3958576" y="4008"/>
                  </a:lnTo>
                  <a:lnTo>
                    <a:pt x="3938852" y="0"/>
                  </a:lnTo>
                  <a:close/>
                </a:path>
              </a:pathLst>
            </a:custGeom>
            <a:solidFill>
              <a:srgbClr val="005F00"/>
            </a:solidFill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pic>
          <p:nvPicPr>
            <p:cNvPr id="291" name="Google Shape;291;g3220fd27c11_5_165"/>
            <p:cNvPicPr preferRelativeResize="0"/>
            <p:nvPr/>
          </p:nvPicPr>
          <p:blipFill rotWithShape="1">
            <a:blip r:embed="rId4">
              <a:alphaModFix/>
            </a:blip>
            <a:srcRect b="0" l="0" r="0" t="0"/>
            <a:stretch/>
          </p:blipFill>
          <p:spPr>
            <a:xfrm>
              <a:off x="309197" y="2211965"/>
              <a:ext cx="3989651" cy="50610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292" name="Google Shape;292;g3220fd27c11_5_165"/>
            <p:cNvPicPr preferRelativeResize="0"/>
            <p:nvPr/>
          </p:nvPicPr>
          <p:blipFill rotWithShape="1">
            <a:blip r:embed="rId5">
              <a:alphaModFix/>
            </a:blip>
            <a:srcRect b="0" l="0" r="0" t="0"/>
            <a:stretch/>
          </p:blipFill>
          <p:spPr>
            <a:xfrm>
              <a:off x="359998" y="3281027"/>
              <a:ext cx="101600" cy="101600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293" name="Google Shape;293;g3220fd27c11_5_165"/>
            <p:cNvPicPr preferRelativeResize="0"/>
            <p:nvPr/>
          </p:nvPicPr>
          <p:blipFill rotWithShape="1">
            <a:blip r:embed="rId6">
              <a:alphaModFix/>
            </a:blip>
            <a:srcRect b="0" l="0" r="0" t="0"/>
            <a:stretch/>
          </p:blipFill>
          <p:spPr>
            <a:xfrm>
              <a:off x="410798" y="3268327"/>
              <a:ext cx="3938852" cy="114301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294" name="Google Shape;294;g3220fd27c11_5_165"/>
            <p:cNvPicPr preferRelativeResize="0"/>
            <p:nvPr/>
          </p:nvPicPr>
          <p:blipFill rotWithShape="1">
            <a:blip r:embed="rId7">
              <a:alphaModFix/>
            </a:blip>
            <a:srcRect b="0" l="0" r="0" t="0"/>
            <a:stretch/>
          </p:blipFill>
          <p:spPr>
            <a:xfrm>
              <a:off x="4298849" y="2067371"/>
              <a:ext cx="50800" cy="1213655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295" name="Google Shape;295;g3220fd27c11_5_165"/>
            <p:cNvSpPr/>
            <p:nvPr/>
          </p:nvSpPr>
          <p:spPr>
            <a:xfrm>
              <a:off x="309197" y="2256237"/>
              <a:ext cx="3989704" cy="1075689"/>
            </a:xfrm>
            <a:custGeom>
              <a:rect b="b" l="l" r="r" t="t"/>
              <a:pathLst>
                <a:path extrusionOk="0" h="1075689" w="3989704">
                  <a:moveTo>
                    <a:pt x="3989652" y="0"/>
                  </a:moveTo>
                  <a:lnTo>
                    <a:pt x="0" y="0"/>
                  </a:lnTo>
                  <a:lnTo>
                    <a:pt x="0" y="1024790"/>
                  </a:lnTo>
                  <a:lnTo>
                    <a:pt x="4008" y="1044514"/>
                  </a:lnTo>
                  <a:lnTo>
                    <a:pt x="14922" y="1060667"/>
                  </a:lnTo>
                  <a:lnTo>
                    <a:pt x="31075" y="1071582"/>
                  </a:lnTo>
                  <a:lnTo>
                    <a:pt x="50800" y="1075590"/>
                  </a:lnTo>
                  <a:lnTo>
                    <a:pt x="3938852" y="1075590"/>
                  </a:lnTo>
                  <a:lnTo>
                    <a:pt x="3958576" y="1071582"/>
                  </a:lnTo>
                  <a:lnTo>
                    <a:pt x="3974729" y="1060667"/>
                  </a:lnTo>
                  <a:lnTo>
                    <a:pt x="3985644" y="1044514"/>
                  </a:lnTo>
                  <a:lnTo>
                    <a:pt x="3989652" y="1024790"/>
                  </a:lnTo>
                  <a:lnTo>
                    <a:pt x="3989652" y="0"/>
                  </a:lnTo>
                  <a:close/>
                </a:path>
              </a:pathLst>
            </a:custGeom>
            <a:solidFill>
              <a:srgbClr val="E5EFE5"/>
            </a:solidFill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96" name="Google Shape;296;g3220fd27c11_5_165"/>
            <p:cNvSpPr/>
            <p:nvPr/>
          </p:nvSpPr>
          <p:spPr>
            <a:xfrm>
              <a:off x="4298849" y="2105471"/>
              <a:ext cx="0" cy="1195070"/>
            </a:xfrm>
            <a:custGeom>
              <a:rect b="b" l="l" r="r" t="t"/>
              <a:pathLst>
                <a:path extrusionOk="0" h="1195070" w="120000">
                  <a:moveTo>
                    <a:pt x="0" y="1194605"/>
                  </a:moveTo>
                  <a:lnTo>
                    <a:pt x="0" y="0"/>
                  </a:lnTo>
                </a:path>
              </a:pathLst>
            </a:custGeom>
            <a:noFill/>
            <a:ln cap="flat" cmpd="sng" w="9525">
              <a:solidFill>
                <a:srgbClr val="7F7F7F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97" name="Google Shape;297;g3220fd27c11_5_165"/>
            <p:cNvSpPr/>
            <p:nvPr/>
          </p:nvSpPr>
          <p:spPr>
            <a:xfrm>
              <a:off x="4298849" y="2092771"/>
              <a:ext cx="0" cy="12700"/>
            </a:xfrm>
            <a:custGeom>
              <a:rect b="b" l="l" r="r" t="t"/>
              <a:pathLst>
                <a:path extrusionOk="0" h="12700" w="120000">
                  <a:moveTo>
                    <a:pt x="0" y="12700"/>
                  </a:moveTo>
                  <a:lnTo>
                    <a:pt x="0" y="0"/>
                  </a:lnTo>
                </a:path>
              </a:pathLst>
            </a:custGeom>
            <a:noFill/>
            <a:ln cap="flat" cmpd="sng" w="9525">
              <a:solidFill>
                <a:srgbClr val="AFAFAF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98" name="Google Shape;298;g3220fd27c11_5_165"/>
            <p:cNvSpPr/>
            <p:nvPr/>
          </p:nvSpPr>
          <p:spPr>
            <a:xfrm>
              <a:off x="4298849" y="2080071"/>
              <a:ext cx="0" cy="12700"/>
            </a:xfrm>
            <a:custGeom>
              <a:rect b="b" l="l" r="r" t="t"/>
              <a:pathLst>
                <a:path extrusionOk="0" h="12700" w="120000">
                  <a:moveTo>
                    <a:pt x="0" y="12700"/>
                  </a:moveTo>
                  <a:lnTo>
                    <a:pt x="0" y="0"/>
                  </a:lnTo>
                </a:path>
              </a:pathLst>
            </a:custGeom>
            <a:noFill/>
            <a:ln cap="flat" cmpd="sng" w="9525">
              <a:solidFill>
                <a:srgbClr val="CECECE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99" name="Google Shape;299;g3220fd27c11_5_165"/>
            <p:cNvSpPr/>
            <p:nvPr/>
          </p:nvSpPr>
          <p:spPr>
            <a:xfrm>
              <a:off x="4298849" y="2067371"/>
              <a:ext cx="0" cy="12700"/>
            </a:xfrm>
            <a:custGeom>
              <a:rect b="b" l="l" r="r" t="t"/>
              <a:pathLst>
                <a:path extrusionOk="0" h="12700" w="120000">
                  <a:moveTo>
                    <a:pt x="0" y="12700"/>
                  </a:moveTo>
                  <a:lnTo>
                    <a:pt x="0" y="0"/>
                  </a:lnTo>
                </a:path>
              </a:pathLst>
            </a:custGeom>
            <a:noFill/>
            <a:ln cap="flat" cmpd="sng" w="9525">
              <a:solidFill>
                <a:srgbClr val="EFEFEF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pic>
          <p:nvPicPr>
            <p:cNvPr id="300" name="Google Shape;300;g3220fd27c11_5_165"/>
            <p:cNvPicPr preferRelativeResize="0"/>
            <p:nvPr/>
          </p:nvPicPr>
          <p:blipFill rotWithShape="1">
            <a:blip r:embed="rId8">
              <a:alphaModFix/>
            </a:blip>
            <a:srcRect b="0" l="0" r="0" t="0"/>
            <a:stretch/>
          </p:blipFill>
          <p:spPr>
            <a:xfrm>
              <a:off x="359997" y="2281534"/>
              <a:ext cx="896093" cy="1005866"/>
            </a:xfrm>
            <a:prstGeom prst="rect">
              <a:avLst/>
            </a:prstGeom>
            <a:noFill/>
            <a:ln>
              <a:noFill/>
            </a:ln>
          </p:spPr>
        </p:pic>
      </p:grpSp>
      <p:sp>
        <p:nvSpPr>
          <p:cNvPr id="301" name="Google Shape;301;g3220fd27c11_5_165"/>
          <p:cNvSpPr txBox="1"/>
          <p:nvPr/>
        </p:nvSpPr>
        <p:spPr>
          <a:xfrm>
            <a:off x="826848" y="431120"/>
            <a:ext cx="3848700" cy="1612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6975">
            <a:spAutoFit/>
          </a:bodyPr>
          <a:lstStyle/>
          <a:p>
            <a:pPr indent="0" lvl="0" marL="12700" marR="5080" rtl="0" algn="l">
              <a:lnSpc>
                <a:spcPct val="1026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t/>
            </a:r>
            <a:endParaRPr b="0" i="0" sz="11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12700" marR="5080" rtl="0" algn="l">
              <a:lnSpc>
                <a:spcPct val="1026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t/>
            </a:r>
            <a:endParaRPr b="0" i="0" sz="11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12700" marR="0" rtl="0" algn="l">
              <a:lnSpc>
                <a:spcPct val="100000"/>
              </a:lnSpc>
              <a:spcBef>
                <a:spcPts val="1255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b="0" i="0" lang="en-US" sz="11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Example (Undirected graph)</a:t>
            </a:r>
            <a:endParaRPr b="0" i="0" sz="11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623570" marR="0" rtl="0" algn="ctr">
              <a:lnSpc>
                <a:spcPct val="100000"/>
              </a:lnSpc>
              <a:spcBef>
                <a:spcPts val="635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</a:pPr>
            <a:r>
              <a:rPr b="0" i="0" lang="en-US" sz="900" u="sng" cap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	</a:t>
            </a:r>
            <a:r>
              <a:rPr b="0" i="1" lang="en-US" sz="900" u="sng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a	b	c	d	e </a:t>
            </a:r>
            <a:endParaRPr b="0" i="0" sz="9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622935" marR="0" rtl="0" algn="ctr">
              <a:lnSpc>
                <a:spcPct val="100000"/>
              </a:lnSpc>
              <a:spcBef>
                <a:spcPts val="55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</a:pPr>
            <a:r>
              <a:rPr b="0" i="1" lang="en-US" sz="9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a	</a:t>
            </a:r>
            <a:r>
              <a:rPr b="0" i="0" lang="en-US" sz="9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0	1	0	1	0</a:t>
            </a:r>
            <a:endParaRPr b="0" i="0" sz="9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622935" marR="0" rtl="0" algn="ctr">
              <a:lnSpc>
                <a:spcPct val="100000"/>
              </a:lnSpc>
              <a:spcBef>
                <a:spcPts val="15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</a:pPr>
            <a:r>
              <a:rPr b="0" i="1" lang="en-US" sz="9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b	</a:t>
            </a:r>
            <a:r>
              <a:rPr b="0" i="0" lang="en-US" sz="9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1	0	1	1	1</a:t>
            </a:r>
            <a:endParaRPr b="0" i="0" sz="9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622935" marR="0" rtl="0" algn="ctr">
              <a:lnSpc>
                <a:spcPct val="100000"/>
              </a:lnSpc>
              <a:spcBef>
                <a:spcPts val="15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</a:pPr>
            <a:r>
              <a:rPr b="0" i="1" lang="en-US" sz="9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c	</a:t>
            </a:r>
            <a:r>
              <a:rPr b="0" i="0" lang="en-US" sz="9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0	1	0	0	1</a:t>
            </a:r>
            <a:endParaRPr b="0" i="0" sz="9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622935" marR="0" rtl="0" algn="ctr">
              <a:lnSpc>
                <a:spcPct val="100000"/>
              </a:lnSpc>
              <a:spcBef>
                <a:spcPts val="2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</a:pPr>
            <a:r>
              <a:rPr b="0" i="1" lang="en-US" sz="9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d	</a:t>
            </a:r>
            <a:r>
              <a:rPr b="0" i="0" lang="en-US" sz="9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1	1	0	0	1</a:t>
            </a:r>
            <a:endParaRPr b="0" i="0" sz="9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622935" marR="0" rtl="0" algn="ctr">
              <a:lnSpc>
                <a:spcPct val="100000"/>
              </a:lnSpc>
              <a:spcBef>
                <a:spcPts val="15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</a:pPr>
            <a:r>
              <a:rPr b="0" i="1" lang="en-US" sz="9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e	</a:t>
            </a:r>
            <a:r>
              <a:rPr b="0" i="0" lang="en-US" sz="9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0	1	1	1	0</a:t>
            </a:r>
            <a:endParaRPr b="0" i="0" sz="9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05" name="Shape 30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6" name="Google Shape;306;g3220fd27c11_5_156"/>
          <p:cNvSpPr txBox="1"/>
          <p:nvPr>
            <p:ph type="title"/>
          </p:nvPr>
        </p:nvSpPr>
        <p:spPr>
          <a:xfrm>
            <a:off x="51301" y="108350"/>
            <a:ext cx="4672500" cy="2745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12700">
            <a:spAutoFit/>
          </a:bodyPr>
          <a:lstStyle/>
          <a:p>
            <a:pPr indent="0" lvl="0" marL="1247775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rPr lang="en-US"/>
              <a:t>Adjacency Matrix Representation</a:t>
            </a:r>
            <a:endParaRPr/>
          </a:p>
        </p:txBody>
      </p:sp>
      <p:sp>
        <p:nvSpPr>
          <p:cNvPr id="307" name="Google Shape;307;g3220fd27c11_5_156"/>
          <p:cNvSpPr txBox="1"/>
          <p:nvPr/>
        </p:nvSpPr>
        <p:spPr>
          <a:xfrm>
            <a:off x="124451" y="2908881"/>
            <a:ext cx="983700" cy="197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12700">
            <a:spAutoFit/>
          </a:bodyPr>
          <a:lstStyle/>
          <a:p>
            <a:pPr indent="0" lvl="0" marL="127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600"/>
              <a:buFont typeface="Arial"/>
              <a:buNone/>
            </a:pPr>
            <a:r>
              <a:rPr b="0" i="0" lang="en-US" sz="600" u="sng" cap="none" strike="noStrike">
                <a:solidFill>
                  <a:srgbClr val="0000FF"/>
                </a:solidFill>
                <a:latin typeface="Tahoma"/>
                <a:ea typeface="Tahoma"/>
                <a:cs typeface="Tahoma"/>
                <a:sym typeface="Tahoma"/>
                <a:hlinkClick action="ppaction://hlinksldjump" r:id="rId3">
                  <a:extLst>
                    <a:ext uri="{A12FA001-AC4F-418D-AE19-62706E023703}">
                      <ahyp:hlinkClr val="tx"/>
                    </a:ext>
                  </a:extLst>
                </a:hlinkClick>
              </a:rPr>
              <a:t>Graph representation Ch 22.1</a:t>
            </a:r>
            <a:endParaRPr b="0" i="0" sz="600" u="none" cap="none" strike="noStrike">
              <a:solidFill>
                <a:srgbClr val="000000"/>
              </a:solidFill>
              <a:latin typeface="Tahoma"/>
              <a:ea typeface="Tahoma"/>
              <a:cs typeface="Tahoma"/>
              <a:sym typeface="Tahoma"/>
            </a:endParaRPr>
          </a:p>
        </p:txBody>
      </p:sp>
      <p:pic>
        <p:nvPicPr>
          <p:cNvPr id="308" name="Google Shape;308;g3220fd27c11_5_156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706551" y="984163"/>
            <a:ext cx="4017249" cy="1827526"/>
          </a:xfrm>
          <a:prstGeom prst="rect">
            <a:avLst/>
          </a:prstGeom>
          <a:noFill/>
          <a:ln>
            <a:noFill/>
          </a:ln>
        </p:spPr>
      </p:pic>
      <p:sp>
        <p:nvSpPr>
          <p:cNvPr id="309" name="Google Shape;309;g3220fd27c11_5_156"/>
          <p:cNvSpPr txBox="1"/>
          <p:nvPr/>
        </p:nvSpPr>
        <p:spPr>
          <a:xfrm>
            <a:off x="831875" y="517700"/>
            <a:ext cx="4337400" cy="554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r>
              <a:rPr b="0" i="0" lang="en-US" sz="1200" u="none" cap="none" strike="noStrik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rPr>
              <a:t>Shows only the </a:t>
            </a:r>
            <a:r>
              <a:rPr b="0" i="0" lang="en-US" sz="1200" u="sng" cap="none" strike="noStrike">
                <a:solidFill>
                  <a:srgbClr val="0000FF"/>
                </a:solidFill>
                <a:latin typeface="Tahoma"/>
                <a:ea typeface="Tahoma"/>
                <a:cs typeface="Tahoma"/>
                <a:sym typeface="Tahoma"/>
              </a:rPr>
              <a:t>outgoing edges </a:t>
            </a:r>
            <a:br>
              <a:rPr b="0" i="0" lang="en-US" sz="1200" u="sng" cap="none" strike="noStrike">
                <a:solidFill>
                  <a:srgbClr val="0000FF"/>
                </a:solidFill>
                <a:latin typeface="Tahoma"/>
                <a:ea typeface="Tahoma"/>
                <a:cs typeface="Tahoma"/>
                <a:sym typeface="Tahoma"/>
              </a:rPr>
            </a:br>
            <a:r>
              <a:rPr b="1" i="0" lang="en-US" sz="1200" u="sng" cap="none" strike="noStrike">
                <a:solidFill>
                  <a:srgbClr val="990000"/>
                </a:solidFill>
                <a:latin typeface="Tahoma"/>
                <a:ea typeface="Tahoma"/>
                <a:cs typeface="Tahoma"/>
                <a:sym typeface="Tahoma"/>
              </a:rPr>
              <a:t>(REMEMBER!!     NOT INCOMING)</a:t>
            </a:r>
            <a:endParaRPr b="1" i="0" sz="1200" u="sng" cap="none" strike="noStrike">
              <a:solidFill>
                <a:srgbClr val="990000"/>
              </a:solidFill>
              <a:latin typeface="Tahoma"/>
              <a:ea typeface="Tahoma"/>
              <a:cs typeface="Tahoma"/>
              <a:sym typeface="Tahoma"/>
            </a:endParaRPr>
          </a:p>
        </p:txBody>
      </p:sp>
    </p:spTree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13" name="Shape 3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4" name="Google Shape;314;g3220fd27c11_5_186"/>
          <p:cNvSpPr txBox="1"/>
          <p:nvPr>
            <p:ph type="title"/>
          </p:nvPr>
        </p:nvSpPr>
        <p:spPr>
          <a:xfrm>
            <a:off x="51301" y="108350"/>
            <a:ext cx="4672500" cy="2745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12700">
            <a:spAutoFit/>
          </a:bodyPr>
          <a:lstStyle/>
          <a:p>
            <a:pPr indent="0" lvl="0" marL="1247775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rPr lang="en-US"/>
              <a:t>Adjacency Matrix Representation</a:t>
            </a:r>
            <a:endParaRPr/>
          </a:p>
        </p:txBody>
      </p:sp>
      <p:sp>
        <p:nvSpPr>
          <p:cNvPr id="315" name="Google Shape;315;g3220fd27c11_5_186"/>
          <p:cNvSpPr txBox="1"/>
          <p:nvPr/>
        </p:nvSpPr>
        <p:spPr>
          <a:xfrm>
            <a:off x="124451" y="2908881"/>
            <a:ext cx="983700" cy="197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12700">
            <a:spAutoFit/>
          </a:bodyPr>
          <a:lstStyle/>
          <a:p>
            <a:pPr indent="0" lvl="0" marL="127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600"/>
              <a:buFont typeface="Arial"/>
              <a:buNone/>
            </a:pPr>
            <a:r>
              <a:rPr b="0" i="0" lang="en-US" sz="600" u="sng" cap="none" strike="noStrike">
                <a:solidFill>
                  <a:srgbClr val="0000FF"/>
                </a:solidFill>
                <a:latin typeface="Tahoma"/>
                <a:ea typeface="Tahoma"/>
                <a:cs typeface="Tahoma"/>
                <a:sym typeface="Tahoma"/>
                <a:hlinkClick action="ppaction://hlinksldjump" r:id="rId3">
                  <a:extLst>
                    <a:ext uri="{A12FA001-AC4F-418D-AE19-62706E023703}">
                      <ahyp:hlinkClr val="tx"/>
                    </a:ext>
                  </a:extLst>
                </a:hlinkClick>
              </a:rPr>
              <a:t>Graph representation Ch 22.1</a:t>
            </a:r>
            <a:endParaRPr b="0" i="0" sz="600" u="none" cap="none" strike="noStrike">
              <a:solidFill>
                <a:srgbClr val="000000"/>
              </a:solidFill>
              <a:latin typeface="Tahoma"/>
              <a:ea typeface="Tahoma"/>
              <a:cs typeface="Tahoma"/>
              <a:sym typeface="Tahoma"/>
            </a:endParaRPr>
          </a:p>
        </p:txBody>
      </p:sp>
      <p:grpSp>
        <p:nvGrpSpPr>
          <p:cNvPr id="316" name="Google Shape;316;g3220fd27c11_5_186"/>
          <p:cNvGrpSpPr/>
          <p:nvPr/>
        </p:nvGrpSpPr>
        <p:grpSpPr>
          <a:xfrm>
            <a:off x="615339" y="958267"/>
            <a:ext cx="4272779" cy="1455051"/>
            <a:chOff x="309197" y="2023148"/>
            <a:chExt cx="4040453" cy="1359480"/>
          </a:xfrm>
        </p:grpSpPr>
        <p:sp>
          <p:nvSpPr>
            <p:cNvPr id="317" name="Google Shape;317;g3220fd27c11_5_186"/>
            <p:cNvSpPr/>
            <p:nvPr/>
          </p:nvSpPr>
          <p:spPr>
            <a:xfrm>
              <a:off x="309197" y="2023148"/>
              <a:ext cx="3989704" cy="201930"/>
            </a:xfrm>
            <a:custGeom>
              <a:rect b="b" l="l" r="r" t="t"/>
              <a:pathLst>
                <a:path extrusionOk="0" h="201930" w="3989704">
                  <a:moveTo>
                    <a:pt x="3938852" y="0"/>
                  </a:moveTo>
                  <a:lnTo>
                    <a:pt x="50800" y="0"/>
                  </a:lnTo>
                  <a:lnTo>
                    <a:pt x="31075" y="4008"/>
                  </a:lnTo>
                  <a:lnTo>
                    <a:pt x="14922" y="14922"/>
                  </a:lnTo>
                  <a:lnTo>
                    <a:pt x="4008" y="31075"/>
                  </a:lnTo>
                  <a:lnTo>
                    <a:pt x="0" y="50800"/>
                  </a:lnTo>
                  <a:lnTo>
                    <a:pt x="0" y="201471"/>
                  </a:lnTo>
                  <a:lnTo>
                    <a:pt x="3989652" y="201471"/>
                  </a:lnTo>
                  <a:lnTo>
                    <a:pt x="3989652" y="50800"/>
                  </a:lnTo>
                  <a:lnTo>
                    <a:pt x="3985644" y="31075"/>
                  </a:lnTo>
                  <a:lnTo>
                    <a:pt x="3974729" y="14922"/>
                  </a:lnTo>
                  <a:lnTo>
                    <a:pt x="3958576" y="4008"/>
                  </a:lnTo>
                  <a:lnTo>
                    <a:pt x="3938852" y="0"/>
                  </a:lnTo>
                  <a:close/>
                </a:path>
              </a:pathLst>
            </a:custGeom>
            <a:solidFill>
              <a:srgbClr val="005F00"/>
            </a:solidFill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pic>
          <p:nvPicPr>
            <p:cNvPr id="318" name="Google Shape;318;g3220fd27c11_5_186"/>
            <p:cNvPicPr preferRelativeResize="0"/>
            <p:nvPr/>
          </p:nvPicPr>
          <p:blipFill rotWithShape="1">
            <a:blip r:embed="rId4">
              <a:alphaModFix/>
            </a:blip>
            <a:srcRect b="0" l="0" r="0" t="0"/>
            <a:stretch/>
          </p:blipFill>
          <p:spPr>
            <a:xfrm>
              <a:off x="309197" y="2211965"/>
              <a:ext cx="3989651" cy="50610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319" name="Google Shape;319;g3220fd27c11_5_186"/>
            <p:cNvPicPr preferRelativeResize="0"/>
            <p:nvPr/>
          </p:nvPicPr>
          <p:blipFill rotWithShape="1">
            <a:blip r:embed="rId5">
              <a:alphaModFix/>
            </a:blip>
            <a:srcRect b="0" l="0" r="0" t="0"/>
            <a:stretch/>
          </p:blipFill>
          <p:spPr>
            <a:xfrm>
              <a:off x="359998" y="3281027"/>
              <a:ext cx="101600" cy="101600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320" name="Google Shape;320;g3220fd27c11_5_186"/>
            <p:cNvPicPr preferRelativeResize="0"/>
            <p:nvPr/>
          </p:nvPicPr>
          <p:blipFill rotWithShape="1">
            <a:blip r:embed="rId6">
              <a:alphaModFix/>
            </a:blip>
            <a:srcRect b="0" l="0" r="0" t="0"/>
            <a:stretch/>
          </p:blipFill>
          <p:spPr>
            <a:xfrm>
              <a:off x="410798" y="3268327"/>
              <a:ext cx="3938852" cy="114301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321" name="Google Shape;321;g3220fd27c11_5_186"/>
            <p:cNvPicPr preferRelativeResize="0"/>
            <p:nvPr/>
          </p:nvPicPr>
          <p:blipFill rotWithShape="1">
            <a:blip r:embed="rId7">
              <a:alphaModFix/>
            </a:blip>
            <a:srcRect b="0" l="0" r="0" t="0"/>
            <a:stretch/>
          </p:blipFill>
          <p:spPr>
            <a:xfrm>
              <a:off x="4298849" y="2067371"/>
              <a:ext cx="50800" cy="1213655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322" name="Google Shape;322;g3220fd27c11_5_186"/>
            <p:cNvSpPr/>
            <p:nvPr/>
          </p:nvSpPr>
          <p:spPr>
            <a:xfrm>
              <a:off x="309197" y="2256237"/>
              <a:ext cx="3989704" cy="1075689"/>
            </a:xfrm>
            <a:custGeom>
              <a:rect b="b" l="l" r="r" t="t"/>
              <a:pathLst>
                <a:path extrusionOk="0" h="1075689" w="3989704">
                  <a:moveTo>
                    <a:pt x="3989652" y="0"/>
                  </a:moveTo>
                  <a:lnTo>
                    <a:pt x="0" y="0"/>
                  </a:lnTo>
                  <a:lnTo>
                    <a:pt x="0" y="1024790"/>
                  </a:lnTo>
                  <a:lnTo>
                    <a:pt x="4008" y="1044514"/>
                  </a:lnTo>
                  <a:lnTo>
                    <a:pt x="14922" y="1060667"/>
                  </a:lnTo>
                  <a:lnTo>
                    <a:pt x="31075" y="1071582"/>
                  </a:lnTo>
                  <a:lnTo>
                    <a:pt x="50800" y="1075590"/>
                  </a:lnTo>
                  <a:lnTo>
                    <a:pt x="3938852" y="1075590"/>
                  </a:lnTo>
                  <a:lnTo>
                    <a:pt x="3958576" y="1071582"/>
                  </a:lnTo>
                  <a:lnTo>
                    <a:pt x="3974729" y="1060667"/>
                  </a:lnTo>
                  <a:lnTo>
                    <a:pt x="3985644" y="1044514"/>
                  </a:lnTo>
                  <a:lnTo>
                    <a:pt x="3989652" y="1024790"/>
                  </a:lnTo>
                  <a:lnTo>
                    <a:pt x="3989652" y="0"/>
                  </a:lnTo>
                  <a:close/>
                </a:path>
              </a:pathLst>
            </a:custGeom>
            <a:solidFill>
              <a:srgbClr val="E5EFE5"/>
            </a:solidFill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23" name="Google Shape;323;g3220fd27c11_5_186"/>
            <p:cNvSpPr/>
            <p:nvPr/>
          </p:nvSpPr>
          <p:spPr>
            <a:xfrm>
              <a:off x="4298849" y="2105471"/>
              <a:ext cx="0" cy="1195070"/>
            </a:xfrm>
            <a:custGeom>
              <a:rect b="b" l="l" r="r" t="t"/>
              <a:pathLst>
                <a:path extrusionOk="0" h="1195070" w="120000">
                  <a:moveTo>
                    <a:pt x="0" y="1194605"/>
                  </a:moveTo>
                  <a:lnTo>
                    <a:pt x="0" y="0"/>
                  </a:lnTo>
                </a:path>
              </a:pathLst>
            </a:custGeom>
            <a:noFill/>
            <a:ln cap="flat" cmpd="sng" w="9525">
              <a:solidFill>
                <a:srgbClr val="7F7F7F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24" name="Google Shape;324;g3220fd27c11_5_186"/>
            <p:cNvSpPr/>
            <p:nvPr/>
          </p:nvSpPr>
          <p:spPr>
            <a:xfrm>
              <a:off x="4298849" y="2092771"/>
              <a:ext cx="0" cy="12700"/>
            </a:xfrm>
            <a:custGeom>
              <a:rect b="b" l="l" r="r" t="t"/>
              <a:pathLst>
                <a:path extrusionOk="0" h="12700" w="120000">
                  <a:moveTo>
                    <a:pt x="0" y="12700"/>
                  </a:moveTo>
                  <a:lnTo>
                    <a:pt x="0" y="0"/>
                  </a:lnTo>
                </a:path>
              </a:pathLst>
            </a:custGeom>
            <a:noFill/>
            <a:ln cap="flat" cmpd="sng" w="9525">
              <a:solidFill>
                <a:srgbClr val="AFAFAF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25" name="Google Shape;325;g3220fd27c11_5_186"/>
            <p:cNvSpPr/>
            <p:nvPr/>
          </p:nvSpPr>
          <p:spPr>
            <a:xfrm>
              <a:off x="4298849" y="2080071"/>
              <a:ext cx="0" cy="12700"/>
            </a:xfrm>
            <a:custGeom>
              <a:rect b="b" l="l" r="r" t="t"/>
              <a:pathLst>
                <a:path extrusionOk="0" h="12700" w="120000">
                  <a:moveTo>
                    <a:pt x="0" y="12700"/>
                  </a:moveTo>
                  <a:lnTo>
                    <a:pt x="0" y="0"/>
                  </a:lnTo>
                </a:path>
              </a:pathLst>
            </a:custGeom>
            <a:noFill/>
            <a:ln cap="flat" cmpd="sng" w="9525">
              <a:solidFill>
                <a:srgbClr val="CECECE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26" name="Google Shape;326;g3220fd27c11_5_186"/>
            <p:cNvSpPr/>
            <p:nvPr/>
          </p:nvSpPr>
          <p:spPr>
            <a:xfrm>
              <a:off x="4298849" y="2067371"/>
              <a:ext cx="0" cy="12700"/>
            </a:xfrm>
            <a:custGeom>
              <a:rect b="b" l="l" r="r" t="t"/>
              <a:pathLst>
                <a:path extrusionOk="0" h="12700" w="120000">
                  <a:moveTo>
                    <a:pt x="0" y="12700"/>
                  </a:moveTo>
                  <a:lnTo>
                    <a:pt x="0" y="0"/>
                  </a:lnTo>
                </a:path>
              </a:pathLst>
            </a:custGeom>
            <a:noFill/>
            <a:ln cap="flat" cmpd="sng" w="9525">
              <a:solidFill>
                <a:srgbClr val="EFEFEF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pic>
          <p:nvPicPr>
            <p:cNvPr id="327" name="Google Shape;327;g3220fd27c11_5_186"/>
            <p:cNvPicPr preferRelativeResize="0"/>
            <p:nvPr/>
          </p:nvPicPr>
          <p:blipFill rotWithShape="1">
            <a:blip r:embed="rId8">
              <a:alphaModFix/>
            </a:blip>
            <a:srcRect b="0" l="0" r="0" t="0"/>
            <a:stretch/>
          </p:blipFill>
          <p:spPr>
            <a:xfrm>
              <a:off x="359997" y="2281534"/>
              <a:ext cx="896093" cy="1005866"/>
            </a:xfrm>
            <a:prstGeom prst="rect">
              <a:avLst/>
            </a:prstGeom>
            <a:noFill/>
            <a:ln>
              <a:noFill/>
            </a:ln>
          </p:spPr>
        </p:pic>
      </p:grpSp>
      <p:sp>
        <p:nvSpPr>
          <p:cNvPr id="328" name="Google Shape;328;g3220fd27c11_5_186"/>
          <p:cNvSpPr txBox="1"/>
          <p:nvPr/>
        </p:nvSpPr>
        <p:spPr>
          <a:xfrm>
            <a:off x="653990" y="444425"/>
            <a:ext cx="4069800" cy="1612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6975">
            <a:spAutoFit/>
          </a:bodyPr>
          <a:lstStyle/>
          <a:p>
            <a:pPr indent="0" lvl="0" marL="12700" marR="5080" rtl="0" algn="l">
              <a:lnSpc>
                <a:spcPct val="1026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t/>
            </a:r>
            <a:endParaRPr b="0" i="0" sz="11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12700" marR="5080" rtl="0" algn="l">
              <a:lnSpc>
                <a:spcPct val="1026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t/>
            </a:r>
            <a:endParaRPr b="0" i="0" sz="11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12700" marR="0" rtl="0" algn="l">
              <a:lnSpc>
                <a:spcPct val="100000"/>
              </a:lnSpc>
              <a:spcBef>
                <a:spcPts val="1255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b="0" i="0" lang="en-US" sz="11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Example (Directed graph)</a:t>
            </a:r>
            <a:endParaRPr b="0" i="0" sz="11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623570" marR="0" rtl="0" algn="ctr">
              <a:lnSpc>
                <a:spcPct val="100000"/>
              </a:lnSpc>
              <a:spcBef>
                <a:spcPts val="635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</a:pPr>
            <a:r>
              <a:rPr b="0" i="0" lang="en-US" sz="900" u="sng" cap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	</a:t>
            </a:r>
            <a:r>
              <a:rPr b="0" i="1" lang="en-US" sz="900" u="sng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a	b	c	d	e </a:t>
            </a:r>
            <a:endParaRPr b="0" i="0" sz="9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622935" marR="0" rtl="0" algn="ctr">
              <a:lnSpc>
                <a:spcPct val="100000"/>
              </a:lnSpc>
              <a:spcBef>
                <a:spcPts val="55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</a:pPr>
            <a:r>
              <a:rPr b="0" i="1" lang="en-US" sz="9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a	</a:t>
            </a:r>
            <a:r>
              <a:rPr b="0" i="0" lang="en-US" sz="9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0	1	0	1	0</a:t>
            </a:r>
            <a:endParaRPr b="0" i="0" sz="9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622935" marR="0" rtl="0" algn="ctr">
              <a:lnSpc>
                <a:spcPct val="100000"/>
              </a:lnSpc>
              <a:spcBef>
                <a:spcPts val="15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</a:pPr>
            <a:r>
              <a:rPr b="0" i="1" lang="en-US" sz="9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b	</a:t>
            </a:r>
            <a:r>
              <a:rPr b="0" i="0" lang="en-US" sz="9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0	0	1	0	1</a:t>
            </a:r>
            <a:endParaRPr b="0" i="0" sz="9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622935" marR="0" rtl="0" algn="ctr">
              <a:lnSpc>
                <a:spcPct val="100000"/>
              </a:lnSpc>
              <a:spcBef>
                <a:spcPts val="15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</a:pPr>
            <a:r>
              <a:rPr b="0" i="1" lang="en-US" sz="9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c	</a:t>
            </a:r>
            <a:r>
              <a:rPr b="0" i="0" lang="en-US" sz="9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0	0	0	0	0</a:t>
            </a:r>
            <a:endParaRPr b="0" i="0" sz="9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622935" marR="0" rtl="0" algn="ctr">
              <a:lnSpc>
                <a:spcPct val="100000"/>
              </a:lnSpc>
              <a:spcBef>
                <a:spcPts val="2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</a:pPr>
            <a:r>
              <a:rPr b="0" i="1" lang="en-US" sz="9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d	</a:t>
            </a:r>
            <a:r>
              <a:rPr b="0" i="0" lang="en-US" sz="9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0	1	0	0	1</a:t>
            </a:r>
            <a:endParaRPr b="0" i="0" sz="9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622935" marR="0" rtl="0" algn="ctr">
              <a:lnSpc>
                <a:spcPct val="100000"/>
              </a:lnSpc>
              <a:spcBef>
                <a:spcPts val="15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</a:pPr>
            <a:r>
              <a:rPr b="0" i="1" lang="en-US" sz="9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e	</a:t>
            </a:r>
            <a:r>
              <a:rPr b="0" i="0" lang="en-US" sz="9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0	0	1	0	0</a:t>
            </a:r>
            <a:endParaRPr b="0" i="0" sz="9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32" name="Shape 3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3" name="Google Shape;333;p8"/>
          <p:cNvSpPr txBox="1"/>
          <p:nvPr>
            <p:ph type="title"/>
          </p:nvPr>
        </p:nvSpPr>
        <p:spPr>
          <a:xfrm>
            <a:off x="237925" y="161025"/>
            <a:ext cx="5111400" cy="2745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12700">
            <a:spAutoFit/>
          </a:bodyPr>
          <a:lstStyle/>
          <a:p>
            <a:pPr indent="0" lvl="0" marL="127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rPr lang="en-US"/>
              <a:t>Adjacency matrix for directed and undirected graph</a:t>
            </a:r>
            <a:endParaRPr/>
          </a:p>
        </p:txBody>
      </p:sp>
      <p:pic>
        <p:nvPicPr>
          <p:cNvPr id="334" name="Google Shape;334;p8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1143077" y="553931"/>
            <a:ext cx="979932" cy="662939"/>
          </a:xfrm>
          <a:prstGeom prst="rect">
            <a:avLst/>
          </a:prstGeom>
          <a:noFill/>
          <a:ln>
            <a:noFill/>
          </a:ln>
        </p:spPr>
      </p:pic>
      <p:sp>
        <p:nvSpPr>
          <p:cNvPr id="335" name="Google Shape;335;p8"/>
          <p:cNvSpPr txBox="1"/>
          <p:nvPr/>
        </p:nvSpPr>
        <p:spPr>
          <a:xfrm>
            <a:off x="109825" y="2657150"/>
            <a:ext cx="5037300" cy="120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12700">
            <a:spAutoFit/>
          </a:bodyPr>
          <a:lstStyle/>
          <a:p>
            <a:pPr indent="0" lvl="0" marL="381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r>
              <a:rPr b="0" i="0" lang="en-US" sz="700" u="none" cap="none" strike="noStrike">
                <a:solidFill>
                  <a:srgbClr val="000000"/>
                </a:solidFill>
                <a:latin typeface="Tahoma"/>
                <a:ea typeface="Tahoma"/>
                <a:cs typeface="Tahoma"/>
                <a:sym typeface="Tahoma"/>
              </a:rPr>
              <a:t>Image sources:</a:t>
            </a:r>
            <a:endParaRPr b="0" baseline="30000" i="0" sz="700" u="none" cap="none" strike="noStrike">
              <a:solidFill>
                <a:srgbClr val="000000"/>
              </a:solidFill>
              <a:latin typeface="Tahoma"/>
              <a:ea typeface="Tahoma"/>
              <a:cs typeface="Tahoma"/>
              <a:sym typeface="Tahoma"/>
            </a:endParaRPr>
          </a:p>
        </p:txBody>
      </p:sp>
      <p:sp>
        <p:nvSpPr>
          <p:cNvPr id="336" name="Google Shape;336;p8"/>
          <p:cNvSpPr/>
          <p:nvPr/>
        </p:nvSpPr>
        <p:spPr>
          <a:xfrm>
            <a:off x="139445" y="2929889"/>
            <a:ext cx="1828800" cy="0"/>
          </a:xfrm>
          <a:custGeom>
            <a:rect b="b" l="l" r="r" t="t"/>
            <a:pathLst>
              <a:path extrusionOk="0" h="120000" w="1828800">
                <a:moveTo>
                  <a:pt x="0" y="0"/>
                </a:moveTo>
                <a:lnTo>
                  <a:pt x="1828800" y="0"/>
                </a:lnTo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37" name="Google Shape;337;p8"/>
          <p:cNvSpPr txBox="1"/>
          <p:nvPr/>
        </p:nvSpPr>
        <p:spPr>
          <a:xfrm>
            <a:off x="130241" y="2809295"/>
            <a:ext cx="4506600" cy="120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12700">
            <a:spAutoFit/>
          </a:bodyPr>
          <a:lstStyle/>
          <a:p>
            <a:pPr indent="0" lvl="0" marL="381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</a:pPr>
            <a:r>
              <a:rPr b="0" baseline="30000" i="0" lang="en-US" sz="700" u="none" cap="none" strike="noStrike">
                <a:solidFill>
                  <a:srgbClr val="000000"/>
                </a:solidFill>
                <a:latin typeface="Tahoma"/>
                <a:ea typeface="Tahoma"/>
                <a:cs typeface="Tahoma"/>
                <a:sym typeface="Tahoma"/>
              </a:rPr>
              <a:t>1</a:t>
            </a:r>
            <a:r>
              <a:rPr b="0" i="0" lang="en-US" sz="700" u="none" cap="none" strike="noStrike">
                <a:solidFill>
                  <a:srgbClr val="000000"/>
                </a:solidFill>
                <a:latin typeface="Tahoma"/>
                <a:ea typeface="Tahoma"/>
                <a:cs typeface="Tahoma"/>
                <a:sym typeface="Tahoma"/>
              </a:rPr>
              <a:t>Cormen, Leiserson, Rivest, Stein. Introduction to Algorithms, 3rd edition, MIT Press, 2009</a:t>
            </a:r>
            <a:endParaRPr b="0" i="0" sz="700" u="none" cap="none" strike="noStrike">
              <a:solidFill>
                <a:srgbClr val="000000"/>
              </a:solidFill>
              <a:latin typeface="Tahoma"/>
              <a:ea typeface="Tahoma"/>
              <a:cs typeface="Tahoma"/>
              <a:sym typeface="Tahoma"/>
            </a:endParaRPr>
          </a:p>
        </p:txBody>
      </p:sp>
      <p:pic>
        <p:nvPicPr>
          <p:cNvPr id="338" name="Google Shape;338;p8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1169747" y="1335281"/>
            <a:ext cx="926591" cy="940307"/>
          </a:xfrm>
          <a:prstGeom prst="rect">
            <a:avLst/>
          </a:prstGeom>
          <a:noFill/>
          <a:ln>
            <a:noFill/>
          </a:ln>
        </p:spPr>
      </p:pic>
      <p:sp>
        <p:nvSpPr>
          <p:cNvPr id="339" name="Google Shape;339;p8"/>
          <p:cNvSpPr txBox="1"/>
          <p:nvPr/>
        </p:nvSpPr>
        <p:spPr>
          <a:xfrm>
            <a:off x="130250" y="3106275"/>
            <a:ext cx="1155900" cy="1053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12700">
            <a:spAutoFit/>
          </a:bodyPr>
          <a:lstStyle/>
          <a:p>
            <a:pPr indent="0" lvl="0" marL="127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600"/>
              <a:buFont typeface="Arial"/>
              <a:buNone/>
            </a:pPr>
            <a:r>
              <a:rPr b="0" i="0" lang="en-US" sz="600" u="sng" cap="none" strike="noStrike">
                <a:solidFill>
                  <a:srgbClr val="0000FF"/>
                </a:solidFill>
                <a:latin typeface="Tahoma"/>
                <a:ea typeface="Tahoma"/>
                <a:cs typeface="Tahoma"/>
                <a:sym typeface="Tahoma"/>
              </a:rPr>
              <a:t>Graph representation Ch 22.1</a:t>
            </a:r>
            <a:endParaRPr b="0" i="0" sz="600" u="none" cap="none" strike="noStrike">
              <a:solidFill>
                <a:srgbClr val="000000"/>
              </a:solidFill>
              <a:latin typeface="Tahoma"/>
              <a:ea typeface="Tahoma"/>
              <a:cs typeface="Tahoma"/>
              <a:sym typeface="Tahoma"/>
            </a:endParaRPr>
          </a:p>
        </p:txBody>
      </p:sp>
      <p:pic>
        <p:nvPicPr>
          <p:cNvPr id="340" name="Google Shape;340;p8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3155630" y="588638"/>
            <a:ext cx="1266444" cy="670560"/>
          </a:xfrm>
          <a:prstGeom prst="rect">
            <a:avLst/>
          </a:prstGeom>
          <a:noFill/>
          <a:ln>
            <a:noFill/>
          </a:ln>
        </p:spPr>
      </p:pic>
      <p:pic>
        <p:nvPicPr>
          <p:cNvPr id="341" name="Google Shape;341;p8"/>
          <p:cNvPicPr preferRelativeResize="0"/>
          <p:nvPr/>
        </p:nvPicPr>
        <p:blipFill rotWithShape="1">
          <a:blip r:embed="rId6">
            <a:alphaModFix/>
          </a:blip>
          <a:srcRect b="0" l="0" r="0" t="0"/>
          <a:stretch/>
        </p:blipFill>
        <p:spPr>
          <a:xfrm>
            <a:off x="3180871" y="1411818"/>
            <a:ext cx="1100328" cy="1092708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45" name="Shape 34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6" name="Google Shape;346;g3220fd27c11_5_208"/>
          <p:cNvSpPr txBox="1"/>
          <p:nvPr>
            <p:ph type="title"/>
          </p:nvPr>
        </p:nvSpPr>
        <p:spPr>
          <a:xfrm>
            <a:off x="617600" y="176350"/>
            <a:ext cx="4890000" cy="2745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12700">
            <a:spAutoFit/>
          </a:bodyPr>
          <a:lstStyle/>
          <a:p>
            <a:pPr indent="0" lvl="0" marL="127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rPr lang="en-US"/>
              <a:t>Weighted Directed Graph: Adjacency Matrix</a:t>
            </a:r>
            <a:endParaRPr/>
          </a:p>
        </p:txBody>
      </p:sp>
      <p:sp>
        <p:nvSpPr>
          <p:cNvPr id="347" name="Google Shape;347;g3220fd27c11_5_208"/>
          <p:cNvSpPr/>
          <p:nvPr/>
        </p:nvSpPr>
        <p:spPr>
          <a:xfrm>
            <a:off x="139445" y="2929889"/>
            <a:ext cx="1828800" cy="0"/>
          </a:xfrm>
          <a:custGeom>
            <a:rect b="b" l="l" r="r" t="t"/>
            <a:pathLst>
              <a:path extrusionOk="0" h="120000" w="1828800">
                <a:moveTo>
                  <a:pt x="0" y="0"/>
                </a:moveTo>
                <a:lnTo>
                  <a:pt x="1828800" y="0"/>
                </a:lnTo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48" name="Google Shape;348;g3220fd27c11_5_208"/>
          <p:cNvSpPr txBox="1"/>
          <p:nvPr/>
        </p:nvSpPr>
        <p:spPr>
          <a:xfrm>
            <a:off x="130251" y="3106281"/>
            <a:ext cx="983700" cy="197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12700">
            <a:spAutoFit/>
          </a:bodyPr>
          <a:lstStyle/>
          <a:p>
            <a:pPr indent="0" lvl="0" marL="127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600"/>
              <a:buFont typeface="Arial"/>
              <a:buNone/>
            </a:pPr>
            <a:r>
              <a:rPr b="0" i="0" lang="en-US" sz="600" u="sng" cap="none" strike="noStrike">
                <a:solidFill>
                  <a:srgbClr val="0000FF"/>
                </a:solidFill>
                <a:latin typeface="Tahoma"/>
                <a:ea typeface="Tahoma"/>
                <a:cs typeface="Tahoma"/>
                <a:sym typeface="Tahoma"/>
              </a:rPr>
              <a:t>Graph representation Ch 22.1</a:t>
            </a:r>
            <a:endParaRPr b="0" i="0" sz="600" u="none" cap="none" strike="noStrike">
              <a:solidFill>
                <a:srgbClr val="000000"/>
              </a:solidFill>
              <a:latin typeface="Tahoma"/>
              <a:ea typeface="Tahoma"/>
              <a:cs typeface="Tahoma"/>
              <a:sym typeface="Tahoma"/>
            </a:endParaRPr>
          </a:p>
        </p:txBody>
      </p:sp>
      <p:pic>
        <p:nvPicPr>
          <p:cNvPr id="349" name="Google Shape;349;g3220fd27c11_5_208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575773" y="1064601"/>
            <a:ext cx="4184626" cy="2015425"/>
          </a:xfrm>
          <a:prstGeom prst="rect">
            <a:avLst/>
          </a:prstGeom>
          <a:noFill/>
          <a:ln>
            <a:noFill/>
          </a:ln>
        </p:spPr>
      </p:pic>
      <p:sp>
        <p:nvSpPr>
          <p:cNvPr id="350" name="Google Shape;350;g3220fd27c11_5_208"/>
          <p:cNvSpPr txBox="1"/>
          <p:nvPr/>
        </p:nvSpPr>
        <p:spPr>
          <a:xfrm>
            <a:off x="437900" y="496125"/>
            <a:ext cx="4890000" cy="523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b="1" i="0" lang="en-US" sz="11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Edge Weights</a:t>
            </a:r>
            <a:r>
              <a:rPr b="0" i="0" lang="en-US" sz="11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: Represented by non-zero values in the matrix.</a:t>
            </a:r>
            <a:endParaRPr b="0" i="0" sz="11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b="0" i="0" lang="en-US" sz="11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For an edge with weight w, write w in A[i][j] (undirected: also A[j][i]).</a:t>
            </a:r>
            <a:endParaRPr b="0" i="0" sz="11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54" name="Shape 3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5" name="Google Shape;355;p10"/>
          <p:cNvSpPr txBox="1"/>
          <p:nvPr>
            <p:ph type="title"/>
          </p:nvPr>
        </p:nvSpPr>
        <p:spPr>
          <a:xfrm>
            <a:off x="640767" y="271608"/>
            <a:ext cx="4230900" cy="2745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12700">
            <a:spAutoFit/>
          </a:bodyPr>
          <a:lstStyle/>
          <a:p>
            <a:pPr indent="0" lvl="0" marL="950594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rPr lang="en-US"/>
              <a:t>Adjacency matrix - Analysis</a:t>
            </a:r>
            <a:endParaRPr/>
          </a:p>
        </p:txBody>
      </p:sp>
      <p:sp>
        <p:nvSpPr>
          <p:cNvPr id="356" name="Google Shape;356;p10"/>
          <p:cNvSpPr txBox="1"/>
          <p:nvPr/>
        </p:nvSpPr>
        <p:spPr>
          <a:xfrm>
            <a:off x="130250" y="3106275"/>
            <a:ext cx="1143000" cy="1053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12700">
            <a:spAutoFit/>
          </a:bodyPr>
          <a:lstStyle/>
          <a:p>
            <a:pPr indent="0" lvl="0" marL="127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600"/>
              <a:buFont typeface="Arial"/>
              <a:buNone/>
            </a:pPr>
            <a:r>
              <a:rPr b="0" i="0" lang="en-US" sz="600" u="sng" cap="none" strike="noStrike">
                <a:solidFill>
                  <a:srgbClr val="0000FF"/>
                </a:solidFill>
                <a:latin typeface="Tahoma"/>
                <a:ea typeface="Tahoma"/>
                <a:cs typeface="Tahoma"/>
                <a:sym typeface="Tahoma"/>
              </a:rPr>
              <a:t>Graph representation Ch 22.1</a:t>
            </a:r>
            <a:endParaRPr b="0" i="0" sz="600" u="none" cap="none" strike="noStrike">
              <a:solidFill>
                <a:srgbClr val="000000"/>
              </a:solidFill>
              <a:latin typeface="Tahoma"/>
              <a:ea typeface="Tahoma"/>
              <a:cs typeface="Tahoma"/>
              <a:sym typeface="Tahoma"/>
            </a:endParaRPr>
          </a:p>
        </p:txBody>
      </p:sp>
      <p:sp>
        <p:nvSpPr>
          <p:cNvPr id="357" name="Google Shape;357;p10"/>
          <p:cNvSpPr txBox="1"/>
          <p:nvPr/>
        </p:nvSpPr>
        <p:spPr>
          <a:xfrm>
            <a:off x="416150" y="406250"/>
            <a:ext cx="4933500" cy="2444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t/>
            </a:r>
            <a:endParaRPr b="0" i="0" sz="11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298450" lvl="0" marL="457200" marR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Char char="●"/>
            </a:pPr>
            <a:r>
              <a:rPr b="0" i="0" lang="en-US" sz="11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Adjacency matrix for N vertices takes N×N entries.</a:t>
            </a:r>
            <a:endParaRPr b="0" i="0" sz="11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298450" lvl="0" marL="4572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Char char="●"/>
            </a:pPr>
            <a:r>
              <a:rPr b="1" i="0" lang="en-US" sz="11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Space Complexity/Required</a:t>
            </a:r>
            <a:r>
              <a:rPr b="0" i="0" lang="en-US" sz="11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: O(N^2) or O</a:t>
            </a:r>
            <a:r>
              <a:rPr b="0" i="0" lang="en-US" sz="1200" u="none" cap="none" strike="noStrik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rPr>
              <a:t>(</a:t>
            </a:r>
            <a:r>
              <a:rPr b="0" i="1" lang="en-US" sz="1200" u="none" cap="none" strike="noStrike">
                <a:solidFill>
                  <a:schemeClr val="dk1"/>
                </a:solidFill>
                <a:latin typeface="Trebuchet MS"/>
                <a:ea typeface="Trebuchet MS"/>
                <a:cs typeface="Trebuchet MS"/>
                <a:sym typeface="Trebuchet MS"/>
              </a:rPr>
              <a:t>V </a:t>
            </a:r>
            <a:r>
              <a:rPr b="0" baseline="30000" i="0" lang="en-US" sz="1200" u="none" cap="none" strike="noStrik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rPr>
              <a:t>2</a:t>
            </a:r>
            <a:r>
              <a:rPr b="0" i="0" lang="en-US" sz="1200" u="none" cap="none" strike="noStrik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rPr>
              <a:t>)</a:t>
            </a:r>
            <a:endParaRPr b="0" i="0" sz="1200" u="none" cap="none" strike="noStrike">
              <a:solidFill>
                <a:schemeClr val="dk1"/>
              </a:solidFill>
              <a:latin typeface="Tahoma"/>
              <a:ea typeface="Tahoma"/>
              <a:cs typeface="Tahoma"/>
              <a:sym typeface="Tahoma"/>
            </a:endParaRPr>
          </a:p>
          <a:p>
            <a:pPr indent="-304800" lvl="0" marL="457200" marR="0" rtl="0" algn="l">
              <a:lnSpc>
                <a:spcPct val="100000"/>
              </a:lnSpc>
              <a:spcBef>
                <a:spcPts val="29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Tahoma"/>
              <a:buChar char="●"/>
            </a:pPr>
            <a:r>
              <a:rPr b="0" i="0" lang="en-US" sz="1200" u="none" cap="none" strike="noStrik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rPr>
              <a:t>Time to list all vertices adjacent to </a:t>
            </a:r>
            <a:r>
              <a:rPr b="0" i="1" lang="en-US" sz="1200" u="none" cap="none" strike="noStrike">
                <a:solidFill>
                  <a:schemeClr val="dk1"/>
                </a:solidFill>
                <a:latin typeface="Trebuchet MS"/>
                <a:ea typeface="Trebuchet MS"/>
                <a:cs typeface="Trebuchet MS"/>
                <a:sym typeface="Trebuchet MS"/>
              </a:rPr>
              <a:t>u (all nodes which are connected to u)</a:t>
            </a:r>
            <a:r>
              <a:rPr b="0" i="0" lang="en-US" sz="1200" u="none" cap="none" strike="noStrik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rPr>
              <a:t>: </a:t>
            </a:r>
            <a:r>
              <a:rPr b="0" i="1" lang="en-US" sz="1200" u="none" cap="none" strike="noStrike">
                <a:solidFill>
                  <a:schemeClr val="dk1"/>
                </a:solidFill>
                <a:latin typeface="Georgia"/>
                <a:ea typeface="Georgia"/>
                <a:cs typeface="Georgia"/>
                <a:sym typeface="Georgia"/>
              </a:rPr>
              <a:t>θ</a:t>
            </a:r>
            <a:r>
              <a:rPr b="0" i="0" lang="en-US" sz="1200" u="none" cap="none" strike="noStrik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rPr>
              <a:t>(</a:t>
            </a:r>
            <a:r>
              <a:rPr b="0" i="1" lang="en-US" sz="1200" u="none" cap="none" strike="noStrike">
                <a:solidFill>
                  <a:schemeClr val="dk1"/>
                </a:solidFill>
                <a:latin typeface="Trebuchet MS"/>
                <a:ea typeface="Trebuchet MS"/>
                <a:cs typeface="Trebuchet MS"/>
                <a:sym typeface="Trebuchet MS"/>
              </a:rPr>
              <a:t>V </a:t>
            </a:r>
            <a:r>
              <a:rPr b="0" i="0" lang="en-US" sz="1200" u="none" cap="none" strike="noStrik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rPr>
              <a:t>) or </a:t>
            </a:r>
            <a:r>
              <a:rPr b="0" i="1" lang="en-US" sz="1200" u="none" cap="none" strike="noStrike">
                <a:solidFill>
                  <a:schemeClr val="dk1"/>
                </a:solidFill>
                <a:latin typeface="Georgia"/>
                <a:ea typeface="Georgia"/>
                <a:cs typeface="Georgia"/>
                <a:sym typeface="Georgia"/>
              </a:rPr>
              <a:t>θ</a:t>
            </a:r>
            <a:r>
              <a:rPr b="0" i="0" lang="en-US" sz="1200" u="none" cap="none" strike="noStrik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rPr>
              <a:t>(</a:t>
            </a:r>
            <a:r>
              <a:rPr b="0" i="1" lang="en-US" sz="1200" u="none" cap="none" strike="noStrike">
                <a:solidFill>
                  <a:schemeClr val="dk1"/>
                </a:solidFill>
                <a:latin typeface="Trebuchet MS"/>
                <a:ea typeface="Trebuchet MS"/>
                <a:cs typeface="Trebuchet MS"/>
                <a:sym typeface="Trebuchet MS"/>
              </a:rPr>
              <a:t>N </a:t>
            </a:r>
            <a:r>
              <a:rPr b="0" i="0" lang="en-US" sz="1200" u="none" cap="none" strike="noStrik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rPr>
              <a:t>)</a:t>
            </a:r>
            <a:br>
              <a:rPr b="0" i="0" lang="en-US" sz="1200" u="none" cap="none" strike="noStrik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rPr>
            </a:br>
            <a:br>
              <a:rPr b="0" i="0" lang="en-US" sz="1200" u="none" cap="none" strike="noStrik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rPr>
            </a:br>
            <a:endParaRPr b="0" i="0" sz="1200" u="none" cap="none" strike="noStrike">
              <a:solidFill>
                <a:schemeClr val="dk1"/>
              </a:solidFill>
              <a:latin typeface="Tahoma"/>
              <a:ea typeface="Tahoma"/>
              <a:cs typeface="Tahoma"/>
              <a:sym typeface="Tahoma"/>
            </a:endParaRPr>
          </a:p>
          <a:p>
            <a:pPr indent="-298450" lvl="0" marL="4572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Char char="●"/>
            </a:pPr>
            <a:r>
              <a:rPr b="1" i="0" lang="en-US" sz="11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Comparison</a:t>
            </a:r>
            <a:r>
              <a:rPr b="0" i="0" lang="en-US" sz="11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: Higher space cost than adjacency list.</a:t>
            </a:r>
            <a:endParaRPr b="0" i="0" sz="11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298450" lvl="0" marL="4572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Char char="●"/>
            </a:pPr>
            <a:r>
              <a:rPr b="1" i="0" lang="en-US" sz="11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Why Use Adjacency Matrix?</a:t>
            </a:r>
            <a:endParaRPr b="0" i="0" sz="11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298450" lvl="1" marL="9144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Char char="○"/>
            </a:pPr>
            <a:r>
              <a:rPr b="0" i="0" lang="en-US" sz="11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Easier for certain computations. (Access time: O(1) )</a:t>
            </a:r>
            <a:endParaRPr b="0" i="0" sz="11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298450" lvl="1" marL="9144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Char char="○"/>
            </a:pPr>
            <a:r>
              <a:rPr b="0" i="0" lang="en-US" sz="11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Trade-off: More space for </a:t>
            </a:r>
            <a:r>
              <a:rPr b="0" i="0" lang="en-US" sz="1100" u="none" cap="none" strike="noStrike">
                <a:solidFill>
                  <a:srgbClr val="0000FF"/>
                </a:solidFill>
                <a:latin typeface="Arial"/>
                <a:ea typeface="Arial"/>
                <a:cs typeface="Arial"/>
                <a:sym typeface="Arial"/>
              </a:rPr>
              <a:t>faster operations</a:t>
            </a:r>
            <a:r>
              <a:rPr b="0" i="0" lang="en-US" sz="11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.</a:t>
            </a:r>
            <a:endParaRPr b="0" i="0" sz="11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3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61" name="Shape 3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2" name="Google Shape;362;p4"/>
          <p:cNvSpPr txBox="1"/>
          <p:nvPr>
            <p:ph type="title"/>
          </p:nvPr>
        </p:nvSpPr>
        <p:spPr>
          <a:xfrm>
            <a:off x="145888" y="154250"/>
            <a:ext cx="4585800" cy="2745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12700">
            <a:spAutoFit/>
          </a:bodyPr>
          <a:lstStyle/>
          <a:p>
            <a:pPr indent="0" lvl="0" marL="1508125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rPr lang="en-US"/>
              <a:t>Adjacency List Representation</a:t>
            </a:r>
            <a:endParaRPr/>
          </a:p>
        </p:txBody>
      </p:sp>
      <p:sp>
        <p:nvSpPr>
          <p:cNvPr id="363" name="Google Shape;363;p4"/>
          <p:cNvSpPr txBox="1"/>
          <p:nvPr/>
        </p:nvSpPr>
        <p:spPr>
          <a:xfrm>
            <a:off x="266450" y="676563"/>
            <a:ext cx="5386800" cy="8415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26025">
            <a:spAutoFit/>
          </a:bodyPr>
          <a:lstStyle/>
          <a:p>
            <a:pPr indent="-29210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Tahoma"/>
              <a:buChar char="●"/>
            </a:pPr>
            <a:r>
              <a:rPr b="1" i="0" lang="en-US" sz="1000" u="none" cap="none" strike="noStrik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rPr>
              <a:t>Vertices</a:t>
            </a:r>
            <a:r>
              <a:rPr b="0" i="0" lang="en-US" sz="1000" u="none" cap="none" strike="noStrik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rPr>
              <a:t> are represented by indices in an array.</a:t>
            </a:r>
            <a:endParaRPr b="0" i="0" sz="1000" u="none" cap="none" strike="noStrike">
              <a:solidFill>
                <a:schemeClr val="dk1"/>
              </a:solidFill>
              <a:latin typeface="Tahoma"/>
              <a:ea typeface="Tahoma"/>
              <a:cs typeface="Tahoma"/>
              <a:sym typeface="Tahoma"/>
            </a:endParaRPr>
          </a:p>
          <a:p>
            <a:pPr indent="-29210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Tahoma"/>
              <a:buChar char="●"/>
            </a:pPr>
            <a:r>
              <a:rPr b="0" i="0" lang="en-US" sz="1000" u="none" cap="none" strike="noStrik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rPr>
              <a:t>Each entry in the array contains a </a:t>
            </a:r>
            <a:r>
              <a:rPr b="1" i="0" lang="en-US" sz="1000" u="sng" cap="none" strike="noStrik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rPr>
              <a:t>linked list</a:t>
            </a:r>
            <a:r>
              <a:rPr b="0" i="0" lang="en-US" sz="1000" u="sng" cap="none" strike="noStrik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rPr>
              <a:t> of adjacent vertices.</a:t>
            </a:r>
            <a:endParaRPr b="0" i="0" sz="1000" u="sng" cap="none" strike="noStrike">
              <a:solidFill>
                <a:schemeClr val="dk1"/>
              </a:solidFill>
              <a:latin typeface="Tahoma"/>
              <a:ea typeface="Tahoma"/>
              <a:cs typeface="Tahoma"/>
              <a:sym typeface="Tahoma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</a:pPr>
            <a:r>
              <a:t/>
            </a:r>
            <a:endParaRPr b="0" i="0" sz="1000" u="none" cap="none" strike="noStrike">
              <a:solidFill>
                <a:schemeClr val="dk1"/>
              </a:solidFill>
              <a:latin typeface="Tahoma"/>
              <a:ea typeface="Tahoma"/>
              <a:cs typeface="Tahoma"/>
              <a:sym typeface="Tahoma"/>
            </a:endParaRPr>
          </a:p>
          <a:p>
            <a:pPr indent="0" lvl="0" marL="230503" marR="219709" rtl="0" algn="l">
              <a:lnSpc>
                <a:spcPct val="102600"/>
              </a:lnSpc>
              <a:spcBef>
                <a:spcPts val="325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</a:pPr>
            <a:r>
              <a:rPr b="0" i="0" lang="en-US" sz="1000" u="none" cap="none" strike="noStrik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rPr>
              <a:t>Represent the graph by listing for each vertex </a:t>
            </a:r>
            <a:r>
              <a:rPr b="0" i="1" lang="en-US" sz="1000" u="none" cap="none" strike="noStrik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rPr>
              <a:t>v</a:t>
            </a:r>
            <a:r>
              <a:rPr b="0" baseline="-25000" i="1" lang="en-US" sz="1000" u="none" cap="none" strike="noStrik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rPr>
              <a:t>i </a:t>
            </a:r>
            <a:r>
              <a:rPr b="0" i="0" lang="en-US" sz="1000" u="none" cap="none" strike="noStrik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rPr>
              <a:t>its outgoing vertices in a list </a:t>
            </a:r>
            <a:r>
              <a:rPr b="0" i="1" lang="en-US" sz="1000" u="none" cap="none" strike="noStrik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rPr>
              <a:t>out</a:t>
            </a:r>
            <a:r>
              <a:rPr b="0" i="0" lang="en-US" sz="1000" u="none" cap="none" strike="noStrik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rPr>
              <a:t>(</a:t>
            </a:r>
            <a:r>
              <a:rPr b="0" i="1" lang="en-US" sz="1000" u="none" cap="none" strike="noStrik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rPr>
              <a:t>v</a:t>
            </a:r>
            <a:r>
              <a:rPr b="0" baseline="-25000" i="1" lang="en-US" sz="1000" u="none" cap="none" strike="noStrik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rPr>
              <a:t>i </a:t>
            </a:r>
            <a:r>
              <a:rPr b="0" i="0" lang="en-US" sz="1000" u="none" cap="none" strike="noStrik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rPr>
              <a:t>). (Representation can be linked list, or another appropriate structure.)</a:t>
            </a:r>
            <a:endParaRPr b="0" baseline="30000" i="0" sz="1000" u="none" cap="none" strike="noStrike">
              <a:solidFill>
                <a:srgbClr val="000000"/>
              </a:solidFill>
              <a:latin typeface="Tahoma"/>
              <a:ea typeface="Tahoma"/>
              <a:cs typeface="Tahoma"/>
              <a:sym typeface="Tahoma"/>
            </a:endParaRPr>
          </a:p>
        </p:txBody>
      </p:sp>
      <p:pic>
        <p:nvPicPr>
          <p:cNvPr id="364" name="Google Shape;364;p4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3218619" y="1787550"/>
            <a:ext cx="2307381" cy="798475"/>
          </a:xfrm>
          <a:prstGeom prst="rect">
            <a:avLst/>
          </a:prstGeom>
          <a:noFill/>
          <a:ln>
            <a:noFill/>
          </a:ln>
        </p:spPr>
      </p:pic>
      <p:pic>
        <p:nvPicPr>
          <p:cNvPr id="365" name="Google Shape;365;p4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117475" y="1839838"/>
            <a:ext cx="2792076" cy="693875"/>
          </a:xfrm>
          <a:prstGeom prst="rect">
            <a:avLst/>
          </a:prstGeom>
          <a:noFill/>
          <a:ln>
            <a:noFill/>
          </a:ln>
        </p:spPr>
      </p:pic>
      <p:sp>
        <p:nvSpPr>
          <p:cNvPr id="366" name="Google Shape;366;p4"/>
          <p:cNvSpPr txBox="1"/>
          <p:nvPr/>
        </p:nvSpPr>
        <p:spPr>
          <a:xfrm>
            <a:off x="213375" y="2855500"/>
            <a:ext cx="4968000" cy="323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17272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</a:pPr>
            <a:r>
              <a:rPr b="0" i="0" lang="en-US" sz="900" u="none" cap="none" strike="noStrik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rPr>
              <a:t>Image: </a:t>
            </a:r>
            <a:r>
              <a:rPr b="0" i="0" lang="en-US" sz="600" u="none" cap="none" strike="noStrik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rPr>
              <a:t>Cormen, Leiserson, Rivest, Stein. Introduction to Algorithms, 3rd edition, MIT Press, 2009</a:t>
            </a:r>
            <a:endParaRPr b="0" i="0" sz="1100" u="none" cap="none" strike="noStrike">
              <a:solidFill>
                <a:srgbClr val="000000"/>
              </a:solidFill>
              <a:latin typeface="Tahoma"/>
              <a:ea typeface="Tahoma"/>
              <a:cs typeface="Tahoma"/>
              <a:sym typeface="Tahoma"/>
            </a:endParaRPr>
          </a:p>
        </p:txBody>
      </p:sp>
    </p:spTree>
  </p:cSld>
  <p:clrMapOvr>
    <a:masterClrMapping/>
  </p:clrMapOvr>
</p:sld>
</file>

<file path=ppt/slides/slide3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70" name="Shape 37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1" name="Google Shape;371;p5"/>
          <p:cNvSpPr txBox="1"/>
          <p:nvPr/>
        </p:nvSpPr>
        <p:spPr>
          <a:xfrm>
            <a:off x="359525" y="115100"/>
            <a:ext cx="4860000" cy="2745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12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700"/>
              <a:buFont typeface="Arial"/>
              <a:buNone/>
            </a:pPr>
            <a:r>
              <a:rPr b="0" i="0" lang="en-US" sz="1700" u="none" cap="none" strike="noStrike">
                <a:solidFill>
                  <a:srgbClr val="334669"/>
                </a:solidFill>
                <a:latin typeface="Tahoma"/>
                <a:ea typeface="Tahoma"/>
                <a:cs typeface="Tahoma"/>
                <a:sym typeface="Tahoma"/>
              </a:rPr>
              <a:t>           Adjacency lists for undirected graph</a:t>
            </a:r>
            <a:endParaRPr b="1" i="0" sz="1200" u="none" cap="none" strike="noStrike">
              <a:solidFill>
                <a:schemeClr val="dk1"/>
              </a:solidFill>
              <a:latin typeface="Tahoma"/>
              <a:ea typeface="Tahoma"/>
              <a:cs typeface="Tahoma"/>
              <a:sym typeface="Tahoma"/>
            </a:endParaRPr>
          </a:p>
        </p:txBody>
      </p:sp>
      <p:pic>
        <p:nvPicPr>
          <p:cNvPr id="372" name="Google Shape;372;p5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872837" y="1359550"/>
            <a:ext cx="3651125" cy="907350"/>
          </a:xfrm>
          <a:prstGeom prst="rect">
            <a:avLst/>
          </a:prstGeom>
          <a:noFill/>
          <a:ln>
            <a:noFill/>
          </a:ln>
        </p:spPr>
      </p:pic>
      <p:sp>
        <p:nvSpPr>
          <p:cNvPr id="373" name="Google Shape;373;p5"/>
          <p:cNvSpPr txBox="1"/>
          <p:nvPr/>
        </p:nvSpPr>
        <p:spPr>
          <a:xfrm>
            <a:off x="212823" y="2736375"/>
            <a:ext cx="660000" cy="197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12700">
            <a:spAutoFit/>
          </a:bodyPr>
          <a:lstStyle/>
          <a:p>
            <a:pPr indent="0" lvl="0" marL="381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r>
              <a:rPr b="0" i="0" lang="en-US" sz="1200" u="none" cap="none" strike="noStrike">
                <a:solidFill>
                  <a:srgbClr val="000000"/>
                </a:solidFill>
                <a:latin typeface="Tahoma"/>
                <a:ea typeface="Tahoma"/>
                <a:cs typeface="Tahoma"/>
                <a:sym typeface="Tahoma"/>
              </a:rPr>
              <a:t>Image:</a:t>
            </a:r>
            <a:r>
              <a:rPr b="0" baseline="30000" i="0" lang="en-US" sz="1200" u="none" cap="none" strike="noStrike">
                <a:solidFill>
                  <a:srgbClr val="000000"/>
                </a:solidFill>
                <a:latin typeface="Tahoma"/>
                <a:ea typeface="Tahoma"/>
                <a:cs typeface="Tahoma"/>
                <a:sym typeface="Tahoma"/>
              </a:rPr>
              <a:t>1</a:t>
            </a:r>
            <a:endParaRPr b="0" baseline="30000" i="0" sz="1200" u="none" cap="none" strike="noStrike">
              <a:solidFill>
                <a:srgbClr val="000000"/>
              </a:solidFill>
              <a:latin typeface="Tahoma"/>
              <a:ea typeface="Tahoma"/>
              <a:cs typeface="Tahoma"/>
              <a:sym typeface="Tahoma"/>
            </a:endParaRPr>
          </a:p>
        </p:txBody>
      </p:sp>
      <p:sp>
        <p:nvSpPr>
          <p:cNvPr id="374" name="Google Shape;374;p5"/>
          <p:cNvSpPr/>
          <p:nvPr/>
        </p:nvSpPr>
        <p:spPr>
          <a:xfrm>
            <a:off x="139445" y="2929889"/>
            <a:ext cx="1828800" cy="0"/>
          </a:xfrm>
          <a:custGeom>
            <a:rect b="b" l="l" r="r" t="t"/>
            <a:pathLst>
              <a:path extrusionOk="0" h="120000" w="1828800">
                <a:moveTo>
                  <a:pt x="0" y="0"/>
                </a:moveTo>
                <a:lnTo>
                  <a:pt x="1828800" y="0"/>
                </a:lnTo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75" name="Google Shape;375;p5"/>
          <p:cNvSpPr txBox="1"/>
          <p:nvPr/>
        </p:nvSpPr>
        <p:spPr>
          <a:xfrm>
            <a:off x="130250" y="2933775"/>
            <a:ext cx="5395500" cy="2841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10775">
            <a:spAutoFit/>
          </a:bodyPr>
          <a:lstStyle/>
          <a:p>
            <a:pPr indent="0" lvl="0" marL="17272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</a:pPr>
            <a:r>
              <a:rPr b="0" baseline="30000" i="0" lang="en-US" sz="900" u="none" cap="none" strike="noStrike">
                <a:solidFill>
                  <a:srgbClr val="000000"/>
                </a:solidFill>
                <a:latin typeface="Tahoma"/>
                <a:ea typeface="Tahoma"/>
                <a:cs typeface="Tahoma"/>
                <a:sym typeface="Tahoma"/>
              </a:rPr>
              <a:t>1</a:t>
            </a:r>
            <a:r>
              <a:rPr b="0" i="0" lang="en-US" sz="900" u="none" cap="none" strike="noStrike">
                <a:solidFill>
                  <a:srgbClr val="000000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Cormen, Leiserson, Rivest, Stein. Introduction to Algorithms, 3rd edition, MIT Press, 2009</a:t>
            </a:r>
            <a:endParaRPr b="0" i="0" sz="900" u="none" cap="none" strike="noStrike">
              <a:solidFill>
                <a:srgbClr val="000000"/>
              </a:solidFill>
              <a:latin typeface="Helvetica Neue"/>
              <a:ea typeface="Helvetica Neue"/>
              <a:cs typeface="Helvetica Neue"/>
              <a:sym typeface="Helvetica Neue"/>
            </a:endParaRPr>
          </a:p>
          <a:p>
            <a:pPr indent="0" lvl="0" marL="12700" marR="0" rtl="0" algn="l">
              <a:lnSpc>
                <a:spcPct val="100000"/>
              </a:lnSpc>
              <a:spcBef>
                <a:spcPts val="330"/>
              </a:spcBef>
              <a:spcAft>
                <a:spcPts val="0"/>
              </a:spcAft>
              <a:buClr>
                <a:srgbClr val="000000"/>
              </a:buClr>
              <a:buSzPts val="600"/>
              <a:buFont typeface="Arial"/>
              <a:buNone/>
            </a:pPr>
            <a:r>
              <a:rPr b="0" i="0" lang="en-US" sz="600" u="sng" cap="none" strike="noStrike">
                <a:solidFill>
                  <a:srgbClr val="0000FF"/>
                </a:solidFill>
                <a:latin typeface="Tahoma"/>
                <a:ea typeface="Tahoma"/>
                <a:cs typeface="Tahoma"/>
                <a:sym typeface="Tahoma"/>
              </a:rPr>
              <a:t>Graph representation Ch 22.1</a:t>
            </a:r>
            <a:endParaRPr b="0" i="0" sz="600" u="none" cap="none" strike="noStrike">
              <a:solidFill>
                <a:srgbClr val="000000"/>
              </a:solidFill>
              <a:latin typeface="Tahoma"/>
              <a:ea typeface="Tahoma"/>
              <a:cs typeface="Tahoma"/>
              <a:sym typeface="Tahoma"/>
            </a:endParaRPr>
          </a:p>
        </p:txBody>
      </p:sp>
      <p:sp>
        <p:nvSpPr>
          <p:cNvPr id="376" name="Google Shape;376;p5"/>
          <p:cNvSpPr txBox="1"/>
          <p:nvPr/>
        </p:nvSpPr>
        <p:spPr>
          <a:xfrm>
            <a:off x="716675" y="581625"/>
            <a:ext cx="4283400" cy="492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127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</a:pPr>
            <a:r>
              <a:rPr b="1" i="0" lang="en-US" sz="1000" u="sng" cap="none" strike="noStrik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rPr>
              <a:t>Each edge occurs twice</a:t>
            </a:r>
            <a:br>
              <a:rPr b="1" i="0" lang="en-US" sz="1000" u="sng" cap="none" strike="noStrik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rPr>
            </a:br>
            <a:r>
              <a:rPr b="0" i="0" lang="en-US" sz="1000" u="none" cap="none" strike="noStrik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rPr>
              <a:t>Each vertex’s entry contains the indices of its adjacent vertices.</a:t>
            </a:r>
            <a:endParaRPr b="0" i="0" sz="1000" u="none" cap="none" strike="noStrike">
              <a:solidFill>
                <a:srgbClr val="000000"/>
              </a:solidFill>
              <a:latin typeface="Tahoma"/>
              <a:ea typeface="Tahoma"/>
              <a:cs typeface="Tahoma"/>
              <a:sym typeface="Tahoma"/>
            </a:endParaRPr>
          </a:p>
        </p:txBody>
      </p:sp>
    </p:spTree>
  </p:cSld>
  <p:clrMapOvr>
    <a:masterClrMapping/>
  </p:clrMapOvr>
</p:sld>
</file>

<file path=ppt/slides/slide3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80" name="Shape 3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1" name="Google Shape;381;g3534be74e08_0_47"/>
          <p:cNvSpPr txBox="1"/>
          <p:nvPr/>
        </p:nvSpPr>
        <p:spPr>
          <a:xfrm>
            <a:off x="359525" y="115100"/>
            <a:ext cx="4860000" cy="2745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12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700"/>
              <a:buFont typeface="Arial"/>
              <a:buNone/>
            </a:pPr>
            <a:r>
              <a:rPr b="0" i="0" lang="en-US" sz="1700" u="none" cap="none" strike="noStrike">
                <a:solidFill>
                  <a:srgbClr val="334669"/>
                </a:solidFill>
                <a:latin typeface="Tahoma"/>
                <a:ea typeface="Tahoma"/>
                <a:cs typeface="Tahoma"/>
                <a:sym typeface="Tahoma"/>
              </a:rPr>
              <a:t>           Adjacency lists for undirected graph</a:t>
            </a:r>
            <a:endParaRPr b="1" i="0" sz="1200" u="none" cap="none" strike="noStrike">
              <a:solidFill>
                <a:schemeClr val="dk1"/>
              </a:solidFill>
              <a:latin typeface="Tahoma"/>
              <a:ea typeface="Tahoma"/>
              <a:cs typeface="Tahoma"/>
              <a:sym typeface="Tahoma"/>
            </a:endParaRPr>
          </a:p>
        </p:txBody>
      </p:sp>
      <p:sp>
        <p:nvSpPr>
          <p:cNvPr id="382" name="Google Shape;382;g3534be74e08_0_47"/>
          <p:cNvSpPr/>
          <p:nvPr/>
        </p:nvSpPr>
        <p:spPr>
          <a:xfrm>
            <a:off x="139445" y="2929889"/>
            <a:ext cx="1828800" cy="0"/>
          </a:xfrm>
          <a:custGeom>
            <a:rect b="b" l="l" r="r" t="t"/>
            <a:pathLst>
              <a:path extrusionOk="0" h="120000" w="1828800">
                <a:moveTo>
                  <a:pt x="0" y="0"/>
                </a:moveTo>
                <a:lnTo>
                  <a:pt x="1828800" y="0"/>
                </a:lnTo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83" name="Google Shape;383;g3534be74e08_0_47"/>
          <p:cNvSpPr txBox="1"/>
          <p:nvPr/>
        </p:nvSpPr>
        <p:spPr>
          <a:xfrm>
            <a:off x="716675" y="581625"/>
            <a:ext cx="4283400" cy="492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127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</a:pPr>
            <a:r>
              <a:rPr b="1" i="0" lang="en-US" sz="1000" u="none" cap="none" strike="noStrik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rPr>
              <a:t>Each edge occurs twice</a:t>
            </a:r>
            <a:br>
              <a:rPr b="1" i="0" lang="en-US" sz="1000" u="none" cap="none" strike="noStrik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rPr>
            </a:br>
            <a:r>
              <a:rPr b="0" i="0" lang="en-US" sz="1000" u="none" cap="none" strike="noStrik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rPr>
              <a:t>Each vertex’s entry contains the indices of its adjacent vertices.</a:t>
            </a:r>
            <a:endParaRPr b="0" i="0" sz="1000" u="none" cap="none" strike="noStrike">
              <a:solidFill>
                <a:srgbClr val="000000"/>
              </a:solidFill>
              <a:latin typeface="Tahoma"/>
              <a:ea typeface="Tahoma"/>
              <a:cs typeface="Tahoma"/>
              <a:sym typeface="Tahoma"/>
            </a:endParaRPr>
          </a:p>
        </p:txBody>
      </p:sp>
      <p:pic>
        <p:nvPicPr>
          <p:cNvPr id="384" name="Google Shape;384;g3534be74e08_0_47" title="graph.png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359525" y="1074225"/>
            <a:ext cx="1994576" cy="1590674"/>
          </a:xfrm>
          <a:prstGeom prst="rect">
            <a:avLst/>
          </a:prstGeom>
          <a:noFill/>
          <a:ln>
            <a:noFill/>
          </a:ln>
        </p:spPr>
      </p:pic>
      <p:pic>
        <p:nvPicPr>
          <p:cNvPr id="385" name="Google Shape;385;g3534be74e08_0_47" title="graph2.png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3124525" y="1074225"/>
            <a:ext cx="963082" cy="1855674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3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89" name="Shape 38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0" name="Google Shape;390;g3220fd27c11_5_351"/>
          <p:cNvSpPr txBox="1"/>
          <p:nvPr/>
        </p:nvSpPr>
        <p:spPr>
          <a:xfrm>
            <a:off x="359525" y="115100"/>
            <a:ext cx="4860000" cy="2745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12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700"/>
              <a:buFont typeface="Arial"/>
              <a:buNone/>
            </a:pPr>
            <a:r>
              <a:rPr b="0" i="0" lang="en-US" sz="1700" u="none" cap="none" strike="noStrike">
                <a:solidFill>
                  <a:srgbClr val="334669"/>
                </a:solidFill>
                <a:latin typeface="Tahoma"/>
                <a:ea typeface="Tahoma"/>
                <a:cs typeface="Tahoma"/>
                <a:sym typeface="Tahoma"/>
              </a:rPr>
              <a:t>           Adjacency lists for undirected graph</a:t>
            </a:r>
            <a:endParaRPr b="1" i="0" sz="1200" u="none" cap="none" strike="noStrike">
              <a:solidFill>
                <a:schemeClr val="dk1"/>
              </a:solidFill>
              <a:latin typeface="Tahoma"/>
              <a:ea typeface="Tahoma"/>
              <a:cs typeface="Tahoma"/>
              <a:sym typeface="Tahoma"/>
            </a:endParaRPr>
          </a:p>
        </p:txBody>
      </p:sp>
      <p:sp>
        <p:nvSpPr>
          <p:cNvPr id="391" name="Google Shape;391;g3220fd27c11_5_351"/>
          <p:cNvSpPr/>
          <p:nvPr/>
        </p:nvSpPr>
        <p:spPr>
          <a:xfrm>
            <a:off x="139445" y="2929889"/>
            <a:ext cx="1828800" cy="0"/>
          </a:xfrm>
          <a:custGeom>
            <a:rect b="b" l="l" r="r" t="t"/>
            <a:pathLst>
              <a:path extrusionOk="0" h="120000" w="1828800">
                <a:moveTo>
                  <a:pt x="0" y="0"/>
                </a:moveTo>
                <a:lnTo>
                  <a:pt x="1828800" y="0"/>
                </a:lnTo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92" name="Google Shape;392;g3220fd27c11_5_351"/>
          <p:cNvSpPr txBox="1"/>
          <p:nvPr/>
        </p:nvSpPr>
        <p:spPr>
          <a:xfrm>
            <a:off x="716675" y="581625"/>
            <a:ext cx="4283400" cy="492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127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</a:pPr>
            <a:r>
              <a:rPr b="1" i="0" lang="en-US" sz="1000" u="none" cap="none" strike="noStrik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rPr>
              <a:t>Each edge occurs twice</a:t>
            </a:r>
            <a:br>
              <a:rPr b="1" i="0" lang="en-US" sz="1000" u="none" cap="none" strike="noStrik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rPr>
            </a:br>
            <a:r>
              <a:rPr b="0" i="0" lang="en-US" sz="1000" u="none" cap="none" strike="noStrik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rPr>
              <a:t>Each vertex’s entry contains the indices of its adjacent vertices.</a:t>
            </a:r>
            <a:endParaRPr b="0" i="0" sz="1000" u="none" cap="none" strike="noStrike">
              <a:solidFill>
                <a:srgbClr val="000000"/>
              </a:solidFill>
              <a:latin typeface="Tahoma"/>
              <a:ea typeface="Tahoma"/>
              <a:cs typeface="Tahoma"/>
              <a:sym typeface="Tahoma"/>
            </a:endParaRPr>
          </a:p>
        </p:txBody>
      </p:sp>
      <p:pic>
        <p:nvPicPr>
          <p:cNvPr id="393" name="Google Shape;393;g3220fd27c11_5_351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795250" y="1139875"/>
            <a:ext cx="3847801" cy="1642351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4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97" name="Shape 39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8" name="Google Shape;398;g3220fd27c11_5_298"/>
          <p:cNvSpPr txBox="1"/>
          <p:nvPr/>
        </p:nvSpPr>
        <p:spPr>
          <a:xfrm>
            <a:off x="359525" y="115100"/>
            <a:ext cx="4860000" cy="705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12700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700"/>
              <a:buFont typeface="Arial"/>
              <a:buNone/>
            </a:pPr>
            <a:r>
              <a:rPr b="0" i="0" lang="en-US" sz="1700" u="none" cap="none" strike="noStrike">
                <a:solidFill>
                  <a:srgbClr val="334669"/>
                </a:solidFill>
                <a:latin typeface="Tahoma"/>
                <a:ea typeface="Tahoma"/>
                <a:cs typeface="Tahoma"/>
                <a:sym typeface="Tahoma"/>
              </a:rPr>
              <a:t>           Adjacency lists for undirected graph </a:t>
            </a:r>
            <a:br>
              <a:rPr b="0" i="0" lang="en-US" sz="1700" u="none" cap="none" strike="noStrike">
                <a:solidFill>
                  <a:srgbClr val="334669"/>
                </a:solidFill>
                <a:latin typeface="Tahoma"/>
                <a:ea typeface="Tahoma"/>
                <a:cs typeface="Tahoma"/>
                <a:sym typeface="Tahoma"/>
              </a:rPr>
            </a:br>
            <a:r>
              <a:rPr b="0" i="0" lang="en-US" sz="1400" u="none" cap="none" strike="noStrike">
                <a:solidFill>
                  <a:srgbClr val="9900FF"/>
                </a:solidFill>
                <a:latin typeface="Tahoma"/>
                <a:ea typeface="Tahoma"/>
                <a:cs typeface="Tahoma"/>
                <a:sym typeface="Tahoma"/>
              </a:rPr>
              <a:t>(Optional, Not conventional representation, used in BRACU Notes)</a:t>
            </a:r>
            <a:endParaRPr b="1" i="0" sz="900" u="none" cap="none" strike="noStrike">
              <a:solidFill>
                <a:srgbClr val="9900FF"/>
              </a:solidFill>
              <a:latin typeface="Tahoma"/>
              <a:ea typeface="Tahoma"/>
              <a:cs typeface="Tahoma"/>
              <a:sym typeface="Tahoma"/>
            </a:endParaRPr>
          </a:p>
        </p:txBody>
      </p:sp>
      <p:sp>
        <p:nvSpPr>
          <p:cNvPr id="399" name="Google Shape;399;g3220fd27c11_5_298"/>
          <p:cNvSpPr/>
          <p:nvPr/>
        </p:nvSpPr>
        <p:spPr>
          <a:xfrm>
            <a:off x="139445" y="2929889"/>
            <a:ext cx="1828800" cy="0"/>
          </a:xfrm>
          <a:custGeom>
            <a:rect b="b" l="l" r="r" t="t"/>
            <a:pathLst>
              <a:path extrusionOk="0" h="120000" w="1828800">
                <a:moveTo>
                  <a:pt x="0" y="0"/>
                </a:moveTo>
                <a:lnTo>
                  <a:pt x="1828800" y="0"/>
                </a:lnTo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400" name="Google Shape;400;g3220fd27c11_5_298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775000" y="2127175"/>
            <a:ext cx="4233600" cy="1122525"/>
          </a:xfrm>
          <a:prstGeom prst="rect">
            <a:avLst/>
          </a:prstGeom>
          <a:noFill/>
          <a:ln>
            <a:noFill/>
          </a:ln>
        </p:spPr>
      </p:pic>
      <p:pic>
        <p:nvPicPr>
          <p:cNvPr id="401" name="Google Shape;401;g3220fd27c11_5_298" title="undirected.png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1091200" y="651200"/>
            <a:ext cx="3059016" cy="147597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4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405" name="Shape 40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6" name="Google Shape;406;p6"/>
          <p:cNvSpPr txBox="1"/>
          <p:nvPr>
            <p:ph type="ctrTitle"/>
          </p:nvPr>
        </p:nvSpPr>
        <p:spPr>
          <a:xfrm>
            <a:off x="1434851" y="161025"/>
            <a:ext cx="3285600" cy="2745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12700">
            <a:spAutoFit/>
          </a:bodyPr>
          <a:lstStyle/>
          <a:p>
            <a:pPr indent="0" lvl="0" marL="127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rPr lang="en-US"/>
              <a:t>Adjacency lists for directed graph</a:t>
            </a:r>
            <a:endParaRPr/>
          </a:p>
        </p:txBody>
      </p:sp>
      <p:sp>
        <p:nvSpPr>
          <p:cNvPr id="407" name="Google Shape;407;p6"/>
          <p:cNvSpPr txBox="1"/>
          <p:nvPr/>
        </p:nvSpPr>
        <p:spPr>
          <a:xfrm>
            <a:off x="492301" y="805775"/>
            <a:ext cx="4319100" cy="474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12700">
            <a:spAutoFit/>
          </a:bodyPr>
          <a:lstStyle/>
          <a:p>
            <a:pPr indent="0" lvl="0" marL="127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r>
              <a:rPr b="1" i="0" lang="en-US" sz="1000" u="sng" cap="none" strike="noStrike">
                <a:solidFill>
                  <a:srgbClr val="000000"/>
                </a:solidFill>
                <a:latin typeface="Tahoma"/>
                <a:ea typeface="Tahoma"/>
                <a:cs typeface="Tahoma"/>
                <a:sym typeface="Tahoma"/>
              </a:rPr>
              <a:t>Each edge occurs once</a:t>
            </a:r>
            <a:br>
              <a:rPr b="1" i="0" lang="en-US" sz="1000" u="none" cap="none" strike="noStrike">
                <a:solidFill>
                  <a:srgbClr val="000000"/>
                </a:solidFill>
                <a:latin typeface="Tahoma"/>
                <a:ea typeface="Tahoma"/>
                <a:cs typeface="Tahoma"/>
                <a:sym typeface="Tahoma"/>
              </a:rPr>
            </a:br>
            <a:r>
              <a:rPr b="0" i="0" lang="en-US" sz="1000" u="none" cap="none" strike="noStrik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rPr>
              <a:t>Edges are only listed for the source vertex </a:t>
            </a:r>
            <a:r>
              <a:rPr b="0" i="0" lang="en-US" sz="1000" u="sng" cap="none" strike="noStrik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rPr>
              <a:t>(</a:t>
            </a:r>
            <a:r>
              <a:rPr b="1" i="0" lang="en-US" sz="1000" u="sng" cap="none" strike="noStrike">
                <a:solidFill>
                  <a:srgbClr val="0000FF"/>
                </a:solidFill>
                <a:latin typeface="Tahoma"/>
                <a:ea typeface="Tahoma"/>
                <a:cs typeface="Tahoma"/>
                <a:sym typeface="Tahoma"/>
              </a:rPr>
              <a:t>outgoing),</a:t>
            </a:r>
            <a:r>
              <a:rPr b="0" i="0" lang="en-US" sz="1000" u="none" cap="none" strike="noStrik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rPr>
              <a:t> not the destination.</a:t>
            </a:r>
            <a:endParaRPr b="0" i="0" sz="1000" u="none" cap="none" strike="noStrike">
              <a:solidFill>
                <a:schemeClr val="dk1"/>
              </a:solidFill>
              <a:latin typeface="Tahoma"/>
              <a:ea typeface="Tahoma"/>
              <a:cs typeface="Tahoma"/>
              <a:sym typeface="Tahoma"/>
            </a:endParaRPr>
          </a:p>
          <a:p>
            <a:pPr indent="0" lvl="0" marL="127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r>
              <a:t/>
            </a:r>
            <a:endParaRPr b="1" i="0" sz="1000" u="none" cap="none" strike="noStrike">
              <a:solidFill>
                <a:srgbClr val="000000"/>
              </a:solidFill>
              <a:latin typeface="Tahoma"/>
              <a:ea typeface="Tahoma"/>
              <a:cs typeface="Tahoma"/>
              <a:sym typeface="Tahoma"/>
            </a:endParaRPr>
          </a:p>
        </p:txBody>
      </p:sp>
      <p:pic>
        <p:nvPicPr>
          <p:cNvPr id="408" name="Google Shape;408;p6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1031150" y="1335525"/>
            <a:ext cx="3517101" cy="1217100"/>
          </a:xfrm>
          <a:prstGeom prst="rect">
            <a:avLst/>
          </a:prstGeom>
          <a:noFill/>
          <a:ln>
            <a:noFill/>
          </a:ln>
        </p:spPr>
      </p:pic>
      <p:sp>
        <p:nvSpPr>
          <p:cNvPr id="409" name="Google Shape;409;p6"/>
          <p:cNvSpPr/>
          <p:nvPr/>
        </p:nvSpPr>
        <p:spPr>
          <a:xfrm>
            <a:off x="139445" y="2929889"/>
            <a:ext cx="1828800" cy="0"/>
          </a:xfrm>
          <a:custGeom>
            <a:rect b="b" l="l" r="r" t="t"/>
            <a:pathLst>
              <a:path extrusionOk="0" h="120000" w="1828800">
                <a:moveTo>
                  <a:pt x="0" y="0"/>
                </a:moveTo>
                <a:lnTo>
                  <a:pt x="1828800" y="0"/>
                </a:lnTo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10" name="Google Shape;410;p6"/>
          <p:cNvSpPr txBox="1"/>
          <p:nvPr>
            <p:ph idx="1" type="subTitle"/>
          </p:nvPr>
        </p:nvSpPr>
        <p:spPr>
          <a:xfrm>
            <a:off x="66477" y="2731300"/>
            <a:ext cx="5551200" cy="336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12700">
            <a:spAutoFit/>
          </a:bodyPr>
          <a:lstStyle/>
          <a:p>
            <a:pPr indent="0" lvl="0" marL="508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rPr lang="en-US"/>
              <a:t>Image:</a:t>
            </a:r>
            <a:endParaRPr baseline="30000" sz="1200"/>
          </a:p>
          <a:p>
            <a:pPr indent="0" lvl="0" marL="215265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rPr baseline="30000" lang="en-US" sz="900"/>
              <a:t>2</a:t>
            </a:r>
            <a:r>
              <a:rPr lang="en-US" sz="900">
                <a:latin typeface="Helvetica Neue"/>
                <a:ea typeface="Helvetica Neue"/>
                <a:cs typeface="Helvetica Neue"/>
                <a:sym typeface="Helvetica Neue"/>
              </a:rPr>
              <a:t>Cormen, Leiserson, Rivest, Stein. Introduction to Algorithms, 3rd edition, MIT Press, 2009</a:t>
            </a:r>
            <a:endParaRPr sz="900">
              <a:latin typeface="Helvetica Neue"/>
              <a:ea typeface="Helvetica Neue"/>
              <a:cs typeface="Helvetica Neue"/>
              <a:sym typeface="Helvetica Neue"/>
            </a:endParaRPr>
          </a:p>
        </p:txBody>
      </p:sp>
      <p:sp>
        <p:nvSpPr>
          <p:cNvPr id="411" name="Google Shape;411;p6"/>
          <p:cNvSpPr txBox="1"/>
          <p:nvPr/>
        </p:nvSpPr>
        <p:spPr>
          <a:xfrm>
            <a:off x="130251" y="3106281"/>
            <a:ext cx="983615" cy="11747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12700">
            <a:spAutoFit/>
          </a:bodyPr>
          <a:lstStyle/>
          <a:p>
            <a:pPr indent="0" lvl="0" marL="127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600"/>
              <a:buFont typeface="Arial"/>
              <a:buNone/>
            </a:pPr>
            <a:r>
              <a:rPr b="0" i="0" lang="en-US" sz="600" u="sng" cap="none" strike="noStrike">
                <a:solidFill>
                  <a:srgbClr val="0000FF"/>
                </a:solidFill>
                <a:latin typeface="Tahoma"/>
                <a:ea typeface="Tahoma"/>
                <a:cs typeface="Tahoma"/>
                <a:sym typeface="Tahoma"/>
              </a:rPr>
              <a:t>Graph representation Ch 22.1</a:t>
            </a:r>
            <a:endParaRPr b="0" i="0" sz="600" u="none" cap="none" strike="noStrike">
              <a:solidFill>
                <a:srgbClr val="000000"/>
              </a:solidFill>
              <a:latin typeface="Tahoma"/>
              <a:ea typeface="Tahoma"/>
              <a:cs typeface="Tahoma"/>
              <a:sym typeface="Tahoma"/>
            </a:endParaRPr>
          </a:p>
        </p:txBody>
      </p:sp>
    </p:spTree>
  </p:cSld>
  <p:clrMapOvr>
    <a:masterClrMapping/>
  </p:clrMapOvr>
</p:sld>
</file>

<file path=ppt/slides/slide4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415" name="Shape 4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6" name="Google Shape;416;g3220fd27c11_5_363"/>
          <p:cNvSpPr txBox="1"/>
          <p:nvPr>
            <p:ph type="ctrTitle"/>
          </p:nvPr>
        </p:nvSpPr>
        <p:spPr>
          <a:xfrm>
            <a:off x="1434851" y="161025"/>
            <a:ext cx="3285600" cy="2745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12700">
            <a:spAutoFit/>
          </a:bodyPr>
          <a:lstStyle/>
          <a:p>
            <a:pPr indent="0" lvl="0" marL="127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rPr lang="en-US"/>
              <a:t>Adjacency lists for directed graph</a:t>
            </a:r>
            <a:endParaRPr/>
          </a:p>
        </p:txBody>
      </p:sp>
      <p:sp>
        <p:nvSpPr>
          <p:cNvPr id="417" name="Google Shape;417;g3220fd27c11_5_363"/>
          <p:cNvSpPr txBox="1"/>
          <p:nvPr/>
        </p:nvSpPr>
        <p:spPr>
          <a:xfrm>
            <a:off x="487201" y="661525"/>
            <a:ext cx="4319100" cy="474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12700">
            <a:spAutoFit/>
          </a:bodyPr>
          <a:lstStyle/>
          <a:p>
            <a:pPr indent="0" lvl="0" marL="127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r>
              <a:rPr b="1" i="0" lang="en-US" sz="1000" u="none" cap="none" strike="noStrike">
                <a:solidFill>
                  <a:srgbClr val="000000"/>
                </a:solidFill>
                <a:latin typeface="Tahoma"/>
                <a:ea typeface="Tahoma"/>
                <a:cs typeface="Tahoma"/>
                <a:sym typeface="Tahoma"/>
              </a:rPr>
              <a:t>Each edge occurs once</a:t>
            </a:r>
            <a:br>
              <a:rPr b="1" i="0" lang="en-US" sz="1000" u="none" cap="none" strike="noStrike">
                <a:solidFill>
                  <a:srgbClr val="000000"/>
                </a:solidFill>
                <a:latin typeface="Tahoma"/>
                <a:ea typeface="Tahoma"/>
                <a:cs typeface="Tahoma"/>
                <a:sym typeface="Tahoma"/>
              </a:rPr>
            </a:br>
            <a:r>
              <a:rPr b="0" i="0" lang="en-US" sz="1000" u="none" cap="none" strike="noStrik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rPr>
              <a:t>Edges are only listed for the source vertex (</a:t>
            </a:r>
            <a:r>
              <a:rPr b="1" i="0" lang="en-US" sz="1000" u="none" cap="none" strike="noStrike">
                <a:solidFill>
                  <a:srgbClr val="0000FF"/>
                </a:solidFill>
                <a:latin typeface="Tahoma"/>
                <a:ea typeface="Tahoma"/>
                <a:cs typeface="Tahoma"/>
                <a:sym typeface="Tahoma"/>
              </a:rPr>
              <a:t>outgoing),</a:t>
            </a:r>
            <a:r>
              <a:rPr b="0" i="0" lang="en-US" sz="1000" u="none" cap="none" strike="noStrik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rPr>
              <a:t> not the destination.</a:t>
            </a:r>
            <a:endParaRPr b="0" i="0" sz="1000" u="none" cap="none" strike="noStrike">
              <a:solidFill>
                <a:schemeClr val="dk1"/>
              </a:solidFill>
              <a:latin typeface="Tahoma"/>
              <a:ea typeface="Tahoma"/>
              <a:cs typeface="Tahoma"/>
              <a:sym typeface="Tahoma"/>
            </a:endParaRPr>
          </a:p>
          <a:p>
            <a:pPr indent="0" lvl="0" marL="127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r>
              <a:t/>
            </a:r>
            <a:endParaRPr b="1" i="0" sz="1000" u="none" cap="none" strike="noStrike">
              <a:solidFill>
                <a:srgbClr val="000000"/>
              </a:solidFill>
              <a:latin typeface="Tahoma"/>
              <a:ea typeface="Tahoma"/>
              <a:cs typeface="Tahoma"/>
              <a:sym typeface="Tahoma"/>
            </a:endParaRPr>
          </a:p>
        </p:txBody>
      </p:sp>
      <p:sp>
        <p:nvSpPr>
          <p:cNvPr id="418" name="Google Shape;418;g3220fd27c11_5_363"/>
          <p:cNvSpPr/>
          <p:nvPr/>
        </p:nvSpPr>
        <p:spPr>
          <a:xfrm>
            <a:off x="139445" y="2929889"/>
            <a:ext cx="1828800" cy="0"/>
          </a:xfrm>
          <a:custGeom>
            <a:rect b="b" l="l" r="r" t="t"/>
            <a:pathLst>
              <a:path extrusionOk="0" h="120000" w="1828800">
                <a:moveTo>
                  <a:pt x="0" y="0"/>
                </a:moveTo>
                <a:lnTo>
                  <a:pt x="1828800" y="0"/>
                </a:lnTo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419" name="Google Shape;419;g3220fd27c11_5_363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1434850" y="1203175"/>
            <a:ext cx="2592658" cy="1659676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4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423" name="Shape 42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4" name="Google Shape;424;g3220fd27c11_5_311"/>
          <p:cNvSpPr txBox="1"/>
          <p:nvPr>
            <p:ph type="ctrTitle"/>
          </p:nvPr>
        </p:nvSpPr>
        <p:spPr>
          <a:xfrm>
            <a:off x="302500" y="161025"/>
            <a:ext cx="5287500" cy="5055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12700">
            <a:spAutoFit/>
          </a:bodyPr>
          <a:lstStyle/>
          <a:p>
            <a:pPr indent="0" lvl="0" marL="1270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rPr lang="en-US"/>
              <a:t>Adjacency lists for directed graph</a:t>
            </a:r>
            <a:br>
              <a:rPr lang="en-US"/>
            </a:br>
            <a:r>
              <a:rPr lang="en-US" sz="1500">
                <a:solidFill>
                  <a:srgbClr val="9900FF"/>
                </a:solidFill>
              </a:rPr>
              <a:t>(Optional,Not conventional representation, used in BRACU)</a:t>
            </a:r>
            <a:endParaRPr sz="1500">
              <a:solidFill>
                <a:srgbClr val="9900FF"/>
              </a:solidFill>
            </a:endParaRPr>
          </a:p>
        </p:txBody>
      </p:sp>
      <p:sp>
        <p:nvSpPr>
          <p:cNvPr id="425" name="Google Shape;425;g3220fd27c11_5_311"/>
          <p:cNvSpPr/>
          <p:nvPr/>
        </p:nvSpPr>
        <p:spPr>
          <a:xfrm>
            <a:off x="139445" y="2929889"/>
            <a:ext cx="1828800" cy="0"/>
          </a:xfrm>
          <a:custGeom>
            <a:rect b="b" l="l" r="r" t="t"/>
            <a:pathLst>
              <a:path extrusionOk="0" h="120000" w="1828800">
                <a:moveTo>
                  <a:pt x="0" y="0"/>
                </a:moveTo>
                <a:lnTo>
                  <a:pt x="1828800" y="0"/>
                </a:lnTo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426" name="Google Shape;426;g3220fd27c11_5_311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691225" y="2210350"/>
            <a:ext cx="4628101" cy="871800"/>
          </a:xfrm>
          <a:prstGeom prst="rect">
            <a:avLst/>
          </a:prstGeom>
          <a:noFill/>
          <a:ln>
            <a:noFill/>
          </a:ln>
        </p:spPr>
      </p:pic>
      <p:pic>
        <p:nvPicPr>
          <p:cNvPr id="427" name="Google Shape;427;g3220fd27c11_5_311" title="directed_graph.png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1114850" y="742238"/>
            <a:ext cx="3419077" cy="1422987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4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431" name="Shape 43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32" name="Google Shape;432;g3220fd27c11_5_334"/>
          <p:cNvSpPr txBox="1"/>
          <p:nvPr>
            <p:ph type="ctrTitle"/>
          </p:nvPr>
        </p:nvSpPr>
        <p:spPr>
          <a:xfrm>
            <a:off x="1076350" y="110825"/>
            <a:ext cx="3878400" cy="2745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12700">
            <a:spAutoFit/>
          </a:bodyPr>
          <a:lstStyle/>
          <a:p>
            <a:pPr indent="0" lvl="0" marL="127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rPr lang="en-US"/>
              <a:t>Adjacency lists for Weighted Graphs</a:t>
            </a:r>
            <a:endParaRPr/>
          </a:p>
        </p:txBody>
      </p:sp>
      <p:sp>
        <p:nvSpPr>
          <p:cNvPr id="433" name="Google Shape;433;g3220fd27c11_5_334"/>
          <p:cNvSpPr txBox="1"/>
          <p:nvPr/>
        </p:nvSpPr>
        <p:spPr>
          <a:xfrm>
            <a:off x="683925" y="385325"/>
            <a:ext cx="4864800" cy="2745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</a:pPr>
            <a:r>
              <a:rPr b="1" i="0" lang="en-US" sz="900" u="none" cap="none" strike="noStrik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rPr>
              <a:t>Often plain array may not be enough for Weighted Graphs</a:t>
            </a:r>
            <a:r>
              <a:rPr b="0" i="0" lang="en-US" sz="900" u="none" cap="none" strike="noStrik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rPr>
              <a:t>:</a:t>
            </a:r>
            <a:endParaRPr b="0" i="0" sz="900" u="none" cap="none" strike="noStrike">
              <a:solidFill>
                <a:schemeClr val="dk1"/>
              </a:solidFill>
              <a:latin typeface="Tahoma"/>
              <a:ea typeface="Tahoma"/>
              <a:cs typeface="Tahoma"/>
              <a:sym typeface="Tahoma"/>
            </a:endParaRPr>
          </a:p>
          <a:p>
            <a:pPr indent="-285750" lvl="0" marL="457200" marR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900"/>
              <a:buFont typeface="Tahoma"/>
              <a:buChar char="●"/>
            </a:pPr>
            <a:r>
              <a:rPr b="0" i="0" lang="en-US" sz="900" u="none" cap="none" strike="noStrik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rPr>
              <a:t>In weighted graphs, both </a:t>
            </a:r>
            <a:r>
              <a:rPr b="1" i="0" lang="en-US" sz="900" u="none" cap="none" strike="noStrik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rPr>
              <a:t>vertices</a:t>
            </a:r>
            <a:r>
              <a:rPr b="0" i="0" lang="en-US" sz="900" u="none" cap="none" strike="noStrik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rPr>
              <a:t> and </a:t>
            </a:r>
            <a:r>
              <a:rPr b="1" i="0" lang="en-US" sz="900" u="none" cap="none" strike="noStrik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rPr>
              <a:t>edges</a:t>
            </a:r>
            <a:r>
              <a:rPr b="0" i="0" lang="en-US" sz="900" u="none" cap="none" strike="noStrik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rPr>
              <a:t> can have associated weights.</a:t>
            </a:r>
            <a:endParaRPr b="0" i="0" sz="900" u="none" cap="none" strike="noStrike">
              <a:solidFill>
                <a:schemeClr val="dk1"/>
              </a:solidFill>
              <a:latin typeface="Tahoma"/>
              <a:ea typeface="Tahoma"/>
              <a:cs typeface="Tahoma"/>
              <a:sym typeface="Tahoma"/>
            </a:endParaRPr>
          </a:p>
          <a:p>
            <a:pPr indent="-285750" lvl="0" marL="4572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900"/>
              <a:buFont typeface="Tahoma"/>
              <a:buChar char="●"/>
            </a:pPr>
            <a:r>
              <a:rPr b="0" i="0" lang="en-US" sz="900" u="none" cap="none" strike="noStrik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rPr>
              <a:t>A simple array of lists is not sufficient to represent this.</a:t>
            </a:r>
            <a:endParaRPr b="0" i="0" sz="900" u="none" cap="none" strike="noStrike">
              <a:solidFill>
                <a:schemeClr val="dk1"/>
              </a:solidFill>
              <a:latin typeface="Tahoma"/>
              <a:ea typeface="Tahoma"/>
              <a:cs typeface="Tahoma"/>
              <a:sym typeface="Tahoma"/>
            </a:endParaRPr>
          </a:p>
          <a:p>
            <a:pPr indent="-285750" lvl="0" marL="4572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900"/>
              <a:buFont typeface="Tahoma"/>
              <a:buChar char="●"/>
            </a:pPr>
            <a:r>
              <a:rPr b="0" i="0" lang="en-US" sz="900" u="none" cap="none" strike="noStrik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rPr>
              <a:t>Thus, in few cases, we need special </a:t>
            </a:r>
            <a:r>
              <a:rPr b="0" i="0" lang="en-US" sz="900" u="none" cap="none" strike="noStrike">
                <a:solidFill>
                  <a:srgbClr val="0000FF"/>
                </a:solidFill>
                <a:latin typeface="Tahoma"/>
                <a:ea typeface="Tahoma"/>
                <a:cs typeface="Tahoma"/>
                <a:sym typeface="Tahoma"/>
              </a:rPr>
              <a:t>edge class</a:t>
            </a:r>
            <a:r>
              <a:rPr b="0" i="0" lang="en-US" sz="900" u="none" cap="none" strike="noStrik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rPr>
              <a:t> </a:t>
            </a:r>
            <a:r>
              <a:rPr b="0" i="0" lang="en-US" sz="900" u="sng" cap="none" strike="noStrike">
                <a:solidFill>
                  <a:srgbClr val="0000FF"/>
                </a:solidFill>
                <a:latin typeface="Tahoma"/>
                <a:ea typeface="Tahoma"/>
                <a:cs typeface="Tahoma"/>
                <a:sym typeface="Tahoma"/>
              </a:rPr>
              <a:t>with weight</a:t>
            </a:r>
            <a:endParaRPr b="0" i="0" sz="900" u="sng" cap="none" strike="noStrike">
              <a:solidFill>
                <a:srgbClr val="0000FF"/>
              </a:solidFill>
              <a:latin typeface="Tahoma"/>
              <a:ea typeface="Tahoma"/>
              <a:cs typeface="Tahoma"/>
              <a:sym typeface="Tahoma"/>
            </a:endParaRPr>
          </a:p>
          <a:p>
            <a:pPr indent="0" lvl="0" marL="0" marR="0" rtl="0" algn="just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</a:pPr>
            <a:r>
              <a:rPr b="0" i="0" lang="en-US" sz="9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Class Edge {</a:t>
            </a:r>
            <a:r>
              <a:rPr b="1" i="0" lang="en-US" sz="900" u="none" cap="none" strike="noStrike">
                <a:solidFill>
                  <a:srgbClr val="0000FF"/>
                </a:solidFill>
                <a:latin typeface="Arial"/>
                <a:ea typeface="Arial"/>
                <a:cs typeface="Arial"/>
                <a:sym typeface="Arial"/>
              </a:rPr>
              <a:t> [Similar to LL’s Node class of Hashing]</a:t>
            </a:r>
            <a:endParaRPr b="1" i="0" sz="900" u="none" cap="none" strike="noStrike">
              <a:solidFill>
                <a:srgbClr val="0000FF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just">
              <a:lnSpc>
                <a:spcPct val="100000"/>
              </a:lnSpc>
              <a:spcBef>
                <a:spcPts val="10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</a:pPr>
            <a:r>
              <a:rPr b="0" i="0" lang="en-US" sz="9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            	int ep1 (start point / source) [Optional]</a:t>
            </a:r>
            <a:endParaRPr b="0" i="0" sz="9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just">
              <a:lnSpc>
                <a:spcPct val="100000"/>
              </a:lnSpc>
              <a:spcBef>
                <a:spcPts val="10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</a:pPr>
            <a:r>
              <a:rPr b="0" i="0" lang="en-US" sz="9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            	int ep2 (end point / destination)</a:t>
            </a:r>
            <a:endParaRPr b="0" i="0" sz="9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just">
              <a:lnSpc>
                <a:spcPct val="100000"/>
              </a:lnSpc>
              <a:spcBef>
                <a:spcPts val="10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</a:pPr>
            <a:r>
              <a:rPr b="0" i="0" lang="en-US" sz="9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            	int weight</a:t>
            </a:r>
            <a:endParaRPr b="0" i="0" sz="9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just">
              <a:lnSpc>
                <a:spcPct val="100000"/>
              </a:lnSpc>
              <a:spcBef>
                <a:spcPts val="10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</a:pPr>
            <a:r>
              <a:rPr b="0" i="0" lang="en-US" sz="9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              Edge next (next adjacent node in the LL chain)</a:t>
            </a:r>
            <a:endParaRPr b="0" i="0" sz="9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just">
              <a:lnSpc>
                <a:spcPct val="100000"/>
              </a:lnSpc>
              <a:spcBef>
                <a:spcPts val="10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</a:pPr>
            <a:r>
              <a:rPr b="0" i="0" lang="en-US" sz="9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}</a:t>
            </a:r>
            <a:br>
              <a:rPr b="0" i="0" lang="en-US" sz="9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</a:br>
            <a:endParaRPr b="0" i="0" sz="900" u="none" cap="none" strike="noStrike">
              <a:solidFill>
                <a:schemeClr val="dk1"/>
              </a:solidFill>
              <a:latin typeface="Tahoma"/>
              <a:ea typeface="Tahoma"/>
              <a:cs typeface="Tahoma"/>
              <a:sym typeface="Tahoma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10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</a:pPr>
            <a:r>
              <a:rPr b="1" i="0" lang="en-US" sz="900" u="none" cap="none" strike="noStrik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rPr>
              <a:t>Edge Class</a:t>
            </a:r>
            <a:r>
              <a:rPr b="0" i="0" lang="en-US" sz="900" u="none" cap="none" strike="noStrik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rPr>
              <a:t>:</a:t>
            </a:r>
            <a:endParaRPr b="0" i="0" sz="900" u="none" cap="none" strike="noStrike">
              <a:solidFill>
                <a:schemeClr val="dk1"/>
              </a:solidFill>
              <a:latin typeface="Tahoma"/>
              <a:ea typeface="Tahoma"/>
              <a:cs typeface="Tahoma"/>
              <a:sym typeface="Tahoma"/>
            </a:endParaRPr>
          </a:p>
          <a:p>
            <a:pPr indent="-285750" lvl="0" marL="457200" marR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900"/>
              <a:buFont typeface="Arial"/>
              <a:buChar char="●"/>
            </a:pPr>
            <a:r>
              <a:rPr b="0" i="0" lang="en-US" sz="900" u="none" cap="none" strike="noStrike">
                <a:solidFill>
                  <a:srgbClr val="188038"/>
                </a:solidFill>
                <a:latin typeface="Tahoma"/>
                <a:ea typeface="Tahoma"/>
                <a:cs typeface="Tahoma"/>
                <a:sym typeface="Tahoma"/>
              </a:rPr>
              <a:t>ep1</a:t>
            </a:r>
            <a:r>
              <a:rPr b="0" i="0" lang="en-US" sz="900" u="none" cap="none" strike="noStrik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rPr>
              <a:t> and </a:t>
            </a:r>
            <a:r>
              <a:rPr b="0" i="0" lang="en-US" sz="900" u="none" cap="none" strike="noStrike">
                <a:solidFill>
                  <a:srgbClr val="188038"/>
                </a:solidFill>
                <a:latin typeface="Tahoma"/>
                <a:ea typeface="Tahoma"/>
                <a:cs typeface="Tahoma"/>
                <a:sym typeface="Tahoma"/>
              </a:rPr>
              <a:t>ep2</a:t>
            </a:r>
            <a:r>
              <a:rPr b="0" i="0" lang="en-US" sz="900" u="none" cap="none" strike="noStrik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rPr>
              <a:t> are the indices of the vertices the edge connects.</a:t>
            </a:r>
            <a:endParaRPr b="0" i="0" sz="900" u="none" cap="none" strike="noStrike">
              <a:solidFill>
                <a:schemeClr val="dk1"/>
              </a:solidFill>
              <a:latin typeface="Tahoma"/>
              <a:ea typeface="Tahoma"/>
              <a:cs typeface="Tahoma"/>
              <a:sym typeface="Tahoma"/>
            </a:endParaRPr>
          </a:p>
          <a:p>
            <a:pPr indent="-285750" lvl="0" marL="4572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900"/>
              <a:buFont typeface="Arial"/>
              <a:buChar char="●"/>
            </a:pPr>
            <a:r>
              <a:rPr b="0" i="0" lang="en-US" sz="900" u="none" cap="none" strike="noStrike">
                <a:solidFill>
                  <a:srgbClr val="188038"/>
                </a:solidFill>
                <a:latin typeface="Tahoma"/>
                <a:ea typeface="Tahoma"/>
                <a:cs typeface="Tahoma"/>
                <a:sym typeface="Tahoma"/>
              </a:rPr>
              <a:t>weight</a:t>
            </a:r>
            <a:r>
              <a:rPr b="0" i="0" lang="en-US" sz="900" u="none" cap="none" strike="noStrik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rPr>
              <a:t> stores the weight of the edge.</a:t>
            </a:r>
            <a:endParaRPr b="0" i="0" sz="700" u="none" cap="none" strike="noStrike">
              <a:solidFill>
                <a:schemeClr val="dk1"/>
              </a:solidFill>
              <a:latin typeface="Tahoma"/>
              <a:ea typeface="Tahoma"/>
              <a:cs typeface="Tahoma"/>
              <a:sym typeface="Tahoma"/>
            </a:endParaRPr>
          </a:p>
        </p:txBody>
      </p:sp>
    </p:spTree>
  </p:cSld>
  <p:clrMapOvr>
    <a:masterClrMapping/>
  </p:clrMapOvr>
</p:sld>
</file>

<file path=ppt/slides/slide4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437" name="Shape 43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38" name="Google Shape;438;g32230ee4132_0_0"/>
          <p:cNvSpPr txBox="1"/>
          <p:nvPr>
            <p:ph type="ctrTitle"/>
          </p:nvPr>
        </p:nvSpPr>
        <p:spPr>
          <a:xfrm>
            <a:off x="827600" y="161025"/>
            <a:ext cx="5015100" cy="443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12700">
            <a:spAutoFit/>
          </a:bodyPr>
          <a:lstStyle/>
          <a:p>
            <a:pPr indent="0" lvl="0" marL="127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rPr lang="en-US" sz="1400"/>
              <a:t>Adjacency lists for directed graph with edge weight</a:t>
            </a:r>
            <a:br>
              <a:rPr lang="en-US" sz="1400"/>
            </a:br>
            <a:endParaRPr sz="1400"/>
          </a:p>
        </p:txBody>
      </p:sp>
      <p:sp>
        <p:nvSpPr>
          <p:cNvPr id="439" name="Google Shape;439;g32230ee4132_0_0"/>
          <p:cNvSpPr/>
          <p:nvPr/>
        </p:nvSpPr>
        <p:spPr>
          <a:xfrm>
            <a:off x="139445" y="2929889"/>
            <a:ext cx="1828800" cy="0"/>
          </a:xfrm>
          <a:custGeom>
            <a:rect b="b" l="l" r="r" t="t"/>
            <a:pathLst>
              <a:path extrusionOk="0" h="120000" w="1828800">
                <a:moveTo>
                  <a:pt x="0" y="0"/>
                </a:moveTo>
                <a:lnTo>
                  <a:pt x="1828800" y="0"/>
                </a:lnTo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440" name="Google Shape;440;g32230ee4132_0_0" title="directed_weight_list.jpg.jpg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730275" y="529250"/>
            <a:ext cx="3321601" cy="1794475"/>
          </a:xfrm>
          <a:prstGeom prst="rect">
            <a:avLst/>
          </a:prstGeom>
          <a:noFill/>
          <a:ln>
            <a:noFill/>
          </a:ln>
        </p:spPr>
      </p:pic>
      <p:sp>
        <p:nvSpPr>
          <p:cNvPr id="441" name="Google Shape;441;g32230ee4132_0_0"/>
          <p:cNvSpPr txBox="1"/>
          <p:nvPr/>
        </p:nvSpPr>
        <p:spPr>
          <a:xfrm>
            <a:off x="139450" y="2399200"/>
            <a:ext cx="5443800" cy="554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r>
              <a:rPr b="0" i="0" lang="en-US" sz="12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Here, the source attribute for each neighbor vertex is redundant; </a:t>
            </a:r>
            <a:br>
              <a:rPr b="0" i="0" lang="en-US" sz="1200" u="none" cap="none" strike="noStrik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rPr>
            </a:br>
            <a:r>
              <a:rPr b="0" i="0" lang="en-US" sz="1200" u="none" cap="none" strike="noStrik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rPr>
              <a:t>however, it is retained in the code to maintain consistency across sections. </a:t>
            </a:r>
            <a:endParaRPr b="0" i="0" sz="1200" u="none" cap="none" strike="noStrike">
              <a:solidFill>
                <a:schemeClr val="dk1"/>
              </a:solidFill>
              <a:latin typeface="Tahoma"/>
              <a:ea typeface="Tahoma"/>
              <a:cs typeface="Tahoma"/>
              <a:sym typeface="Tahoma"/>
            </a:endParaRPr>
          </a:p>
        </p:txBody>
      </p:sp>
    </p:spTree>
  </p:cSld>
  <p:clrMapOvr>
    <a:masterClrMapping/>
  </p:clrMapOvr>
</p:sld>
</file>

<file path=ppt/slides/slide4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445" name="Shape 44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46" name="Google Shape;446;g35359bad66d_0_1"/>
          <p:cNvSpPr txBox="1"/>
          <p:nvPr>
            <p:ph type="ctrTitle"/>
          </p:nvPr>
        </p:nvSpPr>
        <p:spPr>
          <a:xfrm>
            <a:off x="827600" y="161025"/>
            <a:ext cx="5015100" cy="2283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12700">
            <a:spAutoFit/>
          </a:bodyPr>
          <a:lstStyle/>
          <a:p>
            <a:pPr indent="0" lvl="0" marL="127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rPr lang="en-US" sz="1400"/>
              <a:t>Adjacency lists for undirected graph with edge weight</a:t>
            </a:r>
            <a:endParaRPr sz="1400"/>
          </a:p>
        </p:txBody>
      </p:sp>
      <p:sp>
        <p:nvSpPr>
          <p:cNvPr id="447" name="Google Shape;447;g35359bad66d_0_1"/>
          <p:cNvSpPr/>
          <p:nvPr/>
        </p:nvSpPr>
        <p:spPr>
          <a:xfrm>
            <a:off x="139445" y="2929889"/>
            <a:ext cx="1828800" cy="0"/>
          </a:xfrm>
          <a:custGeom>
            <a:rect b="b" l="l" r="r" t="t"/>
            <a:pathLst>
              <a:path extrusionOk="0" h="120000" w="1828800">
                <a:moveTo>
                  <a:pt x="0" y="0"/>
                </a:moveTo>
                <a:lnTo>
                  <a:pt x="1828800" y="0"/>
                </a:lnTo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448" name="Google Shape;448;g35359bad66d_0_1" title="undirected_weight_list.jpg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292725" y="456475"/>
            <a:ext cx="4745723" cy="2023576"/>
          </a:xfrm>
          <a:prstGeom prst="rect">
            <a:avLst/>
          </a:prstGeom>
          <a:noFill/>
          <a:ln>
            <a:noFill/>
          </a:ln>
        </p:spPr>
      </p:pic>
      <p:sp>
        <p:nvSpPr>
          <p:cNvPr id="449" name="Google Shape;449;g35359bad66d_0_1"/>
          <p:cNvSpPr txBox="1"/>
          <p:nvPr/>
        </p:nvSpPr>
        <p:spPr>
          <a:xfrm>
            <a:off x="320225" y="2407963"/>
            <a:ext cx="5274900" cy="554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r>
              <a:rPr b="0" i="0" lang="en-US" sz="12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Here, the source attribute for each neighbor vertex is redundant; </a:t>
            </a:r>
            <a:br>
              <a:rPr b="0" i="0" lang="en-US" sz="12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</a:br>
            <a:r>
              <a:rPr b="0" i="0" lang="en-US" sz="12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however, it is retained in the code to maintain consistency across sections.</a:t>
            </a:r>
            <a:endParaRPr b="0" i="0" sz="12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4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453" name="Shape 4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4" name="Google Shape;454;g3220fd27c11_5_324"/>
          <p:cNvSpPr txBox="1"/>
          <p:nvPr>
            <p:ph type="ctrTitle"/>
          </p:nvPr>
        </p:nvSpPr>
        <p:spPr>
          <a:xfrm>
            <a:off x="388000" y="161025"/>
            <a:ext cx="5015100" cy="2283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12700">
            <a:spAutoFit/>
          </a:bodyPr>
          <a:lstStyle/>
          <a:p>
            <a:pPr indent="0" lvl="0" marL="127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rPr lang="en-US" sz="1400"/>
              <a:t>Adjacency lists for directed graph with edge and vertex weight</a:t>
            </a:r>
            <a:endParaRPr sz="1400"/>
          </a:p>
        </p:txBody>
      </p:sp>
      <p:pic>
        <p:nvPicPr>
          <p:cNvPr id="455" name="Google Shape;455;g3220fd27c11_5_324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2056350" y="541725"/>
            <a:ext cx="3675526" cy="2079697"/>
          </a:xfrm>
          <a:prstGeom prst="rect">
            <a:avLst/>
          </a:prstGeom>
          <a:noFill/>
          <a:ln>
            <a:noFill/>
          </a:ln>
        </p:spPr>
      </p:pic>
      <p:sp>
        <p:nvSpPr>
          <p:cNvPr id="456" name="Google Shape;456;g3220fd27c11_5_324"/>
          <p:cNvSpPr txBox="1"/>
          <p:nvPr/>
        </p:nvSpPr>
        <p:spPr>
          <a:xfrm>
            <a:off x="95425" y="2449600"/>
            <a:ext cx="3241200" cy="449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just">
              <a:lnSpc>
                <a:spcPct val="115000"/>
              </a:lnSpc>
              <a:spcBef>
                <a:spcPts val="1200"/>
              </a:spcBef>
              <a:spcAft>
                <a:spcPts val="1200"/>
              </a:spcAft>
              <a:buClr>
                <a:srgbClr val="000000"/>
              </a:buClr>
              <a:buSzPts val="800"/>
              <a:buFont typeface="Arial"/>
              <a:buNone/>
            </a:pPr>
            <a:r>
              <a:rPr b="1" i="0" lang="en-US" sz="800" u="none" cap="none" strike="noStrike">
                <a:solidFill>
                  <a:srgbClr val="0000FF"/>
                </a:solidFill>
                <a:latin typeface="Tahoma"/>
                <a:ea typeface="Tahoma"/>
                <a:cs typeface="Tahoma"/>
                <a:sym typeface="Tahoma"/>
              </a:rPr>
              <a:t>The tuple &lt;x,y,z&gt; stands for </a:t>
            </a:r>
            <a:br>
              <a:rPr b="1" i="0" lang="en-US" sz="800" u="none" cap="none" strike="noStrike">
                <a:solidFill>
                  <a:srgbClr val="0000FF"/>
                </a:solidFill>
                <a:latin typeface="Tahoma"/>
                <a:ea typeface="Tahoma"/>
                <a:cs typeface="Tahoma"/>
                <a:sym typeface="Tahoma"/>
              </a:rPr>
            </a:br>
            <a:r>
              <a:rPr b="1" i="0" lang="en-US" sz="800" u="none" cap="none" strike="noStrike">
                <a:solidFill>
                  <a:srgbClr val="0000FF"/>
                </a:solidFill>
                <a:latin typeface="Tahoma"/>
                <a:ea typeface="Tahoma"/>
                <a:cs typeface="Tahoma"/>
                <a:sym typeface="Tahoma"/>
              </a:rPr>
              <a:t>&lt;ep1(source), ep2 (destination), weight&gt; of an edge</a:t>
            </a:r>
            <a:endParaRPr b="1" i="0" sz="1100" u="none" cap="none" strike="noStrike">
              <a:solidFill>
                <a:srgbClr val="0000FF"/>
              </a:solidFill>
              <a:latin typeface="Tahoma"/>
              <a:ea typeface="Tahoma"/>
              <a:cs typeface="Tahoma"/>
              <a:sym typeface="Tahoma"/>
            </a:endParaRPr>
          </a:p>
        </p:txBody>
      </p:sp>
      <p:pic>
        <p:nvPicPr>
          <p:cNvPr id="457" name="Google Shape;457;g3220fd27c11_5_324" title="graph_with_edge_node_weight.png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29700" y="541725"/>
            <a:ext cx="2021400" cy="1522820"/>
          </a:xfrm>
          <a:prstGeom prst="rect">
            <a:avLst/>
          </a:prstGeom>
          <a:noFill/>
          <a:ln>
            <a:noFill/>
          </a:ln>
        </p:spPr>
      </p:pic>
      <p:sp>
        <p:nvSpPr>
          <p:cNvPr id="458" name="Google Shape;458;g3220fd27c11_5_324"/>
          <p:cNvSpPr txBox="1"/>
          <p:nvPr/>
        </p:nvSpPr>
        <p:spPr>
          <a:xfrm>
            <a:off x="128200" y="2783138"/>
            <a:ext cx="5274900" cy="431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</a:pPr>
            <a:r>
              <a:rPr b="0" i="0" lang="en-US" sz="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Here, the source attribute for each neighbor vertex is redundant; </a:t>
            </a:r>
            <a:br>
              <a:rPr b="0" i="0" lang="en-US" sz="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</a:br>
            <a:r>
              <a:rPr b="0" i="0" lang="en-US" sz="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however, it is retained in the code to maintain consistency across sections.</a:t>
            </a:r>
            <a:endParaRPr b="0" i="0" sz="8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4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462" name="Shape 46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3" name="Google Shape;463;p7"/>
          <p:cNvSpPr txBox="1"/>
          <p:nvPr/>
        </p:nvSpPr>
        <p:spPr>
          <a:xfrm>
            <a:off x="1548900" y="155250"/>
            <a:ext cx="3760200" cy="2745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12700">
            <a:spAutoFit/>
          </a:bodyPr>
          <a:lstStyle/>
          <a:p>
            <a:pPr indent="0" lvl="0" marL="127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700"/>
              <a:buFont typeface="Arial"/>
              <a:buNone/>
            </a:pPr>
            <a:r>
              <a:rPr b="0" i="0" lang="en-US" sz="1700" u="none" cap="none" strike="noStrike">
                <a:solidFill>
                  <a:srgbClr val="334669"/>
                </a:solidFill>
                <a:latin typeface="Tahoma"/>
                <a:ea typeface="Tahoma"/>
                <a:cs typeface="Tahoma"/>
                <a:sym typeface="Tahoma"/>
              </a:rPr>
              <a:t>Adjacency List - Analysis</a:t>
            </a:r>
            <a:endParaRPr b="0" i="0" sz="1700" u="none" cap="none" strike="noStrike">
              <a:solidFill>
                <a:srgbClr val="000000"/>
              </a:solidFill>
              <a:latin typeface="Tahoma"/>
              <a:ea typeface="Tahoma"/>
              <a:cs typeface="Tahoma"/>
              <a:sym typeface="Tahoma"/>
            </a:endParaRPr>
          </a:p>
        </p:txBody>
      </p:sp>
      <p:sp>
        <p:nvSpPr>
          <p:cNvPr id="464" name="Google Shape;464;p7"/>
          <p:cNvSpPr txBox="1"/>
          <p:nvPr/>
        </p:nvSpPr>
        <p:spPr>
          <a:xfrm>
            <a:off x="130251" y="3106281"/>
            <a:ext cx="983615" cy="11747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12700">
            <a:spAutoFit/>
          </a:bodyPr>
          <a:lstStyle/>
          <a:p>
            <a:pPr indent="0" lvl="0" marL="127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600"/>
              <a:buFont typeface="Arial"/>
              <a:buNone/>
            </a:pPr>
            <a:r>
              <a:rPr b="0" i="0" lang="en-US" sz="600" u="sng" cap="none" strike="noStrike">
                <a:solidFill>
                  <a:srgbClr val="0000FF"/>
                </a:solidFill>
                <a:latin typeface="Tahoma"/>
                <a:ea typeface="Tahoma"/>
                <a:cs typeface="Tahoma"/>
                <a:sym typeface="Tahoma"/>
              </a:rPr>
              <a:t>Graph representation Ch 22.1</a:t>
            </a:r>
            <a:endParaRPr b="0" i="0" sz="600" u="none" cap="none" strike="noStrike">
              <a:solidFill>
                <a:srgbClr val="000000"/>
              </a:solidFill>
              <a:latin typeface="Tahoma"/>
              <a:ea typeface="Tahoma"/>
              <a:cs typeface="Tahoma"/>
              <a:sym typeface="Tahoma"/>
            </a:endParaRPr>
          </a:p>
        </p:txBody>
      </p:sp>
      <p:sp>
        <p:nvSpPr>
          <p:cNvPr id="465" name="Google Shape;465;p7"/>
          <p:cNvSpPr txBox="1"/>
          <p:nvPr/>
        </p:nvSpPr>
        <p:spPr>
          <a:xfrm>
            <a:off x="-32050" y="462650"/>
            <a:ext cx="5670600" cy="1898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508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r>
              <a:t/>
            </a:r>
            <a:endParaRPr b="0" i="0" sz="1000" u="none" cap="none" strike="noStrike">
              <a:solidFill>
                <a:schemeClr val="dk1"/>
              </a:solidFill>
              <a:latin typeface="Tahoma"/>
              <a:ea typeface="Tahoma"/>
              <a:cs typeface="Tahoma"/>
              <a:sym typeface="Tahoma"/>
            </a:endParaRPr>
          </a:p>
          <a:p>
            <a:pPr indent="-29210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Tahoma"/>
              <a:buChar char="•"/>
            </a:pPr>
            <a:r>
              <a:rPr b="0" i="0" lang="en-US" sz="1000" u="none" cap="none" strike="noStrik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rPr>
              <a:t>Space required: </a:t>
            </a:r>
            <a:r>
              <a:rPr b="0" i="1" lang="en-US" sz="1000" u="none" cap="none" strike="noStrik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rPr>
              <a:t>θ</a:t>
            </a:r>
            <a:r>
              <a:rPr b="0" i="0" lang="en-US" sz="1000" u="none" cap="none" strike="noStrik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rPr>
              <a:t>(</a:t>
            </a:r>
            <a:r>
              <a:rPr b="0" i="1" lang="en-US" sz="1000" u="none" cap="none" strike="noStrik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rPr>
              <a:t>V </a:t>
            </a:r>
            <a:r>
              <a:rPr b="0" i="0" lang="en-US" sz="1000" u="none" cap="none" strike="noStrik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rPr>
              <a:t>+ </a:t>
            </a:r>
            <a:r>
              <a:rPr b="0" i="1" lang="en-US" sz="1000" u="none" cap="none" strike="noStrik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rPr>
              <a:t>E </a:t>
            </a:r>
            <a:r>
              <a:rPr b="0" i="0" lang="en-US" sz="1000" u="none" cap="none" strike="noStrik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rPr>
              <a:t>). </a:t>
            </a:r>
            <a:br>
              <a:rPr b="0" i="0" lang="en-US" sz="1000" u="none" cap="none" strike="noStrik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rPr>
            </a:br>
            <a:r>
              <a:rPr b="0" i="0" lang="en-US" sz="1000" u="none" cap="none" strike="noStrik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rPr>
              <a:t>For a graph with </a:t>
            </a:r>
            <a:r>
              <a:rPr b="1" i="0" lang="en-US" sz="1000" u="none" cap="none" strike="noStrik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rPr>
              <a:t>N vertices</a:t>
            </a:r>
            <a:r>
              <a:rPr b="0" i="0" lang="en-US" sz="1000" u="none" cap="none" strike="noStrik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rPr>
              <a:t> and </a:t>
            </a:r>
            <a:r>
              <a:rPr b="1" i="0" lang="en-US" sz="1000" u="none" cap="none" strike="noStrik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rPr>
              <a:t>M edges</a:t>
            </a:r>
            <a:r>
              <a:rPr b="0" i="0" lang="en-US" sz="1000" u="none" cap="none" strike="noStrik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rPr>
              <a:t>, the space complexity is </a:t>
            </a:r>
            <a:r>
              <a:rPr b="1" i="0" lang="en-US" sz="1000" u="none" cap="none" strike="noStrik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rPr>
              <a:t>O(N + M)</a:t>
            </a:r>
            <a:r>
              <a:rPr b="0" i="0" lang="en-US" sz="1000" u="none" cap="none" strike="noStrik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rPr>
              <a:t>.</a:t>
            </a:r>
            <a:endParaRPr b="0" i="0" sz="1000" u="none" cap="none" strike="noStrike">
              <a:solidFill>
                <a:schemeClr val="dk1"/>
              </a:solidFill>
              <a:latin typeface="Tahoma"/>
              <a:ea typeface="Tahoma"/>
              <a:cs typeface="Tahoma"/>
              <a:sym typeface="Tahoma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t/>
            </a:r>
            <a:endParaRPr b="0" i="0" sz="1000" u="none" cap="none" strike="noStrike">
              <a:solidFill>
                <a:schemeClr val="dk1"/>
              </a:solidFill>
              <a:latin typeface="Tahoma"/>
              <a:ea typeface="Tahoma"/>
              <a:cs typeface="Tahoma"/>
              <a:sym typeface="Tahoma"/>
            </a:endParaRPr>
          </a:p>
          <a:p>
            <a:pPr indent="-29210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Tahoma"/>
              <a:buChar char="•"/>
            </a:pPr>
            <a:r>
              <a:rPr b="0" i="0" lang="en-US" sz="1000" u="none" cap="none" strike="noStrik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rPr>
              <a:t>In an </a:t>
            </a:r>
            <a:r>
              <a:rPr b="1" i="0" lang="en-US" sz="1000" u="none" cap="none" strike="noStrik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rPr>
              <a:t>undirected graph</a:t>
            </a:r>
            <a:r>
              <a:rPr b="0" i="0" lang="en-US" sz="1000" u="none" cap="none" strike="noStrik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rPr>
              <a:t>, the total number of entries across all adjacency lists is </a:t>
            </a:r>
            <a:r>
              <a:rPr b="1" i="0" lang="en-US" sz="1000" u="none" cap="none" strike="noStrik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rPr>
              <a:t>2M</a:t>
            </a:r>
            <a:r>
              <a:rPr b="0" i="0" lang="en-US" sz="1000" u="none" cap="none" strike="noStrik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rPr>
              <a:t> /2E</a:t>
            </a:r>
            <a:endParaRPr b="0" i="0" sz="1000" u="none" cap="none" strike="noStrike">
              <a:solidFill>
                <a:schemeClr val="dk1"/>
              </a:solidFill>
              <a:latin typeface="Tahoma"/>
              <a:ea typeface="Tahoma"/>
              <a:cs typeface="Tahoma"/>
              <a:sym typeface="Tahoma"/>
            </a:endParaRPr>
          </a:p>
          <a:p>
            <a:pPr indent="-120650" lvl="1" marL="9144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Tahoma"/>
              <a:buChar char="○"/>
            </a:pPr>
            <a:r>
              <a:rPr b="0" i="0" lang="en-US" sz="1000" u="none" cap="none" strike="noStrik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rPr>
              <a:t>Since each edge is stored twice.</a:t>
            </a:r>
            <a:endParaRPr b="0" i="0" sz="1000" u="none" cap="none" strike="noStrike">
              <a:solidFill>
                <a:schemeClr val="dk1"/>
              </a:solidFill>
              <a:latin typeface="Tahoma"/>
              <a:ea typeface="Tahoma"/>
              <a:cs typeface="Tahoma"/>
              <a:sym typeface="Tahoma"/>
            </a:endParaRPr>
          </a:p>
          <a:p>
            <a:pPr indent="-29210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Tahoma"/>
              <a:buChar char="•"/>
            </a:pPr>
            <a:r>
              <a:rPr b="0" i="0" lang="en-US" sz="1000" u="none" cap="none" strike="noStrik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rPr>
              <a:t>In a </a:t>
            </a:r>
            <a:r>
              <a:rPr b="1" i="0" lang="en-US" sz="1000" u="none" cap="none" strike="noStrik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rPr>
              <a:t>directed graph</a:t>
            </a:r>
            <a:r>
              <a:rPr b="0" i="0" lang="en-US" sz="1000" u="none" cap="none" strike="noStrik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rPr>
              <a:t>, the total number of entries is </a:t>
            </a:r>
            <a:r>
              <a:rPr b="1" i="0" lang="en-US" sz="1000" u="none" cap="none" strike="noStrik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rPr>
              <a:t>M</a:t>
            </a:r>
            <a:r>
              <a:rPr b="0" i="0" lang="en-US" sz="1000" u="none" cap="none" strike="noStrik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rPr>
              <a:t> /E</a:t>
            </a:r>
            <a:endParaRPr b="0" i="0" sz="1000" u="none" cap="none" strike="noStrike">
              <a:solidFill>
                <a:schemeClr val="dk1"/>
              </a:solidFill>
              <a:latin typeface="Tahoma"/>
              <a:ea typeface="Tahoma"/>
              <a:cs typeface="Tahoma"/>
              <a:sym typeface="Tahoma"/>
            </a:endParaRPr>
          </a:p>
          <a:p>
            <a:pPr indent="-120650" lvl="1" marL="9144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Tahoma"/>
              <a:buChar char="○"/>
            </a:pPr>
            <a:r>
              <a:rPr b="0" i="0" lang="en-US" sz="1000" u="none" cap="none" strike="noStrik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rPr>
              <a:t>Each edge is stored once.</a:t>
            </a:r>
            <a:br>
              <a:rPr b="0" i="0" lang="en-US" sz="1000" u="none" cap="none" strike="noStrik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rPr>
            </a:br>
            <a:endParaRPr b="0" i="0" sz="1000" u="none" cap="none" strike="noStrike">
              <a:solidFill>
                <a:schemeClr val="dk1"/>
              </a:solidFill>
              <a:latin typeface="Tahoma"/>
              <a:ea typeface="Tahoma"/>
              <a:cs typeface="Tahoma"/>
              <a:sym typeface="Tahoma"/>
            </a:endParaRPr>
          </a:p>
          <a:p>
            <a:pPr indent="-29210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Tahoma"/>
              <a:buChar char="•"/>
            </a:pPr>
            <a:r>
              <a:rPr b="0" i="0" lang="en-US" sz="1000" u="none" cap="none" strike="noStrik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rPr>
              <a:t>For an </a:t>
            </a:r>
            <a:r>
              <a:rPr b="1" i="0" lang="en-US" sz="1000" u="none" cap="none" strike="noStrik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rPr>
              <a:t>undirected</a:t>
            </a:r>
            <a:r>
              <a:rPr b="0" i="0" lang="en-US" sz="1000" u="none" cap="none" strike="noStrik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rPr>
              <a:t> graph: Time to list all vertices adjacent to vertex </a:t>
            </a:r>
            <a:r>
              <a:rPr b="0" i="1" lang="en-US" sz="1000" u="none" cap="none" strike="noStrik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rPr>
              <a:t>u</a:t>
            </a:r>
            <a:r>
              <a:rPr b="0" i="0" lang="en-US" sz="1000" u="none" cap="none" strike="noStrik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rPr>
              <a:t>: </a:t>
            </a:r>
            <a:r>
              <a:rPr b="1" i="0" lang="en-US" sz="1000" u="none" cap="none" strike="noStrik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rPr>
              <a:t>Θ(degree(u))</a:t>
            </a:r>
            <a:endParaRPr b="1" i="0" sz="1000" u="none" cap="none" strike="noStrike">
              <a:solidFill>
                <a:schemeClr val="dk1"/>
              </a:solidFill>
              <a:latin typeface="Tahoma"/>
              <a:ea typeface="Tahoma"/>
              <a:cs typeface="Tahoma"/>
              <a:sym typeface="Tahoma"/>
            </a:endParaRPr>
          </a:p>
          <a:p>
            <a:pPr indent="-29210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Tahoma"/>
              <a:buChar char="•"/>
            </a:pPr>
            <a:r>
              <a:rPr b="0" i="0" lang="en-US" sz="1000" u="none" cap="none" strike="noStrik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rPr>
              <a:t>For a </a:t>
            </a:r>
            <a:r>
              <a:rPr b="1" i="0" lang="en-US" sz="1000" u="none" cap="none" strike="noStrik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rPr>
              <a:t>directed</a:t>
            </a:r>
            <a:r>
              <a:rPr b="0" i="0" lang="en-US" sz="1000" u="none" cap="none" strike="noStrik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rPr>
              <a:t> graph: Time to list all vertices adjacent to vertex </a:t>
            </a:r>
            <a:r>
              <a:rPr b="0" i="1" lang="en-US" sz="1000" u="none" cap="none" strike="noStrik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rPr>
              <a:t>u</a:t>
            </a:r>
            <a:r>
              <a:rPr b="0" i="0" lang="en-US" sz="1000" u="none" cap="none" strike="noStrik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rPr>
              <a:t>: </a:t>
            </a:r>
            <a:r>
              <a:rPr b="1" i="0" lang="en-US" sz="1000" u="none" cap="none" strike="noStrik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rPr>
              <a:t>Θ(outdegree(u))</a:t>
            </a:r>
            <a:endParaRPr b="1" i="0" sz="1000" u="none" cap="none" strike="noStrike">
              <a:solidFill>
                <a:schemeClr val="dk1"/>
              </a:solidFill>
              <a:latin typeface="Tahoma"/>
              <a:ea typeface="Tahoma"/>
              <a:cs typeface="Tahoma"/>
              <a:sym typeface="Tahoma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</a:pPr>
            <a:r>
              <a:t/>
            </a:r>
            <a:endParaRPr b="0" i="0" sz="1000" u="none" cap="none" strike="noStrike">
              <a:solidFill>
                <a:schemeClr val="dk1"/>
              </a:solidFill>
              <a:latin typeface="Tahoma"/>
              <a:ea typeface="Tahoma"/>
              <a:cs typeface="Tahoma"/>
              <a:sym typeface="Tahoma"/>
            </a:endParaRPr>
          </a:p>
        </p:txBody>
      </p:sp>
    </p:spTree>
  </p:cSld>
  <p:clrMapOvr>
    <a:masterClrMapping/>
  </p:clrMapOvr>
</p:sld>
</file>

<file path=ppt/slides/slide4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469" name="Shape 46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70" name="Google Shape;470;g3534be74e08_0_58"/>
          <p:cNvSpPr txBox="1"/>
          <p:nvPr/>
        </p:nvSpPr>
        <p:spPr>
          <a:xfrm>
            <a:off x="1002800" y="188550"/>
            <a:ext cx="3760200" cy="2745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12700">
            <a:spAutoFit/>
          </a:bodyPr>
          <a:lstStyle/>
          <a:p>
            <a:pPr indent="0" lvl="0" marL="127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700"/>
              <a:buFont typeface="Arial"/>
              <a:buNone/>
            </a:pPr>
            <a:r>
              <a:rPr b="0" i="0" lang="en-US" sz="1700" u="none" cap="none" strike="noStrike">
                <a:solidFill>
                  <a:srgbClr val="334669"/>
                </a:solidFill>
                <a:latin typeface="Tahoma"/>
                <a:ea typeface="Tahoma"/>
                <a:cs typeface="Tahoma"/>
                <a:sym typeface="Tahoma"/>
              </a:rPr>
              <a:t>Comparison of graph representations</a:t>
            </a:r>
            <a:endParaRPr b="0" i="0" sz="1700" u="none" cap="none" strike="noStrike">
              <a:solidFill>
                <a:srgbClr val="000000"/>
              </a:solidFill>
              <a:latin typeface="Tahoma"/>
              <a:ea typeface="Tahoma"/>
              <a:cs typeface="Tahoma"/>
              <a:sym typeface="Tahoma"/>
            </a:endParaRPr>
          </a:p>
        </p:txBody>
      </p:sp>
      <p:sp>
        <p:nvSpPr>
          <p:cNvPr id="471" name="Google Shape;471;g3534be74e08_0_58"/>
          <p:cNvSpPr txBox="1"/>
          <p:nvPr/>
        </p:nvSpPr>
        <p:spPr>
          <a:xfrm>
            <a:off x="130251" y="3106281"/>
            <a:ext cx="983700" cy="197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12700">
            <a:spAutoFit/>
          </a:bodyPr>
          <a:lstStyle/>
          <a:p>
            <a:pPr indent="0" lvl="0" marL="127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600"/>
              <a:buFont typeface="Arial"/>
              <a:buNone/>
            </a:pPr>
            <a:r>
              <a:rPr b="0" i="0" lang="en-US" sz="600" u="sng" cap="none" strike="noStrike">
                <a:solidFill>
                  <a:srgbClr val="0000FF"/>
                </a:solidFill>
                <a:latin typeface="Tahoma"/>
                <a:ea typeface="Tahoma"/>
                <a:cs typeface="Tahoma"/>
                <a:sym typeface="Tahoma"/>
              </a:rPr>
              <a:t>Graph representation Ch 22.1</a:t>
            </a:r>
            <a:endParaRPr b="0" i="0" sz="600" u="none" cap="none" strike="noStrike">
              <a:solidFill>
                <a:srgbClr val="000000"/>
              </a:solidFill>
              <a:latin typeface="Tahoma"/>
              <a:ea typeface="Tahoma"/>
              <a:cs typeface="Tahoma"/>
              <a:sym typeface="Tahoma"/>
            </a:endParaRPr>
          </a:p>
        </p:txBody>
      </p:sp>
      <p:pic>
        <p:nvPicPr>
          <p:cNvPr id="472" name="Google Shape;472;g3534be74e08_0_58" title="graph.png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84700" y="805300"/>
            <a:ext cx="2181350" cy="1739625"/>
          </a:xfrm>
          <a:prstGeom prst="rect">
            <a:avLst/>
          </a:prstGeom>
          <a:noFill/>
          <a:ln>
            <a:noFill/>
          </a:ln>
        </p:spPr>
      </p:pic>
      <p:pic>
        <p:nvPicPr>
          <p:cNvPr id="473" name="Google Shape;473;g3534be74e08_0_58" title="graph1.png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2315663" y="745699"/>
            <a:ext cx="2035290" cy="2213925"/>
          </a:xfrm>
          <a:prstGeom prst="rect">
            <a:avLst/>
          </a:prstGeom>
          <a:noFill/>
          <a:ln>
            <a:noFill/>
          </a:ln>
        </p:spPr>
      </p:pic>
      <p:pic>
        <p:nvPicPr>
          <p:cNvPr id="474" name="Google Shape;474;g3534be74e08_0_58" title="graph2.png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4400575" y="590500"/>
            <a:ext cx="1242375" cy="239385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5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478" name="Shape 47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79" name="Google Shape;479;g3220fd27c11_5_412"/>
          <p:cNvSpPr txBox="1"/>
          <p:nvPr/>
        </p:nvSpPr>
        <p:spPr>
          <a:xfrm>
            <a:off x="490600" y="108975"/>
            <a:ext cx="4836600" cy="2745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12700">
            <a:spAutoFit/>
          </a:bodyPr>
          <a:lstStyle/>
          <a:p>
            <a:pPr indent="0" lvl="0" marL="127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700"/>
              <a:buFont typeface="Arial"/>
              <a:buNone/>
            </a:pPr>
            <a:r>
              <a:rPr b="0" i="0" lang="en-US" sz="1700" u="none" cap="none" strike="noStrike">
                <a:solidFill>
                  <a:srgbClr val="334669"/>
                </a:solidFill>
                <a:latin typeface="Tahoma"/>
                <a:ea typeface="Tahoma"/>
                <a:cs typeface="Tahoma"/>
                <a:sym typeface="Tahoma"/>
              </a:rPr>
              <a:t>Comparison of undirected graph representations</a:t>
            </a:r>
            <a:endParaRPr b="0" i="0" sz="1700" u="none" cap="none" strike="noStrike">
              <a:solidFill>
                <a:srgbClr val="000000"/>
              </a:solidFill>
              <a:latin typeface="Tahoma"/>
              <a:ea typeface="Tahoma"/>
              <a:cs typeface="Tahoma"/>
              <a:sym typeface="Tahoma"/>
            </a:endParaRPr>
          </a:p>
        </p:txBody>
      </p:sp>
      <p:sp>
        <p:nvSpPr>
          <p:cNvPr id="480" name="Google Shape;480;g3220fd27c11_5_412"/>
          <p:cNvSpPr txBox="1"/>
          <p:nvPr/>
        </p:nvSpPr>
        <p:spPr>
          <a:xfrm>
            <a:off x="130251" y="3106281"/>
            <a:ext cx="983700" cy="197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12700">
            <a:spAutoFit/>
          </a:bodyPr>
          <a:lstStyle/>
          <a:p>
            <a:pPr indent="0" lvl="0" marL="127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600"/>
              <a:buFont typeface="Arial"/>
              <a:buNone/>
            </a:pPr>
            <a:r>
              <a:rPr b="0" i="0" lang="en-US" sz="600" u="sng" cap="none" strike="noStrike">
                <a:solidFill>
                  <a:srgbClr val="0000FF"/>
                </a:solidFill>
                <a:latin typeface="Tahoma"/>
                <a:ea typeface="Tahoma"/>
                <a:cs typeface="Tahoma"/>
                <a:sym typeface="Tahoma"/>
              </a:rPr>
              <a:t>Graph representation Ch 22.1</a:t>
            </a:r>
            <a:endParaRPr b="0" i="0" sz="600" u="none" cap="none" strike="noStrike">
              <a:solidFill>
                <a:srgbClr val="000000"/>
              </a:solidFill>
              <a:latin typeface="Tahoma"/>
              <a:ea typeface="Tahoma"/>
              <a:cs typeface="Tahoma"/>
              <a:sym typeface="Tahoma"/>
            </a:endParaRPr>
          </a:p>
        </p:txBody>
      </p:sp>
      <p:graphicFrame>
        <p:nvGraphicFramePr>
          <p:cNvPr id="481" name="Google Shape;481;g3220fd27c11_5_412"/>
          <p:cNvGraphicFramePr/>
          <p:nvPr/>
        </p:nvGraphicFramePr>
        <p:xfrm>
          <a:off x="173967" y="1917809"/>
          <a:ext cx="3000000" cy="3000000"/>
        </p:xfrm>
        <a:graphic>
          <a:graphicData uri="http://schemas.openxmlformats.org/drawingml/2006/table">
            <a:tbl>
              <a:tblPr bandRow="1" firstRow="1">
                <a:noFill/>
                <a:tableStyleId>{21AF7ECD-3733-4280-87E1-7B343A0D3181}</a:tableStyleId>
              </a:tblPr>
              <a:tblGrid>
                <a:gridCol w="3138250"/>
                <a:gridCol w="1036425"/>
                <a:gridCol w="1221225"/>
              </a:tblGrid>
              <a:tr h="191775">
                <a:tc>
                  <a:txBody>
                    <a:bodyPr/>
                    <a:lstStyle/>
                    <a:p>
                      <a:pPr indent="0" lvl="0" marL="570865" marR="0" rtl="0" algn="l">
                        <a:lnSpc>
                          <a:spcPct val="108181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100"/>
                        <a:buFont typeface="Arial"/>
                        <a:buNone/>
                      </a:pPr>
                      <a:r>
                        <a:rPr lang="en-US" sz="1000" u="none" cap="none" strike="noStrike"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Operation</a:t>
                      </a:r>
                      <a:endParaRPr sz="100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0" marB="0" marR="0" marL="0"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78105" marR="0" rtl="0" algn="l">
                        <a:lnSpc>
                          <a:spcPct val="108181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100"/>
                        <a:buFont typeface="Arial"/>
                        <a:buNone/>
                      </a:pPr>
                      <a:r>
                        <a:rPr lang="en-US" sz="1000" u="none" cap="none" strike="noStrike"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Adjacency matrix</a:t>
                      </a:r>
                      <a:endParaRPr sz="100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0" marB="0" marR="0" marL="0"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80645" marR="0" rtl="0" algn="l">
                        <a:lnSpc>
                          <a:spcPct val="108181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100"/>
                        <a:buFont typeface="Arial"/>
                        <a:buNone/>
                      </a:pPr>
                      <a:r>
                        <a:rPr lang="en-US" sz="1000" u="none" cap="none" strike="noStrike"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Adjacency list</a:t>
                      </a:r>
                      <a:endParaRPr sz="100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0" marB="0" marR="0" marL="0"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179700">
                <a:tc>
                  <a:txBody>
                    <a:bodyPr/>
                    <a:lstStyle/>
                    <a:p>
                      <a:pPr indent="0" lvl="0" marL="75565" marR="0" rtl="0" algn="l">
                        <a:lnSpc>
                          <a:spcPct val="11909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100"/>
                        <a:buFont typeface="Arial"/>
                        <a:buNone/>
                      </a:pPr>
                      <a:r>
                        <a:rPr lang="en-US" sz="1000" u="none" cap="none" strike="noStrike"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Is </a:t>
                      </a:r>
                      <a:r>
                        <a:rPr lang="en-US" sz="1000" u="none" cap="none" strike="noStrike">
                          <a:latin typeface="Lucida Sans"/>
                          <a:ea typeface="Lucida Sans"/>
                          <a:cs typeface="Lucida Sans"/>
                          <a:sym typeface="Lucida Sans"/>
                        </a:rPr>
                        <a:t>(</a:t>
                      </a:r>
                      <a:r>
                        <a:rPr i="1" lang="en-US" sz="1000" u="none" cap="none" strike="noStrike"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u</a:t>
                      </a:r>
                      <a:r>
                        <a:rPr b="0" i="1" lang="en-US" sz="1000" u="none" cap="none" strike="noStrike">
                          <a:latin typeface="Bookman Old Style"/>
                          <a:ea typeface="Bookman Old Style"/>
                          <a:cs typeface="Bookman Old Style"/>
                          <a:sym typeface="Bookman Old Style"/>
                        </a:rPr>
                        <a:t>, </a:t>
                      </a:r>
                      <a:r>
                        <a:rPr i="1" lang="en-US" sz="1000" u="none" cap="none" strike="noStrike"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v </a:t>
                      </a:r>
                      <a:r>
                        <a:rPr lang="en-US" sz="1000" u="none" cap="none" strike="noStrike">
                          <a:latin typeface="Lucida Sans"/>
                          <a:ea typeface="Lucida Sans"/>
                          <a:cs typeface="Lucida Sans"/>
                          <a:sym typeface="Lucida Sans"/>
                        </a:rPr>
                        <a:t>) </a:t>
                      </a:r>
                      <a:r>
                        <a:rPr i="1" lang="en-US" sz="1000" u="none" cap="none" strike="noStrike">
                          <a:latin typeface="Arial"/>
                          <a:ea typeface="Arial"/>
                          <a:cs typeface="Arial"/>
                          <a:sym typeface="Arial"/>
                        </a:rPr>
                        <a:t>∈ </a:t>
                      </a:r>
                      <a:r>
                        <a:rPr i="1" lang="en-US" sz="1000" u="none" cap="none" strike="noStrike"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E </a:t>
                      </a:r>
                      <a:r>
                        <a:rPr lang="en-US" sz="1000" u="none" cap="none" strike="noStrike"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? [Is there any connection between u and v?]</a:t>
                      </a:r>
                      <a:endParaRPr sz="100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0" marB="0" marR="0" marL="0"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</a:tcPr>
                </a:tc>
                <a:tc>
                  <a:txBody>
                    <a:bodyPr/>
                    <a:lstStyle/>
                    <a:p>
                      <a:pPr indent="0" lvl="0" marL="78105" marR="0" rtl="0" algn="l">
                        <a:lnSpc>
                          <a:spcPct val="11909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100"/>
                        <a:buFont typeface="Arial"/>
                        <a:buNone/>
                      </a:pPr>
                      <a:r>
                        <a:rPr lang="en-US" sz="1000" u="none" cap="none" strike="noStrike">
                          <a:latin typeface="Lucida Sans"/>
                          <a:ea typeface="Lucida Sans"/>
                          <a:cs typeface="Lucida Sans"/>
                          <a:sym typeface="Lucida Sans"/>
                        </a:rPr>
                        <a:t>Θ(</a:t>
                      </a:r>
                      <a:r>
                        <a:rPr lang="en-US" sz="1000" u="none" cap="none" strike="noStrike"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1</a:t>
                      </a:r>
                      <a:r>
                        <a:rPr lang="en-US" sz="1000" u="none" cap="none" strike="noStrike">
                          <a:latin typeface="Lucida Sans"/>
                          <a:ea typeface="Lucida Sans"/>
                          <a:cs typeface="Lucida Sans"/>
                          <a:sym typeface="Lucida Sans"/>
                        </a:rPr>
                        <a:t>)</a:t>
                      </a:r>
                      <a:endParaRPr sz="1000" u="none" cap="none" strike="noStrike">
                        <a:latin typeface="Lucida Sans"/>
                        <a:ea typeface="Lucida Sans"/>
                        <a:cs typeface="Lucida Sans"/>
                        <a:sym typeface="Lucida Sans"/>
                      </a:endParaRPr>
                    </a:p>
                  </a:txBody>
                  <a:tcPr marT="0" marB="0" marR="0" marL="0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</a:tcPr>
                </a:tc>
                <a:tc>
                  <a:txBody>
                    <a:bodyPr/>
                    <a:lstStyle/>
                    <a:p>
                      <a:pPr indent="0" lvl="0" marL="75565" marR="0" rtl="0" algn="l">
                        <a:lnSpc>
                          <a:spcPct val="11909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100"/>
                        <a:buFont typeface="Arial"/>
                        <a:buNone/>
                      </a:pPr>
                      <a:r>
                        <a:rPr lang="en-US" sz="1000" u="none" cap="none" strike="noStrike">
                          <a:latin typeface="Lucida Sans"/>
                          <a:ea typeface="Lucida Sans"/>
                          <a:cs typeface="Lucida Sans"/>
                          <a:sym typeface="Lucida Sans"/>
                        </a:rPr>
                        <a:t>Θ(</a:t>
                      </a:r>
                      <a:r>
                        <a:rPr i="1" lang="en-US" sz="1000" u="none" cap="none" strike="noStrike"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deg </a:t>
                      </a:r>
                      <a:r>
                        <a:rPr lang="en-US" sz="1000" u="none" cap="none" strike="noStrike">
                          <a:latin typeface="Lucida Sans"/>
                          <a:ea typeface="Lucida Sans"/>
                          <a:cs typeface="Lucida Sans"/>
                          <a:sym typeface="Lucida Sans"/>
                        </a:rPr>
                        <a:t>(</a:t>
                      </a:r>
                      <a:r>
                        <a:rPr i="1" lang="en-US" sz="1000" u="none" cap="none" strike="noStrike"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u</a:t>
                      </a:r>
                      <a:r>
                        <a:rPr lang="en-US" sz="1000" u="none" cap="none" strike="noStrike">
                          <a:latin typeface="Lucida Sans"/>
                          <a:ea typeface="Lucida Sans"/>
                          <a:cs typeface="Lucida Sans"/>
                          <a:sym typeface="Lucida Sans"/>
                        </a:rPr>
                        <a:t>))</a:t>
                      </a:r>
                      <a:endParaRPr sz="1000" u="none" cap="none" strike="noStrike">
                        <a:latin typeface="Lucida Sans"/>
                        <a:ea typeface="Lucida Sans"/>
                        <a:cs typeface="Lucida Sans"/>
                        <a:sym typeface="Lucida Sans"/>
                      </a:endParaRPr>
                    </a:p>
                  </a:txBody>
                  <a:tcPr marT="0" marB="0" marR="0" marL="0"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</a:tcPr>
                </a:tc>
              </a:tr>
              <a:tr h="164475">
                <a:tc>
                  <a:txBody>
                    <a:bodyPr/>
                    <a:lstStyle/>
                    <a:p>
                      <a:pPr indent="0" lvl="0" marL="75565" marR="0" rtl="0" algn="l">
                        <a:lnSpc>
                          <a:spcPct val="108636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100"/>
                        <a:buFont typeface="Arial"/>
                        <a:buNone/>
                      </a:pPr>
                      <a:r>
                        <a:rPr lang="en-US" sz="1000" u="none" cap="none" strike="noStrike"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List edges outgoing from </a:t>
                      </a:r>
                      <a:r>
                        <a:rPr i="1" lang="en-US" sz="1000" u="none" cap="none" strike="noStrike"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u</a:t>
                      </a:r>
                      <a:endParaRPr sz="100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0" marB="0" marR="0" marL="0"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</a:tcPr>
                </a:tc>
                <a:tc>
                  <a:txBody>
                    <a:bodyPr/>
                    <a:lstStyle/>
                    <a:p>
                      <a:pPr indent="0" lvl="0" marL="78105" marR="0" rtl="0" algn="l">
                        <a:lnSpc>
                          <a:spcPct val="108636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100"/>
                        <a:buFont typeface="Arial"/>
                        <a:buNone/>
                      </a:pPr>
                      <a:r>
                        <a:rPr lang="en-US" sz="1000" u="none" cap="none" strike="noStrike">
                          <a:latin typeface="Lucida Sans"/>
                          <a:ea typeface="Lucida Sans"/>
                          <a:cs typeface="Lucida Sans"/>
                          <a:sym typeface="Lucida Sans"/>
                        </a:rPr>
                        <a:t>Θ(</a:t>
                      </a:r>
                      <a:r>
                        <a:rPr i="1" lang="en-US" sz="1000" u="none" cap="none" strike="noStrike"/>
                        <a:t>n</a:t>
                      </a:r>
                      <a:r>
                        <a:rPr lang="en-US" sz="1000" u="none" cap="none" strike="noStrike">
                          <a:latin typeface="Lucida Sans"/>
                          <a:ea typeface="Lucida Sans"/>
                          <a:cs typeface="Lucida Sans"/>
                          <a:sym typeface="Lucida Sans"/>
                        </a:rPr>
                        <a:t>) or </a:t>
                      </a:r>
                      <a:r>
                        <a:rPr lang="en-US" sz="1000" u="none" cap="none" strike="noStrike">
                          <a:solidFill>
                            <a:schemeClr val="dk1"/>
                          </a:solidFill>
                          <a:latin typeface="Lucida Sans"/>
                          <a:ea typeface="Lucida Sans"/>
                          <a:cs typeface="Lucida Sans"/>
                          <a:sym typeface="Lucida Sans"/>
                        </a:rPr>
                        <a:t>Θ(</a:t>
                      </a:r>
                      <a:r>
                        <a:rPr i="1" lang="en-US" sz="1000" u="none" cap="none" strike="noStrike">
                          <a:solidFill>
                            <a:schemeClr val="dk1"/>
                          </a:solidFill>
                        </a:rPr>
                        <a:t>V</a:t>
                      </a:r>
                      <a:r>
                        <a:rPr lang="en-US" sz="1000" u="none" cap="none" strike="noStrike">
                          <a:solidFill>
                            <a:schemeClr val="dk1"/>
                          </a:solidFill>
                          <a:latin typeface="Lucida Sans"/>
                          <a:ea typeface="Lucida Sans"/>
                          <a:cs typeface="Lucida Sans"/>
                          <a:sym typeface="Lucida Sans"/>
                        </a:rPr>
                        <a:t>)</a:t>
                      </a:r>
                      <a:endParaRPr sz="1000" u="none" cap="none" strike="noStrike">
                        <a:latin typeface="Lucida Sans"/>
                        <a:ea typeface="Lucida Sans"/>
                        <a:cs typeface="Lucida Sans"/>
                        <a:sym typeface="Lucida Sans"/>
                      </a:endParaRPr>
                    </a:p>
                  </a:txBody>
                  <a:tcPr marT="0" marB="0" marR="0" marL="0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</a:tcPr>
                </a:tc>
                <a:tc>
                  <a:txBody>
                    <a:bodyPr/>
                    <a:lstStyle/>
                    <a:p>
                      <a:pPr indent="0" lvl="0" marL="75565" marR="0" rtl="0" algn="l">
                        <a:lnSpc>
                          <a:spcPct val="108636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100"/>
                        <a:buFont typeface="Arial"/>
                        <a:buNone/>
                      </a:pPr>
                      <a:r>
                        <a:rPr lang="en-US" sz="1000" u="none" cap="none" strike="noStrike">
                          <a:latin typeface="Lucida Sans"/>
                          <a:ea typeface="Lucida Sans"/>
                          <a:cs typeface="Lucida Sans"/>
                          <a:sym typeface="Lucida Sans"/>
                        </a:rPr>
                        <a:t>Θ(</a:t>
                      </a:r>
                      <a:r>
                        <a:rPr i="1" lang="en-US" sz="1000" u="none" cap="none" strike="noStrike"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deg </a:t>
                      </a:r>
                      <a:r>
                        <a:rPr lang="en-US" sz="1000" u="none" cap="none" strike="noStrike">
                          <a:latin typeface="Lucida Sans"/>
                          <a:ea typeface="Lucida Sans"/>
                          <a:cs typeface="Lucida Sans"/>
                          <a:sym typeface="Lucida Sans"/>
                        </a:rPr>
                        <a:t>(</a:t>
                      </a:r>
                      <a:r>
                        <a:rPr i="1" lang="en-US" sz="1000" u="none" cap="none" strike="noStrike"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u</a:t>
                      </a:r>
                      <a:r>
                        <a:rPr lang="en-US" sz="1000" u="none" cap="none" strike="noStrike">
                          <a:latin typeface="Lucida Sans"/>
                          <a:ea typeface="Lucida Sans"/>
                          <a:cs typeface="Lucida Sans"/>
                          <a:sym typeface="Lucida Sans"/>
                        </a:rPr>
                        <a:t>))</a:t>
                      </a:r>
                      <a:endParaRPr sz="1000" u="none" cap="none" strike="noStrike">
                        <a:latin typeface="Lucida Sans"/>
                        <a:ea typeface="Lucida Sans"/>
                        <a:cs typeface="Lucida Sans"/>
                        <a:sym typeface="Lucida Sans"/>
                      </a:endParaRPr>
                    </a:p>
                  </a:txBody>
                  <a:tcPr marT="0" marB="0" marR="0" marL="0"/>
                </a:tc>
              </a:tr>
              <a:tr h="191125">
                <a:tc>
                  <a:txBody>
                    <a:bodyPr/>
                    <a:lstStyle/>
                    <a:p>
                      <a:pPr indent="0" lvl="0" marL="75565" marR="0" rtl="0" algn="l">
                        <a:lnSpc>
                          <a:spcPct val="118636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100"/>
                        <a:buFont typeface="Arial"/>
                        <a:buNone/>
                      </a:pPr>
                      <a:r>
                        <a:rPr lang="en-US" sz="1000" u="none" cap="none" strike="noStrike"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Memory</a:t>
                      </a:r>
                      <a:endParaRPr sz="100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0" marB="0" marR="0" marL="0"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78105" marR="0" rtl="0" algn="l">
                        <a:lnSpc>
                          <a:spcPct val="10875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100"/>
                        <a:buFont typeface="Arial"/>
                        <a:buNone/>
                      </a:pPr>
                      <a:r>
                        <a:rPr lang="en-US" sz="1000" u="none" cap="none" strike="noStrike">
                          <a:latin typeface="Lucida Sans"/>
                          <a:ea typeface="Lucida Sans"/>
                          <a:cs typeface="Lucida Sans"/>
                          <a:sym typeface="Lucida Sans"/>
                        </a:rPr>
                        <a:t>Θ(</a:t>
                      </a:r>
                      <a:r>
                        <a:rPr i="1" lang="en-US" sz="1000" u="none" cap="none" strike="noStrike"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n</a:t>
                      </a:r>
                      <a:r>
                        <a:rPr baseline="30000" lang="en-US" sz="1000" u="none" cap="none" strike="noStrike"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2</a:t>
                      </a:r>
                      <a:r>
                        <a:rPr lang="en-US" sz="1000" u="none" cap="none" strike="noStrike">
                          <a:latin typeface="Lucida Sans"/>
                          <a:ea typeface="Lucida Sans"/>
                          <a:cs typeface="Lucida Sans"/>
                          <a:sym typeface="Lucida Sans"/>
                        </a:rPr>
                        <a:t>) or </a:t>
                      </a:r>
                      <a:r>
                        <a:rPr lang="en-US" sz="1000" u="none" cap="none" strike="noStrike">
                          <a:solidFill>
                            <a:schemeClr val="dk1"/>
                          </a:solidFill>
                          <a:latin typeface="Lucida Sans"/>
                          <a:ea typeface="Lucida Sans"/>
                          <a:cs typeface="Lucida Sans"/>
                          <a:sym typeface="Lucida Sans"/>
                        </a:rPr>
                        <a:t>Θ(</a:t>
                      </a:r>
                      <a:r>
                        <a:rPr i="1" lang="en-US" sz="1000" u="none" cap="none" strike="noStrike">
                          <a:solidFill>
                            <a:schemeClr val="dk1"/>
                          </a:solidFill>
                        </a:rPr>
                        <a:t>V</a:t>
                      </a:r>
                      <a:r>
                        <a:rPr baseline="30000" lang="en-US" sz="1000" u="none" cap="none" strike="noStrike">
                          <a:solidFill>
                            <a:schemeClr val="dk1"/>
                          </a:solidFill>
                        </a:rPr>
                        <a:t>2</a:t>
                      </a:r>
                      <a:r>
                        <a:rPr lang="en-US" sz="1000" u="none" cap="none" strike="noStrike">
                          <a:solidFill>
                            <a:schemeClr val="dk1"/>
                          </a:solidFill>
                          <a:latin typeface="Lucida Sans"/>
                          <a:ea typeface="Lucida Sans"/>
                          <a:cs typeface="Lucida Sans"/>
                          <a:sym typeface="Lucida Sans"/>
                        </a:rPr>
                        <a:t>)</a:t>
                      </a:r>
                      <a:endParaRPr sz="1000" u="none" cap="none" strike="noStrike">
                        <a:latin typeface="Lucida Sans"/>
                        <a:ea typeface="Lucida Sans"/>
                        <a:cs typeface="Lucida Sans"/>
                        <a:sym typeface="Lucida Sans"/>
                      </a:endParaRPr>
                    </a:p>
                  </a:txBody>
                  <a:tcPr marT="0" marB="0" marR="0" marL="0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75565" marR="0" rtl="0" algn="l">
                        <a:lnSpc>
                          <a:spcPct val="118636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100"/>
                        <a:buFont typeface="Arial"/>
                        <a:buNone/>
                      </a:pPr>
                      <a:r>
                        <a:rPr lang="en-US" sz="1000" u="none" cap="none" strike="noStrike">
                          <a:latin typeface="Lucida Sans"/>
                          <a:ea typeface="Lucida Sans"/>
                          <a:cs typeface="Lucida Sans"/>
                          <a:sym typeface="Lucida Sans"/>
                        </a:rPr>
                        <a:t>Θ(</a:t>
                      </a:r>
                      <a:r>
                        <a:rPr i="1" lang="en-US" sz="1000" u="none" cap="none" strike="noStrike"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m </a:t>
                      </a:r>
                      <a:r>
                        <a:rPr lang="en-US" sz="1000" u="none" cap="none" strike="noStrike">
                          <a:latin typeface="Lucida Sans"/>
                          <a:ea typeface="Lucida Sans"/>
                          <a:cs typeface="Lucida Sans"/>
                          <a:sym typeface="Lucida Sans"/>
                        </a:rPr>
                        <a:t>+ </a:t>
                      </a:r>
                      <a:r>
                        <a:rPr i="1" lang="en-US" sz="1000" u="none" cap="none" strike="noStrike"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n</a:t>
                      </a:r>
                      <a:r>
                        <a:rPr lang="en-US" sz="1000" u="none" cap="none" strike="noStrike">
                          <a:latin typeface="Lucida Sans"/>
                          <a:ea typeface="Lucida Sans"/>
                          <a:cs typeface="Lucida Sans"/>
                          <a:sym typeface="Lucida Sans"/>
                        </a:rPr>
                        <a:t>) = </a:t>
                      </a:r>
                      <a:r>
                        <a:rPr lang="en-US" sz="1000" u="none" cap="none" strike="noStrike">
                          <a:solidFill>
                            <a:schemeClr val="dk1"/>
                          </a:solidFill>
                          <a:latin typeface="Lucida Sans"/>
                          <a:ea typeface="Lucida Sans"/>
                          <a:cs typeface="Lucida Sans"/>
                          <a:sym typeface="Lucida Sans"/>
                        </a:rPr>
                        <a:t>Θ(</a:t>
                      </a:r>
                      <a:r>
                        <a:rPr i="1" lang="en-US" sz="1000" u="none" cap="none" strike="noStrike">
                          <a:solidFill>
                            <a:schemeClr val="dk1"/>
                          </a:solidFill>
                        </a:rPr>
                        <a:t>V </a:t>
                      </a:r>
                      <a:r>
                        <a:rPr lang="en-US" sz="1000" u="none" cap="none" strike="noStrike">
                          <a:solidFill>
                            <a:schemeClr val="dk1"/>
                          </a:solidFill>
                          <a:latin typeface="Lucida Sans"/>
                          <a:ea typeface="Lucida Sans"/>
                          <a:cs typeface="Lucida Sans"/>
                          <a:sym typeface="Lucida Sans"/>
                        </a:rPr>
                        <a:t>+ </a:t>
                      </a:r>
                      <a:r>
                        <a:rPr i="1" lang="en-US" sz="1000" u="none" cap="none" strike="noStrike">
                          <a:solidFill>
                            <a:schemeClr val="dk1"/>
                          </a:solidFill>
                        </a:rPr>
                        <a:t>E</a:t>
                      </a:r>
                      <a:r>
                        <a:rPr lang="en-US" sz="1000" u="none" cap="none" strike="noStrike">
                          <a:solidFill>
                            <a:schemeClr val="dk1"/>
                          </a:solidFill>
                          <a:latin typeface="Lucida Sans"/>
                          <a:ea typeface="Lucida Sans"/>
                          <a:cs typeface="Lucida Sans"/>
                          <a:sym typeface="Lucida Sans"/>
                        </a:rPr>
                        <a:t>)</a:t>
                      </a:r>
                      <a:endParaRPr sz="1000" u="none" cap="none" strike="noStrike">
                        <a:latin typeface="Lucida Sans"/>
                        <a:ea typeface="Lucida Sans"/>
                        <a:cs typeface="Lucida Sans"/>
                        <a:sym typeface="Lucida Sans"/>
                      </a:endParaRPr>
                    </a:p>
                  </a:txBody>
                  <a:tcPr marT="0" marB="0" marR="0" marL="0"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</a:tbl>
          </a:graphicData>
        </a:graphic>
      </p:graphicFrame>
      <p:pic>
        <p:nvPicPr>
          <p:cNvPr id="482" name="Google Shape;482;g3220fd27c11_5_412"/>
          <p:cNvPicPr preferRelativeResize="0"/>
          <p:nvPr/>
        </p:nvPicPr>
        <p:blipFill rotWithShape="1">
          <a:blip r:embed="rId3">
            <a:alphaModFix/>
          </a:blip>
          <a:srcRect b="0" l="0" r="49606" t="0"/>
          <a:stretch/>
        </p:blipFill>
        <p:spPr>
          <a:xfrm>
            <a:off x="86775" y="551150"/>
            <a:ext cx="1539349" cy="1303850"/>
          </a:xfrm>
          <a:prstGeom prst="rect">
            <a:avLst/>
          </a:prstGeom>
          <a:noFill/>
          <a:ln>
            <a:noFill/>
          </a:ln>
        </p:spPr>
      </p:pic>
      <p:pic>
        <p:nvPicPr>
          <p:cNvPr id="483" name="Google Shape;483;g3220fd27c11_5_412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1671825" y="551147"/>
            <a:ext cx="3795494" cy="10960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5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487" name="Shape 48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88" name="Google Shape;488;g35359bad66d_0_8"/>
          <p:cNvSpPr txBox="1"/>
          <p:nvPr/>
        </p:nvSpPr>
        <p:spPr>
          <a:xfrm>
            <a:off x="527325" y="108975"/>
            <a:ext cx="4458600" cy="2745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12700">
            <a:spAutoFit/>
          </a:bodyPr>
          <a:lstStyle/>
          <a:p>
            <a:pPr indent="0" lvl="0" marL="127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700"/>
              <a:buFont typeface="Arial"/>
              <a:buNone/>
            </a:pPr>
            <a:r>
              <a:rPr b="0" i="0" lang="en-US" sz="1700" u="none" cap="none" strike="noStrike">
                <a:solidFill>
                  <a:srgbClr val="334669"/>
                </a:solidFill>
                <a:latin typeface="Tahoma"/>
                <a:ea typeface="Tahoma"/>
                <a:cs typeface="Tahoma"/>
                <a:sym typeface="Tahoma"/>
              </a:rPr>
              <a:t>Comparison of directed graph representations</a:t>
            </a:r>
            <a:endParaRPr b="0" i="0" sz="1700" u="none" cap="none" strike="noStrike">
              <a:solidFill>
                <a:srgbClr val="000000"/>
              </a:solidFill>
              <a:latin typeface="Tahoma"/>
              <a:ea typeface="Tahoma"/>
              <a:cs typeface="Tahoma"/>
              <a:sym typeface="Tahoma"/>
            </a:endParaRPr>
          </a:p>
        </p:txBody>
      </p:sp>
      <p:graphicFrame>
        <p:nvGraphicFramePr>
          <p:cNvPr id="489" name="Google Shape;489;g35359bad66d_0_8"/>
          <p:cNvGraphicFramePr/>
          <p:nvPr/>
        </p:nvGraphicFramePr>
        <p:xfrm>
          <a:off x="173967" y="1917809"/>
          <a:ext cx="3000000" cy="3000000"/>
        </p:xfrm>
        <a:graphic>
          <a:graphicData uri="http://schemas.openxmlformats.org/drawingml/2006/table">
            <a:tbl>
              <a:tblPr bandRow="1" firstRow="1">
                <a:noFill/>
                <a:tableStyleId>{21AF7ECD-3733-4280-87E1-7B343A0D3181}</a:tableStyleId>
              </a:tblPr>
              <a:tblGrid>
                <a:gridCol w="3176350"/>
                <a:gridCol w="1046800"/>
                <a:gridCol w="1266275"/>
              </a:tblGrid>
              <a:tr h="191775">
                <a:tc>
                  <a:txBody>
                    <a:bodyPr/>
                    <a:lstStyle/>
                    <a:p>
                      <a:pPr indent="0" lvl="0" marL="570865" marR="0" rtl="0" algn="l">
                        <a:lnSpc>
                          <a:spcPct val="108181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100"/>
                        <a:buFont typeface="Arial"/>
                        <a:buNone/>
                      </a:pPr>
                      <a:r>
                        <a:rPr lang="en-US" sz="1000" u="none" cap="none" strike="noStrike"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Operation</a:t>
                      </a:r>
                      <a:endParaRPr sz="100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0" marB="0" marR="0" marL="0"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78105" marR="0" rtl="0" algn="l">
                        <a:lnSpc>
                          <a:spcPct val="108181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100"/>
                        <a:buFont typeface="Arial"/>
                        <a:buNone/>
                      </a:pPr>
                      <a:r>
                        <a:rPr lang="en-US" sz="1000" u="none" cap="none" strike="noStrike"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Adjacency matrix</a:t>
                      </a:r>
                      <a:endParaRPr sz="100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0" marB="0" marR="0" marL="0"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80645" marR="0" rtl="0" algn="l">
                        <a:lnSpc>
                          <a:spcPct val="108181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100"/>
                        <a:buFont typeface="Arial"/>
                        <a:buNone/>
                      </a:pPr>
                      <a:r>
                        <a:rPr lang="en-US" sz="1000" u="none" cap="none" strike="noStrike"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Adjacency list</a:t>
                      </a:r>
                      <a:endParaRPr sz="100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0" marB="0" marR="0" marL="0"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179700">
                <a:tc>
                  <a:txBody>
                    <a:bodyPr/>
                    <a:lstStyle/>
                    <a:p>
                      <a:pPr indent="0" lvl="0" marL="75565" marR="0" rtl="0" algn="l">
                        <a:lnSpc>
                          <a:spcPct val="11909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100"/>
                        <a:buFont typeface="Arial"/>
                        <a:buNone/>
                      </a:pPr>
                      <a:r>
                        <a:rPr lang="en-US" sz="1000" u="none" cap="none" strike="noStrike"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Is </a:t>
                      </a:r>
                      <a:r>
                        <a:rPr lang="en-US" sz="1000" u="none" cap="none" strike="noStrike">
                          <a:latin typeface="Lucida Sans"/>
                          <a:ea typeface="Lucida Sans"/>
                          <a:cs typeface="Lucida Sans"/>
                          <a:sym typeface="Lucida Sans"/>
                        </a:rPr>
                        <a:t>(</a:t>
                      </a:r>
                      <a:r>
                        <a:rPr i="1" lang="en-US" sz="1000" u="none" cap="none" strike="noStrike"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u</a:t>
                      </a:r>
                      <a:r>
                        <a:rPr b="0" i="1" lang="en-US" sz="1000" u="none" cap="none" strike="noStrike">
                          <a:latin typeface="Bookman Old Style"/>
                          <a:ea typeface="Bookman Old Style"/>
                          <a:cs typeface="Bookman Old Style"/>
                          <a:sym typeface="Bookman Old Style"/>
                        </a:rPr>
                        <a:t>, </a:t>
                      </a:r>
                      <a:r>
                        <a:rPr i="1" lang="en-US" sz="1000" u="none" cap="none" strike="noStrike"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v </a:t>
                      </a:r>
                      <a:r>
                        <a:rPr lang="en-US" sz="1000" u="none" cap="none" strike="noStrike">
                          <a:latin typeface="Lucida Sans"/>
                          <a:ea typeface="Lucida Sans"/>
                          <a:cs typeface="Lucida Sans"/>
                          <a:sym typeface="Lucida Sans"/>
                        </a:rPr>
                        <a:t>) </a:t>
                      </a:r>
                      <a:r>
                        <a:rPr i="1" lang="en-US" sz="1000" u="none" cap="none" strike="noStrike">
                          <a:latin typeface="Arial"/>
                          <a:ea typeface="Arial"/>
                          <a:cs typeface="Arial"/>
                          <a:sym typeface="Arial"/>
                        </a:rPr>
                        <a:t>∈ </a:t>
                      </a:r>
                      <a:r>
                        <a:rPr i="1" lang="en-US" sz="1000" u="none" cap="none" strike="noStrike"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E </a:t>
                      </a:r>
                      <a:r>
                        <a:rPr lang="en-US" sz="1000" u="none" cap="none" strike="noStrike"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? [Is there any connection between u and v?]</a:t>
                      </a:r>
                      <a:endParaRPr sz="100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0" marB="0" marR="0" marL="0"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</a:tcPr>
                </a:tc>
                <a:tc>
                  <a:txBody>
                    <a:bodyPr/>
                    <a:lstStyle/>
                    <a:p>
                      <a:pPr indent="0" lvl="0" marL="78105" marR="0" rtl="0" algn="l">
                        <a:lnSpc>
                          <a:spcPct val="11909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100"/>
                        <a:buFont typeface="Arial"/>
                        <a:buNone/>
                      </a:pPr>
                      <a:r>
                        <a:rPr lang="en-US" sz="1000" u="none" cap="none" strike="noStrike">
                          <a:latin typeface="Lucida Sans"/>
                          <a:ea typeface="Lucida Sans"/>
                          <a:cs typeface="Lucida Sans"/>
                          <a:sym typeface="Lucida Sans"/>
                        </a:rPr>
                        <a:t>Θ(</a:t>
                      </a:r>
                      <a:r>
                        <a:rPr lang="en-US" sz="1000" u="none" cap="none" strike="noStrike"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1</a:t>
                      </a:r>
                      <a:r>
                        <a:rPr lang="en-US" sz="1000" u="none" cap="none" strike="noStrike">
                          <a:latin typeface="Lucida Sans"/>
                          <a:ea typeface="Lucida Sans"/>
                          <a:cs typeface="Lucida Sans"/>
                          <a:sym typeface="Lucida Sans"/>
                        </a:rPr>
                        <a:t>)</a:t>
                      </a:r>
                      <a:endParaRPr sz="1000" u="none" cap="none" strike="noStrike">
                        <a:latin typeface="Lucida Sans"/>
                        <a:ea typeface="Lucida Sans"/>
                        <a:cs typeface="Lucida Sans"/>
                        <a:sym typeface="Lucida Sans"/>
                      </a:endParaRPr>
                    </a:p>
                  </a:txBody>
                  <a:tcPr marT="0" marB="0" marR="0" marL="0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</a:tcPr>
                </a:tc>
                <a:tc>
                  <a:txBody>
                    <a:bodyPr/>
                    <a:lstStyle/>
                    <a:p>
                      <a:pPr indent="0" lvl="0" marL="75565" marR="0" rtl="0" algn="l">
                        <a:lnSpc>
                          <a:spcPct val="11909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100"/>
                        <a:buFont typeface="Arial"/>
                        <a:buNone/>
                      </a:pPr>
                      <a:r>
                        <a:rPr lang="en-US" sz="1000" u="none" cap="none" strike="noStrike">
                          <a:latin typeface="Lucida Sans"/>
                          <a:ea typeface="Lucida Sans"/>
                          <a:cs typeface="Lucida Sans"/>
                          <a:sym typeface="Lucida Sans"/>
                        </a:rPr>
                        <a:t>Θ(</a:t>
                      </a:r>
                      <a:r>
                        <a:rPr lang="en-US" sz="1000" u="none" cap="none" strike="noStrike"/>
                        <a:t>out</a:t>
                      </a:r>
                      <a:r>
                        <a:rPr i="1" lang="en-US" sz="1000" u="none" cap="none" strike="noStrike"/>
                        <a:t>deg</a:t>
                      </a:r>
                      <a:r>
                        <a:rPr i="1" lang="en-US" sz="1000" u="none" cap="none" strike="noStrike"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 </a:t>
                      </a:r>
                      <a:r>
                        <a:rPr lang="en-US" sz="1000" u="none" cap="none" strike="noStrike">
                          <a:latin typeface="Lucida Sans"/>
                          <a:ea typeface="Lucida Sans"/>
                          <a:cs typeface="Lucida Sans"/>
                          <a:sym typeface="Lucida Sans"/>
                        </a:rPr>
                        <a:t>(</a:t>
                      </a:r>
                      <a:r>
                        <a:rPr i="1" lang="en-US" sz="1000" u="none" cap="none" strike="noStrike"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u</a:t>
                      </a:r>
                      <a:r>
                        <a:rPr lang="en-US" sz="1000" u="none" cap="none" strike="noStrike">
                          <a:latin typeface="Lucida Sans"/>
                          <a:ea typeface="Lucida Sans"/>
                          <a:cs typeface="Lucida Sans"/>
                          <a:sym typeface="Lucida Sans"/>
                        </a:rPr>
                        <a:t>))</a:t>
                      </a:r>
                      <a:endParaRPr sz="1000" u="none" cap="none" strike="noStrike">
                        <a:latin typeface="Lucida Sans"/>
                        <a:ea typeface="Lucida Sans"/>
                        <a:cs typeface="Lucida Sans"/>
                        <a:sym typeface="Lucida Sans"/>
                      </a:endParaRPr>
                    </a:p>
                  </a:txBody>
                  <a:tcPr marT="0" marB="0" marR="0" marL="0"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</a:tcPr>
                </a:tc>
              </a:tr>
              <a:tr h="164475">
                <a:tc>
                  <a:txBody>
                    <a:bodyPr/>
                    <a:lstStyle/>
                    <a:p>
                      <a:pPr indent="0" lvl="0" marL="75565" marR="0" rtl="0" algn="l">
                        <a:lnSpc>
                          <a:spcPct val="108636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100"/>
                        <a:buFont typeface="Arial"/>
                        <a:buNone/>
                      </a:pPr>
                      <a:r>
                        <a:rPr lang="en-US" sz="1000" u="none" cap="none" strike="noStrike"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List edges outgoing from </a:t>
                      </a:r>
                      <a:r>
                        <a:rPr i="1" lang="en-US" sz="1000" u="none" cap="none" strike="noStrike"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u</a:t>
                      </a:r>
                      <a:endParaRPr sz="100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0" marB="0" marR="0" marL="0"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</a:tcPr>
                </a:tc>
                <a:tc>
                  <a:txBody>
                    <a:bodyPr/>
                    <a:lstStyle/>
                    <a:p>
                      <a:pPr indent="0" lvl="0" marL="78105" marR="0" rtl="0" algn="l">
                        <a:lnSpc>
                          <a:spcPct val="108636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100"/>
                        <a:buFont typeface="Arial"/>
                        <a:buNone/>
                      </a:pPr>
                      <a:r>
                        <a:rPr lang="en-US" sz="1000" u="none" cap="none" strike="noStrike">
                          <a:latin typeface="Lucida Sans"/>
                          <a:ea typeface="Lucida Sans"/>
                          <a:cs typeface="Lucida Sans"/>
                          <a:sym typeface="Lucida Sans"/>
                        </a:rPr>
                        <a:t>Θ(</a:t>
                      </a:r>
                      <a:r>
                        <a:rPr i="1" lang="en-US" sz="1000" u="none" cap="none" strike="noStrike">
                          <a:latin typeface="Lucida Sans"/>
                          <a:ea typeface="Lucida Sans"/>
                          <a:cs typeface="Lucida Sans"/>
                          <a:sym typeface="Lucida Sans"/>
                        </a:rPr>
                        <a:t>n</a:t>
                      </a:r>
                      <a:r>
                        <a:rPr lang="en-US" sz="1000" u="none" cap="none" strike="noStrike">
                          <a:latin typeface="Lucida Sans"/>
                          <a:ea typeface="Lucida Sans"/>
                          <a:cs typeface="Lucida Sans"/>
                          <a:sym typeface="Lucida Sans"/>
                        </a:rPr>
                        <a:t>) </a:t>
                      </a:r>
                      <a:r>
                        <a:rPr lang="en-US" sz="1000" u="none" cap="none" strike="noStrike">
                          <a:solidFill>
                            <a:schemeClr val="dk1"/>
                          </a:solidFill>
                          <a:latin typeface="Lucida Sans"/>
                          <a:ea typeface="Lucida Sans"/>
                          <a:cs typeface="Lucida Sans"/>
                          <a:sym typeface="Lucida Sans"/>
                        </a:rPr>
                        <a:t>or Θ(</a:t>
                      </a:r>
                      <a:r>
                        <a:rPr i="1" lang="en-US" sz="1000" u="none" cap="none" strike="noStrike">
                          <a:solidFill>
                            <a:schemeClr val="dk1"/>
                          </a:solidFill>
                        </a:rPr>
                        <a:t>V</a:t>
                      </a:r>
                      <a:r>
                        <a:rPr lang="en-US" sz="1000" u="none" cap="none" strike="noStrike">
                          <a:solidFill>
                            <a:schemeClr val="dk1"/>
                          </a:solidFill>
                          <a:latin typeface="Lucida Sans"/>
                          <a:ea typeface="Lucida Sans"/>
                          <a:cs typeface="Lucida Sans"/>
                          <a:sym typeface="Lucida Sans"/>
                        </a:rPr>
                        <a:t>)</a:t>
                      </a:r>
                      <a:endParaRPr sz="1000" u="none" cap="none" strike="noStrike">
                        <a:latin typeface="Lucida Sans"/>
                        <a:ea typeface="Lucida Sans"/>
                        <a:cs typeface="Lucida Sans"/>
                        <a:sym typeface="Lucida Sans"/>
                      </a:endParaRPr>
                    </a:p>
                  </a:txBody>
                  <a:tcPr marT="0" marB="0" marR="0" marL="0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</a:tcPr>
                </a:tc>
                <a:tc>
                  <a:txBody>
                    <a:bodyPr/>
                    <a:lstStyle/>
                    <a:p>
                      <a:pPr indent="0" lvl="0" marL="75565" marR="0" rtl="0" algn="l">
                        <a:lnSpc>
                          <a:spcPct val="11909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100"/>
                        <a:buFont typeface="Arial"/>
                        <a:buNone/>
                      </a:pPr>
                      <a:r>
                        <a:rPr lang="en-US" sz="1000" u="none" cap="none" strike="noStrike">
                          <a:solidFill>
                            <a:schemeClr val="dk1"/>
                          </a:solidFill>
                          <a:latin typeface="Lucida Sans"/>
                          <a:ea typeface="Lucida Sans"/>
                          <a:cs typeface="Lucida Sans"/>
                          <a:sym typeface="Lucida Sans"/>
                        </a:rPr>
                        <a:t>Θ(</a:t>
                      </a:r>
                      <a:r>
                        <a:rPr lang="en-US" sz="1000" u="none" cap="none" strike="noStrike">
                          <a:solidFill>
                            <a:schemeClr val="dk1"/>
                          </a:solidFill>
                        </a:rPr>
                        <a:t>out</a:t>
                      </a:r>
                      <a:r>
                        <a:rPr i="1" lang="en-US" sz="1000" u="none" cap="none" strike="noStrike">
                          <a:solidFill>
                            <a:schemeClr val="dk1"/>
                          </a:solidFill>
                        </a:rPr>
                        <a:t>deg </a:t>
                      </a:r>
                      <a:r>
                        <a:rPr lang="en-US" sz="1000" u="none" cap="none" strike="noStrike">
                          <a:solidFill>
                            <a:schemeClr val="dk1"/>
                          </a:solidFill>
                          <a:latin typeface="Lucida Sans"/>
                          <a:ea typeface="Lucida Sans"/>
                          <a:cs typeface="Lucida Sans"/>
                          <a:sym typeface="Lucida Sans"/>
                        </a:rPr>
                        <a:t>(</a:t>
                      </a:r>
                      <a:r>
                        <a:rPr i="1" lang="en-US" sz="1000" u="none" cap="none" strike="noStrike">
                          <a:solidFill>
                            <a:schemeClr val="dk1"/>
                          </a:solidFill>
                        </a:rPr>
                        <a:t>u</a:t>
                      </a:r>
                      <a:r>
                        <a:rPr lang="en-US" sz="1000" u="none" cap="none" strike="noStrike">
                          <a:solidFill>
                            <a:schemeClr val="dk1"/>
                          </a:solidFill>
                          <a:latin typeface="Lucida Sans"/>
                          <a:ea typeface="Lucida Sans"/>
                          <a:cs typeface="Lucida Sans"/>
                          <a:sym typeface="Lucida Sans"/>
                        </a:rPr>
                        <a:t>))</a:t>
                      </a:r>
                      <a:endParaRPr sz="1000" u="none" cap="none" strike="noStrike">
                        <a:latin typeface="Lucida Sans"/>
                        <a:ea typeface="Lucida Sans"/>
                        <a:cs typeface="Lucida Sans"/>
                        <a:sym typeface="Lucida Sans"/>
                      </a:endParaRPr>
                    </a:p>
                  </a:txBody>
                  <a:tcPr marT="0" marB="0" marR="0" marL="0"/>
                </a:tc>
              </a:tr>
              <a:tr h="228525">
                <a:tc>
                  <a:txBody>
                    <a:bodyPr/>
                    <a:lstStyle/>
                    <a:p>
                      <a:pPr indent="0" lvl="0" marL="75565" marR="0" rtl="0" algn="l">
                        <a:lnSpc>
                          <a:spcPct val="118636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100"/>
                        <a:buFont typeface="Arial"/>
                        <a:buNone/>
                      </a:pPr>
                      <a:r>
                        <a:rPr lang="en-US" sz="1000" u="none" cap="none" strike="noStrike"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Memory</a:t>
                      </a:r>
                      <a:endParaRPr sz="100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0" marB="0" marR="0" marL="0"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78105" marR="0" rtl="0" algn="l">
                        <a:lnSpc>
                          <a:spcPct val="10875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100"/>
                        <a:buFont typeface="Arial"/>
                        <a:buNone/>
                      </a:pPr>
                      <a:r>
                        <a:rPr lang="en-US" sz="1000" u="none" cap="none" strike="noStrike">
                          <a:solidFill>
                            <a:schemeClr val="dk1"/>
                          </a:solidFill>
                          <a:latin typeface="Lucida Sans"/>
                          <a:ea typeface="Lucida Sans"/>
                          <a:cs typeface="Lucida Sans"/>
                          <a:sym typeface="Lucida Sans"/>
                        </a:rPr>
                        <a:t>Θ(</a:t>
                      </a:r>
                      <a:r>
                        <a:rPr i="1" lang="en-US" sz="1000" u="none" cap="none" strike="noStrike">
                          <a:solidFill>
                            <a:schemeClr val="dk1"/>
                          </a:solidFill>
                        </a:rPr>
                        <a:t>n</a:t>
                      </a:r>
                      <a:r>
                        <a:rPr baseline="30000" lang="en-US" sz="1000" u="none" cap="none" strike="noStrike">
                          <a:solidFill>
                            <a:schemeClr val="dk1"/>
                          </a:solidFill>
                        </a:rPr>
                        <a:t>2</a:t>
                      </a:r>
                      <a:r>
                        <a:rPr lang="en-US" sz="1000" u="none" cap="none" strike="noStrike">
                          <a:solidFill>
                            <a:schemeClr val="dk1"/>
                          </a:solidFill>
                          <a:latin typeface="Lucida Sans"/>
                          <a:ea typeface="Lucida Sans"/>
                          <a:cs typeface="Lucida Sans"/>
                          <a:sym typeface="Lucida Sans"/>
                        </a:rPr>
                        <a:t>) or Θ(</a:t>
                      </a:r>
                      <a:r>
                        <a:rPr i="1" lang="en-US" sz="1000" u="none" cap="none" strike="noStrike">
                          <a:solidFill>
                            <a:schemeClr val="dk1"/>
                          </a:solidFill>
                        </a:rPr>
                        <a:t>V</a:t>
                      </a:r>
                      <a:r>
                        <a:rPr baseline="30000" lang="en-US" sz="1000" u="none" cap="none" strike="noStrike">
                          <a:solidFill>
                            <a:schemeClr val="dk1"/>
                          </a:solidFill>
                        </a:rPr>
                        <a:t>2</a:t>
                      </a:r>
                      <a:r>
                        <a:rPr lang="en-US" sz="1000" u="none" cap="none" strike="noStrike">
                          <a:solidFill>
                            <a:schemeClr val="dk1"/>
                          </a:solidFill>
                          <a:latin typeface="Lucida Sans"/>
                          <a:ea typeface="Lucida Sans"/>
                          <a:cs typeface="Lucida Sans"/>
                          <a:sym typeface="Lucida Sans"/>
                        </a:rPr>
                        <a:t>)</a:t>
                      </a:r>
                      <a:endParaRPr sz="1000" u="none" cap="none" strike="noStrike">
                        <a:latin typeface="Lucida Sans"/>
                        <a:ea typeface="Lucida Sans"/>
                        <a:cs typeface="Lucida Sans"/>
                        <a:sym typeface="Lucida Sans"/>
                      </a:endParaRPr>
                    </a:p>
                  </a:txBody>
                  <a:tcPr marT="0" marB="0" marR="0" marL="0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75565" marR="0" rtl="0" algn="l">
                        <a:lnSpc>
                          <a:spcPct val="118636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100"/>
                        <a:buFont typeface="Arial"/>
                        <a:buNone/>
                      </a:pPr>
                      <a:r>
                        <a:rPr lang="en-US" sz="1000" u="none" cap="none" strike="noStrike">
                          <a:latin typeface="Lucida Sans"/>
                          <a:ea typeface="Lucida Sans"/>
                          <a:cs typeface="Lucida Sans"/>
                          <a:sym typeface="Lucida Sans"/>
                        </a:rPr>
                        <a:t>Θ(</a:t>
                      </a:r>
                      <a:r>
                        <a:rPr i="1" lang="en-US" sz="1000" u="none" cap="none" strike="noStrike"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m </a:t>
                      </a:r>
                      <a:r>
                        <a:rPr lang="en-US" sz="1000" u="none" cap="none" strike="noStrike">
                          <a:latin typeface="Lucida Sans"/>
                          <a:ea typeface="Lucida Sans"/>
                          <a:cs typeface="Lucida Sans"/>
                          <a:sym typeface="Lucida Sans"/>
                        </a:rPr>
                        <a:t>+ </a:t>
                      </a:r>
                      <a:r>
                        <a:rPr i="1" lang="en-US" sz="1000" u="none" cap="none" strike="noStrike"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n</a:t>
                      </a:r>
                      <a:r>
                        <a:rPr lang="en-US" sz="1000" u="none" cap="none" strike="noStrike">
                          <a:latin typeface="Lucida Sans"/>
                          <a:ea typeface="Lucida Sans"/>
                          <a:cs typeface="Lucida Sans"/>
                          <a:sym typeface="Lucida Sans"/>
                        </a:rPr>
                        <a:t>) = </a:t>
                      </a:r>
                      <a:r>
                        <a:rPr lang="en-US" sz="1000" u="none" cap="none" strike="noStrike">
                          <a:solidFill>
                            <a:schemeClr val="dk1"/>
                          </a:solidFill>
                          <a:latin typeface="Lucida Sans"/>
                          <a:ea typeface="Lucida Sans"/>
                          <a:cs typeface="Lucida Sans"/>
                          <a:sym typeface="Lucida Sans"/>
                        </a:rPr>
                        <a:t>Θ(</a:t>
                      </a:r>
                      <a:r>
                        <a:rPr i="1" lang="en-US" sz="1000" u="none" cap="none" strike="noStrike">
                          <a:solidFill>
                            <a:schemeClr val="dk1"/>
                          </a:solidFill>
                        </a:rPr>
                        <a:t>V </a:t>
                      </a:r>
                      <a:r>
                        <a:rPr lang="en-US" sz="1000" u="none" cap="none" strike="noStrike">
                          <a:solidFill>
                            <a:schemeClr val="dk1"/>
                          </a:solidFill>
                          <a:latin typeface="Lucida Sans"/>
                          <a:ea typeface="Lucida Sans"/>
                          <a:cs typeface="Lucida Sans"/>
                          <a:sym typeface="Lucida Sans"/>
                        </a:rPr>
                        <a:t>+ </a:t>
                      </a:r>
                      <a:r>
                        <a:rPr i="1" lang="en-US" sz="1000" u="none" cap="none" strike="noStrike">
                          <a:solidFill>
                            <a:schemeClr val="dk1"/>
                          </a:solidFill>
                        </a:rPr>
                        <a:t>E</a:t>
                      </a:r>
                      <a:r>
                        <a:rPr lang="en-US" sz="1000" u="none" cap="none" strike="noStrike">
                          <a:solidFill>
                            <a:schemeClr val="dk1"/>
                          </a:solidFill>
                          <a:latin typeface="Lucida Sans"/>
                          <a:ea typeface="Lucida Sans"/>
                          <a:cs typeface="Lucida Sans"/>
                          <a:sym typeface="Lucida Sans"/>
                        </a:rPr>
                        <a:t>)</a:t>
                      </a:r>
                      <a:endParaRPr sz="1000" u="none" cap="none" strike="noStrike">
                        <a:latin typeface="Lucida Sans"/>
                        <a:ea typeface="Lucida Sans"/>
                        <a:cs typeface="Lucida Sans"/>
                        <a:sym typeface="Lucida Sans"/>
                      </a:endParaRPr>
                    </a:p>
                  </a:txBody>
                  <a:tcPr marT="0" marB="0" marR="0" marL="0"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</a:tbl>
          </a:graphicData>
        </a:graphic>
      </p:graphicFrame>
      <p:pic>
        <p:nvPicPr>
          <p:cNvPr id="490" name="Google Shape;490;g35359bad66d_0_8" title="comparison_directed.png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378925" y="535875"/>
            <a:ext cx="4767368" cy="1229534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5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494" name="Shape 49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5" name="Google Shape;495;p11"/>
          <p:cNvSpPr txBox="1"/>
          <p:nvPr>
            <p:ph type="title"/>
          </p:nvPr>
        </p:nvSpPr>
        <p:spPr>
          <a:xfrm>
            <a:off x="1189027" y="155925"/>
            <a:ext cx="3192000" cy="2745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12700">
            <a:spAutoFit/>
          </a:bodyPr>
          <a:lstStyle/>
          <a:p>
            <a:pPr indent="0" lvl="0" marL="127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rPr lang="en-US"/>
              <a:t>Which representation to use?</a:t>
            </a:r>
            <a:endParaRPr/>
          </a:p>
        </p:txBody>
      </p:sp>
      <p:sp>
        <p:nvSpPr>
          <p:cNvPr id="496" name="Google Shape;496;p11"/>
          <p:cNvSpPr txBox="1"/>
          <p:nvPr/>
        </p:nvSpPr>
        <p:spPr>
          <a:xfrm>
            <a:off x="130250" y="2988800"/>
            <a:ext cx="1125600" cy="1053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12700">
            <a:spAutoFit/>
          </a:bodyPr>
          <a:lstStyle/>
          <a:p>
            <a:pPr indent="0" lvl="0" marL="127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600"/>
              <a:buFont typeface="Arial"/>
              <a:buNone/>
            </a:pPr>
            <a:r>
              <a:rPr b="0" i="0" lang="en-US" sz="600" u="sng" cap="none" strike="noStrike">
                <a:solidFill>
                  <a:srgbClr val="0000FF"/>
                </a:solidFill>
                <a:latin typeface="Tahoma"/>
                <a:ea typeface="Tahoma"/>
                <a:cs typeface="Tahoma"/>
                <a:sym typeface="Tahoma"/>
              </a:rPr>
              <a:t>Graph representation Ch 22.1</a:t>
            </a:r>
            <a:endParaRPr b="0" i="0" sz="600" u="none" cap="none" strike="noStrike">
              <a:solidFill>
                <a:srgbClr val="000000"/>
              </a:solidFill>
              <a:latin typeface="Tahoma"/>
              <a:ea typeface="Tahoma"/>
              <a:cs typeface="Tahoma"/>
              <a:sym typeface="Tahoma"/>
            </a:endParaRPr>
          </a:p>
        </p:txBody>
      </p:sp>
      <p:sp>
        <p:nvSpPr>
          <p:cNvPr id="497" name="Google Shape;497;p11"/>
          <p:cNvSpPr txBox="1"/>
          <p:nvPr/>
        </p:nvSpPr>
        <p:spPr>
          <a:xfrm>
            <a:off x="268034" y="505150"/>
            <a:ext cx="4545000" cy="670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26650">
            <a:spAutoFit/>
          </a:bodyPr>
          <a:lstStyle/>
          <a:p>
            <a:pPr indent="-139065" lvl="0" marL="15811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334669"/>
              </a:buClr>
              <a:buSzPts val="1100"/>
              <a:buFont typeface="Lucida Sans"/>
              <a:buChar char="•"/>
            </a:pPr>
            <a:r>
              <a:rPr b="0" i="0" lang="en-US" sz="1100" u="none" cap="none" strike="noStrike">
                <a:solidFill>
                  <a:srgbClr val="000000"/>
                </a:solidFill>
                <a:latin typeface="Tahoma"/>
                <a:ea typeface="Tahoma"/>
                <a:cs typeface="Tahoma"/>
                <a:sym typeface="Tahoma"/>
              </a:rPr>
              <a:t>No general rule</a:t>
            </a:r>
            <a:endParaRPr b="0" i="0" sz="1100" u="none" cap="none" strike="noStrike">
              <a:solidFill>
                <a:srgbClr val="000000"/>
              </a:solidFill>
              <a:latin typeface="Tahoma"/>
              <a:ea typeface="Tahoma"/>
              <a:cs typeface="Tahoma"/>
              <a:sym typeface="Tahoma"/>
            </a:endParaRPr>
          </a:p>
          <a:p>
            <a:pPr indent="-138430" lvl="0" marL="157480" marR="0" rtl="0" algn="l">
              <a:lnSpc>
                <a:spcPct val="100000"/>
              </a:lnSpc>
              <a:spcBef>
                <a:spcPts val="115"/>
              </a:spcBef>
              <a:spcAft>
                <a:spcPts val="0"/>
              </a:spcAft>
              <a:buClr>
                <a:srgbClr val="334669"/>
              </a:buClr>
              <a:buSzPts val="1100"/>
              <a:buFont typeface="Lucida Sans"/>
              <a:buChar char="•"/>
            </a:pPr>
            <a:r>
              <a:rPr b="0" i="0" lang="en-US" sz="1100" u="none" cap="none" strike="noStrike">
                <a:solidFill>
                  <a:srgbClr val="000000"/>
                </a:solidFill>
                <a:latin typeface="Tahoma"/>
                <a:ea typeface="Tahoma"/>
                <a:cs typeface="Tahoma"/>
                <a:sym typeface="Tahoma"/>
              </a:rPr>
              <a:t>Depends on use case</a:t>
            </a:r>
            <a:endParaRPr b="0" i="0" sz="1100" u="none" cap="none" strike="noStrike">
              <a:solidFill>
                <a:srgbClr val="000000"/>
              </a:solidFill>
              <a:latin typeface="Tahoma"/>
              <a:ea typeface="Tahoma"/>
              <a:cs typeface="Tahoma"/>
              <a:sym typeface="Tahoma"/>
            </a:endParaRPr>
          </a:p>
          <a:p>
            <a:pPr indent="-126365" lvl="1" marL="434340" marR="0" rtl="0" algn="l">
              <a:lnSpc>
                <a:spcPct val="100000"/>
              </a:lnSpc>
              <a:spcBef>
                <a:spcPts val="100"/>
              </a:spcBef>
              <a:spcAft>
                <a:spcPts val="0"/>
              </a:spcAft>
              <a:buClr>
                <a:srgbClr val="334669"/>
              </a:buClr>
              <a:buSzPts val="900"/>
              <a:buFont typeface="Lucida Sans"/>
              <a:buChar char="•"/>
            </a:pPr>
            <a:r>
              <a:rPr b="0" i="0" lang="en-US" sz="900" u="none" cap="none" strike="noStrike">
                <a:solidFill>
                  <a:srgbClr val="000000"/>
                </a:solidFill>
                <a:latin typeface="Tahoma"/>
                <a:ea typeface="Tahoma"/>
                <a:cs typeface="Tahoma"/>
                <a:sym typeface="Tahoma"/>
              </a:rPr>
              <a:t>How sparse is the graph?</a:t>
            </a:r>
            <a:endParaRPr b="0" i="0" sz="900" u="none" cap="none" strike="noStrike">
              <a:solidFill>
                <a:srgbClr val="000000"/>
              </a:solidFill>
              <a:latin typeface="Tahoma"/>
              <a:ea typeface="Tahoma"/>
              <a:cs typeface="Tahoma"/>
              <a:sym typeface="Tahoma"/>
            </a:endParaRPr>
          </a:p>
          <a:p>
            <a:pPr indent="-126365" lvl="1" marL="43434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334669"/>
              </a:buClr>
              <a:buSzPts val="900"/>
              <a:buFont typeface="Lucida Sans"/>
              <a:buChar char="•"/>
            </a:pPr>
            <a:r>
              <a:rPr b="0" i="0" lang="en-US" sz="900" u="none" cap="none" strike="noStrike">
                <a:solidFill>
                  <a:srgbClr val="000000"/>
                </a:solidFill>
                <a:latin typeface="Tahoma"/>
                <a:ea typeface="Tahoma"/>
                <a:cs typeface="Tahoma"/>
                <a:sym typeface="Tahoma"/>
              </a:rPr>
              <a:t>Which operations do we need to perform?</a:t>
            </a:r>
            <a:endParaRPr b="0" i="0" sz="900" u="none" cap="none" strike="noStrike">
              <a:solidFill>
                <a:srgbClr val="000000"/>
              </a:solidFill>
              <a:latin typeface="Tahoma"/>
              <a:ea typeface="Tahoma"/>
              <a:cs typeface="Tahoma"/>
              <a:sym typeface="Tahoma"/>
            </a:endParaRPr>
          </a:p>
        </p:txBody>
      </p:sp>
      <p:graphicFrame>
        <p:nvGraphicFramePr>
          <p:cNvPr id="498" name="Google Shape;498;p11"/>
          <p:cNvGraphicFramePr/>
          <p:nvPr/>
        </p:nvGraphicFramePr>
        <p:xfrm>
          <a:off x="264238" y="1806475"/>
          <a:ext cx="3000000" cy="3000000"/>
        </p:xfrm>
        <a:graphic>
          <a:graphicData uri="http://schemas.openxmlformats.org/drawingml/2006/table">
            <a:tbl>
              <a:tblPr>
                <a:noFill/>
                <a:tableStyleId>{A196B3C8-27C8-4E07-9160-8CB4F96E31A8}</a:tableStyleId>
              </a:tblPr>
              <a:tblGrid>
                <a:gridCol w="920275"/>
                <a:gridCol w="1254250"/>
                <a:gridCol w="3062775"/>
              </a:tblGrid>
              <a:tr h="381000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800"/>
                        <a:buFont typeface="Arial"/>
                        <a:buNone/>
                      </a:pPr>
                      <a:r>
                        <a:rPr lang="en-US" sz="800" u="none" cap="none" strike="noStrike">
                          <a:latin typeface="Tahoma"/>
                          <a:ea typeface="Tahoma"/>
                          <a:cs typeface="Tahoma"/>
                          <a:sym typeface="Tahoma"/>
                        </a:rPr>
                        <a:t>Graph Type</a:t>
                      </a:r>
                      <a:endParaRPr sz="800" u="none" cap="none" strike="noStrike">
                        <a:latin typeface="Tahoma"/>
                        <a:ea typeface="Tahoma"/>
                        <a:cs typeface="Tahoma"/>
                        <a:sym typeface="Tahoma"/>
                      </a:endParaRPr>
                    </a:p>
                  </a:txBody>
                  <a:tcPr marT="91425" marB="91425" marR="91425" marL="91425"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800"/>
                        <a:buFont typeface="Arial"/>
                        <a:buNone/>
                      </a:pPr>
                      <a:r>
                        <a:rPr lang="en-US" sz="800" u="none" cap="none" strike="noStrike">
                          <a:latin typeface="Tahoma"/>
                          <a:ea typeface="Tahoma"/>
                          <a:cs typeface="Tahoma"/>
                          <a:sym typeface="Tahoma"/>
                        </a:rPr>
                        <a:t>Best Representation</a:t>
                      </a:r>
                      <a:endParaRPr sz="800" u="none" cap="none" strike="noStrike">
                        <a:latin typeface="Tahoma"/>
                        <a:ea typeface="Tahoma"/>
                        <a:cs typeface="Tahoma"/>
                        <a:sym typeface="Tahoma"/>
                      </a:endParaRPr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800"/>
                        <a:buFont typeface="Arial"/>
                        <a:buNone/>
                      </a:pPr>
                      <a:r>
                        <a:rPr lang="en-US" sz="800" u="none" cap="none" strike="noStrike">
                          <a:latin typeface="Tahoma"/>
                          <a:ea typeface="Tahoma"/>
                          <a:cs typeface="Tahoma"/>
                          <a:sym typeface="Tahoma"/>
                        </a:rPr>
                        <a:t>Reason</a:t>
                      </a:r>
                      <a:endParaRPr sz="800" u="none" cap="none" strike="noStrike">
                        <a:latin typeface="Tahoma"/>
                        <a:ea typeface="Tahoma"/>
                        <a:cs typeface="Tahoma"/>
                        <a:sym typeface="Tahoma"/>
                      </a:endParaRPr>
                    </a:p>
                  </a:txBody>
                  <a:tcPr marT="91425" marB="91425" marR="91425" marL="91425"/>
                </a:tc>
              </a:tr>
              <a:tr h="381000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800"/>
                        <a:buFont typeface="Arial"/>
                        <a:buNone/>
                      </a:pPr>
                      <a:r>
                        <a:rPr lang="en-US" sz="800" u="none" cap="none" strike="noStrike">
                          <a:latin typeface="Tahoma"/>
                          <a:ea typeface="Tahoma"/>
                          <a:cs typeface="Tahoma"/>
                          <a:sym typeface="Tahoma"/>
                        </a:rPr>
                        <a:t>Sparse Graph</a:t>
                      </a:r>
                      <a:endParaRPr sz="800" u="none" cap="none" strike="noStrike">
                        <a:latin typeface="Tahoma"/>
                        <a:ea typeface="Tahoma"/>
                        <a:cs typeface="Tahoma"/>
                        <a:sym typeface="Tahoma"/>
                      </a:endParaRPr>
                    </a:p>
                  </a:txBody>
                  <a:tcPr marT="91425" marB="91425" marR="91425" marL="91425">
                    <a:lnL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800"/>
                        <a:buFont typeface="Arial"/>
                        <a:buNone/>
                      </a:pPr>
                      <a:r>
                        <a:rPr lang="en-US" sz="800" u="none" cap="none" strike="noStrike">
                          <a:latin typeface="Tahoma"/>
                          <a:ea typeface="Tahoma"/>
                          <a:cs typeface="Tahoma"/>
                          <a:sym typeface="Tahoma"/>
                        </a:rPr>
                        <a:t>Adjacency List</a:t>
                      </a:r>
                      <a:endParaRPr sz="800" u="none" cap="none" strike="noStrike">
                        <a:latin typeface="Tahoma"/>
                        <a:ea typeface="Tahoma"/>
                        <a:cs typeface="Tahoma"/>
                        <a:sym typeface="Tahoma"/>
                      </a:endParaRPr>
                    </a:p>
                  </a:txBody>
                  <a:tcPr marT="91425" marB="91425" marR="91425" marL="91425">
                    <a:lnL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800"/>
                        <a:buFont typeface="Arial"/>
                        <a:buNone/>
                      </a:pPr>
                      <a:r>
                        <a:rPr lang="en-US" sz="800" u="none" cap="none" strike="noStrike">
                          <a:latin typeface="Tahoma"/>
                          <a:ea typeface="Tahoma"/>
                          <a:cs typeface="Tahoma"/>
                          <a:sym typeface="Tahoma"/>
                        </a:rPr>
                        <a:t>Memory efficient and </a:t>
                      </a:r>
                      <a:r>
                        <a:rPr lang="en-US" sz="800" u="sng" cap="none" strike="noStrike">
                          <a:latin typeface="Tahoma"/>
                          <a:ea typeface="Tahoma"/>
                          <a:cs typeface="Tahoma"/>
                          <a:sym typeface="Tahoma"/>
                        </a:rPr>
                        <a:t>fast traversal </a:t>
                      </a:r>
                      <a:r>
                        <a:rPr lang="en-US" sz="800" u="none" cap="none" strike="noStrike">
                          <a:latin typeface="Tahoma"/>
                          <a:ea typeface="Tahoma"/>
                          <a:cs typeface="Tahoma"/>
                          <a:sym typeface="Tahoma"/>
                        </a:rPr>
                        <a:t>due to </a:t>
                      </a:r>
                      <a:r>
                        <a:rPr lang="en-US" sz="800" u="sng" cap="none" strike="noStrike">
                          <a:latin typeface="Tahoma"/>
                          <a:ea typeface="Tahoma"/>
                          <a:cs typeface="Tahoma"/>
                          <a:sym typeface="Tahoma"/>
                        </a:rPr>
                        <a:t>fewer edges.</a:t>
                      </a:r>
                      <a:endParaRPr sz="800" u="sng" cap="none" strike="noStrike">
                        <a:latin typeface="Tahoma"/>
                        <a:ea typeface="Tahoma"/>
                        <a:cs typeface="Tahoma"/>
                        <a:sym typeface="Tahoma"/>
                      </a:endParaRPr>
                    </a:p>
                  </a:txBody>
                  <a:tcPr marT="91425" marB="91425" marR="91425" marL="91425"/>
                </a:tc>
              </a:tr>
              <a:tr h="381000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800"/>
                        <a:buFont typeface="Arial"/>
                        <a:buNone/>
                      </a:pPr>
                      <a:r>
                        <a:rPr lang="en-US" sz="800" u="none" cap="none" strike="noStrike">
                          <a:latin typeface="Tahoma"/>
                          <a:ea typeface="Tahoma"/>
                          <a:cs typeface="Tahoma"/>
                          <a:sym typeface="Tahoma"/>
                        </a:rPr>
                        <a:t>Dense Graph</a:t>
                      </a:r>
                      <a:endParaRPr sz="800" u="none" cap="none" strike="noStrike">
                        <a:latin typeface="Tahoma"/>
                        <a:ea typeface="Tahoma"/>
                        <a:cs typeface="Tahoma"/>
                        <a:sym typeface="Tahoma"/>
                      </a:endParaRPr>
                    </a:p>
                  </a:txBody>
                  <a:tcPr marT="91425" marB="91425" marR="91425" marL="91425">
                    <a:lnL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800"/>
                        <a:buFont typeface="Arial"/>
                        <a:buNone/>
                      </a:pPr>
                      <a:r>
                        <a:rPr lang="en-US" sz="800" u="none" cap="none" strike="noStrike">
                          <a:latin typeface="Tahoma"/>
                          <a:ea typeface="Tahoma"/>
                          <a:cs typeface="Tahoma"/>
                          <a:sym typeface="Tahoma"/>
                        </a:rPr>
                        <a:t>Adjacency Matrix</a:t>
                      </a:r>
                      <a:endParaRPr sz="800" u="none" cap="none" strike="noStrike">
                        <a:latin typeface="Tahoma"/>
                        <a:ea typeface="Tahoma"/>
                        <a:cs typeface="Tahoma"/>
                        <a:sym typeface="Tahoma"/>
                      </a:endParaRPr>
                    </a:p>
                  </a:txBody>
                  <a:tcPr marT="91425" marB="91425" marR="91425" marL="91425">
                    <a:lnL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800"/>
                        <a:buFont typeface="Arial"/>
                        <a:buNone/>
                      </a:pPr>
                      <a:r>
                        <a:rPr lang="en-US" sz="800" u="none" cap="none" strike="noStrike">
                          <a:latin typeface="Tahoma"/>
                          <a:ea typeface="Tahoma"/>
                          <a:cs typeface="Tahoma"/>
                          <a:sym typeface="Tahoma"/>
                        </a:rPr>
                        <a:t>Efficient for </a:t>
                      </a:r>
                      <a:r>
                        <a:rPr lang="en-US" sz="800" u="sng" cap="none" strike="noStrike">
                          <a:latin typeface="Tahoma"/>
                          <a:ea typeface="Tahoma"/>
                          <a:cs typeface="Tahoma"/>
                          <a:sym typeface="Tahoma"/>
                        </a:rPr>
                        <a:t>edge lookups</a:t>
                      </a:r>
                      <a:r>
                        <a:rPr lang="en-US" sz="800" u="none" cap="none" strike="noStrike">
                          <a:latin typeface="Tahoma"/>
                          <a:ea typeface="Tahoma"/>
                          <a:cs typeface="Tahoma"/>
                          <a:sym typeface="Tahoma"/>
                        </a:rPr>
                        <a:t> and handles high connectivity.</a:t>
                      </a:r>
                      <a:endParaRPr sz="800" u="none" cap="none" strike="noStrike">
                        <a:latin typeface="Tahoma"/>
                        <a:ea typeface="Tahoma"/>
                        <a:cs typeface="Tahoma"/>
                        <a:sym typeface="Tahoma"/>
                      </a:endParaRPr>
                    </a:p>
                  </a:txBody>
                  <a:tcPr marT="91425" marB="91425" marR="91425" marL="91425"/>
                </a:tc>
              </a:tr>
            </a:tbl>
          </a:graphicData>
        </a:graphic>
      </p:graphicFrame>
      <p:pic>
        <p:nvPicPr>
          <p:cNvPr id="499" name="Google Shape;499;p11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3363600" y="505150"/>
            <a:ext cx="1931489" cy="11430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5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03" name="Shape 50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4" name="Google Shape;504;g377a08ae626_1_0"/>
          <p:cNvSpPr txBox="1"/>
          <p:nvPr>
            <p:ph type="title"/>
          </p:nvPr>
        </p:nvSpPr>
        <p:spPr>
          <a:xfrm>
            <a:off x="1394875" y="133800"/>
            <a:ext cx="3553500" cy="261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rPr lang="en-US"/>
              <a:t>Total graph representation types (8)</a:t>
            </a:r>
            <a:endParaRPr/>
          </a:p>
        </p:txBody>
      </p:sp>
      <p:sp>
        <p:nvSpPr>
          <p:cNvPr id="505" name="Google Shape;505;g377a08ae626_1_0"/>
          <p:cNvSpPr txBox="1"/>
          <p:nvPr>
            <p:ph idx="1" type="body"/>
          </p:nvPr>
        </p:nvSpPr>
        <p:spPr>
          <a:xfrm>
            <a:off x="249504" y="544475"/>
            <a:ext cx="5266800" cy="2462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-292100" lvl="0" marL="4572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Char char="●"/>
            </a:pPr>
            <a:r>
              <a:rPr lang="en-US" sz="1000"/>
              <a:t>Adjacency matrix</a:t>
            </a:r>
            <a:endParaRPr sz="1000"/>
          </a:p>
          <a:p>
            <a:pPr indent="-292100" lvl="0" marL="9144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Char char="●"/>
            </a:pPr>
            <a:r>
              <a:rPr lang="en-US" sz="1000"/>
              <a:t>Unweighted (show connections with 1)</a:t>
            </a:r>
            <a:endParaRPr sz="1000"/>
          </a:p>
          <a:p>
            <a:pPr indent="-292100" lvl="1" marL="13716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Char char="○"/>
            </a:pPr>
            <a:r>
              <a:rPr lang="en-US" sz="1000"/>
              <a:t>Undirected (u to v, v to u)</a:t>
            </a:r>
            <a:endParaRPr sz="1000"/>
          </a:p>
          <a:p>
            <a:pPr indent="-292100" lvl="1" marL="13716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Char char="○"/>
            </a:pPr>
            <a:r>
              <a:rPr lang="en-US" sz="1000"/>
              <a:t>Directed (u to v)</a:t>
            </a:r>
            <a:endParaRPr sz="1000"/>
          </a:p>
          <a:p>
            <a:pPr indent="0" lvl="0" marL="9144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 sz="1000"/>
          </a:p>
          <a:p>
            <a:pPr indent="-292100" lvl="0" marL="9144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Char char="●"/>
            </a:pPr>
            <a:r>
              <a:rPr lang="en-US" sz="1000"/>
              <a:t>Weighted (show connections with edge weight)</a:t>
            </a:r>
            <a:endParaRPr sz="1000"/>
          </a:p>
          <a:p>
            <a:pPr indent="-292100" lvl="1" marL="13716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Char char="○"/>
            </a:pPr>
            <a:r>
              <a:rPr lang="en-US" sz="1000"/>
              <a:t>Undirected (u to v, v to u)</a:t>
            </a:r>
            <a:endParaRPr sz="1000"/>
          </a:p>
          <a:p>
            <a:pPr indent="-292100" lvl="1" marL="13716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Char char="○"/>
            </a:pPr>
            <a:r>
              <a:rPr lang="en-US" sz="1000"/>
              <a:t>Directed (u to v)</a:t>
            </a:r>
            <a:endParaRPr sz="1000"/>
          </a:p>
          <a:p>
            <a:pPr indent="-292100" lvl="0" marL="4572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Char char="●"/>
            </a:pPr>
            <a:r>
              <a:rPr lang="en-US" sz="1000"/>
              <a:t>Adjacency List</a:t>
            </a:r>
            <a:endParaRPr sz="1000"/>
          </a:p>
          <a:p>
            <a:pPr indent="-292100" lvl="0" marL="9144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Char char="●"/>
            </a:pPr>
            <a:r>
              <a:rPr lang="en-US" sz="1000"/>
              <a:t>Unweighted </a:t>
            </a:r>
            <a:endParaRPr sz="1000"/>
          </a:p>
          <a:p>
            <a:pPr indent="-292100" lvl="1" marL="13716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Char char="○"/>
            </a:pPr>
            <a:r>
              <a:rPr lang="en-US" sz="1000">
                <a:solidFill>
                  <a:schemeClr val="dk1"/>
                </a:solidFill>
              </a:rPr>
              <a:t>Undirected (u to v, v to u)</a:t>
            </a:r>
            <a:endParaRPr sz="1000">
              <a:solidFill>
                <a:schemeClr val="dk1"/>
              </a:solidFill>
            </a:endParaRPr>
          </a:p>
          <a:p>
            <a:pPr indent="-292100" lvl="1" marL="13716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Char char="○"/>
            </a:pPr>
            <a:r>
              <a:rPr lang="en-US" sz="1000">
                <a:solidFill>
                  <a:schemeClr val="dk1"/>
                </a:solidFill>
              </a:rPr>
              <a:t>Directed (u to v)</a:t>
            </a:r>
            <a:endParaRPr sz="1000">
              <a:solidFill>
                <a:schemeClr val="dk1"/>
              </a:solidFill>
            </a:endParaRPr>
          </a:p>
          <a:p>
            <a:pPr indent="0" lvl="0" marL="13716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 sz="1000"/>
          </a:p>
          <a:p>
            <a:pPr indent="-292100" lvl="0" marL="9144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Char char="●"/>
            </a:pPr>
            <a:r>
              <a:rPr lang="en-US" sz="1000"/>
              <a:t>Weighted </a:t>
            </a:r>
            <a:endParaRPr sz="1000"/>
          </a:p>
          <a:p>
            <a:pPr indent="-292100" lvl="1" marL="13716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Char char="○"/>
            </a:pPr>
            <a:r>
              <a:rPr lang="en-US" sz="1000">
                <a:solidFill>
                  <a:schemeClr val="dk1"/>
                </a:solidFill>
              </a:rPr>
              <a:t>Undirected (u to v, v to u)</a:t>
            </a:r>
            <a:endParaRPr sz="1000">
              <a:solidFill>
                <a:schemeClr val="dk1"/>
              </a:solidFill>
            </a:endParaRPr>
          </a:p>
          <a:p>
            <a:pPr indent="-292100" lvl="1" marL="13716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Char char="○"/>
            </a:pPr>
            <a:r>
              <a:rPr lang="en-US" sz="1000">
                <a:solidFill>
                  <a:schemeClr val="dk1"/>
                </a:solidFill>
              </a:rPr>
              <a:t>Directed (u to v)</a:t>
            </a:r>
            <a:endParaRPr sz="1000"/>
          </a:p>
        </p:txBody>
      </p:sp>
    </p:spTree>
  </p:cSld>
  <p:clrMapOvr>
    <a:masterClrMapping/>
  </p:clrMapOvr>
</p:sld>
</file>

<file path=ppt/slides/slide5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09" name="Shape 50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0" name="Google Shape;510;g3220fd27c11_5_233"/>
          <p:cNvSpPr txBox="1"/>
          <p:nvPr>
            <p:ph type="title"/>
          </p:nvPr>
        </p:nvSpPr>
        <p:spPr>
          <a:xfrm>
            <a:off x="1247917" y="164483"/>
            <a:ext cx="4230900" cy="2283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12700">
            <a:spAutoFit/>
          </a:bodyPr>
          <a:lstStyle/>
          <a:p>
            <a:pPr indent="0" lvl="0" marL="0" rtl="0" algn="just">
              <a:lnSpc>
                <a:spcPct val="115000"/>
              </a:lnSpc>
              <a:spcBef>
                <a:spcPts val="1600"/>
              </a:spcBef>
              <a:spcAft>
                <a:spcPts val="40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US" sz="1400">
                <a:solidFill>
                  <a:srgbClr val="434343"/>
                </a:solidFill>
                <a:latin typeface="Arial"/>
                <a:ea typeface="Arial"/>
                <a:cs typeface="Arial"/>
                <a:sym typeface="Arial"/>
              </a:rPr>
              <a:t>Incidence Matrix Representation (optional)</a:t>
            </a:r>
            <a:endParaRPr/>
          </a:p>
        </p:txBody>
      </p:sp>
      <p:sp>
        <p:nvSpPr>
          <p:cNvPr id="511" name="Google Shape;511;g3220fd27c11_5_233"/>
          <p:cNvSpPr txBox="1"/>
          <p:nvPr/>
        </p:nvSpPr>
        <p:spPr>
          <a:xfrm>
            <a:off x="349700" y="626225"/>
            <a:ext cx="5066400" cy="1735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i="0" lang="en-US" sz="900" u="none" cap="none" strike="noStrik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rPr>
              <a:t>Use</a:t>
            </a:r>
            <a:r>
              <a:rPr b="0" i="0" lang="en-US" sz="900" u="none" cap="none" strike="noStrik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rPr>
              <a:t>: Popularized by electrical circuit analysis.</a:t>
            </a:r>
            <a:endParaRPr b="0" i="0" sz="900" u="none" cap="none" strike="noStrike">
              <a:solidFill>
                <a:schemeClr val="dk1"/>
              </a:solidFill>
              <a:latin typeface="Tahoma"/>
              <a:ea typeface="Tahoma"/>
              <a:cs typeface="Tahoma"/>
              <a:sym typeface="Tahoma"/>
            </a:endParaRPr>
          </a:p>
          <a:p>
            <a:pPr indent="0" lvl="0" marL="0" marR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i="0" lang="en-US" sz="900" u="none" cap="none" strike="noStrik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rPr>
              <a:t>Vertices &amp; Edges Numbered</a:t>
            </a:r>
            <a:r>
              <a:rPr b="0" i="0" lang="en-US" sz="900" u="none" cap="none" strike="noStrik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rPr>
              <a:t>:</a:t>
            </a:r>
            <a:endParaRPr b="0" i="0" sz="900" u="none" cap="none" strike="noStrike">
              <a:solidFill>
                <a:schemeClr val="dk1"/>
              </a:solidFill>
              <a:latin typeface="Tahoma"/>
              <a:ea typeface="Tahoma"/>
              <a:cs typeface="Tahoma"/>
              <a:sym typeface="Tahoma"/>
            </a:endParaRPr>
          </a:p>
          <a:p>
            <a:pPr indent="-285750" lvl="0" marL="457200" marR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900"/>
              <a:buFont typeface="Tahoma"/>
              <a:buChar char="●"/>
            </a:pPr>
            <a:r>
              <a:rPr b="0" i="0" lang="en-US" sz="900" u="none" cap="none" strike="noStrik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rPr>
              <a:t>Edges numbered from 0 to M−1. Here, M= no of edges</a:t>
            </a:r>
            <a:endParaRPr b="0" i="0" sz="900" u="none" cap="none" strike="noStrike">
              <a:solidFill>
                <a:schemeClr val="dk1"/>
              </a:solidFill>
              <a:latin typeface="Tahoma"/>
              <a:ea typeface="Tahoma"/>
              <a:cs typeface="Tahoma"/>
              <a:sym typeface="Tahoma"/>
            </a:endParaRPr>
          </a:p>
          <a:p>
            <a:pPr indent="-285750" lvl="0" marL="4572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900"/>
              <a:buFont typeface="Tahoma"/>
              <a:buChar char="●"/>
            </a:pPr>
            <a:r>
              <a:rPr b="0" i="0" lang="en-US" sz="900" u="none" cap="none" strike="noStrik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rPr>
              <a:t>Vertices numbered from 0 to N−1. Here, N= no of vertices/nodes</a:t>
            </a:r>
            <a:endParaRPr b="0" i="0" sz="900" u="none" cap="none" strike="noStrike">
              <a:solidFill>
                <a:schemeClr val="dk1"/>
              </a:solidFill>
              <a:latin typeface="Tahoma"/>
              <a:ea typeface="Tahoma"/>
              <a:cs typeface="Tahoma"/>
              <a:sym typeface="Tahoma"/>
            </a:endParaRPr>
          </a:p>
          <a:p>
            <a:pPr indent="0" lvl="0" marL="0" marR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i="0" lang="en-US" sz="900" u="none" cap="none" strike="noStrik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rPr>
              <a:t>Matrix Structure</a:t>
            </a:r>
            <a:r>
              <a:rPr b="0" i="0" lang="en-US" sz="900" u="none" cap="none" strike="noStrik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rPr>
              <a:t>:</a:t>
            </a:r>
            <a:endParaRPr b="0" i="0" sz="900" u="none" cap="none" strike="noStrike">
              <a:solidFill>
                <a:schemeClr val="dk1"/>
              </a:solidFill>
              <a:latin typeface="Tahoma"/>
              <a:ea typeface="Tahoma"/>
              <a:cs typeface="Tahoma"/>
              <a:sym typeface="Tahoma"/>
            </a:endParaRPr>
          </a:p>
          <a:p>
            <a:pPr indent="-285750" lvl="0" marL="457200" marR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900"/>
              <a:buFont typeface="Tahoma"/>
              <a:buChar char="●"/>
            </a:pPr>
            <a:r>
              <a:rPr b="0" i="0" lang="en-US" sz="900" u="none" cap="none" strike="noStrik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rPr>
              <a:t>M×N (M rows for edges, N columns for vertices)</a:t>
            </a:r>
            <a:endParaRPr b="1" i="0" sz="800" u="none" cap="none" strike="noStrike">
              <a:solidFill>
                <a:schemeClr val="dk1"/>
              </a:solidFill>
              <a:latin typeface="Tahoma"/>
              <a:ea typeface="Tahoma"/>
              <a:cs typeface="Tahoma"/>
              <a:sym typeface="Tahoma"/>
            </a:endParaRPr>
          </a:p>
        </p:txBody>
      </p:sp>
    </p:spTree>
  </p:cSld>
  <p:clrMapOvr>
    <a:masterClrMapping/>
  </p:clrMapOvr>
</p:sld>
</file>

<file path=ppt/slides/slide5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15" name="Shape 5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6" name="Google Shape;516;g3220fd27c11_5_258"/>
          <p:cNvSpPr txBox="1"/>
          <p:nvPr>
            <p:ph type="title"/>
          </p:nvPr>
        </p:nvSpPr>
        <p:spPr>
          <a:xfrm>
            <a:off x="703050" y="152225"/>
            <a:ext cx="4827900" cy="2283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12700">
            <a:spAutoFit/>
          </a:bodyPr>
          <a:lstStyle/>
          <a:p>
            <a:pPr indent="0" lvl="0" marL="0" rtl="0" algn="just">
              <a:lnSpc>
                <a:spcPct val="115000"/>
              </a:lnSpc>
              <a:spcBef>
                <a:spcPts val="1600"/>
              </a:spcBef>
              <a:spcAft>
                <a:spcPts val="400"/>
              </a:spcAft>
              <a:buSzPts val="1100"/>
              <a:buNone/>
            </a:pPr>
            <a:r>
              <a:rPr lang="en-US" sz="1400">
                <a:solidFill>
                  <a:srgbClr val="434343"/>
                </a:solidFill>
                <a:latin typeface="Arial"/>
                <a:ea typeface="Arial"/>
                <a:cs typeface="Arial"/>
                <a:sym typeface="Arial"/>
              </a:rPr>
              <a:t>Incidence Matrix Representation: Undirected graph (optional)</a:t>
            </a:r>
            <a:endParaRPr/>
          </a:p>
        </p:txBody>
      </p:sp>
      <p:pic>
        <p:nvPicPr>
          <p:cNvPr id="517" name="Google Shape;517;g3220fd27c11_5_258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1641600" y="479525"/>
            <a:ext cx="3889275" cy="2696351"/>
          </a:xfrm>
          <a:prstGeom prst="rect">
            <a:avLst/>
          </a:prstGeom>
          <a:noFill/>
          <a:ln>
            <a:noFill/>
          </a:ln>
        </p:spPr>
      </p:pic>
      <p:sp>
        <p:nvSpPr>
          <p:cNvPr id="518" name="Google Shape;518;g3220fd27c11_5_258"/>
          <p:cNvSpPr txBox="1"/>
          <p:nvPr/>
        </p:nvSpPr>
        <p:spPr>
          <a:xfrm>
            <a:off x="338100" y="565925"/>
            <a:ext cx="2510400" cy="955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</a:pPr>
            <a:r>
              <a:rPr b="1" i="0" lang="en-US" sz="900" u="none" cap="none" strike="noStrik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rPr>
              <a:t>Undirected Graph</a:t>
            </a:r>
            <a:r>
              <a:rPr b="0" i="0" lang="en-US" sz="900" u="none" cap="none" strike="noStrik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rPr>
              <a:t>: 1s in columns of the two vertices connected by each edge.</a:t>
            </a:r>
            <a:endParaRPr b="0" i="0" sz="900" u="none" cap="none" strike="noStrike">
              <a:solidFill>
                <a:schemeClr val="dk1"/>
              </a:solidFill>
              <a:latin typeface="Tahoma"/>
              <a:ea typeface="Tahoma"/>
              <a:cs typeface="Tahoma"/>
              <a:sym typeface="Tahoma"/>
            </a:endParaRPr>
          </a:p>
          <a:p>
            <a:pPr indent="0" lvl="0" marL="0" marR="0" rtl="0" algn="l">
              <a:lnSpc>
                <a:spcPct val="115000"/>
              </a:lnSpc>
              <a:spcBef>
                <a:spcPts val="1200"/>
              </a:spcBef>
              <a:spcAft>
                <a:spcPts val="1200"/>
              </a:spcAft>
              <a:buClr>
                <a:srgbClr val="000000"/>
              </a:buClr>
              <a:buSzPts val="900"/>
              <a:buFont typeface="Arial"/>
              <a:buNone/>
            </a:pPr>
            <a:r>
              <a:rPr b="0" i="0" lang="en-US" sz="900" u="none" cap="none" strike="noStrike">
                <a:solidFill>
                  <a:srgbClr val="990000"/>
                </a:solidFill>
                <a:latin typeface="Tahoma"/>
                <a:ea typeface="Tahoma"/>
                <a:cs typeface="Tahoma"/>
                <a:sym typeface="Tahoma"/>
              </a:rPr>
              <a:t>Red writings are the numbering of the edges, </a:t>
            </a:r>
            <a:r>
              <a:rPr b="0" i="0" lang="en-US" sz="900" u="sng" cap="none" strike="noStrike">
                <a:solidFill>
                  <a:srgbClr val="990000"/>
                </a:solidFill>
                <a:latin typeface="Tahoma"/>
                <a:ea typeface="Tahoma"/>
                <a:cs typeface="Tahoma"/>
                <a:sym typeface="Tahoma"/>
              </a:rPr>
              <a:t>not the weight</a:t>
            </a:r>
            <a:endParaRPr b="0" i="0" sz="900" u="sng" cap="none" strike="noStrike">
              <a:solidFill>
                <a:srgbClr val="990000"/>
              </a:solidFill>
              <a:latin typeface="Tahoma"/>
              <a:ea typeface="Tahoma"/>
              <a:cs typeface="Tahoma"/>
              <a:sym typeface="Tahoma"/>
            </a:endParaRPr>
          </a:p>
        </p:txBody>
      </p:sp>
    </p:spTree>
  </p:cSld>
  <p:clrMapOvr>
    <a:masterClrMapping/>
  </p:clrMapOvr>
</p:sld>
</file>

<file path=ppt/slides/slide5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22" name="Shape 52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23" name="Google Shape;523;g3220fd27c11_5_268"/>
          <p:cNvSpPr txBox="1"/>
          <p:nvPr>
            <p:ph type="title"/>
          </p:nvPr>
        </p:nvSpPr>
        <p:spPr>
          <a:xfrm>
            <a:off x="490601" y="164475"/>
            <a:ext cx="4988100" cy="2283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12700">
            <a:spAutoFit/>
          </a:bodyPr>
          <a:lstStyle/>
          <a:p>
            <a:pPr indent="0" lvl="0" marL="0" rtl="0" algn="just">
              <a:lnSpc>
                <a:spcPct val="115000"/>
              </a:lnSpc>
              <a:spcBef>
                <a:spcPts val="1600"/>
              </a:spcBef>
              <a:spcAft>
                <a:spcPts val="400"/>
              </a:spcAft>
              <a:buSzPts val="1100"/>
              <a:buNone/>
            </a:pPr>
            <a:r>
              <a:rPr lang="en-US" sz="1400">
                <a:solidFill>
                  <a:srgbClr val="434343"/>
                </a:solidFill>
                <a:latin typeface="Arial"/>
                <a:ea typeface="Arial"/>
                <a:cs typeface="Arial"/>
                <a:sym typeface="Arial"/>
              </a:rPr>
              <a:t>Incidence Matrix Representation: Directed Graph (optional)</a:t>
            </a:r>
            <a:endParaRPr/>
          </a:p>
        </p:txBody>
      </p:sp>
      <p:pic>
        <p:nvPicPr>
          <p:cNvPr id="524" name="Google Shape;524;g3220fd27c11_5_268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1639350" y="466450"/>
            <a:ext cx="3967301" cy="2682101"/>
          </a:xfrm>
          <a:prstGeom prst="rect">
            <a:avLst/>
          </a:prstGeom>
          <a:noFill/>
          <a:ln>
            <a:noFill/>
          </a:ln>
        </p:spPr>
      </p:pic>
      <p:sp>
        <p:nvSpPr>
          <p:cNvPr id="525" name="Google Shape;525;g3220fd27c11_5_268"/>
          <p:cNvSpPr txBox="1"/>
          <p:nvPr/>
        </p:nvSpPr>
        <p:spPr>
          <a:xfrm>
            <a:off x="56125" y="466450"/>
            <a:ext cx="3301200" cy="8010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l">
              <a:lnSpc>
                <a:spcPct val="115000"/>
              </a:lnSpc>
              <a:spcBef>
                <a:spcPts val="1200"/>
              </a:spcBef>
              <a:spcAft>
                <a:spcPts val="1200"/>
              </a:spcAft>
              <a:buClr>
                <a:srgbClr val="000000"/>
              </a:buClr>
              <a:buSzPts val="900"/>
              <a:buFont typeface="Arial"/>
              <a:buNone/>
            </a:pPr>
            <a:r>
              <a:rPr b="1" i="0" lang="en-US" sz="900" u="none" cap="none" strike="noStrik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rPr>
              <a:t>Outgoing Edge</a:t>
            </a:r>
            <a:r>
              <a:rPr b="0" i="0" lang="en-US" sz="900" u="none" cap="none" strike="noStrik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rPr>
              <a:t>: Put a </a:t>
            </a:r>
            <a:r>
              <a:rPr b="1" i="0" lang="en-US" sz="900" u="none" cap="none" strike="noStrik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rPr>
              <a:t>1</a:t>
            </a:r>
            <a:r>
              <a:rPr b="0" i="0" lang="en-US" sz="900" u="none" cap="none" strike="noStrik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rPr>
              <a:t> in the source vertex column.</a:t>
            </a:r>
            <a:br>
              <a:rPr b="0" i="0" lang="en-US" sz="900" u="none" cap="none" strike="noStrik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rPr>
            </a:br>
            <a:r>
              <a:rPr b="1" i="0" lang="en-US" sz="900" u="none" cap="none" strike="noStrik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rPr>
              <a:t>Incoming Edge</a:t>
            </a:r>
            <a:r>
              <a:rPr b="0" i="0" lang="en-US" sz="900" u="none" cap="none" strike="noStrik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rPr>
              <a:t>: Put a </a:t>
            </a:r>
            <a:r>
              <a:rPr b="1" i="0" lang="en-US" sz="900" u="none" cap="none" strike="noStrik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rPr>
              <a:t>-1</a:t>
            </a:r>
            <a:r>
              <a:rPr b="0" i="0" lang="en-US" sz="900" u="none" cap="none" strike="noStrik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rPr>
              <a:t> in the destination vertex column.</a:t>
            </a:r>
            <a:br>
              <a:rPr b="0" i="0" lang="en-US" sz="900" u="none" cap="none" strike="noStrik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rPr>
            </a:br>
            <a:br>
              <a:rPr b="0" i="0" lang="en-US" sz="900" u="none" cap="none" strike="noStrik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rPr>
            </a:br>
            <a:r>
              <a:rPr b="0" i="0" lang="en-US" sz="900" u="none" cap="none" strike="noStrike">
                <a:solidFill>
                  <a:srgbClr val="990000"/>
                </a:solidFill>
                <a:latin typeface="Tahoma"/>
                <a:ea typeface="Tahoma"/>
                <a:cs typeface="Tahoma"/>
                <a:sym typeface="Tahoma"/>
              </a:rPr>
              <a:t>Red writings are the numbering of the edges, not the weight</a:t>
            </a:r>
            <a:endParaRPr b="0" i="0" sz="900" u="none" cap="none" strike="noStrike">
              <a:solidFill>
                <a:schemeClr val="dk1"/>
              </a:solidFill>
              <a:latin typeface="Tahoma"/>
              <a:ea typeface="Tahoma"/>
              <a:cs typeface="Tahoma"/>
              <a:sym typeface="Tahoma"/>
            </a:endParaRPr>
          </a:p>
        </p:txBody>
      </p:sp>
      <p:sp>
        <p:nvSpPr>
          <p:cNvPr id="526" name="Google Shape;526;g3220fd27c11_5_268"/>
          <p:cNvSpPr txBox="1"/>
          <p:nvPr/>
        </p:nvSpPr>
        <p:spPr>
          <a:xfrm>
            <a:off x="206725" y="2535675"/>
            <a:ext cx="3000000" cy="482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</a:pPr>
            <a:r>
              <a:rPr b="1" i="0" lang="en-US" sz="900" u="none" cap="none" strike="noStrik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rPr>
              <a:t>Edge-Weighted Graph</a:t>
            </a:r>
            <a:r>
              <a:rPr b="0" i="0" lang="en-US" sz="900" u="none" cap="none" strike="noStrik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rPr>
              <a:t>: Use positive/negative weights instead of 1 and -1. (Not part of syllabus)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5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30" name="Shape 53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31" name="Google Shape;531;g3220fd27c11_5_251"/>
          <p:cNvSpPr txBox="1"/>
          <p:nvPr>
            <p:ph type="title"/>
          </p:nvPr>
        </p:nvSpPr>
        <p:spPr>
          <a:xfrm>
            <a:off x="1247917" y="164483"/>
            <a:ext cx="4230900" cy="2283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12700">
            <a:spAutoFit/>
          </a:bodyPr>
          <a:lstStyle/>
          <a:p>
            <a:pPr indent="0" lvl="0" marL="0" rtl="0" algn="just">
              <a:lnSpc>
                <a:spcPct val="115000"/>
              </a:lnSpc>
              <a:spcBef>
                <a:spcPts val="1600"/>
              </a:spcBef>
              <a:spcAft>
                <a:spcPts val="400"/>
              </a:spcAft>
              <a:buSzPts val="1100"/>
              <a:buNone/>
            </a:pPr>
            <a:r>
              <a:rPr lang="en-US" sz="1400">
                <a:solidFill>
                  <a:srgbClr val="434343"/>
                </a:solidFill>
                <a:latin typeface="Arial"/>
                <a:ea typeface="Arial"/>
                <a:cs typeface="Arial"/>
                <a:sym typeface="Arial"/>
              </a:rPr>
              <a:t>Incidence Matrix Representation (optional)</a:t>
            </a:r>
            <a:endParaRPr/>
          </a:p>
        </p:txBody>
      </p:sp>
      <p:sp>
        <p:nvSpPr>
          <p:cNvPr id="532" name="Google Shape;532;g3220fd27c11_5_251"/>
          <p:cNvSpPr txBox="1"/>
          <p:nvPr/>
        </p:nvSpPr>
        <p:spPr>
          <a:xfrm>
            <a:off x="283100" y="642850"/>
            <a:ext cx="5066400" cy="21933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</a:pPr>
            <a:r>
              <a:rPr b="1" i="0" lang="en-US" sz="1000" u="none" cap="none" strike="noStrik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rPr>
              <a:t>Space Complexity</a:t>
            </a:r>
            <a:r>
              <a:rPr b="0" i="0" lang="en-US" sz="1000" u="none" cap="none" strike="noStrik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rPr>
              <a:t>:</a:t>
            </a:r>
            <a:endParaRPr b="0" i="0" sz="1000" u="none" cap="none" strike="noStrike">
              <a:solidFill>
                <a:schemeClr val="dk1"/>
              </a:solidFill>
              <a:latin typeface="Tahoma"/>
              <a:ea typeface="Tahoma"/>
              <a:cs typeface="Tahoma"/>
              <a:sym typeface="Tahoma"/>
            </a:endParaRPr>
          </a:p>
          <a:p>
            <a:pPr indent="-292100" lvl="0" marL="457200" marR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Arial"/>
              <a:buChar char="●"/>
            </a:pPr>
            <a:r>
              <a:rPr b="1" i="0" lang="en-US" sz="1000" u="none" cap="none" strike="noStrik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rPr>
              <a:t>Space Complexity</a:t>
            </a:r>
            <a:r>
              <a:rPr b="0" i="0" lang="en-US" sz="1000" u="none" cap="none" strike="noStrik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rPr>
              <a:t>: O(MN) or O(VE) or O(VxE).</a:t>
            </a:r>
            <a:endParaRPr b="0" i="0" sz="1000" u="none" cap="none" strike="noStrike">
              <a:solidFill>
                <a:schemeClr val="dk1"/>
              </a:solidFill>
              <a:latin typeface="Tahoma"/>
              <a:ea typeface="Tahoma"/>
              <a:cs typeface="Tahoma"/>
              <a:sym typeface="Tahoma"/>
            </a:endParaRPr>
          </a:p>
          <a:p>
            <a:pPr indent="-292100" lvl="0" marL="4572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Arial"/>
              <a:buChar char="●"/>
            </a:pPr>
            <a:r>
              <a:rPr b="1" i="0" lang="en-US" sz="1000" u="none" cap="none" strike="noStrik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rPr>
              <a:t>Sparse Graphs</a:t>
            </a:r>
            <a:r>
              <a:rPr b="0" i="0" lang="en-US" sz="1000" u="none" cap="none" strike="noStrik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rPr>
              <a:t>: Incidence matrix/ Adjacency list may be cheaper than adjacency matrix.</a:t>
            </a:r>
            <a:endParaRPr b="0" i="0" sz="1000" u="none" cap="none" strike="noStrike">
              <a:solidFill>
                <a:schemeClr val="dk1"/>
              </a:solidFill>
              <a:latin typeface="Tahoma"/>
              <a:ea typeface="Tahoma"/>
              <a:cs typeface="Tahoma"/>
              <a:sym typeface="Tahoma"/>
            </a:endParaRPr>
          </a:p>
          <a:p>
            <a:pPr indent="-292100" lvl="0" marL="4572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Arial"/>
              <a:buChar char="●"/>
            </a:pPr>
            <a:r>
              <a:rPr b="1" i="0" lang="en-US" sz="1000" u="none" cap="none" strike="noStrik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rPr>
              <a:t>Dense Graphs</a:t>
            </a:r>
            <a:r>
              <a:rPr b="0" i="0" lang="en-US" sz="1000" u="none" cap="none" strike="noStrik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rPr>
              <a:t>: Adjacency matrix may be better.</a:t>
            </a:r>
            <a:endParaRPr b="0" i="0" sz="1000" u="none" cap="none" strike="noStrike">
              <a:solidFill>
                <a:schemeClr val="dk1"/>
              </a:solidFill>
              <a:latin typeface="Tahoma"/>
              <a:ea typeface="Tahoma"/>
              <a:cs typeface="Tahoma"/>
              <a:sym typeface="Tahoma"/>
            </a:endParaRPr>
          </a:p>
          <a:p>
            <a:pPr indent="0" lvl="0" marL="0" marR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</a:pPr>
            <a:br>
              <a:rPr b="1" i="0" lang="en-US" sz="1000" u="none" cap="none" strike="noStrik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rPr>
            </a:br>
            <a:r>
              <a:rPr b="1" i="0" lang="en-US" sz="1000" u="none" cap="none" strike="noStrik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rPr>
              <a:t>Applications</a:t>
            </a:r>
            <a:r>
              <a:rPr b="0" i="0" lang="en-US" sz="1000" u="none" cap="none" strike="noStrik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rPr>
              <a:t>:</a:t>
            </a:r>
            <a:endParaRPr b="0" i="0" sz="1000" u="none" cap="none" strike="noStrike">
              <a:solidFill>
                <a:schemeClr val="dk1"/>
              </a:solidFill>
              <a:latin typeface="Tahoma"/>
              <a:ea typeface="Tahoma"/>
              <a:cs typeface="Tahoma"/>
              <a:sym typeface="Tahoma"/>
            </a:endParaRPr>
          </a:p>
          <a:p>
            <a:pPr indent="-292100" lvl="0" marL="457200" marR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Arial"/>
              <a:buChar char="●"/>
            </a:pPr>
            <a:r>
              <a:rPr b="0" i="0" lang="en-US" sz="1000" u="none" cap="none" strike="noStrik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rPr>
              <a:t>Popular in </a:t>
            </a:r>
            <a:r>
              <a:rPr b="1" i="0" lang="en-US" sz="1000" u="none" cap="none" strike="noStrik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rPr>
              <a:t>electrical circuit analysis</a:t>
            </a:r>
            <a:r>
              <a:rPr b="0" i="0" lang="en-US" sz="1000" u="none" cap="none" strike="noStrik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rPr>
              <a:t> (sparse graphs).</a:t>
            </a:r>
            <a:endParaRPr b="0" i="0" sz="1000" u="none" cap="none" strike="noStrike">
              <a:solidFill>
                <a:schemeClr val="dk1"/>
              </a:solidFill>
              <a:latin typeface="Tahoma"/>
              <a:ea typeface="Tahoma"/>
              <a:cs typeface="Tahoma"/>
              <a:sym typeface="Tahoma"/>
            </a:endParaRPr>
          </a:p>
          <a:p>
            <a:pPr indent="-292100" lvl="0" marL="4572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Tahoma"/>
              <a:buChar char="●"/>
            </a:pPr>
            <a:r>
              <a:rPr b="0" i="0" lang="en-US" sz="1000" u="none" cap="none" strike="noStrik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rPr>
              <a:t>Specific algorithms require incidence matrix for computation efficiency.</a:t>
            </a:r>
            <a:endParaRPr b="0" i="0" sz="1000" u="none" cap="none" strike="noStrike">
              <a:solidFill>
                <a:schemeClr val="dk1"/>
              </a:solidFill>
              <a:latin typeface="Tahoma"/>
              <a:ea typeface="Tahoma"/>
              <a:cs typeface="Tahoma"/>
              <a:sym typeface="Tahoma"/>
            </a:endParaRPr>
          </a:p>
        </p:txBody>
      </p:sp>
    </p:spTree>
  </p:cSld>
  <p:clrMapOvr>
    <a:masterClrMapping/>
  </p:clrMapOvr>
</p:sld>
</file>

<file path=ppt/slides/slide5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36" name="Shape 53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37" name="Google Shape;537;p28"/>
          <p:cNvSpPr txBox="1"/>
          <p:nvPr>
            <p:ph type="title"/>
          </p:nvPr>
        </p:nvSpPr>
        <p:spPr>
          <a:xfrm>
            <a:off x="2335151" y="1126050"/>
            <a:ext cx="1616100" cy="390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12700">
            <a:spAutoFit/>
          </a:bodyPr>
          <a:lstStyle/>
          <a:p>
            <a:pPr indent="0" lvl="0" marL="127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rPr lang="en-US" sz="2450">
                <a:solidFill>
                  <a:srgbClr val="000000"/>
                </a:solidFill>
              </a:rPr>
              <a:t>The End</a:t>
            </a:r>
            <a:endParaRPr sz="245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terms:created xsi:type="dcterms:W3CDTF">2024-12-06T15:26:07Z</dcterms:created>
  <dc:creator>Fadi Al Machot</dc:creator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reated">
    <vt:filetime>2023-04-26T00:00:00Z</vt:filetime>
  </property>
  <property fmtid="{D5CDD505-2E9C-101B-9397-08002B2CF9AE}" pid="3" name="Creator">
    <vt:lpwstr>Microsoft® PowerPoint® for Microsoft 365</vt:lpwstr>
  </property>
  <property fmtid="{D5CDD505-2E9C-101B-9397-08002B2CF9AE}" pid="4" name="LastSaved">
    <vt:filetime>2024-12-06T00:00:00Z</vt:filetime>
  </property>
  <property fmtid="{D5CDD505-2E9C-101B-9397-08002B2CF9AE}" pid="5" name="Producer">
    <vt:lpwstr>Microsoft® PowerPoint® for Microsoft 365</vt:lpwstr>
  </property>
</Properties>
</file>