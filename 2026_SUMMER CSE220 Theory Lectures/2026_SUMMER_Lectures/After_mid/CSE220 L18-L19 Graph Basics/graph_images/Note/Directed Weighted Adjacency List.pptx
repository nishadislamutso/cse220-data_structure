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1675"/>
  <p:notesSz cx="6858000" cy="12191675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xp11keKv/uPErrKDjElcmlE+c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778c2bce4_5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f778c2bce4_5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f778c2bce4_5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78c2bce4_5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f778c2bce4_5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f778c2bce4_5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778c2bce4_5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778c2bce4_5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f778c2bce4_5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778c2bce4_5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778c2bce4_5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f778c2bce4_5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 cap="flat" cmpd="sng" w="12700">
            <a:solidFill>
              <a:srgbClr val="DD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Directed Weighted Graph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Each list node stores both destination and weight.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7"/>
          <p:cNvSpPr/>
          <p:nvPr/>
        </p:nvSpPr>
        <p:spPr>
          <a:xfrm>
            <a:off x="275515" y="2106093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7"/>
          <p:cNvCxnSpPr/>
          <p:nvPr/>
        </p:nvCxnSpPr>
        <p:spPr>
          <a:xfrm flipH="1" rot="10800000">
            <a:off x="686810" y="3340150"/>
            <a:ext cx="1255800" cy="4833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" name="Google Shape;25;p17"/>
          <p:cNvSpPr/>
          <p:nvPr/>
        </p:nvSpPr>
        <p:spPr>
          <a:xfrm>
            <a:off x="1216800" y="3500372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7"/>
          <p:cNvSpPr/>
          <p:nvPr/>
        </p:nvSpPr>
        <p:spPr>
          <a:xfrm>
            <a:off x="1216800" y="350853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17"/>
          <p:cNvCxnSpPr/>
          <p:nvPr/>
        </p:nvCxnSpPr>
        <p:spPr>
          <a:xfrm>
            <a:off x="589891" y="4052889"/>
            <a:ext cx="511500" cy="11958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" name="Google Shape;28;p17"/>
          <p:cNvSpPr/>
          <p:nvPr/>
        </p:nvSpPr>
        <p:spPr>
          <a:xfrm>
            <a:off x="747720" y="4569072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47720" y="457723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17"/>
          <p:cNvCxnSpPr/>
          <p:nvPr/>
        </p:nvCxnSpPr>
        <p:spPr>
          <a:xfrm>
            <a:off x="2248633" y="3390121"/>
            <a:ext cx="1109700" cy="9141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" name="Google Shape;31;p17"/>
          <p:cNvSpPr/>
          <p:nvPr/>
        </p:nvSpPr>
        <p:spPr>
          <a:xfrm>
            <a:off x="2705619" y="3765508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7"/>
          <p:cNvSpPr/>
          <p:nvPr/>
        </p:nvSpPr>
        <p:spPr>
          <a:xfrm>
            <a:off x="2705619" y="3773666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7"/>
          <p:cNvCxnSpPr/>
          <p:nvPr/>
        </p:nvCxnSpPr>
        <p:spPr>
          <a:xfrm>
            <a:off x="2183960" y="3439596"/>
            <a:ext cx="994200" cy="22020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" name="Google Shape;34;p17"/>
          <p:cNvSpPr/>
          <p:nvPr/>
        </p:nvSpPr>
        <p:spPr>
          <a:xfrm>
            <a:off x="2583250" y="4458939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7"/>
          <p:cNvSpPr/>
          <p:nvPr/>
        </p:nvSpPr>
        <p:spPr>
          <a:xfrm>
            <a:off x="2583250" y="446709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7"/>
          <p:cNvCxnSpPr/>
          <p:nvPr/>
        </p:nvCxnSpPr>
        <p:spPr>
          <a:xfrm flipH="1" rot="10800000">
            <a:off x="1244065" y="3440385"/>
            <a:ext cx="793800" cy="18087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17"/>
          <p:cNvSpPr/>
          <p:nvPr/>
        </p:nvSpPr>
        <p:spPr>
          <a:xfrm>
            <a:off x="1543117" y="4263147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7"/>
          <p:cNvSpPr/>
          <p:nvPr/>
        </p:nvSpPr>
        <p:spPr>
          <a:xfrm>
            <a:off x="1543117" y="4271305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" name="Google Shape;39;p17"/>
          <p:cNvCxnSpPr/>
          <p:nvPr/>
        </p:nvCxnSpPr>
        <p:spPr>
          <a:xfrm>
            <a:off x="1348308" y="5446628"/>
            <a:ext cx="1727400" cy="3252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" name="Google Shape;40;p17"/>
          <p:cNvSpPr/>
          <p:nvPr/>
        </p:nvSpPr>
        <p:spPr>
          <a:xfrm>
            <a:off x="2114170" y="5527639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2114170" y="553579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17"/>
          <p:cNvCxnSpPr/>
          <p:nvPr/>
        </p:nvCxnSpPr>
        <p:spPr>
          <a:xfrm flipH="1" rot="10800000">
            <a:off x="3283388" y="4594767"/>
            <a:ext cx="182400" cy="10335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" name="Google Shape;43;p17"/>
          <p:cNvSpPr/>
          <p:nvPr/>
        </p:nvSpPr>
        <p:spPr>
          <a:xfrm>
            <a:off x="3276672" y="5030000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3276672" y="5038158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7"/>
          <p:cNvSpPr/>
          <p:nvPr/>
        </p:nvSpPr>
        <p:spPr>
          <a:xfrm>
            <a:off x="339825" y="370840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7"/>
          <p:cNvSpPr/>
          <p:nvPr/>
        </p:nvSpPr>
        <p:spPr>
          <a:xfrm>
            <a:off x="421404" y="3798140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7"/>
          <p:cNvSpPr/>
          <p:nvPr/>
        </p:nvSpPr>
        <p:spPr>
          <a:xfrm>
            <a:off x="1930617" y="3096550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7"/>
          <p:cNvSpPr/>
          <p:nvPr/>
        </p:nvSpPr>
        <p:spPr>
          <a:xfrm>
            <a:off x="2012196" y="3186288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7"/>
          <p:cNvSpPr/>
          <p:nvPr/>
        </p:nvSpPr>
        <p:spPr>
          <a:xfrm>
            <a:off x="3317462" y="4238673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7"/>
          <p:cNvSpPr/>
          <p:nvPr/>
        </p:nvSpPr>
        <p:spPr>
          <a:xfrm>
            <a:off x="3399041" y="4328411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7"/>
          <p:cNvSpPr/>
          <p:nvPr/>
        </p:nvSpPr>
        <p:spPr>
          <a:xfrm>
            <a:off x="992458" y="523395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7"/>
          <p:cNvSpPr/>
          <p:nvPr/>
        </p:nvSpPr>
        <p:spPr>
          <a:xfrm>
            <a:off x="1074037" y="5323689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7"/>
          <p:cNvSpPr/>
          <p:nvPr/>
        </p:nvSpPr>
        <p:spPr>
          <a:xfrm>
            <a:off x="3072724" y="5625536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7"/>
          <p:cNvSpPr/>
          <p:nvPr/>
        </p:nvSpPr>
        <p:spPr>
          <a:xfrm>
            <a:off x="3154304" y="5715274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7"/>
          <p:cNvSpPr/>
          <p:nvPr/>
        </p:nvSpPr>
        <p:spPr>
          <a:xfrm>
            <a:off x="3930475" y="2532000"/>
            <a:ext cx="37665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45"/>
              <a:buFont typeface="Arial"/>
              <a:buNone/>
            </a:pPr>
            <a:r>
              <a:rPr b="1" i="0" lang="en-US" sz="1645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List with Weights</a:t>
            </a:r>
            <a:endParaRPr b="0" i="0" sz="16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7"/>
          <p:cNvSpPr/>
          <p:nvPr/>
        </p:nvSpPr>
        <p:spPr>
          <a:xfrm>
            <a:off x="4532008" y="3350468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17"/>
          <p:cNvCxnSpPr/>
          <p:nvPr/>
        </p:nvCxnSpPr>
        <p:spPr>
          <a:xfrm>
            <a:off x="4797400" y="3447778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p17"/>
          <p:cNvSpPr/>
          <p:nvPr/>
        </p:nvSpPr>
        <p:spPr>
          <a:xfrm>
            <a:off x="5133563" y="3253158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7"/>
          <p:cNvSpPr/>
          <p:nvPr/>
        </p:nvSpPr>
        <p:spPr>
          <a:xfrm>
            <a:off x="5160102" y="3323929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7"/>
          <p:cNvCxnSpPr/>
          <p:nvPr/>
        </p:nvCxnSpPr>
        <p:spPr>
          <a:xfrm>
            <a:off x="6071282" y="3412392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" name="Google Shape;61;p17"/>
          <p:cNvSpPr/>
          <p:nvPr/>
        </p:nvSpPr>
        <p:spPr>
          <a:xfrm>
            <a:off x="6212824" y="3253158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7"/>
          <p:cNvSpPr/>
          <p:nvPr/>
        </p:nvSpPr>
        <p:spPr>
          <a:xfrm>
            <a:off x="6239363" y="3323929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3, 6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7"/>
          <p:cNvSpPr/>
          <p:nvPr/>
        </p:nvSpPr>
        <p:spPr>
          <a:xfrm>
            <a:off x="4532008" y="3969713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17"/>
          <p:cNvCxnSpPr/>
          <p:nvPr/>
        </p:nvCxnSpPr>
        <p:spPr>
          <a:xfrm>
            <a:off x="4797400" y="4067023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17"/>
          <p:cNvSpPr/>
          <p:nvPr/>
        </p:nvSpPr>
        <p:spPr>
          <a:xfrm>
            <a:off x="5133563" y="3872403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5171682" y="3943174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2, 3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17"/>
          <p:cNvCxnSpPr/>
          <p:nvPr/>
        </p:nvCxnSpPr>
        <p:spPr>
          <a:xfrm>
            <a:off x="6071282" y="4031637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17"/>
          <p:cNvSpPr/>
          <p:nvPr/>
        </p:nvSpPr>
        <p:spPr>
          <a:xfrm>
            <a:off x="6212824" y="3872403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6239363" y="3943174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4532008" y="4588958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4532008" y="5208202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17"/>
          <p:cNvCxnSpPr/>
          <p:nvPr/>
        </p:nvCxnSpPr>
        <p:spPr>
          <a:xfrm>
            <a:off x="4797400" y="5305512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p17"/>
          <p:cNvSpPr/>
          <p:nvPr/>
        </p:nvSpPr>
        <p:spPr>
          <a:xfrm>
            <a:off x="5133563" y="5110892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5160102" y="5181663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7"/>
          <p:cNvCxnSpPr/>
          <p:nvPr/>
        </p:nvCxnSpPr>
        <p:spPr>
          <a:xfrm>
            <a:off x="6071282" y="5270127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17"/>
          <p:cNvSpPr/>
          <p:nvPr/>
        </p:nvSpPr>
        <p:spPr>
          <a:xfrm>
            <a:off x="6212824" y="5110892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6239363" y="5181663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532008" y="5827447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17"/>
          <p:cNvCxnSpPr/>
          <p:nvPr/>
        </p:nvCxnSpPr>
        <p:spPr>
          <a:xfrm>
            <a:off x="4797400" y="5924757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" name="Google Shape;80;p17"/>
          <p:cNvSpPr/>
          <p:nvPr/>
        </p:nvSpPr>
        <p:spPr>
          <a:xfrm>
            <a:off x="5133563" y="5730137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160102" y="5800908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2, 1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5171679" y="4579979"/>
            <a:ext cx="663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4"/>
              <a:buFont typeface="Arial"/>
              <a:buNone/>
            </a:pPr>
            <a:r>
              <a:rPr b="1" i="0" lang="en-US" sz="1451" u="none" cap="none" strike="noStrike">
                <a:solidFill>
                  <a:srgbClr val="0B7A3B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1" i="0" sz="1451" u="none" cap="none" strike="noStrike">
              <a:solidFill>
                <a:srgbClr val="0B7A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7756800" y="3223900"/>
            <a:ext cx="4458000" cy="26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class WEdge {</a:t>
            </a: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destination;</a:t>
            </a: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weight;</a:t>
            </a: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WEdge next;</a:t>
            </a: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WEdge(int destination, int weight){</a:t>
            </a: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i="0" lang="en-US" sz="13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this.destination = destination;</a:t>
            </a:r>
            <a:br>
              <a:rPr b="1" i="0" lang="en-US" sz="13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7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this.weight = weight;</a:t>
            </a: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this.next = null;</a:t>
            </a: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" name="Google Shape;85;p17"/>
          <p:cNvCxnSpPr/>
          <p:nvPr/>
        </p:nvCxnSpPr>
        <p:spPr>
          <a:xfrm>
            <a:off x="4797400" y="4686273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778c2bce4_5_113"/>
          <p:cNvSpPr/>
          <p:nvPr/>
        </p:nvSpPr>
        <p:spPr>
          <a:xfrm>
            <a:off x="233150" y="292600"/>
            <a:ext cx="11516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778c2bce4_5_113"/>
          <p:cNvSpPr/>
          <p:nvPr/>
        </p:nvSpPr>
        <p:spPr>
          <a:xfrm>
            <a:off x="120850" y="961475"/>
            <a:ext cx="7113000" cy="53493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778c2bce4_5_113"/>
          <p:cNvSpPr/>
          <p:nvPr/>
        </p:nvSpPr>
        <p:spPr>
          <a:xfrm>
            <a:off x="233160" y="1034627"/>
            <a:ext cx="6888300" cy="52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GraphDirectedWeightedAdjacencyList {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Total number of vertices in the graph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WEdge[] adjList;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Array of linked lists (Adjacency List)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Constructor: initialize graph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GraphDirectedWeightedAdjacencyList(int numVertices) {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Create an array of size = numVertices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Each index will store the head of a linked list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adjList = new WEdge[numVertices];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//Initially all values are null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g3f778c2bce4_5_113"/>
          <p:cNvSpPr/>
          <p:nvPr/>
        </p:nvSpPr>
        <p:spPr>
          <a:xfrm>
            <a:off x="7385775" y="4847725"/>
            <a:ext cx="4751400" cy="14631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778c2bce4_5_113"/>
          <p:cNvSpPr/>
          <p:nvPr/>
        </p:nvSpPr>
        <p:spPr>
          <a:xfrm>
            <a:off x="7528875" y="4920875"/>
            <a:ext cx="45486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br>
              <a:rPr b="0" i="0" lang="en-US" sz="105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GraphDirectedWeightedAdjacencyList graph = new GraphDirectedWeightedAdjacencyList(numVertices);</a:t>
            </a:r>
            <a:endParaRPr b="0" i="0" sz="12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g3f778c2bce4_5_113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g3f778c2bce4_5_113"/>
          <p:cNvCxnSpPr/>
          <p:nvPr/>
        </p:nvCxnSpPr>
        <p:spPr>
          <a:xfrm flipH="1" rot="10800000">
            <a:off x="8298835" y="1508950"/>
            <a:ext cx="1255800" cy="4833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" name="Google Shape;98;g3f778c2bce4_5_113"/>
          <p:cNvSpPr/>
          <p:nvPr/>
        </p:nvSpPr>
        <p:spPr>
          <a:xfrm>
            <a:off x="8828825" y="1669172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778c2bce4_5_113"/>
          <p:cNvSpPr/>
          <p:nvPr/>
        </p:nvSpPr>
        <p:spPr>
          <a:xfrm>
            <a:off x="8828825" y="167733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g3f778c2bce4_5_113"/>
          <p:cNvCxnSpPr/>
          <p:nvPr/>
        </p:nvCxnSpPr>
        <p:spPr>
          <a:xfrm>
            <a:off x="8201916" y="2221689"/>
            <a:ext cx="511500" cy="11958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g3f778c2bce4_5_113"/>
          <p:cNvSpPr/>
          <p:nvPr/>
        </p:nvSpPr>
        <p:spPr>
          <a:xfrm>
            <a:off x="8359745" y="2737872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778c2bce4_5_113"/>
          <p:cNvSpPr/>
          <p:nvPr/>
        </p:nvSpPr>
        <p:spPr>
          <a:xfrm>
            <a:off x="8359745" y="274603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g3f778c2bce4_5_113"/>
          <p:cNvCxnSpPr/>
          <p:nvPr/>
        </p:nvCxnSpPr>
        <p:spPr>
          <a:xfrm>
            <a:off x="9860658" y="1558921"/>
            <a:ext cx="1109700" cy="9141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g3f778c2bce4_5_113"/>
          <p:cNvSpPr/>
          <p:nvPr/>
        </p:nvSpPr>
        <p:spPr>
          <a:xfrm>
            <a:off x="10317644" y="1934308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778c2bce4_5_113"/>
          <p:cNvSpPr/>
          <p:nvPr/>
        </p:nvSpPr>
        <p:spPr>
          <a:xfrm>
            <a:off x="10317644" y="1942466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g3f778c2bce4_5_113"/>
          <p:cNvCxnSpPr/>
          <p:nvPr/>
        </p:nvCxnSpPr>
        <p:spPr>
          <a:xfrm>
            <a:off x="9795985" y="1608396"/>
            <a:ext cx="994200" cy="22020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g3f778c2bce4_5_113"/>
          <p:cNvSpPr/>
          <p:nvPr/>
        </p:nvSpPr>
        <p:spPr>
          <a:xfrm>
            <a:off x="10195275" y="2627739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778c2bce4_5_113"/>
          <p:cNvSpPr/>
          <p:nvPr/>
        </p:nvSpPr>
        <p:spPr>
          <a:xfrm>
            <a:off x="10195275" y="263589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g3f778c2bce4_5_113"/>
          <p:cNvCxnSpPr/>
          <p:nvPr/>
        </p:nvCxnSpPr>
        <p:spPr>
          <a:xfrm flipH="1" rot="10800000">
            <a:off x="8856090" y="1609185"/>
            <a:ext cx="793800" cy="18087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g3f778c2bce4_5_113"/>
          <p:cNvSpPr/>
          <p:nvPr/>
        </p:nvSpPr>
        <p:spPr>
          <a:xfrm>
            <a:off x="9155142" y="2431947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778c2bce4_5_113"/>
          <p:cNvSpPr/>
          <p:nvPr/>
        </p:nvSpPr>
        <p:spPr>
          <a:xfrm>
            <a:off x="9155142" y="2440105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g3f778c2bce4_5_113"/>
          <p:cNvCxnSpPr/>
          <p:nvPr/>
        </p:nvCxnSpPr>
        <p:spPr>
          <a:xfrm>
            <a:off x="8960333" y="3615428"/>
            <a:ext cx="1727400" cy="3252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" name="Google Shape;113;g3f778c2bce4_5_113"/>
          <p:cNvSpPr/>
          <p:nvPr/>
        </p:nvSpPr>
        <p:spPr>
          <a:xfrm>
            <a:off x="9726195" y="3696439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778c2bce4_5_113"/>
          <p:cNvSpPr/>
          <p:nvPr/>
        </p:nvSpPr>
        <p:spPr>
          <a:xfrm>
            <a:off x="9726195" y="370459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g3f778c2bce4_5_113"/>
          <p:cNvCxnSpPr/>
          <p:nvPr/>
        </p:nvCxnSpPr>
        <p:spPr>
          <a:xfrm flipH="1" rot="10800000">
            <a:off x="10895413" y="2763567"/>
            <a:ext cx="182400" cy="10335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g3f778c2bce4_5_113"/>
          <p:cNvSpPr/>
          <p:nvPr/>
        </p:nvSpPr>
        <p:spPr>
          <a:xfrm>
            <a:off x="10888697" y="3198800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778c2bce4_5_113"/>
          <p:cNvSpPr/>
          <p:nvPr/>
        </p:nvSpPr>
        <p:spPr>
          <a:xfrm>
            <a:off x="10888697" y="3206958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778c2bce4_5_113"/>
          <p:cNvSpPr/>
          <p:nvPr/>
        </p:nvSpPr>
        <p:spPr>
          <a:xfrm>
            <a:off x="7951850" y="187720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778c2bce4_5_113"/>
          <p:cNvSpPr/>
          <p:nvPr/>
        </p:nvSpPr>
        <p:spPr>
          <a:xfrm>
            <a:off x="8033429" y="1966940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778c2bce4_5_113"/>
          <p:cNvSpPr/>
          <p:nvPr/>
        </p:nvSpPr>
        <p:spPr>
          <a:xfrm>
            <a:off x="9542642" y="1265350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778c2bce4_5_113"/>
          <p:cNvSpPr/>
          <p:nvPr/>
        </p:nvSpPr>
        <p:spPr>
          <a:xfrm>
            <a:off x="9624221" y="1355088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778c2bce4_5_113"/>
          <p:cNvSpPr/>
          <p:nvPr/>
        </p:nvSpPr>
        <p:spPr>
          <a:xfrm>
            <a:off x="10929487" y="2407473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778c2bce4_5_113"/>
          <p:cNvSpPr/>
          <p:nvPr/>
        </p:nvSpPr>
        <p:spPr>
          <a:xfrm>
            <a:off x="11011066" y="2497211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778c2bce4_5_113"/>
          <p:cNvSpPr/>
          <p:nvPr/>
        </p:nvSpPr>
        <p:spPr>
          <a:xfrm>
            <a:off x="8604483" y="340275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778c2bce4_5_113"/>
          <p:cNvSpPr/>
          <p:nvPr/>
        </p:nvSpPr>
        <p:spPr>
          <a:xfrm>
            <a:off x="8686062" y="3492489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778c2bce4_5_113"/>
          <p:cNvSpPr/>
          <p:nvPr/>
        </p:nvSpPr>
        <p:spPr>
          <a:xfrm>
            <a:off x="10684749" y="3794336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778c2bce4_5_113"/>
          <p:cNvSpPr/>
          <p:nvPr/>
        </p:nvSpPr>
        <p:spPr>
          <a:xfrm>
            <a:off x="10766329" y="3884074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78c2bce4_5_140"/>
          <p:cNvSpPr/>
          <p:nvPr/>
        </p:nvSpPr>
        <p:spPr>
          <a:xfrm>
            <a:off x="236707" y="2457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778c2bce4_5_140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778c2bce4_5_140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multiple weighted edges to the graph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edges format: { {source, destination, weight}, ... }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     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Starting vertex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Ending vertex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weight = edges[i][2];     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Edge weight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    // For DIRECTED graph: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    // Add edge in only ONE direction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addEdge(source, destination, weight);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Helper method to add a single directed weighted edge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addEdge(int source, int destination, int weight) {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Step 1: Create a new weighted edge node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WEdge newEdge = new WEdge(destination, weight);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2: Insert at the beginning (prepend) ensuring O(1)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3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3: Update the head of the list</a:t>
            </a:r>
            <a:endParaRPr b="1" i="0" sz="13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3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3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g3f778c2bce4_5_140"/>
          <p:cNvSpPr/>
          <p:nvPr/>
        </p:nvSpPr>
        <p:spPr>
          <a:xfrm>
            <a:off x="7577275" y="4526600"/>
            <a:ext cx="4548000" cy="20826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778c2bce4_5_140"/>
          <p:cNvSpPr/>
          <p:nvPr/>
        </p:nvSpPr>
        <p:spPr>
          <a:xfrm>
            <a:off x="7710375" y="4610400"/>
            <a:ext cx="42813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 numVertices = 5;</a:t>
            </a:r>
            <a:endParaRPr b="0" i="0" sz="15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b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{0, 1, 2}, {0, 3, 6},</a:t>
            </a:r>
            <a:b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{1, 2, 3}, {1, 4, 5},</a:t>
            </a:r>
            <a:b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{3, 1, 4}, {3, 4, 2},</a:t>
            </a:r>
            <a:b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{4, 2, 1}</a:t>
            </a:r>
            <a:b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br>
              <a:rPr b="0" i="0" lang="en-US" sz="15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b="0" i="0" sz="15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g3f778c2bce4_5_140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778c2bce4_5_140"/>
          <p:cNvSpPr txBox="1"/>
          <p:nvPr/>
        </p:nvSpPr>
        <p:spPr>
          <a:xfrm>
            <a:off x="0" y="0"/>
            <a:ext cx="30000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g3f778c2bce4_5_140"/>
          <p:cNvCxnSpPr/>
          <p:nvPr/>
        </p:nvCxnSpPr>
        <p:spPr>
          <a:xfrm flipH="1" rot="10800000">
            <a:off x="8406560" y="1405200"/>
            <a:ext cx="1255800" cy="4833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g3f778c2bce4_5_140"/>
          <p:cNvSpPr/>
          <p:nvPr/>
        </p:nvSpPr>
        <p:spPr>
          <a:xfrm>
            <a:off x="8936550" y="1565422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778c2bce4_5_140"/>
          <p:cNvSpPr/>
          <p:nvPr/>
        </p:nvSpPr>
        <p:spPr>
          <a:xfrm>
            <a:off x="8936550" y="157358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g3f778c2bce4_5_140"/>
          <p:cNvCxnSpPr/>
          <p:nvPr/>
        </p:nvCxnSpPr>
        <p:spPr>
          <a:xfrm>
            <a:off x="8309641" y="2117939"/>
            <a:ext cx="511500" cy="11958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g3f778c2bce4_5_140"/>
          <p:cNvSpPr/>
          <p:nvPr/>
        </p:nvSpPr>
        <p:spPr>
          <a:xfrm>
            <a:off x="8467470" y="2634122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778c2bce4_5_140"/>
          <p:cNvSpPr/>
          <p:nvPr/>
        </p:nvSpPr>
        <p:spPr>
          <a:xfrm>
            <a:off x="8467470" y="264228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3f778c2bce4_5_140"/>
          <p:cNvCxnSpPr/>
          <p:nvPr/>
        </p:nvCxnSpPr>
        <p:spPr>
          <a:xfrm>
            <a:off x="9968383" y="1455171"/>
            <a:ext cx="1109700" cy="9141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g3f778c2bce4_5_140"/>
          <p:cNvSpPr/>
          <p:nvPr/>
        </p:nvSpPr>
        <p:spPr>
          <a:xfrm>
            <a:off x="10425369" y="1830558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778c2bce4_5_140"/>
          <p:cNvSpPr/>
          <p:nvPr/>
        </p:nvSpPr>
        <p:spPr>
          <a:xfrm>
            <a:off x="10425369" y="1838716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g3f778c2bce4_5_140"/>
          <p:cNvCxnSpPr/>
          <p:nvPr/>
        </p:nvCxnSpPr>
        <p:spPr>
          <a:xfrm>
            <a:off x="9903710" y="1504646"/>
            <a:ext cx="994200" cy="22020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g3f778c2bce4_5_140"/>
          <p:cNvSpPr/>
          <p:nvPr/>
        </p:nvSpPr>
        <p:spPr>
          <a:xfrm>
            <a:off x="10303000" y="2523989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778c2bce4_5_140"/>
          <p:cNvSpPr/>
          <p:nvPr/>
        </p:nvSpPr>
        <p:spPr>
          <a:xfrm>
            <a:off x="10303000" y="253214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g3f778c2bce4_5_140"/>
          <p:cNvCxnSpPr/>
          <p:nvPr/>
        </p:nvCxnSpPr>
        <p:spPr>
          <a:xfrm flipH="1" rot="10800000">
            <a:off x="8963815" y="1505435"/>
            <a:ext cx="793800" cy="18087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" name="Google Shape;153;g3f778c2bce4_5_140"/>
          <p:cNvSpPr/>
          <p:nvPr/>
        </p:nvSpPr>
        <p:spPr>
          <a:xfrm>
            <a:off x="9262867" y="2328197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778c2bce4_5_140"/>
          <p:cNvSpPr/>
          <p:nvPr/>
        </p:nvSpPr>
        <p:spPr>
          <a:xfrm>
            <a:off x="9262867" y="2336355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g3f778c2bce4_5_140"/>
          <p:cNvCxnSpPr/>
          <p:nvPr/>
        </p:nvCxnSpPr>
        <p:spPr>
          <a:xfrm>
            <a:off x="9068058" y="3511678"/>
            <a:ext cx="1727400" cy="3252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g3f778c2bce4_5_140"/>
          <p:cNvSpPr/>
          <p:nvPr/>
        </p:nvSpPr>
        <p:spPr>
          <a:xfrm>
            <a:off x="9833920" y="3592689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778c2bce4_5_140"/>
          <p:cNvSpPr/>
          <p:nvPr/>
        </p:nvSpPr>
        <p:spPr>
          <a:xfrm>
            <a:off x="9833920" y="360084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g3f778c2bce4_5_140"/>
          <p:cNvCxnSpPr/>
          <p:nvPr/>
        </p:nvCxnSpPr>
        <p:spPr>
          <a:xfrm flipH="1" rot="10800000">
            <a:off x="11003138" y="2659817"/>
            <a:ext cx="182400" cy="10335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g3f778c2bce4_5_140"/>
          <p:cNvSpPr/>
          <p:nvPr/>
        </p:nvSpPr>
        <p:spPr>
          <a:xfrm>
            <a:off x="10996422" y="3095050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778c2bce4_5_140"/>
          <p:cNvSpPr/>
          <p:nvPr/>
        </p:nvSpPr>
        <p:spPr>
          <a:xfrm>
            <a:off x="10996422" y="3103208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778c2bce4_5_140"/>
          <p:cNvSpPr/>
          <p:nvPr/>
        </p:nvSpPr>
        <p:spPr>
          <a:xfrm>
            <a:off x="8059575" y="177345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778c2bce4_5_140"/>
          <p:cNvSpPr/>
          <p:nvPr/>
        </p:nvSpPr>
        <p:spPr>
          <a:xfrm>
            <a:off x="8141154" y="1863190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778c2bce4_5_140"/>
          <p:cNvSpPr/>
          <p:nvPr/>
        </p:nvSpPr>
        <p:spPr>
          <a:xfrm>
            <a:off x="9650367" y="1161600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778c2bce4_5_140"/>
          <p:cNvSpPr/>
          <p:nvPr/>
        </p:nvSpPr>
        <p:spPr>
          <a:xfrm>
            <a:off x="9731946" y="1251338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f778c2bce4_5_140"/>
          <p:cNvSpPr/>
          <p:nvPr/>
        </p:nvSpPr>
        <p:spPr>
          <a:xfrm>
            <a:off x="11037212" y="2303723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778c2bce4_5_140"/>
          <p:cNvSpPr/>
          <p:nvPr/>
        </p:nvSpPr>
        <p:spPr>
          <a:xfrm>
            <a:off x="11118791" y="2393461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778c2bce4_5_140"/>
          <p:cNvSpPr/>
          <p:nvPr/>
        </p:nvSpPr>
        <p:spPr>
          <a:xfrm>
            <a:off x="8712208" y="329900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778c2bce4_5_140"/>
          <p:cNvSpPr/>
          <p:nvPr/>
        </p:nvSpPr>
        <p:spPr>
          <a:xfrm>
            <a:off x="8793787" y="3388739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778c2bce4_5_140"/>
          <p:cNvSpPr/>
          <p:nvPr/>
        </p:nvSpPr>
        <p:spPr>
          <a:xfrm>
            <a:off x="10792474" y="3690586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778c2bce4_5_140"/>
          <p:cNvSpPr/>
          <p:nvPr/>
        </p:nvSpPr>
        <p:spPr>
          <a:xfrm>
            <a:off x="10874054" y="3780324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778c2bce4_5_168"/>
          <p:cNvSpPr/>
          <p:nvPr/>
        </p:nvSpPr>
        <p:spPr>
          <a:xfrm>
            <a:off x="236707" y="2457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778c2bce4_5_168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778c2bce4_5_168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Method to find and print neighbors of a given vertex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System.out.print("\nNeighbors of vertex " + vertex + ": ");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WEdge current = adjList[vertex];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all neighbors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neighbor and edge weight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System.out.print("(" + current.destination + ", " 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+ current.weight + ")");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comma if not the last element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(current.next != null) {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System.out.print(",");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g3f778c2bce4_5_168"/>
          <p:cNvSpPr/>
          <p:nvPr/>
        </p:nvSpPr>
        <p:spPr>
          <a:xfrm>
            <a:off x="7577275" y="4526600"/>
            <a:ext cx="4548000" cy="20826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778c2bce4_5_168"/>
          <p:cNvSpPr/>
          <p:nvPr/>
        </p:nvSpPr>
        <p:spPr>
          <a:xfrm>
            <a:off x="7710625" y="4779625"/>
            <a:ext cx="42813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6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graph.findNeighbors(2);</a:t>
            </a:r>
            <a:endParaRPr b="0" i="0" sz="16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null</a:t>
            </a:r>
            <a:endParaRPr b="0" i="0" sz="16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6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graph.findNeighbors(3);</a:t>
            </a:r>
            <a:endParaRPr b="0" i="0" sz="16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1, 4</a:t>
            </a:r>
            <a:endParaRPr b="0" i="0" sz="16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g3f778c2bce4_5_168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778c2bce4_5_168"/>
          <p:cNvSpPr/>
          <p:nvPr/>
        </p:nvSpPr>
        <p:spPr>
          <a:xfrm>
            <a:off x="7787483" y="1208093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g3f778c2bce4_5_168"/>
          <p:cNvCxnSpPr/>
          <p:nvPr/>
        </p:nvCxnSpPr>
        <p:spPr>
          <a:xfrm>
            <a:off x="8052875" y="1305403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g3f778c2bce4_5_168"/>
          <p:cNvSpPr/>
          <p:nvPr/>
        </p:nvSpPr>
        <p:spPr>
          <a:xfrm>
            <a:off x="8389038" y="1110783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778c2bce4_5_168"/>
          <p:cNvSpPr/>
          <p:nvPr/>
        </p:nvSpPr>
        <p:spPr>
          <a:xfrm>
            <a:off x="8415577" y="1181554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3f778c2bce4_5_168"/>
          <p:cNvCxnSpPr/>
          <p:nvPr/>
        </p:nvCxnSpPr>
        <p:spPr>
          <a:xfrm>
            <a:off x="9326757" y="1270017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" name="Google Shape;187;g3f778c2bce4_5_168"/>
          <p:cNvSpPr/>
          <p:nvPr/>
        </p:nvSpPr>
        <p:spPr>
          <a:xfrm>
            <a:off x="9468299" y="1110783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f778c2bce4_5_168"/>
          <p:cNvSpPr/>
          <p:nvPr/>
        </p:nvSpPr>
        <p:spPr>
          <a:xfrm>
            <a:off x="9494838" y="1181554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3, 6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f778c2bce4_5_168"/>
          <p:cNvSpPr/>
          <p:nvPr/>
        </p:nvSpPr>
        <p:spPr>
          <a:xfrm>
            <a:off x="7787483" y="1827338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g3f778c2bce4_5_168"/>
          <p:cNvCxnSpPr/>
          <p:nvPr/>
        </p:nvCxnSpPr>
        <p:spPr>
          <a:xfrm>
            <a:off x="8052875" y="1924648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g3f778c2bce4_5_168"/>
          <p:cNvSpPr/>
          <p:nvPr/>
        </p:nvSpPr>
        <p:spPr>
          <a:xfrm>
            <a:off x="8389038" y="1730028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778c2bce4_5_168"/>
          <p:cNvSpPr/>
          <p:nvPr/>
        </p:nvSpPr>
        <p:spPr>
          <a:xfrm>
            <a:off x="8427157" y="1800799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2, 3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g3f778c2bce4_5_168"/>
          <p:cNvCxnSpPr/>
          <p:nvPr/>
        </p:nvCxnSpPr>
        <p:spPr>
          <a:xfrm>
            <a:off x="9326757" y="1889262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g3f778c2bce4_5_168"/>
          <p:cNvSpPr/>
          <p:nvPr/>
        </p:nvSpPr>
        <p:spPr>
          <a:xfrm>
            <a:off x="9468299" y="1730028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778c2bce4_5_168"/>
          <p:cNvSpPr/>
          <p:nvPr/>
        </p:nvSpPr>
        <p:spPr>
          <a:xfrm>
            <a:off x="9494838" y="1800799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778c2bce4_5_168"/>
          <p:cNvSpPr/>
          <p:nvPr/>
        </p:nvSpPr>
        <p:spPr>
          <a:xfrm>
            <a:off x="7787483" y="2446583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778c2bce4_5_168"/>
          <p:cNvSpPr/>
          <p:nvPr/>
        </p:nvSpPr>
        <p:spPr>
          <a:xfrm>
            <a:off x="7787483" y="3065827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g3f778c2bce4_5_168"/>
          <p:cNvCxnSpPr/>
          <p:nvPr/>
        </p:nvCxnSpPr>
        <p:spPr>
          <a:xfrm>
            <a:off x="8052875" y="3163137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g3f778c2bce4_5_168"/>
          <p:cNvSpPr/>
          <p:nvPr/>
        </p:nvSpPr>
        <p:spPr>
          <a:xfrm>
            <a:off x="8389038" y="2968517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778c2bce4_5_168"/>
          <p:cNvSpPr/>
          <p:nvPr/>
        </p:nvSpPr>
        <p:spPr>
          <a:xfrm>
            <a:off x="8415577" y="3039288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g3f778c2bce4_5_168"/>
          <p:cNvCxnSpPr/>
          <p:nvPr/>
        </p:nvCxnSpPr>
        <p:spPr>
          <a:xfrm>
            <a:off x="9326757" y="3127752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" name="Google Shape;202;g3f778c2bce4_5_168"/>
          <p:cNvSpPr/>
          <p:nvPr/>
        </p:nvSpPr>
        <p:spPr>
          <a:xfrm>
            <a:off x="9468299" y="2968517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778c2bce4_5_168"/>
          <p:cNvSpPr/>
          <p:nvPr/>
        </p:nvSpPr>
        <p:spPr>
          <a:xfrm>
            <a:off x="9494838" y="3039288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778c2bce4_5_168"/>
          <p:cNvSpPr/>
          <p:nvPr/>
        </p:nvSpPr>
        <p:spPr>
          <a:xfrm>
            <a:off x="7787483" y="3685072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g3f778c2bce4_5_168"/>
          <p:cNvCxnSpPr/>
          <p:nvPr/>
        </p:nvCxnSpPr>
        <p:spPr>
          <a:xfrm>
            <a:off x="8052875" y="3782382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" name="Google Shape;206;g3f778c2bce4_5_168"/>
          <p:cNvSpPr/>
          <p:nvPr/>
        </p:nvSpPr>
        <p:spPr>
          <a:xfrm>
            <a:off x="8389038" y="3587762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778c2bce4_5_168"/>
          <p:cNvSpPr/>
          <p:nvPr/>
        </p:nvSpPr>
        <p:spPr>
          <a:xfrm>
            <a:off x="8415577" y="3658533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2, 1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778c2bce4_5_168"/>
          <p:cNvSpPr/>
          <p:nvPr/>
        </p:nvSpPr>
        <p:spPr>
          <a:xfrm>
            <a:off x="8427154" y="2437604"/>
            <a:ext cx="663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4"/>
              <a:buFont typeface="Arial"/>
              <a:buNone/>
            </a:pPr>
            <a:r>
              <a:rPr b="1" i="0" lang="en-US" sz="1451" u="none" cap="none" strike="noStrike">
                <a:solidFill>
                  <a:srgbClr val="0B7A3B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1" i="0" sz="1451" u="none" cap="none" strike="noStrike">
              <a:solidFill>
                <a:srgbClr val="0B7A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g3f778c2bce4_5_168"/>
          <p:cNvCxnSpPr/>
          <p:nvPr/>
        </p:nvCxnSpPr>
        <p:spPr>
          <a:xfrm>
            <a:off x="8052875" y="2543898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778c2bce4_5_207"/>
          <p:cNvSpPr/>
          <p:nvPr/>
        </p:nvSpPr>
        <p:spPr>
          <a:xfrm>
            <a:off x="120857" y="1112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778c2bce4_5_207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778c2bce4_5_207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the full adjacency list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printList() {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List with Weights:");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each vertex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System.out.print(i + ": ");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Traverse linked list of edges for vertex i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WEdge current = adjList[i];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while (current != null) {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destination and edge weight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System.out.print("(" + current.destination + ", " 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+ current.weight + ") ");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current = current.next; </a:t>
            </a:r>
            <a:r>
              <a:rPr b="1" i="0" lang="en-US" sz="144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i="0" sz="1440" u="none" cap="none" strike="noStrike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0"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4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g3f778c2bce4_5_207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778c2bce4_5_207"/>
          <p:cNvSpPr/>
          <p:nvPr/>
        </p:nvSpPr>
        <p:spPr>
          <a:xfrm>
            <a:off x="8011899" y="3627650"/>
            <a:ext cx="3749100" cy="5778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778c2bce4_5_207"/>
          <p:cNvSpPr/>
          <p:nvPr/>
        </p:nvSpPr>
        <p:spPr>
          <a:xfrm>
            <a:off x="8131298" y="3669300"/>
            <a:ext cx="3473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graph.printList();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778c2bce4_5_207"/>
          <p:cNvSpPr txBox="1"/>
          <p:nvPr/>
        </p:nvSpPr>
        <p:spPr>
          <a:xfrm>
            <a:off x="8034853" y="4330530"/>
            <a:ext cx="37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Resulting adjacency list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778c2bce4_5_207"/>
          <p:cNvSpPr txBox="1"/>
          <p:nvPr/>
        </p:nvSpPr>
        <p:spPr>
          <a:xfrm>
            <a:off x="8034853" y="4723722"/>
            <a:ext cx="37032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0: (3, 6) (1, 2)</a:t>
            </a:r>
            <a:endParaRPr b="0" i="0" sz="15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1: (4, 5) (2, 3)</a:t>
            </a:r>
            <a:endParaRPr b="0" i="0" sz="15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2:</a:t>
            </a:r>
            <a:endParaRPr b="0" i="0" sz="15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3: (4, 2) (1, 4)</a:t>
            </a:r>
            <a:endParaRPr b="0" i="0" sz="15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4: (2, 1)</a:t>
            </a:r>
            <a:endParaRPr b="0" i="0" sz="150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g3f778c2bce4_5_207"/>
          <p:cNvSpPr/>
          <p:nvPr/>
        </p:nvSpPr>
        <p:spPr>
          <a:xfrm>
            <a:off x="8131301" y="1120081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g3f778c2bce4_5_207"/>
          <p:cNvCxnSpPr/>
          <p:nvPr/>
        </p:nvCxnSpPr>
        <p:spPr>
          <a:xfrm>
            <a:off x="8365659" y="1206012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g3f778c2bce4_5_207"/>
          <p:cNvSpPr/>
          <p:nvPr/>
        </p:nvSpPr>
        <p:spPr>
          <a:xfrm>
            <a:off x="8662511" y="1034151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778c2bce4_5_207"/>
          <p:cNvSpPr/>
          <p:nvPr/>
        </p:nvSpPr>
        <p:spPr>
          <a:xfrm>
            <a:off x="8685947" y="1096646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b="0" i="0" lang="en-US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g3f778c2bce4_5_207"/>
          <p:cNvCxnSpPr/>
          <p:nvPr/>
        </p:nvCxnSpPr>
        <p:spPr>
          <a:xfrm>
            <a:off x="9490575" y="1174764"/>
            <a:ext cx="125100" cy="0"/>
          </a:xfrm>
          <a:prstGeom prst="straightConnector1">
            <a:avLst/>
          </a:prstGeom>
          <a:noFill/>
          <a:ln cap="flat" cmpd="sng" w="97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g3f778c2bce4_5_207"/>
          <p:cNvSpPr/>
          <p:nvPr/>
        </p:nvSpPr>
        <p:spPr>
          <a:xfrm>
            <a:off x="9615566" y="1034151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778c2bce4_5_207"/>
          <p:cNvSpPr/>
          <p:nvPr/>
        </p:nvSpPr>
        <p:spPr>
          <a:xfrm>
            <a:off x="9639001" y="1096646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b="0" i="0" lang="en-US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3, 6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778c2bce4_5_207"/>
          <p:cNvSpPr/>
          <p:nvPr/>
        </p:nvSpPr>
        <p:spPr>
          <a:xfrm>
            <a:off x="8131301" y="1666912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g3f778c2bce4_5_207"/>
          <p:cNvCxnSpPr/>
          <p:nvPr/>
        </p:nvCxnSpPr>
        <p:spPr>
          <a:xfrm>
            <a:off x="8365659" y="1752842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" name="Google Shape;232;g3f778c2bce4_5_207"/>
          <p:cNvSpPr/>
          <p:nvPr/>
        </p:nvSpPr>
        <p:spPr>
          <a:xfrm>
            <a:off x="8662511" y="1580981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778c2bce4_5_207"/>
          <p:cNvSpPr/>
          <p:nvPr/>
        </p:nvSpPr>
        <p:spPr>
          <a:xfrm>
            <a:off x="8696172" y="1643476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b="0" i="0" lang="en-US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2, 3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g3f778c2bce4_5_207"/>
          <p:cNvCxnSpPr/>
          <p:nvPr/>
        </p:nvCxnSpPr>
        <p:spPr>
          <a:xfrm>
            <a:off x="9490575" y="1721595"/>
            <a:ext cx="125100" cy="0"/>
          </a:xfrm>
          <a:prstGeom prst="straightConnector1">
            <a:avLst/>
          </a:prstGeom>
          <a:noFill/>
          <a:ln cap="flat" cmpd="sng" w="97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g3f778c2bce4_5_207"/>
          <p:cNvSpPr/>
          <p:nvPr/>
        </p:nvSpPr>
        <p:spPr>
          <a:xfrm>
            <a:off x="9615566" y="1580981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778c2bce4_5_207"/>
          <p:cNvSpPr/>
          <p:nvPr/>
        </p:nvSpPr>
        <p:spPr>
          <a:xfrm>
            <a:off x="9639001" y="1643476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b="0" i="0" lang="en-US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4, 5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f778c2bce4_5_207"/>
          <p:cNvSpPr/>
          <p:nvPr/>
        </p:nvSpPr>
        <p:spPr>
          <a:xfrm>
            <a:off x="8131301" y="2213742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f778c2bce4_5_207"/>
          <p:cNvSpPr/>
          <p:nvPr/>
        </p:nvSpPr>
        <p:spPr>
          <a:xfrm>
            <a:off x="8131301" y="2760573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g3f778c2bce4_5_207"/>
          <p:cNvCxnSpPr/>
          <p:nvPr/>
        </p:nvCxnSpPr>
        <p:spPr>
          <a:xfrm>
            <a:off x="8365659" y="2846503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g3f778c2bce4_5_207"/>
          <p:cNvSpPr/>
          <p:nvPr/>
        </p:nvSpPr>
        <p:spPr>
          <a:xfrm>
            <a:off x="8662511" y="2674642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778c2bce4_5_207"/>
          <p:cNvSpPr/>
          <p:nvPr/>
        </p:nvSpPr>
        <p:spPr>
          <a:xfrm>
            <a:off x="8685947" y="2737137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b="0" i="0" lang="en-US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1, 4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g3f778c2bce4_5_207"/>
          <p:cNvCxnSpPr/>
          <p:nvPr/>
        </p:nvCxnSpPr>
        <p:spPr>
          <a:xfrm>
            <a:off x="9490575" y="2815256"/>
            <a:ext cx="125100" cy="0"/>
          </a:xfrm>
          <a:prstGeom prst="straightConnector1">
            <a:avLst/>
          </a:prstGeom>
          <a:noFill/>
          <a:ln cap="flat" cmpd="sng" w="97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g3f778c2bce4_5_207"/>
          <p:cNvSpPr/>
          <p:nvPr/>
        </p:nvSpPr>
        <p:spPr>
          <a:xfrm>
            <a:off x="9615566" y="2674642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778c2bce4_5_207"/>
          <p:cNvSpPr/>
          <p:nvPr/>
        </p:nvSpPr>
        <p:spPr>
          <a:xfrm>
            <a:off x="9639001" y="2737137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b="0" i="0" lang="en-US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4, 2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f778c2bce4_5_207"/>
          <p:cNvSpPr/>
          <p:nvPr/>
        </p:nvSpPr>
        <p:spPr>
          <a:xfrm>
            <a:off x="8131301" y="3307403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g3f778c2bce4_5_207"/>
          <p:cNvCxnSpPr/>
          <p:nvPr/>
        </p:nvCxnSpPr>
        <p:spPr>
          <a:xfrm>
            <a:off x="8365659" y="3393334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g3f778c2bce4_5_207"/>
          <p:cNvSpPr/>
          <p:nvPr/>
        </p:nvSpPr>
        <p:spPr>
          <a:xfrm>
            <a:off x="8662511" y="3221473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778c2bce4_5_207"/>
          <p:cNvSpPr/>
          <p:nvPr/>
        </p:nvSpPr>
        <p:spPr>
          <a:xfrm>
            <a:off x="8685947" y="3283968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b="0" i="0" lang="en-US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2, 1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f778c2bce4_5_207"/>
          <p:cNvSpPr/>
          <p:nvPr/>
        </p:nvSpPr>
        <p:spPr>
          <a:xfrm>
            <a:off x="8696170" y="2205813"/>
            <a:ext cx="5859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"/>
              <a:buFont typeface="Arial"/>
              <a:buNone/>
            </a:pPr>
            <a:r>
              <a:rPr b="1" i="0" lang="en-US" sz="1281" u="none" cap="none" strike="noStrike">
                <a:solidFill>
                  <a:srgbClr val="0B7A3B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1" i="0" sz="1281" u="none" cap="none" strike="noStrike">
              <a:solidFill>
                <a:srgbClr val="0B7A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g3f778c2bce4_5_207"/>
          <p:cNvCxnSpPr/>
          <p:nvPr/>
        </p:nvCxnSpPr>
        <p:spPr>
          <a:xfrm>
            <a:off x="8365659" y="2299677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2026-08-18T06:55:44Z</dcterms:created>
  <dc:creator>OpenAI</dc:creator>
</cp:coreProperties>
</file>