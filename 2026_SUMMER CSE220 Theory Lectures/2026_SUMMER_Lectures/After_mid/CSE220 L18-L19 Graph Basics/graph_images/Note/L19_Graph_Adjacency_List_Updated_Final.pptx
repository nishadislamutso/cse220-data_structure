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3" r:id="rId34"/>
    <p:sldId id="284" r:id="rId35"/>
    <p:sldId id="270" r:id="rId16"/>
    <p:sldId id="271" r:id="rId17"/>
    <p:sldId id="285" r:id="rId36"/>
    <p:sldId id="286" r:id="rId37"/>
    <p:sldId id="272" r:id="rId18"/>
    <p:sldId id="273" r:id="rId19"/>
    <p:sldId id="287" r:id="rId38"/>
    <p:sldId id="288" r:id="rId39"/>
    <p:sldId id="289" r:id="rId40"/>
    <p:sldId id="290" r:id="rId41"/>
    <p:sldId id="291" r:id="rId42"/>
    <p:sldId id="292" r:id="rId43"/>
    <p:sldId id="274" r:id="rId20"/>
    <p:sldId id="275" r:id="rId21"/>
    <p:sldId id="276" r:id="rId22"/>
    <p:sldId id="277" r:id="rId28"/>
    <p:sldId id="278" r:id="rId29"/>
    <p:sldId id="279" r:id="rId30"/>
    <p:sldId id="280" r:id="rId31"/>
    <p:sldId id="281" r:id="rId32"/>
    <p:sldId id="282" r:id="rId33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9.xml"/><Relationship Id="rId21" Type="http://schemas.openxmlformats.org/officeDocument/2006/relationships/slide" Target="slides/slide30.xml"/><Relationship Id="rId22" Type="http://schemas.openxmlformats.org/officeDocument/2006/relationships/slide" Target="slides/slide3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32.xml"/><Relationship Id="rId29" Type="http://schemas.openxmlformats.org/officeDocument/2006/relationships/slide" Target="slides/slide33.xml"/><Relationship Id="rId30" Type="http://schemas.openxmlformats.org/officeDocument/2006/relationships/slide" Target="slides/slide34.xml"/><Relationship Id="rId31" Type="http://schemas.openxmlformats.org/officeDocument/2006/relationships/slide" Target="slides/slide35.xml"/><Relationship Id="rId32" Type="http://schemas.openxmlformats.org/officeDocument/2006/relationships/slide" Target="slides/slide36.xml"/><Relationship Id="rId33" Type="http://schemas.openxmlformats.org/officeDocument/2006/relationships/slide" Target="slides/slide37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55B"/>
                </a:solidFill>
              </a:rPr>
              <a:t>Graph Representations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49808" y="128016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E5AA8"/>
                </a:solidFill>
              </a:rPr>
              <a:t>Adjacency Matrix &amp; Adjacency List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68096" y="17922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Editable Java code + classroom-ready visualizations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542032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Unweighted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24688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7A3B"/>
          </a:solidFill>
          <a:ln w="12700">
            <a:solidFill>
              <a:srgbClr val="0B7A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2542032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Weighted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86784" y="2468880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9936" y="2542032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Directed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24688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9552" y="254203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Undirected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43770" y="2653235"/>
            <a:ext cx="1194620" cy="-597310"/>
          </a:xfrm>
          <a:prstGeom prst="line">
            <a:avLst/>
          </a:prstGeom>
          <a:noFill/>
          <a:ln w="2032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531352" y="226314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227228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560567" y="2108207"/>
            <a:ext cx="949945" cy="949945"/>
          </a:xfrm>
          <a:prstGeom prst="line">
            <a:avLst/>
          </a:prstGeom>
          <a:noFill/>
          <a:ln w="2032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925812" y="249174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25812" y="250088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33884" y="2931780"/>
            <a:ext cx="454272" cy="1223040"/>
          </a:xfrm>
          <a:prstGeom prst="line">
            <a:avLst/>
          </a:prstGeom>
          <a:noFill/>
          <a:ln w="2032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051292" y="345186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51292" y="346100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48494" y="4408644"/>
            <a:ext cx="1219612" cy="418153"/>
          </a:xfrm>
          <a:prstGeom prst="line">
            <a:avLst/>
          </a:prstGeom>
          <a:noFill/>
          <a:ln w="2032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148572" y="452628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8572" y="453542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42990" y="2152491"/>
            <a:ext cx="-809460" cy="2004377"/>
          </a:xfrm>
          <a:prstGeom prst="line">
            <a:avLst/>
          </a:prstGeom>
          <a:noFill/>
          <a:ln w="2032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8828532" y="306324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28532" y="307238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125084" y="4702246"/>
            <a:ext cx="460991" cy="-1312052"/>
          </a:xfrm>
          <a:prstGeom prst="line">
            <a:avLst/>
          </a:prstGeom>
          <a:noFill/>
          <a:ln w="2032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245852" y="395478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5852" y="396392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662672" y="2542032"/>
            <a:ext cx="402336" cy="402336"/>
          </a:xfrm>
          <a:prstGeom prst="ellipse">
            <a:avLst/>
          </a:prstGeom>
          <a:solidFill>
            <a:srgbClr val="DDEBFF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54112" y="26426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0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217152" y="1764792"/>
            <a:ext cx="402336" cy="402336"/>
          </a:xfrm>
          <a:prstGeom prst="ellipse">
            <a:avLst/>
          </a:prstGeom>
          <a:solidFill>
            <a:srgbClr val="DDEBFF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08592" y="186537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1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451592" y="2999232"/>
            <a:ext cx="402336" cy="402336"/>
          </a:xfrm>
          <a:prstGeom prst="ellipse">
            <a:avLst/>
          </a:prstGeom>
          <a:solidFill>
            <a:srgbClr val="DDEBFF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43032" y="30998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2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257032" y="4142232"/>
            <a:ext cx="402336" cy="402336"/>
          </a:xfrm>
          <a:prstGeom prst="ellipse">
            <a:avLst/>
          </a:prstGeom>
          <a:solidFill>
            <a:srgbClr val="DDEBFF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48472" y="42428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3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857232" y="4690872"/>
            <a:ext cx="402336" cy="402336"/>
          </a:xfrm>
          <a:prstGeom prst="ellipse">
            <a:avLst/>
          </a:prstGeom>
          <a:solidFill>
            <a:srgbClr val="DDEBFF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48672" y="47914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4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77240" y="310896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EEF5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321868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Lesson focus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" y="3520440"/>
            <a:ext cx="51663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1. Store graph connections in a 2D matrix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2. Store graph connections in linked adjacency lists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3. Change only the edge insertion rule for each graph type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Types in This Lesson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The same graph idea changes based on direction and weight.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EEF5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3560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Unweighted + Undirected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4709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Store 1 in both directions: A[u][v] = 1 and A[v][u] = 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EEF5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43560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Unweighted + Directed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1737360"/>
            <a:ext cx="4709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Store 1 only from source to destination: A[u][v] =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F5FCEB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5584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Weighted + Directed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657600"/>
            <a:ext cx="4709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Store the edge weight only in A[u][v]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324612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F5FCEB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35584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Weighted + Undirected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3657600"/>
            <a:ext cx="4709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Store the edge weight in both A[u][v] and A[v][u]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5504688"/>
            <a:ext cx="5669280" cy="658368"/>
          </a:xfrm>
          <a:prstGeom prst="roundRect">
            <a:avLst>
              <a:gd name="adj" fmla="val 11111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561441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Key idea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5916168"/>
            <a:ext cx="539496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Only the addEdges() logic changes; printing and neighbor scanning are almost the same.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Matrix: Core Idea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A V x V matrix stores whether an edge exists between vertices.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218438"/>
            <a:ext cx="502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1218438"/>
            <a:ext cx="502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74520" y="1218438"/>
            <a:ext cx="502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218438"/>
            <a:ext cx="502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80360" y="1218438"/>
            <a:ext cx="502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6636" y="1731416"/>
            <a:ext cx="25146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164592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73141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164592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173141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74520" y="164592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173141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77440" y="164592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173141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80360" y="164592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173141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" y="2234336"/>
            <a:ext cx="25146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23433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214884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223433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74520" y="214884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74520" y="223433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377440" y="214884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223433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80360" y="214884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223433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" y="2737256"/>
            <a:ext cx="25146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8680" y="265176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273725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371600" y="265176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273725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874520" y="265176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74520" y="273725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377440" y="265176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273725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880360" y="265176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80360" y="273725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6636" y="3240176"/>
            <a:ext cx="25146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3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68680" y="315468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324017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371600" y="315468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71600" y="324017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874520" y="315468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74520" y="324017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377440" y="315468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0" y="324017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880360" y="315468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80360" y="324017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16636" y="3743096"/>
            <a:ext cx="25146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4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68680" y="365760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" y="374309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371600" y="365760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71600" y="374309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874520" y="365760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74520" y="374309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377440" y="365760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77440" y="374309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880360" y="3657600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80360" y="3743096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68680" y="480060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05840" y="4910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Matrix rule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005840" y="5212080"/>
            <a:ext cx="2926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Row = source vertex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Column = destination / neighbor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0 = no edge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572000" y="146304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EEF5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09160" y="157276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Undirected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709160" y="1874520"/>
            <a:ext cx="2788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A[u][v] and A[v][u]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are both updated.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138160" y="146304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75320" y="157276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Directed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275320" y="1874520"/>
            <a:ext cx="2788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Only A[u][v] is updated.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A[v][u] may remain 0.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4572000" y="310896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1F8E9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09160" y="321868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Unweighted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4709160" y="3520440"/>
            <a:ext cx="2788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Use 1 to show a connection.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8138160" y="310896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CE4E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75320" y="321868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Weighted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8275320" y="3520440"/>
            <a:ext cx="2788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Use the edge weight instead of 1.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4617720" y="489204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</a:rPr>
              <a:t>Row 1, column 4 = 1 means vertex 1 is connected to vertex 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Matrix: Undirected Unweighted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Example from the driver: edges are added in both directions.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Graph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99274" y="2686924"/>
            <a:ext cx="1207693" cy="-710408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426894" y="2962888"/>
            <a:ext cx="620933" cy="106938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820142" y="2066464"/>
            <a:ext cx="-611085" cy="1947833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006761" y="2031017"/>
            <a:ext cx="707317" cy="875726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954012" y="2061720"/>
            <a:ext cx="949975" cy="2414520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857660" y="3263673"/>
            <a:ext cx="102800" cy="119933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344002" y="4255030"/>
            <a:ext cx="1438477" cy="359619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24712" y="25877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26883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79192" y="16733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17739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39312" y="28620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2962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947672" y="40050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9112" y="4105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776472" y="44622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67912" y="45628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55080" y="1097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Adjacency Matrix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29400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23176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16952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10728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04504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83757" y="1958462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29400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23176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23176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616952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16952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10728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0728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04504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04504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83757" y="2452238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29400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123176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23176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616952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16952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110728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10728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604504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04504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83757" y="2946014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2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629400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9400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123176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23176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616952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16952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110728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10728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604504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04504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283757" y="3439790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3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629400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29400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123176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23176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616952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16952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8110728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110728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604504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04504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283757" y="3933566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4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629400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29400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7123176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23176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616952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16952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8110728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10728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8604504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604504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144768" y="4709160"/>
            <a:ext cx="4892040" cy="1024128"/>
          </a:xfrm>
          <a:prstGeom prst="roundRect">
            <a:avLst>
              <a:gd name="adj" fmla="val 7143"/>
            </a:avLst>
          </a:prstGeom>
          <a:solidFill>
            <a:srgbClr val="F1F8E9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81928" y="481888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Observation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6281928" y="5120640"/>
            <a:ext cx="461772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The matrix is symmetric.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For every 1 in A[u][v], there is a matching 1 in A[v][u].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Java: Undirected Unweighted Matrix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Core class code is editable.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583680" cy="5303520"/>
          </a:xfrm>
          <a:prstGeom prst="roundRect">
            <a:avLst>
              <a:gd name="adj" fmla="val 862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124712"/>
            <a:ext cx="6364224" cy="5157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GraphUndirectedUnweightedMatrix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numVertices;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int[][] adjMatrix;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GraphUndirectedUnweightedMatrix(int numVertices)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this.numVertices = numVertices;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adjMatrix = new int[numVertices][numVertices];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addEdges(int[][] edges)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edges.length; i++)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source = edges[i][0];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destination = edges[i][1];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adjMatrix[source][destination] = 1;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adjMatrix[destination][source] = 1;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printMatrix()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System.out.println("Adjacency Matrix:");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 j = 0; j &lt; numVertices; j++)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System.out.print(adjMatrix[i][j] + " 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findNeighbors(int vertex)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System.out.print("Neighbors of vertex " + vertex + ": 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(adjMatrix[vertex][i] == 1) System.out.print(i + " 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7479792" y="14173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6952" y="15270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Insertion 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16952" y="1828800"/>
            <a:ext cx="3794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Because the graph is undirected, one edge creates two matrix updates.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79792" y="2697480"/>
            <a:ext cx="4069080" cy="1874520"/>
          </a:xfrm>
          <a:prstGeom prst="roundRect">
            <a:avLst>
              <a:gd name="adj" fmla="val 2439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2770632"/>
            <a:ext cx="3849624" cy="1728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int[][] edges =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{0,1}, {0,3},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{1,3}, {1,2}, {1,4},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{2,4},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{3,4}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GraphUndirectedUnweightedMatrix graph =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GraphUndirectedUnweightedMatrix(5);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graph.addEdges(edges);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7479792" y="4892040"/>
            <a:ext cx="4069080" cy="786384"/>
          </a:xfrm>
          <a:prstGeom prst="roundRect">
            <a:avLst>
              <a:gd name="adj" fmla="val 9302"/>
            </a:avLst>
          </a:prstGeom>
          <a:solidFill>
            <a:srgbClr val="F1F8E9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6952" y="50017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Result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16952" y="5303520"/>
            <a:ext cx="3794760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The final matrix has 1s in symmetric positions.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Matrix: Directed Unweighted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Some pairs are bidirectional, while some edges are one-way.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Graph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527091" y="2734213"/>
            <a:ext cx="1207693" cy="-710408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525862" y="2810736"/>
            <a:ext cx="2114637" cy="230688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79149" y="1929227"/>
            <a:ext cx="-1207693" cy="710408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64080" y="2065490"/>
            <a:ext cx="707317" cy="875726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20142" y="2066464"/>
            <a:ext cx="-611085" cy="1947833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56760" y="2872270"/>
            <a:ext cx="-707317" cy="-875726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15526" y="4093615"/>
            <a:ext cx="1358269" cy="-917749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44002" y="4255030"/>
            <a:ext cx="1438477" cy="359619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13371" y="4547319"/>
            <a:ext cx="-2323221" cy="-1642277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60460" y="4463007"/>
            <a:ext cx="-102800" cy="-119933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124712" y="25877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26883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679192" y="16733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70632" y="17739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39312" y="28620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2962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2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947672" y="40050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39112" y="4105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76472" y="44622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67912" y="45628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4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55080" y="1097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Adjacency Matrix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29400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23176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16952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10728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04504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83757" y="1958462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29400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123176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23176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16952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16952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10728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10728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604504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04504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83757" y="2452238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1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29400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123176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23176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616952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16952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10728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10728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604504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04504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283757" y="2946014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2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29400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29400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123176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23176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616952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16952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110728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10728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604504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04504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283757" y="3439790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3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629400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29400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123176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23176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616952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16952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8110728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10728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8604504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604504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283757" y="3933566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27B0"/>
                </a:solidFill>
              </a:rPr>
              <a:t>4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629400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29400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7123176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123176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7616952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16952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110728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110728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604504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604504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6144768" y="470916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81928" y="481888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Observation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6281928" y="5120640"/>
            <a:ext cx="46177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The matrix is not symmetric.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Example: A[4][0] = 1 but A[0][4] = 0.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Java: Directed Unweighted Matrix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Only source -&gt; destination is stored.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583680" cy="5303520"/>
          </a:xfrm>
          <a:prstGeom prst="roundRect">
            <a:avLst>
              <a:gd name="adj" fmla="val 862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124712"/>
            <a:ext cx="6364224" cy="5157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GraphDirectedUnweightedMatrix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numVertices;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int[][] adjMatrix;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GraphDirectedUnweightedMatrix(int numVertices)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this.numVertices = numVertices;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adjMatrix = new int[numVertices][numVertices];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addEdges(int[][] edges)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edges.length; i++)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source = edges[i][0];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destination = edges[i][1];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adjMatrix[source][destination] = 1;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printMatrix()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System.out.println("Adjacency Matrix:");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 j = 0; j &lt; numVertices; j++)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System.out.print(adjMatrix[i][j] + " 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findNeighbors(int vertex)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System.out.print("Neighbors of vertex " + vertex + ": 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(adjMatrix[vertex][i] == 1) System.out.print(i + " 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7479792" y="14173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6952" y="15270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Insertion 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16952" y="1828800"/>
            <a:ext cx="3794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Do not automatically add the reverse edge.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79792" y="2697480"/>
            <a:ext cx="4069080" cy="2011680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2770632"/>
            <a:ext cx="3849624" cy="1865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int[][] edges =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{0,1}, {0,2},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{1,0}, {1,2}, {1,3},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{2,1},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{3,2}, {3,4},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{4,0}, {4,2}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7479792" y="4983480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EEF5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6952" y="509320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Neighbor meaning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16952" y="5394960"/>
            <a:ext cx="379476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Neighbors of u = vertices reachable from row u.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Matrix: Directed Weighted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Nonzero values store edge weights, not just 1.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Graph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739953" y="2985341"/>
            <a:ext cx="1000653" cy="-42027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30552" y="268376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30552" y="269290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31449" y="3158899"/>
            <a:ext cx="1337702" cy="723082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90572" y="342900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90572" y="343814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4924" y="2579273"/>
            <a:ext cx="1471111" cy="757622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30752" y="286664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287578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16801" y="2423184"/>
            <a:ext cx="1035877" cy="-347520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25012" y="215798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5012" y="216712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35176" y="3908892"/>
            <a:ext cx="1130647" cy="-41114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90772" y="361188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90772" y="362102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53312" y="28620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2962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24912" y="2286000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238658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044952" y="37764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36392" y="38770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53712" y="322783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33284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3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42232" y="181051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33672" y="191109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4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55080" y="1097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Adjacency Matrix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629400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23176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16952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10728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04504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83757" y="1958462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9400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23176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23176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616952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16952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3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110728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10728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604504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04504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83757" y="2452238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629400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123176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23176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616952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16952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110728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10728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4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604504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04504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5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283757" y="2946014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2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629400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9400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123176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23176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616952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16952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110728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10728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6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604504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04504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283757" y="3439790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3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629400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29400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123176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23176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7616952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16952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8110728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110728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8604504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04504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283757" y="3933566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4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6629400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629400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123176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23176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616952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16952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110728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10728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604504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604504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6144768" y="470916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FCE4E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81928" y="481888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Observation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6281928" y="5120640"/>
            <a:ext cx="46177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A[1][3] = 4 means there is a directed edge 1 -&gt; 3 with weight 4.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Java: Directed Weighted Matrix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The edge format is {source, destination, weight}.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583680" cy="5303520"/>
          </a:xfrm>
          <a:prstGeom prst="roundRect">
            <a:avLst>
              <a:gd name="adj" fmla="val 862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124712"/>
            <a:ext cx="6364224" cy="5157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GraphDirectedWeightedMatrix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numVertices;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int[][] adjMatrix;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GraphDirectedWeightedMatrix(int numVertices)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this.numVertices = numVertices;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adjMatrix = new int[numVertices][numVertices];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addEdges(int[][] edges)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edges.length; i++)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source = edges[i][0];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destination = edges[i][1];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weight = edges[i][2];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adjMatrix[source][destination] = weight;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printMatrix()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System.out.println("Adjacency Matrix:");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 j = 0; j &lt; numVertices; j++)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System.out.print(adjMatrix[i][j] + " ");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findNeighbors(int vertex)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System.out.print("Neighbors of vertex " + vertex + ": ");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(adjMatrix[vertex][i] != 0) System.out.print(i + " ");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60" dirty="0"/>
          </a:p>
        </p:txBody>
      </p:sp>
      <p:sp>
        <p:nvSpPr>
          <p:cNvPr id="6" name="Shape 4"/>
          <p:cNvSpPr/>
          <p:nvPr/>
        </p:nvSpPr>
        <p:spPr>
          <a:xfrm>
            <a:off x="7479792" y="141732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CE4E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6952" y="15270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Insertion 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16952" y="1828800"/>
            <a:ext cx="3794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Store weight only in A[source][destination].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79792" y="2697480"/>
            <a:ext cx="4069080" cy="1417320"/>
          </a:xfrm>
          <a:prstGeom prst="roundRect">
            <a:avLst>
              <a:gd name="adj" fmla="val 3226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2770632"/>
            <a:ext cx="384962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int[][] edges =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{0,1,2},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{0,2,3},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{1,3,4},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{1,4,5},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{2,3,6}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7479792" y="443484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EEF5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6952" y="45445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Neighbor check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16952" y="4846320"/>
            <a:ext cx="3794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Use != 0 because weights may be any nonzero number.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Matrix: Undirected Weighted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The same weight is stored in both symmetric positions.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Graph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739953" y="2985341"/>
            <a:ext cx="1000653" cy="-42027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30552" y="268376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30552" y="269290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31449" y="3158899"/>
            <a:ext cx="1337702" cy="723082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290572" y="342900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90572" y="343814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4924" y="2579273"/>
            <a:ext cx="1471111" cy="757622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730752" y="286664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287578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16801" y="2423184"/>
            <a:ext cx="1035877" cy="-347520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525012" y="215798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5012" y="216712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35176" y="3908892"/>
            <a:ext cx="1130647" cy="-41114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3890772" y="361188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90772" y="362102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53312" y="28620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2962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24912" y="2286000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238658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044952" y="37764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36392" y="38770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53712" y="322783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33284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3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42232" y="181051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33672" y="191109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4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55080" y="1097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Adjacency Matrix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629400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23176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16952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10728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04504" y="1454810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83757" y="1958462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9400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23176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23176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616952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16952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3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110728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10728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604504" y="187452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04504" y="1958462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83757" y="2452238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629400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2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123176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23176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616952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16952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110728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10728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4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604504" y="236829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04504" y="2452238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5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283757" y="2946014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2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629400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9400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3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123176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23176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616952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16952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110728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10728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6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604504" y="286207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04504" y="2946014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283757" y="3439790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3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629400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29400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123176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23176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4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7616952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16952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6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8110728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110728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8604504" y="335584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04504" y="3439790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283757" y="3933566"/>
            <a:ext cx="246888" cy="2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4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6629400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629400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123176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23176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0020"/>
                </a:solidFill>
              </a:rPr>
              <a:t>5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616952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16952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110728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10728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604504" y="3849624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604504" y="3933566"/>
            <a:ext cx="49377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0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6144768" y="470916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F1F8E9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81928" y="481888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Observation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6281928" y="5120640"/>
            <a:ext cx="46177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A[2][3] = 6 and A[3][2] = 6. The matrix is symmetric.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Java: Undirected Weighted Matrix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One weighted edge updates two cells.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6583680" cy="5303520"/>
          </a:xfrm>
          <a:prstGeom prst="roundRect">
            <a:avLst>
              <a:gd name="adj" fmla="val 862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124712"/>
            <a:ext cx="6364224" cy="5157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GraphUndirectedWeightedMatrix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numVertices;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int[][] adjMatrix;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GraphUndirectedWeightedMatrix(int numVertices)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this.numVertices = numVertices;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adjMatrix = new int[numVertices][numVertices];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addEdges(int[][] edges)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edges.length; i++)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source = edges[i][0];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destination = edges[i][1];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weight = edges[i][2];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adjMatrix[source][destination] = weight;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adjMatrix[destination][source] = weight;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printMatrix()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System.out.println("Adjacency Matrix:");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 j = 0; j &lt; numVertices; j++)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System.out.print(adjMatrix[i][j] + " ");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findNeighbors(int vertex)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System.out.print("Neighbors of vertex " + vertex + ": ");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numVertices; i++)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(adjMatrix[vertex][i] != 0) System.out.print(i + " ");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60" dirty="0"/>
          </a:p>
        </p:txBody>
      </p:sp>
      <p:sp>
        <p:nvSpPr>
          <p:cNvPr id="6" name="Shape 4"/>
          <p:cNvSpPr/>
          <p:nvPr/>
        </p:nvSpPr>
        <p:spPr>
          <a:xfrm>
            <a:off x="7479792" y="141732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1F8E9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6952" y="15270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Insertion 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16952" y="1828800"/>
            <a:ext cx="37947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Set both A[source][destination] and A[destination][source] to weight.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79792" y="2788920"/>
            <a:ext cx="4069080" cy="1417320"/>
          </a:xfrm>
          <a:prstGeom prst="roundRect">
            <a:avLst>
              <a:gd name="adj" fmla="val 3226"/>
            </a:avLst>
          </a:prstGeom>
          <a:solidFill>
            <a:srgbClr val="F7F7F7"/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2862072"/>
            <a:ext cx="384962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int[][] edges =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{0,1,2},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{0,2,3},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{1,3,4},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{1,4,5},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{2,3,6}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7479792" y="452628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6952" y="463600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Result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16952" y="4937760"/>
            <a:ext cx="3794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 symmetric weighted matrix.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List: Core Idea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Each vertex stores a list of its neighbors instead of a full V x V table.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6093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" y="170992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490472" y="150876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7904" y="158191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167335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03704" y="150876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31136" y="158191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762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43000" y="2276856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490472" y="2075688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17904" y="214884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57400" y="2240280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203704" y="2075688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31136" y="214884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70632" y="2240280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916936" y="2075688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214884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83864" y="2240280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30168" y="2075688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14884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27432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43000" y="2843784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490472" y="2642616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17904" y="271576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57400" y="2807208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203704" y="2642616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31136" y="271576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33101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43000" y="3410712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490472" y="3209544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17904" y="3282696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057400" y="3374136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203704" y="3209544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31136" y="3282696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70632" y="3374136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916936" y="3209544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44368" y="3282696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68680" y="387705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AA8"/>
                </a:solidFill>
              </a:rPr>
              <a:t>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143000" y="3977640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490472" y="3776472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17904" y="3849624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3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057400" y="3941064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203704" y="3776472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31136" y="3849624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770632" y="3941064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916936" y="3776472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44368" y="3849624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035040" y="14173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EEF5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152704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Why adjacency list?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172200" y="1828800"/>
            <a:ext cx="4526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It stores only existing edges, so it is usually more space-efficient for sparse graphs.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035040" y="297180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1F8E9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72200" y="308152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Neighbor search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172200" y="3383280"/>
            <a:ext cx="4526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To find neighbors of vertex u, traverse only list[u].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035040" y="452628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72200" y="463600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Implementation style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172200" y="4937760"/>
            <a:ext cx="4526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In Java, each row can be a linked list of Node objects.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List: Undirected Unweighted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555555"/>
                </a:solidFill>
                <a:latin typeface="Aptos"/>
              </a:rPr>
              <a:t>For an undirected edge, add each vertex to the other vertex's list.</a:t>
            </a:r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Graph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99274" y="2686924"/>
            <a:ext cx="1207693" cy="-710408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426894" y="2962888"/>
            <a:ext cx="620933" cy="106938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820142" y="2066464"/>
            <a:ext cx="-611085" cy="1947833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006761" y="2031017"/>
            <a:ext cx="707317" cy="875726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954012" y="2061720"/>
            <a:ext cx="949975" cy="2414520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857660" y="3263673"/>
            <a:ext cx="102800" cy="1199334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344002" y="4255030"/>
            <a:ext cx="1438477" cy="359619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24712" y="25877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16152" y="26883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79192" y="16733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770632" y="17739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39312" y="28620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730752" y="2962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947672" y="40050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039112" y="4105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776472" y="446227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867912" y="45628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97880" y="1097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Adjacency List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89320" y="17922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89280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611112" y="169164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38544" y="176479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78040" y="185623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324344" y="169164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351776" y="176479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9320" y="23865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248716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611112" y="228600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638544" y="235915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78040" y="245059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324344" y="228600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351776" y="235915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891272" y="245059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037576" y="228600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065008" y="235915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604504" y="245059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750808" y="228600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778240" y="235915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89320" y="29809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308152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611112" y="288036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638544" y="295351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78040" y="304495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7324344" y="288036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351776" y="295351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989320" y="35753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63640" y="367588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6611112" y="347472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638544" y="35478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4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178040" y="363931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7324344" y="347472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351776" y="35478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891272" y="363931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8037576" y="347472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8065008" y="35478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989320" y="416966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263640" y="427024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6611112" y="406908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6638544" y="414223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3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178040" y="423367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7324344" y="406908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7351776" y="414223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891272" y="423367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8037576" y="406908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8065008" y="414223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897880" y="5074920"/>
            <a:ext cx="5166360" cy="685800"/>
          </a:xfrm>
          <a:prstGeom prst="roundRect">
            <a:avLst>
              <a:gd name="adj" fmla="val 10667"/>
            </a:avLst>
          </a:prstGeom>
          <a:solidFill>
            <a:srgbClr val="F1F8E9"/>
          </a:solidFill>
          <a:ln w="13970">
            <a:solidFill>
              <a:srgbClr val="9BB7D4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6035040" y="51846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Rule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035040" y="5486400"/>
            <a:ext cx="4892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For edge (u, v): insert v into list[u] and insert u into list[v].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700" b="1">
                <a:solidFill>
                  <a:srgbClr val="12355B"/>
                </a:solidFill>
                <a:latin typeface="Aptos Display"/>
              </a:rPr>
              <a:t>Editable Java: Undirected Unweighted Adjacency List (1/3)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Aptos"/>
              </a:rPr>
              <a:t>Edge node, graph setup, and insertion methods.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1069848"/>
            <a:ext cx="5440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2355B"/>
                </a:solidFill>
                <a:latin typeface="Aptos"/>
              </a:rPr>
              <a:t>Edge class + constructor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1069848"/>
            <a:ext cx="5257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2355B"/>
                </a:solidFill>
                <a:latin typeface="Aptos"/>
              </a:rPr>
              <a:t>addEdges() + addEdge()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1353312"/>
            <a:ext cx="5440680" cy="4617720"/>
          </a:xfrm>
          <a:prstGeom prst="round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1463040"/>
            <a:ext cx="5184648" cy="439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class Edge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    int destination;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    Edge next;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    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    public Edge(int destination)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        this.destination = destination;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        this.next = null;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public class GraphUndirectedUnweightedAdjacencyList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    private int numVertices;   </a:t>
            </a:r>
            <a:r>
              <a:rPr sz="969">
                <a:solidFill>
                  <a:srgbClr val="A9D18E"/>
                </a:solidFill>
                <a:latin typeface="Consolas"/>
              </a:rPr>
              <a:t>// Total number of vertices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    private Edge[] adjList;    </a:t>
            </a:r>
            <a:r>
              <a:rPr sz="969">
                <a:solidFill>
                  <a:srgbClr val="A9D18E"/>
                </a:solidFill>
                <a:latin typeface="Consolas"/>
              </a:rPr>
              <a:t>// Array of linked lists (Adjacency List)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    </a:t>
            </a:r>
            <a:r>
              <a:rPr sz="969">
                <a:solidFill>
                  <a:srgbClr val="A9D18E"/>
                </a:solidFill>
                <a:latin typeface="Consolas"/>
              </a:rPr>
              <a:t>// Constructor: initialize graph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    public GraphUndirectedUnweightedAdjacencyList(int numVertices)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        this.numVertices = numVertices;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        </a:t>
            </a:r>
            <a:r>
              <a:rPr sz="969">
                <a:solidFill>
                  <a:srgbClr val="A9D18E"/>
                </a:solidFill>
                <a:latin typeface="Consolas"/>
              </a:rPr>
              <a:t>// Create an array of size = numVertices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        </a:t>
            </a:r>
            <a:r>
              <a:rPr sz="969">
                <a:solidFill>
                  <a:srgbClr val="A9D18E"/>
                </a:solidFill>
                <a:latin typeface="Consolas"/>
              </a:rPr>
              <a:t>// Each index will store the head of a linked list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        adjList = new Edge[numVertices]; </a:t>
            </a:r>
            <a:r>
              <a:rPr sz="969">
                <a:solidFill>
                  <a:srgbClr val="A9D18E"/>
                </a:solidFill>
                <a:latin typeface="Consolas"/>
              </a:rPr>
              <a:t>// Initially all values are null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9">
                <a:solidFill>
                  <a:srgbClr val="FAFAFA"/>
                </a:solidFill>
                <a:latin typeface="Consolas"/>
              </a:rPr>
              <a:t>    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1353312"/>
            <a:ext cx="5440680" cy="4617720"/>
          </a:xfrm>
          <a:prstGeom prst="round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4496" y="1463040"/>
            <a:ext cx="5184648" cy="439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</a:t>
            </a:r>
            <a:r>
              <a:rPr sz="950">
                <a:solidFill>
                  <a:srgbClr val="A9D18E"/>
                </a:solidFill>
                <a:latin typeface="Consolas"/>
              </a:rPr>
              <a:t>// Add multiple edges to the graph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public void addEdges(int[][] edges)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    </a:t>
            </a:r>
            <a:r>
              <a:rPr sz="950">
                <a:solidFill>
                  <a:srgbClr val="A9D18E"/>
                </a:solidFill>
                <a:latin typeface="Consolas"/>
              </a:rPr>
              <a:t>// edges format: { {source, destination}, ...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    for (int i = 0; i &lt; edges.length; i++)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        int source = edges[i][0];        </a:t>
            </a:r>
            <a:r>
              <a:rPr sz="950">
                <a:solidFill>
                  <a:srgbClr val="A9D18E"/>
                </a:solidFill>
                <a:latin typeface="Consolas"/>
              </a:rPr>
              <a:t>// Starting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        int destination = edges[i][1];   </a:t>
            </a:r>
            <a:r>
              <a:rPr sz="950">
                <a:solidFill>
                  <a:srgbClr val="A9D18E"/>
                </a:solidFill>
                <a:latin typeface="Consolas"/>
              </a:rPr>
              <a:t>// Ending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        </a:t>
            </a:r>
            <a:r>
              <a:rPr sz="950">
                <a:solidFill>
                  <a:srgbClr val="A9D18E"/>
                </a:solidFill>
                <a:latin typeface="Consolas"/>
              </a:rPr>
              <a:t>// For UNDIRECTED graph: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        </a:t>
            </a:r>
            <a:r>
              <a:rPr sz="950">
                <a:solidFill>
                  <a:srgbClr val="A9D18E"/>
                </a:solidFill>
                <a:latin typeface="Consolas"/>
              </a:rPr>
              <a:t>// Add edge in BOTH directions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        addEdge(source, destination);      </a:t>
            </a:r>
            <a:r>
              <a:rPr sz="950">
                <a:solidFill>
                  <a:srgbClr val="A9D18E"/>
                </a:solidFill>
                <a:latin typeface="Consolas"/>
              </a:rPr>
              <a:t>// source → destination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        addEdge(destination, source);      </a:t>
            </a:r>
            <a:r>
              <a:rPr sz="950">
                <a:solidFill>
                  <a:srgbClr val="A9D18E"/>
                </a:solidFill>
                <a:latin typeface="Consolas"/>
              </a:rPr>
              <a:t>// destination → source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</a:t>
            </a:r>
            <a:r>
              <a:rPr sz="950">
                <a:solidFill>
                  <a:srgbClr val="A9D18E"/>
                </a:solidFill>
                <a:latin typeface="Consolas"/>
              </a:rPr>
              <a:t>// Helper method to add a single edge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private void addEdge(int source, int destination)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    </a:t>
            </a:r>
            <a:r>
              <a:rPr sz="950">
                <a:solidFill>
                  <a:srgbClr val="A9D18E"/>
                </a:solidFill>
                <a:latin typeface="Consolas"/>
              </a:rPr>
              <a:t>// Step 1: Create a new edge node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    Edge newEdge = new Edge(destination);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    </a:t>
            </a:r>
            <a:r>
              <a:rPr sz="950">
                <a:solidFill>
                  <a:srgbClr val="A9D18E"/>
                </a:solidFill>
                <a:latin typeface="Consolas"/>
              </a:rPr>
              <a:t>// Step 2: Insert at the beginning (prepend)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    </a:t>
            </a:r>
            <a:r>
              <a:rPr sz="950">
                <a:solidFill>
                  <a:srgbClr val="A9D18E"/>
                </a:solidFill>
                <a:latin typeface="Consolas"/>
              </a:rPr>
              <a:t>// This ensures O(1) insertion time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    newEdge.next = adjList[source];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    </a:t>
            </a:r>
            <a:r>
              <a:rPr sz="950">
                <a:solidFill>
                  <a:srgbClr val="A9D18E"/>
                </a:solidFill>
                <a:latin typeface="Consolas"/>
              </a:rPr>
              <a:t>// Step 3: Update head of the list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    adjList[source] = newEdge;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FAFAFA"/>
                </a:solidFill>
                <a:latin typeface="Consolas"/>
              </a:rPr>
              <a:t>    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6108192"/>
            <a:ext cx="10881360" cy="393192"/>
          </a:xfrm>
          <a:prstGeom prst="roundRect">
            <a:avLst/>
          </a:prstGeom>
          <a:solidFill>
            <a:srgbClr val="FFF4C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6199632"/>
            <a:ext cx="10515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111111"/>
                </a:solidFill>
                <a:latin typeface="Aptos"/>
              </a:rPr>
              <a:t>For an undirected edge, add each vertex to the other vertex's list.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700" b="1">
                <a:solidFill>
                  <a:srgbClr val="12355B"/>
                </a:solidFill>
                <a:latin typeface="Aptos Display"/>
              </a:rPr>
              <a:t>Editable Java: Undirected Unweighted Adjacency List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Aptos"/>
              </a:rPr>
              <a:t>Methods for printing the list and finding neighbors.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5440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2355B"/>
                </a:solidFill>
                <a:latin typeface="Aptos"/>
              </a:rPr>
              <a:t>printList()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069848"/>
            <a:ext cx="5257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2355B"/>
                </a:solidFill>
                <a:latin typeface="Aptos"/>
              </a:rPr>
              <a:t>findNeighbors()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53312"/>
            <a:ext cx="5440680" cy="4617720"/>
          </a:xfrm>
          <a:prstGeom prst="round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463040"/>
            <a:ext cx="5184648" cy="439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</a:t>
            </a:r>
            <a:r>
              <a:rPr sz="1019">
                <a:solidFill>
                  <a:srgbClr val="A9D18E"/>
                </a:solidFill>
                <a:latin typeface="Consolas"/>
              </a:rPr>
              <a:t>// Print the full adjacency list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public void printList()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System.out.println("Adjacency List:");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</a:t>
            </a:r>
            <a:r>
              <a:rPr sz="1019">
                <a:solidFill>
                  <a:srgbClr val="A9D18E"/>
                </a:solidFill>
                <a:latin typeface="Consolas"/>
              </a:rPr>
              <a:t>// Traverse each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for (int i = 0; i &lt; numVertices; i++)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System.out.print(i + ": 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</a:t>
            </a:r>
            <a:r>
              <a:rPr sz="1019">
                <a:solidFill>
                  <a:srgbClr val="A9D18E"/>
                </a:solidFill>
                <a:latin typeface="Consolas"/>
              </a:rPr>
              <a:t>// Traverse linked list of edges for vertex i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Edge current = adjList[i];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while (current != null)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    </a:t>
            </a:r>
            <a:r>
              <a:rPr sz="1019">
                <a:solidFill>
                  <a:srgbClr val="A9D18E"/>
                </a:solidFill>
                <a:latin typeface="Consolas"/>
              </a:rPr>
              <a:t>// Print neighbor (destination only, since unweighted)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    System.out.print(current.destination + " 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    current = current.next; </a:t>
            </a:r>
            <a:r>
              <a:rPr sz="1019">
                <a:solidFill>
                  <a:srgbClr val="A9D18E"/>
                </a:solidFill>
                <a:latin typeface="Consolas"/>
              </a:rPr>
              <a:t>// Move to next edge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System.out.println();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53312"/>
            <a:ext cx="5440680" cy="4617720"/>
          </a:xfrm>
          <a:prstGeom prst="round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463040"/>
            <a:ext cx="5184648" cy="439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</a:t>
            </a:r>
            <a:r>
              <a:rPr sz="1019">
                <a:solidFill>
                  <a:srgbClr val="A9D18E"/>
                </a:solidFill>
                <a:latin typeface="Consolas"/>
              </a:rPr>
              <a:t>// Print neighbors of a given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public void findNeighbors(int vertex)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System.out.print("\nNeighbors of vertex " + vertex + ": 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Edge current = adjList[vertex];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</a:t>
            </a:r>
            <a:r>
              <a:rPr sz="1019">
                <a:solidFill>
                  <a:srgbClr val="A9D18E"/>
                </a:solidFill>
                <a:latin typeface="Consolas"/>
              </a:rPr>
              <a:t>// Traverse all neighbors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while (current != null)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</a:t>
            </a:r>
            <a:r>
              <a:rPr sz="1019">
                <a:solidFill>
                  <a:srgbClr val="A9D18E"/>
                </a:solidFill>
                <a:latin typeface="Consolas"/>
              </a:rPr>
              <a:t>// Print current neighbor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System.out.print(current.destination);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</a:t>
            </a:r>
            <a:r>
              <a:rPr sz="1019">
                <a:solidFill>
                  <a:srgbClr val="A9D18E"/>
                </a:solidFill>
                <a:latin typeface="Consolas"/>
              </a:rPr>
              <a:t>// Add comma if not the last element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if (current.next != null)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    System.out.print(",");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current = current.next; </a:t>
            </a:r>
            <a:r>
              <a:rPr sz="1019">
                <a:solidFill>
                  <a:srgbClr val="A9D18E"/>
                </a:solidFill>
                <a:latin typeface="Consolas"/>
              </a:rPr>
              <a:t>// Move to next edge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System.out.println();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6108192"/>
            <a:ext cx="10881360" cy="393192"/>
          </a:xfrm>
          <a:prstGeom prst="roundRect">
            <a:avLst/>
          </a:prstGeom>
          <a:solidFill>
            <a:srgbClr val="EEF8E8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6199632"/>
            <a:ext cx="10515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111111"/>
                </a:solidFill>
                <a:latin typeface="Aptos"/>
              </a:rPr>
              <a:t>Both methods traverse linked-list nodes using current = current.next.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700" b="1">
                <a:solidFill>
                  <a:srgbClr val="12355B"/>
                </a:solidFill>
                <a:latin typeface="Aptos Display"/>
              </a:rPr>
              <a:t>Editable Java: Undirected Unweighted Adjacency List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Aptos"/>
              </a:rPr>
              <a:t>Driver code and the adjacency list created by prepend insertion.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6583680" cy="5120640"/>
          </a:xfrm>
          <a:prstGeom prst="roundRect">
            <a:avLst/>
          </a:prstGeom>
          <a:solidFill>
            <a:srgbClr val="222222"/>
          </a:solidFill>
          <a:ln w="1016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280160"/>
            <a:ext cx="6254496" cy="48646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</a:t>
            </a:r>
            <a:r>
              <a:rPr sz="1000">
                <a:solidFill>
                  <a:srgbClr val="A9D18E"/>
                </a:solidFill>
                <a:latin typeface="Consolas"/>
              </a:rPr>
              <a:t>// Driver code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public static void main(String[] args) {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int numVertices = 5;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int[][] edges = {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{0, 1},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{0, 3},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{1, 3},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{1, 2},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{1, 4},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{2, 4},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{3, 4}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};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GraphUndirectedUnweightedAdjacencyList graph = new GraphUndirectedUnweightedAdjacencyList(numVertices);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System.out.println("Before adding connections:");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graph.printList();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graph.addEdges(edges);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System.out.println("\nAfter adding connections:");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graph.printList();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for (int vertex = 0; vertex &lt; numVertices; vertex++) {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graph.findNeighbors(vertex);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}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}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143000"/>
            <a:ext cx="4160520" cy="4041648"/>
          </a:xfrm>
          <a:prstGeom prst="roundRect">
            <a:avLst/>
          </a:prstGeom>
          <a:solidFill>
            <a:srgbClr val="F7F9FC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32588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355B"/>
                </a:solidFill>
                <a:latin typeface="Aptos"/>
              </a:rPr>
              <a:t>Resulting adjacency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719072"/>
            <a:ext cx="370332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111111"/>
                </a:solidFill>
                <a:latin typeface="Consolas"/>
              </a:rPr>
              <a:t>0: 3 1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11111"/>
                </a:solidFill>
                <a:latin typeface="Consolas"/>
              </a:rPr>
              <a:t>1: 4 2 3 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11111"/>
                </a:solidFill>
                <a:latin typeface="Consolas"/>
              </a:rPr>
              <a:t>2: 4 1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11111"/>
                </a:solidFill>
                <a:latin typeface="Consolas"/>
              </a:rPr>
              <a:t>3: 4 1 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11111"/>
                </a:solidFill>
                <a:latin typeface="Consolas"/>
              </a:rPr>
              <a:t>4: 3 2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5376672"/>
            <a:ext cx="4160520" cy="841248"/>
          </a:xfrm>
          <a:prstGeom prst="roundRect">
            <a:avLst/>
          </a:prstGeom>
          <a:solidFill>
            <a:srgbClr val="EEF8E8"/>
          </a:solidFill>
          <a:ln>
            <a:solidFill>
              <a:srgbClr val="D7E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5513832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11111"/>
                </a:solidFill>
                <a:latin typeface="Aptos"/>
              </a:rPr>
              <a:t>Because addEdge() prepends, the newest neighbor appears first.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List: Directed Unweighted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Only outgoing neighbors are stored in each source vertex list.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Graph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22199" y="2716705"/>
            <a:ext cx="1407561" cy="-541370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313565" y="2973874"/>
            <a:ext cx="573271" cy="1340021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72808" y="2231004"/>
            <a:ext cx="1243905" cy="1024392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00318" y="2286459"/>
            <a:ext cx="1114564" cy="2467963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46813" y="4314643"/>
            <a:ext cx="889854" cy="-2027319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63656" y="4536061"/>
            <a:ext cx="1936328" cy="364485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32640" y="4739653"/>
            <a:ext cx="204400" cy="-1158266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33272" y="25877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26883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16352" y="19019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20025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70832" y="318211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328269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764792" y="4297680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56232" y="439826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96512" y="473659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483717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97880" y="1097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Adjacency List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89320" y="17922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89280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11112" y="169164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544" y="176479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78040" y="185623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24344" y="169164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51776" y="176479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9320" y="24323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253288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11112" y="233172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38544" y="24048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78040" y="249631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324344" y="233172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51776" y="240487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89320" y="3072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317296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5989320" y="371246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381304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611112" y="361188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8544" y="368503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78040" y="377647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324344" y="361188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51776" y="368503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89320" y="43525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</a:rPr>
              <a:t>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63640" y="445312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611112" y="4251960"/>
            <a:ext cx="566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8544" y="432511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2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97880" y="5074920"/>
            <a:ext cx="5166360" cy="685800"/>
          </a:xfrm>
          <a:prstGeom prst="roundRect">
            <a:avLst>
              <a:gd name="adj" fmla="val 10667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35040" y="51846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Rule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035040" y="5486400"/>
            <a:ext cx="4892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For edge (u, v): insert only v into list[u].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700" b="1">
                <a:solidFill>
                  <a:srgbClr val="12355B"/>
                </a:solidFill>
                <a:latin typeface="Aptos Display"/>
              </a:rPr>
              <a:t>Editable Java: Directed Unweighted Adjacency List (1/3)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Aptos"/>
              </a:rPr>
              <a:t>Graph setup and one-way insertion methods. The same Edge class is reused.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1069848"/>
            <a:ext cx="5440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2355B"/>
                </a:solidFill>
                <a:latin typeface="Aptos"/>
              </a:rPr>
              <a:t>Class + constructor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1069848"/>
            <a:ext cx="5257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2355B"/>
                </a:solidFill>
                <a:latin typeface="Aptos"/>
              </a:rPr>
              <a:t>addEdges() + addEdge()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1353312"/>
            <a:ext cx="5440680" cy="4617720"/>
          </a:xfrm>
          <a:prstGeom prst="round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1463040"/>
            <a:ext cx="5184648" cy="439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0">
                <a:solidFill>
                  <a:srgbClr val="FAFAFA"/>
                </a:solidFill>
                <a:latin typeface="Consolas"/>
              </a:rPr>
              <a:t>public class GraphDirectedUnweightedAdjacencyList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0">
                <a:solidFill>
                  <a:srgbClr val="FAFAFA"/>
                </a:solidFill>
                <a:latin typeface="Consolas"/>
              </a:rPr>
              <a:t>    private int numVertices;   </a:t>
            </a:r>
            <a:r>
              <a:rPr sz="1010">
                <a:solidFill>
                  <a:srgbClr val="A9D18E"/>
                </a:solidFill>
                <a:latin typeface="Consolas"/>
              </a:rPr>
              <a:t>// Total number of vertices in the graph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0">
                <a:solidFill>
                  <a:srgbClr val="FAFAFA"/>
                </a:solidFill>
                <a:latin typeface="Consolas"/>
              </a:rPr>
              <a:t>    private Edge[] adjList;    </a:t>
            </a:r>
            <a:r>
              <a:rPr sz="1010">
                <a:solidFill>
                  <a:srgbClr val="A9D18E"/>
                </a:solidFill>
                <a:latin typeface="Consolas"/>
              </a:rPr>
              <a:t>// Array of linked lists (Adjacency List)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0">
                <a:solidFill>
                  <a:srgbClr val="FAFAFA"/>
                </a:solidFill>
                <a:latin typeface="Consolas"/>
              </a:rPr>
              <a:t>    </a:t>
            </a:r>
            <a:r>
              <a:rPr sz="1010">
                <a:solidFill>
                  <a:srgbClr val="A9D18E"/>
                </a:solidFill>
                <a:latin typeface="Consolas"/>
              </a:rPr>
              <a:t>// Constructor: initialize graph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0">
                <a:solidFill>
                  <a:srgbClr val="FAFAFA"/>
                </a:solidFill>
                <a:latin typeface="Consolas"/>
              </a:rPr>
              <a:t>    public GraphDirectedUnweightedAdjacencyList(int numVertices)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0">
                <a:solidFill>
                  <a:srgbClr val="FAFAFA"/>
                </a:solidFill>
                <a:latin typeface="Consolas"/>
              </a:rPr>
              <a:t>        this.numVertices = numVertices;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0">
                <a:solidFill>
                  <a:srgbClr val="FAFAFA"/>
                </a:solidFill>
                <a:latin typeface="Consolas"/>
              </a:rPr>
              <a:t>        </a:t>
            </a:r>
            <a:r>
              <a:rPr sz="1010">
                <a:solidFill>
                  <a:srgbClr val="A9D18E"/>
                </a:solidFill>
                <a:latin typeface="Consolas"/>
              </a:rPr>
              <a:t>// Create an array of size = numVertices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0">
                <a:solidFill>
                  <a:srgbClr val="FAFAFA"/>
                </a:solidFill>
                <a:latin typeface="Consolas"/>
              </a:rPr>
              <a:t>        </a:t>
            </a:r>
            <a:r>
              <a:rPr sz="1010">
                <a:solidFill>
                  <a:srgbClr val="A9D18E"/>
                </a:solidFill>
                <a:latin typeface="Consolas"/>
              </a:rPr>
              <a:t>// Each index will store the head of a linked list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0">
                <a:solidFill>
                  <a:srgbClr val="FAFAFA"/>
                </a:solidFill>
                <a:latin typeface="Consolas"/>
              </a:rPr>
              <a:t>        adjList = new Edge[numVertices]; </a:t>
            </a:r>
            <a:r>
              <a:rPr sz="1010">
                <a:solidFill>
                  <a:srgbClr val="A9D18E"/>
                </a:solidFill>
                <a:latin typeface="Consolas"/>
              </a:rPr>
              <a:t>// Initially all values are null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0">
                <a:solidFill>
                  <a:srgbClr val="FAFAFA"/>
                </a:solidFill>
                <a:latin typeface="Consolas"/>
              </a:rPr>
              <a:t>    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1353312"/>
            <a:ext cx="5440680" cy="4617720"/>
          </a:xfrm>
          <a:prstGeom prst="round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4496" y="1463040"/>
            <a:ext cx="5184648" cy="439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</a:t>
            </a:r>
            <a:r>
              <a:rPr sz="980">
                <a:solidFill>
                  <a:srgbClr val="A9D18E"/>
                </a:solidFill>
                <a:latin typeface="Consolas"/>
              </a:rPr>
              <a:t>// Add multiple edges to the graph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public void addEdges(int[][] edges)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    </a:t>
            </a:r>
            <a:r>
              <a:rPr sz="980">
                <a:solidFill>
                  <a:srgbClr val="A9D18E"/>
                </a:solidFill>
                <a:latin typeface="Consolas"/>
              </a:rPr>
              <a:t>// edges format: { {source, destination}, ...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    for (int i = 0; i &lt; edges.length; i++)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        int source = edges[i][0];        </a:t>
            </a:r>
            <a:r>
              <a:rPr sz="980">
                <a:solidFill>
                  <a:srgbClr val="A9D18E"/>
                </a:solidFill>
                <a:latin typeface="Consolas"/>
              </a:rPr>
              <a:t>// Starting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        int destination = edges[i][1];   </a:t>
            </a:r>
            <a:r>
              <a:rPr sz="980">
                <a:solidFill>
                  <a:srgbClr val="A9D18E"/>
                </a:solidFill>
                <a:latin typeface="Consolas"/>
              </a:rPr>
              <a:t>// Ending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        </a:t>
            </a:r>
            <a:r>
              <a:rPr sz="980">
                <a:solidFill>
                  <a:srgbClr val="A9D18E"/>
                </a:solidFill>
                <a:latin typeface="Consolas"/>
              </a:rPr>
              <a:t>// For DIRECTED graph: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        </a:t>
            </a:r>
            <a:r>
              <a:rPr sz="980">
                <a:solidFill>
                  <a:srgbClr val="A9D18E"/>
                </a:solidFill>
                <a:latin typeface="Consolas"/>
              </a:rPr>
              <a:t>// Add edge in only ONE direction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        addEdge(source, destination);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</a:t>
            </a:r>
            <a:r>
              <a:rPr sz="980">
                <a:solidFill>
                  <a:srgbClr val="A9D18E"/>
                </a:solidFill>
                <a:latin typeface="Consolas"/>
              </a:rPr>
              <a:t>// Helper method to add a single directed edge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private void addEdge(int source, int destination)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    </a:t>
            </a:r>
            <a:r>
              <a:rPr sz="980">
                <a:solidFill>
                  <a:srgbClr val="A9D18E"/>
                </a:solidFill>
                <a:latin typeface="Consolas"/>
              </a:rPr>
              <a:t>// Step 1: Create a new edge node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    Edge newEdge = new Edge(destination);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    </a:t>
            </a:r>
            <a:r>
              <a:rPr sz="980">
                <a:solidFill>
                  <a:srgbClr val="A9D18E"/>
                </a:solidFill>
                <a:latin typeface="Consolas"/>
              </a:rPr>
              <a:t>// Step 2: Insert at the beginning (prepend)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    </a:t>
            </a:r>
            <a:r>
              <a:rPr sz="980">
                <a:solidFill>
                  <a:srgbClr val="A9D18E"/>
                </a:solidFill>
                <a:latin typeface="Consolas"/>
              </a:rPr>
              <a:t>// This ensures O(1) insertion time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    newEdge.next = adjList[source];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    </a:t>
            </a:r>
            <a:r>
              <a:rPr sz="980">
                <a:solidFill>
                  <a:srgbClr val="A9D18E"/>
                </a:solidFill>
                <a:latin typeface="Consolas"/>
              </a:rPr>
              <a:t>// Step 3: Update the head of the list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    adjList[source] = newEdge;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FAFAFA"/>
                </a:solidFill>
                <a:latin typeface="Consolas"/>
              </a:rPr>
              <a:t>    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6108192"/>
            <a:ext cx="10881360" cy="393192"/>
          </a:xfrm>
          <a:prstGeom prst="roundRect">
            <a:avLst/>
          </a:prstGeom>
          <a:solidFill>
            <a:srgbClr val="FFF4C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6199632"/>
            <a:ext cx="10515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111111"/>
                </a:solidFill>
                <a:latin typeface="Aptos"/>
              </a:rPr>
              <a:t>Directed graph: add only destination to the source vertex's list.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700" b="1">
                <a:solidFill>
                  <a:srgbClr val="12355B"/>
                </a:solidFill>
                <a:latin typeface="Aptos Display"/>
              </a:rPr>
              <a:t>Editable Java: Directed Unweighted Adjacency List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Aptos"/>
              </a:rPr>
              <a:t>Methods for printing outgoing neighbors.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5440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2355B"/>
                </a:solidFill>
                <a:latin typeface="Aptos"/>
              </a:rPr>
              <a:t>printList()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069848"/>
            <a:ext cx="5257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2355B"/>
                </a:solidFill>
                <a:latin typeface="Aptos"/>
              </a:rPr>
              <a:t>findNeighbors()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53312"/>
            <a:ext cx="5440680" cy="4617720"/>
          </a:xfrm>
          <a:prstGeom prst="round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463040"/>
            <a:ext cx="5184648" cy="439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</a:t>
            </a:r>
            <a:r>
              <a:rPr sz="1019">
                <a:solidFill>
                  <a:srgbClr val="A9D18E"/>
                </a:solidFill>
                <a:latin typeface="Consolas"/>
              </a:rPr>
              <a:t>// Print the full adjacency list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public void printList()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System.out.println("Adjacency List:");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</a:t>
            </a:r>
            <a:r>
              <a:rPr sz="1019">
                <a:solidFill>
                  <a:srgbClr val="A9D18E"/>
                </a:solidFill>
                <a:latin typeface="Consolas"/>
              </a:rPr>
              <a:t>// Traverse each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for (int i = 0; i &lt; numVertices; i++)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System.out.print(i + ": 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</a:t>
            </a:r>
            <a:r>
              <a:rPr sz="1019">
                <a:solidFill>
                  <a:srgbClr val="A9D18E"/>
                </a:solidFill>
                <a:latin typeface="Consolas"/>
              </a:rPr>
              <a:t>// Traverse linked list of edges for vertex i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Edge current = adjList[i];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while (current != null)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    </a:t>
            </a:r>
            <a:r>
              <a:rPr sz="1019">
                <a:solidFill>
                  <a:srgbClr val="A9D18E"/>
                </a:solidFill>
                <a:latin typeface="Consolas"/>
              </a:rPr>
              <a:t>// Print only destination (unweighted graph)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    System.out.print(current.destination + " 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    current = current.next; </a:t>
            </a:r>
            <a:r>
              <a:rPr sz="1019">
                <a:solidFill>
                  <a:srgbClr val="A9D18E"/>
                </a:solidFill>
                <a:latin typeface="Consolas"/>
              </a:rPr>
              <a:t>// Move to next edge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System.out.println();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53312"/>
            <a:ext cx="5440680" cy="4617720"/>
          </a:xfrm>
          <a:prstGeom prst="round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463040"/>
            <a:ext cx="5184648" cy="439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</a:t>
            </a:r>
            <a:r>
              <a:rPr sz="1019">
                <a:solidFill>
                  <a:srgbClr val="A9D18E"/>
                </a:solidFill>
                <a:latin typeface="Consolas"/>
              </a:rPr>
              <a:t>// Method to find and print neighbors of a given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public void findNeighbors(int vertex)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System.out.print("\nNeighbors of vertex " + vertex + ": 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Edge current = adjList[vertex];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</a:t>
            </a:r>
            <a:r>
              <a:rPr sz="1019">
                <a:solidFill>
                  <a:srgbClr val="A9D18E"/>
                </a:solidFill>
                <a:latin typeface="Consolas"/>
              </a:rPr>
              <a:t>// Traverse all neighbors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while (current != null)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</a:t>
            </a:r>
            <a:r>
              <a:rPr sz="1019">
                <a:solidFill>
                  <a:srgbClr val="A9D18E"/>
                </a:solidFill>
                <a:latin typeface="Consolas"/>
              </a:rPr>
              <a:t>// Print current neighbor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System.out.print(current.destination);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</a:t>
            </a:r>
            <a:r>
              <a:rPr sz="1019">
                <a:solidFill>
                  <a:srgbClr val="A9D18E"/>
                </a:solidFill>
                <a:latin typeface="Consolas"/>
              </a:rPr>
              <a:t>// Add comma if not the last element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if (current.next != null)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    System.out.print(",");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    current = current.next; </a:t>
            </a:r>
            <a:r>
              <a:rPr sz="1019">
                <a:solidFill>
                  <a:srgbClr val="A9D18E"/>
                </a:solidFill>
                <a:latin typeface="Consolas"/>
              </a:rPr>
              <a:t>// Move to next edge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    System.out.println();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AFAFA"/>
                </a:solidFill>
                <a:latin typeface="Consolas"/>
              </a:rPr>
              <a:t>   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6108192"/>
            <a:ext cx="10881360" cy="393192"/>
          </a:xfrm>
          <a:prstGeom prst="roundRect">
            <a:avLst/>
          </a:prstGeom>
          <a:solidFill>
            <a:srgbClr val="EEF8E8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6199632"/>
            <a:ext cx="10515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111111"/>
                </a:solidFill>
                <a:latin typeface="Aptos"/>
              </a:rPr>
              <a:t>Only outgoing edges are stored and printed for each source vertex.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700" b="1">
                <a:solidFill>
                  <a:srgbClr val="12355B"/>
                </a:solidFill>
                <a:latin typeface="Aptos Display"/>
              </a:rPr>
              <a:t>Editable Java: Directed Unweighted Adjacency List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Aptos"/>
              </a:rPr>
              <a:t>Driver code and the one-way adjacency lists it creates.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6583680" cy="5120640"/>
          </a:xfrm>
          <a:prstGeom prst="roundRect">
            <a:avLst/>
          </a:prstGeom>
          <a:solidFill>
            <a:srgbClr val="222222"/>
          </a:solidFill>
          <a:ln w="1016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280160"/>
            <a:ext cx="6254496" cy="48646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</a:t>
            </a:r>
            <a:r>
              <a:rPr sz="1000">
                <a:solidFill>
                  <a:srgbClr val="A9D18E"/>
                </a:solidFill>
                <a:latin typeface="Consolas"/>
              </a:rPr>
              <a:t>// Driver code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public static void main(String[] args) {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int numVertices = 5;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int[][] edges = {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{0, 1}, {0, 3},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{1, 2}, {1, 4},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{3, 1}, {3, 4},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{4, 2}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};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GraphDirectedUnweightedAdjacencyList graph = new GraphDirectedUnweightedAdjacencyList(numVertices);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System.out.println("Before adding connections:");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graph.printList();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graph.addEdges(edges);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System.out.println("\nAfter adding connections:");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graph.printList();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for (int vertex = 0; vertex &lt; numVertices; vertex++) {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graph.findNeighbors(vertex);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}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}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143000"/>
            <a:ext cx="4160520" cy="4041648"/>
          </a:xfrm>
          <a:prstGeom prst="roundRect">
            <a:avLst/>
          </a:prstGeom>
          <a:solidFill>
            <a:srgbClr val="F7F9FC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32588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355B"/>
                </a:solidFill>
                <a:latin typeface="Aptos"/>
              </a:rPr>
              <a:t>Resulting adjacency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719072"/>
            <a:ext cx="370332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111111"/>
                </a:solidFill>
                <a:latin typeface="Consolas"/>
              </a:rPr>
              <a:t>0: 3 1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11111"/>
                </a:solidFill>
                <a:latin typeface="Consolas"/>
              </a:rPr>
              <a:t>1: 4 2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11111"/>
                </a:solidFill>
                <a:latin typeface="Consolas"/>
              </a:rPr>
              <a:t>2: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11111"/>
                </a:solidFill>
                <a:latin typeface="Consolas"/>
              </a:rPr>
              <a:t>3: 4 1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11111"/>
                </a:solidFill>
                <a:latin typeface="Consolas"/>
              </a:rPr>
              <a:t>4: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5376672"/>
            <a:ext cx="4160520" cy="841248"/>
          </a:xfrm>
          <a:prstGeom prst="roundRect">
            <a:avLst/>
          </a:prstGeom>
          <a:solidFill>
            <a:srgbClr val="EEF8E8"/>
          </a:solidFill>
          <a:ln>
            <a:solidFill>
              <a:srgbClr val="D7E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5513832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11111"/>
                </a:solidFill>
                <a:latin typeface="Aptos"/>
              </a:rPr>
              <a:t>Only outgoing edges appear in a vertex's list.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Adjacency List: Directed Weighted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Each list node stores both destination and weight.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Graph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22199" y="2716705"/>
            <a:ext cx="1407561" cy="-541370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016252" y="235458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6252" y="236372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13565" y="2973874"/>
            <a:ext cx="573271" cy="1340021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490472" y="355244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0472" y="356158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808" y="2231004"/>
            <a:ext cx="1243905" cy="1024392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85032" y="265176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66090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00318" y="2286459"/>
            <a:ext cx="1114564" cy="2467963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47872" y="342900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343814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46813" y="4314643"/>
            <a:ext cx="889854" cy="-2027319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382012" y="320954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82012" y="321868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63656" y="4536061"/>
            <a:ext cx="1936328" cy="364485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022092" y="4626864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22092" y="463600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32640" y="4739653"/>
            <a:ext cx="204400" cy="-1158266"/>
          </a:xfrm>
          <a:prstGeom prst="line">
            <a:avLst/>
          </a:prstGeom>
          <a:noFill/>
          <a:ln w="14605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325112" y="4069080"/>
            <a:ext cx="219456" cy="173736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25112" y="407822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33272" y="25877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4712" y="26883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816352" y="190195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07792" y="20025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70832" y="318211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2272" y="328269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764792" y="4297680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56232" y="439826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3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096512" y="4736592"/>
            <a:ext cx="402336" cy="402336"/>
          </a:xfrm>
          <a:prstGeom prst="ellipse">
            <a:avLst/>
          </a:prstGeom>
          <a:solidFill>
            <a:srgbClr val="BFD7EA"/>
          </a:solidFill>
          <a:ln w="13970">
            <a:solidFill>
              <a:srgbClr val="6E8D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87952" y="483717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355B"/>
                </a:solidFill>
              </a:rPr>
              <a:t>4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0" y="1097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55B"/>
                </a:solidFill>
              </a:rPr>
              <a:t>Adjacency List with Weights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669280" y="17922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43600" y="189280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291072" y="1691640"/>
            <a:ext cx="96926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8504" y="176479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1(2)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260336" y="185623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406640" y="1691640"/>
            <a:ext cx="96926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34072" y="176479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3(6)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69280" y="243230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1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943600" y="253288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291072" y="2331720"/>
            <a:ext cx="96926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18504" y="24048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2(3)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260336" y="249631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406640" y="2331720"/>
            <a:ext cx="96926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34072" y="24048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4(5)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669280" y="3072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2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943600" y="317296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none"/>
          </a:ln>
        </p:spPr>
      </p:sp>
      <p:sp>
        <p:nvSpPr>
          <p:cNvPr id="53" name="Text 51"/>
          <p:cNvSpPr/>
          <p:nvPr/>
        </p:nvSpPr>
        <p:spPr>
          <a:xfrm>
            <a:off x="5669280" y="371246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3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943600" y="381304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291072" y="3611880"/>
            <a:ext cx="96926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18504" y="368503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1(4)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260336" y="3776472"/>
            <a:ext cx="146304" cy="0"/>
          </a:xfrm>
          <a:prstGeom prst="line">
            <a:avLst/>
          </a:prstGeom>
          <a:noFill/>
          <a:ln w="1143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406640" y="3611880"/>
            <a:ext cx="96926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34072" y="368503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4(2)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669280" y="43525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4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943600" y="4453128"/>
            <a:ext cx="29260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291072" y="4251960"/>
            <a:ext cx="96926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5B5B5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18504" y="432511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2(1)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669280" y="5074920"/>
            <a:ext cx="5440680" cy="685800"/>
          </a:xfrm>
          <a:prstGeom prst="roundRect">
            <a:avLst>
              <a:gd name="adj" fmla="val 10667"/>
            </a:avLst>
          </a:prstGeom>
          <a:solidFill>
            <a:srgbClr val="FCE4E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06440" y="518464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Rule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806440" y="5486400"/>
            <a:ext cx="51663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For edge (u, v, w): insert node v with weight w into list[u].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700" b="1">
                <a:solidFill>
                  <a:srgbClr val="12355B"/>
                </a:solidFill>
                <a:latin typeface="Aptos Display"/>
              </a:rPr>
              <a:t>Editable Java: Directed Weighted Adjacency List (1/3)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Aptos"/>
              </a:rPr>
              <a:t>WEdge stores destination + weight; the graph stores only outgoing weighted edges.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1069848"/>
            <a:ext cx="5440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2355B"/>
                </a:solidFill>
                <a:latin typeface="Aptos"/>
              </a:rPr>
              <a:t>WEdge + constructor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1069848"/>
            <a:ext cx="5257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2355B"/>
                </a:solidFill>
                <a:latin typeface="Aptos"/>
              </a:rPr>
              <a:t>addEdges() + addEdge()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1353312"/>
            <a:ext cx="5440680" cy="4617720"/>
          </a:xfrm>
          <a:prstGeom prst="round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1463040"/>
            <a:ext cx="5184648" cy="439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class WEdge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int destination;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int weight;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WEdge next;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public WEdge( int destination, int weight)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this.destination = destination;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this.weight = weight;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this.next = null;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public class GraphDirectedWeightedAdjacencyList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private int numVertices;     </a:t>
            </a:r>
            <a:r>
              <a:rPr sz="960">
                <a:solidFill>
                  <a:srgbClr val="A9D18E"/>
                </a:solidFill>
                <a:latin typeface="Consolas"/>
              </a:rPr>
              <a:t>// Total number of vertices in the graph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private WEdge[] adjList;     </a:t>
            </a:r>
            <a:r>
              <a:rPr sz="960">
                <a:solidFill>
                  <a:srgbClr val="A9D18E"/>
                </a:solidFill>
                <a:latin typeface="Consolas"/>
              </a:rPr>
              <a:t>// Array of linked lists (Adjacency List)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</a:t>
            </a:r>
            <a:r>
              <a:rPr sz="960">
                <a:solidFill>
                  <a:srgbClr val="A9D18E"/>
                </a:solidFill>
                <a:latin typeface="Consolas"/>
              </a:rPr>
              <a:t>// Constructor: initialize graph with given number of vertices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public GraphDirectedWeightedAdjacencyList(int numVertices)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this.numVertices = numVertices;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adjList = new WEdge[numVertices]; </a:t>
            </a:r>
            <a:r>
              <a:rPr sz="960">
                <a:solidFill>
                  <a:srgbClr val="A9D18E"/>
                </a:solidFill>
                <a:latin typeface="Consolas"/>
              </a:rPr>
              <a:t>// Initially all entries are null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1353312"/>
            <a:ext cx="5440680" cy="4617720"/>
          </a:xfrm>
          <a:prstGeom prst="round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4496" y="1463040"/>
            <a:ext cx="5184648" cy="439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</a:t>
            </a:r>
            <a:r>
              <a:rPr sz="960">
                <a:solidFill>
                  <a:srgbClr val="A9D18E"/>
                </a:solidFill>
                <a:latin typeface="Consolas"/>
              </a:rPr>
              <a:t>// Add multiple edges from a 2D array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public void addEdges(int[][] edges)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for (int i = 0; i &lt; edges.length; i++)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    int source = edges[i][0];       </a:t>
            </a:r>
            <a:r>
              <a:rPr sz="960">
                <a:solidFill>
                  <a:srgbClr val="A9D18E"/>
                </a:solidFill>
                <a:latin typeface="Consolas"/>
              </a:rPr>
              <a:t>// Starting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    int destination = edges[i][1];  </a:t>
            </a:r>
            <a:r>
              <a:rPr sz="960">
                <a:solidFill>
                  <a:srgbClr val="A9D18E"/>
                </a:solidFill>
                <a:latin typeface="Consolas"/>
              </a:rPr>
              <a:t>// Ending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    int weight = edges[i][2];       </a:t>
            </a:r>
            <a:r>
              <a:rPr sz="960">
                <a:solidFill>
                  <a:srgbClr val="A9D18E"/>
                </a:solidFill>
                <a:latin typeface="Consolas"/>
              </a:rPr>
              <a:t>// Weight of the edge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    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    </a:t>
            </a:r>
            <a:r>
              <a:rPr sz="960">
                <a:solidFill>
                  <a:srgbClr val="A9D18E"/>
                </a:solidFill>
                <a:latin typeface="Consolas"/>
              </a:rPr>
              <a:t>// For DIRECTED graph: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    </a:t>
            </a:r>
            <a:r>
              <a:rPr sz="960">
                <a:solidFill>
                  <a:srgbClr val="A9D18E"/>
                </a:solidFill>
                <a:latin typeface="Consolas"/>
              </a:rPr>
              <a:t>// Add edge in only 1 direction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    addEdge(source, destination, weight); </a:t>
            </a:r>
            <a:r>
              <a:rPr sz="960">
                <a:solidFill>
                  <a:srgbClr val="A9D18E"/>
                </a:solidFill>
                <a:latin typeface="Consolas"/>
              </a:rPr>
              <a:t>// Add edge to graph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</a:t>
            </a:r>
            <a:r>
              <a:rPr sz="960">
                <a:solidFill>
                  <a:srgbClr val="A9D18E"/>
                </a:solidFill>
                <a:latin typeface="Consolas"/>
              </a:rPr>
              <a:t>// Add a single directed weighted edge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public void addEdge(int source, int destination, int weight)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</a:t>
            </a:r>
            <a:r>
              <a:rPr sz="960">
                <a:solidFill>
                  <a:srgbClr val="A9D18E"/>
                </a:solidFill>
                <a:latin typeface="Consolas"/>
              </a:rPr>
              <a:t>// Step 1: Create a new edge node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WEdge newEdge = new WEdge(destination, weight);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</a:t>
            </a:r>
            <a:r>
              <a:rPr sz="960">
                <a:solidFill>
                  <a:srgbClr val="A9D18E"/>
                </a:solidFill>
                <a:latin typeface="Consolas"/>
              </a:rPr>
              <a:t>// Step 2: Link new edge to the beginning of the list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</a:t>
            </a:r>
            <a:r>
              <a:rPr sz="960">
                <a:solidFill>
                  <a:srgbClr val="A9D18E"/>
                </a:solidFill>
                <a:latin typeface="Consolas"/>
              </a:rPr>
              <a:t>// (prepend for O(1) insertion)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newEdge.next = adjList[source];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</a:t>
            </a:r>
            <a:r>
              <a:rPr sz="960">
                <a:solidFill>
                  <a:srgbClr val="A9D18E"/>
                </a:solidFill>
                <a:latin typeface="Consolas"/>
              </a:rPr>
              <a:t>// Step 3: Update head of the list for this source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adjList[source] = newEdge;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6108192"/>
            <a:ext cx="10881360" cy="393192"/>
          </a:xfrm>
          <a:prstGeom prst="roundRect">
            <a:avLst/>
          </a:prstGeom>
          <a:solidFill>
            <a:srgbClr val="F8E8F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6199632"/>
            <a:ext cx="10515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111111"/>
                </a:solidFill>
                <a:latin typeface="Aptos"/>
              </a:rPr>
              <a:t>Each WEdge node stores (destination, weight).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700" b="1">
                <a:solidFill>
                  <a:srgbClr val="12355B"/>
                </a:solidFill>
                <a:latin typeface="Aptos Display"/>
              </a:rPr>
              <a:t>Editable Java: Directed Weighted Adjacency List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Aptos"/>
              </a:rPr>
              <a:t>Methods for printing weighted adjacency lists and neighbors.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5440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2355B"/>
                </a:solidFill>
                <a:latin typeface="Aptos"/>
              </a:rPr>
              <a:t>printList()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069848"/>
            <a:ext cx="5257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2355B"/>
                </a:solidFill>
                <a:latin typeface="Aptos"/>
              </a:rPr>
              <a:t>findNeighbors()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53312"/>
            <a:ext cx="5440680" cy="4617720"/>
          </a:xfrm>
          <a:prstGeom prst="round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463040"/>
            <a:ext cx="5184648" cy="439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</a:t>
            </a:r>
            <a:r>
              <a:rPr sz="1000">
                <a:solidFill>
                  <a:srgbClr val="A9D18E"/>
                </a:solidFill>
                <a:latin typeface="Consolas"/>
              </a:rPr>
              <a:t>// Print the full adjacency list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public void printList()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System.out.println("Adjacency List with Weights:");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</a:t>
            </a:r>
            <a:r>
              <a:rPr sz="1000">
                <a:solidFill>
                  <a:srgbClr val="A9D18E"/>
                </a:solidFill>
                <a:latin typeface="Consolas"/>
              </a:rPr>
              <a:t>// Traverse each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for (int i = 0; i &lt; numVertices; i++)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System.out.print(i + ": 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</a:t>
            </a:r>
            <a:r>
              <a:rPr sz="1000">
                <a:solidFill>
                  <a:srgbClr val="A9D18E"/>
                </a:solidFill>
                <a:latin typeface="Consolas"/>
              </a:rPr>
              <a:t>// Traverse linked list of edges for vertex i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WEdge current = adjList[i];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while (current != null)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    </a:t>
            </a:r>
            <a:r>
              <a:rPr sz="1000">
                <a:solidFill>
                  <a:srgbClr val="A9D18E"/>
                </a:solidFill>
                <a:latin typeface="Consolas"/>
              </a:rPr>
              <a:t>// Print (destination, weight)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    System.out.print("(" + current.destination + ", " + current.weight + ") 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    current = current.next; </a:t>
            </a:r>
            <a:r>
              <a:rPr sz="1000">
                <a:solidFill>
                  <a:srgbClr val="A9D18E"/>
                </a:solidFill>
                <a:latin typeface="Consolas"/>
              </a:rPr>
              <a:t>// Move to next edge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System.out.println();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53312"/>
            <a:ext cx="5440680" cy="4617720"/>
          </a:xfrm>
          <a:prstGeom prst="round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463040"/>
            <a:ext cx="5184648" cy="439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</a:t>
            </a:r>
            <a:r>
              <a:rPr sz="1000">
                <a:solidFill>
                  <a:srgbClr val="A9D18E"/>
                </a:solidFill>
                <a:latin typeface="Consolas"/>
              </a:rPr>
              <a:t>// Print neighbors of a specific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public void findNeighbors(int vertex)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System.out.print("\nNeighbors of vertex " + vertex + ": 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WEdge current = adjList[vertex];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</a:t>
            </a:r>
            <a:r>
              <a:rPr sz="1000">
                <a:solidFill>
                  <a:srgbClr val="A9D18E"/>
                </a:solidFill>
                <a:latin typeface="Consolas"/>
              </a:rPr>
              <a:t>// Traverse all edges from this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while (current != null)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</a:t>
            </a:r>
            <a:r>
              <a:rPr sz="1000">
                <a:solidFill>
                  <a:srgbClr val="A9D18E"/>
                </a:solidFill>
                <a:latin typeface="Consolas"/>
              </a:rPr>
              <a:t>// Print neighbor and weight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System.out.print("(" + current.destination + ", " + current.weight + ")");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</a:t>
            </a:r>
            <a:r>
              <a:rPr sz="1000">
                <a:solidFill>
                  <a:srgbClr val="A9D18E"/>
                </a:solidFill>
                <a:latin typeface="Consolas"/>
              </a:rPr>
              <a:t>// Add comma if not the last element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if (current.next != null)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    System.out.print(",");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current = current.next; </a:t>
            </a:r>
            <a:r>
              <a:rPr sz="1000">
                <a:solidFill>
                  <a:srgbClr val="A9D18E"/>
                </a:solidFill>
                <a:latin typeface="Consolas"/>
              </a:rPr>
              <a:t>// Move to next edge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System.out.println();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6108192"/>
            <a:ext cx="10881360" cy="393192"/>
          </a:xfrm>
          <a:prstGeom prst="roundRect">
            <a:avLst/>
          </a:prstGeom>
          <a:solidFill>
            <a:srgbClr val="F8E8F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6199632"/>
            <a:ext cx="10515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111111"/>
                </a:solidFill>
                <a:latin typeface="Aptos"/>
              </a:rPr>
              <a:t>A non-null WEdge node represents one outgoing weighted edge.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700" b="1">
                <a:solidFill>
                  <a:srgbClr val="12355B"/>
                </a:solidFill>
                <a:latin typeface="Aptos Display"/>
              </a:rPr>
              <a:t>Editable Java: Directed Weighted Adjacency List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Aptos"/>
              </a:rPr>
              <a:t>Driver code and resulting (destination, weight) entries.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6583680" cy="5120640"/>
          </a:xfrm>
          <a:prstGeom prst="roundRect">
            <a:avLst/>
          </a:prstGeom>
          <a:solidFill>
            <a:srgbClr val="222222"/>
          </a:solidFill>
          <a:ln w="1016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280160"/>
            <a:ext cx="6254496" cy="48646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</a:t>
            </a:r>
            <a:r>
              <a:rPr sz="1000">
                <a:solidFill>
                  <a:srgbClr val="A9D18E"/>
                </a:solidFill>
                <a:latin typeface="Consolas"/>
              </a:rPr>
              <a:t>// Driver code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public static void main(String[] args) {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int numVertices = 5;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int[][] edges = {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{0, 1, 2}, {0, 3, 6},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{1, 2, 3}, {1, 4, 5},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{3, 1, 4}, {3, 4, 2},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{4, 2, 1}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};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GraphDirectedWeightedAdjacencyList graph = new GraphDirectedWeightedAdjacencyList(numVertices);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System.out.println("Before adding connections:");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graph.printList();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graph.addEdges(edges);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System.out.println("\nAfter adding connections:");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graph.printList();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for (int vertex = 0; vertex &lt; numVertices; vertex++) {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graph.findNeighbors(vertex);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}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}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143000"/>
            <a:ext cx="4160520" cy="4041648"/>
          </a:xfrm>
          <a:prstGeom prst="roundRect">
            <a:avLst/>
          </a:prstGeom>
          <a:solidFill>
            <a:srgbClr val="F7F9FC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32588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355B"/>
                </a:solidFill>
                <a:latin typeface="Aptos"/>
              </a:rPr>
              <a:t>Resulting adjacency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719072"/>
            <a:ext cx="370332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20">
                <a:solidFill>
                  <a:srgbClr val="111111"/>
                </a:solidFill>
                <a:latin typeface="Consolas"/>
              </a:rPr>
              <a:t>0: (3, 6) (1, 2)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111111"/>
                </a:solidFill>
                <a:latin typeface="Consolas"/>
              </a:rPr>
              <a:t>1: (4, 5) (2, 3)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111111"/>
                </a:solidFill>
                <a:latin typeface="Consolas"/>
              </a:rPr>
              <a:t>2: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111111"/>
                </a:solidFill>
                <a:latin typeface="Consolas"/>
              </a:rPr>
              <a:t>3: (4, 2) (1, 4)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111111"/>
                </a:solidFill>
                <a:latin typeface="Consolas"/>
              </a:rPr>
              <a:t>4: (2, 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5376672"/>
            <a:ext cx="4160520" cy="841248"/>
          </a:xfrm>
          <a:prstGeom prst="roundRect">
            <a:avLst/>
          </a:prstGeom>
          <a:solidFill>
            <a:srgbClr val="EEF8E8"/>
          </a:solidFill>
          <a:ln>
            <a:solidFill>
              <a:srgbClr val="D7E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5513832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11111"/>
                </a:solidFill>
                <a:latin typeface="Aptos"/>
              </a:rPr>
              <a:t>Each list stores only outgoing weighted edges.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700" b="1">
                <a:solidFill>
                  <a:srgbClr val="12355B"/>
                </a:solidFill>
                <a:latin typeface="Aptos Display"/>
              </a:rPr>
              <a:t>Adjacency List: Undirected Weighted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Aptos"/>
              </a:rPr>
              <a:t>Each weighted edge is stored in both endpoint lists with the same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2355B"/>
                </a:solidFill>
                <a:latin typeface="Aptos"/>
              </a:rPr>
              <a:t>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23444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2355B"/>
                </a:solidFill>
                <a:latin typeface="Aptos"/>
              </a:rPr>
              <a:t>Adjacency List with Weights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25880" y="2103120"/>
            <a:ext cx="0" cy="1051560"/>
          </a:xfrm>
          <a:prstGeom prst="line">
            <a:avLst/>
          </a:prstGeom>
          <a:ln w="2159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16152" y="24551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25880" y="2103120"/>
            <a:ext cx="2926080" cy="274320"/>
          </a:xfrm>
          <a:prstGeom prst="line">
            <a:avLst/>
          </a:prstGeom>
          <a:ln w="2159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79192" y="206654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25880" y="3154680"/>
            <a:ext cx="0" cy="1645920"/>
          </a:xfrm>
          <a:prstGeom prst="line">
            <a:avLst/>
          </a:prstGeom>
          <a:ln w="2159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16152" y="3803903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25880" y="3154680"/>
            <a:ext cx="2926080" cy="1280160"/>
          </a:xfrm>
          <a:prstGeom prst="line">
            <a:avLst/>
          </a:prstGeom>
          <a:ln w="2159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79192" y="362102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51960" y="2377440"/>
            <a:ext cx="0" cy="2057400"/>
          </a:xfrm>
          <a:prstGeom prst="line">
            <a:avLst/>
          </a:prstGeom>
          <a:ln w="2159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42232" y="3232403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325880" y="4434840"/>
            <a:ext cx="2926080" cy="365760"/>
          </a:xfrm>
          <a:prstGeom prst="line">
            <a:avLst/>
          </a:prstGeom>
          <a:ln w="2159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79192" y="4443983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Aptos"/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1874519"/>
            <a:ext cx="475488" cy="475488"/>
          </a:xfrm>
          <a:prstGeom prst="ellipse">
            <a:avLst/>
          </a:prstGeom>
          <a:solidFill>
            <a:srgbClr val="D7E6F3"/>
          </a:solidFill>
          <a:ln w="15240">
            <a:solidFill>
              <a:srgbClr val="12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1947672"/>
            <a:ext cx="4754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11111"/>
                </a:solidFill>
                <a:latin typeface="Aptos"/>
              </a:rPr>
              <a:t>0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2926080"/>
            <a:ext cx="475488" cy="475488"/>
          </a:xfrm>
          <a:prstGeom prst="ellipse">
            <a:avLst/>
          </a:prstGeom>
          <a:solidFill>
            <a:srgbClr val="D7E6F3"/>
          </a:solidFill>
          <a:ln w="15240">
            <a:solidFill>
              <a:srgbClr val="12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999232"/>
            <a:ext cx="4754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11111"/>
                </a:solidFill>
                <a:latin typeface="Aptos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4572000"/>
            <a:ext cx="475488" cy="475488"/>
          </a:xfrm>
          <a:prstGeom prst="ellipse">
            <a:avLst/>
          </a:prstGeom>
          <a:solidFill>
            <a:srgbClr val="D7E6F3"/>
          </a:solidFill>
          <a:ln w="15240">
            <a:solidFill>
              <a:srgbClr val="12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645152"/>
            <a:ext cx="4754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11111"/>
                </a:solidFill>
                <a:latin typeface="Aptos"/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4023360" y="2148840"/>
            <a:ext cx="475488" cy="475488"/>
          </a:xfrm>
          <a:prstGeom prst="ellipse">
            <a:avLst/>
          </a:prstGeom>
          <a:solidFill>
            <a:srgbClr val="D7E6F3"/>
          </a:solidFill>
          <a:ln w="15240">
            <a:solidFill>
              <a:srgbClr val="12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2221992"/>
            <a:ext cx="4754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11111"/>
                </a:solidFill>
                <a:latin typeface="Aptos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4023360" y="4206240"/>
            <a:ext cx="475488" cy="475488"/>
          </a:xfrm>
          <a:prstGeom prst="ellipse">
            <a:avLst/>
          </a:prstGeom>
          <a:solidFill>
            <a:srgbClr val="D7E6F3"/>
          </a:solidFill>
          <a:ln w="15240">
            <a:solidFill>
              <a:srgbClr val="12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4279392"/>
            <a:ext cx="4754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11111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184708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2355B"/>
                </a:solidFill>
                <a:latin typeface="Aptos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5160" y="1755648"/>
            <a:ext cx="502920" cy="457200"/>
          </a:xfrm>
          <a:prstGeom prst="rect">
            <a:avLst/>
          </a:prstGeom>
          <a:solidFill>
            <a:srgbClr val="F2F2F2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498079" y="1984248"/>
            <a:ext cx="32004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818119" y="1755648"/>
            <a:ext cx="960120" cy="457200"/>
          </a:xfrm>
          <a:prstGeom prst="rect">
            <a:avLst/>
          </a:prstGeom>
          <a:solidFill>
            <a:srgbClr val="FAFA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54696" y="1847088"/>
            <a:ext cx="8869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3, 6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915400" y="1984248"/>
            <a:ext cx="32004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235440" y="1755648"/>
            <a:ext cx="960120" cy="457200"/>
          </a:xfrm>
          <a:prstGeom prst="rect">
            <a:avLst/>
          </a:prstGeom>
          <a:solidFill>
            <a:srgbClr val="FAFA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72016" y="1847088"/>
            <a:ext cx="8869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1, 2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332720" y="1984248"/>
            <a:ext cx="27432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625328" y="184708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ptos"/>
              </a:rPr>
              <a:t>NULL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271576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2355B"/>
                </a:solidFill>
                <a:latin typeface="Aptos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95160" y="2624328"/>
            <a:ext cx="502920" cy="457200"/>
          </a:xfrm>
          <a:prstGeom prst="rect">
            <a:avLst/>
          </a:prstGeom>
          <a:solidFill>
            <a:srgbClr val="F2F2F2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498079" y="2852928"/>
            <a:ext cx="32004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818119" y="2624328"/>
            <a:ext cx="960120" cy="457200"/>
          </a:xfrm>
          <a:prstGeom prst="rect">
            <a:avLst/>
          </a:prstGeom>
          <a:solidFill>
            <a:srgbClr val="FAFA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54696" y="2715768"/>
            <a:ext cx="8869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4, 5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915400" y="2852928"/>
            <a:ext cx="32004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9235440" y="2624328"/>
            <a:ext cx="960120" cy="457200"/>
          </a:xfrm>
          <a:prstGeom prst="rect">
            <a:avLst/>
          </a:prstGeom>
          <a:solidFill>
            <a:srgbClr val="FAFA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72016" y="2715768"/>
            <a:ext cx="8869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2, 3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332720" y="2852928"/>
            <a:ext cx="32004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0652760" y="2624328"/>
            <a:ext cx="960120" cy="457200"/>
          </a:xfrm>
          <a:prstGeom prst="rect">
            <a:avLst/>
          </a:prstGeom>
          <a:solidFill>
            <a:srgbClr val="FAFA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89336" y="2715768"/>
            <a:ext cx="8869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0, 2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11384280" y="2852928"/>
            <a:ext cx="36576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1356848" y="27157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ptos"/>
              </a:rPr>
              <a:t>NULL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358444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2355B"/>
                </a:solidFill>
                <a:latin typeface="Aptos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95160" y="3493008"/>
            <a:ext cx="502920" cy="457200"/>
          </a:xfrm>
          <a:prstGeom prst="rect">
            <a:avLst/>
          </a:prstGeom>
          <a:solidFill>
            <a:srgbClr val="F2F2F2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7498079" y="3721608"/>
            <a:ext cx="32004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7818119" y="3493008"/>
            <a:ext cx="960120" cy="457200"/>
          </a:xfrm>
          <a:prstGeom prst="rect">
            <a:avLst/>
          </a:prstGeom>
          <a:solidFill>
            <a:srgbClr val="FAFA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54696" y="3584448"/>
            <a:ext cx="8869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4, 1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915400" y="3721608"/>
            <a:ext cx="32004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235440" y="3493008"/>
            <a:ext cx="960120" cy="457200"/>
          </a:xfrm>
          <a:prstGeom prst="rect">
            <a:avLst/>
          </a:prstGeom>
          <a:solidFill>
            <a:srgbClr val="FAFA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72016" y="3584448"/>
            <a:ext cx="8869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1, 3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332720" y="3721608"/>
            <a:ext cx="27432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0625328" y="358444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ptos"/>
              </a:rPr>
              <a:t>NULL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29400" y="445312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2355B"/>
                </a:solidFill>
                <a:latin typeface="Aptos"/>
              </a:rPr>
              <a:t>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95160" y="4361688"/>
            <a:ext cx="502920" cy="457200"/>
          </a:xfrm>
          <a:prstGeom prst="rect">
            <a:avLst/>
          </a:prstGeom>
          <a:solidFill>
            <a:srgbClr val="F2F2F2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7498079" y="4590288"/>
            <a:ext cx="32004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7818119" y="4361688"/>
            <a:ext cx="960120" cy="457200"/>
          </a:xfrm>
          <a:prstGeom prst="rect">
            <a:avLst/>
          </a:prstGeom>
          <a:solidFill>
            <a:srgbClr val="FAFA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54696" y="4453128"/>
            <a:ext cx="8869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4, 2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915400" y="4590288"/>
            <a:ext cx="32004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9235440" y="4361688"/>
            <a:ext cx="960120" cy="457200"/>
          </a:xfrm>
          <a:prstGeom prst="rect">
            <a:avLst/>
          </a:prstGeom>
          <a:solidFill>
            <a:srgbClr val="FAFA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72016" y="4453128"/>
            <a:ext cx="8869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0, 6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0332720" y="4590288"/>
            <a:ext cx="27432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0625328" y="445312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ptos"/>
              </a:rPr>
              <a:t>NULL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29400" y="532180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2355B"/>
                </a:solidFill>
                <a:latin typeface="Aptos"/>
              </a:rPr>
              <a:t>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95160" y="5230368"/>
            <a:ext cx="502920" cy="457200"/>
          </a:xfrm>
          <a:prstGeom prst="rect">
            <a:avLst/>
          </a:prstGeom>
          <a:solidFill>
            <a:srgbClr val="F2F2F2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7498079" y="5458968"/>
            <a:ext cx="32004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7818119" y="5230368"/>
            <a:ext cx="960120" cy="457200"/>
          </a:xfrm>
          <a:prstGeom prst="rect">
            <a:avLst/>
          </a:prstGeom>
          <a:solidFill>
            <a:srgbClr val="FAFA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54696" y="5321808"/>
            <a:ext cx="8869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2, 1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8915400" y="5458968"/>
            <a:ext cx="32004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9235440" y="5230368"/>
            <a:ext cx="960120" cy="457200"/>
          </a:xfrm>
          <a:prstGeom prst="rect">
            <a:avLst/>
          </a:prstGeom>
          <a:solidFill>
            <a:srgbClr val="FAFA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72016" y="5321808"/>
            <a:ext cx="8869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3, 2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0332720" y="5458968"/>
            <a:ext cx="32004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10652760" y="5230368"/>
            <a:ext cx="960120" cy="457200"/>
          </a:xfrm>
          <a:prstGeom prst="rect">
            <a:avLst/>
          </a:prstGeom>
          <a:solidFill>
            <a:srgbClr val="FAFAFA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689336" y="5321808"/>
            <a:ext cx="8869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1, 5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11384280" y="5458968"/>
            <a:ext cx="365760" cy="0"/>
          </a:xfrm>
          <a:prstGeom prst="line">
            <a:avLst/>
          </a:prstGeom>
          <a:ln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1356848" y="532180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ptos"/>
              </a:rPr>
              <a:t>NULL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77240" y="5806440"/>
            <a:ext cx="10835640" cy="502920"/>
          </a:xfrm>
          <a:prstGeom prst="roundRect">
            <a:avLst/>
          </a:prstGeom>
          <a:solidFill>
            <a:srgbClr val="EEF8E8"/>
          </a:solidFill>
          <a:ln>
            <a:solidFill>
              <a:srgbClr val="D6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0120" y="5925312"/>
            <a:ext cx="10469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111"/>
                </a:solidFill>
                <a:latin typeface="Aptos"/>
              </a:rPr>
              <a:t>Rule: For an undirected weighted edge (u, v, w), add (v, w) to u's list and (u, w) to v's list.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700" b="1">
                <a:solidFill>
                  <a:srgbClr val="12355B"/>
                </a:solidFill>
                <a:latin typeface="Aptos Display"/>
              </a:rPr>
              <a:t>Editable Java: Undirected Weighted Adjacency List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Aptos"/>
              </a:rPr>
              <a:t>Graph setup and weighted insertion in both directions. The same WEdge class is reused.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5440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2355B"/>
                </a:solidFill>
                <a:latin typeface="Aptos"/>
              </a:rPr>
              <a:t>Class + constructor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069848"/>
            <a:ext cx="5257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2355B"/>
                </a:solidFill>
                <a:latin typeface="Aptos"/>
              </a:rPr>
              <a:t>addEdges() + addEdge()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53312"/>
            <a:ext cx="5440680" cy="4617720"/>
          </a:xfrm>
          <a:prstGeom prst="round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463040"/>
            <a:ext cx="5184648" cy="439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public class GraphUndirectedWeightedAdjacencyList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private int numVertices;   </a:t>
            </a:r>
            <a:r>
              <a:rPr sz="1000">
                <a:solidFill>
                  <a:srgbClr val="A9D18E"/>
                </a:solidFill>
                <a:latin typeface="Consolas"/>
              </a:rPr>
              <a:t>// Total number of vertices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private WEdge[] adjList;   </a:t>
            </a:r>
            <a:r>
              <a:rPr sz="1000">
                <a:solidFill>
                  <a:srgbClr val="A9D18E"/>
                </a:solidFill>
                <a:latin typeface="Consolas"/>
              </a:rPr>
              <a:t>// Array of linked lists (Adjacency List)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</a:t>
            </a:r>
            <a:r>
              <a:rPr sz="1000">
                <a:solidFill>
                  <a:srgbClr val="A9D18E"/>
                </a:solidFill>
                <a:latin typeface="Consolas"/>
              </a:rPr>
              <a:t>// Constructor: initialize graph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public GraphUndirectedWeightedAdjacencyList(int numVertices)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this.numVertices = numVertices;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adjList = new WEdge[numVertices]; </a:t>
            </a:r>
            <a:r>
              <a:rPr sz="1000">
                <a:solidFill>
                  <a:srgbClr val="A9D18E"/>
                </a:solidFill>
                <a:latin typeface="Consolas"/>
              </a:rPr>
              <a:t>// Initially all heads are null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53312"/>
            <a:ext cx="5440680" cy="4617720"/>
          </a:xfrm>
          <a:prstGeom prst="round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463040"/>
            <a:ext cx="5184648" cy="439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</a:t>
            </a:r>
            <a:r>
              <a:rPr sz="960">
                <a:solidFill>
                  <a:srgbClr val="A9D18E"/>
                </a:solidFill>
                <a:latin typeface="Consolas"/>
              </a:rPr>
              <a:t>// Add multiple edges from a 2D array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public void addEdges(int[][] edges)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for (int i = 0; i &lt; edges.length; i++)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    int source = edges[i][0];       </a:t>
            </a:r>
            <a:r>
              <a:rPr sz="960">
                <a:solidFill>
                  <a:srgbClr val="A9D18E"/>
                </a:solidFill>
                <a:latin typeface="Consolas"/>
              </a:rPr>
              <a:t>// Starting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    int destination = edges[i][1];  </a:t>
            </a:r>
            <a:r>
              <a:rPr sz="960">
                <a:solidFill>
                  <a:srgbClr val="A9D18E"/>
                </a:solidFill>
                <a:latin typeface="Consolas"/>
              </a:rPr>
              <a:t>// Ending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    int weight = edges[i][2];       </a:t>
            </a:r>
            <a:r>
              <a:rPr sz="960">
                <a:solidFill>
                  <a:srgbClr val="A9D18E"/>
                </a:solidFill>
                <a:latin typeface="Consolas"/>
              </a:rPr>
              <a:t>// Weight of the edge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    </a:t>
            </a:r>
            <a:r>
              <a:rPr sz="960">
                <a:solidFill>
                  <a:srgbClr val="A9D18E"/>
                </a:solidFill>
                <a:latin typeface="Consolas"/>
              </a:rPr>
              <a:t>// For UNDIRECTED graph: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    </a:t>
            </a:r>
            <a:r>
              <a:rPr sz="960">
                <a:solidFill>
                  <a:srgbClr val="A9D18E"/>
                </a:solidFill>
                <a:latin typeface="Consolas"/>
              </a:rPr>
              <a:t>// Add edge in BOTH directions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    addEdge(source, destination, weight);   </a:t>
            </a:r>
            <a:r>
              <a:rPr sz="960">
                <a:solidFill>
                  <a:srgbClr val="A9D18E"/>
                </a:solidFill>
                <a:latin typeface="Consolas"/>
              </a:rPr>
              <a:t>// source → destination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    addEdge(destination, source, weight);   </a:t>
            </a:r>
            <a:r>
              <a:rPr sz="960">
                <a:solidFill>
                  <a:srgbClr val="A9D18E"/>
                </a:solidFill>
                <a:latin typeface="Consolas"/>
              </a:rPr>
              <a:t>// destination → source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</a:t>
            </a:r>
            <a:r>
              <a:rPr sz="960">
                <a:solidFill>
                  <a:srgbClr val="A9D18E"/>
                </a:solidFill>
                <a:latin typeface="Consolas"/>
              </a:rPr>
              <a:t>// Helper method to add a single edge (used twice for undirected graph)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public void addEdge(int source, int destination, int weight)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</a:t>
            </a:r>
            <a:r>
              <a:rPr sz="960">
                <a:solidFill>
                  <a:srgbClr val="A9D18E"/>
                </a:solidFill>
                <a:latin typeface="Consolas"/>
              </a:rPr>
              <a:t>// Step 1: Create a new edge node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WEdge newEdge = new WEdge(destination, weight);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</a:t>
            </a:r>
            <a:r>
              <a:rPr sz="960">
                <a:solidFill>
                  <a:srgbClr val="A9D18E"/>
                </a:solidFill>
                <a:latin typeface="Consolas"/>
              </a:rPr>
              <a:t>// Step 2: Link new edge to the beginning of the list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</a:t>
            </a:r>
            <a:r>
              <a:rPr sz="960">
                <a:solidFill>
                  <a:srgbClr val="A9D18E"/>
                </a:solidFill>
                <a:latin typeface="Consolas"/>
              </a:rPr>
              <a:t>// (Prepending ensures O(1) insertion)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newEdge.next = adjList[source];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</a:t>
            </a:r>
            <a:r>
              <a:rPr sz="960">
                <a:solidFill>
                  <a:srgbClr val="A9D18E"/>
                </a:solidFill>
                <a:latin typeface="Consolas"/>
              </a:rPr>
              <a:t>// Step 3: Update head of the adjacency list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    adjList[source] = newEdge;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FAFAFA"/>
                </a:solidFill>
                <a:latin typeface="Consolas"/>
              </a:rPr>
              <a:t>   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6108192"/>
            <a:ext cx="10881360" cy="393192"/>
          </a:xfrm>
          <a:prstGeom prst="roundRect">
            <a:avLst/>
          </a:prstGeom>
          <a:solidFill>
            <a:srgbClr val="EEF8E8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6199632"/>
            <a:ext cx="10515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111111"/>
                </a:solidFill>
                <a:latin typeface="Aptos"/>
              </a:rPr>
              <a:t>For (u, v, w), add (v, w) to u's list and (u, w) to v's list.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700" b="1">
                <a:solidFill>
                  <a:srgbClr val="12355B"/>
                </a:solidFill>
                <a:latin typeface="Aptos Display"/>
              </a:rPr>
              <a:t>Editable Java: Undirected Weighted Adjacency List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Aptos"/>
              </a:rPr>
              <a:t>Methods for printing weighted neighbors.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5440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2355B"/>
                </a:solidFill>
                <a:latin typeface="Aptos"/>
              </a:rPr>
              <a:t>printList()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069848"/>
            <a:ext cx="5257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2355B"/>
                </a:solidFill>
                <a:latin typeface="Aptos"/>
              </a:rPr>
              <a:t>findNeighbors()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53312"/>
            <a:ext cx="5440680" cy="4617720"/>
          </a:xfrm>
          <a:prstGeom prst="round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463040"/>
            <a:ext cx="5184648" cy="439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</a:t>
            </a:r>
            <a:r>
              <a:rPr sz="1000">
                <a:solidFill>
                  <a:srgbClr val="A9D18E"/>
                </a:solidFill>
                <a:latin typeface="Consolas"/>
              </a:rPr>
              <a:t>// Print the full adjacency list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public void printList()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System.out.println("Adjacency List with Weights:");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</a:t>
            </a:r>
            <a:r>
              <a:rPr sz="1000">
                <a:solidFill>
                  <a:srgbClr val="A9D18E"/>
                </a:solidFill>
                <a:latin typeface="Consolas"/>
              </a:rPr>
              <a:t>// Traverse all vertices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for (int i = 0; i &lt; numVertices; i++)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System.out.print(i + ": 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</a:t>
            </a:r>
            <a:r>
              <a:rPr sz="1000">
                <a:solidFill>
                  <a:srgbClr val="A9D18E"/>
                </a:solidFill>
                <a:latin typeface="Consolas"/>
              </a:rPr>
              <a:t>// Traverse linked list of vertex i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WEdge current = adjList[i];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while (current != null)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    </a:t>
            </a:r>
            <a:r>
              <a:rPr sz="1000">
                <a:solidFill>
                  <a:srgbClr val="A9D18E"/>
                </a:solidFill>
                <a:latin typeface="Consolas"/>
              </a:rPr>
              <a:t>// Print (neighbor, weight)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    System.out.print("(" + current.destination + ", " + current.weight + ") 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    current = current.next; </a:t>
            </a:r>
            <a:r>
              <a:rPr sz="1000">
                <a:solidFill>
                  <a:srgbClr val="A9D18E"/>
                </a:solidFill>
                <a:latin typeface="Consolas"/>
              </a:rPr>
              <a:t>// Move to next edge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System.out.println();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53312"/>
            <a:ext cx="5440680" cy="4617720"/>
          </a:xfrm>
          <a:prstGeom prst="round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463040"/>
            <a:ext cx="5184648" cy="439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</a:t>
            </a:r>
            <a:r>
              <a:rPr sz="1000">
                <a:solidFill>
                  <a:srgbClr val="A9D18E"/>
                </a:solidFill>
                <a:latin typeface="Consolas"/>
              </a:rPr>
              <a:t>// Print neighbors of a given vertex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public void findNeighbors(int vertex)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System.out.print("\nNeighbors of vertex " + vertex + ": 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WEdge current = adjList[vertex];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</a:t>
            </a:r>
            <a:r>
              <a:rPr sz="1000">
                <a:solidFill>
                  <a:srgbClr val="A9D18E"/>
                </a:solidFill>
                <a:latin typeface="Consolas"/>
              </a:rPr>
              <a:t>// Traverse all connected edges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while (current != null)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</a:t>
            </a:r>
            <a:r>
              <a:rPr sz="1000">
                <a:solidFill>
                  <a:srgbClr val="A9D18E"/>
                </a:solidFill>
                <a:latin typeface="Consolas"/>
              </a:rPr>
              <a:t>// Print neighbor and weight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System.out.print("(" + current.destination + ", " + current.weight + ")");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</a:t>
            </a:r>
            <a:r>
              <a:rPr sz="1000">
                <a:solidFill>
                  <a:srgbClr val="A9D18E"/>
                </a:solidFill>
                <a:latin typeface="Consolas"/>
              </a:rPr>
              <a:t>// Add comma if not the last element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if (current.next != null) {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    System.out.print(",");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current = current.next; </a:t>
            </a:r>
            <a:r>
              <a:rPr sz="1000">
                <a:solidFill>
                  <a:srgbClr val="A9D18E"/>
                </a:solidFill>
                <a:latin typeface="Consolas"/>
              </a:rPr>
              <a:t>// Move to next edge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System.out.println();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6108192"/>
            <a:ext cx="10881360" cy="393192"/>
          </a:xfrm>
          <a:prstGeom prst="roundRect">
            <a:avLst/>
          </a:prstGeom>
          <a:solidFill>
            <a:srgbClr val="EEF8E8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6199632"/>
            <a:ext cx="10515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111111"/>
                </a:solidFill>
                <a:latin typeface="Aptos"/>
              </a:rPr>
              <a:t>The same weight is stored in both endpoint lists.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700" b="1">
                <a:solidFill>
                  <a:srgbClr val="12355B"/>
                </a:solidFill>
                <a:latin typeface="Aptos Display"/>
              </a:rPr>
              <a:t>Editable Java: Undirected Weighted Adjacency List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Aptos"/>
              </a:rPr>
              <a:t>Each undirected edge is provided once; addEdges() stores both directions.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6583680" cy="5120640"/>
          </a:xfrm>
          <a:prstGeom prst="roundRect">
            <a:avLst/>
          </a:prstGeom>
          <a:solidFill>
            <a:srgbClr val="222222"/>
          </a:solidFill>
          <a:ln w="1016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280160"/>
            <a:ext cx="6254496" cy="48646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</a:t>
            </a:r>
            <a:r>
              <a:rPr sz="1000">
                <a:solidFill>
                  <a:srgbClr val="A9D18E"/>
                </a:solidFill>
                <a:latin typeface="Consolas"/>
              </a:rPr>
              <a:t>// Driver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public static void main(String[] args) {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int numVertices = 5;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</a:t>
            </a:r>
            <a:r>
              <a:rPr sz="1000">
                <a:solidFill>
                  <a:srgbClr val="A9D18E"/>
                </a:solidFill>
                <a:latin typeface="Consolas"/>
              </a:rPr>
              <a:t>// Provide each undirected edge only once to avoid duplicates in the list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int[][] edges = {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{0, 1, 2}, {0, 3, 6},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{1, 2, 3}, {1, 4, 5},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{3, 4, 2},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{4, 2, 1}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};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GraphUndirectedWeightedAdjacencyList graph =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new GraphUndirectedWeightedAdjacencyList(numVertices);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System.out.println("Before adding connections:");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graph.printList();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graph.addEdges(edges);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System.out.println("\nAfter adding connections:");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graph.printList();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/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for (int v = 0; v &lt; numVertices; v++) {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    graph.findNeighbors(v);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    }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    }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AFAFA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143000"/>
            <a:ext cx="4160520" cy="4041648"/>
          </a:xfrm>
          <a:prstGeom prst="roundRect">
            <a:avLst/>
          </a:prstGeom>
          <a:solidFill>
            <a:srgbClr val="F7F9FC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32588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355B"/>
                </a:solidFill>
                <a:latin typeface="Aptos"/>
              </a:rPr>
              <a:t>Resulting adjacency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719072"/>
            <a:ext cx="370332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20">
                <a:solidFill>
                  <a:srgbClr val="111111"/>
                </a:solidFill>
                <a:latin typeface="Consolas"/>
              </a:rPr>
              <a:t>0: (3, 6) (1, 2)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111111"/>
                </a:solidFill>
                <a:latin typeface="Consolas"/>
              </a:rPr>
              <a:t>1: (4, 5) (2, 3) (0, 2)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111111"/>
                </a:solidFill>
                <a:latin typeface="Consolas"/>
              </a:rPr>
              <a:t>2: (4, 1) (1, 3)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111111"/>
                </a:solidFill>
                <a:latin typeface="Consolas"/>
              </a:rPr>
              <a:t>3: (4, 2) (0, 6)</a:t>
            </a:r>
          </a:p>
          <a:p>
            <a:pPr>
              <a:spcAft>
                <a:spcPts val="200"/>
              </a:spcAft>
            </a:pPr>
            <a:r>
              <a:rPr sz="1120">
                <a:solidFill>
                  <a:srgbClr val="111111"/>
                </a:solidFill>
                <a:latin typeface="Consolas"/>
              </a:rPr>
              <a:t>4: (2, 1) (3, 2) (1, 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5376672"/>
            <a:ext cx="4160520" cy="841248"/>
          </a:xfrm>
          <a:prstGeom prst="roundRect">
            <a:avLst/>
          </a:prstGeom>
          <a:solidFill>
            <a:srgbClr val="EEF8E8"/>
          </a:solidFill>
          <a:ln>
            <a:solidFill>
              <a:srgbClr val="D7E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5513832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11111"/>
                </a:solidFill>
                <a:latin typeface="Aptos"/>
              </a:rPr>
              <a:t>The same weight appears in both endpoint lists.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Matrix vs List: Quick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Choose representation based on what your algorithm needs.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2103120" cy="50292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80360" y="1234440"/>
            <a:ext cx="4114800" cy="50292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37160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Adjacency Matrix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95160" y="1234440"/>
            <a:ext cx="4114800" cy="50292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37160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Adjacency List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1737360"/>
            <a:ext cx="2103120" cy="658368"/>
          </a:xfrm>
          <a:prstGeom prst="rect">
            <a:avLst/>
          </a:prstGeom>
          <a:solidFill>
            <a:srgbClr val="F8FB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92024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Space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80360" y="1737360"/>
            <a:ext cx="4114800" cy="658368"/>
          </a:xfrm>
          <a:prstGeom prst="rect">
            <a:avLst/>
          </a:prstGeom>
          <a:solidFill>
            <a:srgbClr val="F8FB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192024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V x V cells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95160" y="1737360"/>
            <a:ext cx="4114800" cy="658368"/>
          </a:xfrm>
          <a:prstGeom prst="rect">
            <a:avLst/>
          </a:prstGeom>
          <a:solidFill>
            <a:srgbClr val="F8FB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68312" y="192024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V lists + existing edges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2395728"/>
            <a:ext cx="21031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57860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Check edge u-&gt;v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80360" y="2395728"/>
            <a:ext cx="4114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53512" y="2578608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Fast direct lookup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95160" y="2395728"/>
            <a:ext cx="4114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2578608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Search list[u]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3054096"/>
            <a:ext cx="2103120" cy="658368"/>
          </a:xfrm>
          <a:prstGeom prst="rect">
            <a:avLst/>
          </a:prstGeom>
          <a:solidFill>
            <a:srgbClr val="F8FB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23697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Find neighbors of 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80360" y="3054096"/>
            <a:ext cx="4114800" cy="658368"/>
          </a:xfrm>
          <a:prstGeom prst="rect">
            <a:avLst/>
          </a:prstGeom>
          <a:solidFill>
            <a:srgbClr val="F8FB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53512" y="3236976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Scan row u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95160" y="3054096"/>
            <a:ext cx="4114800" cy="658368"/>
          </a:xfrm>
          <a:prstGeom prst="rect">
            <a:avLst/>
          </a:prstGeom>
          <a:solidFill>
            <a:srgbClr val="F8FB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8312" y="3236976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Traverse list[u]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" y="3712464"/>
            <a:ext cx="21031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89534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Sparse graph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80360" y="3712464"/>
            <a:ext cx="4114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53512" y="3895344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Can waste space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95160" y="3712464"/>
            <a:ext cx="4114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9D9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68312" y="3895344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Usually efficient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4400" y="4846320"/>
            <a:ext cx="10287000" cy="777240"/>
          </a:xfrm>
          <a:prstGeom prst="roundRect">
            <a:avLst>
              <a:gd name="adj" fmla="val 9412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4956048"/>
            <a:ext cx="1001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Classroom takeaway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1560" y="5257800"/>
            <a:ext cx="10012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Matrices are simpler for direct edge lookup; lists are more natural for neighbor traversal.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Practice: Directed or Undirected?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Determine the type by checking matrix symmetry.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45920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</a:rPr>
              <a:t>Matrix 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0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20824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41448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62072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82696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05763" y="1763146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00200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20824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0824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41448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62072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62072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82696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82696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05763" y="2183770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600200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20824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20824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441448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862072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62072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82696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82696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305763" y="2604394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600200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00200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020824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20824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441448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41448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862072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62072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82696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82696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305763" y="3025018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600200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00200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020824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20824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441448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41448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862072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62072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82696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82696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305763" y="3445642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4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600200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00200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020824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20824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441448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41448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862072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62072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282696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82696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858000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</a:rPr>
              <a:t>Matrix B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12280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0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232904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1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653528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2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8074152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3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8494776" y="133411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4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6517843" y="1763146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0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812280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12280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232904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32904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7653528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653528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8074152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74152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8494776" y="1691640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494776" y="1763146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6517843" y="2183770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1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6812280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12280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7232904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232904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7653528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653528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8074152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74152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8494776" y="2112264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494776" y="2183770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6517843" y="2604394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2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6812280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12280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7232904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232904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7653528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653528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8074152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074152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8494776" y="2532888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494776" y="2604394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6517843" y="3025018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3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6812280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812280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7232904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232904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109" name="Shape 107"/>
          <p:cNvSpPr/>
          <p:nvPr/>
        </p:nvSpPr>
        <p:spPr>
          <a:xfrm>
            <a:off x="7653528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653528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8074152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074152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8494776" y="2953512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494776" y="3025018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6517843" y="3445642"/>
            <a:ext cx="210312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</a:rPr>
              <a:t>4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6812280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812280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7232904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232904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20" name="Shape 118"/>
          <p:cNvSpPr/>
          <p:nvPr/>
        </p:nvSpPr>
        <p:spPr>
          <a:xfrm>
            <a:off x="7653528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653528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074152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074152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>
            <a:off x="8494776" y="3374136"/>
            <a:ext cx="42062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494776" y="3445642"/>
            <a:ext cx="420624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0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960120" y="457200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97280" y="46817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Solution A</a:t>
            </a:r>
            <a:endParaRPr lang="en-US" sz="1200" dirty="0"/>
          </a:p>
        </p:txBody>
      </p:sp>
      <p:sp>
        <p:nvSpPr>
          <p:cNvPr id="128" name="Text 126"/>
          <p:cNvSpPr/>
          <p:nvPr/>
        </p:nvSpPr>
        <p:spPr>
          <a:xfrm>
            <a:off x="1097280" y="4983480"/>
            <a:ext cx="41148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Directed. It is not symmetric.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Example: A[2][3] = 1 but A[3][2] = 0.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6144768" y="457200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1F8E9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281928" y="46817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Solution B</a:t>
            </a:r>
            <a:endParaRPr lang="en-US" sz="1200" dirty="0"/>
          </a:p>
        </p:txBody>
      </p:sp>
      <p:sp>
        <p:nvSpPr>
          <p:cNvPr id="131" name="Text 129"/>
          <p:cNvSpPr/>
          <p:nvPr/>
        </p:nvSpPr>
        <p:spPr>
          <a:xfrm>
            <a:off x="6281928" y="4983480"/>
            <a:ext cx="41148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Undirected. It is symmetric.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For every A[i][j], A[j][i] has the same value.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 Cheat Sheet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Use the rule that matches the graph type.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216152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Undirected + Unweighted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794760" y="1051560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116128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Matrix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463040"/>
            <a:ext cx="32461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A[u][v] = 1; A[v][u] = 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35240" y="1051560"/>
            <a:ext cx="370332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16128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List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1463040"/>
            <a:ext cx="34290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insert v in list[u]; insert u in list[v]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2350008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423160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Directed + Unweighted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94760" y="2258568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36829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Matrix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670048"/>
            <a:ext cx="32461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A[u][v] =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2258568"/>
            <a:ext cx="370332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236829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List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2670048"/>
            <a:ext cx="34290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insert v in list[u]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3557016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30168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Directed + Weighted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94760" y="3465576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357530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Matrix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3877056"/>
            <a:ext cx="32461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A[u][v] = 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35240" y="3465576"/>
            <a:ext cx="370332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57530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List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3877056"/>
            <a:ext cx="34290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insert v(w) in list[u]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4764024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4837176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Undirected + Weighted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94760" y="4672584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478231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Matrix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0" y="5084064"/>
            <a:ext cx="324612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A[u][v] = w; A[v][u] = 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35240" y="4672584"/>
            <a:ext cx="370332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478231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List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0" y="5084064"/>
            <a:ext cx="34290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insert v(w) in list[u]; insert u(w) in list[v]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920240" y="598932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3970">
            <a:solidFill>
              <a:srgbClr val="9BB7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609904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</a:rPr>
              <a:t>Final rule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057400" y="6400800"/>
            <a:ext cx="8138160" cy="-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Direction controls whether the reverse edge is added. Weight controls whether the stored value is 1 or the edge weight.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355B"/>
                </a:solidFill>
                <a:latin typeface="Aptos Display"/>
              </a:rPr>
              <a:t>Original PDF Figure: Undirected Unweighted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ptos"/>
              </a:rPr>
              <a:t>Figures inserted directly from the uploaded 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AA8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>
            <a:solidFill>
              <a:srgbClr val="DD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2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72845"/>
            <a:ext cx="10835640" cy="321522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355B"/>
                </a:solidFill>
                <a:latin typeface="Aptos Display"/>
              </a:rPr>
              <a:t>Original PDF Figure: Undirected Matrix +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ptos"/>
              </a:rPr>
              <a:t>Figures inserted directly from the uploaded 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AA8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>
            <a:solidFill>
              <a:srgbClr val="DD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06413"/>
            <a:ext cx="10835640" cy="274809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355B"/>
                </a:solidFill>
                <a:latin typeface="Aptos Display"/>
              </a:rPr>
              <a:t>Original PDF Figure: Directed Unweighted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ptos"/>
              </a:rPr>
              <a:t>Figures inserted directly from the uploaded 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AA8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>
            <a:solidFill>
              <a:srgbClr val="DD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6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99402"/>
            <a:ext cx="10835640" cy="496211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355B"/>
                </a:solidFill>
                <a:latin typeface="Aptos Display"/>
              </a:rPr>
              <a:t>Original PDF Figures: Weighted Matrices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ptos"/>
              </a:rPr>
              <a:t>Figures inserted directly from the uploaded 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AA8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>
            <a:solidFill>
              <a:srgbClr val="DD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7840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2355B"/>
                </a:solidFill>
                <a:latin typeface="Aptos"/>
              </a:rPr>
              <a:t>Directed weighted</a:t>
            </a:r>
          </a:p>
        </p:txBody>
      </p:sp>
      <p:pic>
        <p:nvPicPr>
          <p:cNvPr id="7" name="Picture 6" descr="p09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32362"/>
            <a:ext cx="5212080" cy="16047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97840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2355B"/>
                </a:solidFill>
                <a:latin typeface="Aptos"/>
              </a:rPr>
              <a:t>Undirected weighted</a:t>
            </a:r>
          </a:p>
        </p:txBody>
      </p:sp>
      <p:pic>
        <p:nvPicPr>
          <p:cNvPr id="9" name="Picture 8" descr="p12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785915"/>
            <a:ext cx="5212080" cy="169764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355B"/>
                </a:solidFill>
                <a:latin typeface="Aptos Display"/>
              </a:rPr>
              <a:t>Original PDF Figure: Undirected Adjacency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ptos"/>
              </a:rPr>
              <a:t>Figures inserted directly from the uploaded 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AA8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>
            <a:solidFill>
              <a:srgbClr val="DD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0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06413"/>
            <a:ext cx="10835640" cy="274809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355B"/>
                </a:solidFill>
                <a:latin typeface="Aptos Display"/>
              </a:rPr>
              <a:t>Original PDF Figures: Directed Adjacency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ptos"/>
              </a:rPr>
              <a:t>Figures inserted directly from the uploaded PDF.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AA8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>
            <a:solidFill>
              <a:srgbClr val="DD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7840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2355B"/>
                </a:solidFill>
                <a:latin typeface="Aptos"/>
              </a:rPr>
              <a:t>Directed unweighted list</a:t>
            </a:r>
          </a:p>
        </p:txBody>
      </p:sp>
      <p:pic>
        <p:nvPicPr>
          <p:cNvPr id="7" name="Picture 6" descr="p19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521208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97840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2355B"/>
                </a:solidFill>
                <a:latin typeface="Aptos"/>
              </a:rPr>
              <a:t>Directed weighted list</a:t>
            </a:r>
          </a:p>
        </p:txBody>
      </p:sp>
      <p:pic>
        <p:nvPicPr>
          <p:cNvPr id="9" name="Picture 8" descr="p22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68336"/>
            <a:ext cx="5212080" cy="25328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L19 Graph - Editable Java Codes and Visualizations</dc:title>
  <dc:subject>Graph representations - adjacency matrix and adjacency list</dc:subject>
  <dc:creator>OpenAI</dc:creator>
  <cp:lastModifiedBy>OpenAI</cp:lastModifiedBy>
  <cp:revision>1</cp:revision>
  <dcterms:created xsi:type="dcterms:W3CDTF">2026-08-18T06:55:44Z</dcterms:created>
  <dcterms:modified xsi:type="dcterms:W3CDTF">2026-08-18T06:55:44Z</dcterms:modified>
</cp:coreProperties>
</file>