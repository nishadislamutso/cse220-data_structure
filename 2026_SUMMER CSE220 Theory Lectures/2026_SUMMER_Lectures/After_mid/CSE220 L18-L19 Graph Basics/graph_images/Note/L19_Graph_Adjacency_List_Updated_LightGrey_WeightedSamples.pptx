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</p:sldIdLst>
  <p:sldSz cy="6858000" cx="12191675"/>
  <p:notesSz cx="6858000" cy="12191675"/>
  <p:embeddedFontLst>
    <p:embeddedFont>
      <p:font typeface="Play"/>
      <p:regular r:id="rId36"/>
      <p:bold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8" roundtripDataSignature="AMtx7mhC/LE1ym2PA1dI+NgcOuUi6RxNR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schemas.openxmlformats.org/officeDocument/2006/relationships/font" Target="fonts/Play-bold.fntdata"/><Relationship Id="rId14" Type="http://schemas.openxmlformats.org/officeDocument/2006/relationships/slide" Target="slides/slide10.xml"/><Relationship Id="rId36" Type="http://schemas.openxmlformats.org/officeDocument/2006/relationships/font" Target="fonts/Play-regular.fntdata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38" Type="http://customschemas.google.com/relationships/presentationmetadata" Target="metadata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" name="Google Shape;18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3" name="Google Shape;26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1" name="Google Shape;28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4" name="Google Shape;37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2" name="Google Shape;39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0" name="Google Shape;49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8" name="Google Shape;50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6" name="Google Shape;60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4" name="Google Shape;624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8" name="Google Shape;688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9" name="Google Shape;689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5" name="Google Shape;765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6" name="Google Shape;766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2" name="Google Shape;782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7" name="Google Shape;797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1" name="Google Shape;811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2" name="Google Shape;812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8" name="Google Shape;868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9" name="Google Shape;869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5" name="Google Shape;885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8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0" name="Google Shape;900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2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4" name="Google Shape;914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5" name="Google Shape;915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0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Google Shape;921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2" name="Google Shape;922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3" name="Google Shape;923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1" name="Google Shape;931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9" name="Google Shape;939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7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9" name="Google Shape;949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4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Google Shape;955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6" name="Google Shape;956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2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4" name="Google Shape;964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0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Google Shape;971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2" name="Google Shape;972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0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Google Shape;981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2" name="Google Shape;982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3" name="Google Shape;983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1" name="Shape 1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2" name="Google Shape;1022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3" name="Google Shape;1023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4" name="Google Shape;1024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7" name="Shape 1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8" name="Google Shape;1158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9" name="Google Shape;1159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0" name="Google Shape;1160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STER">
  <p:cSld name="MASTER">
    <p:bg>
      <p:bgPr>
        <a:solidFill>
          <a:srgbClr val="FFFFFF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9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 cap="flat" cmpd="sng" w="12700">
            <a:solidFill>
              <a:srgbClr val="1F4E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39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DDEBFF"/>
          </a:solidFill>
          <a:ln cap="flat" cmpd="sng" w="12700">
            <a:solidFill>
              <a:srgbClr val="DDE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39"/>
          <p:cNvSpPr txBox="1"/>
          <p:nvPr>
            <p:ph idx="12" type="sldNum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0" i="0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spcBef>
                <a:spcPts val="0"/>
              </a:spcBef>
              <a:buNone/>
              <a:defRPr b="0" i="0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spcBef>
                <a:spcPts val="0"/>
              </a:spcBef>
              <a:buNone/>
              <a:defRPr b="0" i="0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spcBef>
                <a:spcPts val="0"/>
              </a:spcBef>
              <a:buNone/>
              <a:defRPr b="0" i="0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spcBef>
                <a:spcPts val="0"/>
              </a:spcBef>
              <a:buNone/>
              <a:defRPr b="0" i="0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spcBef>
                <a:spcPts val="0"/>
              </a:spcBef>
              <a:buNone/>
              <a:defRPr b="0" i="0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spcBef>
                <a:spcPts val="0"/>
              </a:spcBef>
              <a:buNone/>
              <a:defRPr b="0" i="0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spcBef>
                <a:spcPts val="0"/>
              </a:spcBef>
              <a:buNone/>
              <a:defRPr b="0" i="0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spcBef>
                <a:spcPts val="0"/>
              </a:spcBef>
              <a:buNone/>
              <a:defRPr b="0" i="0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8"/>
          <p:cNvSpPr txBox="1"/>
          <p:nvPr>
            <p:ph idx="12" type="sldNum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"/>
          <p:cNvSpPr/>
          <p:nvPr/>
        </p:nvSpPr>
        <p:spPr>
          <a:xfrm>
            <a:off x="713232" y="658368"/>
            <a:ext cx="10972800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Graph Representations</a:t>
            </a:r>
            <a:endParaRPr b="0" i="0" sz="3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749808" y="1280160"/>
            <a:ext cx="109728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5AA8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rgbClr val="1E5AA8"/>
                </a:solidFill>
                <a:latin typeface="Arial"/>
                <a:ea typeface="Arial"/>
                <a:cs typeface="Arial"/>
                <a:sym typeface="Arial"/>
              </a:rPr>
              <a:t>Adjacency Matrix &amp; Adjacency List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768096" y="1792224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Editable Java code + classroom-ready visualizations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777240" y="2468880"/>
            <a:ext cx="1508760" cy="310896"/>
          </a:xfrm>
          <a:prstGeom prst="roundRect">
            <a:avLst>
              <a:gd fmla="val 23529" name="adj"/>
            </a:avLst>
          </a:prstGeom>
          <a:solidFill>
            <a:srgbClr val="1E5AA8"/>
          </a:solidFill>
          <a:ln cap="flat" cmpd="sng" w="12700">
            <a:solidFill>
              <a:srgbClr val="1E5A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1"/>
          <p:cNvSpPr/>
          <p:nvPr/>
        </p:nvSpPr>
        <p:spPr>
          <a:xfrm>
            <a:off x="850392" y="2542032"/>
            <a:ext cx="1362456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Unweighted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2423160" y="2468880"/>
            <a:ext cx="1417320" cy="310896"/>
          </a:xfrm>
          <a:prstGeom prst="roundRect">
            <a:avLst>
              <a:gd fmla="val 23529" name="adj"/>
            </a:avLst>
          </a:prstGeom>
          <a:solidFill>
            <a:srgbClr val="0B7A3B"/>
          </a:solidFill>
          <a:ln cap="flat" cmpd="sng" w="12700">
            <a:solidFill>
              <a:srgbClr val="0B7A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1"/>
          <p:cNvSpPr/>
          <p:nvPr/>
        </p:nvSpPr>
        <p:spPr>
          <a:xfrm>
            <a:off x="2496312" y="2542032"/>
            <a:ext cx="1271016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Weighted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3986784" y="2468880"/>
            <a:ext cx="1353312" cy="310896"/>
          </a:xfrm>
          <a:prstGeom prst="roundRect">
            <a:avLst>
              <a:gd fmla="val 23529" name="adj"/>
            </a:avLst>
          </a:prstGeom>
          <a:solidFill>
            <a:srgbClr val="B00020"/>
          </a:solidFill>
          <a:ln cap="flat" cmpd="sng" w="12700">
            <a:solidFill>
              <a:srgbClr val="B00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1"/>
          <p:cNvSpPr/>
          <p:nvPr/>
        </p:nvSpPr>
        <p:spPr>
          <a:xfrm>
            <a:off x="4059936" y="2542032"/>
            <a:ext cx="1207008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Directed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5486400" y="2468880"/>
            <a:ext cx="1554480" cy="310896"/>
          </a:xfrm>
          <a:prstGeom prst="roundRect">
            <a:avLst>
              <a:gd fmla="val 23529" name="adj"/>
            </a:avLst>
          </a:prstGeom>
          <a:solidFill>
            <a:srgbClr val="9C27B0"/>
          </a:solidFill>
          <a:ln cap="flat" cmpd="sng" w="12700">
            <a:solidFill>
              <a:srgbClr val="9C27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1"/>
          <p:cNvSpPr/>
          <p:nvPr/>
        </p:nvSpPr>
        <p:spPr>
          <a:xfrm>
            <a:off x="5559552" y="2542032"/>
            <a:ext cx="1408176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Undirected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" name="Google Shape;32;p1"/>
          <p:cNvCxnSpPr/>
          <p:nvPr/>
        </p:nvCxnSpPr>
        <p:spPr>
          <a:xfrm flipH="1" rot="10800000">
            <a:off x="8043770" y="2055925"/>
            <a:ext cx="1194620" cy="597310"/>
          </a:xfrm>
          <a:prstGeom prst="straightConnector1">
            <a:avLst/>
          </a:prstGeom>
          <a:noFill/>
          <a:ln cap="flat" cmpd="sng" w="20300">
            <a:solidFill>
              <a:srgbClr val="44444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" name="Google Shape;33;p1"/>
          <p:cNvSpPr/>
          <p:nvPr/>
        </p:nvSpPr>
        <p:spPr>
          <a:xfrm>
            <a:off x="8531352" y="2263140"/>
            <a:ext cx="219456" cy="173736"/>
          </a:xfrm>
          <a:prstGeom prst="rect">
            <a:avLst/>
          </a:prstGeom>
          <a:solidFill>
            <a:srgbClr val="FFFFFF">
              <a:alpha val="94118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1"/>
          <p:cNvSpPr/>
          <p:nvPr/>
        </p:nvSpPr>
        <p:spPr>
          <a:xfrm>
            <a:off x="8531352" y="2272284"/>
            <a:ext cx="219456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" name="Google Shape;35;p1"/>
          <p:cNvCxnSpPr/>
          <p:nvPr/>
        </p:nvCxnSpPr>
        <p:spPr>
          <a:xfrm>
            <a:off x="9560567" y="2108207"/>
            <a:ext cx="949945" cy="949945"/>
          </a:xfrm>
          <a:prstGeom prst="straightConnector1">
            <a:avLst/>
          </a:prstGeom>
          <a:noFill/>
          <a:ln cap="flat" cmpd="sng" w="20300">
            <a:solidFill>
              <a:srgbClr val="44444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p1"/>
          <p:cNvSpPr/>
          <p:nvPr/>
        </p:nvSpPr>
        <p:spPr>
          <a:xfrm>
            <a:off x="9925812" y="2491740"/>
            <a:ext cx="219456" cy="173736"/>
          </a:xfrm>
          <a:prstGeom prst="rect">
            <a:avLst/>
          </a:prstGeom>
          <a:solidFill>
            <a:srgbClr val="FFFFFF">
              <a:alpha val="94118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1"/>
          <p:cNvSpPr/>
          <p:nvPr/>
        </p:nvSpPr>
        <p:spPr>
          <a:xfrm>
            <a:off x="9925812" y="2500884"/>
            <a:ext cx="219456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" name="Google Shape;38;p1"/>
          <p:cNvCxnSpPr/>
          <p:nvPr/>
        </p:nvCxnSpPr>
        <p:spPr>
          <a:xfrm>
            <a:off x="7933884" y="2931780"/>
            <a:ext cx="454272" cy="1223040"/>
          </a:xfrm>
          <a:prstGeom prst="straightConnector1">
            <a:avLst/>
          </a:prstGeom>
          <a:noFill/>
          <a:ln cap="flat" cmpd="sng" w="20300">
            <a:solidFill>
              <a:srgbClr val="44444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1"/>
          <p:cNvSpPr/>
          <p:nvPr/>
        </p:nvSpPr>
        <p:spPr>
          <a:xfrm>
            <a:off x="8051292" y="3451860"/>
            <a:ext cx="219456" cy="173736"/>
          </a:xfrm>
          <a:prstGeom prst="rect">
            <a:avLst/>
          </a:prstGeom>
          <a:solidFill>
            <a:srgbClr val="FFFFFF">
              <a:alpha val="94118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1"/>
          <p:cNvSpPr/>
          <p:nvPr/>
        </p:nvSpPr>
        <p:spPr>
          <a:xfrm>
            <a:off x="8051292" y="3461004"/>
            <a:ext cx="219456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" name="Google Shape;41;p1"/>
          <p:cNvCxnSpPr/>
          <p:nvPr/>
        </p:nvCxnSpPr>
        <p:spPr>
          <a:xfrm>
            <a:off x="8648494" y="4408644"/>
            <a:ext cx="1219612" cy="418153"/>
          </a:xfrm>
          <a:prstGeom prst="straightConnector1">
            <a:avLst/>
          </a:prstGeom>
          <a:noFill/>
          <a:ln cap="flat" cmpd="sng" w="20300">
            <a:solidFill>
              <a:srgbClr val="44444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1"/>
          <p:cNvSpPr/>
          <p:nvPr/>
        </p:nvSpPr>
        <p:spPr>
          <a:xfrm>
            <a:off x="9148572" y="4526280"/>
            <a:ext cx="219456" cy="173736"/>
          </a:xfrm>
          <a:prstGeom prst="rect">
            <a:avLst/>
          </a:prstGeom>
          <a:solidFill>
            <a:srgbClr val="FFFFFF">
              <a:alpha val="94118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1"/>
          <p:cNvSpPr/>
          <p:nvPr/>
        </p:nvSpPr>
        <p:spPr>
          <a:xfrm>
            <a:off x="9148572" y="4535424"/>
            <a:ext cx="219456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" name="Google Shape;44;p1"/>
          <p:cNvCxnSpPr/>
          <p:nvPr/>
        </p:nvCxnSpPr>
        <p:spPr>
          <a:xfrm flipH="1">
            <a:off x="8533530" y="2152491"/>
            <a:ext cx="809460" cy="2004377"/>
          </a:xfrm>
          <a:prstGeom prst="straightConnector1">
            <a:avLst/>
          </a:prstGeom>
          <a:noFill/>
          <a:ln cap="flat" cmpd="sng" w="20300">
            <a:solidFill>
              <a:srgbClr val="44444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" name="Google Shape;45;p1"/>
          <p:cNvSpPr/>
          <p:nvPr/>
        </p:nvSpPr>
        <p:spPr>
          <a:xfrm>
            <a:off x="8828532" y="3063240"/>
            <a:ext cx="219456" cy="173736"/>
          </a:xfrm>
          <a:prstGeom prst="rect">
            <a:avLst/>
          </a:prstGeom>
          <a:solidFill>
            <a:srgbClr val="FFFFFF">
              <a:alpha val="94118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1"/>
          <p:cNvSpPr/>
          <p:nvPr/>
        </p:nvSpPr>
        <p:spPr>
          <a:xfrm>
            <a:off x="8828532" y="3072384"/>
            <a:ext cx="219456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7" name="Google Shape;47;p1"/>
          <p:cNvCxnSpPr/>
          <p:nvPr/>
        </p:nvCxnSpPr>
        <p:spPr>
          <a:xfrm flipH="1" rot="10800000">
            <a:off x="10125084" y="3390194"/>
            <a:ext cx="460991" cy="1312052"/>
          </a:xfrm>
          <a:prstGeom prst="straightConnector1">
            <a:avLst/>
          </a:prstGeom>
          <a:noFill/>
          <a:ln cap="flat" cmpd="sng" w="20300">
            <a:solidFill>
              <a:srgbClr val="44444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" name="Google Shape;48;p1"/>
          <p:cNvSpPr/>
          <p:nvPr/>
        </p:nvSpPr>
        <p:spPr>
          <a:xfrm>
            <a:off x="10245852" y="3954780"/>
            <a:ext cx="219456" cy="173736"/>
          </a:xfrm>
          <a:prstGeom prst="rect">
            <a:avLst/>
          </a:prstGeom>
          <a:solidFill>
            <a:srgbClr val="FFFFFF">
              <a:alpha val="94118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1"/>
          <p:cNvSpPr/>
          <p:nvPr/>
        </p:nvSpPr>
        <p:spPr>
          <a:xfrm>
            <a:off x="10245852" y="3963924"/>
            <a:ext cx="219456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1"/>
          <p:cNvSpPr/>
          <p:nvPr/>
        </p:nvSpPr>
        <p:spPr>
          <a:xfrm>
            <a:off x="7662672" y="2542032"/>
            <a:ext cx="402336" cy="402336"/>
          </a:xfrm>
          <a:prstGeom prst="ellipse">
            <a:avLst/>
          </a:prstGeom>
          <a:solidFill>
            <a:srgbClr val="DDEBFF"/>
          </a:solidFill>
          <a:ln cap="flat" cmpd="sng" w="13950">
            <a:solidFill>
              <a:srgbClr val="6E8D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1"/>
          <p:cNvSpPr/>
          <p:nvPr/>
        </p:nvSpPr>
        <p:spPr>
          <a:xfrm>
            <a:off x="7754112" y="2642616"/>
            <a:ext cx="21945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1"/>
          <p:cNvSpPr/>
          <p:nvPr/>
        </p:nvSpPr>
        <p:spPr>
          <a:xfrm>
            <a:off x="9217152" y="1764792"/>
            <a:ext cx="402336" cy="402336"/>
          </a:xfrm>
          <a:prstGeom prst="ellipse">
            <a:avLst/>
          </a:prstGeom>
          <a:solidFill>
            <a:srgbClr val="DDEBFF"/>
          </a:solidFill>
          <a:ln cap="flat" cmpd="sng" w="13950">
            <a:solidFill>
              <a:srgbClr val="6E8D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"/>
          <p:cNvSpPr/>
          <p:nvPr/>
        </p:nvSpPr>
        <p:spPr>
          <a:xfrm>
            <a:off x="9308592" y="1865376"/>
            <a:ext cx="21945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"/>
          <p:cNvSpPr/>
          <p:nvPr/>
        </p:nvSpPr>
        <p:spPr>
          <a:xfrm>
            <a:off x="10451592" y="2999232"/>
            <a:ext cx="402336" cy="402336"/>
          </a:xfrm>
          <a:prstGeom prst="ellipse">
            <a:avLst/>
          </a:prstGeom>
          <a:solidFill>
            <a:srgbClr val="DDEBFF"/>
          </a:solidFill>
          <a:ln cap="flat" cmpd="sng" w="13950">
            <a:solidFill>
              <a:srgbClr val="6E8D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"/>
          <p:cNvSpPr/>
          <p:nvPr/>
        </p:nvSpPr>
        <p:spPr>
          <a:xfrm>
            <a:off x="10543032" y="3099816"/>
            <a:ext cx="21945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1"/>
          <p:cNvSpPr/>
          <p:nvPr/>
        </p:nvSpPr>
        <p:spPr>
          <a:xfrm>
            <a:off x="8257032" y="4142232"/>
            <a:ext cx="402336" cy="402336"/>
          </a:xfrm>
          <a:prstGeom prst="ellipse">
            <a:avLst/>
          </a:prstGeom>
          <a:solidFill>
            <a:srgbClr val="DDEBFF"/>
          </a:solidFill>
          <a:ln cap="flat" cmpd="sng" w="13950">
            <a:solidFill>
              <a:srgbClr val="6E8D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"/>
          <p:cNvSpPr/>
          <p:nvPr/>
        </p:nvSpPr>
        <p:spPr>
          <a:xfrm>
            <a:off x="8348472" y="4242816"/>
            <a:ext cx="21945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1"/>
          <p:cNvSpPr/>
          <p:nvPr/>
        </p:nvSpPr>
        <p:spPr>
          <a:xfrm>
            <a:off x="9857232" y="4690872"/>
            <a:ext cx="402336" cy="402336"/>
          </a:xfrm>
          <a:prstGeom prst="ellipse">
            <a:avLst/>
          </a:prstGeom>
          <a:solidFill>
            <a:srgbClr val="DDEBFF"/>
          </a:solidFill>
          <a:ln cap="flat" cmpd="sng" w="13950">
            <a:solidFill>
              <a:srgbClr val="6E8D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"/>
          <p:cNvSpPr/>
          <p:nvPr/>
        </p:nvSpPr>
        <p:spPr>
          <a:xfrm>
            <a:off x="9948672" y="4791456"/>
            <a:ext cx="21945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1"/>
          <p:cNvSpPr/>
          <p:nvPr/>
        </p:nvSpPr>
        <p:spPr>
          <a:xfrm>
            <a:off x="777240" y="3108960"/>
            <a:ext cx="5440680" cy="1325880"/>
          </a:xfrm>
          <a:prstGeom prst="roundRect">
            <a:avLst>
              <a:gd fmla="val 5517" name="adj"/>
            </a:avLst>
          </a:prstGeom>
          <a:solidFill>
            <a:srgbClr val="EEF5FF"/>
          </a:solidFill>
          <a:ln cap="flat" cmpd="sng" w="13950">
            <a:solidFill>
              <a:srgbClr val="9BB7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"/>
          <p:cNvSpPr/>
          <p:nvPr/>
        </p:nvSpPr>
        <p:spPr>
          <a:xfrm>
            <a:off x="914400" y="3218688"/>
            <a:ext cx="51663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Lesson focus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1"/>
          <p:cNvSpPr/>
          <p:nvPr/>
        </p:nvSpPr>
        <p:spPr>
          <a:xfrm>
            <a:off x="914400" y="3520440"/>
            <a:ext cx="5166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Store graph connections in a 2D matrix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Store graph connections in linked adjacency lists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Change only the edge insertion rule for each graph type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"/>
          <p:cNvSpPr txBox="1"/>
          <p:nvPr>
            <p:ph idx="4294967295" type="sldNum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"/>
          <p:cNvSpPr/>
          <p:nvPr/>
        </p:nvSpPr>
        <p:spPr>
          <a:xfrm>
            <a:off x="502920" y="292608"/>
            <a:ext cx="112471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2700"/>
              <a:buFont typeface="Play"/>
              <a:buNone/>
            </a:pPr>
            <a:r>
              <a:rPr b="1" i="0" lang="en-US" sz="2700" u="none" cap="none" strike="noStrike">
                <a:solidFill>
                  <a:srgbClr val="12355B"/>
                </a:solidFill>
                <a:latin typeface="Play"/>
                <a:ea typeface="Play"/>
                <a:cs typeface="Play"/>
                <a:sym typeface="Play"/>
              </a:rPr>
              <a:t>Graph Types in This Lesson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2"/>
          <p:cNvSpPr/>
          <p:nvPr/>
        </p:nvSpPr>
        <p:spPr>
          <a:xfrm>
            <a:off x="530352" y="777240"/>
            <a:ext cx="11155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The same graph idea changes based on direction and weight.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2"/>
          <p:cNvSpPr/>
          <p:nvPr/>
        </p:nvSpPr>
        <p:spPr>
          <a:xfrm>
            <a:off x="822960" y="1325880"/>
            <a:ext cx="4983480" cy="1234440"/>
          </a:xfrm>
          <a:prstGeom prst="roundRect">
            <a:avLst>
              <a:gd fmla="val 5926" name="adj"/>
            </a:avLst>
          </a:prstGeom>
          <a:solidFill>
            <a:srgbClr val="EEF5FF"/>
          </a:solidFill>
          <a:ln cap="flat" cmpd="sng" w="13950">
            <a:solidFill>
              <a:srgbClr val="9BB7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2"/>
          <p:cNvSpPr/>
          <p:nvPr/>
        </p:nvSpPr>
        <p:spPr>
          <a:xfrm>
            <a:off x="960120" y="1435608"/>
            <a:ext cx="47091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Unweighted + Undirected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2"/>
          <p:cNvSpPr/>
          <p:nvPr/>
        </p:nvSpPr>
        <p:spPr>
          <a:xfrm>
            <a:off x="960120" y="1737360"/>
            <a:ext cx="47091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Store 1 in both directions: A[u][v] = 1 and A[v][u] = 1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2"/>
          <p:cNvSpPr/>
          <p:nvPr/>
        </p:nvSpPr>
        <p:spPr>
          <a:xfrm>
            <a:off x="6400800" y="1325880"/>
            <a:ext cx="4983480" cy="1234440"/>
          </a:xfrm>
          <a:prstGeom prst="roundRect">
            <a:avLst>
              <a:gd fmla="val 5926" name="adj"/>
            </a:avLst>
          </a:prstGeom>
          <a:solidFill>
            <a:srgbClr val="EEF5FF"/>
          </a:solidFill>
          <a:ln cap="flat" cmpd="sng" w="13950">
            <a:solidFill>
              <a:srgbClr val="9BB7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2"/>
          <p:cNvSpPr/>
          <p:nvPr/>
        </p:nvSpPr>
        <p:spPr>
          <a:xfrm>
            <a:off x="6537960" y="1435608"/>
            <a:ext cx="47091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Unweighted + Directed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2"/>
          <p:cNvSpPr/>
          <p:nvPr/>
        </p:nvSpPr>
        <p:spPr>
          <a:xfrm>
            <a:off x="6537960" y="1737360"/>
            <a:ext cx="47091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Store 1 only from source to destination: A[u][v] = 1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2"/>
          <p:cNvSpPr/>
          <p:nvPr/>
        </p:nvSpPr>
        <p:spPr>
          <a:xfrm>
            <a:off x="822960" y="3246120"/>
            <a:ext cx="4983480" cy="1234440"/>
          </a:xfrm>
          <a:prstGeom prst="roundRect">
            <a:avLst>
              <a:gd fmla="val 5926" name="adj"/>
            </a:avLst>
          </a:prstGeom>
          <a:solidFill>
            <a:srgbClr val="F5FCEB"/>
          </a:solidFill>
          <a:ln cap="flat" cmpd="sng" w="13950">
            <a:solidFill>
              <a:srgbClr val="9BB7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2"/>
          <p:cNvSpPr/>
          <p:nvPr/>
        </p:nvSpPr>
        <p:spPr>
          <a:xfrm>
            <a:off x="960120" y="3355848"/>
            <a:ext cx="47091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Weighted + Directed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2"/>
          <p:cNvSpPr/>
          <p:nvPr/>
        </p:nvSpPr>
        <p:spPr>
          <a:xfrm>
            <a:off x="960120" y="3657600"/>
            <a:ext cx="47091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Store the edge weight only in A[u][v]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2"/>
          <p:cNvSpPr/>
          <p:nvPr/>
        </p:nvSpPr>
        <p:spPr>
          <a:xfrm>
            <a:off x="6400800" y="3246120"/>
            <a:ext cx="4983480" cy="1234440"/>
          </a:xfrm>
          <a:prstGeom prst="roundRect">
            <a:avLst>
              <a:gd fmla="val 5926" name="adj"/>
            </a:avLst>
          </a:prstGeom>
          <a:solidFill>
            <a:srgbClr val="F5FCEB"/>
          </a:solidFill>
          <a:ln cap="flat" cmpd="sng" w="13950">
            <a:solidFill>
              <a:srgbClr val="9BB7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2"/>
          <p:cNvSpPr/>
          <p:nvPr/>
        </p:nvSpPr>
        <p:spPr>
          <a:xfrm>
            <a:off x="6537960" y="3355848"/>
            <a:ext cx="47091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Weighted + Undirected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"/>
          <p:cNvSpPr/>
          <p:nvPr/>
        </p:nvSpPr>
        <p:spPr>
          <a:xfrm>
            <a:off x="6537960" y="3657600"/>
            <a:ext cx="47091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Store the edge weight in both A[u][v] and A[v][u]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2"/>
          <p:cNvSpPr/>
          <p:nvPr/>
        </p:nvSpPr>
        <p:spPr>
          <a:xfrm>
            <a:off x="3246120" y="5504688"/>
            <a:ext cx="5669280" cy="658368"/>
          </a:xfrm>
          <a:prstGeom prst="roundRect">
            <a:avLst>
              <a:gd fmla="val 11111" name="adj"/>
            </a:avLst>
          </a:prstGeom>
          <a:solidFill>
            <a:srgbClr val="FFF2CC"/>
          </a:solidFill>
          <a:ln cap="flat" cmpd="sng" w="13950">
            <a:solidFill>
              <a:srgbClr val="9BB7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2"/>
          <p:cNvSpPr/>
          <p:nvPr/>
        </p:nvSpPr>
        <p:spPr>
          <a:xfrm>
            <a:off x="3383280" y="5614416"/>
            <a:ext cx="53949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Key idea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2"/>
          <p:cNvSpPr/>
          <p:nvPr/>
        </p:nvSpPr>
        <p:spPr>
          <a:xfrm>
            <a:off x="3383280" y="5916168"/>
            <a:ext cx="5394960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Only the addEdges() logic changes; printing and neighbor scanning are almost the same.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2"/>
          <p:cNvSpPr txBox="1"/>
          <p:nvPr>
            <p:ph idx="4294967295" type="sldNum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"/>
          <p:cNvSpPr/>
          <p:nvPr/>
        </p:nvSpPr>
        <p:spPr>
          <a:xfrm>
            <a:off x="502920" y="292608"/>
            <a:ext cx="112471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2700"/>
              <a:buFont typeface="Play"/>
              <a:buNone/>
            </a:pPr>
            <a:r>
              <a:rPr b="1" i="0" lang="en-US" sz="2700" u="none" cap="none" strike="noStrike">
                <a:solidFill>
                  <a:srgbClr val="12355B"/>
                </a:solidFill>
                <a:latin typeface="Play"/>
                <a:ea typeface="Play"/>
                <a:cs typeface="Play"/>
                <a:sym typeface="Play"/>
              </a:rPr>
              <a:t>Adjacency Matrix: Core Idea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530352" y="777240"/>
            <a:ext cx="11155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A V x V matrix stores whether an edge exists between vertices.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868680" y="1218438"/>
            <a:ext cx="502920" cy="2514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C27B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9C27B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1371600" y="1218438"/>
            <a:ext cx="502920" cy="2514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C27B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9C27B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1874520" y="1218438"/>
            <a:ext cx="502920" cy="2514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C27B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9C27B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2377440" y="1218438"/>
            <a:ext cx="502920" cy="2514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C27B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9C27B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3"/>
          <p:cNvSpPr/>
          <p:nvPr/>
        </p:nvSpPr>
        <p:spPr>
          <a:xfrm>
            <a:off x="2880360" y="1218438"/>
            <a:ext cx="502920" cy="2514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C27B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9C27B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3"/>
          <p:cNvSpPr/>
          <p:nvPr/>
        </p:nvSpPr>
        <p:spPr>
          <a:xfrm>
            <a:off x="516636" y="1731416"/>
            <a:ext cx="251460" cy="2112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C27B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9C27B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3"/>
          <p:cNvSpPr/>
          <p:nvPr/>
        </p:nvSpPr>
        <p:spPr>
          <a:xfrm>
            <a:off x="868680" y="1645920"/>
            <a:ext cx="502920" cy="50292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"/>
          <p:cNvSpPr/>
          <p:nvPr/>
        </p:nvSpPr>
        <p:spPr>
          <a:xfrm>
            <a:off x="868680" y="1731416"/>
            <a:ext cx="502920" cy="1760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1371600" y="1645920"/>
            <a:ext cx="502920" cy="50292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3"/>
          <p:cNvSpPr/>
          <p:nvPr/>
        </p:nvSpPr>
        <p:spPr>
          <a:xfrm>
            <a:off x="1371600" y="1731416"/>
            <a:ext cx="502920" cy="1760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3"/>
          <p:cNvSpPr/>
          <p:nvPr/>
        </p:nvSpPr>
        <p:spPr>
          <a:xfrm>
            <a:off x="1874520" y="1645920"/>
            <a:ext cx="502920" cy="50292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"/>
          <p:cNvSpPr/>
          <p:nvPr/>
        </p:nvSpPr>
        <p:spPr>
          <a:xfrm>
            <a:off x="1874520" y="1731416"/>
            <a:ext cx="502920" cy="1760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3"/>
          <p:cNvSpPr/>
          <p:nvPr/>
        </p:nvSpPr>
        <p:spPr>
          <a:xfrm>
            <a:off x="2377440" y="1645920"/>
            <a:ext cx="502920" cy="50292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"/>
          <p:cNvSpPr/>
          <p:nvPr/>
        </p:nvSpPr>
        <p:spPr>
          <a:xfrm>
            <a:off x="2377440" y="1731416"/>
            <a:ext cx="502920" cy="1760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2880360" y="1645920"/>
            <a:ext cx="502920" cy="50292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3"/>
          <p:cNvSpPr/>
          <p:nvPr/>
        </p:nvSpPr>
        <p:spPr>
          <a:xfrm>
            <a:off x="2880360" y="1731416"/>
            <a:ext cx="502920" cy="1760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3"/>
          <p:cNvSpPr/>
          <p:nvPr/>
        </p:nvSpPr>
        <p:spPr>
          <a:xfrm>
            <a:off x="516636" y="2234336"/>
            <a:ext cx="251460" cy="2112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C27B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9C27B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3"/>
          <p:cNvSpPr/>
          <p:nvPr/>
        </p:nvSpPr>
        <p:spPr>
          <a:xfrm>
            <a:off x="868680" y="2148840"/>
            <a:ext cx="502920" cy="50292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3"/>
          <p:cNvSpPr/>
          <p:nvPr/>
        </p:nvSpPr>
        <p:spPr>
          <a:xfrm>
            <a:off x="868680" y="2234336"/>
            <a:ext cx="502920" cy="1760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1371600" y="2148840"/>
            <a:ext cx="502920" cy="50292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3"/>
          <p:cNvSpPr/>
          <p:nvPr/>
        </p:nvSpPr>
        <p:spPr>
          <a:xfrm>
            <a:off x="1371600" y="2234336"/>
            <a:ext cx="502920" cy="1760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3"/>
          <p:cNvSpPr/>
          <p:nvPr/>
        </p:nvSpPr>
        <p:spPr>
          <a:xfrm>
            <a:off x="1874520" y="2148840"/>
            <a:ext cx="502920" cy="50292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3"/>
          <p:cNvSpPr/>
          <p:nvPr/>
        </p:nvSpPr>
        <p:spPr>
          <a:xfrm>
            <a:off x="1874520" y="2234336"/>
            <a:ext cx="502920" cy="1760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3"/>
          <p:cNvSpPr/>
          <p:nvPr/>
        </p:nvSpPr>
        <p:spPr>
          <a:xfrm>
            <a:off x="2377440" y="2148840"/>
            <a:ext cx="502920" cy="50292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3"/>
          <p:cNvSpPr/>
          <p:nvPr/>
        </p:nvSpPr>
        <p:spPr>
          <a:xfrm>
            <a:off x="2377440" y="2234336"/>
            <a:ext cx="502920" cy="1760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3"/>
          <p:cNvSpPr/>
          <p:nvPr/>
        </p:nvSpPr>
        <p:spPr>
          <a:xfrm>
            <a:off x="2880360" y="2148840"/>
            <a:ext cx="502920" cy="50292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3"/>
          <p:cNvSpPr/>
          <p:nvPr/>
        </p:nvSpPr>
        <p:spPr>
          <a:xfrm>
            <a:off x="2880360" y="2234336"/>
            <a:ext cx="502920" cy="1760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3"/>
          <p:cNvSpPr/>
          <p:nvPr/>
        </p:nvSpPr>
        <p:spPr>
          <a:xfrm>
            <a:off x="516636" y="2737256"/>
            <a:ext cx="251460" cy="2112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C27B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9C27B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3"/>
          <p:cNvSpPr/>
          <p:nvPr/>
        </p:nvSpPr>
        <p:spPr>
          <a:xfrm>
            <a:off x="868680" y="2651760"/>
            <a:ext cx="502920" cy="50292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3"/>
          <p:cNvSpPr/>
          <p:nvPr/>
        </p:nvSpPr>
        <p:spPr>
          <a:xfrm>
            <a:off x="868680" y="2737256"/>
            <a:ext cx="502920" cy="1760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3"/>
          <p:cNvSpPr/>
          <p:nvPr/>
        </p:nvSpPr>
        <p:spPr>
          <a:xfrm>
            <a:off x="1371600" y="2651760"/>
            <a:ext cx="502920" cy="50292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3"/>
          <p:cNvSpPr/>
          <p:nvPr/>
        </p:nvSpPr>
        <p:spPr>
          <a:xfrm>
            <a:off x="1371600" y="2737256"/>
            <a:ext cx="502920" cy="1760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3"/>
          <p:cNvSpPr/>
          <p:nvPr/>
        </p:nvSpPr>
        <p:spPr>
          <a:xfrm>
            <a:off x="1874520" y="2651760"/>
            <a:ext cx="502920" cy="50292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3"/>
          <p:cNvSpPr/>
          <p:nvPr/>
        </p:nvSpPr>
        <p:spPr>
          <a:xfrm>
            <a:off x="1874520" y="2737256"/>
            <a:ext cx="502920" cy="1760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3"/>
          <p:cNvSpPr/>
          <p:nvPr/>
        </p:nvSpPr>
        <p:spPr>
          <a:xfrm>
            <a:off x="2377440" y="2651760"/>
            <a:ext cx="502920" cy="50292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3"/>
          <p:cNvSpPr/>
          <p:nvPr/>
        </p:nvSpPr>
        <p:spPr>
          <a:xfrm>
            <a:off x="2377440" y="2737256"/>
            <a:ext cx="502920" cy="1760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3"/>
          <p:cNvSpPr/>
          <p:nvPr/>
        </p:nvSpPr>
        <p:spPr>
          <a:xfrm>
            <a:off x="2880360" y="2651760"/>
            <a:ext cx="502920" cy="50292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3"/>
          <p:cNvSpPr/>
          <p:nvPr/>
        </p:nvSpPr>
        <p:spPr>
          <a:xfrm>
            <a:off x="2880360" y="2737256"/>
            <a:ext cx="502920" cy="1760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3"/>
          <p:cNvSpPr/>
          <p:nvPr/>
        </p:nvSpPr>
        <p:spPr>
          <a:xfrm>
            <a:off x="516636" y="3240176"/>
            <a:ext cx="251460" cy="2112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C27B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9C27B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3"/>
          <p:cNvSpPr/>
          <p:nvPr/>
        </p:nvSpPr>
        <p:spPr>
          <a:xfrm>
            <a:off x="868680" y="3154680"/>
            <a:ext cx="502920" cy="50292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3"/>
          <p:cNvSpPr/>
          <p:nvPr/>
        </p:nvSpPr>
        <p:spPr>
          <a:xfrm>
            <a:off x="868680" y="3240176"/>
            <a:ext cx="502920" cy="1760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3"/>
          <p:cNvSpPr/>
          <p:nvPr/>
        </p:nvSpPr>
        <p:spPr>
          <a:xfrm>
            <a:off x="1371600" y="3154680"/>
            <a:ext cx="502920" cy="50292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3"/>
          <p:cNvSpPr/>
          <p:nvPr/>
        </p:nvSpPr>
        <p:spPr>
          <a:xfrm>
            <a:off x="1371600" y="3240176"/>
            <a:ext cx="502920" cy="1760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3"/>
          <p:cNvSpPr/>
          <p:nvPr/>
        </p:nvSpPr>
        <p:spPr>
          <a:xfrm>
            <a:off x="1874520" y="3154680"/>
            <a:ext cx="502920" cy="50292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3"/>
          <p:cNvSpPr/>
          <p:nvPr/>
        </p:nvSpPr>
        <p:spPr>
          <a:xfrm>
            <a:off x="1874520" y="3240176"/>
            <a:ext cx="502920" cy="1760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3"/>
          <p:cNvSpPr/>
          <p:nvPr/>
        </p:nvSpPr>
        <p:spPr>
          <a:xfrm>
            <a:off x="2377440" y="3154680"/>
            <a:ext cx="502920" cy="50292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3"/>
          <p:cNvSpPr/>
          <p:nvPr/>
        </p:nvSpPr>
        <p:spPr>
          <a:xfrm>
            <a:off x="2377440" y="3240176"/>
            <a:ext cx="502920" cy="1760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3"/>
          <p:cNvSpPr/>
          <p:nvPr/>
        </p:nvSpPr>
        <p:spPr>
          <a:xfrm>
            <a:off x="2880360" y="3154680"/>
            <a:ext cx="502920" cy="50292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3"/>
          <p:cNvSpPr/>
          <p:nvPr/>
        </p:nvSpPr>
        <p:spPr>
          <a:xfrm>
            <a:off x="2880360" y="3240176"/>
            <a:ext cx="502920" cy="1760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3"/>
          <p:cNvSpPr/>
          <p:nvPr/>
        </p:nvSpPr>
        <p:spPr>
          <a:xfrm>
            <a:off x="516636" y="3743096"/>
            <a:ext cx="251460" cy="2112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C27B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9C27B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3"/>
          <p:cNvSpPr/>
          <p:nvPr/>
        </p:nvSpPr>
        <p:spPr>
          <a:xfrm>
            <a:off x="868680" y="3657600"/>
            <a:ext cx="502920" cy="50292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3"/>
          <p:cNvSpPr/>
          <p:nvPr/>
        </p:nvSpPr>
        <p:spPr>
          <a:xfrm>
            <a:off x="868680" y="3743096"/>
            <a:ext cx="502920" cy="1760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3"/>
          <p:cNvSpPr/>
          <p:nvPr/>
        </p:nvSpPr>
        <p:spPr>
          <a:xfrm>
            <a:off x="1371600" y="3657600"/>
            <a:ext cx="502920" cy="50292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3"/>
          <p:cNvSpPr/>
          <p:nvPr/>
        </p:nvSpPr>
        <p:spPr>
          <a:xfrm>
            <a:off x="1371600" y="3743096"/>
            <a:ext cx="502920" cy="1760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3"/>
          <p:cNvSpPr/>
          <p:nvPr/>
        </p:nvSpPr>
        <p:spPr>
          <a:xfrm>
            <a:off x="1874520" y="3657600"/>
            <a:ext cx="502920" cy="50292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3"/>
          <p:cNvSpPr/>
          <p:nvPr/>
        </p:nvSpPr>
        <p:spPr>
          <a:xfrm>
            <a:off x="1874520" y="3743096"/>
            <a:ext cx="502920" cy="1760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3"/>
          <p:cNvSpPr/>
          <p:nvPr/>
        </p:nvSpPr>
        <p:spPr>
          <a:xfrm>
            <a:off x="2377440" y="3657600"/>
            <a:ext cx="502920" cy="50292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3"/>
          <p:cNvSpPr/>
          <p:nvPr/>
        </p:nvSpPr>
        <p:spPr>
          <a:xfrm>
            <a:off x="2377440" y="3743096"/>
            <a:ext cx="502920" cy="1760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3"/>
          <p:cNvSpPr/>
          <p:nvPr/>
        </p:nvSpPr>
        <p:spPr>
          <a:xfrm>
            <a:off x="2880360" y="3657600"/>
            <a:ext cx="502920" cy="50292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3"/>
          <p:cNvSpPr/>
          <p:nvPr/>
        </p:nvSpPr>
        <p:spPr>
          <a:xfrm>
            <a:off x="2880360" y="3743096"/>
            <a:ext cx="502920" cy="1760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3"/>
          <p:cNvSpPr/>
          <p:nvPr/>
        </p:nvSpPr>
        <p:spPr>
          <a:xfrm>
            <a:off x="868680" y="4800600"/>
            <a:ext cx="3200400" cy="960120"/>
          </a:xfrm>
          <a:prstGeom prst="roundRect">
            <a:avLst>
              <a:gd fmla="val 7619" name="adj"/>
            </a:avLst>
          </a:prstGeom>
          <a:solidFill>
            <a:srgbClr val="FFF2CC"/>
          </a:solidFill>
          <a:ln cap="flat" cmpd="sng" w="13950">
            <a:solidFill>
              <a:srgbClr val="9BB7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3"/>
          <p:cNvSpPr/>
          <p:nvPr/>
        </p:nvSpPr>
        <p:spPr>
          <a:xfrm>
            <a:off x="1005840" y="4910328"/>
            <a:ext cx="29260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Matrix rule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3"/>
          <p:cNvSpPr/>
          <p:nvPr/>
        </p:nvSpPr>
        <p:spPr>
          <a:xfrm>
            <a:off x="1005840" y="5212080"/>
            <a:ext cx="2926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Row = source vertex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Column = destination / neighbor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 = no edge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3"/>
          <p:cNvSpPr/>
          <p:nvPr/>
        </p:nvSpPr>
        <p:spPr>
          <a:xfrm>
            <a:off x="4572000" y="1463040"/>
            <a:ext cx="3063240" cy="1143000"/>
          </a:xfrm>
          <a:prstGeom prst="roundRect">
            <a:avLst>
              <a:gd fmla="val 6400" name="adj"/>
            </a:avLst>
          </a:prstGeom>
          <a:solidFill>
            <a:srgbClr val="EEF5FF"/>
          </a:solidFill>
          <a:ln cap="flat" cmpd="sng" w="13950">
            <a:solidFill>
              <a:srgbClr val="9BB7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3"/>
          <p:cNvSpPr/>
          <p:nvPr/>
        </p:nvSpPr>
        <p:spPr>
          <a:xfrm>
            <a:off x="4709160" y="1572768"/>
            <a:ext cx="2788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Undirected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3"/>
          <p:cNvSpPr/>
          <p:nvPr/>
        </p:nvSpPr>
        <p:spPr>
          <a:xfrm>
            <a:off x="4709160" y="1874520"/>
            <a:ext cx="2788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A[u][v] and A[v][u]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are both updated.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3"/>
          <p:cNvSpPr/>
          <p:nvPr/>
        </p:nvSpPr>
        <p:spPr>
          <a:xfrm>
            <a:off x="8138160" y="1463040"/>
            <a:ext cx="3063240" cy="1143000"/>
          </a:xfrm>
          <a:prstGeom prst="roundRect">
            <a:avLst>
              <a:gd fmla="val 6400" name="adj"/>
            </a:avLst>
          </a:prstGeom>
          <a:solidFill>
            <a:srgbClr val="FFF2CC"/>
          </a:solidFill>
          <a:ln cap="flat" cmpd="sng" w="13950">
            <a:solidFill>
              <a:srgbClr val="9BB7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3"/>
          <p:cNvSpPr/>
          <p:nvPr/>
        </p:nvSpPr>
        <p:spPr>
          <a:xfrm>
            <a:off x="8275320" y="1572768"/>
            <a:ext cx="2788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Directed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3"/>
          <p:cNvSpPr/>
          <p:nvPr/>
        </p:nvSpPr>
        <p:spPr>
          <a:xfrm>
            <a:off x="8275320" y="1874520"/>
            <a:ext cx="2788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Only A[u][v] is updated.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A[v][u] may remain 0.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3"/>
          <p:cNvSpPr/>
          <p:nvPr/>
        </p:nvSpPr>
        <p:spPr>
          <a:xfrm>
            <a:off x="4572000" y="3108960"/>
            <a:ext cx="3063240" cy="1143000"/>
          </a:xfrm>
          <a:prstGeom prst="roundRect">
            <a:avLst>
              <a:gd fmla="val 6400" name="adj"/>
            </a:avLst>
          </a:prstGeom>
          <a:solidFill>
            <a:srgbClr val="F1F8E9"/>
          </a:solidFill>
          <a:ln cap="flat" cmpd="sng" w="13950">
            <a:solidFill>
              <a:srgbClr val="9BB7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3"/>
          <p:cNvSpPr/>
          <p:nvPr/>
        </p:nvSpPr>
        <p:spPr>
          <a:xfrm>
            <a:off x="4709160" y="3218688"/>
            <a:ext cx="2788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Unweighted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3"/>
          <p:cNvSpPr/>
          <p:nvPr/>
        </p:nvSpPr>
        <p:spPr>
          <a:xfrm>
            <a:off x="4709160" y="3520440"/>
            <a:ext cx="2788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 1 to show a connection.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3"/>
          <p:cNvSpPr/>
          <p:nvPr/>
        </p:nvSpPr>
        <p:spPr>
          <a:xfrm>
            <a:off x="8138160" y="3108960"/>
            <a:ext cx="3063240" cy="1143000"/>
          </a:xfrm>
          <a:prstGeom prst="roundRect">
            <a:avLst>
              <a:gd fmla="val 6400" name="adj"/>
            </a:avLst>
          </a:prstGeom>
          <a:solidFill>
            <a:srgbClr val="FCE4EC"/>
          </a:solidFill>
          <a:ln cap="flat" cmpd="sng" w="13950">
            <a:solidFill>
              <a:srgbClr val="9BB7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3"/>
          <p:cNvSpPr/>
          <p:nvPr/>
        </p:nvSpPr>
        <p:spPr>
          <a:xfrm>
            <a:off x="8275320" y="3218688"/>
            <a:ext cx="2788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Weighted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3"/>
          <p:cNvSpPr/>
          <p:nvPr/>
        </p:nvSpPr>
        <p:spPr>
          <a:xfrm>
            <a:off x="8275320" y="3520440"/>
            <a:ext cx="2788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 the edge weight instead of 1.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3"/>
          <p:cNvSpPr/>
          <p:nvPr/>
        </p:nvSpPr>
        <p:spPr>
          <a:xfrm>
            <a:off x="4617720" y="4892040"/>
            <a:ext cx="6675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Row 1, column 4 = 1 means vertex 1 is connected to vertex 4.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3"/>
          <p:cNvSpPr txBox="1"/>
          <p:nvPr>
            <p:ph idx="4294967295" type="sldNum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4"/>
          <p:cNvSpPr/>
          <p:nvPr/>
        </p:nvSpPr>
        <p:spPr>
          <a:xfrm>
            <a:off x="502920" y="292608"/>
            <a:ext cx="112471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2700"/>
              <a:buFont typeface="Play"/>
              <a:buNone/>
            </a:pPr>
            <a:r>
              <a:rPr b="1" i="0" lang="en-US" sz="2700" u="none" cap="none" strike="noStrike">
                <a:solidFill>
                  <a:srgbClr val="12355B"/>
                </a:solidFill>
                <a:latin typeface="Play"/>
                <a:ea typeface="Play"/>
                <a:cs typeface="Play"/>
                <a:sym typeface="Play"/>
              </a:rPr>
              <a:t>Adjacency Matrix: Undirected Unweighted Graph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4"/>
          <p:cNvSpPr/>
          <p:nvPr/>
        </p:nvSpPr>
        <p:spPr>
          <a:xfrm>
            <a:off x="530352" y="777240"/>
            <a:ext cx="11155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Example from the driver: edges are added in both directions.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4"/>
          <p:cNvSpPr/>
          <p:nvPr/>
        </p:nvSpPr>
        <p:spPr>
          <a:xfrm>
            <a:off x="777240" y="1097280"/>
            <a:ext cx="4023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Graph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9" name="Google Shape;179;p4"/>
          <p:cNvCxnSpPr/>
          <p:nvPr/>
        </p:nvCxnSpPr>
        <p:spPr>
          <a:xfrm flipH="1" rot="10800000">
            <a:off x="1499274" y="1976516"/>
            <a:ext cx="1207693" cy="710408"/>
          </a:xfrm>
          <a:prstGeom prst="straightConnector1">
            <a:avLst/>
          </a:prstGeom>
          <a:noFill/>
          <a:ln cap="flat" cmpd="sng" w="14600">
            <a:solidFill>
              <a:srgbClr val="44444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0" name="Google Shape;180;p4"/>
          <p:cNvCxnSpPr/>
          <p:nvPr/>
        </p:nvCxnSpPr>
        <p:spPr>
          <a:xfrm>
            <a:off x="1426894" y="2962888"/>
            <a:ext cx="620933" cy="1069384"/>
          </a:xfrm>
          <a:prstGeom prst="straightConnector1">
            <a:avLst/>
          </a:prstGeom>
          <a:noFill/>
          <a:ln cap="flat" cmpd="sng" w="14600">
            <a:solidFill>
              <a:srgbClr val="44444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1" name="Google Shape;181;p4"/>
          <p:cNvCxnSpPr/>
          <p:nvPr/>
        </p:nvCxnSpPr>
        <p:spPr>
          <a:xfrm flipH="1">
            <a:off x="2209057" y="2066464"/>
            <a:ext cx="611085" cy="1947833"/>
          </a:xfrm>
          <a:prstGeom prst="straightConnector1">
            <a:avLst/>
          </a:prstGeom>
          <a:noFill/>
          <a:ln cap="flat" cmpd="sng" w="14600">
            <a:solidFill>
              <a:srgbClr val="44444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2" name="Google Shape;182;p4"/>
          <p:cNvCxnSpPr/>
          <p:nvPr/>
        </p:nvCxnSpPr>
        <p:spPr>
          <a:xfrm>
            <a:off x="3006761" y="2031017"/>
            <a:ext cx="707317" cy="875726"/>
          </a:xfrm>
          <a:prstGeom prst="straightConnector1">
            <a:avLst/>
          </a:prstGeom>
          <a:noFill/>
          <a:ln cap="flat" cmpd="sng" w="14600">
            <a:solidFill>
              <a:srgbClr val="44444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3" name="Google Shape;183;p4"/>
          <p:cNvCxnSpPr/>
          <p:nvPr/>
        </p:nvCxnSpPr>
        <p:spPr>
          <a:xfrm>
            <a:off x="2954012" y="2061720"/>
            <a:ext cx="949975" cy="2414520"/>
          </a:xfrm>
          <a:prstGeom prst="straightConnector1">
            <a:avLst/>
          </a:prstGeom>
          <a:noFill/>
          <a:ln cap="flat" cmpd="sng" w="14600">
            <a:solidFill>
              <a:srgbClr val="44444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4" name="Google Shape;184;p4"/>
          <p:cNvCxnSpPr/>
          <p:nvPr/>
        </p:nvCxnSpPr>
        <p:spPr>
          <a:xfrm>
            <a:off x="3857660" y="3263673"/>
            <a:ext cx="102800" cy="1199334"/>
          </a:xfrm>
          <a:prstGeom prst="straightConnector1">
            <a:avLst/>
          </a:prstGeom>
          <a:noFill/>
          <a:ln cap="flat" cmpd="sng" w="14600">
            <a:solidFill>
              <a:srgbClr val="44444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5" name="Google Shape;185;p4"/>
          <p:cNvCxnSpPr/>
          <p:nvPr/>
        </p:nvCxnSpPr>
        <p:spPr>
          <a:xfrm>
            <a:off x="2344002" y="4255030"/>
            <a:ext cx="1438477" cy="359619"/>
          </a:xfrm>
          <a:prstGeom prst="straightConnector1">
            <a:avLst/>
          </a:prstGeom>
          <a:noFill/>
          <a:ln cap="flat" cmpd="sng" w="14600">
            <a:solidFill>
              <a:srgbClr val="44444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6" name="Google Shape;186;p4"/>
          <p:cNvSpPr/>
          <p:nvPr/>
        </p:nvSpPr>
        <p:spPr>
          <a:xfrm>
            <a:off x="1124712" y="2587752"/>
            <a:ext cx="402336" cy="402336"/>
          </a:xfrm>
          <a:prstGeom prst="ellipse">
            <a:avLst/>
          </a:prstGeom>
          <a:solidFill>
            <a:srgbClr val="BFD7EA"/>
          </a:solidFill>
          <a:ln cap="flat" cmpd="sng" w="13950">
            <a:solidFill>
              <a:srgbClr val="6E8D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4"/>
          <p:cNvSpPr/>
          <p:nvPr/>
        </p:nvSpPr>
        <p:spPr>
          <a:xfrm>
            <a:off x="1216152" y="2688336"/>
            <a:ext cx="21945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4"/>
          <p:cNvSpPr/>
          <p:nvPr/>
        </p:nvSpPr>
        <p:spPr>
          <a:xfrm>
            <a:off x="2679192" y="1673352"/>
            <a:ext cx="402336" cy="402336"/>
          </a:xfrm>
          <a:prstGeom prst="ellipse">
            <a:avLst/>
          </a:prstGeom>
          <a:solidFill>
            <a:srgbClr val="BFD7EA"/>
          </a:solidFill>
          <a:ln cap="flat" cmpd="sng" w="13950">
            <a:solidFill>
              <a:srgbClr val="6E8D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4"/>
          <p:cNvSpPr/>
          <p:nvPr/>
        </p:nvSpPr>
        <p:spPr>
          <a:xfrm>
            <a:off x="2770632" y="1773936"/>
            <a:ext cx="21945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4"/>
          <p:cNvSpPr/>
          <p:nvPr/>
        </p:nvSpPr>
        <p:spPr>
          <a:xfrm>
            <a:off x="3639312" y="2862072"/>
            <a:ext cx="402336" cy="402336"/>
          </a:xfrm>
          <a:prstGeom prst="ellipse">
            <a:avLst/>
          </a:prstGeom>
          <a:solidFill>
            <a:srgbClr val="BFD7EA"/>
          </a:solidFill>
          <a:ln cap="flat" cmpd="sng" w="13950">
            <a:solidFill>
              <a:srgbClr val="6E8D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4"/>
          <p:cNvSpPr/>
          <p:nvPr/>
        </p:nvSpPr>
        <p:spPr>
          <a:xfrm>
            <a:off x="3730752" y="2962656"/>
            <a:ext cx="21945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4"/>
          <p:cNvSpPr/>
          <p:nvPr/>
        </p:nvSpPr>
        <p:spPr>
          <a:xfrm>
            <a:off x="1947672" y="4005072"/>
            <a:ext cx="402336" cy="402336"/>
          </a:xfrm>
          <a:prstGeom prst="ellipse">
            <a:avLst/>
          </a:prstGeom>
          <a:solidFill>
            <a:srgbClr val="BFD7EA"/>
          </a:solidFill>
          <a:ln cap="flat" cmpd="sng" w="13950">
            <a:solidFill>
              <a:srgbClr val="6E8D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4"/>
          <p:cNvSpPr/>
          <p:nvPr/>
        </p:nvSpPr>
        <p:spPr>
          <a:xfrm>
            <a:off x="2039112" y="4105656"/>
            <a:ext cx="21945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4"/>
          <p:cNvSpPr/>
          <p:nvPr/>
        </p:nvSpPr>
        <p:spPr>
          <a:xfrm>
            <a:off x="3776472" y="4462272"/>
            <a:ext cx="402336" cy="402336"/>
          </a:xfrm>
          <a:prstGeom prst="ellipse">
            <a:avLst/>
          </a:prstGeom>
          <a:solidFill>
            <a:srgbClr val="BFD7EA"/>
          </a:solidFill>
          <a:ln cap="flat" cmpd="sng" w="13950">
            <a:solidFill>
              <a:srgbClr val="6E8D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4"/>
          <p:cNvSpPr/>
          <p:nvPr/>
        </p:nvSpPr>
        <p:spPr>
          <a:xfrm>
            <a:off x="3867912" y="4562856"/>
            <a:ext cx="21945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4"/>
          <p:cNvSpPr/>
          <p:nvPr/>
        </p:nvSpPr>
        <p:spPr>
          <a:xfrm>
            <a:off x="6355080" y="1097280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Adjacency Matrix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4"/>
          <p:cNvSpPr/>
          <p:nvPr/>
        </p:nvSpPr>
        <p:spPr>
          <a:xfrm>
            <a:off x="6629400" y="1454810"/>
            <a:ext cx="493776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C27B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9C27B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4"/>
          <p:cNvSpPr/>
          <p:nvPr/>
        </p:nvSpPr>
        <p:spPr>
          <a:xfrm>
            <a:off x="7123176" y="1454810"/>
            <a:ext cx="493776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C27B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9C27B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4"/>
          <p:cNvSpPr/>
          <p:nvPr/>
        </p:nvSpPr>
        <p:spPr>
          <a:xfrm>
            <a:off x="7616952" y="1454810"/>
            <a:ext cx="493776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C27B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9C27B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4"/>
          <p:cNvSpPr/>
          <p:nvPr/>
        </p:nvSpPr>
        <p:spPr>
          <a:xfrm>
            <a:off x="8110728" y="1454810"/>
            <a:ext cx="493776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C27B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9C27B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4"/>
          <p:cNvSpPr/>
          <p:nvPr/>
        </p:nvSpPr>
        <p:spPr>
          <a:xfrm>
            <a:off x="8604504" y="1454810"/>
            <a:ext cx="493776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C27B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9C27B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4"/>
          <p:cNvSpPr/>
          <p:nvPr/>
        </p:nvSpPr>
        <p:spPr>
          <a:xfrm>
            <a:off x="6283757" y="1958462"/>
            <a:ext cx="246888" cy="2073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C27B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9C27B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4"/>
          <p:cNvSpPr/>
          <p:nvPr/>
        </p:nvSpPr>
        <p:spPr>
          <a:xfrm>
            <a:off x="6629400" y="1874520"/>
            <a:ext cx="493776" cy="49377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4"/>
          <p:cNvSpPr/>
          <p:nvPr/>
        </p:nvSpPr>
        <p:spPr>
          <a:xfrm>
            <a:off x="6629400" y="1958462"/>
            <a:ext cx="493776" cy="1728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4"/>
          <p:cNvSpPr/>
          <p:nvPr/>
        </p:nvSpPr>
        <p:spPr>
          <a:xfrm>
            <a:off x="7123176" y="1874520"/>
            <a:ext cx="493776" cy="49377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4"/>
          <p:cNvSpPr/>
          <p:nvPr/>
        </p:nvSpPr>
        <p:spPr>
          <a:xfrm>
            <a:off x="7123176" y="1958462"/>
            <a:ext cx="493776" cy="1728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4"/>
          <p:cNvSpPr/>
          <p:nvPr/>
        </p:nvSpPr>
        <p:spPr>
          <a:xfrm>
            <a:off x="7616952" y="1874520"/>
            <a:ext cx="493776" cy="49377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4"/>
          <p:cNvSpPr/>
          <p:nvPr/>
        </p:nvSpPr>
        <p:spPr>
          <a:xfrm>
            <a:off x="7616952" y="1958462"/>
            <a:ext cx="493776" cy="1728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4"/>
          <p:cNvSpPr/>
          <p:nvPr/>
        </p:nvSpPr>
        <p:spPr>
          <a:xfrm>
            <a:off x="8110728" y="1874520"/>
            <a:ext cx="493776" cy="49377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4"/>
          <p:cNvSpPr/>
          <p:nvPr/>
        </p:nvSpPr>
        <p:spPr>
          <a:xfrm>
            <a:off x="8110728" y="1958462"/>
            <a:ext cx="493776" cy="1728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4"/>
          <p:cNvSpPr/>
          <p:nvPr/>
        </p:nvSpPr>
        <p:spPr>
          <a:xfrm>
            <a:off x="8604504" y="1874520"/>
            <a:ext cx="493776" cy="49377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4"/>
          <p:cNvSpPr/>
          <p:nvPr/>
        </p:nvSpPr>
        <p:spPr>
          <a:xfrm>
            <a:off x="8604504" y="1958462"/>
            <a:ext cx="493776" cy="1728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4"/>
          <p:cNvSpPr/>
          <p:nvPr/>
        </p:nvSpPr>
        <p:spPr>
          <a:xfrm>
            <a:off x="6283757" y="2452238"/>
            <a:ext cx="246888" cy="2073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C27B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9C27B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4"/>
          <p:cNvSpPr/>
          <p:nvPr/>
        </p:nvSpPr>
        <p:spPr>
          <a:xfrm>
            <a:off x="6629400" y="2368296"/>
            <a:ext cx="493776" cy="49377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4"/>
          <p:cNvSpPr/>
          <p:nvPr/>
        </p:nvSpPr>
        <p:spPr>
          <a:xfrm>
            <a:off x="6629400" y="2452238"/>
            <a:ext cx="493776" cy="1728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4"/>
          <p:cNvSpPr/>
          <p:nvPr/>
        </p:nvSpPr>
        <p:spPr>
          <a:xfrm>
            <a:off x="7123176" y="2368296"/>
            <a:ext cx="493776" cy="49377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4"/>
          <p:cNvSpPr/>
          <p:nvPr/>
        </p:nvSpPr>
        <p:spPr>
          <a:xfrm>
            <a:off x="7123176" y="2452238"/>
            <a:ext cx="493776" cy="1728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4"/>
          <p:cNvSpPr/>
          <p:nvPr/>
        </p:nvSpPr>
        <p:spPr>
          <a:xfrm>
            <a:off x="7616952" y="2368296"/>
            <a:ext cx="493776" cy="49377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4"/>
          <p:cNvSpPr/>
          <p:nvPr/>
        </p:nvSpPr>
        <p:spPr>
          <a:xfrm>
            <a:off x="7616952" y="2452238"/>
            <a:ext cx="493776" cy="1728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4"/>
          <p:cNvSpPr/>
          <p:nvPr/>
        </p:nvSpPr>
        <p:spPr>
          <a:xfrm>
            <a:off x="8110728" y="2368296"/>
            <a:ext cx="493776" cy="49377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4"/>
          <p:cNvSpPr/>
          <p:nvPr/>
        </p:nvSpPr>
        <p:spPr>
          <a:xfrm>
            <a:off x="8110728" y="2452238"/>
            <a:ext cx="493776" cy="1728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4"/>
          <p:cNvSpPr/>
          <p:nvPr/>
        </p:nvSpPr>
        <p:spPr>
          <a:xfrm>
            <a:off x="8604504" y="2368296"/>
            <a:ext cx="493776" cy="49377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4"/>
          <p:cNvSpPr/>
          <p:nvPr/>
        </p:nvSpPr>
        <p:spPr>
          <a:xfrm>
            <a:off x="8604504" y="2452238"/>
            <a:ext cx="493776" cy="1728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4"/>
          <p:cNvSpPr/>
          <p:nvPr/>
        </p:nvSpPr>
        <p:spPr>
          <a:xfrm>
            <a:off x="6283757" y="2946014"/>
            <a:ext cx="246888" cy="2073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C27B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9C27B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4"/>
          <p:cNvSpPr/>
          <p:nvPr/>
        </p:nvSpPr>
        <p:spPr>
          <a:xfrm>
            <a:off x="6629400" y="2862072"/>
            <a:ext cx="493776" cy="49377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4"/>
          <p:cNvSpPr/>
          <p:nvPr/>
        </p:nvSpPr>
        <p:spPr>
          <a:xfrm>
            <a:off x="6629400" y="2946014"/>
            <a:ext cx="493776" cy="1728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4"/>
          <p:cNvSpPr/>
          <p:nvPr/>
        </p:nvSpPr>
        <p:spPr>
          <a:xfrm>
            <a:off x="7123176" y="2862072"/>
            <a:ext cx="493776" cy="49377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4"/>
          <p:cNvSpPr/>
          <p:nvPr/>
        </p:nvSpPr>
        <p:spPr>
          <a:xfrm>
            <a:off x="7123176" y="2946014"/>
            <a:ext cx="493776" cy="1728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4"/>
          <p:cNvSpPr/>
          <p:nvPr/>
        </p:nvSpPr>
        <p:spPr>
          <a:xfrm>
            <a:off x="7616952" y="2862072"/>
            <a:ext cx="493776" cy="49377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4"/>
          <p:cNvSpPr/>
          <p:nvPr/>
        </p:nvSpPr>
        <p:spPr>
          <a:xfrm>
            <a:off x="7616952" y="2946014"/>
            <a:ext cx="493776" cy="1728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4"/>
          <p:cNvSpPr/>
          <p:nvPr/>
        </p:nvSpPr>
        <p:spPr>
          <a:xfrm>
            <a:off x="8110728" y="2862072"/>
            <a:ext cx="493776" cy="49377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4"/>
          <p:cNvSpPr/>
          <p:nvPr/>
        </p:nvSpPr>
        <p:spPr>
          <a:xfrm>
            <a:off x="8110728" y="2946014"/>
            <a:ext cx="493776" cy="1728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4"/>
          <p:cNvSpPr/>
          <p:nvPr/>
        </p:nvSpPr>
        <p:spPr>
          <a:xfrm>
            <a:off x="8604504" y="2862072"/>
            <a:ext cx="493776" cy="49377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4"/>
          <p:cNvSpPr/>
          <p:nvPr/>
        </p:nvSpPr>
        <p:spPr>
          <a:xfrm>
            <a:off x="8604504" y="2946014"/>
            <a:ext cx="493776" cy="1728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4"/>
          <p:cNvSpPr/>
          <p:nvPr/>
        </p:nvSpPr>
        <p:spPr>
          <a:xfrm>
            <a:off x="6283757" y="3439790"/>
            <a:ext cx="246888" cy="2073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C27B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9C27B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4"/>
          <p:cNvSpPr/>
          <p:nvPr/>
        </p:nvSpPr>
        <p:spPr>
          <a:xfrm>
            <a:off x="6629400" y="3355848"/>
            <a:ext cx="493776" cy="49377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4"/>
          <p:cNvSpPr/>
          <p:nvPr/>
        </p:nvSpPr>
        <p:spPr>
          <a:xfrm>
            <a:off x="6629400" y="3439790"/>
            <a:ext cx="493776" cy="1728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4"/>
          <p:cNvSpPr/>
          <p:nvPr/>
        </p:nvSpPr>
        <p:spPr>
          <a:xfrm>
            <a:off x="7123176" y="3355848"/>
            <a:ext cx="493776" cy="49377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4"/>
          <p:cNvSpPr/>
          <p:nvPr/>
        </p:nvSpPr>
        <p:spPr>
          <a:xfrm>
            <a:off x="7123176" y="3439790"/>
            <a:ext cx="493776" cy="1728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4"/>
          <p:cNvSpPr/>
          <p:nvPr/>
        </p:nvSpPr>
        <p:spPr>
          <a:xfrm>
            <a:off x="7616952" y="3355848"/>
            <a:ext cx="493776" cy="49377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4"/>
          <p:cNvSpPr/>
          <p:nvPr/>
        </p:nvSpPr>
        <p:spPr>
          <a:xfrm>
            <a:off x="7616952" y="3439790"/>
            <a:ext cx="493776" cy="1728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4"/>
          <p:cNvSpPr/>
          <p:nvPr/>
        </p:nvSpPr>
        <p:spPr>
          <a:xfrm>
            <a:off x="8110728" y="3355848"/>
            <a:ext cx="493776" cy="49377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4"/>
          <p:cNvSpPr/>
          <p:nvPr/>
        </p:nvSpPr>
        <p:spPr>
          <a:xfrm>
            <a:off x="8110728" y="3439790"/>
            <a:ext cx="493776" cy="1728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4"/>
          <p:cNvSpPr/>
          <p:nvPr/>
        </p:nvSpPr>
        <p:spPr>
          <a:xfrm>
            <a:off x="8604504" y="3355848"/>
            <a:ext cx="493776" cy="49377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4"/>
          <p:cNvSpPr/>
          <p:nvPr/>
        </p:nvSpPr>
        <p:spPr>
          <a:xfrm>
            <a:off x="8604504" y="3439790"/>
            <a:ext cx="493776" cy="1728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4"/>
          <p:cNvSpPr/>
          <p:nvPr/>
        </p:nvSpPr>
        <p:spPr>
          <a:xfrm>
            <a:off x="6283757" y="3933566"/>
            <a:ext cx="246888" cy="2073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C27B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9C27B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4"/>
          <p:cNvSpPr/>
          <p:nvPr/>
        </p:nvSpPr>
        <p:spPr>
          <a:xfrm>
            <a:off x="6629400" y="3849624"/>
            <a:ext cx="493776" cy="49377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4"/>
          <p:cNvSpPr/>
          <p:nvPr/>
        </p:nvSpPr>
        <p:spPr>
          <a:xfrm>
            <a:off x="6629400" y="3933566"/>
            <a:ext cx="493776" cy="1728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4"/>
          <p:cNvSpPr/>
          <p:nvPr/>
        </p:nvSpPr>
        <p:spPr>
          <a:xfrm>
            <a:off x="7123176" y="3849624"/>
            <a:ext cx="493776" cy="49377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4"/>
          <p:cNvSpPr/>
          <p:nvPr/>
        </p:nvSpPr>
        <p:spPr>
          <a:xfrm>
            <a:off x="7123176" y="3933566"/>
            <a:ext cx="493776" cy="1728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4"/>
          <p:cNvSpPr/>
          <p:nvPr/>
        </p:nvSpPr>
        <p:spPr>
          <a:xfrm>
            <a:off x="7616952" y="3849624"/>
            <a:ext cx="493776" cy="49377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4"/>
          <p:cNvSpPr/>
          <p:nvPr/>
        </p:nvSpPr>
        <p:spPr>
          <a:xfrm>
            <a:off x="7616952" y="3933566"/>
            <a:ext cx="493776" cy="1728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4"/>
          <p:cNvSpPr/>
          <p:nvPr/>
        </p:nvSpPr>
        <p:spPr>
          <a:xfrm>
            <a:off x="8110728" y="3849624"/>
            <a:ext cx="493776" cy="49377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4"/>
          <p:cNvSpPr/>
          <p:nvPr/>
        </p:nvSpPr>
        <p:spPr>
          <a:xfrm>
            <a:off x="8110728" y="3933566"/>
            <a:ext cx="493776" cy="1728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4"/>
          <p:cNvSpPr/>
          <p:nvPr/>
        </p:nvSpPr>
        <p:spPr>
          <a:xfrm>
            <a:off x="8604504" y="3849624"/>
            <a:ext cx="493776" cy="49377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4"/>
          <p:cNvSpPr/>
          <p:nvPr/>
        </p:nvSpPr>
        <p:spPr>
          <a:xfrm>
            <a:off x="8604504" y="3933566"/>
            <a:ext cx="493776" cy="1728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4"/>
          <p:cNvSpPr/>
          <p:nvPr/>
        </p:nvSpPr>
        <p:spPr>
          <a:xfrm>
            <a:off x="6144768" y="4709160"/>
            <a:ext cx="4892040" cy="1024128"/>
          </a:xfrm>
          <a:prstGeom prst="roundRect">
            <a:avLst>
              <a:gd fmla="val 7143" name="adj"/>
            </a:avLst>
          </a:prstGeom>
          <a:solidFill>
            <a:srgbClr val="F1F8E9"/>
          </a:solidFill>
          <a:ln cap="flat" cmpd="sng" w="13950">
            <a:solidFill>
              <a:srgbClr val="9BB7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4"/>
          <p:cNvSpPr/>
          <p:nvPr/>
        </p:nvSpPr>
        <p:spPr>
          <a:xfrm>
            <a:off x="6281928" y="4818888"/>
            <a:ext cx="46177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Observation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4"/>
          <p:cNvSpPr/>
          <p:nvPr/>
        </p:nvSpPr>
        <p:spPr>
          <a:xfrm>
            <a:off x="6281928" y="5120640"/>
            <a:ext cx="4617720" cy="521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matrix is symmetric.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 every 1 in A[u][v], there is a matching 1 in A[v][u].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4"/>
          <p:cNvSpPr txBox="1"/>
          <p:nvPr>
            <p:ph idx="4294967295" type="sldNum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5"/>
          <p:cNvSpPr/>
          <p:nvPr/>
        </p:nvSpPr>
        <p:spPr>
          <a:xfrm>
            <a:off x="502920" y="292608"/>
            <a:ext cx="112471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2700"/>
              <a:buFont typeface="Play"/>
              <a:buNone/>
            </a:pPr>
            <a:r>
              <a:rPr b="1" i="0" lang="en-US" sz="2700" u="none" cap="none" strike="noStrike">
                <a:solidFill>
                  <a:srgbClr val="12355B"/>
                </a:solidFill>
                <a:latin typeface="Play"/>
                <a:ea typeface="Play"/>
                <a:cs typeface="Play"/>
                <a:sym typeface="Play"/>
              </a:rPr>
              <a:t>Editable Java: Undirected Unweighted Matrix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5"/>
          <p:cNvSpPr/>
          <p:nvPr/>
        </p:nvSpPr>
        <p:spPr>
          <a:xfrm>
            <a:off x="530352" y="777240"/>
            <a:ext cx="11155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Core class code is editable.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5"/>
          <p:cNvSpPr/>
          <p:nvPr/>
        </p:nvSpPr>
        <p:spPr>
          <a:xfrm>
            <a:off x="594360" y="1051560"/>
            <a:ext cx="6583680" cy="5303520"/>
          </a:xfrm>
          <a:prstGeom prst="roundRect">
            <a:avLst>
              <a:gd fmla="val 862" name="adj"/>
            </a:avLst>
          </a:prstGeom>
          <a:solidFill>
            <a:srgbClr val="F7F7F7"/>
          </a:solidFill>
          <a:ln cap="flat" cmpd="sng" w="10150">
            <a:solidFill>
              <a:srgbClr val="BDBD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5"/>
          <p:cNvSpPr/>
          <p:nvPr/>
        </p:nvSpPr>
        <p:spPr>
          <a:xfrm>
            <a:off x="704088" y="1124712"/>
            <a:ext cx="6364224" cy="5157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70"/>
              <a:buFont typeface="Consolas"/>
              <a:buNone/>
            </a:pPr>
            <a:r>
              <a:rPr b="0" i="0" lang="en-US" sz="77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public class GraphUndirectedUnweightedMatrix {</a:t>
            </a:r>
            <a:endParaRPr b="0" i="0" sz="7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70"/>
              <a:buFont typeface="Consolas"/>
              <a:buNone/>
            </a:pPr>
            <a:r>
              <a:rPr b="0" i="0" lang="en-US" sz="77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private int numVertices;</a:t>
            </a:r>
            <a:endParaRPr b="0" i="0" sz="7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70"/>
              <a:buFont typeface="Consolas"/>
              <a:buNone/>
            </a:pPr>
            <a:r>
              <a:rPr b="0" i="0" lang="en-US" sz="77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private int[][] adjMatrix;</a:t>
            </a:r>
            <a:endParaRPr b="0" i="0" sz="7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t/>
            </a:r>
            <a:endParaRPr b="0" i="0" sz="7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70"/>
              <a:buFont typeface="Consolas"/>
              <a:buNone/>
            </a:pPr>
            <a:r>
              <a:rPr b="0" i="0" lang="en-US" sz="77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public GraphUndirectedUnweightedMatrix(int numVertices) {</a:t>
            </a:r>
            <a:endParaRPr b="0" i="0" sz="7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70"/>
              <a:buFont typeface="Consolas"/>
              <a:buNone/>
            </a:pPr>
            <a:r>
              <a:rPr b="0" i="0" lang="en-US" sz="77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this.numVertices = numVertices;</a:t>
            </a:r>
            <a:endParaRPr b="0" i="0" sz="7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70"/>
              <a:buFont typeface="Consolas"/>
              <a:buNone/>
            </a:pPr>
            <a:r>
              <a:rPr b="0" i="0" lang="en-US" sz="77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adjMatrix = new int[numVertices][numVertices];</a:t>
            </a:r>
            <a:endParaRPr b="0" i="0" sz="7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70"/>
              <a:buFont typeface="Consolas"/>
              <a:buNone/>
            </a:pPr>
            <a:r>
              <a:rPr b="0" i="0" lang="en-US" sz="77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b="0" i="0" sz="7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t/>
            </a:r>
            <a:endParaRPr b="0" i="0" sz="7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70"/>
              <a:buFont typeface="Consolas"/>
              <a:buNone/>
            </a:pPr>
            <a:r>
              <a:rPr b="0" i="0" lang="en-US" sz="77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public void addEdges(int[][] edges) {</a:t>
            </a:r>
            <a:endParaRPr b="0" i="0" sz="7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70"/>
              <a:buFont typeface="Consolas"/>
              <a:buNone/>
            </a:pPr>
            <a:r>
              <a:rPr b="0" i="0" lang="en-US" sz="77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for (int i = 0; i &lt; edges.length; i++) {</a:t>
            </a:r>
            <a:endParaRPr b="0" i="0" sz="7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70"/>
              <a:buFont typeface="Consolas"/>
              <a:buNone/>
            </a:pPr>
            <a:r>
              <a:rPr b="0" i="0" lang="en-US" sz="77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    int source = edges[i][0];</a:t>
            </a:r>
            <a:endParaRPr b="0" i="0" sz="7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70"/>
              <a:buFont typeface="Consolas"/>
              <a:buNone/>
            </a:pPr>
            <a:r>
              <a:rPr b="0" i="0" lang="en-US" sz="77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    int destination = edges[i][1];</a:t>
            </a:r>
            <a:endParaRPr b="0" i="0" sz="7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70"/>
              <a:buFont typeface="Consolas"/>
              <a:buNone/>
            </a:pPr>
            <a:r>
              <a:rPr b="0" i="0" lang="en-US" sz="77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    adjMatrix[source][destination] = 1;</a:t>
            </a:r>
            <a:endParaRPr b="0" i="0" sz="7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70"/>
              <a:buFont typeface="Consolas"/>
              <a:buNone/>
            </a:pPr>
            <a:r>
              <a:rPr b="0" i="0" lang="en-US" sz="77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    adjMatrix[destination][source] = 1;</a:t>
            </a:r>
            <a:endParaRPr b="0" i="0" sz="7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70"/>
              <a:buFont typeface="Consolas"/>
              <a:buNone/>
            </a:pPr>
            <a:r>
              <a:rPr b="0" i="0" lang="en-US" sz="77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b="0" i="0" sz="7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70"/>
              <a:buFont typeface="Consolas"/>
              <a:buNone/>
            </a:pPr>
            <a:r>
              <a:rPr b="0" i="0" lang="en-US" sz="77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b="0" i="0" sz="7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t/>
            </a:r>
            <a:endParaRPr b="0" i="0" sz="7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70"/>
              <a:buFont typeface="Consolas"/>
              <a:buNone/>
            </a:pPr>
            <a:r>
              <a:rPr b="0" i="0" lang="en-US" sz="77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public void printMatrix() {</a:t>
            </a:r>
            <a:endParaRPr b="0" i="0" sz="7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70"/>
              <a:buFont typeface="Consolas"/>
              <a:buNone/>
            </a:pPr>
            <a:r>
              <a:rPr b="0" i="0" lang="en-US" sz="77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System.out.println("Adjacency Matrix:");</a:t>
            </a:r>
            <a:endParaRPr b="0" i="0" sz="7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70"/>
              <a:buFont typeface="Consolas"/>
              <a:buNone/>
            </a:pPr>
            <a:r>
              <a:rPr b="0" i="0" lang="en-US" sz="77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for (int i = 0; i &lt; numVertices; i++) {</a:t>
            </a:r>
            <a:endParaRPr b="0" i="0" sz="7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70"/>
              <a:buFont typeface="Consolas"/>
              <a:buNone/>
            </a:pPr>
            <a:r>
              <a:rPr b="0" i="0" lang="en-US" sz="77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    for (int j = 0; j &lt; numVertices; j++)</a:t>
            </a:r>
            <a:endParaRPr b="0" i="0" sz="7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70"/>
              <a:buFont typeface="Consolas"/>
              <a:buNone/>
            </a:pPr>
            <a:r>
              <a:rPr b="0" i="0" lang="en-US" sz="77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        System.out.print(adjMatrix[i][j] + " ");</a:t>
            </a:r>
            <a:endParaRPr b="0" i="0" sz="7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70"/>
              <a:buFont typeface="Consolas"/>
              <a:buNone/>
            </a:pPr>
            <a:r>
              <a:rPr b="0" i="0" lang="en-US" sz="77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    System.out.println();</a:t>
            </a:r>
            <a:endParaRPr b="0" i="0" sz="7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70"/>
              <a:buFont typeface="Consolas"/>
              <a:buNone/>
            </a:pPr>
            <a:r>
              <a:rPr b="0" i="0" lang="en-US" sz="77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b="0" i="0" sz="7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70"/>
              <a:buFont typeface="Consolas"/>
              <a:buNone/>
            </a:pPr>
            <a:r>
              <a:rPr b="0" i="0" lang="en-US" sz="77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b="0" i="0" sz="7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t/>
            </a:r>
            <a:endParaRPr b="0" i="0" sz="7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70"/>
              <a:buFont typeface="Consolas"/>
              <a:buNone/>
            </a:pPr>
            <a:r>
              <a:rPr b="0" i="0" lang="en-US" sz="77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public void findNeighbors(int vertex) {</a:t>
            </a:r>
            <a:endParaRPr b="0" i="0" sz="7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70"/>
              <a:buFont typeface="Consolas"/>
              <a:buNone/>
            </a:pPr>
            <a:r>
              <a:rPr b="0" i="0" lang="en-US" sz="77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System.out.print("Neighbors of vertex " + vertex + ": ");</a:t>
            </a:r>
            <a:endParaRPr b="0" i="0" sz="7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70"/>
              <a:buFont typeface="Consolas"/>
              <a:buNone/>
            </a:pPr>
            <a:r>
              <a:rPr b="0" i="0" lang="en-US" sz="77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for (int i = 0; i &lt; numVertices; i++)</a:t>
            </a:r>
            <a:endParaRPr b="0" i="0" sz="7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70"/>
              <a:buFont typeface="Consolas"/>
              <a:buNone/>
            </a:pPr>
            <a:r>
              <a:rPr b="0" i="0" lang="en-US" sz="77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    if (adjMatrix[vertex][i] == 1) System.out.print(i + " ");</a:t>
            </a:r>
            <a:endParaRPr b="0" i="0" sz="7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70"/>
              <a:buFont typeface="Consolas"/>
              <a:buNone/>
            </a:pPr>
            <a:r>
              <a:rPr b="0" i="0" lang="en-US" sz="77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System.out.println();</a:t>
            </a:r>
            <a:endParaRPr b="0" i="0" sz="7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70"/>
              <a:buFont typeface="Consolas"/>
              <a:buNone/>
            </a:pPr>
            <a:r>
              <a:rPr b="0" i="0" lang="en-US" sz="77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b="0" i="0" sz="7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70"/>
              <a:buFont typeface="Consolas"/>
              <a:buNone/>
            </a:pPr>
            <a:r>
              <a:rPr b="0" i="0" lang="en-US" sz="77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7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5"/>
          <p:cNvSpPr/>
          <p:nvPr/>
        </p:nvSpPr>
        <p:spPr>
          <a:xfrm>
            <a:off x="7479792" y="1417320"/>
            <a:ext cx="4069080" cy="960120"/>
          </a:xfrm>
          <a:prstGeom prst="roundRect">
            <a:avLst>
              <a:gd fmla="val 7619" name="adj"/>
            </a:avLst>
          </a:prstGeom>
          <a:solidFill>
            <a:srgbClr val="FFF2CC"/>
          </a:solidFill>
          <a:ln cap="flat" cmpd="sng" w="13950">
            <a:solidFill>
              <a:srgbClr val="9BB7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5"/>
          <p:cNvSpPr/>
          <p:nvPr/>
        </p:nvSpPr>
        <p:spPr>
          <a:xfrm>
            <a:off x="7616952" y="1527048"/>
            <a:ext cx="3794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Insertion rule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5"/>
          <p:cNvSpPr/>
          <p:nvPr/>
        </p:nvSpPr>
        <p:spPr>
          <a:xfrm>
            <a:off x="7616952" y="1828800"/>
            <a:ext cx="3794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Because the graph is undirected, one edge creates two matrix updates.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5"/>
          <p:cNvSpPr/>
          <p:nvPr/>
        </p:nvSpPr>
        <p:spPr>
          <a:xfrm>
            <a:off x="7479792" y="2697480"/>
            <a:ext cx="4069080" cy="1874520"/>
          </a:xfrm>
          <a:prstGeom prst="roundRect">
            <a:avLst>
              <a:gd fmla="val 2439" name="adj"/>
            </a:avLst>
          </a:prstGeom>
          <a:solidFill>
            <a:srgbClr val="F7F7F7"/>
          </a:solidFill>
          <a:ln cap="flat" cmpd="sng" w="10150">
            <a:solidFill>
              <a:srgbClr val="BDBD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5"/>
          <p:cNvSpPr/>
          <p:nvPr/>
        </p:nvSpPr>
        <p:spPr>
          <a:xfrm>
            <a:off x="7589520" y="2770632"/>
            <a:ext cx="3849624" cy="1728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30"/>
              <a:buFont typeface="Consolas"/>
              <a:buNone/>
            </a:pPr>
            <a:r>
              <a:rPr b="0" i="0" lang="en-US" sz="83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int[][] edges = {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30"/>
              <a:buFont typeface="Consolas"/>
              <a:buNone/>
            </a:pPr>
            <a:r>
              <a:rPr b="0" i="0" lang="en-US" sz="83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{0,1}, {0,3},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30"/>
              <a:buFont typeface="Consolas"/>
              <a:buNone/>
            </a:pPr>
            <a:r>
              <a:rPr b="0" i="0" lang="en-US" sz="83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{1,3}, {1,2}, {1,4},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30"/>
              <a:buFont typeface="Consolas"/>
              <a:buNone/>
            </a:pPr>
            <a:r>
              <a:rPr b="0" i="0" lang="en-US" sz="83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{2,4},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30"/>
              <a:buFont typeface="Consolas"/>
              <a:buNone/>
            </a:pPr>
            <a:r>
              <a:rPr b="0" i="0" lang="en-US" sz="83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{3,4}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30"/>
              <a:buFont typeface="Consolas"/>
              <a:buNone/>
            </a:pPr>
            <a:r>
              <a:rPr b="0" i="0" lang="en-US" sz="83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};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30"/>
              <a:buFont typeface="Consolas"/>
              <a:buNone/>
            </a:pPr>
            <a:r>
              <a:rPr b="0" i="0" lang="en-US" sz="83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GraphUndirectedUnweightedMatrix graph =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30"/>
              <a:buFont typeface="Consolas"/>
              <a:buNone/>
            </a:pPr>
            <a:r>
              <a:rPr b="0" i="0" lang="en-US" sz="83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new GraphUndirectedUnweightedMatrix(5);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30"/>
              <a:buFont typeface="Consolas"/>
              <a:buNone/>
            </a:pPr>
            <a:r>
              <a:rPr b="0" i="0" lang="en-US" sz="83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graph.addEdges(edges);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5"/>
          <p:cNvSpPr/>
          <p:nvPr/>
        </p:nvSpPr>
        <p:spPr>
          <a:xfrm>
            <a:off x="7479792" y="4892040"/>
            <a:ext cx="4069080" cy="786384"/>
          </a:xfrm>
          <a:prstGeom prst="roundRect">
            <a:avLst>
              <a:gd fmla="val 9302" name="adj"/>
            </a:avLst>
          </a:prstGeom>
          <a:solidFill>
            <a:srgbClr val="F1F8E9"/>
          </a:solidFill>
          <a:ln cap="flat" cmpd="sng" w="13950">
            <a:solidFill>
              <a:srgbClr val="9BB7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5"/>
          <p:cNvSpPr/>
          <p:nvPr/>
        </p:nvSpPr>
        <p:spPr>
          <a:xfrm>
            <a:off x="7616952" y="5001768"/>
            <a:ext cx="3794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Result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5"/>
          <p:cNvSpPr/>
          <p:nvPr/>
        </p:nvSpPr>
        <p:spPr>
          <a:xfrm>
            <a:off x="7616952" y="5303520"/>
            <a:ext cx="379476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final matrix has 1s in symmetric positions.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5"/>
          <p:cNvSpPr txBox="1"/>
          <p:nvPr>
            <p:ph idx="4294967295" type="sldNum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6"/>
          <p:cNvSpPr/>
          <p:nvPr/>
        </p:nvSpPr>
        <p:spPr>
          <a:xfrm>
            <a:off x="502920" y="292608"/>
            <a:ext cx="112471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2700"/>
              <a:buFont typeface="Play"/>
              <a:buNone/>
            </a:pPr>
            <a:r>
              <a:rPr b="1" i="0" lang="en-US" sz="2700" u="none" cap="none" strike="noStrike">
                <a:solidFill>
                  <a:srgbClr val="12355B"/>
                </a:solidFill>
                <a:latin typeface="Play"/>
                <a:ea typeface="Play"/>
                <a:cs typeface="Play"/>
                <a:sym typeface="Play"/>
              </a:rPr>
              <a:t>Adjacency Matrix: Directed Unweighted Graph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6"/>
          <p:cNvSpPr/>
          <p:nvPr/>
        </p:nvSpPr>
        <p:spPr>
          <a:xfrm>
            <a:off x="530352" y="777240"/>
            <a:ext cx="11155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Some pairs are bidirectional, while some edges are one-way.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6"/>
          <p:cNvSpPr/>
          <p:nvPr/>
        </p:nvSpPr>
        <p:spPr>
          <a:xfrm>
            <a:off x="777240" y="1097280"/>
            <a:ext cx="4023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Graph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7" name="Google Shape;287;p6"/>
          <p:cNvCxnSpPr/>
          <p:nvPr/>
        </p:nvCxnSpPr>
        <p:spPr>
          <a:xfrm flipH="1" rot="10800000">
            <a:off x="1527091" y="2023805"/>
            <a:ext cx="1207693" cy="710408"/>
          </a:xfrm>
          <a:prstGeom prst="straightConnector1">
            <a:avLst/>
          </a:prstGeom>
          <a:noFill/>
          <a:ln cap="flat" cmpd="sng" w="14600">
            <a:solidFill>
              <a:srgbClr val="44444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8" name="Google Shape;288;p6"/>
          <p:cNvCxnSpPr/>
          <p:nvPr/>
        </p:nvCxnSpPr>
        <p:spPr>
          <a:xfrm>
            <a:off x="1525862" y="2810736"/>
            <a:ext cx="2114637" cy="230688"/>
          </a:xfrm>
          <a:prstGeom prst="straightConnector1">
            <a:avLst/>
          </a:prstGeom>
          <a:noFill/>
          <a:ln cap="flat" cmpd="sng" w="14600">
            <a:solidFill>
              <a:srgbClr val="44444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9" name="Google Shape;289;p6"/>
          <p:cNvCxnSpPr/>
          <p:nvPr/>
        </p:nvCxnSpPr>
        <p:spPr>
          <a:xfrm flipH="1">
            <a:off x="1471456" y="1929227"/>
            <a:ext cx="1207693" cy="710408"/>
          </a:xfrm>
          <a:prstGeom prst="straightConnector1">
            <a:avLst/>
          </a:prstGeom>
          <a:noFill/>
          <a:ln cap="flat" cmpd="sng" w="14600">
            <a:solidFill>
              <a:srgbClr val="44444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0" name="Google Shape;290;p6"/>
          <p:cNvCxnSpPr/>
          <p:nvPr/>
        </p:nvCxnSpPr>
        <p:spPr>
          <a:xfrm>
            <a:off x="2964080" y="2065490"/>
            <a:ext cx="707317" cy="875726"/>
          </a:xfrm>
          <a:prstGeom prst="straightConnector1">
            <a:avLst/>
          </a:prstGeom>
          <a:noFill/>
          <a:ln cap="flat" cmpd="sng" w="14600">
            <a:solidFill>
              <a:srgbClr val="44444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1" name="Google Shape;291;p6"/>
          <p:cNvCxnSpPr/>
          <p:nvPr/>
        </p:nvCxnSpPr>
        <p:spPr>
          <a:xfrm flipH="1">
            <a:off x="2209057" y="2066464"/>
            <a:ext cx="611085" cy="1947833"/>
          </a:xfrm>
          <a:prstGeom prst="straightConnector1">
            <a:avLst/>
          </a:prstGeom>
          <a:noFill/>
          <a:ln cap="flat" cmpd="sng" w="14600">
            <a:solidFill>
              <a:srgbClr val="44444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2" name="Google Shape;292;p6"/>
          <p:cNvCxnSpPr/>
          <p:nvPr/>
        </p:nvCxnSpPr>
        <p:spPr>
          <a:xfrm rot="10800000">
            <a:off x="3049443" y="1996544"/>
            <a:ext cx="707317" cy="875726"/>
          </a:xfrm>
          <a:prstGeom prst="straightConnector1">
            <a:avLst/>
          </a:prstGeom>
          <a:noFill/>
          <a:ln cap="flat" cmpd="sng" w="14600">
            <a:solidFill>
              <a:srgbClr val="44444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3" name="Google Shape;293;p6"/>
          <p:cNvCxnSpPr/>
          <p:nvPr/>
        </p:nvCxnSpPr>
        <p:spPr>
          <a:xfrm flipH="1" rot="10800000">
            <a:off x="2315526" y="3175866"/>
            <a:ext cx="1358269" cy="917749"/>
          </a:xfrm>
          <a:prstGeom prst="straightConnector1">
            <a:avLst/>
          </a:prstGeom>
          <a:noFill/>
          <a:ln cap="flat" cmpd="sng" w="14600">
            <a:solidFill>
              <a:srgbClr val="44444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4" name="Google Shape;294;p6"/>
          <p:cNvCxnSpPr/>
          <p:nvPr/>
        </p:nvCxnSpPr>
        <p:spPr>
          <a:xfrm>
            <a:off x="2344002" y="4255030"/>
            <a:ext cx="1438477" cy="359619"/>
          </a:xfrm>
          <a:prstGeom prst="straightConnector1">
            <a:avLst/>
          </a:prstGeom>
          <a:noFill/>
          <a:ln cap="flat" cmpd="sng" w="14600">
            <a:solidFill>
              <a:srgbClr val="44444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5" name="Google Shape;295;p6"/>
          <p:cNvCxnSpPr/>
          <p:nvPr/>
        </p:nvCxnSpPr>
        <p:spPr>
          <a:xfrm rot="10800000">
            <a:off x="1490150" y="2905042"/>
            <a:ext cx="2323221" cy="1642277"/>
          </a:xfrm>
          <a:prstGeom prst="straightConnector1">
            <a:avLst/>
          </a:prstGeom>
          <a:noFill/>
          <a:ln cap="flat" cmpd="sng" w="14600">
            <a:solidFill>
              <a:srgbClr val="44444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6" name="Google Shape;296;p6"/>
          <p:cNvCxnSpPr/>
          <p:nvPr/>
        </p:nvCxnSpPr>
        <p:spPr>
          <a:xfrm rot="10800000">
            <a:off x="3857660" y="3263673"/>
            <a:ext cx="102800" cy="1199334"/>
          </a:xfrm>
          <a:prstGeom prst="straightConnector1">
            <a:avLst/>
          </a:prstGeom>
          <a:noFill/>
          <a:ln cap="flat" cmpd="sng" w="14600">
            <a:solidFill>
              <a:srgbClr val="44444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97" name="Google Shape;297;p6"/>
          <p:cNvSpPr/>
          <p:nvPr/>
        </p:nvSpPr>
        <p:spPr>
          <a:xfrm>
            <a:off x="1124712" y="2587752"/>
            <a:ext cx="402336" cy="402336"/>
          </a:xfrm>
          <a:prstGeom prst="ellipse">
            <a:avLst/>
          </a:prstGeom>
          <a:solidFill>
            <a:srgbClr val="BFD7EA"/>
          </a:solidFill>
          <a:ln cap="flat" cmpd="sng" w="13950">
            <a:solidFill>
              <a:srgbClr val="6E8D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6"/>
          <p:cNvSpPr/>
          <p:nvPr/>
        </p:nvSpPr>
        <p:spPr>
          <a:xfrm>
            <a:off x="1216152" y="2688336"/>
            <a:ext cx="21945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6"/>
          <p:cNvSpPr/>
          <p:nvPr/>
        </p:nvSpPr>
        <p:spPr>
          <a:xfrm>
            <a:off x="2679192" y="1673352"/>
            <a:ext cx="402336" cy="402336"/>
          </a:xfrm>
          <a:prstGeom prst="ellipse">
            <a:avLst/>
          </a:prstGeom>
          <a:solidFill>
            <a:srgbClr val="BFD7EA"/>
          </a:solidFill>
          <a:ln cap="flat" cmpd="sng" w="13950">
            <a:solidFill>
              <a:srgbClr val="6E8D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6"/>
          <p:cNvSpPr/>
          <p:nvPr/>
        </p:nvSpPr>
        <p:spPr>
          <a:xfrm>
            <a:off x="2770632" y="1773936"/>
            <a:ext cx="21945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6"/>
          <p:cNvSpPr/>
          <p:nvPr/>
        </p:nvSpPr>
        <p:spPr>
          <a:xfrm>
            <a:off x="3639312" y="2862072"/>
            <a:ext cx="402336" cy="402336"/>
          </a:xfrm>
          <a:prstGeom prst="ellipse">
            <a:avLst/>
          </a:prstGeom>
          <a:solidFill>
            <a:srgbClr val="BFD7EA"/>
          </a:solidFill>
          <a:ln cap="flat" cmpd="sng" w="13950">
            <a:solidFill>
              <a:srgbClr val="6E8D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6"/>
          <p:cNvSpPr/>
          <p:nvPr/>
        </p:nvSpPr>
        <p:spPr>
          <a:xfrm>
            <a:off x="3730752" y="2962656"/>
            <a:ext cx="21945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6"/>
          <p:cNvSpPr/>
          <p:nvPr/>
        </p:nvSpPr>
        <p:spPr>
          <a:xfrm>
            <a:off x="1947672" y="4005072"/>
            <a:ext cx="402336" cy="402336"/>
          </a:xfrm>
          <a:prstGeom prst="ellipse">
            <a:avLst/>
          </a:prstGeom>
          <a:solidFill>
            <a:srgbClr val="BFD7EA"/>
          </a:solidFill>
          <a:ln cap="flat" cmpd="sng" w="13950">
            <a:solidFill>
              <a:srgbClr val="6E8D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6"/>
          <p:cNvSpPr/>
          <p:nvPr/>
        </p:nvSpPr>
        <p:spPr>
          <a:xfrm>
            <a:off x="2039112" y="4105656"/>
            <a:ext cx="21945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6"/>
          <p:cNvSpPr/>
          <p:nvPr/>
        </p:nvSpPr>
        <p:spPr>
          <a:xfrm>
            <a:off x="3776472" y="4462272"/>
            <a:ext cx="402336" cy="402336"/>
          </a:xfrm>
          <a:prstGeom prst="ellipse">
            <a:avLst/>
          </a:prstGeom>
          <a:solidFill>
            <a:srgbClr val="BFD7EA"/>
          </a:solidFill>
          <a:ln cap="flat" cmpd="sng" w="13950">
            <a:solidFill>
              <a:srgbClr val="6E8D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6"/>
          <p:cNvSpPr/>
          <p:nvPr/>
        </p:nvSpPr>
        <p:spPr>
          <a:xfrm>
            <a:off x="3867912" y="4562856"/>
            <a:ext cx="21945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6"/>
          <p:cNvSpPr/>
          <p:nvPr/>
        </p:nvSpPr>
        <p:spPr>
          <a:xfrm>
            <a:off x="6355080" y="1097280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Adjacency Matrix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6"/>
          <p:cNvSpPr/>
          <p:nvPr/>
        </p:nvSpPr>
        <p:spPr>
          <a:xfrm>
            <a:off x="6629400" y="1454810"/>
            <a:ext cx="493776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C27B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9C27B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6"/>
          <p:cNvSpPr/>
          <p:nvPr/>
        </p:nvSpPr>
        <p:spPr>
          <a:xfrm>
            <a:off x="7123176" y="1454810"/>
            <a:ext cx="493776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C27B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9C27B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6"/>
          <p:cNvSpPr/>
          <p:nvPr/>
        </p:nvSpPr>
        <p:spPr>
          <a:xfrm>
            <a:off x="7616952" y="1454810"/>
            <a:ext cx="493776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C27B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9C27B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6"/>
          <p:cNvSpPr/>
          <p:nvPr/>
        </p:nvSpPr>
        <p:spPr>
          <a:xfrm>
            <a:off x="8110728" y="1454810"/>
            <a:ext cx="493776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C27B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9C27B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6"/>
          <p:cNvSpPr/>
          <p:nvPr/>
        </p:nvSpPr>
        <p:spPr>
          <a:xfrm>
            <a:off x="8604504" y="1454810"/>
            <a:ext cx="493776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C27B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9C27B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6"/>
          <p:cNvSpPr/>
          <p:nvPr/>
        </p:nvSpPr>
        <p:spPr>
          <a:xfrm>
            <a:off x="6283757" y="1958462"/>
            <a:ext cx="246888" cy="2073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C27B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9C27B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6"/>
          <p:cNvSpPr/>
          <p:nvPr/>
        </p:nvSpPr>
        <p:spPr>
          <a:xfrm>
            <a:off x="6629400" y="1874520"/>
            <a:ext cx="493776" cy="49377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6"/>
          <p:cNvSpPr/>
          <p:nvPr/>
        </p:nvSpPr>
        <p:spPr>
          <a:xfrm>
            <a:off x="6629400" y="1958462"/>
            <a:ext cx="493776" cy="1728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6"/>
          <p:cNvSpPr/>
          <p:nvPr/>
        </p:nvSpPr>
        <p:spPr>
          <a:xfrm>
            <a:off x="7123176" y="1874520"/>
            <a:ext cx="493776" cy="49377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6"/>
          <p:cNvSpPr/>
          <p:nvPr/>
        </p:nvSpPr>
        <p:spPr>
          <a:xfrm>
            <a:off x="7123176" y="1958462"/>
            <a:ext cx="493776" cy="1728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6"/>
          <p:cNvSpPr/>
          <p:nvPr/>
        </p:nvSpPr>
        <p:spPr>
          <a:xfrm>
            <a:off x="7616952" y="1874520"/>
            <a:ext cx="493776" cy="49377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6"/>
          <p:cNvSpPr/>
          <p:nvPr/>
        </p:nvSpPr>
        <p:spPr>
          <a:xfrm>
            <a:off x="7616952" y="1958462"/>
            <a:ext cx="493776" cy="1728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6"/>
          <p:cNvSpPr/>
          <p:nvPr/>
        </p:nvSpPr>
        <p:spPr>
          <a:xfrm>
            <a:off x="8110728" y="1874520"/>
            <a:ext cx="493776" cy="49377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6"/>
          <p:cNvSpPr/>
          <p:nvPr/>
        </p:nvSpPr>
        <p:spPr>
          <a:xfrm>
            <a:off x="8110728" y="1958462"/>
            <a:ext cx="493776" cy="1728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6"/>
          <p:cNvSpPr/>
          <p:nvPr/>
        </p:nvSpPr>
        <p:spPr>
          <a:xfrm>
            <a:off x="8604504" y="1874520"/>
            <a:ext cx="493776" cy="49377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6"/>
          <p:cNvSpPr/>
          <p:nvPr/>
        </p:nvSpPr>
        <p:spPr>
          <a:xfrm>
            <a:off x="8604504" y="1958462"/>
            <a:ext cx="493776" cy="1728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6"/>
          <p:cNvSpPr/>
          <p:nvPr/>
        </p:nvSpPr>
        <p:spPr>
          <a:xfrm>
            <a:off x="6283757" y="2452238"/>
            <a:ext cx="246888" cy="2073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C27B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9C27B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6"/>
          <p:cNvSpPr/>
          <p:nvPr/>
        </p:nvSpPr>
        <p:spPr>
          <a:xfrm>
            <a:off x="6629400" y="2368296"/>
            <a:ext cx="493776" cy="49377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6"/>
          <p:cNvSpPr/>
          <p:nvPr/>
        </p:nvSpPr>
        <p:spPr>
          <a:xfrm>
            <a:off x="6629400" y="2452238"/>
            <a:ext cx="493776" cy="1728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6"/>
          <p:cNvSpPr/>
          <p:nvPr/>
        </p:nvSpPr>
        <p:spPr>
          <a:xfrm>
            <a:off x="7123176" y="2368296"/>
            <a:ext cx="493776" cy="49377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6"/>
          <p:cNvSpPr/>
          <p:nvPr/>
        </p:nvSpPr>
        <p:spPr>
          <a:xfrm>
            <a:off x="7123176" y="2452238"/>
            <a:ext cx="493776" cy="1728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6"/>
          <p:cNvSpPr/>
          <p:nvPr/>
        </p:nvSpPr>
        <p:spPr>
          <a:xfrm>
            <a:off x="7616952" y="2368296"/>
            <a:ext cx="493776" cy="49377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6"/>
          <p:cNvSpPr/>
          <p:nvPr/>
        </p:nvSpPr>
        <p:spPr>
          <a:xfrm>
            <a:off x="7616952" y="2452238"/>
            <a:ext cx="493776" cy="1728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6"/>
          <p:cNvSpPr/>
          <p:nvPr/>
        </p:nvSpPr>
        <p:spPr>
          <a:xfrm>
            <a:off x="8110728" y="2368296"/>
            <a:ext cx="493776" cy="49377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6"/>
          <p:cNvSpPr/>
          <p:nvPr/>
        </p:nvSpPr>
        <p:spPr>
          <a:xfrm>
            <a:off x="8110728" y="2452238"/>
            <a:ext cx="493776" cy="1728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6"/>
          <p:cNvSpPr/>
          <p:nvPr/>
        </p:nvSpPr>
        <p:spPr>
          <a:xfrm>
            <a:off x="8604504" y="2368296"/>
            <a:ext cx="493776" cy="49377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6"/>
          <p:cNvSpPr/>
          <p:nvPr/>
        </p:nvSpPr>
        <p:spPr>
          <a:xfrm>
            <a:off x="8604504" y="2452238"/>
            <a:ext cx="493776" cy="1728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6"/>
          <p:cNvSpPr/>
          <p:nvPr/>
        </p:nvSpPr>
        <p:spPr>
          <a:xfrm>
            <a:off x="6283757" y="2946014"/>
            <a:ext cx="246888" cy="2073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C27B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9C27B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6"/>
          <p:cNvSpPr/>
          <p:nvPr/>
        </p:nvSpPr>
        <p:spPr>
          <a:xfrm>
            <a:off x="6629400" y="2862072"/>
            <a:ext cx="493776" cy="49377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6"/>
          <p:cNvSpPr/>
          <p:nvPr/>
        </p:nvSpPr>
        <p:spPr>
          <a:xfrm>
            <a:off x="6629400" y="2946014"/>
            <a:ext cx="493776" cy="1728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6"/>
          <p:cNvSpPr/>
          <p:nvPr/>
        </p:nvSpPr>
        <p:spPr>
          <a:xfrm>
            <a:off x="7123176" y="2862072"/>
            <a:ext cx="493776" cy="49377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6"/>
          <p:cNvSpPr/>
          <p:nvPr/>
        </p:nvSpPr>
        <p:spPr>
          <a:xfrm>
            <a:off x="7123176" y="2946014"/>
            <a:ext cx="493776" cy="1728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6"/>
          <p:cNvSpPr/>
          <p:nvPr/>
        </p:nvSpPr>
        <p:spPr>
          <a:xfrm>
            <a:off x="7616952" y="2862072"/>
            <a:ext cx="493776" cy="49377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6"/>
          <p:cNvSpPr/>
          <p:nvPr/>
        </p:nvSpPr>
        <p:spPr>
          <a:xfrm>
            <a:off x="7616952" y="2946014"/>
            <a:ext cx="493776" cy="1728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6"/>
          <p:cNvSpPr/>
          <p:nvPr/>
        </p:nvSpPr>
        <p:spPr>
          <a:xfrm>
            <a:off x="8110728" y="2862072"/>
            <a:ext cx="493776" cy="49377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6"/>
          <p:cNvSpPr/>
          <p:nvPr/>
        </p:nvSpPr>
        <p:spPr>
          <a:xfrm>
            <a:off x="8110728" y="2946014"/>
            <a:ext cx="493776" cy="1728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6"/>
          <p:cNvSpPr/>
          <p:nvPr/>
        </p:nvSpPr>
        <p:spPr>
          <a:xfrm>
            <a:off x="8604504" y="2862072"/>
            <a:ext cx="493776" cy="49377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6"/>
          <p:cNvSpPr/>
          <p:nvPr/>
        </p:nvSpPr>
        <p:spPr>
          <a:xfrm>
            <a:off x="8604504" y="2946014"/>
            <a:ext cx="493776" cy="1728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6"/>
          <p:cNvSpPr/>
          <p:nvPr/>
        </p:nvSpPr>
        <p:spPr>
          <a:xfrm>
            <a:off x="6283757" y="3439790"/>
            <a:ext cx="246888" cy="2073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C27B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9C27B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6"/>
          <p:cNvSpPr/>
          <p:nvPr/>
        </p:nvSpPr>
        <p:spPr>
          <a:xfrm>
            <a:off x="6629400" y="3355848"/>
            <a:ext cx="493776" cy="49377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6"/>
          <p:cNvSpPr/>
          <p:nvPr/>
        </p:nvSpPr>
        <p:spPr>
          <a:xfrm>
            <a:off x="6629400" y="3439790"/>
            <a:ext cx="493776" cy="1728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6"/>
          <p:cNvSpPr/>
          <p:nvPr/>
        </p:nvSpPr>
        <p:spPr>
          <a:xfrm>
            <a:off x="7123176" y="3355848"/>
            <a:ext cx="493776" cy="49377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6"/>
          <p:cNvSpPr/>
          <p:nvPr/>
        </p:nvSpPr>
        <p:spPr>
          <a:xfrm>
            <a:off x="7123176" y="3439790"/>
            <a:ext cx="493776" cy="1728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6"/>
          <p:cNvSpPr/>
          <p:nvPr/>
        </p:nvSpPr>
        <p:spPr>
          <a:xfrm>
            <a:off x="7616952" y="3355848"/>
            <a:ext cx="493776" cy="49377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6"/>
          <p:cNvSpPr/>
          <p:nvPr/>
        </p:nvSpPr>
        <p:spPr>
          <a:xfrm>
            <a:off x="7616952" y="3439790"/>
            <a:ext cx="493776" cy="1728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6"/>
          <p:cNvSpPr/>
          <p:nvPr/>
        </p:nvSpPr>
        <p:spPr>
          <a:xfrm>
            <a:off x="8110728" y="3355848"/>
            <a:ext cx="493776" cy="49377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6"/>
          <p:cNvSpPr/>
          <p:nvPr/>
        </p:nvSpPr>
        <p:spPr>
          <a:xfrm>
            <a:off x="8110728" y="3439790"/>
            <a:ext cx="493776" cy="1728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6"/>
          <p:cNvSpPr/>
          <p:nvPr/>
        </p:nvSpPr>
        <p:spPr>
          <a:xfrm>
            <a:off x="8604504" y="3355848"/>
            <a:ext cx="493776" cy="49377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6"/>
          <p:cNvSpPr/>
          <p:nvPr/>
        </p:nvSpPr>
        <p:spPr>
          <a:xfrm>
            <a:off x="8604504" y="3439790"/>
            <a:ext cx="493776" cy="1728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6"/>
          <p:cNvSpPr/>
          <p:nvPr/>
        </p:nvSpPr>
        <p:spPr>
          <a:xfrm>
            <a:off x="6283757" y="3933566"/>
            <a:ext cx="246888" cy="2073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C27B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9C27B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6"/>
          <p:cNvSpPr/>
          <p:nvPr/>
        </p:nvSpPr>
        <p:spPr>
          <a:xfrm>
            <a:off x="6629400" y="3849624"/>
            <a:ext cx="493776" cy="49377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6"/>
          <p:cNvSpPr/>
          <p:nvPr/>
        </p:nvSpPr>
        <p:spPr>
          <a:xfrm>
            <a:off x="6629400" y="3933566"/>
            <a:ext cx="493776" cy="1728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6"/>
          <p:cNvSpPr/>
          <p:nvPr/>
        </p:nvSpPr>
        <p:spPr>
          <a:xfrm>
            <a:off x="7123176" y="3849624"/>
            <a:ext cx="493776" cy="49377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6"/>
          <p:cNvSpPr/>
          <p:nvPr/>
        </p:nvSpPr>
        <p:spPr>
          <a:xfrm>
            <a:off x="7123176" y="3933566"/>
            <a:ext cx="493776" cy="1728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6"/>
          <p:cNvSpPr/>
          <p:nvPr/>
        </p:nvSpPr>
        <p:spPr>
          <a:xfrm>
            <a:off x="7616952" y="3849624"/>
            <a:ext cx="493776" cy="49377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6"/>
          <p:cNvSpPr/>
          <p:nvPr/>
        </p:nvSpPr>
        <p:spPr>
          <a:xfrm>
            <a:off x="7616952" y="3933566"/>
            <a:ext cx="493776" cy="1728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6"/>
          <p:cNvSpPr/>
          <p:nvPr/>
        </p:nvSpPr>
        <p:spPr>
          <a:xfrm>
            <a:off x="8110728" y="3849624"/>
            <a:ext cx="493776" cy="49377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6"/>
          <p:cNvSpPr/>
          <p:nvPr/>
        </p:nvSpPr>
        <p:spPr>
          <a:xfrm>
            <a:off x="8110728" y="3933566"/>
            <a:ext cx="493776" cy="1728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6"/>
          <p:cNvSpPr/>
          <p:nvPr/>
        </p:nvSpPr>
        <p:spPr>
          <a:xfrm>
            <a:off x="8604504" y="3849624"/>
            <a:ext cx="493776" cy="49377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6"/>
          <p:cNvSpPr/>
          <p:nvPr/>
        </p:nvSpPr>
        <p:spPr>
          <a:xfrm>
            <a:off x="8604504" y="3933566"/>
            <a:ext cx="493776" cy="1728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6"/>
          <p:cNvSpPr/>
          <p:nvPr/>
        </p:nvSpPr>
        <p:spPr>
          <a:xfrm>
            <a:off x="6144768" y="4709160"/>
            <a:ext cx="4892040" cy="1051560"/>
          </a:xfrm>
          <a:prstGeom prst="roundRect">
            <a:avLst>
              <a:gd fmla="val 6957" name="adj"/>
            </a:avLst>
          </a:prstGeom>
          <a:solidFill>
            <a:srgbClr val="FFF2CC"/>
          </a:solidFill>
          <a:ln cap="flat" cmpd="sng" w="13950">
            <a:solidFill>
              <a:srgbClr val="9BB7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6"/>
          <p:cNvSpPr/>
          <p:nvPr/>
        </p:nvSpPr>
        <p:spPr>
          <a:xfrm>
            <a:off x="6281928" y="4818888"/>
            <a:ext cx="46177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Observation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6"/>
          <p:cNvSpPr/>
          <p:nvPr/>
        </p:nvSpPr>
        <p:spPr>
          <a:xfrm>
            <a:off x="6281928" y="5120640"/>
            <a:ext cx="4617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matrix is not symmetric.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Example: A[4][0] = 1 but A[0][4] = 0.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6"/>
          <p:cNvSpPr txBox="1"/>
          <p:nvPr>
            <p:ph idx="4294967295" type="sldNum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7"/>
          <p:cNvSpPr/>
          <p:nvPr/>
        </p:nvSpPr>
        <p:spPr>
          <a:xfrm>
            <a:off x="502920" y="292608"/>
            <a:ext cx="112471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2700"/>
              <a:buFont typeface="Play"/>
              <a:buNone/>
            </a:pPr>
            <a:r>
              <a:rPr b="1" i="0" lang="en-US" sz="2700" u="none" cap="none" strike="noStrike">
                <a:solidFill>
                  <a:srgbClr val="12355B"/>
                </a:solidFill>
                <a:latin typeface="Play"/>
                <a:ea typeface="Play"/>
                <a:cs typeface="Play"/>
                <a:sym typeface="Play"/>
              </a:rPr>
              <a:t>Editable Java: Directed Unweighted Matrix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7"/>
          <p:cNvSpPr/>
          <p:nvPr/>
        </p:nvSpPr>
        <p:spPr>
          <a:xfrm>
            <a:off x="530352" y="777240"/>
            <a:ext cx="11155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Only source -&gt; destination is stored.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7"/>
          <p:cNvSpPr/>
          <p:nvPr/>
        </p:nvSpPr>
        <p:spPr>
          <a:xfrm>
            <a:off x="594360" y="1051560"/>
            <a:ext cx="6583680" cy="5303520"/>
          </a:xfrm>
          <a:prstGeom prst="roundRect">
            <a:avLst>
              <a:gd fmla="val 862" name="adj"/>
            </a:avLst>
          </a:prstGeom>
          <a:solidFill>
            <a:srgbClr val="F7F7F7"/>
          </a:solidFill>
          <a:ln cap="flat" cmpd="sng" w="10150">
            <a:solidFill>
              <a:srgbClr val="BDBD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7"/>
          <p:cNvSpPr/>
          <p:nvPr/>
        </p:nvSpPr>
        <p:spPr>
          <a:xfrm>
            <a:off x="704088" y="1124712"/>
            <a:ext cx="6364224" cy="5157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70"/>
              <a:buFont typeface="Consolas"/>
              <a:buNone/>
            </a:pPr>
            <a:r>
              <a:rPr b="0" i="0" lang="en-US" sz="77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public class GraphDirectedUnweightedMatrix {</a:t>
            </a:r>
            <a:endParaRPr b="0" i="0" sz="7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70"/>
              <a:buFont typeface="Consolas"/>
              <a:buNone/>
            </a:pPr>
            <a:r>
              <a:rPr b="0" i="0" lang="en-US" sz="77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private int numVertices;</a:t>
            </a:r>
            <a:endParaRPr b="0" i="0" sz="7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70"/>
              <a:buFont typeface="Consolas"/>
              <a:buNone/>
            </a:pPr>
            <a:r>
              <a:rPr b="0" i="0" lang="en-US" sz="77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private int[][] adjMatrix;</a:t>
            </a:r>
            <a:endParaRPr b="0" i="0" sz="7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t/>
            </a:r>
            <a:endParaRPr b="0" i="0" sz="7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70"/>
              <a:buFont typeface="Consolas"/>
              <a:buNone/>
            </a:pPr>
            <a:r>
              <a:rPr b="0" i="0" lang="en-US" sz="77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public GraphDirectedUnweightedMatrix(int numVertices) {</a:t>
            </a:r>
            <a:endParaRPr b="0" i="0" sz="7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70"/>
              <a:buFont typeface="Consolas"/>
              <a:buNone/>
            </a:pPr>
            <a:r>
              <a:rPr b="0" i="0" lang="en-US" sz="77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this.numVertices = numVertices;</a:t>
            </a:r>
            <a:endParaRPr b="0" i="0" sz="7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70"/>
              <a:buFont typeface="Consolas"/>
              <a:buNone/>
            </a:pPr>
            <a:r>
              <a:rPr b="0" i="0" lang="en-US" sz="77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adjMatrix = new int[numVertices][numVertices];</a:t>
            </a:r>
            <a:endParaRPr b="0" i="0" sz="7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70"/>
              <a:buFont typeface="Consolas"/>
              <a:buNone/>
            </a:pPr>
            <a:r>
              <a:rPr b="0" i="0" lang="en-US" sz="77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b="0" i="0" sz="7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t/>
            </a:r>
            <a:endParaRPr b="0" i="0" sz="7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70"/>
              <a:buFont typeface="Consolas"/>
              <a:buNone/>
            </a:pPr>
            <a:r>
              <a:rPr b="0" i="0" lang="en-US" sz="77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public void addEdges(int[][] edges) {</a:t>
            </a:r>
            <a:endParaRPr b="0" i="0" sz="7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70"/>
              <a:buFont typeface="Consolas"/>
              <a:buNone/>
            </a:pPr>
            <a:r>
              <a:rPr b="0" i="0" lang="en-US" sz="77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for (int i = 0; i &lt; edges.length; i++) {</a:t>
            </a:r>
            <a:endParaRPr b="0" i="0" sz="7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70"/>
              <a:buFont typeface="Consolas"/>
              <a:buNone/>
            </a:pPr>
            <a:r>
              <a:rPr b="0" i="0" lang="en-US" sz="77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    int source = edges[i][0];</a:t>
            </a:r>
            <a:endParaRPr b="0" i="0" sz="7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70"/>
              <a:buFont typeface="Consolas"/>
              <a:buNone/>
            </a:pPr>
            <a:r>
              <a:rPr b="0" i="0" lang="en-US" sz="77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    int destination = edges[i][1];</a:t>
            </a:r>
            <a:endParaRPr b="0" i="0" sz="7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70"/>
              <a:buFont typeface="Consolas"/>
              <a:buNone/>
            </a:pPr>
            <a:r>
              <a:rPr b="0" i="0" lang="en-US" sz="77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    adjMatrix[source][destination] = 1;</a:t>
            </a:r>
            <a:endParaRPr b="0" i="0" sz="7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70"/>
              <a:buFont typeface="Consolas"/>
              <a:buNone/>
            </a:pPr>
            <a:r>
              <a:rPr b="0" i="0" lang="en-US" sz="77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b="0" i="0" sz="7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70"/>
              <a:buFont typeface="Consolas"/>
              <a:buNone/>
            </a:pPr>
            <a:r>
              <a:rPr b="0" i="0" lang="en-US" sz="77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b="0" i="0" sz="7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t/>
            </a:r>
            <a:endParaRPr b="0" i="0" sz="7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70"/>
              <a:buFont typeface="Consolas"/>
              <a:buNone/>
            </a:pPr>
            <a:r>
              <a:rPr b="0" i="0" lang="en-US" sz="77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public void printMatrix() {</a:t>
            </a:r>
            <a:endParaRPr b="0" i="0" sz="7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70"/>
              <a:buFont typeface="Consolas"/>
              <a:buNone/>
            </a:pPr>
            <a:r>
              <a:rPr b="0" i="0" lang="en-US" sz="77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System.out.println("Adjacency Matrix:");</a:t>
            </a:r>
            <a:endParaRPr b="0" i="0" sz="7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70"/>
              <a:buFont typeface="Consolas"/>
              <a:buNone/>
            </a:pPr>
            <a:r>
              <a:rPr b="0" i="0" lang="en-US" sz="77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for (int i = 0; i &lt; numVertices; i++) {</a:t>
            </a:r>
            <a:endParaRPr b="0" i="0" sz="7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70"/>
              <a:buFont typeface="Consolas"/>
              <a:buNone/>
            </a:pPr>
            <a:r>
              <a:rPr b="0" i="0" lang="en-US" sz="77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    for (int j = 0; j &lt; numVertices; j++)</a:t>
            </a:r>
            <a:endParaRPr b="0" i="0" sz="7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70"/>
              <a:buFont typeface="Consolas"/>
              <a:buNone/>
            </a:pPr>
            <a:r>
              <a:rPr b="0" i="0" lang="en-US" sz="77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        System.out.print(adjMatrix[i][j] + " ");</a:t>
            </a:r>
            <a:endParaRPr b="0" i="0" sz="7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70"/>
              <a:buFont typeface="Consolas"/>
              <a:buNone/>
            </a:pPr>
            <a:r>
              <a:rPr b="0" i="0" lang="en-US" sz="77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    System.out.println();</a:t>
            </a:r>
            <a:endParaRPr b="0" i="0" sz="7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70"/>
              <a:buFont typeface="Consolas"/>
              <a:buNone/>
            </a:pPr>
            <a:r>
              <a:rPr b="0" i="0" lang="en-US" sz="77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b="0" i="0" sz="7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70"/>
              <a:buFont typeface="Consolas"/>
              <a:buNone/>
            </a:pPr>
            <a:r>
              <a:rPr b="0" i="0" lang="en-US" sz="77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b="0" i="0" sz="7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t/>
            </a:r>
            <a:endParaRPr b="0" i="0" sz="7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70"/>
              <a:buFont typeface="Consolas"/>
              <a:buNone/>
            </a:pPr>
            <a:r>
              <a:rPr b="0" i="0" lang="en-US" sz="77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public void findNeighbors(int vertex) {</a:t>
            </a:r>
            <a:endParaRPr b="0" i="0" sz="7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70"/>
              <a:buFont typeface="Consolas"/>
              <a:buNone/>
            </a:pPr>
            <a:r>
              <a:rPr b="0" i="0" lang="en-US" sz="77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System.out.print("Neighbors of vertex " + vertex + ": ");</a:t>
            </a:r>
            <a:endParaRPr b="0" i="0" sz="7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70"/>
              <a:buFont typeface="Consolas"/>
              <a:buNone/>
            </a:pPr>
            <a:r>
              <a:rPr b="0" i="0" lang="en-US" sz="77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for (int i = 0; i &lt; numVertices; i++)</a:t>
            </a:r>
            <a:endParaRPr b="0" i="0" sz="7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70"/>
              <a:buFont typeface="Consolas"/>
              <a:buNone/>
            </a:pPr>
            <a:r>
              <a:rPr b="0" i="0" lang="en-US" sz="77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    if (adjMatrix[vertex][i] == 1) System.out.print(i + " ");</a:t>
            </a:r>
            <a:endParaRPr b="0" i="0" sz="7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70"/>
              <a:buFont typeface="Consolas"/>
              <a:buNone/>
            </a:pPr>
            <a:r>
              <a:rPr b="0" i="0" lang="en-US" sz="77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System.out.println();</a:t>
            </a:r>
            <a:endParaRPr b="0" i="0" sz="7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70"/>
              <a:buFont typeface="Consolas"/>
              <a:buNone/>
            </a:pPr>
            <a:r>
              <a:rPr b="0" i="0" lang="en-US" sz="77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b="0" i="0" sz="7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70"/>
              <a:buFont typeface="Consolas"/>
              <a:buNone/>
            </a:pPr>
            <a:r>
              <a:rPr b="0" i="0" lang="en-US" sz="77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7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7"/>
          <p:cNvSpPr/>
          <p:nvPr/>
        </p:nvSpPr>
        <p:spPr>
          <a:xfrm>
            <a:off x="7479792" y="1417320"/>
            <a:ext cx="4069080" cy="960120"/>
          </a:xfrm>
          <a:prstGeom prst="roundRect">
            <a:avLst>
              <a:gd fmla="val 7619" name="adj"/>
            </a:avLst>
          </a:prstGeom>
          <a:solidFill>
            <a:srgbClr val="FFF2CC"/>
          </a:solidFill>
          <a:ln cap="flat" cmpd="sng" w="13950">
            <a:solidFill>
              <a:srgbClr val="9BB7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7"/>
          <p:cNvSpPr/>
          <p:nvPr/>
        </p:nvSpPr>
        <p:spPr>
          <a:xfrm>
            <a:off x="7616952" y="1527048"/>
            <a:ext cx="3794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Insertion rule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7"/>
          <p:cNvSpPr/>
          <p:nvPr/>
        </p:nvSpPr>
        <p:spPr>
          <a:xfrm>
            <a:off x="7616952" y="1828800"/>
            <a:ext cx="3794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 not automatically add the reverse edge.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7"/>
          <p:cNvSpPr/>
          <p:nvPr/>
        </p:nvSpPr>
        <p:spPr>
          <a:xfrm>
            <a:off x="7479792" y="2697480"/>
            <a:ext cx="4069080" cy="2011680"/>
          </a:xfrm>
          <a:prstGeom prst="roundRect">
            <a:avLst>
              <a:gd fmla="val 2273" name="adj"/>
            </a:avLst>
          </a:prstGeom>
          <a:solidFill>
            <a:srgbClr val="F7F7F7"/>
          </a:solidFill>
          <a:ln cap="flat" cmpd="sng" w="10150">
            <a:solidFill>
              <a:srgbClr val="BDBD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7"/>
          <p:cNvSpPr/>
          <p:nvPr/>
        </p:nvSpPr>
        <p:spPr>
          <a:xfrm>
            <a:off x="7589520" y="2770632"/>
            <a:ext cx="3849624" cy="1865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30"/>
              <a:buFont typeface="Consolas"/>
              <a:buNone/>
            </a:pPr>
            <a:r>
              <a:rPr b="0" i="0" lang="en-US" sz="83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int[][] edges = {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30"/>
              <a:buFont typeface="Consolas"/>
              <a:buNone/>
            </a:pPr>
            <a:r>
              <a:rPr b="0" i="0" lang="en-US" sz="83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{0,1}, {0,2},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30"/>
              <a:buFont typeface="Consolas"/>
              <a:buNone/>
            </a:pPr>
            <a:r>
              <a:rPr b="0" i="0" lang="en-US" sz="83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{1,0}, {1,2}, {1,3},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30"/>
              <a:buFont typeface="Consolas"/>
              <a:buNone/>
            </a:pPr>
            <a:r>
              <a:rPr b="0" i="0" lang="en-US" sz="83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{2,1},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30"/>
              <a:buFont typeface="Consolas"/>
              <a:buNone/>
            </a:pPr>
            <a:r>
              <a:rPr b="0" i="0" lang="en-US" sz="83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{3,2}, {3,4},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30"/>
              <a:buFont typeface="Consolas"/>
              <a:buNone/>
            </a:pPr>
            <a:r>
              <a:rPr b="0" i="0" lang="en-US" sz="83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{4,0}, {4,2}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30"/>
              <a:buFont typeface="Consolas"/>
              <a:buNone/>
            </a:pPr>
            <a:r>
              <a:rPr b="0" i="0" lang="en-US" sz="83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};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7"/>
          <p:cNvSpPr/>
          <p:nvPr/>
        </p:nvSpPr>
        <p:spPr>
          <a:xfrm>
            <a:off x="7479792" y="4983480"/>
            <a:ext cx="4069080" cy="749808"/>
          </a:xfrm>
          <a:prstGeom prst="roundRect">
            <a:avLst>
              <a:gd fmla="val 9756" name="adj"/>
            </a:avLst>
          </a:prstGeom>
          <a:solidFill>
            <a:srgbClr val="EEF5FF"/>
          </a:solidFill>
          <a:ln cap="flat" cmpd="sng" w="13950">
            <a:solidFill>
              <a:srgbClr val="9BB7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7"/>
          <p:cNvSpPr/>
          <p:nvPr/>
        </p:nvSpPr>
        <p:spPr>
          <a:xfrm>
            <a:off x="7616952" y="5093208"/>
            <a:ext cx="3794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Neighbor meaning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7"/>
          <p:cNvSpPr/>
          <p:nvPr/>
        </p:nvSpPr>
        <p:spPr>
          <a:xfrm>
            <a:off x="7616952" y="5394960"/>
            <a:ext cx="37947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Neighbors of u = vertices reachable from row u.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7"/>
          <p:cNvSpPr txBox="1"/>
          <p:nvPr>
            <p:ph idx="4294967295" type="sldNum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8"/>
          <p:cNvSpPr/>
          <p:nvPr/>
        </p:nvSpPr>
        <p:spPr>
          <a:xfrm>
            <a:off x="502920" y="292608"/>
            <a:ext cx="112471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2700"/>
              <a:buFont typeface="Play"/>
              <a:buNone/>
            </a:pPr>
            <a:r>
              <a:rPr b="1" i="0" lang="en-US" sz="2700" u="none" cap="none" strike="noStrike">
                <a:solidFill>
                  <a:srgbClr val="12355B"/>
                </a:solidFill>
                <a:latin typeface="Play"/>
                <a:ea typeface="Play"/>
                <a:cs typeface="Play"/>
                <a:sym typeface="Play"/>
              </a:rPr>
              <a:t>Adjacency Matrix: Directed Weighted Graph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8"/>
          <p:cNvSpPr/>
          <p:nvPr/>
        </p:nvSpPr>
        <p:spPr>
          <a:xfrm>
            <a:off x="530352" y="777240"/>
            <a:ext cx="11155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Nonzero values store edge weights, not just 1.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8"/>
          <p:cNvSpPr/>
          <p:nvPr/>
        </p:nvSpPr>
        <p:spPr>
          <a:xfrm>
            <a:off x="777240" y="1097280"/>
            <a:ext cx="4297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Graph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8" name="Google Shape;398;p8"/>
          <p:cNvCxnSpPr/>
          <p:nvPr/>
        </p:nvCxnSpPr>
        <p:spPr>
          <a:xfrm flipH="1" rot="10800000">
            <a:off x="1739953" y="2565067"/>
            <a:ext cx="1000653" cy="420274"/>
          </a:xfrm>
          <a:prstGeom prst="straightConnector1">
            <a:avLst/>
          </a:prstGeom>
          <a:noFill/>
          <a:ln cap="flat" cmpd="sng" w="14600">
            <a:solidFill>
              <a:srgbClr val="44444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99" name="Google Shape;399;p8"/>
          <p:cNvSpPr/>
          <p:nvPr/>
        </p:nvSpPr>
        <p:spPr>
          <a:xfrm>
            <a:off x="2130552" y="2683764"/>
            <a:ext cx="219456" cy="173736"/>
          </a:xfrm>
          <a:prstGeom prst="rect">
            <a:avLst/>
          </a:prstGeom>
          <a:solidFill>
            <a:srgbClr val="FFFFFF">
              <a:alpha val="94118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8"/>
          <p:cNvSpPr/>
          <p:nvPr/>
        </p:nvSpPr>
        <p:spPr>
          <a:xfrm>
            <a:off x="2130552" y="2692908"/>
            <a:ext cx="219456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1" name="Google Shape;401;p8"/>
          <p:cNvCxnSpPr/>
          <p:nvPr/>
        </p:nvCxnSpPr>
        <p:spPr>
          <a:xfrm>
            <a:off x="1731449" y="3158899"/>
            <a:ext cx="1337702" cy="723082"/>
          </a:xfrm>
          <a:prstGeom prst="straightConnector1">
            <a:avLst/>
          </a:prstGeom>
          <a:noFill/>
          <a:ln cap="flat" cmpd="sng" w="14600">
            <a:solidFill>
              <a:srgbClr val="44444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02" name="Google Shape;402;p8"/>
          <p:cNvSpPr/>
          <p:nvPr/>
        </p:nvSpPr>
        <p:spPr>
          <a:xfrm>
            <a:off x="2290572" y="3429000"/>
            <a:ext cx="219456" cy="173736"/>
          </a:xfrm>
          <a:prstGeom prst="rect">
            <a:avLst/>
          </a:prstGeom>
          <a:solidFill>
            <a:srgbClr val="FFFFFF">
              <a:alpha val="94118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8"/>
          <p:cNvSpPr/>
          <p:nvPr/>
        </p:nvSpPr>
        <p:spPr>
          <a:xfrm>
            <a:off x="2290572" y="3438144"/>
            <a:ext cx="219456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4" name="Google Shape;404;p8"/>
          <p:cNvCxnSpPr/>
          <p:nvPr/>
        </p:nvCxnSpPr>
        <p:spPr>
          <a:xfrm>
            <a:off x="3104924" y="2579273"/>
            <a:ext cx="1471111" cy="757622"/>
          </a:xfrm>
          <a:prstGeom prst="straightConnector1">
            <a:avLst/>
          </a:prstGeom>
          <a:noFill/>
          <a:ln cap="flat" cmpd="sng" w="14600">
            <a:solidFill>
              <a:srgbClr val="44444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05" name="Google Shape;405;p8"/>
          <p:cNvSpPr/>
          <p:nvPr/>
        </p:nvSpPr>
        <p:spPr>
          <a:xfrm>
            <a:off x="3730752" y="2866644"/>
            <a:ext cx="219456" cy="173736"/>
          </a:xfrm>
          <a:prstGeom prst="rect">
            <a:avLst/>
          </a:prstGeom>
          <a:solidFill>
            <a:srgbClr val="FFFFFF">
              <a:alpha val="94118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8"/>
          <p:cNvSpPr/>
          <p:nvPr/>
        </p:nvSpPr>
        <p:spPr>
          <a:xfrm>
            <a:off x="3730752" y="2875788"/>
            <a:ext cx="219456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7" name="Google Shape;407;p8"/>
          <p:cNvCxnSpPr/>
          <p:nvPr/>
        </p:nvCxnSpPr>
        <p:spPr>
          <a:xfrm flipH="1" rot="10800000">
            <a:off x="3116801" y="2075664"/>
            <a:ext cx="1035877" cy="347520"/>
          </a:xfrm>
          <a:prstGeom prst="straightConnector1">
            <a:avLst/>
          </a:prstGeom>
          <a:noFill/>
          <a:ln cap="flat" cmpd="sng" w="14600">
            <a:solidFill>
              <a:srgbClr val="44444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08" name="Google Shape;408;p8"/>
          <p:cNvSpPr/>
          <p:nvPr/>
        </p:nvSpPr>
        <p:spPr>
          <a:xfrm>
            <a:off x="3525012" y="2157984"/>
            <a:ext cx="219456" cy="173736"/>
          </a:xfrm>
          <a:prstGeom prst="rect">
            <a:avLst/>
          </a:prstGeom>
          <a:solidFill>
            <a:srgbClr val="FFFFFF">
              <a:alpha val="94118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8"/>
          <p:cNvSpPr/>
          <p:nvPr/>
        </p:nvSpPr>
        <p:spPr>
          <a:xfrm>
            <a:off x="3525012" y="2167128"/>
            <a:ext cx="219456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0" name="Google Shape;410;p8"/>
          <p:cNvCxnSpPr/>
          <p:nvPr/>
        </p:nvCxnSpPr>
        <p:spPr>
          <a:xfrm flipH="1" rot="10800000">
            <a:off x="3435176" y="3497748"/>
            <a:ext cx="1130647" cy="411144"/>
          </a:xfrm>
          <a:prstGeom prst="straightConnector1">
            <a:avLst/>
          </a:prstGeom>
          <a:noFill/>
          <a:ln cap="flat" cmpd="sng" w="14600">
            <a:solidFill>
              <a:srgbClr val="44444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11" name="Google Shape;411;p8"/>
          <p:cNvSpPr/>
          <p:nvPr/>
        </p:nvSpPr>
        <p:spPr>
          <a:xfrm>
            <a:off x="3890772" y="3611880"/>
            <a:ext cx="219456" cy="173736"/>
          </a:xfrm>
          <a:prstGeom prst="rect">
            <a:avLst/>
          </a:prstGeom>
          <a:solidFill>
            <a:srgbClr val="FFFFFF">
              <a:alpha val="94118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8"/>
          <p:cNvSpPr/>
          <p:nvPr/>
        </p:nvSpPr>
        <p:spPr>
          <a:xfrm>
            <a:off x="3890772" y="3621024"/>
            <a:ext cx="219456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8"/>
          <p:cNvSpPr/>
          <p:nvPr/>
        </p:nvSpPr>
        <p:spPr>
          <a:xfrm>
            <a:off x="1353312" y="2862072"/>
            <a:ext cx="402336" cy="402336"/>
          </a:xfrm>
          <a:prstGeom prst="ellipse">
            <a:avLst/>
          </a:prstGeom>
          <a:solidFill>
            <a:srgbClr val="BFD7EA"/>
          </a:solidFill>
          <a:ln cap="flat" cmpd="sng" w="13950">
            <a:solidFill>
              <a:srgbClr val="6E8D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8"/>
          <p:cNvSpPr/>
          <p:nvPr/>
        </p:nvSpPr>
        <p:spPr>
          <a:xfrm>
            <a:off x="1444752" y="2962656"/>
            <a:ext cx="21945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8"/>
          <p:cNvSpPr/>
          <p:nvPr/>
        </p:nvSpPr>
        <p:spPr>
          <a:xfrm>
            <a:off x="2724912" y="2286000"/>
            <a:ext cx="402336" cy="402336"/>
          </a:xfrm>
          <a:prstGeom prst="ellipse">
            <a:avLst/>
          </a:prstGeom>
          <a:solidFill>
            <a:srgbClr val="BFD7EA"/>
          </a:solidFill>
          <a:ln cap="flat" cmpd="sng" w="13950">
            <a:solidFill>
              <a:srgbClr val="6E8D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8"/>
          <p:cNvSpPr/>
          <p:nvPr/>
        </p:nvSpPr>
        <p:spPr>
          <a:xfrm>
            <a:off x="2816352" y="2386584"/>
            <a:ext cx="21945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8"/>
          <p:cNvSpPr/>
          <p:nvPr/>
        </p:nvSpPr>
        <p:spPr>
          <a:xfrm>
            <a:off x="3044952" y="3776472"/>
            <a:ext cx="402336" cy="402336"/>
          </a:xfrm>
          <a:prstGeom prst="ellipse">
            <a:avLst/>
          </a:prstGeom>
          <a:solidFill>
            <a:srgbClr val="BFD7EA"/>
          </a:solidFill>
          <a:ln cap="flat" cmpd="sng" w="13950">
            <a:solidFill>
              <a:srgbClr val="6E8D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8"/>
          <p:cNvSpPr/>
          <p:nvPr/>
        </p:nvSpPr>
        <p:spPr>
          <a:xfrm>
            <a:off x="3136392" y="3877056"/>
            <a:ext cx="21945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8"/>
          <p:cNvSpPr/>
          <p:nvPr/>
        </p:nvSpPr>
        <p:spPr>
          <a:xfrm>
            <a:off x="4553712" y="3227832"/>
            <a:ext cx="402336" cy="402336"/>
          </a:xfrm>
          <a:prstGeom prst="ellipse">
            <a:avLst/>
          </a:prstGeom>
          <a:solidFill>
            <a:srgbClr val="BFD7EA"/>
          </a:solidFill>
          <a:ln cap="flat" cmpd="sng" w="13950">
            <a:solidFill>
              <a:srgbClr val="6E8D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8"/>
          <p:cNvSpPr/>
          <p:nvPr/>
        </p:nvSpPr>
        <p:spPr>
          <a:xfrm>
            <a:off x="4645152" y="3328416"/>
            <a:ext cx="21945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8"/>
          <p:cNvSpPr/>
          <p:nvPr/>
        </p:nvSpPr>
        <p:spPr>
          <a:xfrm>
            <a:off x="4142232" y="1810512"/>
            <a:ext cx="402336" cy="402336"/>
          </a:xfrm>
          <a:prstGeom prst="ellipse">
            <a:avLst/>
          </a:prstGeom>
          <a:solidFill>
            <a:srgbClr val="BFD7EA"/>
          </a:solidFill>
          <a:ln cap="flat" cmpd="sng" w="13950">
            <a:solidFill>
              <a:srgbClr val="6E8D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8"/>
          <p:cNvSpPr/>
          <p:nvPr/>
        </p:nvSpPr>
        <p:spPr>
          <a:xfrm>
            <a:off x="4233672" y="1911096"/>
            <a:ext cx="21945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8"/>
          <p:cNvSpPr/>
          <p:nvPr/>
        </p:nvSpPr>
        <p:spPr>
          <a:xfrm>
            <a:off x="6355080" y="1097280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Adjacency Matrix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8"/>
          <p:cNvSpPr/>
          <p:nvPr/>
        </p:nvSpPr>
        <p:spPr>
          <a:xfrm>
            <a:off x="6629400" y="1454810"/>
            <a:ext cx="493776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5AA8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E5AA8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8"/>
          <p:cNvSpPr/>
          <p:nvPr/>
        </p:nvSpPr>
        <p:spPr>
          <a:xfrm>
            <a:off x="7123176" y="1454810"/>
            <a:ext cx="493776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5AA8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E5AA8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8"/>
          <p:cNvSpPr/>
          <p:nvPr/>
        </p:nvSpPr>
        <p:spPr>
          <a:xfrm>
            <a:off x="7616952" y="1454810"/>
            <a:ext cx="493776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5AA8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E5AA8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8"/>
          <p:cNvSpPr/>
          <p:nvPr/>
        </p:nvSpPr>
        <p:spPr>
          <a:xfrm>
            <a:off x="8110728" y="1454810"/>
            <a:ext cx="493776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5AA8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E5AA8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8"/>
          <p:cNvSpPr/>
          <p:nvPr/>
        </p:nvSpPr>
        <p:spPr>
          <a:xfrm>
            <a:off x="8604504" y="1454810"/>
            <a:ext cx="493776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5AA8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E5AA8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8"/>
          <p:cNvSpPr/>
          <p:nvPr/>
        </p:nvSpPr>
        <p:spPr>
          <a:xfrm>
            <a:off x="6283757" y="1958462"/>
            <a:ext cx="246888" cy="2073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5AA8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E5AA8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8"/>
          <p:cNvSpPr/>
          <p:nvPr/>
        </p:nvSpPr>
        <p:spPr>
          <a:xfrm>
            <a:off x="6629400" y="1874520"/>
            <a:ext cx="493776" cy="49377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8"/>
          <p:cNvSpPr/>
          <p:nvPr/>
        </p:nvSpPr>
        <p:spPr>
          <a:xfrm>
            <a:off x="6629400" y="1958462"/>
            <a:ext cx="493776" cy="1728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8"/>
          <p:cNvSpPr/>
          <p:nvPr/>
        </p:nvSpPr>
        <p:spPr>
          <a:xfrm>
            <a:off x="7123176" y="1874520"/>
            <a:ext cx="493776" cy="49377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8"/>
          <p:cNvSpPr/>
          <p:nvPr/>
        </p:nvSpPr>
        <p:spPr>
          <a:xfrm>
            <a:off x="7123176" y="1958462"/>
            <a:ext cx="493776" cy="1728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002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B0002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8"/>
          <p:cNvSpPr/>
          <p:nvPr/>
        </p:nvSpPr>
        <p:spPr>
          <a:xfrm>
            <a:off x="7616952" y="1874520"/>
            <a:ext cx="493776" cy="49377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8"/>
          <p:cNvSpPr/>
          <p:nvPr/>
        </p:nvSpPr>
        <p:spPr>
          <a:xfrm>
            <a:off x="7616952" y="1958462"/>
            <a:ext cx="493776" cy="1728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002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B0002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8"/>
          <p:cNvSpPr/>
          <p:nvPr/>
        </p:nvSpPr>
        <p:spPr>
          <a:xfrm>
            <a:off x="8110728" y="1874520"/>
            <a:ext cx="493776" cy="49377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8"/>
          <p:cNvSpPr/>
          <p:nvPr/>
        </p:nvSpPr>
        <p:spPr>
          <a:xfrm>
            <a:off x="8110728" y="1958462"/>
            <a:ext cx="493776" cy="1728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8"/>
          <p:cNvSpPr/>
          <p:nvPr/>
        </p:nvSpPr>
        <p:spPr>
          <a:xfrm>
            <a:off x="8604504" y="1874520"/>
            <a:ext cx="493776" cy="49377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8"/>
          <p:cNvSpPr/>
          <p:nvPr/>
        </p:nvSpPr>
        <p:spPr>
          <a:xfrm>
            <a:off x="8604504" y="1958462"/>
            <a:ext cx="493776" cy="1728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8"/>
          <p:cNvSpPr/>
          <p:nvPr/>
        </p:nvSpPr>
        <p:spPr>
          <a:xfrm>
            <a:off x="6283757" y="2452238"/>
            <a:ext cx="246888" cy="2073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5AA8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E5AA8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8"/>
          <p:cNvSpPr/>
          <p:nvPr/>
        </p:nvSpPr>
        <p:spPr>
          <a:xfrm>
            <a:off x="6629400" y="2368296"/>
            <a:ext cx="493776" cy="49377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8"/>
          <p:cNvSpPr/>
          <p:nvPr/>
        </p:nvSpPr>
        <p:spPr>
          <a:xfrm>
            <a:off x="6629400" y="2452238"/>
            <a:ext cx="493776" cy="1728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8"/>
          <p:cNvSpPr/>
          <p:nvPr/>
        </p:nvSpPr>
        <p:spPr>
          <a:xfrm>
            <a:off x="7123176" y="2368296"/>
            <a:ext cx="493776" cy="49377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8"/>
          <p:cNvSpPr/>
          <p:nvPr/>
        </p:nvSpPr>
        <p:spPr>
          <a:xfrm>
            <a:off x="7123176" y="2452238"/>
            <a:ext cx="493776" cy="1728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8"/>
          <p:cNvSpPr/>
          <p:nvPr/>
        </p:nvSpPr>
        <p:spPr>
          <a:xfrm>
            <a:off x="7616952" y="2368296"/>
            <a:ext cx="493776" cy="49377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8"/>
          <p:cNvSpPr/>
          <p:nvPr/>
        </p:nvSpPr>
        <p:spPr>
          <a:xfrm>
            <a:off x="7616952" y="2452238"/>
            <a:ext cx="493776" cy="1728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8"/>
          <p:cNvSpPr/>
          <p:nvPr/>
        </p:nvSpPr>
        <p:spPr>
          <a:xfrm>
            <a:off x="8110728" y="2368296"/>
            <a:ext cx="493776" cy="49377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8"/>
          <p:cNvSpPr/>
          <p:nvPr/>
        </p:nvSpPr>
        <p:spPr>
          <a:xfrm>
            <a:off x="8110728" y="2452238"/>
            <a:ext cx="493776" cy="1728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002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B0002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8"/>
          <p:cNvSpPr/>
          <p:nvPr/>
        </p:nvSpPr>
        <p:spPr>
          <a:xfrm>
            <a:off x="8604504" y="2368296"/>
            <a:ext cx="493776" cy="49377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8"/>
          <p:cNvSpPr/>
          <p:nvPr/>
        </p:nvSpPr>
        <p:spPr>
          <a:xfrm>
            <a:off x="8604504" y="2452238"/>
            <a:ext cx="493776" cy="1728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002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B0002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8"/>
          <p:cNvSpPr/>
          <p:nvPr/>
        </p:nvSpPr>
        <p:spPr>
          <a:xfrm>
            <a:off x="6283757" y="2946014"/>
            <a:ext cx="246888" cy="2073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5AA8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E5AA8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8"/>
          <p:cNvSpPr/>
          <p:nvPr/>
        </p:nvSpPr>
        <p:spPr>
          <a:xfrm>
            <a:off x="6629400" y="2862072"/>
            <a:ext cx="493776" cy="49377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8"/>
          <p:cNvSpPr/>
          <p:nvPr/>
        </p:nvSpPr>
        <p:spPr>
          <a:xfrm>
            <a:off x="6629400" y="2946014"/>
            <a:ext cx="493776" cy="1728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8"/>
          <p:cNvSpPr/>
          <p:nvPr/>
        </p:nvSpPr>
        <p:spPr>
          <a:xfrm>
            <a:off x="7123176" y="2862072"/>
            <a:ext cx="493776" cy="49377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8"/>
          <p:cNvSpPr/>
          <p:nvPr/>
        </p:nvSpPr>
        <p:spPr>
          <a:xfrm>
            <a:off x="7123176" y="2946014"/>
            <a:ext cx="493776" cy="1728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8"/>
          <p:cNvSpPr/>
          <p:nvPr/>
        </p:nvSpPr>
        <p:spPr>
          <a:xfrm>
            <a:off x="7616952" y="2862072"/>
            <a:ext cx="493776" cy="49377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8"/>
          <p:cNvSpPr/>
          <p:nvPr/>
        </p:nvSpPr>
        <p:spPr>
          <a:xfrm>
            <a:off x="7616952" y="2946014"/>
            <a:ext cx="493776" cy="1728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8"/>
          <p:cNvSpPr/>
          <p:nvPr/>
        </p:nvSpPr>
        <p:spPr>
          <a:xfrm>
            <a:off x="8110728" y="2862072"/>
            <a:ext cx="493776" cy="49377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8"/>
          <p:cNvSpPr/>
          <p:nvPr/>
        </p:nvSpPr>
        <p:spPr>
          <a:xfrm>
            <a:off x="8110728" y="2946014"/>
            <a:ext cx="493776" cy="1728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002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B0002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8"/>
          <p:cNvSpPr/>
          <p:nvPr/>
        </p:nvSpPr>
        <p:spPr>
          <a:xfrm>
            <a:off x="8604504" y="2862072"/>
            <a:ext cx="493776" cy="49377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8"/>
          <p:cNvSpPr/>
          <p:nvPr/>
        </p:nvSpPr>
        <p:spPr>
          <a:xfrm>
            <a:off x="8604504" y="2946014"/>
            <a:ext cx="493776" cy="1728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8"/>
          <p:cNvSpPr/>
          <p:nvPr/>
        </p:nvSpPr>
        <p:spPr>
          <a:xfrm>
            <a:off x="6283757" y="3439790"/>
            <a:ext cx="246888" cy="2073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5AA8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E5AA8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8"/>
          <p:cNvSpPr/>
          <p:nvPr/>
        </p:nvSpPr>
        <p:spPr>
          <a:xfrm>
            <a:off x="6629400" y="3355848"/>
            <a:ext cx="493776" cy="49377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8"/>
          <p:cNvSpPr/>
          <p:nvPr/>
        </p:nvSpPr>
        <p:spPr>
          <a:xfrm>
            <a:off x="6629400" y="3439790"/>
            <a:ext cx="493776" cy="1728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8"/>
          <p:cNvSpPr/>
          <p:nvPr/>
        </p:nvSpPr>
        <p:spPr>
          <a:xfrm>
            <a:off x="7123176" y="3355848"/>
            <a:ext cx="493776" cy="49377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8"/>
          <p:cNvSpPr/>
          <p:nvPr/>
        </p:nvSpPr>
        <p:spPr>
          <a:xfrm>
            <a:off x="7123176" y="3439790"/>
            <a:ext cx="493776" cy="1728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8"/>
          <p:cNvSpPr/>
          <p:nvPr/>
        </p:nvSpPr>
        <p:spPr>
          <a:xfrm>
            <a:off x="7616952" y="3355848"/>
            <a:ext cx="493776" cy="49377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8"/>
          <p:cNvSpPr/>
          <p:nvPr/>
        </p:nvSpPr>
        <p:spPr>
          <a:xfrm>
            <a:off x="7616952" y="3439790"/>
            <a:ext cx="493776" cy="1728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8"/>
          <p:cNvSpPr/>
          <p:nvPr/>
        </p:nvSpPr>
        <p:spPr>
          <a:xfrm>
            <a:off x="8110728" y="3355848"/>
            <a:ext cx="493776" cy="49377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8"/>
          <p:cNvSpPr/>
          <p:nvPr/>
        </p:nvSpPr>
        <p:spPr>
          <a:xfrm>
            <a:off x="8110728" y="3439790"/>
            <a:ext cx="493776" cy="1728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8"/>
          <p:cNvSpPr/>
          <p:nvPr/>
        </p:nvSpPr>
        <p:spPr>
          <a:xfrm>
            <a:off x="8604504" y="3355848"/>
            <a:ext cx="493776" cy="49377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8"/>
          <p:cNvSpPr/>
          <p:nvPr/>
        </p:nvSpPr>
        <p:spPr>
          <a:xfrm>
            <a:off x="8604504" y="3439790"/>
            <a:ext cx="493776" cy="1728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8"/>
          <p:cNvSpPr/>
          <p:nvPr/>
        </p:nvSpPr>
        <p:spPr>
          <a:xfrm>
            <a:off x="6283757" y="3933566"/>
            <a:ext cx="246888" cy="2073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5AA8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E5AA8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8"/>
          <p:cNvSpPr/>
          <p:nvPr/>
        </p:nvSpPr>
        <p:spPr>
          <a:xfrm>
            <a:off x="6629400" y="3849624"/>
            <a:ext cx="493776" cy="49377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8"/>
          <p:cNvSpPr/>
          <p:nvPr/>
        </p:nvSpPr>
        <p:spPr>
          <a:xfrm>
            <a:off x="6629400" y="3933566"/>
            <a:ext cx="493776" cy="1728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8"/>
          <p:cNvSpPr/>
          <p:nvPr/>
        </p:nvSpPr>
        <p:spPr>
          <a:xfrm>
            <a:off x="7123176" y="3849624"/>
            <a:ext cx="493776" cy="49377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8"/>
          <p:cNvSpPr/>
          <p:nvPr/>
        </p:nvSpPr>
        <p:spPr>
          <a:xfrm>
            <a:off x="7123176" y="3933566"/>
            <a:ext cx="493776" cy="1728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8"/>
          <p:cNvSpPr/>
          <p:nvPr/>
        </p:nvSpPr>
        <p:spPr>
          <a:xfrm>
            <a:off x="7616952" y="3849624"/>
            <a:ext cx="493776" cy="49377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8"/>
          <p:cNvSpPr/>
          <p:nvPr/>
        </p:nvSpPr>
        <p:spPr>
          <a:xfrm>
            <a:off x="7616952" y="3933566"/>
            <a:ext cx="493776" cy="1728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8"/>
          <p:cNvSpPr/>
          <p:nvPr/>
        </p:nvSpPr>
        <p:spPr>
          <a:xfrm>
            <a:off x="8110728" y="3849624"/>
            <a:ext cx="493776" cy="49377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8"/>
          <p:cNvSpPr/>
          <p:nvPr/>
        </p:nvSpPr>
        <p:spPr>
          <a:xfrm>
            <a:off x="8110728" y="3933566"/>
            <a:ext cx="493776" cy="1728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8"/>
          <p:cNvSpPr/>
          <p:nvPr/>
        </p:nvSpPr>
        <p:spPr>
          <a:xfrm>
            <a:off x="8604504" y="3849624"/>
            <a:ext cx="493776" cy="49377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8"/>
          <p:cNvSpPr/>
          <p:nvPr/>
        </p:nvSpPr>
        <p:spPr>
          <a:xfrm>
            <a:off x="8604504" y="3933566"/>
            <a:ext cx="493776" cy="1728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8"/>
          <p:cNvSpPr/>
          <p:nvPr/>
        </p:nvSpPr>
        <p:spPr>
          <a:xfrm>
            <a:off x="6144768" y="4709160"/>
            <a:ext cx="4892040" cy="1051560"/>
          </a:xfrm>
          <a:prstGeom prst="roundRect">
            <a:avLst>
              <a:gd fmla="val 6957" name="adj"/>
            </a:avLst>
          </a:prstGeom>
          <a:solidFill>
            <a:srgbClr val="FCE4EC"/>
          </a:solidFill>
          <a:ln cap="flat" cmpd="sng" w="13950">
            <a:solidFill>
              <a:srgbClr val="9BB7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8"/>
          <p:cNvSpPr/>
          <p:nvPr/>
        </p:nvSpPr>
        <p:spPr>
          <a:xfrm>
            <a:off x="6281928" y="4818888"/>
            <a:ext cx="46177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Observation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8"/>
          <p:cNvSpPr/>
          <p:nvPr/>
        </p:nvSpPr>
        <p:spPr>
          <a:xfrm>
            <a:off x="6281928" y="5120640"/>
            <a:ext cx="4617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A[1][3] = 4 means there is a directed edge 1 -&gt; 3 with weight 4.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8"/>
          <p:cNvSpPr txBox="1"/>
          <p:nvPr>
            <p:ph idx="4294967295" type="sldNum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9"/>
          <p:cNvSpPr/>
          <p:nvPr/>
        </p:nvSpPr>
        <p:spPr>
          <a:xfrm>
            <a:off x="502920" y="292608"/>
            <a:ext cx="112471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2700"/>
              <a:buFont typeface="Play"/>
              <a:buNone/>
            </a:pPr>
            <a:r>
              <a:rPr b="1" i="0" lang="en-US" sz="2700" u="none" cap="none" strike="noStrike">
                <a:solidFill>
                  <a:srgbClr val="12355B"/>
                </a:solidFill>
                <a:latin typeface="Play"/>
                <a:ea typeface="Play"/>
                <a:cs typeface="Play"/>
                <a:sym typeface="Play"/>
              </a:rPr>
              <a:t>Editable Java: Directed Weighted Matrix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p9"/>
          <p:cNvSpPr/>
          <p:nvPr/>
        </p:nvSpPr>
        <p:spPr>
          <a:xfrm>
            <a:off x="530352" y="777240"/>
            <a:ext cx="11155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The edge format is {source, destination, weight}.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9"/>
          <p:cNvSpPr/>
          <p:nvPr/>
        </p:nvSpPr>
        <p:spPr>
          <a:xfrm>
            <a:off x="594360" y="1051560"/>
            <a:ext cx="6583680" cy="5303520"/>
          </a:xfrm>
          <a:prstGeom prst="roundRect">
            <a:avLst>
              <a:gd fmla="val 862" name="adj"/>
            </a:avLst>
          </a:prstGeom>
          <a:solidFill>
            <a:srgbClr val="F7F7F7"/>
          </a:solidFill>
          <a:ln cap="flat" cmpd="sng" w="10150">
            <a:solidFill>
              <a:srgbClr val="BDBD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9"/>
          <p:cNvSpPr/>
          <p:nvPr/>
        </p:nvSpPr>
        <p:spPr>
          <a:xfrm>
            <a:off x="704088" y="1124712"/>
            <a:ext cx="6364224" cy="5157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60"/>
              <a:buFont typeface="Consolas"/>
              <a:buNone/>
            </a:pPr>
            <a:r>
              <a:rPr b="0" i="0" lang="en-US" sz="76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public class GraphDirectedWeightedMatrix {</a:t>
            </a:r>
            <a:endParaRPr b="0" i="0" sz="7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60"/>
              <a:buFont typeface="Consolas"/>
              <a:buNone/>
            </a:pPr>
            <a:r>
              <a:rPr b="0" i="0" lang="en-US" sz="76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private int numVertices;</a:t>
            </a:r>
            <a:endParaRPr b="0" i="0" sz="7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60"/>
              <a:buFont typeface="Consolas"/>
              <a:buNone/>
            </a:pPr>
            <a:r>
              <a:rPr b="0" i="0" lang="en-US" sz="76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private int[][] adjMatrix;</a:t>
            </a:r>
            <a:endParaRPr b="0" i="0" sz="7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60"/>
              <a:buFont typeface="Arial"/>
              <a:buNone/>
            </a:pPr>
            <a:r>
              <a:t/>
            </a:r>
            <a:endParaRPr b="0" i="0" sz="7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60"/>
              <a:buFont typeface="Consolas"/>
              <a:buNone/>
            </a:pPr>
            <a:r>
              <a:rPr b="0" i="0" lang="en-US" sz="76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public GraphDirectedWeightedMatrix(int numVertices) {</a:t>
            </a:r>
            <a:endParaRPr b="0" i="0" sz="7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60"/>
              <a:buFont typeface="Consolas"/>
              <a:buNone/>
            </a:pPr>
            <a:r>
              <a:rPr b="0" i="0" lang="en-US" sz="76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this.numVertices = numVertices;</a:t>
            </a:r>
            <a:endParaRPr b="0" i="0" sz="7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60"/>
              <a:buFont typeface="Consolas"/>
              <a:buNone/>
            </a:pPr>
            <a:r>
              <a:rPr b="0" i="0" lang="en-US" sz="76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adjMatrix = new int[numVertices][numVertices];</a:t>
            </a:r>
            <a:endParaRPr b="0" i="0" sz="7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60"/>
              <a:buFont typeface="Consolas"/>
              <a:buNone/>
            </a:pPr>
            <a:r>
              <a:rPr b="0" i="0" lang="en-US" sz="76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b="0" i="0" sz="7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60"/>
              <a:buFont typeface="Arial"/>
              <a:buNone/>
            </a:pPr>
            <a:r>
              <a:t/>
            </a:r>
            <a:endParaRPr b="0" i="0" sz="7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60"/>
              <a:buFont typeface="Consolas"/>
              <a:buNone/>
            </a:pPr>
            <a:r>
              <a:rPr b="0" i="0" lang="en-US" sz="76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public void addEdges(int[][] edges) {</a:t>
            </a:r>
            <a:endParaRPr b="0" i="0" sz="7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60"/>
              <a:buFont typeface="Consolas"/>
              <a:buNone/>
            </a:pPr>
            <a:r>
              <a:rPr b="0" i="0" lang="en-US" sz="76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for (int i = 0; i &lt; edges.length; i++) {</a:t>
            </a:r>
            <a:endParaRPr b="0" i="0" sz="7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60"/>
              <a:buFont typeface="Consolas"/>
              <a:buNone/>
            </a:pPr>
            <a:r>
              <a:rPr b="0" i="0" lang="en-US" sz="76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    int source = edges[i][0];</a:t>
            </a:r>
            <a:endParaRPr b="0" i="0" sz="7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60"/>
              <a:buFont typeface="Consolas"/>
              <a:buNone/>
            </a:pPr>
            <a:r>
              <a:rPr b="0" i="0" lang="en-US" sz="76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    int destination = edges[i][1];</a:t>
            </a:r>
            <a:endParaRPr b="0" i="0" sz="7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60"/>
              <a:buFont typeface="Consolas"/>
              <a:buNone/>
            </a:pPr>
            <a:r>
              <a:rPr b="0" i="0" lang="en-US" sz="76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    int weight = edges[i][2];</a:t>
            </a:r>
            <a:endParaRPr b="0" i="0" sz="7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60"/>
              <a:buFont typeface="Consolas"/>
              <a:buNone/>
            </a:pPr>
            <a:r>
              <a:rPr b="0" i="0" lang="en-US" sz="76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    adjMatrix[source][destination] = weight;</a:t>
            </a:r>
            <a:endParaRPr b="0" i="0" sz="7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60"/>
              <a:buFont typeface="Consolas"/>
              <a:buNone/>
            </a:pPr>
            <a:r>
              <a:rPr b="0" i="0" lang="en-US" sz="76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b="0" i="0" sz="7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60"/>
              <a:buFont typeface="Consolas"/>
              <a:buNone/>
            </a:pPr>
            <a:r>
              <a:rPr b="0" i="0" lang="en-US" sz="76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b="0" i="0" sz="7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60"/>
              <a:buFont typeface="Arial"/>
              <a:buNone/>
            </a:pPr>
            <a:r>
              <a:t/>
            </a:r>
            <a:endParaRPr b="0" i="0" sz="7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60"/>
              <a:buFont typeface="Consolas"/>
              <a:buNone/>
            </a:pPr>
            <a:r>
              <a:rPr b="0" i="0" lang="en-US" sz="76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public void printMatrix() {</a:t>
            </a:r>
            <a:endParaRPr b="0" i="0" sz="7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60"/>
              <a:buFont typeface="Consolas"/>
              <a:buNone/>
            </a:pPr>
            <a:r>
              <a:rPr b="0" i="0" lang="en-US" sz="76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System.out.println("Adjacency Matrix:");</a:t>
            </a:r>
            <a:endParaRPr b="0" i="0" sz="7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60"/>
              <a:buFont typeface="Consolas"/>
              <a:buNone/>
            </a:pPr>
            <a:r>
              <a:rPr b="0" i="0" lang="en-US" sz="76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for (int i = 0; i &lt; numVertices; i++) {</a:t>
            </a:r>
            <a:endParaRPr b="0" i="0" sz="7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60"/>
              <a:buFont typeface="Consolas"/>
              <a:buNone/>
            </a:pPr>
            <a:r>
              <a:rPr b="0" i="0" lang="en-US" sz="76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    for (int j = 0; j &lt; numVertices; j++)</a:t>
            </a:r>
            <a:endParaRPr b="0" i="0" sz="7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60"/>
              <a:buFont typeface="Consolas"/>
              <a:buNone/>
            </a:pPr>
            <a:r>
              <a:rPr b="0" i="0" lang="en-US" sz="76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        System.out.print(adjMatrix[i][j] + " ");</a:t>
            </a:r>
            <a:endParaRPr b="0" i="0" sz="7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60"/>
              <a:buFont typeface="Consolas"/>
              <a:buNone/>
            </a:pPr>
            <a:r>
              <a:rPr b="0" i="0" lang="en-US" sz="76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    System.out.println();</a:t>
            </a:r>
            <a:endParaRPr b="0" i="0" sz="7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60"/>
              <a:buFont typeface="Consolas"/>
              <a:buNone/>
            </a:pPr>
            <a:r>
              <a:rPr b="0" i="0" lang="en-US" sz="76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b="0" i="0" sz="7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60"/>
              <a:buFont typeface="Consolas"/>
              <a:buNone/>
            </a:pPr>
            <a:r>
              <a:rPr b="0" i="0" lang="en-US" sz="76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b="0" i="0" sz="7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60"/>
              <a:buFont typeface="Arial"/>
              <a:buNone/>
            </a:pPr>
            <a:r>
              <a:t/>
            </a:r>
            <a:endParaRPr b="0" i="0" sz="7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60"/>
              <a:buFont typeface="Consolas"/>
              <a:buNone/>
            </a:pPr>
            <a:r>
              <a:rPr b="0" i="0" lang="en-US" sz="76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public void findNeighbors(int vertex) {</a:t>
            </a:r>
            <a:endParaRPr b="0" i="0" sz="7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60"/>
              <a:buFont typeface="Consolas"/>
              <a:buNone/>
            </a:pPr>
            <a:r>
              <a:rPr b="0" i="0" lang="en-US" sz="76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System.out.print("Neighbors of vertex " + vertex + ": ");</a:t>
            </a:r>
            <a:endParaRPr b="0" i="0" sz="7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60"/>
              <a:buFont typeface="Consolas"/>
              <a:buNone/>
            </a:pPr>
            <a:r>
              <a:rPr b="0" i="0" lang="en-US" sz="76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for (int i = 0; i &lt; numVertices; i++)</a:t>
            </a:r>
            <a:endParaRPr b="0" i="0" sz="7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60"/>
              <a:buFont typeface="Consolas"/>
              <a:buNone/>
            </a:pPr>
            <a:r>
              <a:rPr b="0" i="0" lang="en-US" sz="76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    if (adjMatrix[vertex][i] != 0) System.out.print(i + " ");</a:t>
            </a:r>
            <a:endParaRPr b="0" i="0" sz="7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60"/>
              <a:buFont typeface="Consolas"/>
              <a:buNone/>
            </a:pPr>
            <a:r>
              <a:rPr b="0" i="0" lang="en-US" sz="76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System.out.println();</a:t>
            </a:r>
            <a:endParaRPr b="0" i="0" sz="7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60"/>
              <a:buFont typeface="Consolas"/>
              <a:buNone/>
            </a:pPr>
            <a:r>
              <a:rPr b="0" i="0" lang="en-US" sz="76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b="0" i="0" sz="7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60"/>
              <a:buFont typeface="Consolas"/>
              <a:buNone/>
            </a:pPr>
            <a:r>
              <a:rPr b="0" i="0" lang="en-US" sz="76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7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9"/>
          <p:cNvSpPr/>
          <p:nvPr/>
        </p:nvSpPr>
        <p:spPr>
          <a:xfrm>
            <a:off x="7479792" y="1417320"/>
            <a:ext cx="4069080" cy="960120"/>
          </a:xfrm>
          <a:prstGeom prst="roundRect">
            <a:avLst>
              <a:gd fmla="val 7619" name="adj"/>
            </a:avLst>
          </a:prstGeom>
          <a:solidFill>
            <a:srgbClr val="FCE4EC"/>
          </a:solidFill>
          <a:ln cap="flat" cmpd="sng" w="13950">
            <a:solidFill>
              <a:srgbClr val="9BB7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9"/>
          <p:cNvSpPr/>
          <p:nvPr/>
        </p:nvSpPr>
        <p:spPr>
          <a:xfrm>
            <a:off x="7616952" y="1527048"/>
            <a:ext cx="3794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Insertion rule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9"/>
          <p:cNvSpPr/>
          <p:nvPr/>
        </p:nvSpPr>
        <p:spPr>
          <a:xfrm>
            <a:off x="7616952" y="1828800"/>
            <a:ext cx="3794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Store weight only in A[source][destination].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9"/>
          <p:cNvSpPr/>
          <p:nvPr/>
        </p:nvSpPr>
        <p:spPr>
          <a:xfrm>
            <a:off x="7479792" y="2697480"/>
            <a:ext cx="4069080" cy="1417320"/>
          </a:xfrm>
          <a:prstGeom prst="roundRect">
            <a:avLst>
              <a:gd fmla="val 3226" name="adj"/>
            </a:avLst>
          </a:prstGeom>
          <a:solidFill>
            <a:srgbClr val="F7F7F7"/>
          </a:solidFill>
          <a:ln cap="flat" cmpd="sng" w="10150">
            <a:solidFill>
              <a:srgbClr val="BDBD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9"/>
          <p:cNvSpPr/>
          <p:nvPr/>
        </p:nvSpPr>
        <p:spPr>
          <a:xfrm>
            <a:off x="7589520" y="2770632"/>
            <a:ext cx="3849624" cy="1271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30"/>
              <a:buFont typeface="Consolas"/>
              <a:buNone/>
            </a:pPr>
            <a:r>
              <a:rPr b="0" i="0" lang="en-US" sz="83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int[][] edges = {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30"/>
              <a:buFont typeface="Consolas"/>
              <a:buNone/>
            </a:pPr>
            <a:r>
              <a:rPr b="0" i="0" lang="en-US" sz="83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{0,1,2},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30"/>
              <a:buFont typeface="Consolas"/>
              <a:buNone/>
            </a:pPr>
            <a:r>
              <a:rPr b="0" i="0" lang="en-US" sz="83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{0,2,3},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30"/>
              <a:buFont typeface="Consolas"/>
              <a:buNone/>
            </a:pPr>
            <a:r>
              <a:rPr b="0" i="0" lang="en-US" sz="83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{1,3,4},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30"/>
              <a:buFont typeface="Consolas"/>
              <a:buNone/>
            </a:pPr>
            <a:r>
              <a:rPr b="0" i="0" lang="en-US" sz="83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{1,4,5},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30"/>
              <a:buFont typeface="Consolas"/>
              <a:buNone/>
            </a:pPr>
            <a:r>
              <a:rPr b="0" i="0" lang="en-US" sz="83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{2,3,6}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30"/>
              <a:buFont typeface="Consolas"/>
              <a:buNone/>
            </a:pPr>
            <a:r>
              <a:rPr b="0" i="0" lang="en-US" sz="83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};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9"/>
          <p:cNvSpPr/>
          <p:nvPr/>
        </p:nvSpPr>
        <p:spPr>
          <a:xfrm>
            <a:off x="7479792" y="4434840"/>
            <a:ext cx="4069080" cy="960120"/>
          </a:xfrm>
          <a:prstGeom prst="roundRect">
            <a:avLst>
              <a:gd fmla="val 7619" name="adj"/>
            </a:avLst>
          </a:prstGeom>
          <a:solidFill>
            <a:srgbClr val="EEF5FF"/>
          </a:solidFill>
          <a:ln cap="flat" cmpd="sng" w="13950">
            <a:solidFill>
              <a:srgbClr val="9BB7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9"/>
          <p:cNvSpPr/>
          <p:nvPr/>
        </p:nvSpPr>
        <p:spPr>
          <a:xfrm>
            <a:off x="7616952" y="4544568"/>
            <a:ext cx="3794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Neighbor check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9"/>
          <p:cNvSpPr/>
          <p:nvPr/>
        </p:nvSpPr>
        <p:spPr>
          <a:xfrm>
            <a:off x="7616952" y="4846320"/>
            <a:ext cx="3794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 != 0 because weights may be any nonzero number.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9"/>
          <p:cNvSpPr txBox="1"/>
          <p:nvPr>
            <p:ph idx="4294967295" type="sldNum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10"/>
          <p:cNvSpPr/>
          <p:nvPr/>
        </p:nvSpPr>
        <p:spPr>
          <a:xfrm>
            <a:off x="502920" y="292608"/>
            <a:ext cx="112471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2700"/>
              <a:buFont typeface="Play"/>
              <a:buNone/>
            </a:pPr>
            <a:r>
              <a:rPr b="1" i="0" lang="en-US" sz="2700" u="none" cap="none" strike="noStrike">
                <a:solidFill>
                  <a:srgbClr val="12355B"/>
                </a:solidFill>
                <a:latin typeface="Play"/>
                <a:ea typeface="Play"/>
                <a:cs typeface="Play"/>
                <a:sym typeface="Play"/>
              </a:rPr>
              <a:t>Adjacency Matrix: Undirected Weighted Graph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10"/>
          <p:cNvSpPr/>
          <p:nvPr/>
        </p:nvSpPr>
        <p:spPr>
          <a:xfrm>
            <a:off x="530352" y="777240"/>
            <a:ext cx="11155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The same weight is stored in both symmetric positions.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10"/>
          <p:cNvSpPr/>
          <p:nvPr/>
        </p:nvSpPr>
        <p:spPr>
          <a:xfrm>
            <a:off x="777240" y="1097280"/>
            <a:ext cx="4297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Graph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14" name="Google Shape;514;p10"/>
          <p:cNvCxnSpPr/>
          <p:nvPr/>
        </p:nvCxnSpPr>
        <p:spPr>
          <a:xfrm flipH="1" rot="10800000">
            <a:off x="1739953" y="2565067"/>
            <a:ext cx="1000653" cy="420274"/>
          </a:xfrm>
          <a:prstGeom prst="straightConnector1">
            <a:avLst/>
          </a:prstGeom>
          <a:noFill/>
          <a:ln cap="flat" cmpd="sng" w="14600">
            <a:solidFill>
              <a:srgbClr val="44444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5" name="Google Shape;515;p10"/>
          <p:cNvSpPr/>
          <p:nvPr/>
        </p:nvSpPr>
        <p:spPr>
          <a:xfrm>
            <a:off x="2130552" y="2683764"/>
            <a:ext cx="219456" cy="173736"/>
          </a:xfrm>
          <a:prstGeom prst="rect">
            <a:avLst/>
          </a:prstGeom>
          <a:solidFill>
            <a:srgbClr val="FFFFFF">
              <a:alpha val="94118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10"/>
          <p:cNvSpPr/>
          <p:nvPr/>
        </p:nvSpPr>
        <p:spPr>
          <a:xfrm>
            <a:off x="2130552" y="2692908"/>
            <a:ext cx="219456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17" name="Google Shape;517;p10"/>
          <p:cNvCxnSpPr/>
          <p:nvPr/>
        </p:nvCxnSpPr>
        <p:spPr>
          <a:xfrm>
            <a:off x="1731449" y="3158899"/>
            <a:ext cx="1337702" cy="723082"/>
          </a:xfrm>
          <a:prstGeom prst="straightConnector1">
            <a:avLst/>
          </a:prstGeom>
          <a:noFill/>
          <a:ln cap="flat" cmpd="sng" w="14600">
            <a:solidFill>
              <a:srgbClr val="44444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8" name="Google Shape;518;p10"/>
          <p:cNvSpPr/>
          <p:nvPr/>
        </p:nvSpPr>
        <p:spPr>
          <a:xfrm>
            <a:off x="2290572" y="3429000"/>
            <a:ext cx="219456" cy="173736"/>
          </a:xfrm>
          <a:prstGeom prst="rect">
            <a:avLst/>
          </a:prstGeom>
          <a:solidFill>
            <a:srgbClr val="FFFFFF">
              <a:alpha val="94118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10"/>
          <p:cNvSpPr/>
          <p:nvPr/>
        </p:nvSpPr>
        <p:spPr>
          <a:xfrm>
            <a:off x="2290572" y="3438144"/>
            <a:ext cx="219456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20" name="Google Shape;520;p10"/>
          <p:cNvCxnSpPr/>
          <p:nvPr/>
        </p:nvCxnSpPr>
        <p:spPr>
          <a:xfrm>
            <a:off x="3104924" y="2579273"/>
            <a:ext cx="1471111" cy="757622"/>
          </a:xfrm>
          <a:prstGeom prst="straightConnector1">
            <a:avLst/>
          </a:prstGeom>
          <a:noFill/>
          <a:ln cap="flat" cmpd="sng" w="14600">
            <a:solidFill>
              <a:srgbClr val="44444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21" name="Google Shape;521;p10"/>
          <p:cNvSpPr/>
          <p:nvPr/>
        </p:nvSpPr>
        <p:spPr>
          <a:xfrm>
            <a:off x="3730752" y="2866644"/>
            <a:ext cx="219456" cy="173736"/>
          </a:xfrm>
          <a:prstGeom prst="rect">
            <a:avLst/>
          </a:prstGeom>
          <a:solidFill>
            <a:srgbClr val="FFFFFF">
              <a:alpha val="94118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10"/>
          <p:cNvSpPr/>
          <p:nvPr/>
        </p:nvSpPr>
        <p:spPr>
          <a:xfrm>
            <a:off x="3730752" y="2875788"/>
            <a:ext cx="219456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23" name="Google Shape;523;p10"/>
          <p:cNvCxnSpPr/>
          <p:nvPr/>
        </p:nvCxnSpPr>
        <p:spPr>
          <a:xfrm flipH="1" rot="10800000">
            <a:off x="3116801" y="2075664"/>
            <a:ext cx="1035877" cy="347520"/>
          </a:xfrm>
          <a:prstGeom prst="straightConnector1">
            <a:avLst/>
          </a:prstGeom>
          <a:noFill/>
          <a:ln cap="flat" cmpd="sng" w="14600">
            <a:solidFill>
              <a:srgbClr val="44444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24" name="Google Shape;524;p10"/>
          <p:cNvSpPr/>
          <p:nvPr/>
        </p:nvSpPr>
        <p:spPr>
          <a:xfrm>
            <a:off x="3525012" y="2157984"/>
            <a:ext cx="219456" cy="173736"/>
          </a:xfrm>
          <a:prstGeom prst="rect">
            <a:avLst/>
          </a:prstGeom>
          <a:solidFill>
            <a:srgbClr val="FFFFFF">
              <a:alpha val="94118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10"/>
          <p:cNvSpPr/>
          <p:nvPr/>
        </p:nvSpPr>
        <p:spPr>
          <a:xfrm>
            <a:off x="3525012" y="2167128"/>
            <a:ext cx="219456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26" name="Google Shape;526;p10"/>
          <p:cNvCxnSpPr/>
          <p:nvPr/>
        </p:nvCxnSpPr>
        <p:spPr>
          <a:xfrm flipH="1" rot="10800000">
            <a:off x="3435176" y="3497748"/>
            <a:ext cx="1130647" cy="411144"/>
          </a:xfrm>
          <a:prstGeom prst="straightConnector1">
            <a:avLst/>
          </a:prstGeom>
          <a:noFill/>
          <a:ln cap="flat" cmpd="sng" w="14600">
            <a:solidFill>
              <a:srgbClr val="44444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27" name="Google Shape;527;p10"/>
          <p:cNvSpPr/>
          <p:nvPr/>
        </p:nvSpPr>
        <p:spPr>
          <a:xfrm>
            <a:off x="3890772" y="3611880"/>
            <a:ext cx="219456" cy="173736"/>
          </a:xfrm>
          <a:prstGeom prst="rect">
            <a:avLst/>
          </a:prstGeom>
          <a:solidFill>
            <a:srgbClr val="FFFFFF">
              <a:alpha val="94118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10"/>
          <p:cNvSpPr/>
          <p:nvPr/>
        </p:nvSpPr>
        <p:spPr>
          <a:xfrm>
            <a:off x="3890772" y="3621024"/>
            <a:ext cx="219456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p10"/>
          <p:cNvSpPr/>
          <p:nvPr/>
        </p:nvSpPr>
        <p:spPr>
          <a:xfrm>
            <a:off x="1353312" y="2862072"/>
            <a:ext cx="402336" cy="402336"/>
          </a:xfrm>
          <a:prstGeom prst="ellipse">
            <a:avLst/>
          </a:prstGeom>
          <a:solidFill>
            <a:srgbClr val="BFD7EA"/>
          </a:solidFill>
          <a:ln cap="flat" cmpd="sng" w="13950">
            <a:solidFill>
              <a:srgbClr val="6E8D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10"/>
          <p:cNvSpPr/>
          <p:nvPr/>
        </p:nvSpPr>
        <p:spPr>
          <a:xfrm>
            <a:off x="1444752" y="2962656"/>
            <a:ext cx="21945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p10"/>
          <p:cNvSpPr/>
          <p:nvPr/>
        </p:nvSpPr>
        <p:spPr>
          <a:xfrm>
            <a:off x="2724912" y="2286000"/>
            <a:ext cx="402336" cy="402336"/>
          </a:xfrm>
          <a:prstGeom prst="ellipse">
            <a:avLst/>
          </a:prstGeom>
          <a:solidFill>
            <a:srgbClr val="BFD7EA"/>
          </a:solidFill>
          <a:ln cap="flat" cmpd="sng" w="13950">
            <a:solidFill>
              <a:srgbClr val="6E8D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10"/>
          <p:cNvSpPr/>
          <p:nvPr/>
        </p:nvSpPr>
        <p:spPr>
          <a:xfrm>
            <a:off x="2816352" y="2386584"/>
            <a:ext cx="21945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p10"/>
          <p:cNvSpPr/>
          <p:nvPr/>
        </p:nvSpPr>
        <p:spPr>
          <a:xfrm>
            <a:off x="3044952" y="3776472"/>
            <a:ext cx="402336" cy="402336"/>
          </a:xfrm>
          <a:prstGeom prst="ellipse">
            <a:avLst/>
          </a:prstGeom>
          <a:solidFill>
            <a:srgbClr val="BFD7EA"/>
          </a:solidFill>
          <a:ln cap="flat" cmpd="sng" w="13950">
            <a:solidFill>
              <a:srgbClr val="6E8D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10"/>
          <p:cNvSpPr/>
          <p:nvPr/>
        </p:nvSpPr>
        <p:spPr>
          <a:xfrm>
            <a:off x="3136392" y="3877056"/>
            <a:ext cx="21945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" name="Google Shape;535;p10"/>
          <p:cNvSpPr/>
          <p:nvPr/>
        </p:nvSpPr>
        <p:spPr>
          <a:xfrm>
            <a:off x="4553712" y="3227832"/>
            <a:ext cx="402336" cy="402336"/>
          </a:xfrm>
          <a:prstGeom prst="ellipse">
            <a:avLst/>
          </a:prstGeom>
          <a:solidFill>
            <a:srgbClr val="BFD7EA"/>
          </a:solidFill>
          <a:ln cap="flat" cmpd="sng" w="13950">
            <a:solidFill>
              <a:srgbClr val="6E8D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10"/>
          <p:cNvSpPr/>
          <p:nvPr/>
        </p:nvSpPr>
        <p:spPr>
          <a:xfrm>
            <a:off x="4645152" y="3328416"/>
            <a:ext cx="21945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p10"/>
          <p:cNvSpPr/>
          <p:nvPr/>
        </p:nvSpPr>
        <p:spPr>
          <a:xfrm>
            <a:off x="4142232" y="1810512"/>
            <a:ext cx="402336" cy="402336"/>
          </a:xfrm>
          <a:prstGeom prst="ellipse">
            <a:avLst/>
          </a:prstGeom>
          <a:solidFill>
            <a:srgbClr val="BFD7EA"/>
          </a:solidFill>
          <a:ln cap="flat" cmpd="sng" w="13950">
            <a:solidFill>
              <a:srgbClr val="6E8D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10"/>
          <p:cNvSpPr/>
          <p:nvPr/>
        </p:nvSpPr>
        <p:spPr>
          <a:xfrm>
            <a:off x="4233672" y="1911096"/>
            <a:ext cx="21945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p10"/>
          <p:cNvSpPr/>
          <p:nvPr/>
        </p:nvSpPr>
        <p:spPr>
          <a:xfrm>
            <a:off x="6355080" y="1097280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Adjacency Matrix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10"/>
          <p:cNvSpPr/>
          <p:nvPr/>
        </p:nvSpPr>
        <p:spPr>
          <a:xfrm>
            <a:off x="6629400" y="1454810"/>
            <a:ext cx="493776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5AA8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E5AA8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10"/>
          <p:cNvSpPr/>
          <p:nvPr/>
        </p:nvSpPr>
        <p:spPr>
          <a:xfrm>
            <a:off x="7123176" y="1454810"/>
            <a:ext cx="493776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5AA8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E5AA8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p10"/>
          <p:cNvSpPr/>
          <p:nvPr/>
        </p:nvSpPr>
        <p:spPr>
          <a:xfrm>
            <a:off x="7616952" y="1454810"/>
            <a:ext cx="493776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5AA8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E5AA8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p10"/>
          <p:cNvSpPr/>
          <p:nvPr/>
        </p:nvSpPr>
        <p:spPr>
          <a:xfrm>
            <a:off x="8110728" y="1454810"/>
            <a:ext cx="493776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5AA8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E5AA8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p10"/>
          <p:cNvSpPr/>
          <p:nvPr/>
        </p:nvSpPr>
        <p:spPr>
          <a:xfrm>
            <a:off x="8604504" y="1454810"/>
            <a:ext cx="493776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5AA8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E5AA8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10"/>
          <p:cNvSpPr/>
          <p:nvPr/>
        </p:nvSpPr>
        <p:spPr>
          <a:xfrm>
            <a:off x="6283757" y="1958462"/>
            <a:ext cx="246888" cy="2073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5AA8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E5AA8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10"/>
          <p:cNvSpPr/>
          <p:nvPr/>
        </p:nvSpPr>
        <p:spPr>
          <a:xfrm>
            <a:off x="6629400" y="1874520"/>
            <a:ext cx="493776" cy="49377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10"/>
          <p:cNvSpPr/>
          <p:nvPr/>
        </p:nvSpPr>
        <p:spPr>
          <a:xfrm>
            <a:off x="6629400" y="1958462"/>
            <a:ext cx="493776" cy="1728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Google Shape;548;p10"/>
          <p:cNvSpPr/>
          <p:nvPr/>
        </p:nvSpPr>
        <p:spPr>
          <a:xfrm>
            <a:off x="7123176" y="1874520"/>
            <a:ext cx="493776" cy="49377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10"/>
          <p:cNvSpPr/>
          <p:nvPr/>
        </p:nvSpPr>
        <p:spPr>
          <a:xfrm>
            <a:off x="7123176" y="1958462"/>
            <a:ext cx="493776" cy="1728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002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B0002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p10"/>
          <p:cNvSpPr/>
          <p:nvPr/>
        </p:nvSpPr>
        <p:spPr>
          <a:xfrm>
            <a:off x="7616952" y="1874520"/>
            <a:ext cx="493776" cy="49377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10"/>
          <p:cNvSpPr/>
          <p:nvPr/>
        </p:nvSpPr>
        <p:spPr>
          <a:xfrm>
            <a:off x="7616952" y="1958462"/>
            <a:ext cx="493776" cy="1728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002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B0002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p10"/>
          <p:cNvSpPr/>
          <p:nvPr/>
        </p:nvSpPr>
        <p:spPr>
          <a:xfrm>
            <a:off x="8110728" y="1874520"/>
            <a:ext cx="493776" cy="49377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10"/>
          <p:cNvSpPr/>
          <p:nvPr/>
        </p:nvSpPr>
        <p:spPr>
          <a:xfrm>
            <a:off x="8110728" y="1958462"/>
            <a:ext cx="493776" cy="1728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p10"/>
          <p:cNvSpPr/>
          <p:nvPr/>
        </p:nvSpPr>
        <p:spPr>
          <a:xfrm>
            <a:off x="8604504" y="1874520"/>
            <a:ext cx="493776" cy="49377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10"/>
          <p:cNvSpPr/>
          <p:nvPr/>
        </p:nvSpPr>
        <p:spPr>
          <a:xfrm>
            <a:off x="8604504" y="1958462"/>
            <a:ext cx="493776" cy="1728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" name="Google Shape;556;p10"/>
          <p:cNvSpPr/>
          <p:nvPr/>
        </p:nvSpPr>
        <p:spPr>
          <a:xfrm>
            <a:off x="6283757" y="2452238"/>
            <a:ext cx="246888" cy="2073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5AA8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E5AA8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" name="Google Shape;557;p10"/>
          <p:cNvSpPr/>
          <p:nvPr/>
        </p:nvSpPr>
        <p:spPr>
          <a:xfrm>
            <a:off x="6629400" y="2368296"/>
            <a:ext cx="493776" cy="49377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10"/>
          <p:cNvSpPr/>
          <p:nvPr/>
        </p:nvSpPr>
        <p:spPr>
          <a:xfrm>
            <a:off x="6629400" y="2452238"/>
            <a:ext cx="493776" cy="1728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002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B0002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p10"/>
          <p:cNvSpPr/>
          <p:nvPr/>
        </p:nvSpPr>
        <p:spPr>
          <a:xfrm>
            <a:off x="7123176" y="2368296"/>
            <a:ext cx="493776" cy="49377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10"/>
          <p:cNvSpPr/>
          <p:nvPr/>
        </p:nvSpPr>
        <p:spPr>
          <a:xfrm>
            <a:off x="7123176" y="2452238"/>
            <a:ext cx="493776" cy="1728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" name="Google Shape;561;p10"/>
          <p:cNvSpPr/>
          <p:nvPr/>
        </p:nvSpPr>
        <p:spPr>
          <a:xfrm>
            <a:off x="7616952" y="2368296"/>
            <a:ext cx="493776" cy="49377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10"/>
          <p:cNvSpPr/>
          <p:nvPr/>
        </p:nvSpPr>
        <p:spPr>
          <a:xfrm>
            <a:off x="7616952" y="2452238"/>
            <a:ext cx="493776" cy="1728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p10"/>
          <p:cNvSpPr/>
          <p:nvPr/>
        </p:nvSpPr>
        <p:spPr>
          <a:xfrm>
            <a:off x="8110728" y="2368296"/>
            <a:ext cx="493776" cy="49377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10"/>
          <p:cNvSpPr/>
          <p:nvPr/>
        </p:nvSpPr>
        <p:spPr>
          <a:xfrm>
            <a:off x="8110728" y="2452238"/>
            <a:ext cx="493776" cy="1728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002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B0002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p10"/>
          <p:cNvSpPr/>
          <p:nvPr/>
        </p:nvSpPr>
        <p:spPr>
          <a:xfrm>
            <a:off x="8604504" y="2368296"/>
            <a:ext cx="493776" cy="49377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10"/>
          <p:cNvSpPr/>
          <p:nvPr/>
        </p:nvSpPr>
        <p:spPr>
          <a:xfrm>
            <a:off x="8604504" y="2452238"/>
            <a:ext cx="493776" cy="1728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002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B0002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p10"/>
          <p:cNvSpPr/>
          <p:nvPr/>
        </p:nvSpPr>
        <p:spPr>
          <a:xfrm>
            <a:off x="6283757" y="2946014"/>
            <a:ext cx="246888" cy="2073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5AA8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E5AA8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p10"/>
          <p:cNvSpPr/>
          <p:nvPr/>
        </p:nvSpPr>
        <p:spPr>
          <a:xfrm>
            <a:off x="6629400" y="2862072"/>
            <a:ext cx="493776" cy="49377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10"/>
          <p:cNvSpPr/>
          <p:nvPr/>
        </p:nvSpPr>
        <p:spPr>
          <a:xfrm>
            <a:off x="6629400" y="2946014"/>
            <a:ext cx="493776" cy="1728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002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B0002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0" name="Google Shape;570;p10"/>
          <p:cNvSpPr/>
          <p:nvPr/>
        </p:nvSpPr>
        <p:spPr>
          <a:xfrm>
            <a:off x="7123176" y="2862072"/>
            <a:ext cx="493776" cy="49377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10"/>
          <p:cNvSpPr/>
          <p:nvPr/>
        </p:nvSpPr>
        <p:spPr>
          <a:xfrm>
            <a:off x="7123176" y="2946014"/>
            <a:ext cx="493776" cy="1728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" name="Google Shape;572;p10"/>
          <p:cNvSpPr/>
          <p:nvPr/>
        </p:nvSpPr>
        <p:spPr>
          <a:xfrm>
            <a:off x="7616952" y="2862072"/>
            <a:ext cx="493776" cy="49377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10"/>
          <p:cNvSpPr/>
          <p:nvPr/>
        </p:nvSpPr>
        <p:spPr>
          <a:xfrm>
            <a:off x="7616952" y="2946014"/>
            <a:ext cx="493776" cy="1728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4" name="Google Shape;574;p10"/>
          <p:cNvSpPr/>
          <p:nvPr/>
        </p:nvSpPr>
        <p:spPr>
          <a:xfrm>
            <a:off x="8110728" y="2862072"/>
            <a:ext cx="493776" cy="49377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10"/>
          <p:cNvSpPr/>
          <p:nvPr/>
        </p:nvSpPr>
        <p:spPr>
          <a:xfrm>
            <a:off x="8110728" y="2946014"/>
            <a:ext cx="493776" cy="1728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002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B0002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6" name="Google Shape;576;p10"/>
          <p:cNvSpPr/>
          <p:nvPr/>
        </p:nvSpPr>
        <p:spPr>
          <a:xfrm>
            <a:off x="8604504" y="2862072"/>
            <a:ext cx="493776" cy="49377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10"/>
          <p:cNvSpPr/>
          <p:nvPr/>
        </p:nvSpPr>
        <p:spPr>
          <a:xfrm>
            <a:off x="8604504" y="2946014"/>
            <a:ext cx="493776" cy="1728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p10"/>
          <p:cNvSpPr/>
          <p:nvPr/>
        </p:nvSpPr>
        <p:spPr>
          <a:xfrm>
            <a:off x="6283757" y="3439790"/>
            <a:ext cx="246888" cy="2073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5AA8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E5AA8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p10"/>
          <p:cNvSpPr/>
          <p:nvPr/>
        </p:nvSpPr>
        <p:spPr>
          <a:xfrm>
            <a:off x="6629400" y="3355848"/>
            <a:ext cx="493776" cy="49377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10"/>
          <p:cNvSpPr/>
          <p:nvPr/>
        </p:nvSpPr>
        <p:spPr>
          <a:xfrm>
            <a:off x="6629400" y="3439790"/>
            <a:ext cx="493776" cy="1728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p10"/>
          <p:cNvSpPr/>
          <p:nvPr/>
        </p:nvSpPr>
        <p:spPr>
          <a:xfrm>
            <a:off x="7123176" y="3355848"/>
            <a:ext cx="493776" cy="49377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10"/>
          <p:cNvSpPr/>
          <p:nvPr/>
        </p:nvSpPr>
        <p:spPr>
          <a:xfrm>
            <a:off x="7123176" y="3439790"/>
            <a:ext cx="493776" cy="1728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002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B0002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p10"/>
          <p:cNvSpPr/>
          <p:nvPr/>
        </p:nvSpPr>
        <p:spPr>
          <a:xfrm>
            <a:off x="7616952" y="3355848"/>
            <a:ext cx="493776" cy="49377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10"/>
          <p:cNvSpPr/>
          <p:nvPr/>
        </p:nvSpPr>
        <p:spPr>
          <a:xfrm>
            <a:off x="7616952" y="3439790"/>
            <a:ext cx="493776" cy="1728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002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B0002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5" name="Google Shape;585;p10"/>
          <p:cNvSpPr/>
          <p:nvPr/>
        </p:nvSpPr>
        <p:spPr>
          <a:xfrm>
            <a:off x="8110728" y="3355848"/>
            <a:ext cx="493776" cy="49377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10"/>
          <p:cNvSpPr/>
          <p:nvPr/>
        </p:nvSpPr>
        <p:spPr>
          <a:xfrm>
            <a:off x="8110728" y="3439790"/>
            <a:ext cx="493776" cy="1728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" name="Google Shape;587;p10"/>
          <p:cNvSpPr/>
          <p:nvPr/>
        </p:nvSpPr>
        <p:spPr>
          <a:xfrm>
            <a:off x="8604504" y="3355848"/>
            <a:ext cx="493776" cy="49377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10"/>
          <p:cNvSpPr/>
          <p:nvPr/>
        </p:nvSpPr>
        <p:spPr>
          <a:xfrm>
            <a:off x="8604504" y="3439790"/>
            <a:ext cx="493776" cy="1728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" name="Google Shape;589;p10"/>
          <p:cNvSpPr/>
          <p:nvPr/>
        </p:nvSpPr>
        <p:spPr>
          <a:xfrm>
            <a:off x="6283757" y="3933566"/>
            <a:ext cx="246888" cy="2073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5AA8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E5AA8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0" name="Google Shape;590;p10"/>
          <p:cNvSpPr/>
          <p:nvPr/>
        </p:nvSpPr>
        <p:spPr>
          <a:xfrm>
            <a:off x="6629400" y="3849624"/>
            <a:ext cx="493776" cy="49377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10"/>
          <p:cNvSpPr/>
          <p:nvPr/>
        </p:nvSpPr>
        <p:spPr>
          <a:xfrm>
            <a:off x="6629400" y="3933566"/>
            <a:ext cx="493776" cy="1728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" name="Google Shape;592;p10"/>
          <p:cNvSpPr/>
          <p:nvPr/>
        </p:nvSpPr>
        <p:spPr>
          <a:xfrm>
            <a:off x="7123176" y="3849624"/>
            <a:ext cx="493776" cy="49377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10"/>
          <p:cNvSpPr/>
          <p:nvPr/>
        </p:nvSpPr>
        <p:spPr>
          <a:xfrm>
            <a:off x="7123176" y="3933566"/>
            <a:ext cx="493776" cy="1728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002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B0002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4" name="Google Shape;594;p10"/>
          <p:cNvSpPr/>
          <p:nvPr/>
        </p:nvSpPr>
        <p:spPr>
          <a:xfrm>
            <a:off x="7616952" y="3849624"/>
            <a:ext cx="493776" cy="49377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10"/>
          <p:cNvSpPr/>
          <p:nvPr/>
        </p:nvSpPr>
        <p:spPr>
          <a:xfrm>
            <a:off x="7616952" y="3933566"/>
            <a:ext cx="493776" cy="1728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p10"/>
          <p:cNvSpPr/>
          <p:nvPr/>
        </p:nvSpPr>
        <p:spPr>
          <a:xfrm>
            <a:off x="8110728" y="3849624"/>
            <a:ext cx="493776" cy="49377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p10"/>
          <p:cNvSpPr/>
          <p:nvPr/>
        </p:nvSpPr>
        <p:spPr>
          <a:xfrm>
            <a:off x="8110728" y="3933566"/>
            <a:ext cx="493776" cy="1728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" name="Google Shape;598;p10"/>
          <p:cNvSpPr/>
          <p:nvPr/>
        </p:nvSpPr>
        <p:spPr>
          <a:xfrm>
            <a:off x="8604504" y="3849624"/>
            <a:ext cx="493776" cy="49377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p10"/>
          <p:cNvSpPr/>
          <p:nvPr/>
        </p:nvSpPr>
        <p:spPr>
          <a:xfrm>
            <a:off x="8604504" y="3933566"/>
            <a:ext cx="493776" cy="1728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0" name="Google Shape;600;p10"/>
          <p:cNvSpPr/>
          <p:nvPr/>
        </p:nvSpPr>
        <p:spPr>
          <a:xfrm>
            <a:off x="6144768" y="4709160"/>
            <a:ext cx="4892040" cy="1051560"/>
          </a:xfrm>
          <a:prstGeom prst="roundRect">
            <a:avLst>
              <a:gd fmla="val 6957" name="adj"/>
            </a:avLst>
          </a:prstGeom>
          <a:solidFill>
            <a:srgbClr val="F1F8E9"/>
          </a:solidFill>
          <a:ln cap="flat" cmpd="sng" w="13950">
            <a:solidFill>
              <a:srgbClr val="9BB7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10"/>
          <p:cNvSpPr/>
          <p:nvPr/>
        </p:nvSpPr>
        <p:spPr>
          <a:xfrm>
            <a:off x="6281928" y="4818888"/>
            <a:ext cx="46177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Observation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" name="Google Shape;602;p10"/>
          <p:cNvSpPr/>
          <p:nvPr/>
        </p:nvSpPr>
        <p:spPr>
          <a:xfrm>
            <a:off x="6281928" y="5120640"/>
            <a:ext cx="4617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A[2][3] = 6 and A[3][2] = 6. The matrix is symmetric.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3" name="Google Shape;603;p10"/>
          <p:cNvSpPr txBox="1"/>
          <p:nvPr>
            <p:ph idx="4294967295" type="sldNum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11"/>
          <p:cNvSpPr/>
          <p:nvPr/>
        </p:nvSpPr>
        <p:spPr>
          <a:xfrm>
            <a:off x="502920" y="292608"/>
            <a:ext cx="112471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2700"/>
              <a:buFont typeface="Play"/>
              <a:buNone/>
            </a:pPr>
            <a:r>
              <a:rPr b="1" i="0" lang="en-US" sz="2700" u="none" cap="none" strike="noStrike">
                <a:solidFill>
                  <a:srgbClr val="12355B"/>
                </a:solidFill>
                <a:latin typeface="Play"/>
                <a:ea typeface="Play"/>
                <a:cs typeface="Play"/>
                <a:sym typeface="Play"/>
              </a:rPr>
              <a:t>Editable Java: Undirected Weighted Matrix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p11"/>
          <p:cNvSpPr/>
          <p:nvPr/>
        </p:nvSpPr>
        <p:spPr>
          <a:xfrm>
            <a:off x="530352" y="777240"/>
            <a:ext cx="11155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One weighted edge updates two cells.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" name="Google Shape;611;p11"/>
          <p:cNvSpPr/>
          <p:nvPr/>
        </p:nvSpPr>
        <p:spPr>
          <a:xfrm>
            <a:off x="594360" y="1051560"/>
            <a:ext cx="6583680" cy="5303520"/>
          </a:xfrm>
          <a:prstGeom prst="roundRect">
            <a:avLst>
              <a:gd fmla="val 862" name="adj"/>
            </a:avLst>
          </a:prstGeom>
          <a:solidFill>
            <a:srgbClr val="F7F7F7"/>
          </a:solidFill>
          <a:ln cap="flat" cmpd="sng" w="10150">
            <a:solidFill>
              <a:srgbClr val="BDBD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11"/>
          <p:cNvSpPr/>
          <p:nvPr/>
        </p:nvSpPr>
        <p:spPr>
          <a:xfrm>
            <a:off x="704088" y="1124712"/>
            <a:ext cx="6364224" cy="5157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60"/>
              <a:buFont typeface="Consolas"/>
              <a:buNone/>
            </a:pPr>
            <a:r>
              <a:rPr b="0" i="0" lang="en-US" sz="76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public class GraphUndirectedWeightedMatrix {</a:t>
            </a:r>
            <a:endParaRPr b="0" i="0" sz="7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60"/>
              <a:buFont typeface="Consolas"/>
              <a:buNone/>
            </a:pPr>
            <a:r>
              <a:rPr b="0" i="0" lang="en-US" sz="76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private int numVertices;</a:t>
            </a:r>
            <a:endParaRPr b="0" i="0" sz="7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60"/>
              <a:buFont typeface="Consolas"/>
              <a:buNone/>
            </a:pPr>
            <a:r>
              <a:rPr b="0" i="0" lang="en-US" sz="76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private int[][] adjMatrix;</a:t>
            </a:r>
            <a:endParaRPr b="0" i="0" sz="7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60"/>
              <a:buFont typeface="Arial"/>
              <a:buNone/>
            </a:pPr>
            <a:r>
              <a:t/>
            </a:r>
            <a:endParaRPr b="0" i="0" sz="7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60"/>
              <a:buFont typeface="Consolas"/>
              <a:buNone/>
            </a:pPr>
            <a:r>
              <a:rPr b="0" i="0" lang="en-US" sz="76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public GraphUndirectedWeightedMatrix(int numVertices) {</a:t>
            </a:r>
            <a:endParaRPr b="0" i="0" sz="7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60"/>
              <a:buFont typeface="Consolas"/>
              <a:buNone/>
            </a:pPr>
            <a:r>
              <a:rPr b="0" i="0" lang="en-US" sz="76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this.numVertices = numVertices;</a:t>
            </a:r>
            <a:endParaRPr b="0" i="0" sz="7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60"/>
              <a:buFont typeface="Consolas"/>
              <a:buNone/>
            </a:pPr>
            <a:r>
              <a:rPr b="0" i="0" lang="en-US" sz="76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adjMatrix = new int[numVertices][numVertices];</a:t>
            </a:r>
            <a:endParaRPr b="0" i="0" sz="7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60"/>
              <a:buFont typeface="Consolas"/>
              <a:buNone/>
            </a:pPr>
            <a:r>
              <a:rPr b="0" i="0" lang="en-US" sz="76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b="0" i="0" sz="7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60"/>
              <a:buFont typeface="Arial"/>
              <a:buNone/>
            </a:pPr>
            <a:r>
              <a:t/>
            </a:r>
            <a:endParaRPr b="0" i="0" sz="7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60"/>
              <a:buFont typeface="Consolas"/>
              <a:buNone/>
            </a:pPr>
            <a:r>
              <a:rPr b="0" i="0" lang="en-US" sz="76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public void addEdges(int[][] edges) {</a:t>
            </a:r>
            <a:endParaRPr b="0" i="0" sz="7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60"/>
              <a:buFont typeface="Consolas"/>
              <a:buNone/>
            </a:pPr>
            <a:r>
              <a:rPr b="0" i="0" lang="en-US" sz="76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for (int i = 0; i &lt; edges.length; i++) {</a:t>
            </a:r>
            <a:endParaRPr b="0" i="0" sz="7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60"/>
              <a:buFont typeface="Consolas"/>
              <a:buNone/>
            </a:pPr>
            <a:r>
              <a:rPr b="0" i="0" lang="en-US" sz="76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    int source = edges[i][0];</a:t>
            </a:r>
            <a:endParaRPr b="0" i="0" sz="7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60"/>
              <a:buFont typeface="Consolas"/>
              <a:buNone/>
            </a:pPr>
            <a:r>
              <a:rPr b="0" i="0" lang="en-US" sz="76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    int destination = edges[i][1];</a:t>
            </a:r>
            <a:endParaRPr b="0" i="0" sz="7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60"/>
              <a:buFont typeface="Consolas"/>
              <a:buNone/>
            </a:pPr>
            <a:r>
              <a:rPr b="0" i="0" lang="en-US" sz="76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    int weight = edges[i][2];</a:t>
            </a:r>
            <a:endParaRPr b="0" i="0" sz="7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60"/>
              <a:buFont typeface="Consolas"/>
              <a:buNone/>
            </a:pPr>
            <a:r>
              <a:rPr b="0" i="0" lang="en-US" sz="76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    adjMatrix[source][destination] = weight;</a:t>
            </a:r>
            <a:endParaRPr b="0" i="0" sz="7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60"/>
              <a:buFont typeface="Consolas"/>
              <a:buNone/>
            </a:pPr>
            <a:r>
              <a:rPr b="0" i="0" lang="en-US" sz="76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    adjMatrix[destination][source] = weight;</a:t>
            </a:r>
            <a:endParaRPr b="0" i="0" sz="7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60"/>
              <a:buFont typeface="Consolas"/>
              <a:buNone/>
            </a:pPr>
            <a:r>
              <a:rPr b="0" i="0" lang="en-US" sz="76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b="0" i="0" sz="7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60"/>
              <a:buFont typeface="Consolas"/>
              <a:buNone/>
            </a:pPr>
            <a:r>
              <a:rPr b="0" i="0" lang="en-US" sz="76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b="0" i="0" sz="7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60"/>
              <a:buFont typeface="Arial"/>
              <a:buNone/>
            </a:pPr>
            <a:r>
              <a:t/>
            </a:r>
            <a:endParaRPr b="0" i="0" sz="7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60"/>
              <a:buFont typeface="Consolas"/>
              <a:buNone/>
            </a:pPr>
            <a:r>
              <a:rPr b="0" i="0" lang="en-US" sz="76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public void printMatrix() {</a:t>
            </a:r>
            <a:endParaRPr b="0" i="0" sz="7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60"/>
              <a:buFont typeface="Consolas"/>
              <a:buNone/>
            </a:pPr>
            <a:r>
              <a:rPr b="0" i="0" lang="en-US" sz="76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System.out.println("Adjacency Matrix:");</a:t>
            </a:r>
            <a:endParaRPr b="0" i="0" sz="7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60"/>
              <a:buFont typeface="Consolas"/>
              <a:buNone/>
            </a:pPr>
            <a:r>
              <a:rPr b="0" i="0" lang="en-US" sz="76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for (int i = 0; i &lt; numVertices; i++) {</a:t>
            </a:r>
            <a:endParaRPr b="0" i="0" sz="7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60"/>
              <a:buFont typeface="Consolas"/>
              <a:buNone/>
            </a:pPr>
            <a:r>
              <a:rPr b="0" i="0" lang="en-US" sz="76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    for (int j = 0; j &lt; numVertices; j++)</a:t>
            </a:r>
            <a:endParaRPr b="0" i="0" sz="7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60"/>
              <a:buFont typeface="Consolas"/>
              <a:buNone/>
            </a:pPr>
            <a:r>
              <a:rPr b="0" i="0" lang="en-US" sz="76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        System.out.print(adjMatrix[i][j] + " ");</a:t>
            </a:r>
            <a:endParaRPr b="0" i="0" sz="7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60"/>
              <a:buFont typeface="Consolas"/>
              <a:buNone/>
            </a:pPr>
            <a:r>
              <a:rPr b="0" i="0" lang="en-US" sz="76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    System.out.println();</a:t>
            </a:r>
            <a:endParaRPr b="0" i="0" sz="7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60"/>
              <a:buFont typeface="Consolas"/>
              <a:buNone/>
            </a:pPr>
            <a:r>
              <a:rPr b="0" i="0" lang="en-US" sz="76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b="0" i="0" sz="7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60"/>
              <a:buFont typeface="Consolas"/>
              <a:buNone/>
            </a:pPr>
            <a:r>
              <a:rPr b="0" i="0" lang="en-US" sz="76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b="0" i="0" sz="7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60"/>
              <a:buFont typeface="Arial"/>
              <a:buNone/>
            </a:pPr>
            <a:r>
              <a:t/>
            </a:r>
            <a:endParaRPr b="0" i="0" sz="7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60"/>
              <a:buFont typeface="Consolas"/>
              <a:buNone/>
            </a:pPr>
            <a:r>
              <a:rPr b="0" i="0" lang="en-US" sz="76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public void findNeighbors(int vertex) {</a:t>
            </a:r>
            <a:endParaRPr b="0" i="0" sz="7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60"/>
              <a:buFont typeface="Consolas"/>
              <a:buNone/>
            </a:pPr>
            <a:r>
              <a:rPr b="0" i="0" lang="en-US" sz="76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System.out.print("Neighbors of vertex " + vertex + ": ");</a:t>
            </a:r>
            <a:endParaRPr b="0" i="0" sz="7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60"/>
              <a:buFont typeface="Consolas"/>
              <a:buNone/>
            </a:pPr>
            <a:r>
              <a:rPr b="0" i="0" lang="en-US" sz="76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for (int i = 0; i &lt; numVertices; i++)</a:t>
            </a:r>
            <a:endParaRPr b="0" i="0" sz="7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60"/>
              <a:buFont typeface="Consolas"/>
              <a:buNone/>
            </a:pPr>
            <a:r>
              <a:rPr b="0" i="0" lang="en-US" sz="76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    if (adjMatrix[vertex][i] != 0) System.out.print(i + " ");</a:t>
            </a:r>
            <a:endParaRPr b="0" i="0" sz="7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60"/>
              <a:buFont typeface="Consolas"/>
              <a:buNone/>
            </a:pPr>
            <a:r>
              <a:rPr b="0" i="0" lang="en-US" sz="76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    System.out.println();</a:t>
            </a:r>
            <a:endParaRPr b="0" i="0" sz="7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60"/>
              <a:buFont typeface="Consolas"/>
              <a:buNone/>
            </a:pPr>
            <a:r>
              <a:rPr b="0" i="0" lang="en-US" sz="76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b="0" i="0" sz="7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60"/>
              <a:buFont typeface="Consolas"/>
              <a:buNone/>
            </a:pPr>
            <a:r>
              <a:rPr b="0" i="0" lang="en-US" sz="76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7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p11"/>
          <p:cNvSpPr/>
          <p:nvPr/>
        </p:nvSpPr>
        <p:spPr>
          <a:xfrm>
            <a:off x="7479792" y="1417320"/>
            <a:ext cx="4069080" cy="1005840"/>
          </a:xfrm>
          <a:prstGeom prst="roundRect">
            <a:avLst>
              <a:gd fmla="val 7273" name="adj"/>
            </a:avLst>
          </a:prstGeom>
          <a:solidFill>
            <a:srgbClr val="F1F8E9"/>
          </a:solidFill>
          <a:ln cap="flat" cmpd="sng" w="13950">
            <a:solidFill>
              <a:srgbClr val="9BB7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p11"/>
          <p:cNvSpPr/>
          <p:nvPr/>
        </p:nvSpPr>
        <p:spPr>
          <a:xfrm>
            <a:off x="7616952" y="1527048"/>
            <a:ext cx="3794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Insertion rule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" name="Google Shape;615;p11"/>
          <p:cNvSpPr/>
          <p:nvPr/>
        </p:nvSpPr>
        <p:spPr>
          <a:xfrm>
            <a:off x="7616952" y="1828800"/>
            <a:ext cx="3794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Set both A[source][destination] and A[destination][source] to weight.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6" name="Google Shape;616;p11"/>
          <p:cNvSpPr/>
          <p:nvPr/>
        </p:nvSpPr>
        <p:spPr>
          <a:xfrm>
            <a:off x="7479792" y="2788920"/>
            <a:ext cx="4069080" cy="1417320"/>
          </a:xfrm>
          <a:prstGeom prst="roundRect">
            <a:avLst>
              <a:gd fmla="val 3226" name="adj"/>
            </a:avLst>
          </a:prstGeom>
          <a:solidFill>
            <a:srgbClr val="F7F7F7"/>
          </a:solidFill>
          <a:ln cap="flat" cmpd="sng" w="10150">
            <a:solidFill>
              <a:srgbClr val="BDBD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p11"/>
          <p:cNvSpPr/>
          <p:nvPr/>
        </p:nvSpPr>
        <p:spPr>
          <a:xfrm>
            <a:off x="7589520" y="2862072"/>
            <a:ext cx="3849624" cy="1271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30"/>
              <a:buFont typeface="Consolas"/>
              <a:buNone/>
            </a:pPr>
            <a:r>
              <a:rPr b="0" i="0" lang="en-US" sz="83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int[][] edges = {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30"/>
              <a:buFont typeface="Consolas"/>
              <a:buNone/>
            </a:pPr>
            <a:r>
              <a:rPr b="0" i="0" lang="en-US" sz="83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{0,1,2},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30"/>
              <a:buFont typeface="Consolas"/>
              <a:buNone/>
            </a:pPr>
            <a:r>
              <a:rPr b="0" i="0" lang="en-US" sz="83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{0,2,3},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30"/>
              <a:buFont typeface="Consolas"/>
              <a:buNone/>
            </a:pPr>
            <a:r>
              <a:rPr b="0" i="0" lang="en-US" sz="83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{1,3,4},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30"/>
              <a:buFont typeface="Consolas"/>
              <a:buNone/>
            </a:pPr>
            <a:r>
              <a:rPr b="0" i="0" lang="en-US" sz="83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{1,4,5},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30"/>
              <a:buFont typeface="Consolas"/>
              <a:buNone/>
            </a:pPr>
            <a:r>
              <a:rPr b="0" i="0" lang="en-US" sz="83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    {2,3,6}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30"/>
              <a:buFont typeface="Consolas"/>
              <a:buNone/>
            </a:pPr>
            <a:r>
              <a:rPr b="0" i="0" lang="en-US" sz="83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};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8" name="Google Shape;618;p11"/>
          <p:cNvSpPr/>
          <p:nvPr/>
        </p:nvSpPr>
        <p:spPr>
          <a:xfrm>
            <a:off x="7479792" y="4526280"/>
            <a:ext cx="4069080" cy="960120"/>
          </a:xfrm>
          <a:prstGeom prst="roundRect">
            <a:avLst>
              <a:gd fmla="val 7619" name="adj"/>
            </a:avLst>
          </a:prstGeom>
          <a:solidFill>
            <a:srgbClr val="FFF2CC"/>
          </a:solidFill>
          <a:ln cap="flat" cmpd="sng" w="13950">
            <a:solidFill>
              <a:srgbClr val="9BB7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p11"/>
          <p:cNvSpPr/>
          <p:nvPr/>
        </p:nvSpPr>
        <p:spPr>
          <a:xfrm>
            <a:off x="7616952" y="4636008"/>
            <a:ext cx="3794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Result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0" name="Google Shape;620;p11"/>
          <p:cNvSpPr/>
          <p:nvPr/>
        </p:nvSpPr>
        <p:spPr>
          <a:xfrm>
            <a:off x="7616952" y="4937760"/>
            <a:ext cx="3794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symmetric weighted matrix.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1" name="Google Shape;621;p11"/>
          <p:cNvSpPr txBox="1"/>
          <p:nvPr>
            <p:ph idx="4294967295" type="sldNum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12"/>
          <p:cNvSpPr/>
          <p:nvPr/>
        </p:nvSpPr>
        <p:spPr>
          <a:xfrm>
            <a:off x="502920" y="292608"/>
            <a:ext cx="112471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2700"/>
              <a:buFont typeface="Play"/>
              <a:buNone/>
            </a:pPr>
            <a:r>
              <a:rPr b="1" i="0" lang="en-US" sz="2700" u="none" cap="none" strike="noStrike">
                <a:solidFill>
                  <a:srgbClr val="12355B"/>
                </a:solidFill>
                <a:latin typeface="Play"/>
                <a:ea typeface="Play"/>
                <a:cs typeface="Play"/>
                <a:sym typeface="Play"/>
              </a:rPr>
              <a:t>Adjacency List: Core Idea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8" name="Google Shape;628;p12"/>
          <p:cNvSpPr/>
          <p:nvPr/>
        </p:nvSpPr>
        <p:spPr>
          <a:xfrm>
            <a:off x="530352" y="777240"/>
            <a:ext cx="11155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Each vertex stores a list of its neighbors instead of a full V x V table.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9" name="Google Shape;629;p12"/>
          <p:cNvSpPr/>
          <p:nvPr/>
        </p:nvSpPr>
        <p:spPr>
          <a:xfrm>
            <a:off x="868680" y="1609344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5AA8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E5AA8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30" name="Google Shape;630;p12"/>
          <p:cNvCxnSpPr/>
          <p:nvPr/>
        </p:nvCxnSpPr>
        <p:spPr>
          <a:xfrm>
            <a:off x="1143000" y="1709928"/>
            <a:ext cx="292608" cy="0"/>
          </a:xfrm>
          <a:prstGeom prst="straightConnector1">
            <a:avLst/>
          </a:prstGeom>
          <a:noFill/>
          <a:ln cap="flat" cmpd="sng" w="13950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31" name="Google Shape;631;p12"/>
          <p:cNvSpPr/>
          <p:nvPr/>
        </p:nvSpPr>
        <p:spPr>
          <a:xfrm>
            <a:off x="1490472" y="1508760"/>
            <a:ext cx="566928" cy="329184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1425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p12"/>
          <p:cNvSpPr/>
          <p:nvPr/>
        </p:nvSpPr>
        <p:spPr>
          <a:xfrm>
            <a:off x="1517904" y="1581912"/>
            <a:ext cx="512064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33" name="Google Shape;633;p12"/>
          <p:cNvCxnSpPr/>
          <p:nvPr/>
        </p:nvCxnSpPr>
        <p:spPr>
          <a:xfrm>
            <a:off x="2057400" y="1673352"/>
            <a:ext cx="146304" cy="0"/>
          </a:xfrm>
          <a:prstGeom prst="straightConnector1">
            <a:avLst/>
          </a:prstGeom>
          <a:noFill/>
          <a:ln cap="flat" cmpd="sng" w="11425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34" name="Google Shape;634;p12"/>
          <p:cNvSpPr/>
          <p:nvPr/>
        </p:nvSpPr>
        <p:spPr>
          <a:xfrm>
            <a:off x="2203704" y="1508760"/>
            <a:ext cx="566928" cy="329184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1425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p12"/>
          <p:cNvSpPr/>
          <p:nvPr/>
        </p:nvSpPr>
        <p:spPr>
          <a:xfrm>
            <a:off x="2231136" y="1581912"/>
            <a:ext cx="512064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6" name="Google Shape;636;p12"/>
          <p:cNvSpPr/>
          <p:nvPr/>
        </p:nvSpPr>
        <p:spPr>
          <a:xfrm>
            <a:off x="868680" y="2176272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5AA8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E5AA8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37" name="Google Shape;637;p12"/>
          <p:cNvCxnSpPr/>
          <p:nvPr/>
        </p:nvCxnSpPr>
        <p:spPr>
          <a:xfrm>
            <a:off x="1143000" y="2276856"/>
            <a:ext cx="292608" cy="0"/>
          </a:xfrm>
          <a:prstGeom prst="straightConnector1">
            <a:avLst/>
          </a:prstGeom>
          <a:noFill/>
          <a:ln cap="flat" cmpd="sng" w="13950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38" name="Google Shape;638;p12"/>
          <p:cNvSpPr/>
          <p:nvPr/>
        </p:nvSpPr>
        <p:spPr>
          <a:xfrm>
            <a:off x="1490472" y="2075688"/>
            <a:ext cx="566928" cy="329184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1425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p12"/>
          <p:cNvSpPr/>
          <p:nvPr/>
        </p:nvSpPr>
        <p:spPr>
          <a:xfrm>
            <a:off x="1517904" y="2148840"/>
            <a:ext cx="512064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40" name="Google Shape;640;p12"/>
          <p:cNvCxnSpPr/>
          <p:nvPr/>
        </p:nvCxnSpPr>
        <p:spPr>
          <a:xfrm>
            <a:off x="2057400" y="2240280"/>
            <a:ext cx="146304" cy="0"/>
          </a:xfrm>
          <a:prstGeom prst="straightConnector1">
            <a:avLst/>
          </a:prstGeom>
          <a:noFill/>
          <a:ln cap="flat" cmpd="sng" w="11425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41" name="Google Shape;641;p12"/>
          <p:cNvSpPr/>
          <p:nvPr/>
        </p:nvSpPr>
        <p:spPr>
          <a:xfrm>
            <a:off x="2203704" y="2075688"/>
            <a:ext cx="566928" cy="329184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1425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12"/>
          <p:cNvSpPr/>
          <p:nvPr/>
        </p:nvSpPr>
        <p:spPr>
          <a:xfrm>
            <a:off x="2231136" y="2148840"/>
            <a:ext cx="512064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43" name="Google Shape;643;p12"/>
          <p:cNvCxnSpPr/>
          <p:nvPr/>
        </p:nvCxnSpPr>
        <p:spPr>
          <a:xfrm>
            <a:off x="2770632" y="2240280"/>
            <a:ext cx="146304" cy="0"/>
          </a:xfrm>
          <a:prstGeom prst="straightConnector1">
            <a:avLst/>
          </a:prstGeom>
          <a:noFill/>
          <a:ln cap="flat" cmpd="sng" w="11425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44" name="Google Shape;644;p12"/>
          <p:cNvSpPr/>
          <p:nvPr/>
        </p:nvSpPr>
        <p:spPr>
          <a:xfrm>
            <a:off x="2916936" y="2075688"/>
            <a:ext cx="566928" cy="329184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1425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12"/>
          <p:cNvSpPr/>
          <p:nvPr/>
        </p:nvSpPr>
        <p:spPr>
          <a:xfrm>
            <a:off x="2944368" y="2148840"/>
            <a:ext cx="512064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46" name="Google Shape;646;p12"/>
          <p:cNvCxnSpPr/>
          <p:nvPr/>
        </p:nvCxnSpPr>
        <p:spPr>
          <a:xfrm>
            <a:off x="3483864" y="2240280"/>
            <a:ext cx="146304" cy="0"/>
          </a:xfrm>
          <a:prstGeom prst="straightConnector1">
            <a:avLst/>
          </a:prstGeom>
          <a:noFill/>
          <a:ln cap="flat" cmpd="sng" w="11425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47" name="Google Shape;647;p12"/>
          <p:cNvSpPr/>
          <p:nvPr/>
        </p:nvSpPr>
        <p:spPr>
          <a:xfrm>
            <a:off x="3630168" y="2075688"/>
            <a:ext cx="566928" cy="329184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1425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12"/>
          <p:cNvSpPr/>
          <p:nvPr/>
        </p:nvSpPr>
        <p:spPr>
          <a:xfrm>
            <a:off x="3657600" y="2148840"/>
            <a:ext cx="512064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9" name="Google Shape;649;p12"/>
          <p:cNvSpPr/>
          <p:nvPr/>
        </p:nvSpPr>
        <p:spPr>
          <a:xfrm>
            <a:off x="868680" y="2743200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5AA8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E5AA8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50" name="Google Shape;650;p12"/>
          <p:cNvCxnSpPr/>
          <p:nvPr/>
        </p:nvCxnSpPr>
        <p:spPr>
          <a:xfrm>
            <a:off x="1143000" y="2843784"/>
            <a:ext cx="292608" cy="0"/>
          </a:xfrm>
          <a:prstGeom prst="straightConnector1">
            <a:avLst/>
          </a:prstGeom>
          <a:noFill/>
          <a:ln cap="flat" cmpd="sng" w="13950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51" name="Google Shape;651;p12"/>
          <p:cNvSpPr/>
          <p:nvPr/>
        </p:nvSpPr>
        <p:spPr>
          <a:xfrm>
            <a:off x="1490472" y="2642616"/>
            <a:ext cx="566928" cy="329184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1425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12"/>
          <p:cNvSpPr/>
          <p:nvPr/>
        </p:nvSpPr>
        <p:spPr>
          <a:xfrm>
            <a:off x="1517904" y="2715768"/>
            <a:ext cx="512064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53" name="Google Shape;653;p12"/>
          <p:cNvCxnSpPr/>
          <p:nvPr/>
        </p:nvCxnSpPr>
        <p:spPr>
          <a:xfrm>
            <a:off x="2057400" y="2807208"/>
            <a:ext cx="146304" cy="0"/>
          </a:xfrm>
          <a:prstGeom prst="straightConnector1">
            <a:avLst/>
          </a:prstGeom>
          <a:noFill/>
          <a:ln cap="flat" cmpd="sng" w="11425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54" name="Google Shape;654;p12"/>
          <p:cNvSpPr/>
          <p:nvPr/>
        </p:nvSpPr>
        <p:spPr>
          <a:xfrm>
            <a:off x="2203704" y="2642616"/>
            <a:ext cx="566928" cy="329184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1425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12"/>
          <p:cNvSpPr/>
          <p:nvPr/>
        </p:nvSpPr>
        <p:spPr>
          <a:xfrm>
            <a:off x="2231136" y="2715768"/>
            <a:ext cx="512064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6" name="Google Shape;656;p12"/>
          <p:cNvSpPr/>
          <p:nvPr/>
        </p:nvSpPr>
        <p:spPr>
          <a:xfrm>
            <a:off x="868680" y="3310128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5AA8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E5AA8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57" name="Google Shape;657;p12"/>
          <p:cNvCxnSpPr/>
          <p:nvPr/>
        </p:nvCxnSpPr>
        <p:spPr>
          <a:xfrm>
            <a:off x="1143000" y="3410712"/>
            <a:ext cx="292608" cy="0"/>
          </a:xfrm>
          <a:prstGeom prst="straightConnector1">
            <a:avLst/>
          </a:prstGeom>
          <a:noFill/>
          <a:ln cap="flat" cmpd="sng" w="13950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58" name="Google Shape;658;p12"/>
          <p:cNvSpPr/>
          <p:nvPr/>
        </p:nvSpPr>
        <p:spPr>
          <a:xfrm>
            <a:off x="1490472" y="3209544"/>
            <a:ext cx="566928" cy="329184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1425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p12"/>
          <p:cNvSpPr/>
          <p:nvPr/>
        </p:nvSpPr>
        <p:spPr>
          <a:xfrm>
            <a:off x="1517904" y="3282696"/>
            <a:ext cx="512064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60" name="Google Shape;660;p12"/>
          <p:cNvCxnSpPr/>
          <p:nvPr/>
        </p:nvCxnSpPr>
        <p:spPr>
          <a:xfrm>
            <a:off x="2057400" y="3374136"/>
            <a:ext cx="146304" cy="0"/>
          </a:xfrm>
          <a:prstGeom prst="straightConnector1">
            <a:avLst/>
          </a:prstGeom>
          <a:noFill/>
          <a:ln cap="flat" cmpd="sng" w="11425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61" name="Google Shape;661;p12"/>
          <p:cNvSpPr/>
          <p:nvPr/>
        </p:nvSpPr>
        <p:spPr>
          <a:xfrm>
            <a:off x="2203704" y="3209544"/>
            <a:ext cx="566928" cy="329184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1425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2" name="Google Shape;662;p12"/>
          <p:cNvSpPr/>
          <p:nvPr/>
        </p:nvSpPr>
        <p:spPr>
          <a:xfrm>
            <a:off x="2231136" y="3282696"/>
            <a:ext cx="512064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63" name="Google Shape;663;p12"/>
          <p:cNvCxnSpPr/>
          <p:nvPr/>
        </p:nvCxnSpPr>
        <p:spPr>
          <a:xfrm>
            <a:off x="2770632" y="3374136"/>
            <a:ext cx="146304" cy="0"/>
          </a:xfrm>
          <a:prstGeom prst="straightConnector1">
            <a:avLst/>
          </a:prstGeom>
          <a:noFill/>
          <a:ln cap="flat" cmpd="sng" w="11425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64" name="Google Shape;664;p12"/>
          <p:cNvSpPr/>
          <p:nvPr/>
        </p:nvSpPr>
        <p:spPr>
          <a:xfrm>
            <a:off x="2916936" y="3209544"/>
            <a:ext cx="566928" cy="329184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1425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12"/>
          <p:cNvSpPr/>
          <p:nvPr/>
        </p:nvSpPr>
        <p:spPr>
          <a:xfrm>
            <a:off x="2944368" y="3282696"/>
            <a:ext cx="512064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6" name="Google Shape;666;p12"/>
          <p:cNvSpPr/>
          <p:nvPr/>
        </p:nvSpPr>
        <p:spPr>
          <a:xfrm>
            <a:off x="868680" y="3877056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5AA8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E5AA8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67" name="Google Shape;667;p12"/>
          <p:cNvCxnSpPr/>
          <p:nvPr/>
        </p:nvCxnSpPr>
        <p:spPr>
          <a:xfrm>
            <a:off x="1143000" y="3977640"/>
            <a:ext cx="292608" cy="0"/>
          </a:xfrm>
          <a:prstGeom prst="straightConnector1">
            <a:avLst/>
          </a:prstGeom>
          <a:noFill/>
          <a:ln cap="flat" cmpd="sng" w="13950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68" name="Google Shape;668;p12"/>
          <p:cNvSpPr/>
          <p:nvPr/>
        </p:nvSpPr>
        <p:spPr>
          <a:xfrm>
            <a:off x="1490472" y="3776472"/>
            <a:ext cx="566928" cy="329184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1425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9" name="Google Shape;669;p12"/>
          <p:cNvSpPr/>
          <p:nvPr/>
        </p:nvSpPr>
        <p:spPr>
          <a:xfrm>
            <a:off x="1517904" y="3849624"/>
            <a:ext cx="512064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70" name="Google Shape;670;p12"/>
          <p:cNvCxnSpPr/>
          <p:nvPr/>
        </p:nvCxnSpPr>
        <p:spPr>
          <a:xfrm>
            <a:off x="2057400" y="3941064"/>
            <a:ext cx="146304" cy="0"/>
          </a:xfrm>
          <a:prstGeom prst="straightConnector1">
            <a:avLst/>
          </a:prstGeom>
          <a:noFill/>
          <a:ln cap="flat" cmpd="sng" w="11425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71" name="Google Shape;671;p12"/>
          <p:cNvSpPr/>
          <p:nvPr/>
        </p:nvSpPr>
        <p:spPr>
          <a:xfrm>
            <a:off x="2203704" y="3776472"/>
            <a:ext cx="566928" cy="329184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1425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p12"/>
          <p:cNvSpPr/>
          <p:nvPr/>
        </p:nvSpPr>
        <p:spPr>
          <a:xfrm>
            <a:off x="2231136" y="3849624"/>
            <a:ext cx="512064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73" name="Google Shape;673;p12"/>
          <p:cNvCxnSpPr/>
          <p:nvPr/>
        </p:nvCxnSpPr>
        <p:spPr>
          <a:xfrm>
            <a:off x="2770632" y="3941064"/>
            <a:ext cx="146304" cy="0"/>
          </a:xfrm>
          <a:prstGeom prst="straightConnector1">
            <a:avLst/>
          </a:prstGeom>
          <a:noFill/>
          <a:ln cap="flat" cmpd="sng" w="11425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74" name="Google Shape;674;p12"/>
          <p:cNvSpPr/>
          <p:nvPr/>
        </p:nvSpPr>
        <p:spPr>
          <a:xfrm>
            <a:off x="2916936" y="3776472"/>
            <a:ext cx="566928" cy="329184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1425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12"/>
          <p:cNvSpPr/>
          <p:nvPr/>
        </p:nvSpPr>
        <p:spPr>
          <a:xfrm>
            <a:off x="2944368" y="3849624"/>
            <a:ext cx="512064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6" name="Google Shape;676;p12"/>
          <p:cNvSpPr/>
          <p:nvPr/>
        </p:nvSpPr>
        <p:spPr>
          <a:xfrm>
            <a:off x="6035040" y="1417320"/>
            <a:ext cx="4800600" cy="1097280"/>
          </a:xfrm>
          <a:prstGeom prst="roundRect">
            <a:avLst>
              <a:gd fmla="val 6667" name="adj"/>
            </a:avLst>
          </a:prstGeom>
          <a:solidFill>
            <a:srgbClr val="EEF5FF"/>
          </a:solidFill>
          <a:ln cap="flat" cmpd="sng" w="13950">
            <a:solidFill>
              <a:srgbClr val="9BB7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7" name="Google Shape;677;p12"/>
          <p:cNvSpPr/>
          <p:nvPr/>
        </p:nvSpPr>
        <p:spPr>
          <a:xfrm>
            <a:off x="6172200" y="1527048"/>
            <a:ext cx="45262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Why adjacency list?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8" name="Google Shape;678;p12"/>
          <p:cNvSpPr/>
          <p:nvPr/>
        </p:nvSpPr>
        <p:spPr>
          <a:xfrm>
            <a:off x="6172200" y="1828800"/>
            <a:ext cx="4526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 stores only existing edges, so it is usually more space-efficient for sparse graphs.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9" name="Google Shape;679;p12"/>
          <p:cNvSpPr/>
          <p:nvPr/>
        </p:nvSpPr>
        <p:spPr>
          <a:xfrm>
            <a:off x="6035040" y="2971800"/>
            <a:ext cx="4800600" cy="1097280"/>
          </a:xfrm>
          <a:prstGeom prst="roundRect">
            <a:avLst>
              <a:gd fmla="val 6667" name="adj"/>
            </a:avLst>
          </a:prstGeom>
          <a:solidFill>
            <a:srgbClr val="F1F8E9"/>
          </a:solidFill>
          <a:ln cap="flat" cmpd="sng" w="13950">
            <a:solidFill>
              <a:srgbClr val="9BB7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0" name="Google Shape;680;p12"/>
          <p:cNvSpPr/>
          <p:nvPr/>
        </p:nvSpPr>
        <p:spPr>
          <a:xfrm>
            <a:off x="6172200" y="3081528"/>
            <a:ext cx="45262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Neighbor search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1" name="Google Shape;681;p12"/>
          <p:cNvSpPr/>
          <p:nvPr/>
        </p:nvSpPr>
        <p:spPr>
          <a:xfrm>
            <a:off x="6172200" y="3383280"/>
            <a:ext cx="4526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find neighbors of vertex u, traverse only list[u].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2" name="Google Shape;682;p12"/>
          <p:cNvSpPr/>
          <p:nvPr/>
        </p:nvSpPr>
        <p:spPr>
          <a:xfrm>
            <a:off x="6035040" y="4526280"/>
            <a:ext cx="4800600" cy="1097280"/>
          </a:xfrm>
          <a:prstGeom prst="roundRect">
            <a:avLst>
              <a:gd fmla="val 6667" name="adj"/>
            </a:avLst>
          </a:prstGeom>
          <a:solidFill>
            <a:srgbClr val="FFF2CC"/>
          </a:solidFill>
          <a:ln cap="flat" cmpd="sng" w="13950">
            <a:solidFill>
              <a:srgbClr val="9BB7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12"/>
          <p:cNvSpPr/>
          <p:nvPr/>
        </p:nvSpPr>
        <p:spPr>
          <a:xfrm>
            <a:off x="6172200" y="4636008"/>
            <a:ext cx="45262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Implementation style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4" name="Google Shape;684;p12"/>
          <p:cNvSpPr/>
          <p:nvPr/>
        </p:nvSpPr>
        <p:spPr>
          <a:xfrm>
            <a:off x="6172200" y="4937760"/>
            <a:ext cx="4526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 Java, each row can be a linked list of Node objects.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5" name="Google Shape;685;p12"/>
          <p:cNvSpPr txBox="1"/>
          <p:nvPr>
            <p:ph idx="4294967295" type="sldNum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13"/>
          <p:cNvSpPr/>
          <p:nvPr/>
        </p:nvSpPr>
        <p:spPr>
          <a:xfrm>
            <a:off x="502920" y="292608"/>
            <a:ext cx="112471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2700"/>
              <a:buFont typeface="Play"/>
              <a:buNone/>
            </a:pPr>
            <a:r>
              <a:rPr b="1" i="0" lang="en-US" sz="2700" u="none" cap="none" strike="noStrike">
                <a:solidFill>
                  <a:srgbClr val="12355B"/>
                </a:solidFill>
                <a:latin typeface="Play"/>
                <a:ea typeface="Play"/>
                <a:cs typeface="Play"/>
                <a:sym typeface="Play"/>
              </a:rPr>
              <a:t>Adjacency List: Undirected Unweighted Graph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2" name="Google Shape;692;p13"/>
          <p:cNvSpPr/>
          <p:nvPr/>
        </p:nvSpPr>
        <p:spPr>
          <a:xfrm>
            <a:off x="530352" y="777240"/>
            <a:ext cx="11155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For an undirected edge, add each vertex to the other vertex's list.</a:t>
            </a:r>
            <a:endParaRPr/>
          </a:p>
        </p:txBody>
      </p:sp>
      <p:sp>
        <p:nvSpPr>
          <p:cNvPr id="693" name="Google Shape;693;p13"/>
          <p:cNvSpPr/>
          <p:nvPr/>
        </p:nvSpPr>
        <p:spPr>
          <a:xfrm>
            <a:off x="777240" y="1097280"/>
            <a:ext cx="4023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700"/>
              <a:buFont typeface="Arial"/>
              <a:buNone/>
            </a:pPr>
            <a:r>
              <a:rPr b="1" lang="en-US" sz="1700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Graph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94" name="Google Shape;694;p13"/>
          <p:cNvCxnSpPr/>
          <p:nvPr/>
        </p:nvCxnSpPr>
        <p:spPr>
          <a:xfrm flipH="1" rot="10800000">
            <a:off x="1499274" y="1976516"/>
            <a:ext cx="1207693" cy="710408"/>
          </a:xfrm>
          <a:prstGeom prst="straightConnector1">
            <a:avLst/>
          </a:prstGeom>
          <a:noFill/>
          <a:ln cap="flat" cmpd="sng" w="14600">
            <a:solidFill>
              <a:srgbClr val="44444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95" name="Google Shape;695;p13"/>
          <p:cNvCxnSpPr/>
          <p:nvPr/>
        </p:nvCxnSpPr>
        <p:spPr>
          <a:xfrm>
            <a:off x="1426894" y="2962888"/>
            <a:ext cx="620933" cy="1069384"/>
          </a:xfrm>
          <a:prstGeom prst="straightConnector1">
            <a:avLst/>
          </a:prstGeom>
          <a:noFill/>
          <a:ln cap="flat" cmpd="sng" w="14600">
            <a:solidFill>
              <a:srgbClr val="44444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96" name="Google Shape;696;p13"/>
          <p:cNvCxnSpPr/>
          <p:nvPr/>
        </p:nvCxnSpPr>
        <p:spPr>
          <a:xfrm flipH="1">
            <a:off x="2209057" y="2066464"/>
            <a:ext cx="611085" cy="1947833"/>
          </a:xfrm>
          <a:prstGeom prst="straightConnector1">
            <a:avLst/>
          </a:prstGeom>
          <a:noFill/>
          <a:ln cap="flat" cmpd="sng" w="14600">
            <a:solidFill>
              <a:srgbClr val="44444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97" name="Google Shape;697;p13"/>
          <p:cNvCxnSpPr/>
          <p:nvPr/>
        </p:nvCxnSpPr>
        <p:spPr>
          <a:xfrm>
            <a:off x="3006761" y="2031017"/>
            <a:ext cx="707317" cy="875726"/>
          </a:xfrm>
          <a:prstGeom prst="straightConnector1">
            <a:avLst/>
          </a:prstGeom>
          <a:noFill/>
          <a:ln cap="flat" cmpd="sng" w="14600">
            <a:solidFill>
              <a:srgbClr val="44444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98" name="Google Shape;698;p13"/>
          <p:cNvCxnSpPr/>
          <p:nvPr/>
        </p:nvCxnSpPr>
        <p:spPr>
          <a:xfrm>
            <a:off x="2954012" y="2061720"/>
            <a:ext cx="949975" cy="2414520"/>
          </a:xfrm>
          <a:prstGeom prst="straightConnector1">
            <a:avLst/>
          </a:prstGeom>
          <a:noFill/>
          <a:ln cap="flat" cmpd="sng" w="14600">
            <a:solidFill>
              <a:srgbClr val="44444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99" name="Google Shape;699;p13"/>
          <p:cNvCxnSpPr/>
          <p:nvPr/>
        </p:nvCxnSpPr>
        <p:spPr>
          <a:xfrm>
            <a:off x="3857660" y="3263673"/>
            <a:ext cx="102800" cy="1199334"/>
          </a:xfrm>
          <a:prstGeom prst="straightConnector1">
            <a:avLst/>
          </a:prstGeom>
          <a:noFill/>
          <a:ln cap="flat" cmpd="sng" w="14600">
            <a:solidFill>
              <a:srgbClr val="44444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0" name="Google Shape;700;p13"/>
          <p:cNvCxnSpPr/>
          <p:nvPr/>
        </p:nvCxnSpPr>
        <p:spPr>
          <a:xfrm>
            <a:off x="2344002" y="4255030"/>
            <a:ext cx="1438477" cy="359619"/>
          </a:xfrm>
          <a:prstGeom prst="straightConnector1">
            <a:avLst/>
          </a:prstGeom>
          <a:noFill/>
          <a:ln cap="flat" cmpd="sng" w="14600">
            <a:solidFill>
              <a:srgbClr val="44444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01" name="Google Shape;701;p13"/>
          <p:cNvSpPr/>
          <p:nvPr/>
        </p:nvSpPr>
        <p:spPr>
          <a:xfrm>
            <a:off x="1124712" y="2587752"/>
            <a:ext cx="402336" cy="402336"/>
          </a:xfrm>
          <a:prstGeom prst="ellipse">
            <a:avLst/>
          </a:prstGeom>
          <a:solidFill>
            <a:srgbClr val="BFD7EA"/>
          </a:solidFill>
          <a:ln cap="flat" cmpd="sng" w="13950">
            <a:solidFill>
              <a:srgbClr val="6E8D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2" name="Google Shape;702;p13"/>
          <p:cNvSpPr/>
          <p:nvPr/>
        </p:nvSpPr>
        <p:spPr>
          <a:xfrm>
            <a:off x="1216152" y="2688336"/>
            <a:ext cx="21945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3" name="Google Shape;703;p13"/>
          <p:cNvSpPr/>
          <p:nvPr/>
        </p:nvSpPr>
        <p:spPr>
          <a:xfrm>
            <a:off x="2679192" y="1673352"/>
            <a:ext cx="402336" cy="402336"/>
          </a:xfrm>
          <a:prstGeom prst="ellipse">
            <a:avLst/>
          </a:prstGeom>
          <a:solidFill>
            <a:srgbClr val="BFD7EA"/>
          </a:solidFill>
          <a:ln cap="flat" cmpd="sng" w="13950">
            <a:solidFill>
              <a:srgbClr val="6E8D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4" name="Google Shape;704;p13"/>
          <p:cNvSpPr/>
          <p:nvPr/>
        </p:nvSpPr>
        <p:spPr>
          <a:xfrm>
            <a:off x="2770632" y="1773936"/>
            <a:ext cx="21945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5" name="Google Shape;705;p13"/>
          <p:cNvSpPr/>
          <p:nvPr/>
        </p:nvSpPr>
        <p:spPr>
          <a:xfrm>
            <a:off x="3639312" y="2862072"/>
            <a:ext cx="402336" cy="402336"/>
          </a:xfrm>
          <a:prstGeom prst="ellipse">
            <a:avLst/>
          </a:prstGeom>
          <a:solidFill>
            <a:srgbClr val="BFD7EA"/>
          </a:solidFill>
          <a:ln cap="flat" cmpd="sng" w="13950">
            <a:solidFill>
              <a:srgbClr val="6E8D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6" name="Google Shape;706;p13"/>
          <p:cNvSpPr/>
          <p:nvPr/>
        </p:nvSpPr>
        <p:spPr>
          <a:xfrm>
            <a:off x="3730752" y="2962656"/>
            <a:ext cx="21945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7" name="Google Shape;707;p13"/>
          <p:cNvSpPr/>
          <p:nvPr/>
        </p:nvSpPr>
        <p:spPr>
          <a:xfrm>
            <a:off x="1947672" y="4005072"/>
            <a:ext cx="402336" cy="402336"/>
          </a:xfrm>
          <a:prstGeom prst="ellipse">
            <a:avLst/>
          </a:prstGeom>
          <a:solidFill>
            <a:srgbClr val="BFD7EA"/>
          </a:solidFill>
          <a:ln cap="flat" cmpd="sng" w="13950">
            <a:solidFill>
              <a:srgbClr val="6E8D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8" name="Google Shape;708;p13"/>
          <p:cNvSpPr/>
          <p:nvPr/>
        </p:nvSpPr>
        <p:spPr>
          <a:xfrm>
            <a:off x="2039112" y="4105656"/>
            <a:ext cx="21945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9" name="Google Shape;709;p13"/>
          <p:cNvSpPr/>
          <p:nvPr/>
        </p:nvSpPr>
        <p:spPr>
          <a:xfrm>
            <a:off x="3776472" y="4462272"/>
            <a:ext cx="402336" cy="402336"/>
          </a:xfrm>
          <a:prstGeom prst="ellipse">
            <a:avLst/>
          </a:prstGeom>
          <a:solidFill>
            <a:srgbClr val="BFD7EA"/>
          </a:solidFill>
          <a:ln cap="flat" cmpd="sng" w="13950">
            <a:solidFill>
              <a:srgbClr val="6E8D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0" name="Google Shape;710;p13"/>
          <p:cNvSpPr/>
          <p:nvPr/>
        </p:nvSpPr>
        <p:spPr>
          <a:xfrm>
            <a:off x="3867912" y="4562856"/>
            <a:ext cx="21945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1" name="Google Shape;711;p13"/>
          <p:cNvSpPr/>
          <p:nvPr/>
        </p:nvSpPr>
        <p:spPr>
          <a:xfrm>
            <a:off x="5897880" y="1097280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700"/>
              <a:buFont typeface="Arial"/>
              <a:buNone/>
            </a:pPr>
            <a:r>
              <a:rPr b="1" lang="en-US" sz="1700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Adjacency List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2" name="Google Shape;712;p13"/>
          <p:cNvSpPr/>
          <p:nvPr/>
        </p:nvSpPr>
        <p:spPr>
          <a:xfrm>
            <a:off x="5989320" y="1792224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5AA8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1E5AA8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13" name="Google Shape;713;p13"/>
          <p:cNvCxnSpPr/>
          <p:nvPr/>
        </p:nvCxnSpPr>
        <p:spPr>
          <a:xfrm>
            <a:off x="6263640" y="1892808"/>
            <a:ext cx="292608" cy="0"/>
          </a:xfrm>
          <a:prstGeom prst="straightConnector1">
            <a:avLst/>
          </a:prstGeom>
          <a:noFill/>
          <a:ln cap="flat" cmpd="sng" w="13950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14" name="Google Shape;714;p13"/>
          <p:cNvSpPr/>
          <p:nvPr/>
        </p:nvSpPr>
        <p:spPr>
          <a:xfrm>
            <a:off x="6611112" y="1691640"/>
            <a:ext cx="566928" cy="329184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1425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5" name="Google Shape;715;p13"/>
          <p:cNvSpPr/>
          <p:nvPr/>
        </p:nvSpPr>
        <p:spPr>
          <a:xfrm>
            <a:off x="6638544" y="1764792"/>
            <a:ext cx="512064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16" name="Google Shape;716;p13"/>
          <p:cNvCxnSpPr/>
          <p:nvPr/>
        </p:nvCxnSpPr>
        <p:spPr>
          <a:xfrm>
            <a:off x="7178040" y="1856232"/>
            <a:ext cx="146304" cy="0"/>
          </a:xfrm>
          <a:prstGeom prst="straightConnector1">
            <a:avLst/>
          </a:prstGeom>
          <a:noFill/>
          <a:ln cap="flat" cmpd="sng" w="11425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17" name="Google Shape;717;p13"/>
          <p:cNvSpPr/>
          <p:nvPr/>
        </p:nvSpPr>
        <p:spPr>
          <a:xfrm>
            <a:off x="7324344" y="1691640"/>
            <a:ext cx="566928" cy="329184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1425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8" name="Google Shape;718;p13"/>
          <p:cNvSpPr/>
          <p:nvPr/>
        </p:nvSpPr>
        <p:spPr>
          <a:xfrm>
            <a:off x="7351776" y="1764792"/>
            <a:ext cx="512064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9" name="Google Shape;719;p13"/>
          <p:cNvSpPr/>
          <p:nvPr/>
        </p:nvSpPr>
        <p:spPr>
          <a:xfrm>
            <a:off x="5989320" y="2386584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5AA8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1E5AA8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20" name="Google Shape;720;p13"/>
          <p:cNvCxnSpPr/>
          <p:nvPr/>
        </p:nvCxnSpPr>
        <p:spPr>
          <a:xfrm>
            <a:off x="6263640" y="2487168"/>
            <a:ext cx="292608" cy="0"/>
          </a:xfrm>
          <a:prstGeom prst="straightConnector1">
            <a:avLst/>
          </a:prstGeom>
          <a:noFill/>
          <a:ln cap="flat" cmpd="sng" w="13950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21" name="Google Shape;721;p13"/>
          <p:cNvSpPr/>
          <p:nvPr/>
        </p:nvSpPr>
        <p:spPr>
          <a:xfrm>
            <a:off x="6611112" y="2286000"/>
            <a:ext cx="566928" cy="329184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1425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2" name="Google Shape;722;p13"/>
          <p:cNvSpPr/>
          <p:nvPr/>
        </p:nvSpPr>
        <p:spPr>
          <a:xfrm>
            <a:off x="6638544" y="2359152"/>
            <a:ext cx="512064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23" name="Google Shape;723;p13"/>
          <p:cNvCxnSpPr/>
          <p:nvPr/>
        </p:nvCxnSpPr>
        <p:spPr>
          <a:xfrm>
            <a:off x="7178040" y="2450592"/>
            <a:ext cx="146304" cy="0"/>
          </a:xfrm>
          <a:prstGeom prst="straightConnector1">
            <a:avLst/>
          </a:prstGeom>
          <a:noFill/>
          <a:ln cap="flat" cmpd="sng" w="11425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24" name="Google Shape;724;p13"/>
          <p:cNvSpPr/>
          <p:nvPr/>
        </p:nvSpPr>
        <p:spPr>
          <a:xfrm>
            <a:off x="7324344" y="2286000"/>
            <a:ext cx="566928" cy="329184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1425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5" name="Google Shape;725;p13"/>
          <p:cNvSpPr/>
          <p:nvPr/>
        </p:nvSpPr>
        <p:spPr>
          <a:xfrm>
            <a:off x="7351776" y="2359152"/>
            <a:ext cx="512064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26" name="Google Shape;726;p13"/>
          <p:cNvCxnSpPr/>
          <p:nvPr/>
        </p:nvCxnSpPr>
        <p:spPr>
          <a:xfrm>
            <a:off x="7891272" y="2450592"/>
            <a:ext cx="146304" cy="0"/>
          </a:xfrm>
          <a:prstGeom prst="straightConnector1">
            <a:avLst/>
          </a:prstGeom>
          <a:noFill/>
          <a:ln cap="flat" cmpd="sng" w="11425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27" name="Google Shape;727;p13"/>
          <p:cNvSpPr/>
          <p:nvPr/>
        </p:nvSpPr>
        <p:spPr>
          <a:xfrm>
            <a:off x="8037576" y="2286000"/>
            <a:ext cx="566928" cy="329184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1425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8" name="Google Shape;728;p13"/>
          <p:cNvSpPr/>
          <p:nvPr/>
        </p:nvSpPr>
        <p:spPr>
          <a:xfrm>
            <a:off x="8065008" y="2359152"/>
            <a:ext cx="512064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29" name="Google Shape;729;p13"/>
          <p:cNvCxnSpPr/>
          <p:nvPr/>
        </p:nvCxnSpPr>
        <p:spPr>
          <a:xfrm>
            <a:off x="8604504" y="2450592"/>
            <a:ext cx="146304" cy="0"/>
          </a:xfrm>
          <a:prstGeom prst="straightConnector1">
            <a:avLst/>
          </a:prstGeom>
          <a:noFill/>
          <a:ln cap="flat" cmpd="sng" w="11425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30" name="Google Shape;730;p13"/>
          <p:cNvSpPr/>
          <p:nvPr/>
        </p:nvSpPr>
        <p:spPr>
          <a:xfrm>
            <a:off x="8750808" y="2286000"/>
            <a:ext cx="566928" cy="329184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1425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1" name="Google Shape;731;p13"/>
          <p:cNvSpPr/>
          <p:nvPr/>
        </p:nvSpPr>
        <p:spPr>
          <a:xfrm>
            <a:off x="8778240" y="2359152"/>
            <a:ext cx="512064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2" name="Google Shape;732;p13"/>
          <p:cNvSpPr/>
          <p:nvPr/>
        </p:nvSpPr>
        <p:spPr>
          <a:xfrm>
            <a:off x="5989320" y="2980944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5AA8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1E5AA8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33" name="Google Shape;733;p13"/>
          <p:cNvCxnSpPr/>
          <p:nvPr/>
        </p:nvCxnSpPr>
        <p:spPr>
          <a:xfrm>
            <a:off x="6263640" y="3081528"/>
            <a:ext cx="292608" cy="0"/>
          </a:xfrm>
          <a:prstGeom prst="straightConnector1">
            <a:avLst/>
          </a:prstGeom>
          <a:noFill/>
          <a:ln cap="flat" cmpd="sng" w="13950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34" name="Google Shape;734;p13"/>
          <p:cNvSpPr/>
          <p:nvPr/>
        </p:nvSpPr>
        <p:spPr>
          <a:xfrm>
            <a:off x="6611112" y="2880360"/>
            <a:ext cx="566928" cy="329184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1425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5" name="Google Shape;735;p13"/>
          <p:cNvSpPr/>
          <p:nvPr/>
        </p:nvSpPr>
        <p:spPr>
          <a:xfrm>
            <a:off x="6638544" y="2953512"/>
            <a:ext cx="512064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36" name="Google Shape;736;p13"/>
          <p:cNvCxnSpPr/>
          <p:nvPr/>
        </p:nvCxnSpPr>
        <p:spPr>
          <a:xfrm>
            <a:off x="7178040" y="3044952"/>
            <a:ext cx="146304" cy="0"/>
          </a:xfrm>
          <a:prstGeom prst="straightConnector1">
            <a:avLst/>
          </a:prstGeom>
          <a:noFill/>
          <a:ln cap="flat" cmpd="sng" w="11425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37" name="Google Shape;737;p13"/>
          <p:cNvSpPr/>
          <p:nvPr/>
        </p:nvSpPr>
        <p:spPr>
          <a:xfrm>
            <a:off x="7324344" y="2880360"/>
            <a:ext cx="566928" cy="329184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1425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8" name="Google Shape;738;p13"/>
          <p:cNvSpPr/>
          <p:nvPr/>
        </p:nvSpPr>
        <p:spPr>
          <a:xfrm>
            <a:off x="7351776" y="2953512"/>
            <a:ext cx="512064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9" name="Google Shape;739;p13"/>
          <p:cNvSpPr/>
          <p:nvPr/>
        </p:nvSpPr>
        <p:spPr>
          <a:xfrm>
            <a:off x="5989320" y="3575304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5AA8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1E5AA8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40" name="Google Shape;740;p13"/>
          <p:cNvCxnSpPr/>
          <p:nvPr/>
        </p:nvCxnSpPr>
        <p:spPr>
          <a:xfrm>
            <a:off x="6263640" y="3675888"/>
            <a:ext cx="292608" cy="0"/>
          </a:xfrm>
          <a:prstGeom prst="straightConnector1">
            <a:avLst/>
          </a:prstGeom>
          <a:noFill/>
          <a:ln cap="flat" cmpd="sng" w="13950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41" name="Google Shape;741;p13"/>
          <p:cNvSpPr/>
          <p:nvPr/>
        </p:nvSpPr>
        <p:spPr>
          <a:xfrm>
            <a:off x="6611112" y="3474720"/>
            <a:ext cx="566928" cy="329184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1425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2" name="Google Shape;742;p13"/>
          <p:cNvSpPr/>
          <p:nvPr/>
        </p:nvSpPr>
        <p:spPr>
          <a:xfrm>
            <a:off x="6638544" y="3547872"/>
            <a:ext cx="512064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43" name="Google Shape;743;p13"/>
          <p:cNvCxnSpPr/>
          <p:nvPr/>
        </p:nvCxnSpPr>
        <p:spPr>
          <a:xfrm>
            <a:off x="7178040" y="3639312"/>
            <a:ext cx="146304" cy="0"/>
          </a:xfrm>
          <a:prstGeom prst="straightConnector1">
            <a:avLst/>
          </a:prstGeom>
          <a:noFill/>
          <a:ln cap="flat" cmpd="sng" w="11425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44" name="Google Shape;744;p13"/>
          <p:cNvSpPr/>
          <p:nvPr/>
        </p:nvSpPr>
        <p:spPr>
          <a:xfrm>
            <a:off x="7324344" y="3474720"/>
            <a:ext cx="566928" cy="329184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1425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5" name="Google Shape;745;p13"/>
          <p:cNvSpPr/>
          <p:nvPr/>
        </p:nvSpPr>
        <p:spPr>
          <a:xfrm>
            <a:off x="7351776" y="3547872"/>
            <a:ext cx="512064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46" name="Google Shape;746;p13"/>
          <p:cNvCxnSpPr/>
          <p:nvPr/>
        </p:nvCxnSpPr>
        <p:spPr>
          <a:xfrm>
            <a:off x="7891272" y="3639312"/>
            <a:ext cx="146304" cy="0"/>
          </a:xfrm>
          <a:prstGeom prst="straightConnector1">
            <a:avLst/>
          </a:prstGeom>
          <a:noFill/>
          <a:ln cap="flat" cmpd="sng" w="11425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47" name="Google Shape;747;p13"/>
          <p:cNvSpPr/>
          <p:nvPr/>
        </p:nvSpPr>
        <p:spPr>
          <a:xfrm>
            <a:off x="8037576" y="3474720"/>
            <a:ext cx="566928" cy="329184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1425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8" name="Google Shape;748;p13"/>
          <p:cNvSpPr/>
          <p:nvPr/>
        </p:nvSpPr>
        <p:spPr>
          <a:xfrm>
            <a:off x="8065008" y="3547872"/>
            <a:ext cx="512064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9" name="Google Shape;749;p13"/>
          <p:cNvSpPr/>
          <p:nvPr/>
        </p:nvSpPr>
        <p:spPr>
          <a:xfrm>
            <a:off x="5989320" y="4169664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5AA8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1E5AA8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50" name="Google Shape;750;p13"/>
          <p:cNvCxnSpPr/>
          <p:nvPr/>
        </p:nvCxnSpPr>
        <p:spPr>
          <a:xfrm>
            <a:off x="6263640" y="4270248"/>
            <a:ext cx="292608" cy="0"/>
          </a:xfrm>
          <a:prstGeom prst="straightConnector1">
            <a:avLst/>
          </a:prstGeom>
          <a:noFill/>
          <a:ln cap="flat" cmpd="sng" w="13950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51" name="Google Shape;751;p13"/>
          <p:cNvSpPr/>
          <p:nvPr/>
        </p:nvSpPr>
        <p:spPr>
          <a:xfrm>
            <a:off x="6611112" y="4069080"/>
            <a:ext cx="566928" cy="329184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1425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2" name="Google Shape;752;p13"/>
          <p:cNvSpPr/>
          <p:nvPr/>
        </p:nvSpPr>
        <p:spPr>
          <a:xfrm>
            <a:off x="6638544" y="4142232"/>
            <a:ext cx="512064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53" name="Google Shape;753;p13"/>
          <p:cNvCxnSpPr/>
          <p:nvPr/>
        </p:nvCxnSpPr>
        <p:spPr>
          <a:xfrm>
            <a:off x="7178040" y="4233672"/>
            <a:ext cx="146304" cy="0"/>
          </a:xfrm>
          <a:prstGeom prst="straightConnector1">
            <a:avLst/>
          </a:prstGeom>
          <a:noFill/>
          <a:ln cap="flat" cmpd="sng" w="11425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54" name="Google Shape;754;p13"/>
          <p:cNvSpPr/>
          <p:nvPr/>
        </p:nvSpPr>
        <p:spPr>
          <a:xfrm>
            <a:off x="7324344" y="4069080"/>
            <a:ext cx="566928" cy="329184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1425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5" name="Google Shape;755;p13"/>
          <p:cNvSpPr/>
          <p:nvPr/>
        </p:nvSpPr>
        <p:spPr>
          <a:xfrm>
            <a:off x="7351776" y="4142232"/>
            <a:ext cx="512064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56" name="Google Shape;756;p13"/>
          <p:cNvCxnSpPr/>
          <p:nvPr/>
        </p:nvCxnSpPr>
        <p:spPr>
          <a:xfrm>
            <a:off x="7891272" y="4233672"/>
            <a:ext cx="146304" cy="0"/>
          </a:xfrm>
          <a:prstGeom prst="straightConnector1">
            <a:avLst/>
          </a:prstGeom>
          <a:noFill/>
          <a:ln cap="flat" cmpd="sng" w="11425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57" name="Google Shape;757;p13"/>
          <p:cNvSpPr/>
          <p:nvPr/>
        </p:nvSpPr>
        <p:spPr>
          <a:xfrm>
            <a:off x="8037576" y="4069080"/>
            <a:ext cx="566928" cy="329184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1425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8" name="Google Shape;758;p13"/>
          <p:cNvSpPr/>
          <p:nvPr/>
        </p:nvSpPr>
        <p:spPr>
          <a:xfrm>
            <a:off x="8065008" y="4142232"/>
            <a:ext cx="512064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9" name="Google Shape;759;p13"/>
          <p:cNvSpPr/>
          <p:nvPr/>
        </p:nvSpPr>
        <p:spPr>
          <a:xfrm>
            <a:off x="5897880" y="5074920"/>
            <a:ext cx="5166360" cy="685800"/>
          </a:xfrm>
          <a:prstGeom prst="roundRect">
            <a:avLst>
              <a:gd fmla="val 10667" name="adj"/>
            </a:avLst>
          </a:prstGeom>
          <a:solidFill>
            <a:srgbClr val="F1F8E9"/>
          </a:solidFill>
          <a:ln cap="flat" cmpd="sng" w="13950">
            <a:solidFill>
              <a:srgbClr val="9BB7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0" name="Google Shape;760;p13"/>
          <p:cNvSpPr/>
          <p:nvPr/>
        </p:nvSpPr>
        <p:spPr>
          <a:xfrm>
            <a:off x="6035040" y="5184648"/>
            <a:ext cx="4892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Rule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1" name="Google Shape;761;p13"/>
          <p:cNvSpPr/>
          <p:nvPr/>
        </p:nvSpPr>
        <p:spPr>
          <a:xfrm>
            <a:off x="6035040" y="5486400"/>
            <a:ext cx="4892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 edge (u, v): insert v into list[u] and insert u into list[v].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2" name="Google Shape;762;p13"/>
          <p:cNvSpPr txBox="1"/>
          <p:nvPr>
            <p:ph idx="4294967295" type="sldNum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14"/>
          <p:cNvSpPr txBox="1"/>
          <p:nvPr>
            <p:ph idx="4294967295" type="sldNum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8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9" name="Google Shape;769;p14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0" name="Google Shape;770;p14"/>
          <p:cNvSpPr txBox="1"/>
          <p:nvPr/>
        </p:nvSpPr>
        <p:spPr>
          <a:xfrm>
            <a:off x="502920" y="274320"/>
            <a:ext cx="112014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12355B"/>
                </a:solidFill>
                <a:latin typeface="Play"/>
                <a:ea typeface="Play"/>
                <a:cs typeface="Play"/>
                <a:sym typeface="Play"/>
              </a:rPr>
              <a:t>Editable Java: Undirected Unweighted Adjacency List (1/3)</a:t>
            </a:r>
            <a:endParaRPr/>
          </a:p>
        </p:txBody>
      </p:sp>
      <p:sp>
        <p:nvSpPr>
          <p:cNvPr id="771" name="Google Shape;771;p14"/>
          <p:cNvSpPr txBox="1"/>
          <p:nvPr/>
        </p:nvSpPr>
        <p:spPr>
          <a:xfrm>
            <a:off x="530352" y="749808"/>
            <a:ext cx="11064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Edge node, graph setup, and insertion methods.</a:t>
            </a:r>
            <a:endParaRPr/>
          </a:p>
        </p:txBody>
      </p:sp>
      <p:sp>
        <p:nvSpPr>
          <p:cNvPr id="772" name="Google Shape;772;p14"/>
          <p:cNvSpPr txBox="1"/>
          <p:nvPr/>
        </p:nvSpPr>
        <p:spPr>
          <a:xfrm>
            <a:off x="658368" y="1069848"/>
            <a:ext cx="5440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Edge class + constructor</a:t>
            </a:r>
            <a:endParaRPr/>
          </a:p>
        </p:txBody>
      </p:sp>
      <p:sp>
        <p:nvSpPr>
          <p:cNvPr id="773" name="Google Shape;773;p14"/>
          <p:cNvSpPr txBox="1"/>
          <p:nvPr/>
        </p:nvSpPr>
        <p:spPr>
          <a:xfrm>
            <a:off x="6291072" y="1069848"/>
            <a:ext cx="5257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addEdges() + addEdge()</a:t>
            </a:r>
            <a:endParaRPr/>
          </a:p>
        </p:txBody>
      </p:sp>
      <p:sp>
        <p:nvSpPr>
          <p:cNvPr id="774" name="Google Shape;774;p14"/>
          <p:cNvSpPr/>
          <p:nvPr/>
        </p:nvSpPr>
        <p:spPr>
          <a:xfrm>
            <a:off x="640080" y="1353312"/>
            <a:ext cx="5440680" cy="4617720"/>
          </a:xfrm>
          <a:prstGeom prst="roundRect">
            <a:avLst>
              <a:gd fmla="val 16667" name="adj"/>
            </a:avLst>
          </a:prstGeom>
          <a:solidFill>
            <a:srgbClr val="222222"/>
          </a:solidFill>
          <a:ln cap="flat" cmpd="sng" w="9525">
            <a:solidFill>
              <a:srgbClr val="3A3A3A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5" name="Google Shape;775;p14"/>
          <p:cNvSpPr txBox="1"/>
          <p:nvPr/>
        </p:nvSpPr>
        <p:spPr>
          <a:xfrm>
            <a:off x="768096" y="1463040"/>
            <a:ext cx="5184648" cy="43982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9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class Edge {</a:t>
            </a:r>
            <a:endParaRPr/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9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    int destination;</a:t>
            </a:r>
            <a:endParaRPr/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9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    Edge next;</a:t>
            </a:r>
            <a:endParaRPr/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9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endParaRPr/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9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    public Edge(int destination) {</a:t>
            </a:r>
            <a:endParaRPr/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9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        this.destination = destination;</a:t>
            </a:r>
            <a:endParaRPr/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9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        this.next = null;</a:t>
            </a:r>
            <a:endParaRPr/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9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/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9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69">
              <a:solidFill>
                <a:srgbClr val="FAFAFA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9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public class GraphUndirectedUnweightedAdjacencyList {</a:t>
            </a:r>
            <a:endParaRPr/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69">
              <a:solidFill>
                <a:srgbClr val="FAFAFA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9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    private int numVertices;   </a:t>
            </a:r>
            <a:r>
              <a:rPr lang="en-US" sz="969">
                <a:solidFill>
                  <a:srgbClr val="A9D18E"/>
                </a:solidFill>
                <a:latin typeface="Consolas"/>
                <a:ea typeface="Consolas"/>
                <a:cs typeface="Consolas"/>
                <a:sym typeface="Consolas"/>
              </a:rPr>
              <a:t>// Total number of vertices</a:t>
            </a:r>
            <a:endParaRPr/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9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    private Edge[] adjList;    </a:t>
            </a:r>
            <a:r>
              <a:rPr lang="en-US" sz="969">
                <a:solidFill>
                  <a:srgbClr val="A9D18E"/>
                </a:solidFill>
                <a:latin typeface="Consolas"/>
                <a:ea typeface="Consolas"/>
                <a:cs typeface="Consolas"/>
                <a:sym typeface="Consolas"/>
              </a:rPr>
              <a:t>// Array of linked lists (Adjacency List)</a:t>
            </a:r>
            <a:endParaRPr/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69">
              <a:solidFill>
                <a:srgbClr val="A9D18E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9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969">
                <a:solidFill>
                  <a:srgbClr val="A9D18E"/>
                </a:solidFill>
                <a:latin typeface="Consolas"/>
                <a:ea typeface="Consolas"/>
                <a:cs typeface="Consolas"/>
                <a:sym typeface="Consolas"/>
              </a:rPr>
              <a:t>// Constructor: initialize graph</a:t>
            </a:r>
            <a:endParaRPr/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9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    public GraphUndirectedUnweightedAdjacencyList(int numVertices) {</a:t>
            </a:r>
            <a:endParaRPr/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9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        this.numVertices = numVertices;</a:t>
            </a:r>
            <a:endParaRPr/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69">
              <a:solidFill>
                <a:srgbClr val="FAFAFA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9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969">
                <a:solidFill>
                  <a:srgbClr val="A9D18E"/>
                </a:solidFill>
                <a:latin typeface="Consolas"/>
                <a:ea typeface="Consolas"/>
                <a:cs typeface="Consolas"/>
                <a:sym typeface="Consolas"/>
              </a:rPr>
              <a:t>// Create an array of size = numVertices</a:t>
            </a:r>
            <a:endParaRPr/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9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969">
                <a:solidFill>
                  <a:srgbClr val="A9D18E"/>
                </a:solidFill>
                <a:latin typeface="Consolas"/>
                <a:ea typeface="Consolas"/>
                <a:cs typeface="Consolas"/>
                <a:sym typeface="Consolas"/>
              </a:rPr>
              <a:t>// Each index will store the head of a linked list</a:t>
            </a:r>
            <a:endParaRPr/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9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        adjList = new Edge[numVertices]; </a:t>
            </a:r>
            <a:r>
              <a:rPr lang="en-US" sz="969">
                <a:solidFill>
                  <a:srgbClr val="A9D18E"/>
                </a:solidFill>
                <a:latin typeface="Consolas"/>
                <a:ea typeface="Consolas"/>
                <a:cs typeface="Consolas"/>
                <a:sym typeface="Consolas"/>
              </a:rPr>
              <a:t>// Initially all values are null</a:t>
            </a:r>
            <a:endParaRPr/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9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/>
          </a:p>
        </p:txBody>
      </p:sp>
      <p:sp>
        <p:nvSpPr>
          <p:cNvPr id="776" name="Google Shape;776;p14"/>
          <p:cNvSpPr/>
          <p:nvPr/>
        </p:nvSpPr>
        <p:spPr>
          <a:xfrm>
            <a:off x="6126480" y="1353312"/>
            <a:ext cx="5440680" cy="4617720"/>
          </a:xfrm>
          <a:prstGeom prst="roundRect">
            <a:avLst>
              <a:gd fmla="val 16667" name="adj"/>
            </a:avLst>
          </a:prstGeom>
          <a:solidFill>
            <a:srgbClr val="222222"/>
          </a:solidFill>
          <a:ln cap="flat" cmpd="sng" w="9525">
            <a:solidFill>
              <a:srgbClr val="3A3A3A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7" name="Google Shape;777;p14"/>
          <p:cNvSpPr txBox="1"/>
          <p:nvPr/>
        </p:nvSpPr>
        <p:spPr>
          <a:xfrm>
            <a:off x="6254496" y="1463040"/>
            <a:ext cx="5184648" cy="43982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950">
                <a:solidFill>
                  <a:srgbClr val="A9D18E"/>
                </a:solidFill>
                <a:latin typeface="Consolas"/>
                <a:ea typeface="Consolas"/>
                <a:cs typeface="Consolas"/>
                <a:sym typeface="Consolas"/>
              </a:rPr>
              <a:t>// Add multiple edges to the graph</a:t>
            </a:r>
            <a:endParaRPr/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    public void addEdges(int[][] edges) {</a:t>
            </a:r>
            <a:endParaRPr/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50">
              <a:solidFill>
                <a:srgbClr val="FAFAFA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950">
                <a:solidFill>
                  <a:srgbClr val="A9D18E"/>
                </a:solidFill>
                <a:latin typeface="Consolas"/>
                <a:ea typeface="Consolas"/>
                <a:cs typeface="Consolas"/>
                <a:sym typeface="Consolas"/>
              </a:rPr>
              <a:t>// edges format: { {source, destination}, ... }</a:t>
            </a:r>
            <a:endParaRPr/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        for (int i = 0; i &lt; edges.length; i++) {</a:t>
            </a:r>
            <a:endParaRPr/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50">
              <a:solidFill>
                <a:srgbClr val="FAFAFA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            int source = edges[i][0];        </a:t>
            </a:r>
            <a:r>
              <a:rPr lang="en-US" sz="950">
                <a:solidFill>
                  <a:srgbClr val="A9D18E"/>
                </a:solidFill>
                <a:latin typeface="Consolas"/>
                <a:ea typeface="Consolas"/>
                <a:cs typeface="Consolas"/>
                <a:sym typeface="Consolas"/>
              </a:rPr>
              <a:t>// Starting vertex</a:t>
            </a:r>
            <a:endParaRPr/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            int destination = edges[i][1];   </a:t>
            </a:r>
            <a:r>
              <a:rPr lang="en-US" sz="950">
                <a:solidFill>
                  <a:srgbClr val="A9D18E"/>
                </a:solidFill>
                <a:latin typeface="Consolas"/>
                <a:ea typeface="Consolas"/>
                <a:cs typeface="Consolas"/>
                <a:sym typeface="Consolas"/>
              </a:rPr>
              <a:t>// Ending vertex</a:t>
            </a:r>
            <a:endParaRPr/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50">
              <a:solidFill>
                <a:srgbClr val="A9D18E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950">
                <a:solidFill>
                  <a:srgbClr val="A9D18E"/>
                </a:solidFill>
                <a:latin typeface="Consolas"/>
                <a:ea typeface="Consolas"/>
                <a:cs typeface="Consolas"/>
                <a:sym typeface="Consolas"/>
              </a:rPr>
              <a:t>// For UNDIRECTED graph:</a:t>
            </a:r>
            <a:endParaRPr/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950">
                <a:solidFill>
                  <a:srgbClr val="A9D18E"/>
                </a:solidFill>
                <a:latin typeface="Consolas"/>
                <a:ea typeface="Consolas"/>
                <a:cs typeface="Consolas"/>
                <a:sym typeface="Consolas"/>
              </a:rPr>
              <a:t>// Add edge in BOTH directions</a:t>
            </a:r>
            <a:endParaRPr/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            addEdge(source, destination);      </a:t>
            </a:r>
            <a:r>
              <a:rPr lang="en-US" sz="950">
                <a:solidFill>
                  <a:srgbClr val="A9D18E"/>
                </a:solidFill>
                <a:latin typeface="Consolas"/>
                <a:ea typeface="Consolas"/>
                <a:cs typeface="Consolas"/>
                <a:sym typeface="Consolas"/>
              </a:rPr>
              <a:t>// source → destination</a:t>
            </a:r>
            <a:endParaRPr/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            addEdge(destination, source);      </a:t>
            </a:r>
            <a:r>
              <a:rPr lang="en-US" sz="950">
                <a:solidFill>
                  <a:srgbClr val="A9D18E"/>
                </a:solidFill>
                <a:latin typeface="Consolas"/>
                <a:ea typeface="Consolas"/>
                <a:cs typeface="Consolas"/>
                <a:sym typeface="Consolas"/>
              </a:rPr>
              <a:t>// destination → source</a:t>
            </a:r>
            <a:endParaRPr/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/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/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50">
              <a:solidFill>
                <a:srgbClr val="FAFAFA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950">
                <a:solidFill>
                  <a:srgbClr val="A9D18E"/>
                </a:solidFill>
                <a:latin typeface="Consolas"/>
                <a:ea typeface="Consolas"/>
                <a:cs typeface="Consolas"/>
                <a:sym typeface="Consolas"/>
              </a:rPr>
              <a:t>// Helper method to add a single edge</a:t>
            </a:r>
            <a:endParaRPr/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    private void addEdge(int source, int destination) {</a:t>
            </a:r>
            <a:endParaRPr/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50">
              <a:solidFill>
                <a:srgbClr val="FAFAFA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950">
                <a:solidFill>
                  <a:srgbClr val="A9D18E"/>
                </a:solidFill>
                <a:latin typeface="Consolas"/>
                <a:ea typeface="Consolas"/>
                <a:cs typeface="Consolas"/>
                <a:sym typeface="Consolas"/>
              </a:rPr>
              <a:t>// Step 1: Create a new edge node</a:t>
            </a:r>
            <a:endParaRPr/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        Edge newEdge = new Edge(destination);</a:t>
            </a:r>
            <a:endParaRPr/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50">
              <a:solidFill>
                <a:srgbClr val="FAFAFA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950">
                <a:solidFill>
                  <a:srgbClr val="A9D18E"/>
                </a:solidFill>
                <a:latin typeface="Consolas"/>
                <a:ea typeface="Consolas"/>
                <a:cs typeface="Consolas"/>
                <a:sym typeface="Consolas"/>
              </a:rPr>
              <a:t>// Step 2: Insert at the beginning (prepend)</a:t>
            </a:r>
            <a:endParaRPr/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950">
                <a:solidFill>
                  <a:srgbClr val="A9D18E"/>
                </a:solidFill>
                <a:latin typeface="Consolas"/>
                <a:ea typeface="Consolas"/>
                <a:cs typeface="Consolas"/>
                <a:sym typeface="Consolas"/>
              </a:rPr>
              <a:t>// This ensures O(1) insertion time</a:t>
            </a:r>
            <a:endParaRPr/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        newEdge.next = adjList[source];</a:t>
            </a:r>
            <a:endParaRPr/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50">
              <a:solidFill>
                <a:srgbClr val="FAFAFA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950">
                <a:solidFill>
                  <a:srgbClr val="A9D18E"/>
                </a:solidFill>
                <a:latin typeface="Consolas"/>
                <a:ea typeface="Consolas"/>
                <a:cs typeface="Consolas"/>
                <a:sym typeface="Consolas"/>
              </a:rPr>
              <a:t>// Step 3: Update head of the list</a:t>
            </a:r>
            <a:endParaRPr/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        adjList[source] = newEdge;</a:t>
            </a:r>
            <a:endParaRPr/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/>
          </a:p>
        </p:txBody>
      </p:sp>
      <p:sp>
        <p:nvSpPr>
          <p:cNvPr id="778" name="Google Shape;778;p14"/>
          <p:cNvSpPr/>
          <p:nvPr/>
        </p:nvSpPr>
        <p:spPr>
          <a:xfrm>
            <a:off x="658368" y="6108192"/>
            <a:ext cx="10881360" cy="393192"/>
          </a:xfrm>
          <a:prstGeom prst="roundRect">
            <a:avLst>
              <a:gd fmla="val 16667" name="adj"/>
            </a:avLst>
          </a:prstGeom>
          <a:solidFill>
            <a:srgbClr val="FFF4CF"/>
          </a:solidFill>
          <a:ln cap="flat" cmpd="sng" w="9525">
            <a:solidFill>
              <a:srgbClr val="D8D8D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9" name="Google Shape;779;p14"/>
          <p:cNvSpPr txBox="1"/>
          <p:nvPr/>
        </p:nvSpPr>
        <p:spPr>
          <a:xfrm>
            <a:off x="841248" y="6199632"/>
            <a:ext cx="10515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For an undirected edge, add each vertex to the other vertex's list.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15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5" name="Google Shape;785;p15"/>
          <p:cNvSpPr txBox="1"/>
          <p:nvPr/>
        </p:nvSpPr>
        <p:spPr>
          <a:xfrm>
            <a:off x="502920" y="274320"/>
            <a:ext cx="112014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12355B"/>
                </a:solidFill>
                <a:latin typeface="Play"/>
                <a:ea typeface="Play"/>
                <a:cs typeface="Play"/>
                <a:sym typeface="Play"/>
              </a:rPr>
              <a:t>Editable Java: Undirected Unweighted Adjacency List (2/3)</a:t>
            </a:r>
            <a:endParaRPr/>
          </a:p>
        </p:txBody>
      </p:sp>
      <p:sp>
        <p:nvSpPr>
          <p:cNvPr id="786" name="Google Shape;786;p15"/>
          <p:cNvSpPr txBox="1"/>
          <p:nvPr/>
        </p:nvSpPr>
        <p:spPr>
          <a:xfrm>
            <a:off x="530352" y="749808"/>
            <a:ext cx="11064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Methods for printing the list and finding neighbors.</a:t>
            </a:r>
            <a:endParaRPr/>
          </a:p>
        </p:txBody>
      </p:sp>
      <p:sp>
        <p:nvSpPr>
          <p:cNvPr id="787" name="Google Shape;787;p15"/>
          <p:cNvSpPr txBox="1"/>
          <p:nvPr/>
        </p:nvSpPr>
        <p:spPr>
          <a:xfrm>
            <a:off x="658368" y="1069848"/>
            <a:ext cx="5440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printList()</a:t>
            </a:r>
            <a:endParaRPr/>
          </a:p>
        </p:txBody>
      </p:sp>
      <p:sp>
        <p:nvSpPr>
          <p:cNvPr id="788" name="Google Shape;788;p15"/>
          <p:cNvSpPr txBox="1"/>
          <p:nvPr/>
        </p:nvSpPr>
        <p:spPr>
          <a:xfrm>
            <a:off x="6291072" y="1069848"/>
            <a:ext cx="5257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findNeighbors()</a:t>
            </a:r>
            <a:endParaRPr/>
          </a:p>
        </p:txBody>
      </p:sp>
      <p:sp>
        <p:nvSpPr>
          <p:cNvPr id="789" name="Google Shape;789;p15"/>
          <p:cNvSpPr/>
          <p:nvPr/>
        </p:nvSpPr>
        <p:spPr>
          <a:xfrm>
            <a:off x="640080" y="1353312"/>
            <a:ext cx="5440680" cy="4617720"/>
          </a:xfrm>
          <a:prstGeom prst="roundRect">
            <a:avLst>
              <a:gd fmla="val 16667" name="adj"/>
            </a:avLst>
          </a:prstGeom>
          <a:solidFill>
            <a:srgbClr val="222222"/>
          </a:solidFill>
          <a:ln cap="flat" cmpd="sng" w="9525">
            <a:solidFill>
              <a:srgbClr val="3A3A3A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0" name="Google Shape;790;p15"/>
          <p:cNvSpPr txBox="1"/>
          <p:nvPr/>
        </p:nvSpPr>
        <p:spPr>
          <a:xfrm>
            <a:off x="768096" y="1463040"/>
            <a:ext cx="5184648" cy="43982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9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019">
                <a:solidFill>
                  <a:srgbClr val="A9D18E"/>
                </a:solidFill>
                <a:latin typeface="Consolas"/>
                <a:ea typeface="Consolas"/>
                <a:cs typeface="Consolas"/>
                <a:sym typeface="Consolas"/>
              </a:rPr>
              <a:t>// Print the full adjacency list</a:t>
            </a:r>
            <a:endParaRPr/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9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    public void printList() {</a:t>
            </a:r>
            <a:endParaRPr/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9">
              <a:solidFill>
                <a:srgbClr val="FAFAFA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9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        System.out.println("Adjacency List:");</a:t>
            </a:r>
            <a:endParaRPr/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9">
              <a:solidFill>
                <a:srgbClr val="FAFAFA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9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019">
                <a:solidFill>
                  <a:srgbClr val="A9D18E"/>
                </a:solidFill>
                <a:latin typeface="Consolas"/>
                <a:ea typeface="Consolas"/>
                <a:cs typeface="Consolas"/>
                <a:sym typeface="Consolas"/>
              </a:rPr>
              <a:t>// Traverse each vertex</a:t>
            </a:r>
            <a:endParaRPr/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9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        for (int i = 0; i &lt; numVertices; i++) {</a:t>
            </a:r>
            <a:endParaRPr/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9">
              <a:solidFill>
                <a:srgbClr val="FAFAFA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9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            System.out.print(i + ": ");</a:t>
            </a:r>
            <a:endParaRPr/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9">
              <a:solidFill>
                <a:srgbClr val="FAFAFA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9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19">
                <a:solidFill>
                  <a:srgbClr val="A9D18E"/>
                </a:solidFill>
                <a:latin typeface="Consolas"/>
                <a:ea typeface="Consolas"/>
                <a:cs typeface="Consolas"/>
                <a:sym typeface="Consolas"/>
              </a:rPr>
              <a:t>// Traverse linked list of edges for vertex i</a:t>
            </a:r>
            <a:endParaRPr/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9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            Edge current = adjList[i];</a:t>
            </a:r>
            <a:endParaRPr/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9">
              <a:solidFill>
                <a:srgbClr val="FAFAFA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9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            while (current != null) {</a:t>
            </a:r>
            <a:endParaRPr/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9">
              <a:solidFill>
                <a:srgbClr val="FAFAFA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9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                </a:t>
            </a:r>
            <a:r>
              <a:rPr lang="en-US" sz="1019">
                <a:solidFill>
                  <a:srgbClr val="A9D18E"/>
                </a:solidFill>
                <a:latin typeface="Consolas"/>
                <a:ea typeface="Consolas"/>
                <a:cs typeface="Consolas"/>
                <a:sym typeface="Consolas"/>
              </a:rPr>
              <a:t>// Print neighbor (destination only, since unweighted)</a:t>
            </a:r>
            <a:endParaRPr/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9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                System.out.print(current.destination + " ");</a:t>
            </a:r>
            <a:endParaRPr/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9">
              <a:solidFill>
                <a:srgbClr val="FAFAFA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9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                current = current.next; </a:t>
            </a:r>
            <a:r>
              <a:rPr lang="en-US" sz="1019">
                <a:solidFill>
                  <a:srgbClr val="A9D18E"/>
                </a:solidFill>
                <a:latin typeface="Consolas"/>
                <a:ea typeface="Consolas"/>
                <a:cs typeface="Consolas"/>
                <a:sym typeface="Consolas"/>
              </a:rPr>
              <a:t>// Move to next edge</a:t>
            </a:r>
            <a:endParaRPr/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9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            }</a:t>
            </a:r>
            <a:endParaRPr/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9">
              <a:solidFill>
                <a:srgbClr val="FAFAFA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9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            System.out.println();</a:t>
            </a:r>
            <a:endParaRPr/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9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/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9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/>
          </a:p>
        </p:txBody>
      </p:sp>
      <p:sp>
        <p:nvSpPr>
          <p:cNvPr id="791" name="Google Shape;791;p15"/>
          <p:cNvSpPr/>
          <p:nvPr/>
        </p:nvSpPr>
        <p:spPr>
          <a:xfrm>
            <a:off x="6126480" y="1353312"/>
            <a:ext cx="5440680" cy="4617720"/>
          </a:xfrm>
          <a:prstGeom prst="roundRect">
            <a:avLst>
              <a:gd fmla="val 16667" name="adj"/>
            </a:avLst>
          </a:prstGeom>
          <a:solidFill>
            <a:srgbClr val="222222"/>
          </a:solidFill>
          <a:ln cap="flat" cmpd="sng" w="9525">
            <a:solidFill>
              <a:srgbClr val="3A3A3A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2" name="Google Shape;792;p15"/>
          <p:cNvSpPr txBox="1"/>
          <p:nvPr/>
        </p:nvSpPr>
        <p:spPr>
          <a:xfrm>
            <a:off x="6254496" y="1463040"/>
            <a:ext cx="5184648" cy="43982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9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019">
                <a:solidFill>
                  <a:srgbClr val="A9D18E"/>
                </a:solidFill>
                <a:latin typeface="Consolas"/>
                <a:ea typeface="Consolas"/>
                <a:cs typeface="Consolas"/>
                <a:sym typeface="Consolas"/>
              </a:rPr>
              <a:t>// Print neighbors of a given vertex</a:t>
            </a:r>
            <a:endParaRPr/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9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    public void findNeighbors(int vertex) {</a:t>
            </a:r>
            <a:endParaRPr/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9">
              <a:solidFill>
                <a:srgbClr val="FAFAFA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9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        System.out.print("\nNeighbors of vertex " + vertex + ": ");</a:t>
            </a:r>
            <a:endParaRPr/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9">
              <a:solidFill>
                <a:srgbClr val="FAFAFA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9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        Edge current = adjList[vertex];</a:t>
            </a:r>
            <a:endParaRPr/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9">
              <a:solidFill>
                <a:srgbClr val="FAFAFA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9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019">
                <a:solidFill>
                  <a:srgbClr val="A9D18E"/>
                </a:solidFill>
                <a:latin typeface="Consolas"/>
                <a:ea typeface="Consolas"/>
                <a:cs typeface="Consolas"/>
                <a:sym typeface="Consolas"/>
              </a:rPr>
              <a:t>// Traverse all neighbors</a:t>
            </a:r>
            <a:endParaRPr/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9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        while (current != null) {</a:t>
            </a:r>
            <a:endParaRPr/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9">
              <a:solidFill>
                <a:srgbClr val="FAFAFA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9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19">
                <a:solidFill>
                  <a:srgbClr val="A9D18E"/>
                </a:solidFill>
                <a:latin typeface="Consolas"/>
                <a:ea typeface="Consolas"/>
                <a:cs typeface="Consolas"/>
                <a:sym typeface="Consolas"/>
              </a:rPr>
              <a:t>// Print current neighbor</a:t>
            </a:r>
            <a:endParaRPr/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9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            System.out.print(current.destination);</a:t>
            </a:r>
            <a:endParaRPr/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9">
              <a:solidFill>
                <a:srgbClr val="FAFAFA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9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19">
                <a:solidFill>
                  <a:srgbClr val="A9D18E"/>
                </a:solidFill>
                <a:latin typeface="Consolas"/>
                <a:ea typeface="Consolas"/>
                <a:cs typeface="Consolas"/>
                <a:sym typeface="Consolas"/>
              </a:rPr>
              <a:t>// Add comma if not the last element</a:t>
            </a:r>
            <a:endParaRPr/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9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            if (current.next != null) {</a:t>
            </a:r>
            <a:endParaRPr/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9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                System.out.print(",");</a:t>
            </a:r>
            <a:endParaRPr/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9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            }</a:t>
            </a:r>
            <a:endParaRPr/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9">
              <a:solidFill>
                <a:srgbClr val="FAFAFA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9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            current = current.next; </a:t>
            </a:r>
            <a:r>
              <a:rPr lang="en-US" sz="1019">
                <a:solidFill>
                  <a:srgbClr val="A9D18E"/>
                </a:solidFill>
                <a:latin typeface="Consolas"/>
                <a:ea typeface="Consolas"/>
                <a:cs typeface="Consolas"/>
                <a:sym typeface="Consolas"/>
              </a:rPr>
              <a:t>// Move to next edge</a:t>
            </a:r>
            <a:endParaRPr/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9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/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9">
              <a:solidFill>
                <a:srgbClr val="FAFAFA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9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        System.out.println();</a:t>
            </a:r>
            <a:endParaRPr/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9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/>
          </a:p>
        </p:txBody>
      </p:sp>
      <p:sp>
        <p:nvSpPr>
          <p:cNvPr id="793" name="Google Shape;793;p15"/>
          <p:cNvSpPr/>
          <p:nvPr/>
        </p:nvSpPr>
        <p:spPr>
          <a:xfrm>
            <a:off x="658368" y="6108192"/>
            <a:ext cx="10881360" cy="393192"/>
          </a:xfrm>
          <a:prstGeom prst="roundRect">
            <a:avLst>
              <a:gd fmla="val 16667" name="adj"/>
            </a:avLst>
          </a:prstGeom>
          <a:solidFill>
            <a:srgbClr val="EEF8E8"/>
          </a:solidFill>
          <a:ln cap="flat" cmpd="sng" w="9525">
            <a:solidFill>
              <a:srgbClr val="D8D8D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4" name="Google Shape;794;p15"/>
          <p:cNvSpPr txBox="1"/>
          <p:nvPr/>
        </p:nvSpPr>
        <p:spPr>
          <a:xfrm>
            <a:off x="841248" y="6199632"/>
            <a:ext cx="10515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Both methods traverse linked-list nodes using current = current.next.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p16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0" name="Google Shape;800;p16"/>
          <p:cNvSpPr txBox="1"/>
          <p:nvPr/>
        </p:nvSpPr>
        <p:spPr>
          <a:xfrm>
            <a:off x="502920" y="274320"/>
            <a:ext cx="112014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12355B"/>
                </a:solidFill>
                <a:latin typeface="Play"/>
                <a:ea typeface="Play"/>
                <a:cs typeface="Play"/>
                <a:sym typeface="Play"/>
              </a:rPr>
              <a:t>Editable Java: Undirected Unweighted Adjacency List (3/3)</a:t>
            </a:r>
            <a:endParaRPr/>
          </a:p>
        </p:txBody>
      </p:sp>
      <p:sp>
        <p:nvSpPr>
          <p:cNvPr id="801" name="Google Shape;801;p16"/>
          <p:cNvSpPr txBox="1"/>
          <p:nvPr/>
        </p:nvSpPr>
        <p:spPr>
          <a:xfrm>
            <a:off x="530352" y="749808"/>
            <a:ext cx="11064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Driver code and the adjacency list created by prepend insertion.</a:t>
            </a:r>
            <a:endParaRPr/>
          </a:p>
        </p:txBody>
      </p:sp>
      <p:sp>
        <p:nvSpPr>
          <p:cNvPr id="802" name="Google Shape;802;p16"/>
          <p:cNvSpPr/>
          <p:nvPr/>
        </p:nvSpPr>
        <p:spPr>
          <a:xfrm>
            <a:off x="594360" y="1143000"/>
            <a:ext cx="6583680" cy="5120640"/>
          </a:xfrm>
          <a:prstGeom prst="roundRect">
            <a:avLst>
              <a:gd fmla="val 16667" name="adj"/>
            </a:avLst>
          </a:prstGeom>
          <a:solidFill>
            <a:srgbClr val="222222"/>
          </a:solidFill>
          <a:ln cap="flat" cmpd="sng" w="10150">
            <a:solidFill>
              <a:srgbClr val="38383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3" name="Google Shape;803;p16"/>
          <p:cNvSpPr txBox="1"/>
          <p:nvPr/>
        </p:nvSpPr>
        <p:spPr>
          <a:xfrm>
            <a:off x="758952" y="1280160"/>
            <a:ext cx="6254496" cy="48646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000">
                <a:solidFill>
                  <a:srgbClr val="A9D18E"/>
                </a:solidFill>
                <a:latin typeface="Consolas"/>
                <a:ea typeface="Consolas"/>
                <a:cs typeface="Consolas"/>
                <a:sym typeface="Consolas"/>
              </a:rPr>
              <a:t>// Driver code</a:t>
            </a:r>
            <a:endParaRPr/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    public static void main(String[] args) {</a:t>
            </a:r>
            <a:endParaRPr/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        int numVertices = 5;</a:t>
            </a:r>
            <a:endParaRPr/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        int[][] edges = {</a:t>
            </a:r>
            <a:endParaRPr/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            {0, 1},</a:t>
            </a:r>
            <a:endParaRPr/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            {0, 3},</a:t>
            </a:r>
            <a:endParaRPr/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            {1, 3},</a:t>
            </a:r>
            <a:endParaRPr/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            {1, 2},</a:t>
            </a:r>
            <a:endParaRPr/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            {1, 4},</a:t>
            </a:r>
            <a:endParaRPr/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            {2, 4},</a:t>
            </a:r>
            <a:endParaRPr/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            {3, 4}</a:t>
            </a:r>
            <a:endParaRPr/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        };</a:t>
            </a:r>
            <a:endParaRPr/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FAFAFA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        GraphUndirectedUnweightedAdjacencyList graph = new GraphUndirectedUnweightedAdjacencyList(numVertices);</a:t>
            </a:r>
            <a:endParaRPr/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FAFAFA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        System.out.println("Before adding connections:");</a:t>
            </a:r>
            <a:endParaRPr/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        graph.printList();</a:t>
            </a:r>
            <a:endParaRPr/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FAFAFA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        graph.addEdges(edges);</a:t>
            </a:r>
            <a:endParaRPr/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FAFAFA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        System.out.println("\nAfter adding connections:");</a:t>
            </a:r>
            <a:endParaRPr/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        graph.printList();</a:t>
            </a:r>
            <a:endParaRPr/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FAFAFA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        for (int vertex = 0; vertex &lt; numVertices; vertex++) {</a:t>
            </a:r>
            <a:endParaRPr/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            graph.findNeighbors(vertex);</a:t>
            </a:r>
            <a:endParaRPr/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/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/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</p:txBody>
      </p:sp>
      <p:sp>
        <p:nvSpPr>
          <p:cNvPr id="804" name="Google Shape;804;p16"/>
          <p:cNvSpPr/>
          <p:nvPr/>
        </p:nvSpPr>
        <p:spPr>
          <a:xfrm>
            <a:off x="7452360" y="1143000"/>
            <a:ext cx="4160520" cy="4041648"/>
          </a:xfrm>
          <a:prstGeom prst="roundRect">
            <a:avLst>
              <a:gd fmla="val 16667" name="adj"/>
            </a:avLst>
          </a:prstGeom>
          <a:solidFill>
            <a:srgbClr val="F7F9FC"/>
          </a:solidFill>
          <a:ln cap="flat" cmpd="sng" w="9525">
            <a:solidFill>
              <a:srgbClr val="D6E2F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5" name="Google Shape;805;p16"/>
          <p:cNvSpPr txBox="1"/>
          <p:nvPr/>
        </p:nvSpPr>
        <p:spPr>
          <a:xfrm>
            <a:off x="7635240" y="1325880"/>
            <a:ext cx="3749039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Resulting adjacency list</a:t>
            </a:r>
            <a:endParaRPr/>
          </a:p>
        </p:txBody>
      </p:sp>
      <p:sp>
        <p:nvSpPr>
          <p:cNvPr id="806" name="Google Shape;806;p16"/>
          <p:cNvSpPr txBox="1"/>
          <p:nvPr/>
        </p:nvSpPr>
        <p:spPr>
          <a:xfrm>
            <a:off x="7635240" y="1719072"/>
            <a:ext cx="3703320" cy="3154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0: 3 1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1: 4 2 3 0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2: 4 1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3: 4 1 0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4: 3 2 1</a:t>
            </a:r>
            <a:endParaRPr/>
          </a:p>
        </p:txBody>
      </p:sp>
      <p:sp>
        <p:nvSpPr>
          <p:cNvPr id="807" name="Google Shape;807;p16"/>
          <p:cNvSpPr/>
          <p:nvPr/>
        </p:nvSpPr>
        <p:spPr>
          <a:xfrm>
            <a:off x="7452360" y="5376672"/>
            <a:ext cx="4160520" cy="841248"/>
          </a:xfrm>
          <a:prstGeom prst="roundRect">
            <a:avLst>
              <a:gd fmla="val 16667" name="adj"/>
            </a:avLst>
          </a:prstGeom>
          <a:solidFill>
            <a:srgbClr val="EEF8E8"/>
          </a:solidFill>
          <a:ln cap="flat" cmpd="sng" w="9525">
            <a:solidFill>
              <a:srgbClr val="D7E8C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8" name="Google Shape;808;p16"/>
          <p:cNvSpPr txBox="1"/>
          <p:nvPr/>
        </p:nvSpPr>
        <p:spPr>
          <a:xfrm>
            <a:off x="7635240" y="5513832"/>
            <a:ext cx="3749039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Because addEdge() prepends, the newest neighbor appears first.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17"/>
          <p:cNvSpPr/>
          <p:nvPr/>
        </p:nvSpPr>
        <p:spPr>
          <a:xfrm>
            <a:off x="502920" y="292608"/>
            <a:ext cx="112471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2700"/>
              <a:buFont typeface="Play"/>
              <a:buNone/>
            </a:pPr>
            <a:r>
              <a:rPr b="1" lang="en-US" sz="2700">
                <a:solidFill>
                  <a:srgbClr val="12355B"/>
                </a:solidFill>
                <a:latin typeface="Play"/>
                <a:ea typeface="Play"/>
                <a:cs typeface="Play"/>
                <a:sym typeface="Play"/>
              </a:rPr>
              <a:t>Adjacency List: Directed Unweighted Graph</a:t>
            </a:r>
            <a:endParaRPr sz="2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5" name="Google Shape;815;p17"/>
          <p:cNvSpPr/>
          <p:nvPr/>
        </p:nvSpPr>
        <p:spPr>
          <a:xfrm>
            <a:off x="530352" y="777240"/>
            <a:ext cx="11155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Only outgoing neighbors are stored in each source vertex list.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6" name="Google Shape;816;p17"/>
          <p:cNvSpPr/>
          <p:nvPr/>
        </p:nvSpPr>
        <p:spPr>
          <a:xfrm>
            <a:off x="777240" y="1097280"/>
            <a:ext cx="4023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700"/>
              <a:buFont typeface="Arial"/>
              <a:buNone/>
            </a:pPr>
            <a:r>
              <a:rPr b="1" lang="en-US" sz="1700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Graph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17" name="Google Shape;817;p17"/>
          <p:cNvCxnSpPr/>
          <p:nvPr/>
        </p:nvCxnSpPr>
        <p:spPr>
          <a:xfrm flipH="1" rot="10800000">
            <a:off x="1422199" y="2175335"/>
            <a:ext cx="1407561" cy="541370"/>
          </a:xfrm>
          <a:prstGeom prst="straightConnector1">
            <a:avLst/>
          </a:prstGeom>
          <a:noFill/>
          <a:ln cap="flat" cmpd="sng" w="14600">
            <a:solidFill>
              <a:srgbClr val="44444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18" name="Google Shape;818;p17"/>
          <p:cNvCxnSpPr/>
          <p:nvPr/>
        </p:nvCxnSpPr>
        <p:spPr>
          <a:xfrm>
            <a:off x="1313565" y="2973874"/>
            <a:ext cx="573271" cy="1340021"/>
          </a:xfrm>
          <a:prstGeom prst="straightConnector1">
            <a:avLst/>
          </a:prstGeom>
          <a:noFill/>
          <a:ln cap="flat" cmpd="sng" w="14600">
            <a:solidFill>
              <a:srgbClr val="44444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19" name="Google Shape;819;p17"/>
          <p:cNvCxnSpPr/>
          <p:nvPr/>
        </p:nvCxnSpPr>
        <p:spPr>
          <a:xfrm>
            <a:off x="3172808" y="2231004"/>
            <a:ext cx="1243905" cy="1024392"/>
          </a:xfrm>
          <a:prstGeom prst="straightConnector1">
            <a:avLst/>
          </a:prstGeom>
          <a:noFill/>
          <a:ln cap="flat" cmpd="sng" w="14600">
            <a:solidFill>
              <a:srgbClr val="44444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20" name="Google Shape;820;p17"/>
          <p:cNvCxnSpPr/>
          <p:nvPr/>
        </p:nvCxnSpPr>
        <p:spPr>
          <a:xfrm>
            <a:off x="3100318" y="2286459"/>
            <a:ext cx="1114564" cy="2467963"/>
          </a:xfrm>
          <a:prstGeom prst="straightConnector1">
            <a:avLst/>
          </a:prstGeom>
          <a:noFill/>
          <a:ln cap="flat" cmpd="sng" w="14600">
            <a:solidFill>
              <a:srgbClr val="44444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21" name="Google Shape;821;p17"/>
          <p:cNvCxnSpPr/>
          <p:nvPr/>
        </p:nvCxnSpPr>
        <p:spPr>
          <a:xfrm flipH="1" rot="10800000">
            <a:off x="2046813" y="2287324"/>
            <a:ext cx="889854" cy="2027319"/>
          </a:xfrm>
          <a:prstGeom prst="straightConnector1">
            <a:avLst/>
          </a:prstGeom>
          <a:noFill/>
          <a:ln cap="flat" cmpd="sng" w="14600">
            <a:solidFill>
              <a:srgbClr val="44444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22" name="Google Shape;822;p17"/>
          <p:cNvCxnSpPr/>
          <p:nvPr/>
        </p:nvCxnSpPr>
        <p:spPr>
          <a:xfrm>
            <a:off x="2163656" y="4536061"/>
            <a:ext cx="1936328" cy="364485"/>
          </a:xfrm>
          <a:prstGeom prst="straightConnector1">
            <a:avLst/>
          </a:prstGeom>
          <a:noFill/>
          <a:ln cap="flat" cmpd="sng" w="14600">
            <a:solidFill>
              <a:srgbClr val="44444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23" name="Google Shape;823;p17"/>
          <p:cNvCxnSpPr/>
          <p:nvPr/>
        </p:nvCxnSpPr>
        <p:spPr>
          <a:xfrm flipH="1" rot="10800000">
            <a:off x="4332640" y="3581387"/>
            <a:ext cx="204400" cy="1158266"/>
          </a:xfrm>
          <a:prstGeom prst="straightConnector1">
            <a:avLst/>
          </a:prstGeom>
          <a:noFill/>
          <a:ln cap="flat" cmpd="sng" w="14600">
            <a:solidFill>
              <a:srgbClr val="44444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24" name="Google Shape;824;p17"/>
          <p:cNvSpPr/>
          <p:nvPr/>
        </p:nvSpPr>
        <p:spPr>
          <a:xfrm>
            <a:off x="1033272" y="2587752"/>
            <a:ext cx="402336" cy="402336"/>
          </a:xfrm>
          <a:prstGeom prst="ellipse">
            <a:avLst/>
          </a:prstGeom>
          <a:solidFill>
            <a:srgbClr val="BFD7EA"/>
          </a:solidFill>
          <a:ln cap="flat" cmpd="sng" w="13950">
            <a:solidFill>
              <a:srgbClr val="6E8D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5" name="Google Shape;825;p17"/>
          <p:cNvSpPr/>
          <p:nvPr/>
        </p:nvSpPr>
        <p:spPr>
          <a:xfrm>
            <a:off x="1124712" y="2688336"/>
            <a:ext cx="21945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6" name="Google Shape;826;p17"/>
          <p:cNvSpPr/>
          <p:nvPr/>
        </p:nvSpPr>
        <p:spPr>
          <a:xfrm>
            <a:off x="2816352" y="1901952"/>
            <a:ext cx="402336" cy="402336"/>
          </a:xfrm>
          <a:prstGeom prst="ellipse">
            <a:avLst/>
          </a:prstGeom>
          <a:solidFill>
            <a:srgbClr val="BFD7EA"/>
          </a:solidFill>
          <a:ln cap="flat" cmpd="sng" w="13950">
            <a:solidFill>
              <a:srgbClr val="6E8D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7" name="Google Shape;827;p17"/>
          <p:cNvSpPr/>
          <p:nvPr/>
        </p:nvSpPr>
        <p:spPr>
          <a:xfrm>
            <a:off x="2907792" y="2002536"/>
            <a:ext cx="21945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8" name="Google Shape;828;p17"/>
          <p:cNvSpPr/>
          <p:nvPr/>
        </p:nvSpPr>
        <p:spPr>
          <a:xfrm>
            <a:off x="4370832" y="3182112"/>
            <a:ext cx="402336" cy="402336"/>
          </a:xfrm>
          <a:prstGeom prst="ellipse">
            <a:avLst/>
          </a:prstGeom>
          <a:solidFill>
            <a:srgbClr val="BFD7EA"/>
          </a:solidFill>
          <a:ln cap="flat" cmpd="sng" w="13950">
            <a:solidFill>
              <a:srgbClr val="6E8D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9" name="Google Shape;829;p17"/>
          <p:cNvSpPr/>
          <p:nvPr/>
        </p:nvSpPr>
        <p:spPr>
          <a:xfrm>
            <a:off x="4462272" y="3282696"/>
            <a:ext cx="21945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0" name="Google Shape;830;p17"/>
          <p:cNvSpPr/>
          <p:nvPr/>
        </p:nvSpPr>
        <p:spPr>
          <a:xfrm>
            <a:off x="1764792" y="4297680"/>
            <a:ext cx="402336" cy="402336"/>
          </a:xfrm>
          <a:prstGeom prst="ellipse">
            <a:avLst/>
          </a:prstGeom>
          <a:solidFill>
            <a:srgbClr val="BFD7EA"/>
          </a:solidFill>
          <a:ln cap="flat" cmpd="sng" w="13950">
            <a:solidFill>
              <a:srgbClr val="6E8D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1" name="Google Shape;831;p17"/>
          <p:cNvSpPr/>
          <p:nvPr/>
        </p:nvSpPr>
        <p:spPr>
          <a:xfrm>
            <a:off x="1856232" y="4398264"/>
            <a:ext cx="21945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2" name="Google Shape;832;p17"/>
          <p:cNvSpPr/>
          <p:nvPr/>
        </p:nvSpPr>
        <p:spPr>
          <a:xfrm>
            <a:off x="4096512" y="4736592"/>
            <a:ext cx="402336" cy="402336"/>
          </a:xfrm>
          <a:prstGeom prst="ellipse">
            <a:avLst/>
          </a:prstGeom>
          <a:solidFill>
            <a:srgbClr val="BFD7EA"/>
          </a:solidFill>
          <a:ln cap="flat" cmpd="sng" w="13950">
            <a:solidFill>
              <a:srgbClr val="6E8D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3" name="Google Shape;833;p17"/>
          <p:cNvSpPr/>
          <p:nvPr/>
        </p:nvSpPr>
        <p:spPr>
          <a:xfrm>
            <a:off x="4187952" y="4837176"/>
            <a:ext cx="21945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4" name="Google Shape;834;p17"/>
          <p:cNvSpPr/>
          <p:nvPr/>
        </p:nvSpPr>
        <p:spPr>
          <a:xfrm>
            <a:off x="5897880" y="1097280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700"/>
              <a:buFont typeface="Arial"/>
              <a:buNone/>
            </a:pPr>
            <a:r>
              <a:rPr b="1" lang="en-US" sz="1700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Adjacency List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5" name="Google Shape;835;p17"/>
          <p:cNvSpPr/>
          <p:nvPr/>
        </p:nvSpPr>
        <p:spPr>
          <a:xfrm>
            <a:off x="5989320" y="1792224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5AA8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1E5AA8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36" name="Google Shape;836;p17"/>
          <p:cNvCxnSpPr/>
          <p:nvPr/>
        </p:nvCxnSpPr>
        <p:spPr>
          <a:xfrm>
            <a:off x="6263640" y="1892808"/>
            <a:ext cx="292608" cy="0"/>
          </a:xfrm>
          <a:prstGeom prst="straightConnector1">
            <a:avLst/>
          </a:prstGeom>
          <a:noFill/>
          <a:ln cap="flat" cmpd="sng" w="13950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37" name="Google Shape;837;p17"/>
          <p:cNvSpPr/>
          <p:nvPr/>
        </p:nvSpPr>
        <p:spPr>
          <a:xfrm>
            <a:off x="6611112" y="1691640"/>
            <a:ext cx="566928" cy="329184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1425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8" name="Google Shape;838;p17"/>
          <p:cNvSpPr/>
          <p:nvPr/>
        </p:nvSpPr>
        <p:spPr>
          <a:xfrm>
            <a:off x="6638544" y="1764792"/>
            <a:ext cx="512064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39" name="Google Shape;839;p17"/>
          <p:cNvCxnSpPr/>
          <p:nvPr/>
        </p:nvCxnSpPr>
        <p:spPr>
          <a:xfrm>
            <a:off x="7178040" y="1856232"/>
            <a:ext cx="146304" cy="0"/>
          </a:xfrm>
          <a:prstGeom prst="straightConnector1">
            <a:avLst/>
          </a:prstGeom>
          <a:noFill/>
          <a:ln cap="flat" cmpd="sng" w="11425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40" name="Google Shape;840;p17"/>
          <p:cNvSpPr/>
          <p:nvPr/>
        </p:nvSpPr>
        <p:spPr>
          <a:xfrm>
            <a:off x="7324344" y="1691640"/>
            <a:ext cx="566928" cy="329184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1425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1" name="Google Shape;841;p17"/>
          <p:cNvSpPr/>
          <p:nvPr/>
        </p:nvSpPr>
        <p:spPr>
          <a:xfrm>
            <a:off x="7351776" y="1764792"/>
            <a:ext cx="512064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2" name="Google Shape;842;p17"/>
          <p:cNvSpPr/>
          <p:nvPr/>
        </p:nvSpPr>
        <p:spPr>
          <a:xfrm>
            <a:off x="5989320" y="2432304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5AA8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1E5AA8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43" name="Google Shape;843;p17"/>
          <p:cNvCxnSpPr/>
          <p:nvPr/>
        </p:nvCxnSpPr>
        <p:spPr>
          <a:xfrm>
            <a:off x="6263640" y="2532888"/>
            <a:ext cx="292608" cy="0"/>
          </a:xfrm>
          <a:prstGeom prst="straightConnector1">
            <a:avLst/>
          </a:prstGeom>
          <a:noFill/>
          <a:ln cap="flat" cmpd="sng" w="13950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44" name="Google Shape;844;p17"/>
          <p:cNvSpPr/>
          <p:nvPr/>
        </p:nvSpPr>
        <p:spPr>
          <a:xfrm>
            <a:off x="6611112" y="2331720"/>
            <a:ext cx="566928" cy="329184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1425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5" name="Google Shape;845;p17"/>
          <p:cNvSpPr/>
          <p:nvPr/>
        </p:nvSpPr>
        <p:spPr>
          <a:xfrm>
            <a:off x="6638544" y="2404872"/>
            <a:ext cx="512064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46" name="Google Shape;846;p17"/>
          <p:cNvCxnSpPr/>
          <p:nvPr/>
        </p:nvCxnSpPr>
        <p:spPr>
          <a:xfrm>
            <a:off x="7178040" y="2496312"/>
            <a:ext cx="146304" cy="0"/>
          </a:xfrm>
          <a:prstGeom prst="straightConnector1">
            <a:avLst/>
          </a:prstGeom>
          <a:noFill/>
          <a:ln cap="flat" cmpd="sng" w="11425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47" name="Google Shape;847;p17"/>
          <p:cNvSpPr/>
          <p:nvPr/>
        </p:nvSpPr>
        <p:spPr>
          <a:xfrm>
            <a:off x="7324344" y="2331720"/>
            <a:ext cx="566928" cy="329184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1425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8" name="Google Shape;848;p17"/>
          <p:cNvSpPr/>
          <p:nvPr/>
        </p:nvSpPr>
        <p:spPr>
          <a:xfrm>
            <a:off x="7351776" y="2404872"/>
            <a:ext cx="512064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9" name="Google Shape;849;p17"/>
          <p:cNvSpPr/>
          <p:nvPr/>
        </p:nvSpPr>
        <p:spPr>
          <a:xfrm>
            <a:off x="5989320" y="3072384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5AA8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1E5AA8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50" name="Google Shape;850;p17"/>
          <p:cNvCxnSpPr/>
          <p:nvPr/>
        </p:nvCxnSpPr>
        <p:spPr>
          <a:xfrm>
            <a:off x="6263640" y="3172968"/>
            <a:ext cx="292608" cy="0"/>
          </a:xfrm>
          <a:prstGeom prst="straightConnector1">
            <a:avLst/>
          </a:prstGeom>
          <a:noFill/>
          <a:ln cap="flat" cmpd="sng" w="139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51" name="Google Shape;851;p17"/>
          <p:cNvSpPr/>
          <p:nvPr/>
        </p:nvSpPr>
        <p:spPr>
          <a:xfrm>
            <a:off x="5989320" y="3712464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5AA8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1E5AA8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52" name="Google Shape;852;p17"/>
          <p:cNvCxnSpPr/>
          <p:nvPr/>
        </p:nvCxnSpPr>
        <p:spPr>
          <a:xfrm>
            <a:off x="6263640" y="3813048"/>
            <a:ext cx="292608" cy="0"/>
          </a:xfrm>
          <a:prstGeom prst="straightConnector1">
            <a:avLst/>
          </a:prstGeom>
          <a:noFill/>
          <a:ln cap="flat" cmpd="sng" w="13950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53" name="Google Shape;853;p17"/>
          <p:cNvSpPr/>
          <p:nvPr/>
        </p:nvSpPr>
        <p:spPr>
          <a:xfrm>
            <a:off x="6611112" y="3611880"/>
            <a:ext cx="566928" cy="329184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1425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4" name="Google Shape;854;p17"/>
          <p:cNvSpPr/>
          <p:nvPr/>
        </p:nvSpPr>
        <p:spPr>
          <a:xfrm>
            <a:off x="6638544" y="3685032"/>
            <a:ext cx="512064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55" name="Google Shape;855;p17"/>
          <p:cNvCxnSpPr/>
          <p:nvPr/>
        </p:nvCxnSpPr>
        <p:spPr>
          <a:xfrm>
            <a:off x="7178040" y="3776472"/>
            <a:ext cx="146304" cy="0"/>
          </a:xfrm>
          <a:prstGeom prst="straightConnector1">
            <a:avLst/>
          </a:prstGeom>
          <a:noFill/>
          <a:ln cap="flat" cmpd="sng" w="11425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56" name="Google Shape;856;p17"/>
          <p:cNvSpPr/>
          <p:nvPr/>
        </p:nvSpPr>
        <p:spPr>
          <a:xfrm>
            <a:off x="7324344" y="3611880"/>
            <a:ext cx="566928" cy="329184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1425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7" name="Google Shape;857;p17"/>
          <p:cNvSpPr/>
          <p:nvPr/>
        </p:nvSpPr>
        <p:spPr>
          <a:xfrm>
            <a:off x="7351776" y="3685032"/>
            <a:ext cx="512064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8" name="Google Shape;858;p17"/>
          <p:cNvSpPr/>
          <p:nvPr/>
        </p:nvSpPr>
        <p:spPr>
          <a:xfrm>
            <a:off x="5989320" y="4352544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5AA8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1E5AA8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59" name="Google Shape;859;p17"/>
          <p:cNvCxnSpPr/>
          <p:nvPr/>
        </p:nvCxnSpPr>
        <p:spPr>
          <a:xfrm>
            <a:off x="6263640" y="4453128"/>
            <a:ext cx="292608" cy="0"/>
          </a:xfrm>
          <a:prstGeom prst="straightConnector1">
            <a:avLst/>
          </a:prstGeom>
          <a:noFill/>
          <a:ln cap="flat" cmpd="sng" w="13950">
            <a:solidFill>
              <a:srgbClr val="3333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60" name="Google Shape;860;p17"/>
          <p:cNvSpPr/>
          <p:nvPr/>
        </p:nvSpPr>
        <p:spPr>
          <a:xfrm>
            <a:off x="6611112" y="4251960"/>
            <a:ext cx="566928" cy="329184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1425">
            <a:solidFill>
              <a:srgbClr val="5B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1" name="Google Shape;861;p17"/>
          <p:cNvSpPr/>
          <p:nvPr/>
        </p:nvSpPr>
        <p:spPr>
          <a:xfrm>
            <a:off x="6638544" y="4325112"/>
            <a:ext cx="512064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2" name="Google Shape;862;p17"/>
          <p:cNvSpPr/>
          <p:nvPr/>
        </p:nvSpPr>
        <p:spPr>
          <a:xfrm>
            <a:off x="5897880" y="5074920"/>
            <a:ext cx="5166360" cy="685800"/>
          </a:xfrm>
          <a:prstGeom prst="roundRect">
            <a:avLst>
              <a:gd fmla="val 10667" name="adj"/>
            </a:avLst>
          </a:prstGeom>
          <a:solidFill>
            <a:srgbClr val="FFF2CC"/>
          </a:solidFill>
          <a:ln cap="flat" cmpd="sng" w="13950">
            <a:solidFill>
              <a:srgbClr val="9BB7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3" name="Google Shape;863;p17"/>
          <p:cNvSpPr/>
          <p:nvPr/>
        </p:nvSpPr>
        <p:spPr>
          <a:xfrm>
            <a:off x="6035040" y="5184648"/>
            <a:ext cx="4892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Rule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4" name="Google Shape;864;p17"/>
          <p:cNvSpPr/>
          <p:nvPr/>
        </p:nvSpPr>
        <p:spPr>
          <a:xfrm>
            <a:off x="6035040" y="5486400"/>
            <a:ext cx="4892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 edge (u, v): insert only v into list[u].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5" name="Google Shape;865;p17"/>
          <p:cNvSpPr txBox="1"/>
          <p:nvPr>
            <p:ph idx="4294967295" type="sldNum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8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p18"/>
          <p:cNvSpPr txBox="1"/>
          <p:nvPr>
            <p:ph idx="4294967295" type="sldNum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8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2" name="Google Shape;872;p18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3" name="Google Shape;873;p18"/>
          <p:cNvSpPr txBox="1"/>
          <p:nvPr/>
        </p:nvSpPr>
        <p:spPr>
          <a:xfrm>
            <a:off x="502920" y="274320"/>
            <a:ext cx="112014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12355B"/>
                </a:solidFill>
                <a:latin typeface="Play"/>
                <a:ea typeface="Play"/>
                <a:cs typeface="Play"/>
                <a:sym typeface="Play"/>
              </a:rPr>
              <a:t>Editable Java: Directed Unweighted Adjacency List (1/3)</a:t>
            </a:r>
            <a:endParaRPr/>
          </a:p>
        </p:txBody>
      </p:sp>
      <p:sp>
        <p:nvSpPr>
          <p:cNvPr id="874" name="Google Shape;874;p18"/>
          <p:cNvSpPr txBox="1"/>
          <p:nvPr/>
        </p:nvSpPr>
        <p:spPr>
          <a:xfrm>
            <a:off x="530352" y="749808"/>
            <a:ext cx="11064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Graph setup and one-way insertion methods. The same Edge class is reused.</a:t>
            </a:r>
            <a:endParaRPr/>
          </a:p>
        </p:txBody>
      </p:sp>
      <p:sp>
        <p:nvSpPr>
          <p:cNvPr id="875" name="Google Shape;875;p18"/>
          <p:cNvSpPr txBox="1"/>
          <p:nvPr/>
        </p:nvSpPr>
        <p:spPr>
          <a:xfrm>
            <a:off x="658368" y="1069848"/>
            <a:ext cx="5440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Class + constructor</a:t>
            </a:r>
            <a:endParaRPr/>
          </a:p>
        </p:txBody>
      </p:sp>
      <p:sp>
        <p:nvSpPr>
          <p:cNvPr id="876" name="Google Shape;876;p18"/>
          <p:cNvSpPr txBox="1"/>
          <p:nvPr/>
        </p:nvSpPr>
        <p:spPr>
          <a:xfrm>
            <a:off x="6291072" y="1069848"/>
            <a:ext cx="5257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addEdges() + addEdge()</a:t>
            </a:r>
            <a:endParaRPr/>
          </a:p>
        </p:txBody>
      </p:sp>
      <p:sp>
        <p:nvSpPr>
          <p:cNvPr id="877" name="Google Shape;877;p18"/>
          <p:cNvSpPr/>
          <p:nvPr/>
        </p:nvSpPr>
        <p:spPr>
          <a:xfrm>
            <a:off x="640080" y="1353312"/>
            <a:ext cx="5440680" cy="4617720"/>
          </a:xfrm>
          <a:prstGeom prst="roundRect">
            <a:avLst>
              <a:gd fmla="val 16667" name="adj"/>
            </a:avLst>
          </a:prstGeom>
          <a:solidFill>
            <a:srgbClr val="222222"/>
          </a:solidFill>
          <a:ln cap="flat" cmpd="sng" w="9525">
            <a:solidFill>
              <a:srgbClr val="3A3A3A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8" name="Google Shape;878;p18"/>
          <p:cNvSpPr txBox="1"/>
          <p:nvPr/>
        </p:nvSpPr>
        <p:spPr>
          <a:xfrm>
            <a:off x="768096" y="1463040"/>
            <a:ext cx="5184648" cy="43982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0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public class GraphDirectedUnweightedAdjacencyList {</a:t>
            </a:r>
            <a:endParaRPr/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0">
              <a:solidFill>
                <a:srgbClr val="FAFAFA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0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    private int numVertices;   </a:t>
            </a:r>
            <a:r>
              <a:rPr lang="en-US" sz="1010">
                <a:solidFill>
                  <a:srgbClr val="A9D18E"/>
                </a:solidFill>
                <a:latin typeface="Consolas"/>
                <a:ea typeface="Consolas"/>
                <a:cs typeface="Consolas"/>
                <a:sym typeface="Consolas"/>
              </a:rPr>
              <a:t>// Total number of vertices in the graph</a:t>
            </a:r>
            <a:endParaRPr/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0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    private Edge[] adjList;    </a:t>
            </a:r>
            <a:r>
              <a:rPr lang="en-US" sz="1010">
                <a:solidFill>
                  <a:srgbClr val="A9D18E"/>
                </a:solidFill>
                <a:latin typeface="Consolas"/>
                <a:ea typeface="Consolas"/>
                <a:cs typeface="Consolas"/>
                <a:sym typeface="Consolas"/>
              </a:rPr>
              <a:t>// Array of linked lists (Adjacency List)</a:t>
            </a:r>
            <a:endParaRPr/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0">
              <a:solidFill>
                <a:srgbClr val="A9D18E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0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010">
                <a:solidFill>
                  <a:srgbClr val="A9D18E"/>
                </a:solidFill>
                <a:latin typeface="Consolas"/>
                <a:ea typeface="Consolas"/>
                <a:cs typeface="Consolas"/>
                <a:sym typeface="Consolas"/>
              </a:rPr>
              <a:t>// Constructor: initialize graph</a:t>
            </a:r>
            <a:endParaRPr/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0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    public GraphDirectedUnweightedAdjacencyList(int numVertices) {</a:t>
            </a:r>
            <a:endParaRPr/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0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        this.numVertices = numVertices;</a:t>
            </a:r>
            <a:endParaRPr/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0">
              <a:solidFill>
                <a:srgbClr val="FAFAFA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0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010">
                <a:solidFill>
                  <a:srgbClr val="A9D18E"/>
                </a:solidFill>
                <a:latin typeface="Consolas"/>
                <a:ea typeface="Consolas"/>
                <a:cs typeface="Consolas"/>
                <a:sym typeface="Consolas"/>
              </a:rPr>
              <a:t>// Create an array of size = numVertices</a:t>
            </a:r>
            <a:endParaRPr/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0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010">
                <a:solidFill>
                  <a:srgbClr val="A9D18E"/>
                </a:solidFill>
                <a:latin typeface="Consolas"/>
                <a:ea typeface="Consolas"/>
                <a:cs typeface="Consolas"/>
                <a:sym typeface="Consolas"/>
              </a:rPr>
              <a:t>// Each index will store the head of a linked list</a:t>
            </a:r>
            <a:endParaRPr/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0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        adjList = new Edge[numVertices]; </a:t>
            </a:r>
            <a:r>
              <a:rPr lang="en-US" sz="1010">
                <a:solidFill>
                  <a:srgbClr val="A9D18E"/>
                </a:solidFill>
                <a:latin typeface="Consolas"/>
                <a:ea typeface="Consolas"/>
                <a:cs typeface="Consolas"/>
                <a:sym typeface="Consolas"/>
              </a:rPr>
              <a:t>// Initially all values are null</a:t>
            </a:r>
            <a:endParaRPr/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0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/>
          </a:p>
        </p:txBody>
      </p:sp>
      <p:sp>
        <p:nvSpPr>
          <p:cNvPr id="879" name="Google Shape;879;p18"/>
          <p:cNvSpPr/>
          <p:nvPr/>
        </p:nvSpPr>
        <p:spPr>
          <a:xfrm>
            <a:off x="6126480" y="1353312"/>
            <a:ext cx="5440680" cy="4617720"/>
          </a:xfrm>
          <a:prstGeom prst="roundRect">
            <a:avLst>
              <a:gd fmla="val 16667" name="adj"/>
            </a:avLst>
          </a:prstGeom>
          <a:solidFill>
            <a:srgbClr val="222222"/>
          </a:solidFill>
          <a:ln cap="flat" cmpd="sng" w="9525">
            <a:solidFill>
              <a:srgbClr val="3A3A3A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0" name="Google Shape;880;p18"/>
          <p:cNvSpPr txBox="1"/>
          <p:nvPr/>
        </p:nvSpPr>
        <p:spPr>
          <a:xfrm>
            <a:off x="6254496" y="1463040"/>
            <a:ext cx="5184648" cy="43982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80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980">
                <a:solidFill>
                  <a:srgbClr val="A9D18E"/>
                </a:solidFill>
                <a:latin typeface="Consolas"/>
                <a:ea typeface="Consolas"/>
                <a:cs typeface="Consolas"/>
                <a:sym typeface="Consolas"/>
              </a:rPr>
              <a:t>// Add multiple edges to the graph</a:t>
            </a:r>
            <a:endParaRPr/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80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    public void addEdges(int[][] edges) {</a:t>
            </a:r>
            <a:endParaRPr/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80">
              <a:solidFill>
                <a:srgbClr val="FAFAFA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80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980">
                <a:solidFill>
                  <a:srgbClr val="A9D18E"/>
                </a:solidFill>
                <a:latin typeface="Consolas"/>
                <a:ea typeface="Consolas"/>
                <a:cs typeface="Consolas"/>
                <a:sym typeface="Consolas"/>
              </a:rPr>
              <a:t>// edges format: { {source, destination}, ... }</a:t>
            </a:r>
            <a:endParaRPr/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80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        for (int i = 0; i &lt; edges.length; i++) {</a:t>
            </a:r>
            <a:endParaRPr/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80">
              <a:solidFill>
                <a:srgbClr val="FAFAFA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80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            int source = edges[i][0];        </a:t>
            </a:r>
            <a:r>
              <a:rPr lang="en-US" sz="980">
                <a:solidFill>
                  <a:srgbClr val="A9D18E"/>
                </a:solidFill>
                <a:latin typeface="Consolas"/>
                <a:ea typeface="Consolas"/>
                <a:cs typeface="Consolas"/>
                <a:sym typeface="Consolas"/>
              </a:rPr>
              <a:t>// Starting vertex</a:t>
            </a:r>
            <a:endParaRPr/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80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            int destination = edges[i][1];   </a:t>
            </a:r>
            <a:r>
              <a:rPr lang="en-US" sz="980">
                <a:solidFill>
                  <a:srgbClr val="A9D18E"/>
                </a:solidFill>
                <a:latin typeface="Consolas"/>
                <a:ea typeface="Consolas"/>
                <a:cs typeface="Consolas"/>
                <a:sym typeface="Consolas"/>
              </a:rPr>
              <a:t>// Ending vertex</a:t>
            </a:r>
            <a:endParaRPr/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80">
              <a:solidFill>
                <a:srgbClr val="A9D18E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80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980">
                <a:solidFill>
                  <a:srgbClr val="A9D18E"/>
                </a:solidFill>
                <a:latin typeface="Consolas"/>
                <a:ea typeface="Consolas"/>
                <a:cs typeface="Consolas"/>
                <a:sym typeface="Consolas"/>
              </a:rPr>
              <a:t>// For DIRECTED graph:</a:t>
            </a:r>
            <a:endParaRPr/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80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980">
                <a:solidFill>
                  <a:srgbClr val="A9D18E"/>
                </a:solidFill>
                <a:latin typeface="Consolas"/>
                <a:ea typeface="Consolas"/>
                <a:cs typeface="Consolas"/>
                <a:sym typeface="Consolas"/>
              </a:rPr>
              <a:t>// Add edge in only ONE direction</a:t>
            </a:r>
            <a:endParaRPr/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80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            addEdge(source, destination);</a:t>
            </a:r>
            <a:endParaRPr/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80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/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80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/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80">
              <a:solidFill>
                <a:srgbClr val="FAFAFA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80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980">
                <a:solidFill>
                  <a:srgbClr val="A9D18E"/>
                </a:solidFill>
                <a:latin typeface="Consolas"/>
                <a:ea typeface="Consolas"/>
                <a:cs typeface="Consolas"/>
                <a:sym typeface="Consolas"/>
              </a:rPr>
              <a:t>// Helper method to add a single directed edge</a:t>
            </a:r>
            <a:endParaRPr/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80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    private void addEdge(int source, int destination) {</a:t>
            </a:r>
            <a:endParaRPr/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80">
              <a:solidFill>
                <a:srgbClr val="FAFAFA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80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980">
                <a:solidFill>
                  <a:srgbClr val="A9D18E"/>
                </a:solidFill>
                <a:latin typeface="Consolas"/>
                <a:ea typeface="Consolas"/>
                <a:cs typeface="Consolas"/>
                <a:sym typeface="Consolas"/>
              </a:rPr>
              <a:t>// Step 1: Create a new edge node</a:t>
            </a:r>
            <a:endParaRPr/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80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        Edge newEdge = new Edge(destination);</a:t>
            </a:r>
            <a:endParaRPr/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80">
              <a:solidFill>
                <a:srgbClr val="FAFAFA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80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980">
                <a:solidFill>
                  <a:srgbClr val="A9D18E"/>
                </a:solidFill>
                <a:latin typeface="Consolas"/>
                <a:ea typeface="Consolas"/>
                <a:cs typeface="Consolas"/>
                <a:sym typeface="Consolas"/>
              </a:rPr>
              <a:t>// Step 2: Insert at the beginning (prepend)</a:t>
            </a:r>
            <a:endParaRPr/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80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980">
                <a:solidFill>
                  <a:srgbClr val="A9D18E"/>
                </a:solidFill>
                <a:latin typeface="Consolas"/>
                <a:ea typeface="Consolas"/>
                <a:cs typeface="Consolas"/>
                <a:sym typeface="Consolas"/>
              </a:rPr>
              <a:t>// This ensures O(1) insertion time</a:t>
            </a:r>
            <a:endParaRPr/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80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        newEdge.next = adjList[source];</a:t>
            </a:r>
            <a:endParaRPr/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80">
              <a:solidFill>
                <a:srgbClr val="FAFAFA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80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980">
                <a:solidFill>
                  <a:srgbClr val="A9D18E"/>
                </a:solidFill>
                <a:latin typeface="Consolas"/>
                <a:ea typeface="Consolas"/>
                <a:cs typeface="Consolas"/>
                <a:sym typeface="Consolas"/>
              </a:rPr>
              <a:t>// Step 3: Update the head of the list</a:t>
            </a:r>
            <a:endParaRPr/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80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        adjList[source] = newEdge;</a:t>
            </a:r>
            <a:endParaRPr/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80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/>
          </a:p>
        </p:txBody>
      </p:sp>
      <p:sp>
        <p:nvSpPr>
          <p:cNvPr id="881" name="Google Shape;881;p18"/>
          <p:cNvSpPr/>
          <p:nvPr/>
        </p:nvSpPr>
        <p:spPr>
          <a:xfrm>
            <a:off x="658368" y="6108192"/>
            <a:ext cx="10881360" cy="393192"/>
          </a:xfrm>
          <a:prstGeom prst="roundRect">
            <a:avLst>
              <a:gd fmla="val 16667" name="adj"/>
            </a:avLst>
          </a:prstGeom>
          <a:solidFill>
            <a:srgbClr val="FFF4CF"/>
          </a:solidFill>
          <a:ln cap="flat" cmpd="sng" w="9525">
            <a:solidFill>
              <a:srgbClr val="D8D8D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2" name="Google Shape;882;p18"/>
          <p:cNvSpPr txBox="1"/>
          <p:nvPr/>
        </p:nvSpPr>
        <p:spPr>
          <a:xfrm>
            <a:off x="841248" y="6199632"/>
            <a:ext cx="10515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Directed graph: add only destination to the source vertex's list.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p19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8" name="Google Shape;888;p19"/>
          <p:cNvSpPr txBox="1"/>
          <p:nvPr/>
        </p:nvSpPr>
        <p:spPr>
          <a:xfrm>
            <a:off x="502920" y="274320"/>
            <a:ext cx="112014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12355B"/>
                </a:solidFill>
                <a:latin typeface="Play"/>
                <a:ea typeface="Play"/>
                <a:cs typeface="Play"/>
                <a:sym typeface="Play"/>
              </a:rPr>
              <a:t>Editable Java: Directed Unweighted Adjacency List (2/3)</a:t>
            </a:r>
            <a:endParaRPr/>
          </a:p>
        </p:txBody>
      </p:sp>
      <p:sp>
        <p:nvSpPr>
          <p:cNvPr id="889" name="Google Shape;889;p19"/>
          <p:cNvSpPr txBox="1"/>
          <p:nvPr/>
        </p:nvSpPr>
        <p:spPr>
          <a:xfrm>
            <a:off x="530352" y="749808"/>
            <a:ext cx="11064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Methods for printing outgoing neighbors.</a:t>
            </a:r>
            <a:endParaRPr/>
          </a:p>
        </p:txBody>
      </p:sp>
      <p:sp>
        <p:nvSpPr>
          <p:cNvPr id="890" name="Google Shape;890;p19"/>
          <p:cNvSpPr txBox="1"/>
          <p:nvPr/>
        </p:nvSpPr>
        <p:spPr>
          <a:xfrm>
            <a:off x="658368" y="1069848"/>
            <a:ext cx="5440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printList()</a:t>
            </a:r>
            <a:endParaRPr/>
          </a:p>
        </p:txBody>
      </p:sp>
      <p:sp>
        <p:nvSpPr>
          <p:cNvPr id="891" name="Google Shape;891;p19"/>
          <p:cNvSpPr txBox="1"/>
          <p:nvPr/>
        </p:nvSpPr>
        <p:spPr>
          <a:xfrm>
            <a:off x="6291072" y="1069848"/>
            <a:ext cx="5257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findNeighbors()</a:t>
            </a:r>
            <a:endParaRPr/>
          </a:p>
        </p:txBody>
      </p:sp>
      <p:sp>
        <p:nvSpPr>
          <p:cNvPr id="892" name="Google Shape;892;p19"/>
          <p:cNvSpPr/>
          <p:nvPr/>
        </p:nvSpPr>
        <p:spPr>
          <a:xfrm>
            <a:off x="640080" y="1353312"/>
            <a:ext cx="5440680" cy="4617720"/>
          </a:xfrm>
          <a:prstGeom prst="roundRect">
            <a:avLst>
              <a:gd fmla="val 16667" name="adj"/>
            </a:avLst>
          </a:prstGeom>
          <a:solidFill>
            <a:srgbClr val="222222"/>
          </a:solidFill>
          <a:ln cap="flat" cmpd="sng" w="9525">
            <a:solidFill>
              <a:srgbClr val="3A3A3A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3" name="Google Shape;893;p19"/>
          <p:cNvSpPr txBox="1"/>
          <p:nvPr/>
        </p:nvSpPr>
        <p:spPr>
          <a:xfrm>
            <a:off x="768096" y="1463040"/>
            <a:ext cx="5184648" cy="43982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9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019">
                <a:solidFill>
                  <a:srgbClr val="A9D18E"/>
                </a:solidFill>
                <a:latin typeface="Consolas"/>
                <a:ea typeface="Consolas"/>
                <a:cs typeface="Consolas"/>
                <a:sym typeface="Consolas"/>
              </a:rPr>
              <a:t>// Print the full adjacency list</a:t>
            </a:r>
            <a:endParaRPr/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9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    public void printList() {</a:t>
            </a:r>
            <a:endParaRPr/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9">
              <a:solidFill>
                <a:srgbClr val="FAFAFA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9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        System.out.println("Adjacency List:");</a:t>
            </a:r>
            <a:endParaRPr/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9">
              <a:solidFill>
                <a:srgbClr val="FAFAFA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9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019">
                <a:solidFill>
                  <a:srgbClr val="A9D18E"/>
                </a:solidFill>
                <a:latin typeface="Consolas"/>
                <a:ea typeface="Consolas"/>
                <a:cs typeface="Consolas"/>
                <a:sym typeface="Consolas"/>
              </a:rPr>
              <a:t>// Traverse each vertex</a:t>
            </a:r>
            <a:endParaRPr/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9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        for (int i = 0; i &lt; numVertices; i++) {</a:t>
            </a:r>
            <a:endParaRPr/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9">
              <a:solidFill>
                <a:srgbClr val="FAFAFA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9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            System.out.print(i + ": ");</a:t>
            </a:r>
            <a:endParaRPr/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9">
              <a:solidFill>
                <a:srgbClr val="FAFAFA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9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19">
                <a:solidFill>
                  <a:srgbClr val="A9D18E"/>
                </a:solidFill>
                <a:latin typeface="Consolas"/>
                <a:ea typeface="Consolas"/>
                <a:cs typeface="Consolas"/>
                <a:sym typeface="Consolas"/>
              </a:rPr>
              <a:t>// Traverse linked list of edges for vertex i</a:t>
            </a:r>
            <a:endParaRPr/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9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            Edge current = adjList[i];</a:t>
            </a:r>
            <a:endParaRPr/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9">
              <a:solidFill>
                <a:srgbClr val="FAFAFA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9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            while (current != null) {</a:t>
            </a:r>
            <a:endParaRPr/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9">
              <a:solidFill>
                <a:srgbClr val="FAFAFA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9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                </a:t>
            </a:r>
            <a:r>
              <a:rPr lang="en-US" sz="1019">
                <a:solidFill>
                  <a:srgbClr val="A9D18E"/>
                </a:solidFill>
                <a:latin typeface="Consolas"/>
                <a:ea typeface="Consolas"/>
                <a:cs typeface="Consolas"/>
                <a:sym typeface="Consolas"/>
              </a:rPr>
              <a:t>// Print only destination (unweighted graph)</a:t>
            </a:r>
            <a:endParaRPr/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9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                System.out.print(current.destination + " ");</a:t>
            </a:r>
            <a:endParaRPr/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9">
              <a:solidFill>
                <a:srgbClr val="FAFAFA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9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                current = current.next; </a:t>
            </a:r>
            <a:r>
              <a:rPr lang="en-US" sz="1019">
                <a:solidFill>
                  <a:srgbClr val="A9D18E"/>
                </a:solidFill>
                <a:latin typeface="Consolas"/>
                <a:ea typeface="Consolas"/>
                <a:cs typeface="Consolas"/>
                <a:sym typeface="Consolas"/>
              </a:rPr>
              <a:t>// Move to next edge</a:t>
            </a:r>
            <a:endParaRPr/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9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            }</a:t>
            </a:r>
            <a:endParaRPr/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9">
              <a:solidFill>
                <a:srgbClr val="FAFAFA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9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            System.out.println();</a:t>
            </a:r>
            <a:endParaRPr/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9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/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9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/>
          </a:p>
        </p:txBody>
      </p:sp>
      <p:sp>
        <p:nvSpPr>
          <p:cNvPr id="894" name="Google Shape;894;p19"/>
          <p:cNvSpPr/>
          <p:nvPr/>
        </p:nvSpPr>
        <p:spPr>
          <a:xfrm>
            <a:off x="6126480" y="1353312"/>
            <a:ext cx="5440680" cy="4617720"/>
          </a:xfrm>
          <a:prstGeom prst="roundRect">
            <a:avLst>
              <a:gd fmla="val 16667" name="adj"/>
            </a:avLst>
          </a:prstGeom>
          <a:solidFill>
            <a:srgbClr val="222222"/>
          </a:solidFill>
          <a:ln cap="flat" cmpd="sng" w="9525">
            <a:solidFill>
              <a:srgbClr val="3A3A3A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5" name="Google Shape;895;p19"/>
          <p:cNvSpPr txBox="1"/>
          <p:nvPr/>
        </p:nvSpPr>
        <p:spPr>
          <a:xfrm>
            <a:off x="6254496" y="1463040"/>
            <a:ext cx="5184648" cy="43982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9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019">
                <a:solidFill>
                  <a:srgbClr val="A9D18E"/>
                </a:solidFill>
                <a:latin typeface="Consolas"/>
                <a:ea typeface="Consolas"/>
                <a:cs typeface="Consolas"/>
                <a:sym typeface="Consolas"/>
              </a:rPr>
              <a:t>// Method to find and print neighbors of a given vertex</a:t>
            </a:r>
            <a:endParaRPr/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9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    public void findNeighbors(int vertex) {</a:t>
            </a:r>
            <a:endParaRPr/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9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endParaRPr/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9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        System.out.print("\nNeighbors of vertex " + vertex + ": ");</a:t>
            </a:r>
            <a:endParaRPr/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9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endParaRPr/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9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        Edge current = adjList[vertex];</a:t>
            </a:r>
            <a:endParaRPr/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9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endParaRPr/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9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019">
                <a:solidFill>
                  <a:srgbClr val="A9D18E"/>
                </a:solidFill>
                <a:latin typeface="Consolas"/>
                <a:ea typeface="Consolas"/>
                <a:cs typeface="Consolas"/>
                <a:sym typeface="Consolas"/>
              </a:rPr>
              <a:t>// Traverse all neighbors</a:t>
            </a:r>
            <a:endParaRPr/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9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        while (current != null) {</a:t>
            </a:r>
            <a:endParaRPr/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9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endParaRPr/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9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19">
                <a:solidFill>
                  <a:srgbClr val="A9D18E"/>
                </a:solidFill>
                <a:latin typeface="Consolas"/>
                <a:ea typeface="Consolas"/>
                <a:cs typeface="Consolas"/>
                <a:sym typeface="Consolas"/>
              </a:rPr>
              <a:t>// Print current neighbor</a:t>
            </a:r>
            <a:endParaRPr/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9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            System.out.print(current.destination);</a:t>
            </a:r>
            <a:endParaRPr/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9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endParaRPr/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9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19">
                <a:solidFill>
                  <a:srgbClr val="A9D18E"/>
                </a:solidFill>
                <a:latin typeface="Consolas"/>
                <a:ea typeface="Consolas"/>
                <a:cs typeface="Consolas"/>
                <a:sym typeface="Consolas"/>
              </a:rPr>
              <a:t>// Add comma if not the last element</a:t>
            </a:r>
            <a:endParaRPr/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9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            if (current.next != null) {</a:t>
            </a:r>
            <a:endParaRPr/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9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                System.out.print(",");</a:t>
            </a:r>
            <a:endParaRPr/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9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            }</a:t>
            </a:r>
            <a:endParaRPr/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9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endParaRPr/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9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            current = current.next; </a:t>
            </a:r>
            <a:r>
              <a:rPr lang="en-US" sz="1019">
                <a:solidFill>
                  <a:srgbClr val="A9D18E"/>
                </a:solidFill>
                <a:latin typeface="Consolas"/>
                <a:ea typeface="Consolas"/>
                <a:cs typeface="Consolas"/>
                <a:sym typeface="Consolas"/>
              </a:rPr>
              <a:t>// Move to next edge</a:t>
            </a:r>
            <a:endParaRPr/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9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/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9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endParaRPr/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9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        System.out.println();</a:t>
            </a:r>
            <a:endParaRPr/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9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/>
          </a:p>
        </p:txBody>
      </p:sp>
      <p:sp>
        <p:nvSpPr>
          <p:cNvPr id="896" name="Google Shape;896;p19"/>
          <p:cNvSpPr/>
          <p:nvPr/>
        </p:nvSpPr>
        <p:spPr>
          <a:xfrm>
            <a:off x="658368" y="6108192"/>
            <a:ext cx="10881360" cy="393192"/>
          </a:xfrm>
          <a:prstGeom prst="roundRect">
            <a:avLst>
              <a:gd fmla="val 16667" name="adj"/>
            </a:avLst>
          </a:prstGeom>
          <a:solidFill>
            <a:srgbClr val="EEF8E8"/>
          </a:solidFill>
          <a:ln cap="flat" cmpd="sng" w="9525">
            <a:solidFill>
              <a:srgbClr val="D8D8D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7" name="Google Shape;897;p19"/>
          <p:cNvSpPr txBox="1"/>
          <p:nvPr/>
        </p:nvSpPr>
        <p:spPr>
          <a:xfrm>
            <a:off x="841248" y="6199632"/>
            <a:ext cx="10515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Only outgoing edges are stored and printed for each source vertex.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p2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3" name="Google Shape;903;p20"/>
          <p:cNvSpPr txBox="1"/>
          <p:nvPr/>
        </p:nvSpPr>
        <p:spPr>
          <a:xfrm>
            <a:off x="502920" y="274320"/>
            <a:ext cx="112014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12355B"/>
                </a:solidFill>
                <a:latin typeface="Play"/>
                <a:ea typeface="Play"/>
                <a:cs typeface="Play"/>
                <a:sym typeface="Play"/>
              </a:rPr>
              <a:t>Editable Java: Directed Unweighted Adjacency List (3/3)</a:t>
            </a:r>
            <a:endParaRPr/>
          </a:p>
        </p:txBody>
      </p:sp>
      <p:sp>
        <p:nvSpPr>
          <p:cNvPr id="904" name="Google Shape;904;p20"/>
          <p:cNvSpPr txBox="1"/>
          <p:nvPr/>
        </p:nvSpPr>
        <p:spPr>
          <a:xfrm>
            <a:off x="530352" y="749808"/>
            <a:ext cx="11064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Driver code and the one-way adjacency lists it creates.</a:t>
            </a:r>
            <a:endParaRPr/>
          </a:p>
        </p:txBody>
      </p:sp>
      <p:sp>
        <p:nvSpPr>
          <p:cNvPr id="905" name="Google Shape;905;p20"/>
          <p:cNvSpPr/>
          <p:nvPr/>
        </p:nvSpPr>
        <p:spPr>
          <a:xfrm>
            <a:off x="594360" y="1143000"/>
            <a:ext cx="6583680" cy="5120640"/>
          </a:xfrm>
          <a:prstGeom prst="roundRect">
            <a:avLst>
              <a:gd fmla="val 16667" name="adj"/>
            </a:avLst>
          </a:prstGeom>
          <a:solidFill>
            <a:srgbClr val="222222"/>
          </a:solidFill>
          <a:ln cap="flat" cmpd="sng" w="10150">
            <a:solidFill>
              <a:srgbClr val="38383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6" name="Google Shape;906;p20"/>
          <p:cNvSpPr txBox="1"/>
          <p:nvPr/>
        </p:nvSpPr>
        <p:spPr>
          <a:xfrm>
            <a:off x="758952" y="1280160"/>
            <a:ext cx="6254496" cy="48646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000">
                <a:solidFill>
                  <a:srgbClr val="A9D18E"/>
                </a:solidFill>
                <a:latin typeface="Consolas"/>
                <a:ea typeface="Consolas"/>
                <a:cs typeface="Consolas"/>
                <a:sym typeface="Consolas"/>
              </a:rPr>
              <a:t>// Driver code</a:t>
            </a:r>
            <a:endParaRPr/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    public static void main(String[] args) {</a:t>
            </a:r>
            <a:endParaRPr/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        int numVertices = 5;</a:t>
            </a:r>
            <a:endParaRPr/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        int[][] edges = {</a:t>
            </a:r>
            <a:endParaRPr/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            {0, 1}, {0, 3},</a:t>
            </a:r>
            <a:endParaRPr/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            {1, 2}, {1, 4},</a:t>
            </a:r>
            <a:endParaRPr/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            {3, 1}, {3, 4},</a:t>
            </a:r>
            <a:endParaRPr/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            {4, 2}</a:t>
            </a:r>
            <a:endParaRPr/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        };</a:t>
            </a:r>
            <a:endParaRPr/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FAFAFA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        GraphDirectedUnweightedAdjacencyList graph = new GraphDirectedUnweightedAdjacencyList(numVertices);</a:t>
            </a:r>
            <a:endParaRPr/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FAFAFA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        System.out.println("Before adding connections:");</a:t>
            </a:r>
            <a:endParaRPr/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        graph.printList();</a:t>
            </a:r>
            <a:endParaRPr/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FAFAFA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        graph.addEdges(edges);</a:t>
            </a:r>
            <a:endParaRPr/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FAFAFA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        System.out.println("\nAfter adding connections:");</a:t>
            </a:r>
            <a:endParaRPr/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        graph.printList();</a:t>
            </a:r>
            <a:endParaRPr/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FAFAFA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        for (int vertex = 0; vertex &lt; numVertices; vertex++) {</a:t>
            </a:r>
            <a:endParaRPr/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            graph.findNeighbors(vertex);</a:t>
            </a:r>
            <a:endParaRPr/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/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/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AFAFA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</p:txBody>
      </p:sp>
      <p:sp>
        <p:nvSpPr>
          <p:cNvPr id="907" name="Google Shape;907;p20"/>
          <p:cNvSpPr/>
          <p:nvPr/>
        </p:nvSpPr>
        <p:spPr>
          <a:xfrm>
            <a:off x="7452360" y="1143000"/>
            <a:ext cx="4160520" cy="4041648"/>
          </a:xfrm>
          <a:prstGeom prst="roundRect">
            <a:avLst>
              <a:gd fmla="val 16667" name="adj"/>
            </a:avLst>
          </a:prstGeom>
          <a:solidFill>
            <a:srgbClr val="F7F9FC"/>
          </a:solidFill>
          <a:ln cap="flat" cmpd="sng" w="9525">
            <a:solidFill>
              <a:srgbClr val="D6E2F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8" name="Google Shape;908;p20"/>
          <p:cNvSpPr txBox="1"/>
          <p:nvPr/>
        </p:nvSpPr>
        <p:spPr>
          <a:xfrm>
            <a:off x="7635240" y="1325880"/>
            <a:ext cx="3749039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Resulting adjacency list</a:t>
            </a:r>
            <a:endParaRPr/>
          </a:p>
        </p:txBody>
      </p:sp>
      <p:sp>
        <p:nvSpPr>
          <p:cNvPr id="909" name="Google Shape;909;p20"/>
          <p:cNvSpPr txBox="1"/>
          <p:nvPr/>
        </p:nvSpPr>
        <p:spPr>
          <a:xfrm>
            <a:off x="7635240" y="1719072"/>
            <a:ext cx="3703320" cy="3154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0: 3 1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1: 4 2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2: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3: 4 1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4: 2</a:t>
            </a:r>
            <a:endParaRPr/>
          </a:p>
        </p:txBody>
      </p:sp>
      <p:sp>
        <p:nvSpPr>
          <p:cNvPr id="910" name="Google Shape;910;p20"/>
          <p:cNvSpPr/>
          <p:nvPr/>
        </p:nvSpPr>
        <p:spPr>
          <a:xfrm>
            <a:off x="7452360" y="5376672"/>
            <a:ext cx="4160520" cy="841248"/>
          </a:xfrm>
          <a:prstGeom prst="roundRect">
            <a:avLst>
              <a:gd fmla="val 16667" name="adj"/>
            </a:avLst>
          </a:prstGeom>
          <a:solidFill>
            <a:srgbClr val="EEF8E8"/>
          </a:solidFill>
          <a:ln cap="flat" cmpd="sng" w="9525">
            <a:solidFill>
              <a:srgbClr val="D7E8C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1" name="Google Shape;911;p20"/>
          <p:cNvSpPr txBox="1"/>
          <p:nvPr/>
        </p:nvSpPr>
        <p:spPr>
          <a:xfrm>
            <a:off x="7635240" y="5513832"/>
            <a:ext cx="3749039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Only outgoing edges appear in a vertex's list.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F1F5"/>
        </a:solidFill>
      </p:bgPr>
    </p:bg>
    <p:spTree>
      <p:nvGrpSpPr>
        <p:cNvPr id="916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p21"/>
          <p:cNvSpPr txBox="1"/>
          <p:nvPr/>
        </p:nvSpPr>
        <p:spPr>
          <a:xfrm>
            <a:off x="411480" y="164592"/>
            <a:ext cx="113385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2F4F7F"/>
                </a:solidFill>
                <a:latin typeface="Play"/>
                <a:ea typeface="Play"/>
                <a:cs typeface="Play"/>
                <a:sym typeface="Play"/>
              </a:rPr>
              <a:t>Adjacency List: Directed Weighted Graph</a:t>
            </a:r>
            <a:endParaRPr/>
          </a:p>
        </p:txBody>
      </p:sp>
      <p:sp>
        <p:nvSpPr>
          <p:cNvPr id="918" name="Google Shape;918;p21"/>
          <p:cNvSpPr txBox="1"/>
          <p:nvPr/>
        </p:nvSpPr>
        <p:spPr>
          <a:xfrm>
            <a:off x="502920" y="621792"/>
            <a:ext cx="10972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Sample figure using a light grey theme. The weighted adjacency-list example follows the provided figure.</a:t>
            </a:r>
            <a:endParaRPr/>
          </a:p>
        </p:txBody>
      </p:sp>
      <p:pic>
        <p:nvPicPr>
          <p:cNvPr descr="image.png" id="919" name="Google Shape;91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868680"/>
            <a:ext cx="11658600" cy="56692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F1F5"/>
        </a:solidFill>
      </p:bgPr>
    </p:bg>
    <p:spTree>
      <p:nvGrpSpPr>
        <p:cNvPr id="924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p22"/>
          <p:cNvSpPr txBox="1"/>
          <p:nvPr/>
        </p:nvSpPr>
        <p:spPr>
          <a:xfrm>
            <a:off x="411480" y="164592"/>
            <a:ext cx="113385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2F4F7F"/>
                </a:solidFill>
                <a:latin typeface="Play"/>
                <a:ea typeface="Play"/>
                <a:cs typeface="Play"/>
                <a:sym typeface="Play"/>
              </a:rPr>
              <a:t>Editable Java: Directed Weighted Adjacency List (1/3)</a:t>
            </a:r>
            <a:endParaRPr/>
          </a:p>
        </p:txBody>
      </p:sp>
      <p:sp>
        <p:nvSpPr>
          <p:cNvPr id="926" name="Google Shape;926;p22"/>
          <p:cNvSpPr txBox="1"/>
          <p:nvPr/>
        </p:nvSpPr>
        <p:spPr>
          <a:xfrm>
            <a:off x="502920" y="621792"/>
            <a:ext cx="10972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WEdge node, graph setup, and insertion methods. Light grey theme applied.</a:t>
            </a:r>
            <a:endParaRPr/>
          </a:p>
        </p:txBody>
      </p:sp>
      <p:sp>
        <p:nvSpPr>
          <p:cNvPr id="927" name="Google Shape;927;p22"/>
          <p:cNvSpPr/>
          <p:nvPr/>
        </p:nvSpPr>
        <p:spPr>
          <a:xfrm>
            <a:off x="502920" y="960120"/>
            <a:ext cx="11064240" cy="5440680"/>
          </a:xfrm>
          <a:prstGeom prst="roundRect">
            <a:avLst>
              <a:gd fmla="val 16667" name="adj"/>
            </a:avLst>
          </a:prstGeom>
          <a:solidFill>
            <a:srgbClr val="F7F7F7"/>
          </a:solidFill>
          <a:ln cap="flat" cmpd="sng" w="15875">
            <a:solidFill>
              <a:srgbClr val="C7CFD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8" name="Google Shape;928;p22"/>
          <p:cNvSpPr txBox="1"/>
          <p:nvPr/>
        </p:nvSpPr>
        <p:spPr>
          <a:xfrm>
            <a:off x="612648" y="1024128"/>
            <a:ext cx="10844700" cy="60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7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class WEdge {</a:t>
            </a:r>
            <a:br>
              <a:rPr lang="en-US" sz="107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07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int destination;</a:t>
            </a:r>
            <a:br>
              <a:rPr lang="en-US" sz="107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07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int weight;</a:t>
            </a:r>
            <a:br>
              <a:rPr lang="en-US" sz="107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07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WEdge next;</a:t>
            </a:r>
            <a:br>
              <a:rPr lang="en-US" sz="107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-US" sz="107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07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public WEdge(int destination, int weight) {</a:t>
            </a:r>
            <a:br>
              <a:rPr lang="en-US" sz="107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07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    this.destination = destination;</a:t>
            </a:r>
            <a:br>
              <a:rPr lang="en-US" sz="107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07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    this.weight = weight;</a:t>
            </a:r>
            <a:br>
              <a:rPr lang="en-US" sz="107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07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    this.next = nulla;</a:t>
            </a:r>
            <a:br>
              <a:rPr lang="en-US" sz="107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07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br>
              <a:rPr lang="en-US" sz="107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07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br>
              <a:rPr lang="en-US" sz="107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-US" sz="107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07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public class GraphDirectedWeightedAdjacencyList {</a:t>
            </a:r>
            <a:br>
              <a:rPr lang="en-US" sz="107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-US" sz="107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07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private int numVertices;</a:t>
            </a:r>
            <a:br>
              <a:rPr lang="en-US" sz="107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07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private WEdge[] adjList;</a:t>
            </a:r>
            <a:br>
              <a:rPr lang="en-US" sz="107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-US" sz="107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07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public GraphDirectedWeightedAdjacencyList(int numVertices) {</a:t>
            </a:r>
            <a:br>
              <a:rPr lang="en-US" sz="107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07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    this.numVertices = numVertices;</a:t>
            </a:r>
            <a:br>
              <a:rPr lang="en-US" sz="107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07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    adjList = new WEdge[numVertices];</a:t>
            </a:r>
            <a:br>
              <a:rPr lang="en-US" sz="107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07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br>
              <a:rPr lang="en-US" sz="107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-US" sz="107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07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public void addEdges(int[][] edges) {</a:t>
            </a:r>
            <a:br>
              <a:rPr lang="en-US" sz="107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07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    for (int i = 0; i &lt; edges.length; i++) {</a:t>
            </a:r>
            <a:br>
              <a:rPr lang="en-US" sz="107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07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        int source = edges[i][0];</a:t>
            </a:r>
            <a:br>
              <a:rPr lang="en-US" sz="107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07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        int destination = edges[i][1];</a:t>
            </a:r>
            <a:br>
              <a:rPr lang="en-US" sz="107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07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        int weight = edges[i][2];</a:t>
            </a:r>
            <a:br>
              <a:rPr lang="en-US" sz="107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07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        addEdge(source, destination, weight);</a:t>
            </a:r>
            <a:br>
              <a:rPr lang="en-US" sz="107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07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    }</a:t>
            </a:r>
            <a:br>
              <a:rPr lang="en-US" sz="107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07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br>
              <a:rPr lang="en-US" sz="107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-US" sz="107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07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public void addEdge(int source, int destination, int weight) {</a:t>
            </a:r>
            <a:br>
              <a:rPr lang="en-US" sz="107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07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    WEdge newEdge = new WEdge(destination, weight);</a:t>
            </a:r>
            <a:br>
              <a:rPr lang="en-US" sz="107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07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    newEdge.next = adjList[source];</a:t>
            </a:r>
            <a:br>
              <a:rPr lang="en-US" sz="107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07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    adjList[source] = newEdge;</a:t>
            </a:r>
            <a:br>
              <a:rPr lang="en-US" sz="107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07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br>
              <a:rPr lang="en-US" sz="107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07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F1F5"/>
        </a:solidFill>
      </p:bgPr>
    </p:bg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p23"/>
          <p:cNvSpPr txBox="1"/>
          <p:nvPr/>
        </p:nvSpPr>
        <p:spPr>
          <a:xfrm>
            <a:off x="411480" y="164592"/>
            <a:ext cx="113385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2F4F7F"/>
                </a:solidFill>
                <a:latin typeface="Play"/>
                <a:ea typeface="Play"/>
                <a:cs typeface="Play"/>
                <a:sym typeface="Play"/>
              </a:rPr>
              <a:t>Editable Java: Directed Weighted Adjacency List (2/3)</a:t>
            </a:r>
            <a:endParaRPr/>
          </a:p>
        </p:txBody>
      </p:sp>
      <p:sp>
        <p:nvSpPr>
          <p:cNvPr id="934" name="Google Shape;934;p23"/>
          <p:cNvSpPr txBox="1"/>
          <p:nvPr/>
        </p:nvSpPr>
        <p:spPr>
          <a:xfrm>
            <a:off x="502920" y="621792"/>
            <a:ext cx="10972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Methods for printing the weighted adjacency list and neighbors.</a:t>
            </a:r>
            <a:endParaRPr/>
          </a:p>
        </p:txBody>
      </p:sp>
      <p:sp>
        <p:nvSpPr>
          <p:cNvPr id="935" name="Google Shape;935;p23"/>
          <p:cNvSpPr/>
          <p:nvPr/>
        </p:nvSpPr>
        <p:spPr>
          <a:xfrm>
            <a:off x="640080" y="1078992"/>
            <a:ext cx="10835640" cy="5120640"/>
          </a:xfrm>
          <a:prstGeom prst="roundRect">
            <a:avLst>
              <a:gd fmla="val 16667" name="adj"/>
            </a:avLst>
          </a:prstGeom>
          <a:solidFill>
            <a:srgbClr val="F7F7F7"/>
          </a:solidFill>
          <a:ln cap="flat" cmpd="sng" w="15875">
            <a:solidFill>
              <a:srgbClr val="C7CFD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6" name="Google Shape;936;p23"/>
          <p:cNvSpPr txBox="1"/>
          <p:nvPr/>
        </p:nvSpPr>
        <p:spPr>
          <a:xfrm>
            <a:off x="749808" y="1143000"/>
            <a:ext cx="10616184" cy="4992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6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public void printList() {</a:t>
            </a:r>
            <a:br>
              <a:rPr lang="en-US" sz="126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26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System.out.println("Adjacency List with Weights:");</a:t>
            </a:r>
            <a:br>
              <a:rPr lang="en-US" sz="126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26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for (int i = 0; i &lt; numVertices; i++) {</a:t>
            </a:r>
            <a:br>
              <a:rPr lang="en-US" sz="126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26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    System.out.print(i + ": ");</a:t>
            </a:r>
            <a:br>
              <a:rPr lang="en-US" sz="126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26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    WEdge current = adjList[i];</a:t>
            </a:r>
            <a:br>
              <a:rPr lang="en-US" sz="126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26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    while (current != null) {</a:t>
            </a:r>
            <a:br>
              <a:rPr lang="en-US" sz="126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26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        System.out.print("(" + current.destination + ", " + current.weight + ") ");</a:t>
            </a:r>
            <a:br>
              <a:rPr lang="en-US" sz="126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26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        current = current.next;</a:t>
            </a:r>
            <a:br>
              <a:rPr lang="en-US" sz="126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26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    }</a:t>
            </a:r>
            <a:br>
              <a:rPr lang="en-US" sz="126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26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    System.out.println();</a:t>
            </a:r>
            <a:br>
              <a:rPr lang="en-US" sz="126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26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br>
              <a:rPr lang="en-US" sz="126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26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br>
              <a:rPr lang="en-US" sz="126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-US" sz="126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26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public void findNeighbors(int vertex) {</a:t>
            </a:r>
            <a:br>
              <a:rPr lang="en-US" sz="126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26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System.out.print("\nNeighbors of vertex " + vertex + ": ");</a:t>
            </a:r>
            <a:br>
              <a:rPr lang="en-US" sz="126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26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WEdge current = adjList[vertex];</a:t>
            </a:r>
            <a:br>
              <a:rPr lang="en-US" sz="126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26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while (current != null) {</a:t>
            </a:r>
            <a:br>
              <a:rPr lang="en-US" sz="126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26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    System.out.print("(" + current.destination + ", " + current.weight + ")");</a:t>
            </a:r>
            <a:br>
              <a:rPr lang="en-US" sz="126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26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    if (current.next != null) {</a:t>
            </a:r>
            <a:br>
              <a:rPr lang="en-US" sz="126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26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        System.out.print(",");</a:t>
            </a:r>
            <a:br>
              <a:rPr lang="en-US" sz="126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26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    }</a:t>
            </a:r>
            <a:br>
              <a:rPr lang="en-US" sz="126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26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    current = current.next;</a:t>
            </a:r>
            <a:br>
              <a:rPr lang="en-US" sz="126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26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br>
              <a:rPr lang="en-US" sz="126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26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System.out.println();</a:t>
            </a:r>
            <a:br>
              <a:rPr lang="en-US" sz="126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26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F1F5"/>
        </a:solidFill>
      </p:bgPr>
    </p:bg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p24"/>
          <p:cNvSpPr txBox="1"/>
          <p:nvPr/>
        </p:nvSpPr>
        <p:spPr>
          <a:xfrm>
            <a:off x="411480" y="164592"/>
            <a:ext cx="113385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2F4F7F"/>
                </a:solidFill>
                <a:latin typeface="Play"/>
                <a:ea typeface="Play"/>
                <a:cs typeface="Play"/>
                <a:sym typeface="Play"/>
              </a:rPr>
              <a:t>Editable Java: Directed Weighted Adjacency List (3/3)</a:t>
            </a:r>
            <a:endParaRPr/>
          </a:p>
        </p:txBody>
      </p:sp>
      <p:sp>
        <p:nvSpPr>
          <p:cNvPr id="942" name="Google Shape;942;p24"/>
          <p:cNvSpPr txBox="1"/>
          <p:nvPr/>
        </p:nvSpPr>
        <p:spPr>
          <a:xfrm>
            <a:off x="502920" y="621792"/>
            <a:ext cx="10972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Driver code and the resulting output from prepend insertion.</a:t>
            </a:r>
            <a:endParaRPr/>
          </a:p>
        </p:txBody>
      </p:sp>
      <p:sp>
        <p:nvSpPr>
          <p:cNvPr id="943" name="Google Shape;943;p24"/>
          <p:cNvSpPr/>
          <p:nvPr/>
        </p:nvSpPr>
        <p:spPr>
          <a:xfrm>
            <a:off x="411480" y="932688"/>
            <a:ext cx="6400800" cy="5321808"/>
          </a:xfrm>
          <a:prstGeom prst="roundRect">
            <a:avLst>
              <a:gd fmla="val 16667" name="adj"/>
            </a:avLst>
          </a:prstGeom>
          <a:solidFill>
            <a:srgbClr val="F7F7F7"/>
          </a:solidFill>
          <a:ln cap="flat" cmpd="sng" w="15875">
            <a:solidFill>
              <a:srgbClr val="C7CFD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4" name="Google Shape;944;p24"/>
          <p:cNvSpPr txBox="1"/>
          <p:nvPr/>
        </p:nvSpPr>
        <p:spPr>
          <a:xfrm>
            <a:off x="521208" y="996696"/>
            <a:ext cx="6181344" cy="5193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// Driver code</a:t>
            </a:r>
            <a:br>
              <a:rPr lang="en-US" sz="105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05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public static void main(String[] args) {</a:t>
            </a:r>
            <a:br>
              <a:rPr lang="en-US" sz="105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05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int numVertices = 5;</a:t>
            </a:r>
            <a:br>
              <a:rPr lang="en-US" sz="105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05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int[][] edges = {</a:t>
            </a:r>
            <a:br>
              <a:rPr lang="en-US" sz="105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05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    {0, 1, 2}, {0, 3, 6},</a:t>
            </a:r>
            <a:br>
              <a:rPr lang="en-US" sz="105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05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    {1, 2, 3}, {1, 4, 5},</a:t>
            </a:r>
            <a:br>
              <a:rPr lang="en-US" sz="105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05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    {3, 1, 4}, {3, 4, 2},</a:t>
            </a:r>
            <a:br>
              <a:rPr lang="en-US" sz="105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05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    {4, 2, 1}</a:t>
            </a:r>
            <a:br>
              <a:rPr lang="en-US" sz="105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05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};</a:t>
            </a:r>
            <a:br>
              <a:rPr lang="en-US" sz="105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-US" sz="105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05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GraphDirectedWeightedAdjacencyList graph =</a:t>
            </a:r>
            <a:br>
              <a:rPr lang="en-US" sz="105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05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    new GraphDirectedWeightedAdjacencyList(numVertices);</a:t>
            </a:r>
            <a:br>
              <a:rPr lang="en-US" sz="105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-US" sz="105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05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System.out.println("Before adding connections:");</a:t>
            </a:r>
            <a:br>
              <a:rPr lang="en-US" sz="105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05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graph.printList();</a:t>
            </a:r>
            <a:br>
              <a:rPr lang="en-US" sz="105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05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graph.addEdges(edges);</a:t>
            </a:r>
            <a:br>
              <a:rPr lang="en-US" sz="105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05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System.out.println("\nAfter adding connections:");</a:t>
            </a:r>
            <a:br>
              <a:rPr lang="en-US" sz="105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05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graph.printList();</a:t>
            </a:r>
            <a:br>
              <a:rPr lang="en-US" sz="105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-US" sz="105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05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for (int vertex = 0; vertex &lt; numVertices; vertex++) {</a:t>
            </a:r>
            <a:br>
              <a:rPr lang="en-US" sz="105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05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    graph.findNeighbors(vertex);</a:t>
            </a:r>
            <a:br>
              <a:rPr lang="en-US" sz="105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05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br>
              <a:rPr lang="en-US" sz="105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05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</p:txBody>
      </p:sp>
      <p:sp>
        <p:nvSpPr>
          <p:cNvPr id="945" name="Google Shape;945;p24"/>
          <p:cNvSpPr/>
          <p:nvPr/>
        </p:nvSpPr>
        <p:spPr>
          <a:xfrm>
            <a:off x="7022592" y="932688"/>
            <a:ext cx="4572000" cy="5321808"/>
          </a:xfrm>
          <a:prstGeom prst="roundRect">
            <a:avLst>
              <a:gd fmla="val 16667" name="adj"/>
            </a:avLst>
          </a:prstGeom>
          <a:solidFill>
            <a:srgbClr val="F7F7F7"/>
          </a:solidFill>
          <a:ln cap="flat" cmpd="sng" w="15875">
            <a:solidFill>
              <a:srgbClr val="C7CFD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6" name="Google Shape;946;p24"/>
          <p:cNvSpPr txBox="1"/>
          <p:nvPr/>
        </p:nvSpPr>
        <p:spPr>
          <a:xfrm>
            <a:off x="7132320" y="996696"/>
            <a:ext cx="4352544" cy="5193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Resulting adjacency list</a:t>
            </a:r>
            <a:br>
              <a:rPr lang="en-US" sz="112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12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(prepend insertion)</a:t>
            </a:r>
            <a:br>
              <a:rPr lang="en-US" sz="112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-US" sz="112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12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0: (3, 6) (1, 2)</a:t>
            </a:r>
            <a:br>
              <a:rPr lang="en-US" sz="112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12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1: (4, 5) (2, 3)</a:t>
            </a:r>
            <a:br>
              <a:rPr lang="en-US" sz="112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12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2:</a:t>
            </a:r>
            <a:br>
              <a:rPr lang="en-US" sz="112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12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3: (4, 2) (1, 4)</a:t>
            </a:r>
            <a:br>
              <a:rPr lang="en-US" sz="112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12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4: (2, 1)</a:t>
            </a:r>
            <a:br>
              <a:rPr lang="en-US" sz="112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-US" sz="112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12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Neighbors of vertex 0: (3, 6),(1, 2)</a:t>
            </a:r>
            <a:br>
              <a:rPr lang="en-US" sz="112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12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Neighbors of vertex 1: (4, 5),(2, 3)</a:t>
            </a:r>
            <a:br>
              <a:rPr lang="en-US" sz="112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12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Neighbors of vertex 2:</a:t>
            </a:r>
            <a:br>
              <a:rPr lang="en-US" sz="112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12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Neighbors of vertex 3: (4, 2),(1, 4)</a:t>
            </a:r>
            <a:br>
              <a:rPr lang="en-US" sz="112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12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Neighbors of vertex 4: (2, 1)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F1F5"/>
        </a:solidFill>
      </p:bgPr>
    </p:bg>
    <p:spTree>
      <p:nvGrpSpPr>
        <p:cNvPr id="950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p25"/>
          <p:cNvSpPr txBox="1"/>
          <p:nvPr/>
        </p:nvSpPr>
        <p:spPr>
          <a:xfrm>
            <a:off x="411480" y="164592"/>
            <a:ext cx="113385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2F4F7F"/>
                </a:solidFill>
                <a:latin typeface="Play"/>
                <a:ea typeface="Play"/>
                <a:cs typeface="Play"/>
                <a:sym typeface="Play"/>
              </a:rPr>
              <a:t>Adjacency List: Undirected Weighted Graph</a:t>
            </a:r>
            <a:endParaRPr/>
          </a:p>
        </p:txBody>
      </p:sp>
      <p:sp>
        <p:nvSpPr>
          <p:cNvPr id="952" name="Google Shape;952;p25"/>
          <p:cNvSpPr txBox="1"/>
          <p:nvPr/>
        </p:nvSpPr>
        <p:spPr>
          <a:xfrm>
            <a:off x="502920" y="621792"/>
            <a:ext cx="10972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Sample figure using a light grey theme. The weighted adjacency-list example follows the provided figure.</a:t>
            </a:r>
            <a:endParaRPr/>
          </a:p>
        </p:txBody>
      </p:sp>
      <p:pic>
        <p:nvPicPr>
          <p:cNvPr descr="image.png" id="953" name="Google Shape;953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868680"/>
            <a:ext cx="11658600" cy="56692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F1F5"/>
        </a:solidFill>
      </p:bgPr>
    </p:bg>
    <p:spTree>
      <p:nvGrpSpPr>
        <p:cNvPr id="957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p26"/>
          <p:cNvSpPr txBox="1"/>
          <p:nvPr/>
        </p:nvSpPr>
        <p:spPr>
          <a:xfrm>
            <a:off x="411480" y="164592"/>
            <a:ext cx="113385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2F4F7F"/>
                </a:solidFill>
                <a:latin typeface="Play"/>
                <a:ea typeface="Play"/>
                <a:cs typeface="Play"/>
                <a:sym typeface="Play"/>
              </a:rPr>
              <a:t>Editable Java: Undirected Weighted Adjacency List (1/3)</a:t>
            </a:r>
            <a:endParaRPr/>
          </a:p>
        </p:txBody>
      </p:sp>
      <p:sp>
        <p:nvSpPr>
          <p:cNvPr id="959" name="Google Shape;959;p26"/>
          <p:cNvSpPr txBox="1"/>
          <p:nvPr/>
        </p:nvSpPr>
        <p:spPr>
          <a:xfrm>
            <a:off x="502920" y="621792"/>
            <a:ext cx="10972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Graph setup and insertion in both directions. Light grey theme applied.</a:t>
            </a:r>
            <a:endParaRPr/>
          </a:p>
        </p:txBody>
      </p:sp>
      <p:sp>
        <p:nvSpPr>
          <p:cNvPr id="960" name="Google Shape;960;p26"/>
          <p:cNvSpPr/>
          <p:nvPr/>
        </p:nvSpPr>
        <p:spPr>
          <a:xfrm>
            <a:off x="502920" y="960120"/>
            <a:ext cx="11064240" cy="5440680"/>
          </a:xfrm>
          <a:prstGeom prst="roundRect">
            <a:avLst>
              <a:gd fmla="val 16667" name="adj"/>
            </a:avLst>
          </a:prstGeom>
          <a:solidFill>
            <a:srgbClr val="F7F7F7"/>
          </a:solidFill>
          <a:ln cap="flat" cmpd="sng" w="15875">
            <a:solidFill>
              <a:srgbClr val="C7CFD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1" name="Google Shape;961;p26"/>
          <p:cNvSpPr txBox="1"/>
          <p:nvPr/>
        </p:nvSpPr>
        <p:spPr>
          <a:xfrm>
            <a:off x="612648" y="1024128"/>
            <a:ext cx="10844784" cy="53126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public class GraphUndirectedWeightedAdjacencyList {</a:t>
            </a:r>
            <a:br>
              <a:rPr lang="en-US" sz="108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-US" sz="108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08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private int numVertices;</a:t>
            </a:r>
            <a:br>
              <a:rPr lang="en-US" sz="108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08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private WEdge[] adjList;</a:t>
            </a:r>
            <a:br>
              <a:rPr lang="en-US" sz="108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-US" sz="108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08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public GraphUndirectedWeightedAdjacencyList(int numVertices) {</a:t>
            </a:r>
            <a:br>
              <a:rPr lang="en-US" sz="108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08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    this.numVertices = numVertices;</a:t>
            </a:r>
            <a:br>
              <a:rPr lang="en-US" sz="108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08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    adjList = new WEdge[numVertices];</a:t>
            </a:r>
            <a:br>
              <a:rPr lang="en-US" sz="108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08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br>
              <a:rPr lang="en-US" sz="108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-US" sz="108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08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public void addEdges(int[][] edges) {</a:t>
            </a:r>
            <a:br>
              <a:rPr lang="en-US" sz="108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08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    for (int i = 0; i &lt; edges.length; i++) {</a:t>
            </a:r>
            <a:br>
              <a:rPr lang="en-US" sz="108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08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        int source = edges[i][0];</a:t>
            </a:r>
            <a:br>
              <a:rPr lang="en-US" sz="108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08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        int destination = edges[i][1];</a:t>
            </a:r>
            <a:br>
              <a:rPr lang="en-US" sz="108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08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        int weight = edges[i][2];</a:t>
            </a:r>
            <a:br>
              <a:rPr lang="en-US" sz="108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08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        addEdge(source, destination, weight);</a:t>
            </a:r>
            <a:br>
              <a:rPr lang="en-US" sz="108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08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        addEdge(destination, source, weight);</a:t>
            </a:r>
            <a:br>
              <a:rPr lang="en-US" sz="108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08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    }</a:t>
            </a:r>
            <a:br>
              <a:rPr lang="en-US" sz="108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08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br>
              <a:rPr lang="en-US" sz="108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-US" sz="108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08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public void addEdge(int source, int destination, int weight) {</a:t>
            </a:r>
            <a:br>
              <a:rPr lang="en-US" sz="108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08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    WEdge newEdge = new WEdge(destination, weight);</a:t>
            </a:r>
            <a:br>
              <a:rPr lang="en-US" sz="108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08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    newEdge.next = adjList[source];</a:t>
            </a:r>
            <a:br>
              <a:rPr lang="en-US" sz="108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08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    adjList[source] = newEdge;</a:t>
            </a:r>
            <a:br>
              <a:rPr lang="en-US" sz="108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08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br>
              <a:rPr lang="en-US" sz="108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08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F1F5"/>
        </a:solidFill>
      </p:bgPr>
    </p:bg>
    <p:spTree>
      <p:nvGrpSpPr>
        <p:cNvPr id="965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p27"/>
          <p:cNvSpPr txBox="1"/>
          <p:nvPr/>
        </p:nvSpPr>
        <p:spPr>
          <a:xfrm>
            <a:off x="411480" y="164592"/>
            <a:ext cx="113385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2F4F7F"/>
                </a:solidFill>
                <a:latin typeface="Play"/>
                <a:ea typeface="Play"/>
                <a:cs typeface="Play"/>
                <a:sym typeface="Play"/>
              </a:rPr>
              <a:t>Editable Java: Undirected Weighted Adjacency List (2/3)</a:t>
            </a:r>
            <a:endParaRPr/>
          </a:p>
        </p:txBody>
      </p:sp>
      <p:sp>
        <p:nvSpPr>
          <p:cNvPr id="967" name="Google Shape;967;p27"/>
          <p:cNvSpPr txBox="1"/>
          <p:nvPr/>
        </p:nvSpPr>
        <p:spPr>
          <a:xfrm>
            <a:off x="502920" y="621792"/>
            <a:ext cx="10972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Methods for printing weighted adjacency lists and neighbors.</a:t>
            </a:r>
            <a:endParaRPr/>
          </a:p>
        </p:txBody>
      </p:sp>
      <p:sp>
        <p:nvSpPr>
          <p:cNvPr id="968" name="Google Shape;968;p27"/>
          <p:cNvSpPr/>
          <p:nvPr/>
        </p:nvSpPr>
        <p:spPr>
          <a:xfrm>
            <a:off x="640080" y="1078992"/>
            <a:ext cx="10835640" cy="5120640"/>
          </a:xfrm>
          <a:prstGeom prst="roundRect">
            <a:avLst>
              <a:gd fmla="val 16667" name="adj"/>
            </a:avLst>
          </a:prstGeom>
          <a:solidFill>
            <a:srgbClr val="F7F7F7"/>
          </a:solidFill>
          <a:ln cap="flat" cmpd="sng" w="15875">
            <a:solidFill>
              <a:srgbClr val="C7CFD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9" name="Google Shape;969;p27"/>
          <p:cNvSpPr txBox="1"/>
          <p:nvPr/>
        </p:nvSpPr>
        <p:spPr>
          <a:xfrm>
            <a:off x="749808" y="1143000"/>
            <a:ext cx="10616184" cy="4992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6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public void printList() {</a:t>
            </a:r>
            <a:br>
              <a:rPr lang="en-US" sz="126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26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System.out.println("Adjacency List with Weights:");</a:t>
            </a:r>
            <a:br>
              <a:rPr lang="en-US" sz="126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26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for (int i = 0; i &lt; numVertices; i++) {</a:t>
            </a:r>
            <a:br>
              <a:rPr lang="en-US" sz="126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26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    System.out.print(i + ": ");</a:t>
            </a:r>
            <a:br>
              <a:rPr lang="en-US" sz="126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26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    WEdge current = adjList[i];</a:t>
            </a:r>
            <a:br>
              <a:rPr lang="en-US" sz="126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26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    while (current != null) {</a:t>
            </a:r>
            <a:br>
              <a:rPr lang="en-US" sz="126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26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        System.out.print("(" + current.destination + ", " + current.weight + ") ");</a:t>
            </a:r>
            <a:br>
              <a:rPr lang="en-US" sz="126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26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        current = current.next;</a:t>
            </a:r>
            <a:br>
              <a:rPr lang="en-US" sz="126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26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    }</a:t>
            </a:r>
            <a:br>
              <a:rPr lang="en-US" sz="126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26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    System.out.println();</a:t>
            </a:r>
            <a:br>
              <a:rPr lang="en-US" sz="126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26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br>
              <a:rPr lang="en-US" sz="126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26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br>
              <a:rPr lang="en-US" sz="126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-US" sz="126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26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public void findNeighbors(int vertex) {</a:t>
            </a:r>
            <a:br>
              <a:rPr lang="en-US" sz="126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26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System.out.print("\nNeighbors of vertex " + vertex + ": ");</a:t>
            </a:r>
            <a:br>
              <a:rPr lang="en-US" sz="126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26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WEdge current = adjList[vertex];</a:t>
            </a:r>
            <a:br>
              <a:rPr lang="en-US" sz="126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26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while (current != null) {</a:t>
            </a:r>
            <a:br>
              <a:rPr lang="en-US" sz="126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26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    System.out.print("(" + current.destination + ", " + current.weight + ")");</a:t>
            </a:r>
            <a:br>
              <a:rPr lang="en-US" sz="126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26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    if (current.next != null) {</a:t>
            </a:r>
            <a:br>
              <a:rPr lang="en-US" sz="126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26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        System.out.print(",");</a:t>
            </a:r>
            <a:br>
              <a:rPr lang="en-US" sz="126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26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    }</a:t>
            </a:r>
            <a:br>
              <a:rPr lang="en-US" sz="126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26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    current = current.next;</a:t>
            </a:r>
            <a:br>
              <a:rPr lang="en-US" sz="126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26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br>
              <a:rPr lang="en-US" sz="126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26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System.out.println();</a:t>
            </a:r>
            <a:br>
              <a:rPr lang="en-US" sz="126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26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F1F5"/>
        </a:solidFill>
      </p:bgPr>
    </p:bg>
    <p:spTree>
      <p:nvGrpSpPr>
        <p:cNvPr id="973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p28"/>
          <p:cNvSpPr txBox="1"/>
          <p:nvPr/>
        </p:nvSpPr>
        <p:spPr>
          <a:xfrm>
            <a:off x="411480" y="164592"/>
            <a:ext cx="113385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2F4F7F"/>
                </a:solidFill>
                <a:latin typeface="Play"/>
                <a:ea typeface="Play"/>
                <a:cs typeface="Play"/>
                <a:sym typeface="Play"/>
              </a:rPr>
              <a:t>Editable Java: Undirected Weighted Adjacency List (3/3)</a:t>
            </a:r>
            <a:endParaRPr/>
          </a:p>
        </p:txBody>
      </p:sp>
      <p:sp>
        <p:nvSpPr>
          <p:cNvPr id="975" name="Google Shape;975;p28"/>
          <p:cNvSpPr txBox="1"/>
          <p:nvPr/>
        </p:nvSpPr>
        <p:spPr>
          <a:xfrm>
            <a:off x="502920" y="621792"/>
            <a:ext cx="10972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Driver code and the resulting output from prepend insertion.</a:t>
            </a:r>
            <a:endParaRPr/>
          </a:p>
        </p:txBody>
      </p:sp>
      <p:sp>
        <p:nvSpPr>
          <p:cNvPr id="976" name="Google Shape;976;p28"/>
          <p:cNvSpPr/>
          <p:nvPr/>
        </p:nvSpPr>
        <p:spPr>
          <a:xfrm>
            <a:off x="411480" y="932688"/>
            <a:ext cx="6400800" cy="5321808"/>
          </a:xfrm>
          <a:prstGeom prst="roundRect">
            <a:avLst>
              <a:gd fmla="val 16667" name="adj"/>
            </a:avLst>
          </a:prstGeom>
          <a:solidFill>
            <a:srgbClr val="F7F7F7"/>
          </a:solidFill>
          <a:ln cap="flat" cmpd="sng" w="15875">
            <a:solidFill>
              <a:srgbClr val="C7CFD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7" name="Google Shape;977;p28"/>
          <p:cNvSpPr txBox="1"/>
          <p:nvPr/>
        </p:nvSpPr>
        <p:spPr>
          <a:xfrm>
            <a:off x="521208" y="996696"/>
            <a:ext cx="6181344" cy="5193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7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// Driver</a:t>
            </a:r>
            <a:br>
              <a:rPr lang="en-US" sz="107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07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public static void main(String[] args) {</a:t>
            </a:r>
            <a:br>
              <a:rPr lang="en-US" sz="107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07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int numVertices = 5;</a:t>
            </a:r>
            <a:br>
              <a:rPr lang="en-US" sz="107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07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int[][] edges = {</a:t>
            </a:r>
            <a:br>
              <a:rPr lang="en-US" sz="107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07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    {0, 1, 2}, {0, 3, 6},</a:t>
            </a:r>
            <a:br>
              <a:rPr lang="en-US" sz="107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07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    {1, 2, 3}, {1, 4, 5},</a:t>
            </a:r>
            <a:br>
              <a:rPr lang="en-US" sz="107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07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    {3, 4, 2},</a:t>
            </a:r>
            <a:br>
              <a:rPr lang="en-US" sz="107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07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    {4, 2, 1}</a:t>
            </a:r>
            <a:br>
              <a:rPr lang="en-US" sz="107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07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};</a:t>
            </a:r>
            <a:br>
              <a:rPr lang="en-US" sz="107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-US" sz="107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07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GraphUndirectedWeightedAdjacencyList graph =</a:t>
            </a:r>
            <a:br>
              <a:rPr lang="en-US" sz="107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07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    new GraphUndirectedWeightedAdjacencyList(numVertices);</a:t>
            </a:r>
            <a:br>
              <a:rPr lang="en-US" sz="107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-US" sz="107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07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System.out.println("Before adding connections:");</a:t>
            </a:r>
            <a:br>
              <a:rPr lang="en-US" sz="107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07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graph.printList();</a:t>
            </a:r>
            <a:br>
              <a:rPr lang="en-US" sz="107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07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graph.addEdges(edges);</a:t>
            </a:r>
            <a:br>
              <a:rPr lang="en-US" sz="107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07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System.out.println("\nAfter adding connections:");</a:t>
            </a:r>
            <a:br>
              <a:rPr lang="en-US" sz="107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07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graph.printList();</a:t>
            </a:r>
            <a:br>
              <a:rPr lang="en-US" sz="107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-US" sz="107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07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for (int v = 0; v &lt; numVertices; v++) {</a:t>
            </a:r>
            <a:br>
              <a:rPr lang="en-US" sz="107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07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    graph.findNeighbors(v);</a:t>
            </a:r>
            <a:br>
              <a:rPr lang="en-US" sz="107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07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br>
              <a:rPr lang="en-US" sz="107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07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</p:txBody>
      </p:sp>
      <p:sp>
        <p:nvSpPr>
          <p:cNvPr id="978" name="Google Shape;978;p28"/>
          <p:cNvSpPr/>
          <p:nvPr/>
        </p:nvSpPr>
        <p:spPr>
          <a:xfrm>
            <a:off x="7022592" y="932688"/>
            <a:ext cx="4572000" cy="5321808"/>
          </a:xfrm>
          <a:prstGeom prst="roundRect">
            <a:avLst>
              <a:gd fmla="val 16667" name="adj"/>
            </a:avLst>
          </a:prstGeom>
          <a:solidFill>
            <a:srgbClr val="F7F7F7"/>
          </a:solidFill>
          <a:ln cap="flat" cmpd="sng" w="15875">
            <a:solidFill>
              <a:srgbClr val="C7CFD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9" name="Google Shape;979;p28"/>
          <p:cNvSpPr txBox="1"/>
          <p:nvPr/>
        </p:nvSpPr>
        <p:spPr>
          <a:xfrm>
            <a:off x="7132320" y="996696"/>
            <a:ext cx="4352544" cy="5193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Resulting adjacency list</a:t>
            </a:r>
            <a:br>
              <a:rPr lang="en-US" sz="112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12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(prepend insertion)</a:t>
            </a:r>
            <a:br>
              <a:rPr lang="en-US" sz="112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-US" sz="112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12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0: (3, 6) (1, 2)</a:t>
            </a:r>
            <a:br>
              <a:rPr lang="en-US" sz="112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12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1: (4, 5) (2, 3) (0, 2)</a:t>
            </a:r>
            <a:br>
              <a:rPr lang="en-US" sz="112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12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2: (4, 1) (1, 3)</a:t>
            </a:r>
            <a:br>
              <a:rPr lang="en-US" sz="112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12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3: (4, 2) (0, 6)</a:t>
            </a:r>
            <a:br>
              <a:rPr lang="en-US" sz="112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12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4: (2, 1) (3, 2) (1, 5)</a:t>
            </a:r>
            <a:br>
              <a:rPr lang="en-US" sz="112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-US" sz="112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12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Neighbors of vertex 0: (3, 6),(1, 2)</a:t>
            </a:r>
            <a:br>
              <a:rPr lang="en-US" sz="112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12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Neighbors of vertex 1: (4, 5),(2, 3),(0, 2)</a:t>
            </a:r>
            <a:br>
              <a:rPr lang="en-US" sz="112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12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Neighbors of vertex 2: (4, 1),(1, 3)</a:t>
            </a:r>
            <a:br>
              <a:rPr lang="en-US" sz="112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12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Neighbors of vertex 3: (4, 2),(0, 6)</a:t>
            </a:r>
            <a:br>
              <a:rPr lang="en-US" sz="112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12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Neighbors of vertex 4: (2, 1),(3, 2),(1, 5)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84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Google Shape;985;p29"/>
          <p:cNvSpPr/>
          <p:nvPr/>
        </p:nvSpPr>
        <p:spPr>
          <a:xfrm>
            <a:off x="502920" y="292608"/>
            <a:ext cx="112471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2700"/>
              <a:buFont typeface="Play"/>
              <a:buNone/>
            </a:pPr>
            <a:r>
              <a:rPr b="1" lang="en-US" sz="2700">
                <a:solidFill>
                  <a:srgbClr val="12355B"/>
                </a:solidFill>
                <a:latin typeface="Play"/>
                <a:ea typeface="Play"/>
                <a:cs typeface="Play"/>
                <a:sym typeface="Play"/>
              </a:rPr>
              <a:t>Matrix vs List: Quick Comparison</a:t>
            </a:r>
            <a:endParaRPr sz="2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6" name="Google Shape;986;p29"/>
          <p:cNvSpPr/>
          <p:nvPr/>
        </p:nvSpPr>
        <p:spPr>
          <a:xfrm>
            <a:off x="530352" y="777240"/>
            <a:ext cx="11155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Choose representation based on what your algorithm needs.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7" name="Google Shape;987;p29"/>
          <p:cNvSpPr/>
          <p:nvPr/>
        </p:nvSpPr>
        <p:spPr>
          <a:xfrm>
            <a:off x="777240" y="1234440"/>
            <a:ext cx="2103120" cy="502920"/>
          </a:xfrm>
          <a:prstGeom prst="rect">
            <a:avLst/>
          </a:prstGeom>
          <a:solidFill>
            <a:srgbClr val="12355B"/>
          </a:solidFill>
          <a:ln cap="flat" cmpd="sng" w="12700">
            <a:solidFill>
              <a:srgbClr val="1235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8" name="Google Shape;988;p29"/>
          <p:cNvSpPr/>
          <p:nvPr/>
        </p:nvSpPr>
        <p:spPr>
          <a:xfrm>
            <a:off x="822960" y="1371600"/>
            <a:ext cx="20116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Feature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9" name="Google Shape;989;p29"/>
          <p:cNvSpPr/>
          <p:nvPr/>
        </p:nvSpPr>
        <p:spPr>
          <a:xfrm>
            <a:off x="2880360" y="1234440"/>
            <a:ext cx="4114800" cy="502920"/>
          </a:xfrm>
          <a:prstGeom prst="rect">
            <a:avLst/>
          </a:prstGeom>
          <a:solidFill>
            <a:srgbClr val="12355B"/>
          </a:solidFill>
          <a:ln cap="flat" cmpd="sng" w="12700">
            <a:solidFill>
              <a:srgbClr val="1235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0" name="Google Shape;990;p29"/>
          <p:cNvSpPr/>
          <p:nvPr/>
        </p:nvSpPr>
        <p:spPr>
          <a:xfrm>
            <a:off x="2926080" y="1371600"/>
            <a:ext cx="40233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Adjacency Matrix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1" name="Google Shape;991;p29"/>
          <p:cNvSpPr/>
          <p:nvPr/>
        </p:nvSpPr>
        <p:spPr>
          <a:xfrm>
            <a:off x="6995160" y="1234440"/>
            <a:ext cx="4114800" cy="502920"/>
          </a:xfrm>
          <a:prstGeom prst="rect">
            <a:avLst/>
          </a:prstGeom>
          <a:solidFill>
            <a:srgbClr val="12355B"/>
          </a:solidFill>
          <a:ln cap="flat" cmpd="sng" w="12700">
            <a:solidFill>
              <a:srgbClr val="1235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2" name="Google Shape;992;p29"/>
          <p:cNvSpPr/>
          <p:nvPr/>
        </p:nvSpPr>
        <p:spPr>
          <a:xfrm>
            <a:off x="7040880" y="1371600"/>
            <a:ext cx="40233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Adjacency List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3" name="Google Shape;993;p29"/>
          <p:cNvSpPr/>
          <p:nvPr/>
        </p:nvSpPr>
        <p:spPr>
          <a:xfrm>
            <a:off x="777240" y="1737360"/>
            <a:ext cx="2103120" cy="658368"/>
          </a:xfrm>
          <a:prstGeom prst="rect">
            <a:avLst/>
          </a:prstGeom>
          <a:solidFill>
            <a:srgbClr val="F8FBFF"/>
          </a:solidFill>
          <a:ln cap="flat" cmpd="sng" w="10150">
            <a:solidFill>
              <a:srgbClr val="C9D9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4" name="Google Shape;994;p29"/>
          <p:cNvSpPr/>
          <p:nvPr/>
        </p:nvSpPr>
        <p:spPr>
          <a:xfrm>
            <a:off x="850392" y="1920240"/>
            <a:ext cx="195681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Space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5" name="Google Shape;995;p29"/>
          <p:cNvSpPr/>
          <p:nvPr/>
        </p:nvSpPr>
        <p:spPr>
          <a:xfrm>
            <a:off x="2880360" y="1737360"/>
            <a:ext cx="4114800" cy="658368"/>
          </a:xfrm>
          <a:prstGeom prst="rect">
            <a:avLst/>
          </a:prstGeom>
          <a:solidFill>
            <a:srgbClr val="F8FBFF"/>
          </a:solidFill>
          <a:ln cap="flat" cmpd="sng" w="10150">
            <a:solidFill>
              <a:srgbClr val="C9D9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6" name="Google Shape;996;p29"/>
          <p:cNvSpPr/>
          <p:nvPr/>
        </p:nvSpPr>
        <p:spPr>
          <a:xfrm>
            <a:off x="2953512" y="1920240"/>
            <a:ext cx="396849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 x V cells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7" name="Google Shape;997;p29"/>
          <p:cNvSpPr/>
          <p:nvPr/>
        </p:nvSpPr>
        <p:spPr>
          <a:xfrm>
            <a:off x="6995160" y="1737360"/>
            <a:ext cx="4114800" cy="658368"/>
          </a:xfrm>
          <a:prstGeom prst="rect">
            <a:avLst/>
          </a:prstGeom>
          <a:solidFill>
            <a:srgbClr val="F8FBFF"/>
          </a:solidFill>
          <a:ln cap="flat" cmpd="sng" w="10150">
            <a:solidFill>
              <a:srgbClr val="C9D9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8" name="Google Shape;998;p29"/>
          <p:cNvSpPr/>
          <p:nvPr/>
        </p:nvSpPr>
        <p:spPr>
          <a:xfrm>
            <a:off x="7068312" y="1920240"/>
            <a:ext cx="396849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 lists + existing edges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9" name="Google Shape;999;p29"/>
          <p:cNvSpPr/>
          <p:nvPr/>
        </p:nvSpPr>
        <p:spPr>
          <a:xfrm>
            <a:off x="777240" y="2395728"/>
            <a:ext cx="2103120" cy="658368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9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0" name="Google Shape;1000;p29"/>
          <p:cNvSpPr/>
          <p:nvPr/>
        </p:nvSpPr>
        <p:spPr>
          <a:xfrm>
            <a:off x="850392" y="2578608"/>
            <a:ext cx="195681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Check edge u-&gt;v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1" name="Google Shape;1001;p29"/>
          <p:cNvSpPr/>
          <p:nvPr/>
        </p:nvSpPr>
        <p:spPr>
          <a:xfrm>
            <a:off x="2880360" y="2395728"/>
            <a:ext cx="4114800" cy="658368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9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2" name="Google Shape;1002;p29"/>
          <p:cNvSpPr/>
          <p:nvPr/>
        </p:nvSpPr>
        <p:spPr>
          <a:xfrm>
            <a:off x="2953512" y="2578608"/>
            <a:ext cx="396849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Fast direct lookup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3" name="Google Shape;1003;p29"/>
          <p:cNvSpPr/>
          <p:nvPr/>
        </p:nvSpPr>
        <p:spPr>
          <a:xfrm>
            <a:off x="6995160" y="2395728"/>
            <a:ext cx="4114800" cy="658368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9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4" name="Google Shape;1004;p29"/>
          <p:cNvSpPr/>
          <p:nvPr/>
        </p:nvSpPr>
        <p:spPr>
          <a:xfrm>
            <a:off x="7068312" y="2578608"/>
            <a:ext cx="396849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Search list[u]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5" name="Google Shape;1005;p29"/>
          <p:cNvSpPr/>
          <p:nvPr/>
        </p:nvSpPr>
        <p:spPr>
          <a:xfrm>
            <a:off x="777240" y="3054096"/>
            <a:ext cx="2103120" cy="658368"/>
          </a:xfrm>
          <a:prstGeom prst="rect">
            <a:avLst/>
          </a:prstGeom>
          <a:solidFill>
            <a:srgbClr val="F8FBFF"/>
          </a:solidFill>
          <a:ln cap="flat" cmpd="sng" w="10150">
            <a:solidFill>
              <a:srgbClr val="C9D9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6" name="Google Shape;1006;p29"/>
          <p:cNvSpPr/>
          <p:nvPr/>
        </p:nvSpPr>
        <p:spPr>
          <a:xfrm>
            <a:off x="850392" y="3236976"/>
            <a:ext cx="195681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Find neighbors of u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7" name="Google Shape;1007;p29"/>
          <p:cNvSpPr/>
          <p:nvPr/>
        </p:nvSpPr>
        <p:spPr>
          <a:xfrm>
            <a:off x="2880360" y="3054096"/>
            <a:ext cx="4114800" cy="658368"/>
          </a:xfrm>
          <a:prstGeom prst="rect">
            <a:avLst/>
          </a:prstGeom>
          <a:solidFill>
            <a:srgbClr val="F8FBFF"/>
          </a:solidFill>
          <a:ln cap="flat" cmpd="sng" w="10150">
            <a:solidFill>
              <a:srgbClr val="C9D9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8" name="Google Shape;1008;p29"/>
          <p:cNvSpPr/>
          <p:nvPr/>
        </p:nvSpPr>
        <p:spPr>
          <a:xfrm>
            <a:off x="2953512" y="3236976"/>
            <a:ext cx="396849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Scan row u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9" name="Google Shape;1009;p29"/>
          <p:cNvSpPr/>
          <p:nvPr/>
        </p:nvSpPr>
        <p:spPr>
          <a:xfrm>
            <a:off x="6995160" y="3054096"/>
            <a:ext cx="4114800" cy="658368"/>
          </a:xfrm>
          <a:prstGeom prst="rect">
            <a:avLst/>
          </a:prstGeom>
          <a:solidFill>
            <a:srgbClr val="F8FBFF"/>
          </a:solidFill>
          <a:ln cap="flat" cmpd="sng" w="10150">
            <a:solidFill>
              <a:srgbClr val="C9D9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0" name="Google Shape;1010;p29"/>
          <p:cNvSpPr/>
          <p:nvPr/>
        </p:nvSpPr>
        <p:spPr>
          <a:xfrm>
            <a:off x="7068312" y="3236976"/>
            <a:ext cx="396849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Traverse list[u]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1" name="Google Shape;1011;p29"/>
          <p:cNvSpPr/>
          <p:nvPr/>
        </p:nvSpPr>
        <p:spPr>
          <a:xfrm>
            <a:off x="777240" y="3712464"/>
            <a:ext cx="2103120" cy="658368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9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2" name="Google Shape;1012;p29"/>
          <p:cNvSpPr/>
          <p:nvPr/>
        </p:nvSpPr>
        <p:spPr>
          <a:xfrm>
            <a:off x="850392" y="3895344"/>
            <a:ext cx="195681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Sparse graph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3" name="Google Shape;1013;p29"/>
          <p:cNvSpPr/>
          <p:nvPr/>
        </p:nvSpPr>
        <p:spPr>
          <a:xfrm>
            <a:off x="2880360" y="3712464"/>
            <a:ext cx="4114800" cy="658368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9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4" name="Google Shape;1014;p29"/>
          <p:cNvSpPr/>
          <p:nvPr/>
        </p:nvSpPr>
        <p:spPr>
          <a:xfrm>
            <a:off x="2953512" y="3895344"/>
            <a:ext cx="396849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Can waste space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5" name="Google Shape;1015;p29"/>
          <p:cNvSpPr/>
          <p:nvPr/>
        </p:nvSpPr>
        <p:spPr>
          <a:xfrm>
            <a:off x="6995160" y="3712464"/>
            <a:ext cx="4114800" cy="658368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9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6" name="Google Shape;1016;p29"/>
          <p:cNvSpPr/>
          <p:nvPr/>
        </p:nvSpPr>
        <p:spPr>
          <a:xfrm>
            <a:off x="7068312" y="3895344"/>
            <a:ext cx="396849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Usually efficient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7" name="Google Shape;1017;p29"/>
          <p:cNvSpPr/>
          <p:nvPr/>
        </p:nvSpPr>
        <p:spPr>
          <a:xfrm>
            <a:off x="914400" y="4846320"/>
            <a:ext cx="10287000" cy="777240"/>
          </a:xfrm>
          <a:prstGeom prst="roundRect">
            <a:avLst>
              <a:gd fmla="val 9412" name="adj"/>
            </a:avLst>
          </a:prstGeom>
          <a:solidFill>
            <a:srgbClr val="FFF2CC"/>
          </a:solidFill>
          <a:ln cap="flat" cmpd="sng" w="13950">
            <a:solidFill>
              <a:srgbClr val="9BB7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8" name="Google Shape;1018;p29"/>
          <p:cNvSpPr/>
          <p:nvPr/>
        </p:nvSpPr>
        <p:spPr>
          <a:xfrm>
            <a:off x="1051560" y="4956048"/>
            <a:ext cx="10012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Classroom takeaway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9" name="Google Shape;1019;p29"/>
          <p:cNvSpPr/>
          <p:nvPr/>
        </p:nvSpPr>
        <p:spPr>
          <a:xfrm>
            <a:off x="1051560" y="5257800"/>
            <a:ext cx="10012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Matrices are simpler for direct edge lookup; lists are more natural for neighbor traversal.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0" name="Google Shape;1020;p29"/>
          <p:cNvSpPr txBox="1"/>
          <p:nvPr>
            <p:ph idx="4294967295" type="sldNum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8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25" name="Shape 1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Google Shape;1026;p30"/>
          <p:cNvSpPr/>
          <p:nvPr/>
        </p:nvSpPr>
        <p:spPr>
          <a:xfrm>
            <a:off x="502920" y="292608"/>
            <a:ext cx="112471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2700"/>
              <a:buFont typeface="Play"/>
              <a:buNone/>
            </a:pPr>
            <a:r>
              <a:rPr b="1" lang="en-US" sz="2700">
                <a:solidFill>
                  <a:srgbClr val="12355B"/>
                </a:solidFill>
                <a:latin typeface="Play"/>
                <a:ea typeface="Play"/>
                <a:cs typeface="Play"/>
                <a:sym typeface="Play"/>
              </a:rPr>
              <a:t>Practice: Directed or Undirected?</a:t>
            </a:r>
            <a:endParaRPr sz="2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7" name="Google Shape;1027;p30"/>
          <p:cNvSpPr/>
          <p:nvPr/>
        </p:nvSpPr>
        <p:spPr>
          <a:xfrm>
            <a:off x="530352" y="777240"/>
            <a:ext cx="11155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Determine the type by checking matrix symmetry.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8" name="Google Shape;1028;p30"/>
          <p:cNvSpPr/>
          <p:nvPr/>
        </p:nvSpPr>
        <p:spPr>
          <a:xfrm>
            <a:off x="1645920" y="1051560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Matrix A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9" name="Google Shape;1029;p30"/>
          <p:cNvSpPr/>
          <p:nvPr/>
        </p:nvSpPr>
        <p:spPr>
          <a:xfrm>
            <a:off x="1600200" y="1334110"/>
            <a:ext cx="420624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C27B0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9C27B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0" name="Google Shape;1030;p30"/>
          <p:cNvSpPr/>
          <p:nvPr/>
        </p:nvSpPr>
        <p:spPr>
          <a:xfrm>
            <a:off x="2020824" y="1334110"/>
            <a:ext cx="420624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C27B0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9C27B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1" name="Google Shape;1031;p30"/>
          <p:cNvSpPr/>
          <p:nvPr/>
        </p:nvSpPr>
        <p:spPr>
          <a:xfrm>
            <a:off x="2441448" y="1334110"/>
            <a:ext cx="420624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C27B0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9C27B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2" name="Google Shape;1032;p30"/>
          <p:cNvSpPr/>
          <p:nvPr/>
        </p:nvSpPr>
        <p:spPr>
          <a:xfrm>
            <a:off x="2862072" y="1334110"/>
            <a:ext cx="420624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C27B0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9C27B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3" name="Google Shape;1033;p30"/>
          <p:cNvSpPr/>
          <p:nvPr/>
        </p:nvSpPr>
        <p:spPr>
          <a:xfrm>
            <a:off x="3282696" y="1334110"/>
            <a:ext cx="420624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C27B0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9C27B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4" name="Google Shape;1034;p30"/>
          <p:cNvSpPr/>
          <p:nvPr/>
        </p:nvSpPr>
        <p:spPr>
          <a:xfrm>
            <a:off x="1305763" y="1763146"/>
            <a:ext cx="210312" cy="1766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C27B0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9C27B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5" name="Google Shape;1035;p30"/>
          <p:cNvSpPr/>
          <p:nvPr/>
        </p:nvSpPr>
        <p:spPr>
          <a:xfrm>
            <a:off x="1600200" y="1691640"/>
            <a:ext cx="420624" cy="420624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6" name="Google Shape;1036;p30"/>
          <p:cNvSpPr/>
          <p:nvPr/>
        </p:nvSpPr>
        <p:spPr>
          <a:xfrm>
            <a:off x="1600200" y="1763146"/>
            <a:ext cx="420624" cy="14721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7" name="Google Shape;1037;p30"/>
          <p:cNvSpPr/>
          <p:nvPr/>
        </p:nvSpPr>
        <p:spPr>
          <a:xfrm>
            <a:off x="2020824" y="1691640"/>
            <a:ext cx="420624" cy="420624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8" name="Google Shape;1038;p30"/>
          <p:cNvSpPr/>
          <p:nvPr/>
        </p:nvSpPr>
        <p:spPr>
          <a:xfrm>
            <a:off x="2020824" y="1763146"/>
            <a:ext cx="420624" cy="14721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9" name="Google Shape;1039;p30"/>
          <p:cNvSpPr/>
          <p:nvPr/>
        </p:nvSpPr>
        <p:spPr>
          <a:xfrm>
            <a:off x="2441448" y="1691640"/>
            <a:ext cx="420624" cy="420624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0" name="Google Shape;1040;p30"/>
          <p:cNvSpPr/>
          <p:nvPr/>
        </p:nvSpPr>
        <p:spPr>
          <a:xfrm>
            <a:off x="2441448" y="1763146"/>
            <a:ext cx="420624" cy="14721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1" name="Google Shape;1041;p30"/>
          <p:cNvSpPr/>
          <p:nvPr/>
        </p:nvSpPr>
        <p:spPr>
          <a:xfrm>
            <a:off x="2862072" y="1691640"/>
            <a:ext cx="420624" cy="420624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2" name="Google Shape;1042;p30"/>
          <p:cNvSpPr/>
          <p:nvPr/>
        </p:nvSpPr>
        <p:spPr>
          <a:xfrm>
            <a:off x="2862072" y="1763146"/>
            <a:ext cx="420624" cy="14721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3" name="Google Shape;1043;p30"/>
          <p:cNvSpPr/>
          <p:nvPr/>
        </p:nvSpPr>
        <p:spPr>
          <a:xfrm>
            <a:off x="3282696" y="1691640"/>
            <a:ext cx="420624" cy="420624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4" name="Google Shape;1044;p30"/>
          <p:cNvSpPr/>
          <p:nvPr/>
        </p:nvSpPr>
        <p:spPr>
          <a:xfrm>
            <a:off x="3282696" y="1763146"/>
            <a:ext cx="420624" cy="14721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5" name="Google Shape;1045;p30"/>
          <p:cNvSpPr/>
          <p:nvPr/>
        </p:nvSpPr>
        <p:spPr>
          <a:xfrm>
            <a:off x="1305763" y="2183770"/>
            <a:ext cx="210312" cy="1766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C27B0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9C27B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6" name="Google Shape;1046;p30"/>
          <p:cNvSpPr/>
          <p:nvPr/>
        </p:nvSpPr>
        <p:spPr>
          <a:xfrm>
            <a:off x="1600200" y="2112264"/>
            <a:ext cx="420624" cy="420624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7" name="Google Shape;1047;p30"/>
          <p:cNvSpPr/>
          <p:nvPr/>
        </p:nvSpPr>
        <p:spPr>
          <a:xfrm>
            <a:off x="1600200" y="2183770"/>
            <a:ext cx="420624" cy="14721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8" name="Google Shape;1048;p30"/>
          <p:cNvSpPr/>
          <p:nvPr/>
        </p:nvSpPr>
        <p:spPr>
          <a:xfrm>
            <a:off x="2020824" y="2112264"/>
            <a:ext cx="420624" cy="420624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9" name="Google Shape;1049;p30"/>
          <p:cNvSpPr/>
          <p:nvPr/>
        </p:nvSpPr>
        <p:spPr>
          <a:xfrm>
            <a:off x="2020824" y="2183770"/>
            <a:ext cx="420624" cy="14721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0" name="Google Shape;1050;p30"/>
          <p:cNvSpPr/>
          <p:nvPr/>
        </p:nvSpPr>
        <p:spPr>
          <a:xfrm>
            <a:off x="2441448" y="2112264"/>
            <a:ext cx="420624" cy="420624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1" name="Google Shape;1051;p30"/>
          <p:cNvSpPr/>
          <p:nvPr/>
        </p:nvSpPr>
        <p:spPr>
          <a:xfrm>
            <a:off x="2441448" y="2183770"/>
            <a:ext cx="420624" cy="14721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2" name="Google Shape;1052;p30"/>
          <p:cNvSpPr/>
          <p:nvPr/>
        </p:nvSpPr>
        <p:spPr>
          <a:xfrm>
            <a:off x="2862072" y="2112264"/>
            <a:ext cx="420624" cy="420624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3" name="Google Shape;1053;p30"/>
          <p:cNvSpPr/>
          <p:nvPr/>
        </p:nvSpPr>
        <p:spPr>
          <a:xfrm>
            <a:off x="2862072" y="2183770"/>
            <a:ext cx="420624" cy="14721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4" name="Google Shape;1054;p30"/>
          <p:cNvSpPr/>
          <p:nvPr/>
        </p:nvSpPr>
        <p:spPr>
          <a:xfrm>
            <a:off x="3282696" y="2112264"/>
            <a:ext cx="420624" cy="420624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5" name="Google Shape;1055;p30"/>
          <p:cNvSpPr/>
          <p:nvPr/>
        </p:nvSpPr>
        <p:spPr>
          <a:xfrm>
            <a:off x="3282696" y="2183770"/>
            <a:ext cx="420624" cy="14721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6" name="Google Shape;1056;p30"/>
          <p:cNvSpPr/>
          <p:nvPr/>
        </p:nvSpPr>
        <p:spPr>
          <a:xfrm>
            <a:off x="1305763" y="2604394"/>
            <a:ext cx="210312" cy="1766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C27B0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9C27B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7" name="Google Shape;1057;p30"/>
          <p:cNvSpPr/>
          <p:nvPr/>
        </p:nvSpPr>
        <p:spPr>
          <a:xfrm>
            <a:off x="1600200" y="2532888"/>
            <a:ext cx="420624" cy="420624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8" name="Google Shape;1058;p30"/>
          <p:cNvSpPr/>
          <p:nvPr/>
        </p:nvSpPr>
        <p:spPr>
          <a:xfrm>
            <a:off x="1600200" y="2604394"/>
            <a:ext cx="420624" cy="14721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9" name="Google Shape;1059;p30"/>
          <p:cNvSpPr/>
          <p:nvPr/>
        </p:nvSpPr>
        <p:spPr>
          <a:xfrm>
            <a:off x="2020824" y="2532888"/>
            <a:ext cx="420624" cy="420624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0" name="Google Shape;1060;p30"/>
          <p:cNvSpPr/>
          <p:nvPr/>
        </p:nvSpPr>
        <p:spPr>
          <a:xfrm>
            <a:off x="2020824" y="2604394"/>
            <a:ext cx="420624" cy="14721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1" name="Google Shape;1061;p30"/>
          <p:cNvSpPr/>
          <p:nvPr/>
        </p:nvSpPr>
        <p:spPr>
          <a:xfrm>
            <a:off x="2441448" y="2532888"/>
            <a:ext cx="420624" cy="420624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2" name="Google Shape;1062;p30"/>
          <p:cNvSpPr/>
          <p:nvPr/>
        </p:nvSpPr>
        <p:spPr>
          <a:xfrm>
            <a:off x="2441448" y="2604394"/>
            <a:ext cx="420624" cy="14721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3" name="Google Shape;1063;p30"/>
          <p:cNvSpPr/>
          <p:nvPr/>
        </p:nvSpPr>
        <p:spPr>
          <a:xfrm>
            <a:off x="2862072" y="2532888"/>
            <a:ext cx="420624" cy="420624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4" name="Google Shape;1064;p30"/>
          <p:cNvSpPr/>
          <p:nvPr/>
        </p:nvSpPr>
        <p:spPr>
          <a:xfrm>
            <a:off x="2862072" y="2604394"/>
            <a:ext cx="420624" cy="14721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5" name="Google Shape;1065;p30"/>
          <p:cNvSpPr/>
          <p:nvPr/>
        </p:nvSpPr>
        <p:spPr>
          <a:xfrm>
            <a:off x="3282696" y="2532888"/>
            <a:ext cx="420624" cy="420624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6" name="Google Shape;1066;p30"/>
          <p:cNvSpPr/>
          <p:nvPr/>
        </p:nvSpPr>
        <p:spPr>
          <a:xfrm>
            <a:off x="3282696" y="2604394"/>
            <a:ext cx="420624" cy="14721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7" name="Google Shape;1067;p30"/>
          <p:cNvSpPr/>
          <p:nvPr/>
        </p:nvSpPr>
        <p:spPr>
          <a:xfrm>
            <a:off x="1305763" y="3025018"/>
            <a:ext cx="210312" cy="1766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C27B0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9C27B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8" name="Google Shape;1068;p30"/>
          <p:cNvSpPr/>
          <p:nvPr/>
        </p:nvSpPr>
        <p:spPr>
          <a:xfrm>
            <a:off x="1600200" y="2953512"/>
            <a:ext cx="420624" cy="420624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9" name="Google Shape;1069;p30"/>
          <p:cNvSpPr/>
          <p:nvPr/>
        </p:nvSpPr>
        <p:spPr>
          <a:xfrm>
            <a:off x="1600200" y="3025018"/>
            <a:ext cx="420624" cy="14721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0" name="Google Shape;1070;p30"/>
          <p:cNvSpPr/>
          <p:nvPr/>
        </p:nvSpPr>
        <p:spPr>
          <a:xfrm>
            <a:off x="2020824" y="2953512"/>
            <a:ext cx="420624" cy="420624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1" name="Google Shape;1071;p30"/>
          <p:cNvSpPr/>
          <p:nvPr/>
        </p:nvSpPr>
        <p:spPr>
          <a:xfrm>
            <a:off x="2020824" y="3025018"/>
            <a:ext cx="420624" cy="14721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2" name="Google Shape;1072;p30"/>
          <p:cNvSpPr/>
          <p:nvPr/>
        </p:nvSpPr>
        <p:spPr>
          <a:xfrm>
            <a:off x="2441448" y="2953512"/>
            <a:ext cx="420624" cy="420624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3" name="Google Shape;1073;p30"/>
          <p:cNvSpPr/>
          <p:nvPr/>
        </p:nvSpPr>
        <p:spPr>
          <a:xfrm>
            <a:off x="2441448" y="3025018"/>
            <a:ext cx="420624" cy="14721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4" name="Google Shape;1074;p30"/>
          <p:cNvSpPr/>
          <p:nvPr/>
        </p:nvSpPr>
        <p:spPr>
          <a:xfrm>
            <a:off x="2862072" y="2953512"/>
            <a:ext cx="420624" cy="420624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5" name="Google Shape;1075;p30"/>
          <p:cNvSpPr/>
          <p:nvPr/>
        </p:nvSpPr>
        <p:spPr>
          <a:xfrm>
            <a:off x="2862072" y="3025018"/>
            <a:ext cx="420624" cy="14721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6" name="Google Shape;1076;p30"/>
          <p:cNvSpPr/>
          <p:nvPr/>
        </p:nvSpPr>
        <p:spPr>
          <a:xfrm>
            <a:off x="3282696" y="2953512"/>
            <a:ext cx="420624" cy="420624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7" name="Google Shape;1077;p30"/>
          <p:cNvSpPr/>
          <p:nvPr/>
        </p:nvSpPr>
        <p:spPr>
          <a:xfrm>
            <a:off x="3282696" y="3025018"/>
            <a:ext cx="420624" cy="14721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8" name="Google Shape;1078;p30"/>
          <p:cNvSpPr/>
          <p:nvPr/>
        </p:nvSpPr>
        <p:spPr>
          <a:xfrm>
            <a:off x="1305763" y="3445642"/>
            <a:ext cx="210312" cy="1766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C27B0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9C27B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9" name="Google Shape;1079;p30"/>
          <p:cNvSpPr/>
          <p:nvPr/>
        </p:nvSpPr>
        <p:spPr>
          <a:xfrm>
            <a:off x="1600200" y="3374136"/>
            <a:ext cx="420624" cy="420624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0" name="Google Shape;1080;p30"/>
          <p:cNvSpPr/>
          <p:nvPr/>
        </p:nvSpPr>
        <p:spPr>
          <a:xfrm>
            <a:off x="1600200" y="3445642"/>
            <a:ext cx="420624" cy="14721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1" name="Google Shape;1081;p30"/>
          <p:cNvSpPr/>
          <p:nvPr/>
        </p:nvSpPr>
        <p:spPr>
          <a:xfrm>
            <a:off x="2020824" y="3374136"/>
            <a:ext cx="420624" cy="420624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2" name="Google Shape;1082;p30"/>
          <p:cNvSpPr/>
          <p:nvPr/>
        </p:nvSpPr>
        <p:spPr>
          <a:xfrm>
            <a:off x="2020824" y="3445642"/>
            <a:ext cx="420624" cy="14721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3" name="Google Shape;1083;p30"/>
          <p:cNvSpPr/>
          <p:nvPr/>
        </p:nvSpPr>
        <p:spPr>
          <a:xfrm>
            <a:off x="2441448" y="3374136"/>
            <a:ext cx="420624" cy="420624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4" name="Google Shape;1084;p30"/>
          <p:cNvSpPr/>
          <p:nvPr/>
        </p:nvSpPr>
        <p:spPr>
          <a:xfrm>
            <a:off x="2441448" y="3445642"/>
            <a:ext cx="420624" cy="14721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5" name="Google Shape;1085;p30"/>
          <p:cNvSpPr/>
          <p:nvPr/>
        </p:nvSpPr>
        <p:spPr>
          <a:xfrm>
            <a:off x="2862072" y="3374136"/>
            <a:ext cx="420624" cy="420624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6" name="Google Shape;1086;p30"/>
          <p:cNvSpPr/>
          <p:nvPr/>
        </p:nvSpPr>
        <p:spPr>
          <a:xfrm>
            <a:off x="2862072" y="3445642"/>
            <a:ext cx="420624" cy="14721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7" name="Google Shape;1087;p30"/>
          <p:cNvSpPr/>
          <p:nvPr/>
        </p:nvSpPr>
        <p:spPr>
          <a:xfrm>
            <a:off x="3282696" y="3374136"/>
            <a:ext cx="420624" cy="420624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8" name="Google Shape;1088;p30"/>
          <p:cNvSpPr/>
          <p:nvPr/>
        </p:nvSpPr>
        <p:spPr>
          <a:xfrm>
            <a:off x="3282696" y="3445642"/>
            <a:ext cx="420624" cy="14721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9" name="Google Shape;1089;p30"/>
          <p:cNvSpPr/>
          <p:nvPr/>
        </p:nvSpPr>
        <p:spPr>
          <a:xfrm>
            <a:off x="6858000" y="1051560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Matrix B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0" name="Google Shape;1090;p30"/>
          <p:cNvSpPr/>
          <p:nvPr/>
        </p:nvSpPr>
        <p:spPr>
          <a:xfrm>
            <a:off x="6812280" y="1334110"/>
            <a:ext cx="420624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C27B0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9C27B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1" name="Google Shape;1091;p30"/>
          <p:cNvSpPr/>
          <p:nvPr/>
        </p:nvSpPr>
        <p:spPr>
          <a:xfrm>
            <a:off x="7232904" y="1334110"/>
            <a:ext cx="420624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C27B0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9C27B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2" name="Google Shape;1092;p30"/>
          <p:cNvSpPr/>
          <p:nvPr/>
        </p:nvSpPr>
        <p:spPr>
          <a:xfrm>
            <a:off x="7653528" y="1334110"/>
            <a:ext cx="420624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C27B0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9C27B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3" name="Google Shape;1093;p30"/>
          <p:cNvSpPr/>
          <p:nvPr/>
        </p:nvSpPr>
        <p:spPr>
          <a:xfrm>
            <a:off x="8074152" y="1334110"/>
            <a:ext cx="420624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C27B0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9C27B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4" name="Google Shape;1094;p30"/>
          <p:cNvSpPr/>
          <p:nvPr/>
        </p:nvSpPr>
        <p:spPr>
          <a:xfrm>
            <a:off x="8494776" y="1334110"/>
            <a:ext cx="420624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C27B0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9C27B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5" name="Google Shape;1095;p30"/>
          <p:cNvSpPr/>
          <p:nvPr/>
        </p:nvSpPr>
        <p:spPr>
          <a:xfrm>
            <a:off x="6517843" y="1763146"/>
            <a:ext cx="210312" cy="1766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C27B0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9C27B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6" name="Google Shape;1096;p30"/>
          <p:cNvSpPr/>
          <p:nvPr/>
        </p:nvSpPr>
        <p:spPr>
          <a:xfrm>
            <a:off x="6812280" y="1691640"/>
            <a:ext cx="420624" cy="420624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7" name="Google Shape;1097;p30"/>
          <p:cNvSpPr/>
          <p:nvPr/>
        </p:nvSpPr>
        <p:spPr>
          <a:xfrm>
            <a:off x="6812280" y="1763146"/>
            <a:ext cx="420624" cy="14721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8" name="Google Shape;1098;p30"/>
          <p:cNvSpPr/>
          <p:nvPr/>
        </p:nvSpPr>
        <p:spPr>
          <a:xfrm>
            <a:off x="7232904" y="1691640"/>
            <a:ext cx="420624" cy="420624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9" name="Google Shape;1099;p30"/>
          <p:cNvSpPr/>
          <p:nvPr/>
        </p:nvSpPr>
        <p:spPr>
          <a:xfrm>
            <a:off x="7232904" y="1763146"/>
            <a:ext cx="420624" cy="14721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0" name="Google Shape;1100;p30"/>
          <p:cNvSpPr/>
          <p:nvPr/>
        </p:nvSpPr>
        <p:spPr>
          <a:xfrm>
            <a:off x="7653528" y="1691640"/>
            <a:ext cx="420624" cy="420624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1" name="Google Shape;1101;p30"/>
          <p:cNvSpPr/>
          <p:nvPr/>
        </p:nvSpPr>
        <p:spPr>
          <a:xfrm>
            <a:off x="7653528" y="1763146"/>
            <a:ext cx="420624" cy="14721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2" name="Google Shape;1102;p30"/>
          <p:cNvSpPr/>
          <p:nvPr/>
        </p:nvSpPr>
        <p:spPr>
          <a:xfrm>
            <a:off x="8074152" y="1691640"/>
            <a:ext cx="420624" cy="420624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3" name="Google Shape;1103;p30"/>
          <p:cNvSpPr/>
          <p:nvPr/>
        </p:nvSpPr>
        <p:spPr>
          <a:xfrm>
            <a:off x="8074152" y="1763146"/>
            <a:ext cx="420624" cy="14721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4" name="Google Shape;1104;p30"/>
          <p:cNvSpPr/>
          <p:nvPr/>
        </p:nvSpPr>
        <p:spPr>
          <a:xfrm>
            <a:off x="8494776" y="1691640"/>
            <a:ext cx="420624" cy="420624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5" name="Google Shape;1105;p30"/>
          <p:cNvSpPr/>
          <p:nvPr/>
        </p:nvSpPr>
        <p:spPr>
          <a:xfrm>
            <a:off x="8494776" y="1763146"/>
            <a:ext cx="420624" cy="14721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6" name="Google Shape;1106;p30"/>
          <p:cNvSpPr/>
          <p:nvPr/>
        </p:nvSpPr>
        <p:spPr>
          <a:xfrm>
            <a:off x="6517843" y="2183770"/>
            <a:ext cx="210312" cy="1766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C27B0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9C27B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7" name="Google Shape;1107;p30"/>
          <p:cNvSpPr/>
          <p:nvPr/>
        </p:nvSpPr>
        <p:spPr>
          <a:xfrm>
            <a:off x="6812280" y="2112264"/>
            <a:ext cx="420624" cy="420624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8" name="Google Shape;1108;p30"/>
          <p:cNvSpPr/>
          <p:nvPr/>
        </p:nvSpPr>
        <p:spPr>
          <a:xfrm>
            <a:off x="6812280" y="2183770"/>
            <a:ext cx="420624" cy="14721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9" name="Google Shape;1109;p30"/>
          <p:cNvSpPr/>
          <p:nvPr/>
        </p:nvSpPr>
        <p:spPr>
          <a:xfrm>
            <a:off x="7232904" y="2112264"/>
            <a:ext cx="420624" cy="420624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0" name="Google Shape;1110;p30"/>
          <p:cNvSpPr/>
          <p:nvPr/>
        </p:nvSpPr>
        <p:spPr>
          <a:xfrm>
            <a:off x="7232904" y="2183770"/>
            <a:ext cx="420624" cy="14721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1" name="Google Shape;1111;p30"/>
          <p:cNvSpPr/>
          <p:nvPr/>
        </p:nvSpPr>
        <p:spPr>
          <a:xfrm>
            <a:off x="7653528" y="2112264"/>
            <a:ext cx="420624" cy="420624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2" name="Google Shape;1112;p30"/>
          <p:cNvSpPr/>
          <p:nvPr/>
        </p:nvSpPr>
        <p:spPr>
          <a:xfrm>
            <a:off x="7653528" y="2183770"/>
            <a:ext cx="420624" cy="14721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3" name="Google Shape;1113;p30"/>
          <p:cNvSpPr/>
          <p:nvPr/>
        </p:nvSpPr>
        <p:spPr>
          <a:xfrm>
            <a:off x="8074152" y="2112264"/>
            <a:ext cx="420624" cy="420624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4" name="Google Shape;1114;p30"/>
          <p:cNvSpPr/>
          <p:nvPr/>
        </p:nvSpPr>
        <p:spPr>
          <a:xfrm>
            <a:off x="8074152" y="2183770"/>
            <a:ext cx="420624" cy="14721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5" name="Google Shape;1115;p30"/>
          <p:cNvSpPr/>
          <p:nvPr/>
        </p:nvSpPr>
        <p:spPr>
          <a:xfrm>
            <a:off x="8494776" y="2112264"/>
            <a:ext cx="420624" cy="420624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6" name="Google Shape;1116;p30"/>
          <p:cNvSpPr/>
          <p:nvPr/>
        </p:nvSpPr>
        <p:spPr>
          <a:xfrm>
            <a:off x="8494776" y="2183770"/>
            <a:ext cx="420624" cy="14721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7" name="Google Shape;1117;p30"/>
          <p:cNvSpPr/>
          <p:nvPr/>
        </p:nvSpPr>
        <p:spPr>
          <a:xfrm>
            <a:off x="6517843" y="2604394"/>
            <a:ext cx="210312" cy="1766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C27B0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9C27B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8" name="Google Shape;1118;p30"/>
          <p:cNvSpPr/>
          <p:nvPr/>
        </p:nvSpPr>
        <p:spPr>
          <a:xfrm>
            <a:off x="6812280" y="2532888"/>
            <a:ext cx="420624" cy="420624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9" name="Google Shape;1119;p30"/>
          <p:cNvSpPr/>
          <p:nvPr/>
        </p:nvSpPr>
        <p:spPr>
          <a:xfrm>
            <a:off x="6812280" y="2604394"/>
            <a:ext cx="420624" cy="14721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0" name="Google Shape;1120;p30"/>
          <p:cNvSpPr/>
          <p:nvPr/>
        </p:nvSpPr>
        <p:spPr>
          <a:xfrm>
            <a:off x="7232904" y="2532888"/>
            <a:ext cx="420624" cy="420624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1" name="Google Shape;1121;p30"/>
          <p:cNvSpPr/>
          <p:nvPr/>
        </p:nvSpPr>
        <p:spPr>
          <a:xfrm>
            <a:off x="7232904" y="2604394"/>
            <a:ext cx="420624" cy="14721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2" name="Google Shape;1122;p30"/>
          <p:cNvSpPr/>
          <p:nvPr/>
        </p:nvSpPr>
        <p:spPr>
          <a:xfrm>
            <a:off x="7653528" y="2532888"/>
            <a:ext cx="420624" cy="420624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3" name="Google Shape;1123;p30"/>
          <p:cNvSpPr/>
          <p:nvPr/>
        </p:nvSpPr>
        <p:spPr>
          <a:xfrm>
            <a:off x="7653528" y="2604394"/>
            <a:ext cx="420624" cy="14721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4" name="Google Shape;1124;p30"/>
          <p:cNvSpPr/>
          <p:nvPr/>
        </p:nvSpPr>
        <p:spPr>
          <a:xfrm>
            <a:off x="8074152" y="2532888"/>
            <a:ext cx="420624" cy="420624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5" name="Google Shape;1125;p30"/>
          <p:cNvSpPr/>
          <p:nvPr/>
        </p:nvSpPr>
        <p:spPr>
          <a:xfrm>
            <a:off x="8074152" y="2604394"/>
            <a:ext cx="420624" cy="14721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6" name="Google Shape;1126;p30"/>
          <p:cNvSpPr/>
          <p:nvPr/>
        </p:nvSpPr>
        <p:spPr>
          <a:xfrm>
            <a:off x="8494776" y="2532888"/>
            <a:ext cx="420624" cy="420624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7" name="Google Shape;1127;p30"/>
          <p:cNvSpPr/>
          <p:nvPr/>
        </p:nvSpPr>
        <p:spPr>
          <a:xfrm>
            <a:off x="8494776" y="2604394"/>
            <a:ext cx="420624" cy="14721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8" name="Google Shape;1128;p30"/>
          <p:cNvSpPr/>
          <p:nvPr/>
        </p:nvSpPr>
        <p:spPr>
          <a:xfrm>
            <a:off x="6517843" y="3025018"/>
            <a:ext cx="210312" cy="1766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C27B0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9C27B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9" name="Google Shape;1129;p30"/>
          <p:cNvSpPr/>
          <p:nvPr/>
        </p:nvSpPr>
        <p:spPr>
          <a:xfrm>
            <a:off x="6812280" y="2953512"/>
            <a:ext cx="420624" cy="420624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0" name="Google Shape;1130;p30"/>
          <p:cNvSpPr/>
          <p:nvPr/>
        </p:nvSpPr>
        <p:spPr>
          <a:xfrm>
            <a:off x="6812280" y="3025018"/>
            <a:ext cx="420624" cy="14721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1" name="Google Shape;1131;p30"/>
          <p:cNvSpPr/>
          <p:nvPr/>
        </p:nvSpPr>
        <p:spPr>
          <a:xfrm>
            <a:off x="7232904" y="2953512"/>
            <a:ext cx="420624" cy="420624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2" name="Google Shape;1132;p30"/>
          <p:cNvSpPr/>
          <p:nvPr/>
        </p:nvSpPr>
        <p:spPr>
          <a:xfrm>
            <a:off x="7232904" y="3025018"/>
            <a:ext cx="420624" cy="14721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3" name="Google Shape;1133;p30"/>
          <p:cNvSpPr/>
          <p:nvPr/>
        </p:nvSpPr>
        <p:spPr>
          <a:xfrm>
            <a:off x="7653528" y="2953512"/>
            <a:ext cx="420624" cy="420624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4" name="Google Shape;1134;p30"/>
          <p:cNvSpPr/>
          <p:nvPr/>
        </p:nvSpPr>
        <p:spPr>
          <a:xfrm>
            <a:off x="7653528" y="3025018"/>
            <a:ext cx="420624" cy="14721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5" name="Google Shape;1135;p30"/>
          <p:cNvSpPr/>
          <p:nvPr/>
        </p:nvSpPr>
        <p:spPr>
          <a:xfrm>
            <a:off x="8074152" y="2953512"/>
            <a:ext cx="420624" cy="420624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6" name="Google Shape;1136;p30"/>
          <p:cNvSpPr/>
          <p:nvPr/>
        </p:nvSpPr>
        <p:spPr>
          <a:xfrm>
            <a:off x="8074152" y="3025018"/>
            <a:ext cx="420624" cy="14721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7" name="Google Shape;1137;p30"/>
          <p:cNvSpPr/>
          <p:nvPr/>
        </p:nvSpPr>
        <p:spPr>
          <a:xfrm>
            <a:off x="8494776" y="2953512"/>
            <a:ext cx="420624" cy="420624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8" name="Google Shape;1138;p30"/>
          <p:cNvSpPr/>
          <p:nvPr/>
        </p:nvSpPr>
        <p:spPr>
          <a:xfrm>
            <a:off x="8494776" y="3025018"/>
            <a:ext cx="420624" cy="14721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9" name="Google Shape;1139;p30"/>
          <p:cNvSpPr/>
          <p:nvPr/>
        </p:nvSpPr>
        <p:spPr>
          <a:xfrm>
            <a:off x="6517843" y="3445642"/>
            <a:ext cx="210312" cy="1766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C27B0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9C27B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0" name="Google Shape;1140;p30"/>
          <p:cNvSpPr/>
          <p:nvPr/>
        </p:nvSpPr>
        <p:spPr>
          <a:xfrm>
            <a:off x="6812280" y="3374136"/>
            <a:ext cx="420624" cy="420624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1" name="Google Shape;1141;p30"/>
          <p:cNvSpPr/>
          <p:nvPr/>
        </p:nvSpPr>
        <p:spPr>
          <a:xfrm>
            <a:off x="6812280" y="3445642"/>
            <a:ext cx="420624" cy="14721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2" name="Google Shape;1142;p30"/>
          <p:cNvSpPr/>
          <p:nvPr/>
        </p:nvSpPr>
        <p:spPr>
          <a:xfrm>
            <a:off x="7232904" y="3374136"/>
            <a:ext cx="420624" cy="420624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3" name="Google Shape;1143;p30"/>
          <p:cNvSpPr/>
          <p:nvPr/>
        </p:nvSpPr>
        <p:spPr>
          <a:xfrm>
            <a:off x="7232904" y="3445642"/>
            <a:ext cx="420624" cy="14721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4" name="Google Shape;1144;p30"/>
          <p:cNvSpPr/>
          <p:nvPr/>
        </p:nvSpPr>
        <p:spPr>
          <a:xfrm>
            <a:off x="7653528" y="3374136"/>
            <a:ext cx="420624" cy="420624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5" name="Google Shape;1145;p30"/>
          <p:cNvSpPr/>
          <p:nvPr/>
        </p:nvSpPr>
        <p:spPr>
          <a:xfrm>
            <a:off x="7653528" y="3445642"/>
            <a:ext cx="420624" cy="14721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6" name="Google Shape;1146;p30"/>
          <p:cNvSpPr/>
          <p:nvPr/>
        </p:nvSpPr>
        <p:spPr>
          <a:xfrm>
            <a:off x="8074152" y="3374136"/>
            <a:ext cx="420624" cy="420624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7" name="Google Shape;1147;p30"/>
          <p:cNvSpPr/>
          <p:nvPr/>
        </p:nvSpPr>
        <p:spPr>
          <a:xfrm>
            <a:off x="8074152" y="3445642"/>
            <a:ext cx="420624" cy="14721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8" name="Google Shape;1148;p30"/>
          <p:cNvSpPr/>
          <p:nvPr/>
        </p:nvSpPr>
        <p:spPr>
          <a:xfrm>
            <a:off x="8494776" y="3374136"/>
            <a:ext cx="420624" cy="420624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9" name="Google Shape;1149;p30"/>
          <p:cNvSpPr/>
          <p:nvPr/>
        </p:nvSpPr>
        <p:spPr>
          <a:xfrm>
            <a:off x="8494776" y="3445642"/>
            <a:ext cx="420624" cy="14721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0" name="Google Shape;1150;p30"/>
          <p:cNvSpPr/>
          <p:nvPr/>
        </p:nvSpPr>
        <p:spPr>
          <a:xfrm>
            <a:off x="960120" y="4572000"/>
            <a:ext cx="4389120" cy="914400"/>
          </a:xfrm>
          <a:prstGeom prst="roundRect">
            <a:avLst>
              <a:gd fmla="val 8000" name="adj"/>
            </a:avLst>
          </a:prstGeom>
          <a:solidFill>
            <a:srgbClr val="FFF2CC"/>
          </a:solidFill>
          <a:ln cap="flat" cmpd="sng" w="13950">
            <a:solidFill>
              <a:srgbClr val="9BB7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1" name="Google Shape;1151;p30"/>
          <p:cNvSpPr/>
          <p:nvPr/>
        </p:nvSpPr>
        <p:spPr>
          <a:xfrm>
            <a:off x="1097280" y="4681728"/>
            <a:ext cx="4114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Solution A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2" name="Google Shape;1152;p30"/>
          <p:cNvSpPr/>
          <p:nvPr/>
        </p:nvSpPr>
        <p:spPr>
          <a:xfrm>
            <a:off x="1097280" y="4983480"/>
            <a:ext cx="4114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Directed. It is not symmetric.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Example: A[2][3] = 1 but A[3][2] = 0.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3" name="Google Shape;1153;p30"/>
          <p:cNvSpPr/>
          <p:nvPr/>
        </p:nvSpPr>
        <p:spPr>
          <a:xfrm>
            <a:off x="6144768" y="4572000"/>
            <a:ext cx="4389120" cy="914400"/>
          </a:xfrm>
          <a:prstGeom prst="roundRect">
            <a:avLst>
              <a:gd fmla="val 8000" name="adj"/>
            </a:avLst>
          </a:prstGeom>
          <a:solidFill>
            <a:srgbClr val="F1F8E9"/>
          </a:solidFill>
          <a:ln cap="flat" cmpd="sng" w="13950">
            <a:solidFill>
              <a:srgbClr val="9BB7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4" name="Google Shape;1154;p30"/>
          <p:cNvSpPr/>
          <p:nvPr/>
        </p:nvSpPr>
        <p:spPr>
          <a:xfrm>
            <a:off x="6281928" y="4681728"/>
            <a:ext cx="4114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Solution B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5" name="Google Shape;1155;p30"/>
          <p:cNvSpPr/>
          <p:nvPr/>
        </p:nvSpPr>
        <p:spPr>
          <a:xfrm>
            <a:off x="6281928" y="4983480"/>
            <a:ext cx="4114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Undirected. It is symmetric.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 every A[i][j], A[j][i] has the same value.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6" name="Google Shape;1156;p30"/>
          <p:cNvSpPr txBox="1"/>
          <p:nvPr>
            <p:ph idx="4294967295" type="sldNum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8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61" name="Shape 1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2" name="Google Shape;1162;p31"/>
          <p:cNvSpPr/>
          <p:nvPr/>
        </p:nvSpPr>
        <p:spPr>
          <a:xfrm>
            <a:off x="502920" y="292608"/>
            <a:ext cx="112471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2700"/>
              <a:buFont typeface="Play"/>
              <a:buNone/>
            </a:pPr>
            <a:r>
              <a:rPr b="1" lang="en-US" sz="2700">
                <a:solidFill>
                  <a:srgbClr val="12355B"/>
                </a:solidFill>
                <a:latin typeface="Play"/>
                <a:ea typeface="Play"/>
                <a:cs typeface="Play"/>
                <a:sym typeface="Play"/>
              </a:rPr>
              <a:t>Summary Cheat Sheet</a:t>
            </a:r>
            <a:endParaRPr sz="2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3" name="Google Shape;1163;p31"/>
          <p:cNvSpPr/>
          <p:nvPr/>
        </p:nvSpPr>
        <p:spPr>
          <a:xfrm>
            <a:off x="530352" y="777240"/>
            <a:ext cx="11155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Use the rule that matches the graph type.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4" name="Google Shape;1164;p31"/>
          <p:cNvSpPr/>
          <p:nvPr/>
        </p:nvSpPr>
        <p:spPr>
          <a:xfrm>
            <a:off x="777240" y="1143000"/>
            <a:ext cx="2743200" cy="310896"/>
          </a:xfrm>
          <a:prstGeom prst="roundRect">
            <a:avLst>
              <a:gd fmla="val 23529" name="adj"/>
            </a:avLst>
          </a:prstGeom>
          <a:solidFill>
            <a:srgbClr val="1E5AA8"/>
          </a:solidFill>
          <a:ln cap="flat" cmpd="sng" w="12700">
            <a:solidFill>
              <a:srgbClr val="1E5A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5" name="Google Shape;1165;p31"/>
          <p:cNvSpPr/>
          <p:nvPr/>
        </p:nvSpPr>
        <p:spPr>
          <a:xfrm>
            <a:off x="850392" y="1216152"/>
            <a:ext cx="2596896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Undirected + Unweighted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6" name="Google Shape;1166;p31"/>
          <p:cNvSpPr/>
          <p:nvPr/>
        </p:nvSpPr>
        <p:spPr>
          <a:xfrm>
            <a:off x="3794760" y="1051560"/>
            <a:ext cx="3520440" cy="713232"/>
          </a:xfrm>
          <a:prstGeom prst="roundRect">
            <a:avLst>
              <a:gd fmla="val 10256" name="adj"/>
            </a:avLst>
          </a:prstGeom>
          <a:solidFill>
            <a:srgbClr val="F8FBFF"/>
          </a:solidFill>
          <a:ln cap="flat" cmpd="sng" w="13950">
            <a:solidFill>
              <a:srgbClr val="9BB7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7" name="Google Shape;1167;p31"/>
          <p:cNvSpPr/>
          <p:nvPr/>
        </p:nvSpPr>
        <p:spPr>
          <a:xfrm>
            <a:off x="3931920" y="1161288"/>
            <a:ext cx="32461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Matrix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8" name="Google Shape;1168;p31"/>
          <p:cNvSpPr/>
          <p:nvPr/>
        </p:nvSpPr>
        <p:spPr>
          <a:xfrm>
            <a:off x="3931920" y="1463040"/>
            <a:ext cx="324612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A[u][v] = 1; A[v][u] = 1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9" name="Google Shape;1169;p31"/>
          <p:cNvSpPr/>
          <p:nvPr/>
        </p:nvSpPr>
        <p:spPr>
          <a:xfrm>
            <a:off x="7635240" y="1051560"/>
            <a:ext cx="3703320" cy="713232"/>
          </a:xfrm>
          <a:prstGeom prst="roundRect">
            <a:avLst>
              <a:gd fmla="val 10256" name="adj"/>
            </a:avLst>
          </a:prstGeom>
          <a:solidFill>
            <a:srgbClr val="F8FBFF"/>
          </a:solidFill>
          <a:ln cap="flat" cmpd="sng" w="13950">
            <a:solidFill>
              <a:srgbClr val="9BB7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0" name="Google Shape;1170;p31"/>
          <p:cNvSpPr/>
          <p:nvPr/>
        </p:nvSpPr>
        <p:spPr>
          <a:xfrm>
            <a:off x="7772400" y="1161288"/>
            <a:ext cx="34290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List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1" name="Google Shape;1171;p31"/>
          <p:cNvSpPr/>
          <p:nvPr/>
        </p:nvSpPr>
        <p:spPr>
          <a:xfrm>
            <a:off x="7772400" y="1463040"/>
            <a:ext cx="342900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insert v in list[u]; insert u in list[v]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2" name="Google Shape;1172;p31"/>
          <p:cNvSpPr/>
          <p:nvPr/>
        </p:nvSpPr>
        <p:spPr>
          <a:xfrm>
            <a:off x="777240" y="2350008"/>
            <a:ext cx="2743200" cy="310896"/>
          </a:xfrm>
          <a:prstGeom prst="roundRect">
            <a:avLst>
              <a:gd fmla="val 23529" name="adj"/>
            </a:avLst>
          </a:prstGeom>
          <a:solidFill>
            <a:srgbClr val="B00020"/>
          </a:solidFill>
          <a:ln cap="flat" cmpd="sng" w="12700">
            <a:solidFill>
              <a:srgbClr val="B00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3" name="Google Shape;1173;p31"/>
          <p:cNvSpPr/>
          <p:nvPr/>
        </p:nvSpPr>
        <p:spPr>
          <a:xfrm>
            <a:off x="850392" y="2423160"/>
            <a:ext cx="2596896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Directed + Unweighted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4" name="Google Shape;1174;p31"/>
          <p:cNvSpPr/>
          <p:nvPr/>
        </p:nvSpPr>
        <p:spPr>
          <a:xfrm>
            <a:off x="3794760" y="2258568"/>
            <a:ext cx="3520440" cy="713232"/>
          </a:xfrm>
          <a:prstGeom prst="roundRect">
            <a:avLst>
              <a:gd fmla="val 10256" name="adj"/>
            </a:avLst>
          </a:prstGeom>
          <a:solidFill>
            <a:srgbClr val="F8FBFF"/>
          </a:solidFill>
          <a:ln cap="flat" cmpd="sng" w="13950">
            <a:solidFill>
              <a:srgbClr val="9BB7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5" name="Google Shape;1175;p31"/>
          <p:cNvSpPr/>
          <p:nvPr/>
        </p:nvSpPr>
        <p:spPr>
          <a:xfrm>
            <a:off x="3931920" y="2368296"/>
            <a:ext cx="32461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Matrix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6" name="Google Shape;1176;p31"/>
          <p:cNvSpPr/>
          <p:nvPr/>
        </p:nvSpPr>
        <p:spPr>
          <a:xfrm>
            <a:off x="3931920" y="2670048"/>
            <a:ext cx="324612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A[u][v] = 1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7" name="Google Shape;1177;p31"/>
          <p:cNvSpPr/>
          <p:nvPr/>
        </p:nvSpPr>
        <p:spPr>
          <a:xfrm>
            <a:off x="7635240" y="2258568"/>
            <a:ext cx="3703320" cy="713232"/>
          </a:xfrm>
          <a:prstGeom prst="roundRect">
            <a:avLst>
              <a:gd fmla="val 10256" name="adj"/>
            </a:avLst>
          </a:prstGeom>
          <a:solidFill>
            <a:srgbClr val="F8FBFF"/>
          </a:solidFill>
          <a:ln cap="flat" cmpd="sng" w="13950">
            <a:solidFill>
              <a:srgbClr val="9BB7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8" name="Google Shape;1178;p31"/>
          <p:cNvSpPr/>
          <p:nvPr/>
        </p:nvSpPr>
        <p:spPr>
          <a:xfrm>
            <a:off x="7772400" y="2368296"/>
            <a:ext cx="34290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List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9" name="Google Shape;1179;p31"/>
          <p:cNvSpPr/>
          <p:nvPr/>
        </p:nvSpPr>
        <p:spPr>
          <a:xfrm>
            <a:off x="7772400" y="2670048"/>
            <a:ext cx="342900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insert v in list[u]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0" name="Google Shape;1180;p31"/>
          <p:cNvSpPr/>
          <p:nvPr/>
        </p:nvSpPr>
        <p:spPr>
          <a:xfrm>
            <a:off x="777240" y="3557016"/>
            <a:ext cx="2743200" cy="310896"/>
          </a:xfrm>
          <a:prstGeom prst="roundRect">
            <a:avLst>
              <a:gd fmla="val 23529" name="adj"/>
            </a:avLst>
          </a:prstGeom>
          <a:solidFill>
            <a:srgbClr val="1E5AA8"/>
          </a:solidFill>
          <a:ln cap="flat" cmpd="sng" w="12700">
            <a:solidFill>
              <a:srgbClr val="1E5A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1" name="Google Shape;1181;p31"/>
          <p:cNvSpPr/>
          <p:nvPr/>
        </p:nvSpPr>
        <p:spPr>
          <a:xfrm>
            <a:off x="850392" y="3630168"/>
            <a:ext cx="2596896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Directed + Weighted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2" name="Google Shape;1182;p31"/>
          <p:cNvSpPr/>
          <p:nvPr/>
        </p:nvSpPr>
        <p:spPr>
          <a:xfrm>
            <a:off x="3794760" y="3465576"/>
            <a:ext cx="3520440" cy="713232"/>
          </a:xfrm>
          <a:prstGeom prst="roundRect">
            <a:avLst>
              <a:gd fmla="val 10256" name="adj"/>
            </a:avLst>
          </a:prstGeom>
          <a:solidFill>
            <a:srgbClr val="F8FBFF"/>
          </a:solidFill>
          <a:ln cap="flat" cmpd="sng" w="13950">
            <a:solidFill>
              <a:srgbClr val="9BB7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3" name="Google Shape;1183;p31"/>
          <p:cNvSpPr/>
          <p:nvPr/>
        </p:nvSpPr>
        <p:spPr>
          <a:xfrm>
            <a:off x="3931920" y="3575304"/>
            <a:ext cx="32461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Matrix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4" name="Google Shape;1184;p31"/>
          <p:cNvSpPr/>
          <p:nvPr/>
        </p:nvSpPr>
        <p:spPr>
          <a:xfrm>
            <a:off x="3931920" y="3877056"/>
            <a:ext cx="324612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A[u][v] = w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5" name="Google Shape;1185;p31"/>
          <p:cNvSpPr/>
          <p:nvPr/>
        </p:nvSpPr>
        <p:spPr>
          <a:xfrm>
            <a:off x="7635240" y="3465576"/>
            <a:ext cx="3703320" cy="713232"/>
          </a:xfrm>
          <a:prstGeom prst="roundRect">
            <a:avLst>
              <a:gd fmla="val 10256" name="adj"/>
            </a:avLst>
          </a:prstGeom>
          <a:solidFill>
            <a:srgbClr val="F8FBFF"/>
          </a:solidFill>
          <a:ln cap="flat" cmpd="sng" w="13950">
            <a:solidFill>
              <a:srgbClr val="9BB7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6" name="Google Shape;1186;p31"/>
          <p:cNvSpPr/>
          <p:nvPr/>
        </p:nvSpPr>
        <p:spPr>
          <a:xfrm>
            <a:off x="7772400" y="3575304"/>
            <a:ext cx="34290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List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7" name="Google Shape;1187;p31"/>
          <p:cNvSpPr/>
          <p:nvPr/>
        </p:nvSpPr>
        <p:spPr>
          <a:xfrm>
            <a:off x="7772400" y="3877056"/>
            <a:ext cx="342900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insert v(w) in list[u]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8" name="Google Shape;1188;p31"/>
          <p:cNvSpPr/>
          <p:nvPr/>
        </p:nvSpPr>
        <p:spPr>
          <a:xfrm>
            <a:off x="777240" y="4764024"/>
            <a:ext cx="2743200" cy="310896"/>
          </a:xfrm>
          <a:prstGeom prst="roundRect">
            <a:avLst>
              <a:gd fmla="val 23529" name="adj"/>
            </a:avLst>
          </a:prstGeom>
          <a:solidFill>
            <a:srgbClr val="B00020"/>
          </a:solidFill>
          <a:ln cap="flat" cmpd="sng" w="12700">
            <a:solidFill>
              <a:srgbClr val="B00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9" name="Google Shape;1189;p31"/>
          <p:cNvSpPr/>
          <p:nvPr/>
        </p:nvSpPr>
        <p:spPr>
          <a:xfrm>
            <a:off x="850392" y="4837176"/>
            <a:ext cx="2596896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Undirected + Weighted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0" name="Google Shape;1190;p31"/>
          <p:cNvSpPr/>
          <p:nvPr/>
        </p:nvSpPr>
        <p:spPr>
          <a:xfrm>
            <a:off x="3794760" y="4672584"/>
            <a:ext cx="3520440" cy="713232"/>
          </a:xfrm>
          <a:prstGeom prst="roundRect">
            <a:avLst>
              <a:gd fmla="val 10256" name="adj"/>
            </a:avLst>
          </a:prstGeom>
          <a:solidFill>
            <a:srgbClr val="F8FBFF"/>
          </a:solidFill>
          <a:ln cap="flat" cmpd="sng" w="13950">
            <a:solidFill>
              <a:srgbClr val="9BB7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1" name="Google Shape;1191;p31"/>
          <p:cNvSpPr/>
          <p:nvPr/>
        </p:nvSpPr>
        <p:spPr>
          <a:xfrm>
            <a:off x="3931920" y="4782312"/>
            <a:ext cx="32461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Matrix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2" name="Google Shape;1192;p31"/>
          <p:cNvSpPr/>
          <p:nvPr/>
        </p:nvSpPr>
        <p:spPr>
          <a:xfrm>
            <a:off x="3931920" y="5084064"/>
            <a:ext cx="324612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A[u][v] = w; A[v][u] = w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3" name="Google Shape;1193;p31"/>
          <p:cNvSpPr/>
          <p:nvPr/>
        </p:nvSpPr>
        <p:spPr>
          <a:xfrm>
            <a:off x="7635240" y="4672584"/>
            <a:ext cx="3703320" cy="713232"/>
          </a:xfrm>
          <a:prstGeom prst="roundRect">
            <a:avLst>
              <a:gd fmla="val 10256" name="adj"/>
            </a:avLst>
          </a:prstGeom>
          <a:solidFill>
            <a:srgbClr val="F8FBFF"/>
          </a:solidFill>
          <a:ln cap="flat" cmpd="sng" w="13950">
            <a:solidFill>
              <a:srgbClr val="9BB7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4" name="Google Shape;1194;p31"/>
          <p:cNvSpPr/>
          <p:nvPr/>
        </p:nvSpPr>
        <p:spPr>
          <a:xfrm>
            <a:off x="7772400" y="4782312"/>
            <a:ext cx="34290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List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5" name="Google Shape;1195;p31"/>
          <p:cNvSpPr/>
          <p:nvPr/>
        </p:nvSpPr>
        <p:spPr>
          <a:xfrm>
            <a:off x="7772400" y="5084064"/>
            <a:ext cx="342900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insert v(w) in list[u]; insert u(w) in list[v]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6" name="Google Shape;1196;p31"/>
          <p:cNvSpPr/>
          <p:nvPr/>
        </p:nvSpPr>
        <p:spPr>
          <a:xfrm>
            <a:off x="1920240" y="5989320"/>
            <a:ext cx="8412480" cy="438912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13950">
            <a:solidFill>
              <a:srgbClr val="9BB7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7" name="Google Shape;1197;p31"/>
          <p:cNvSpPr/>
          <p:nvPr/>
        </p:nvSpPr>
        <p:spPr>
          <a:xfrm>
            <a:off x="2057400" y="6099048"/>
            <a:ext cx="81381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55B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2355B"/>
                </a:solidFill>
                <a:latin typeface="Arial"/>
                <a:ea typeface="Arial"/>
                <a:cs typeface="Arial"/>
                <a:sym typeface="Arial"/>
              </a:rPr>
              <a:t>Final rule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8" name="Google Shape;1198;p31"/>
          <p:cNvSpPr/>
          <p:nvPr/>
        </p:nvSpPr>
        <p:spPr>
          <a:xfrm flipH="1" rot="10800000">
            <a:off x="2057400" y="6336792"/>
            <a:ext cx="8138160" cy="6400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Direction controls whether the reverse edge is added. Weight controls whether the stored value is 1 or the edge weight.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9" name="Google Shape;1199;p31"/>
          <p:cNvSpPr txBox="1"/>
          <p:nvPr>
            <p:ph idx="4294967295" type="sldNum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8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2026-08-18T06:55:44Z</dcterms:created>
  <dc:creator>OpenAI</dc:creator>
</cp:coreProperties>
</file>