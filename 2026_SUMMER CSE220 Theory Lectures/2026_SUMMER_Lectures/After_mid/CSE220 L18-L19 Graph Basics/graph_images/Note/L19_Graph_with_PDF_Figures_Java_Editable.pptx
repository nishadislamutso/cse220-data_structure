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8"/>
    <p:sldId id="278" r:id="rId29"/>
    <p:sldId id="279" r:id="rId30"/>
    <p:sldId id="280" r:id="rId31"/>
    <p:sldId id="281" r:id="rId32"/>
    <p:sldId id="282" r:id="rId33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355B"/>
                </a:solidFill>
              </a:rPr>
              <a:t>Graph Representations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49808" y="128016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E5AA8"/>
                </a:solidFill>
              </a:rPr>
              <a:t>Adjacency Matrix &amp; Adjacency List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68096" y="17922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Editable Java code + classroom-ready visualizations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468880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2542032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Unweighted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23160" y="246888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B7A3B"/>
          </a:solidFill>
          <a:ln w="12700">
            <a:solidFill>
              <a:srgbClr val="0B7A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96312" y="2542032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Weighted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986784" y="2468880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59936" y="2542032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Directed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0" y="246888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59552" y="25420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Undirected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43770" y="2653235"/>
            <a:ext cx="1194620" cy="-597310"/>
          </a:xfrm>
          <a:prstGeom prst="line">
            <a:avLst/>
          </a:prstGeom>
          <a:noFill/>
          <a:ln w="2032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8531352" y="2263140"/>
            <a:ext cx="219456" cy="173736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31352" y="2272284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560567" y="2108207"/>
            <a:ext cx="949945" cy="949945"/>
          </a:xfrm>
          <a:prstGeom prst="line">
            <a:avLst/>
          </a:prstGeom>
          <a:noFill/>
          <a:ln w="2032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925812" y="2491740"/>
            <a:ext cx="219456" cy="173736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25812" y="2500884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5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933884" y="2931780"/>
            <a:ext cx="454272" cy="1223040"/>
          </a:xfrm>
          <a:prstGeom prst="line">
            <a:avLst/>
          </a:prstGeom>
          <a:noFill/>
          <a:ln w="2032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8051292" y="3451860"/>
            <a:ext cx="219456" cy="173736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51292" y="3461004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1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648494" y="4408644"/>
            <a:ext cx="1219612" cy="418153"/>
          </a:xfrm>
          <a:prstGeom prst="line">
            <a:avLst/>
          </a:prstGeom>
          <a:noFill/>
          <a:ln w="2032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9148572" y="4526280"/>
            <a:ext cx="219456" cy="173736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8572" y="4535424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6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342990" y="2152491"/>
            <a:ext cx="-809460" cy="2004377"/>
          </a:xfrm>
          <a:prstGeom prst="line">
            <a:avLst/>
          </a:prstGeom>
          <a:noFill/>
          <a:ln w="2032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8828532" y="3063240"/>
            <a:ext cx="219456" cy="173736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28532" y="3072384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4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0125084" y="4702246"/>
            <a:ext cx="460991" cy="-1312052"/>
          </a:xfrm>
          <a:prstGeom prst="line">
            <a:avLst/>
          </a:prstGeom>
          <a:noFill/>
          <a:ln w="2032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10245852" y="3954780"/>
            <a:ext cx="219456" cy="173736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45852" y="3963924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3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662672" y="2542032"/>
            <a:ext cx="402336" cy="402336"/>
          </a:xfrm>
          <a:prstGeom prst="ellipse">
            <a:avLst/>
          </a:prstGeom>
          <a:solidFill>
            <a:srgbClr val="DDEBFF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54112" y="264261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0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217152" y="1764792"/>
            <a:ext cx="402336" cy="402336"/>
          </a:xfrm>
          <a:prstGeom prst="ellipse">
            <a:avLst/>
          </a:prstGeom>
          <a:solidFill>
            <a:srgbClr val="DDEBFF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08592" y="186537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1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0451592" y="2999232"/>
            <a:ext cx="402336" cy="402336"/>
          </a:xfrm>
          <a:prstGeom prst="ellipse">
            <a:avLst/>
          </a:prstGeom>
          <a:solidFill>
            <a:srgbClr val="DDEBFF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43032" y="309981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2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257032" y="4142232"/>
            <a:ext cx="402336" cy="402336"/>
          </a:xfrm>
          <a:prstGeom prst="ellipse">
            <a:avLst/>
          </a:prstGeom>
          <a:solidFill>
            <a:srgbClr val="DDEBFF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48472" y="424281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3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857232" y="4690872"/>
            <a:ext cx="402336" cy="402336"/>
          </a:xfrm>
          <a:prstGeom prst="ellipse">
            <a:avLst/>
          </a:prstGeom>
          <a:solidFill>
            <a:srgbClr val="DDEBFF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948672" y="479145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4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777240" y="310896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EEF5FF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" y="3218688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Lesson focus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14400" y="3520440"/>
            <a:ext cx="516636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1. Store graph connections in a 2D matrix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2. Store graph connections in linked adjacency lists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3. Change only the edge insertion rule for each graph type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Graph Types in This Lesson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The same graph idea changes based on direction and weight.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4983480" cy="1234440"/>
          </a:xfrm>
          <a:prstGeom prst="roundRect">
            <a:avLst>
              <a:gd name="adj" fmla="val 5926"/>
            </a:avLst>
          </a:prstGeom>
          <a:solidFill>
            <a:srgbClr val="EEF5FF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435608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Unweighted + Undirected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1737360"/>
            <a:ext cx="47091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Store 1 in both directions: A[u][v] = 1 and A[v][u] = 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0" y="1325880"/>
            <a:ext cx="4983480" cy="1234440"/>
          </a:xfrm>
          <a:prstGeom prst="roundRect">
            <a:avLst>
              <a:gd name="adj" fmla="val 5926"/>
            </a:avLst>
          </a:prstGeom>
          <a:solidFill>
            <a:srgbClr val="EEF5FF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435608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Unweighted + Directed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37960" y="1737360"/>
            <a:ext cx="47091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Store 1 only from source to destination: A[u][v] = 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3246120"/>
            <a:ext cx="4983480" cy="1234440"/>
          </a:xfrm>
          <a:prstGeom prst="roundRect">
            <a:avLst>
              <a:gd name="adj" fmla="val 5926"/>
            </a:avLst>
          </a:prstGeom>
          <a:solidFill>
            <a:srgbClr val="F5FCEB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355848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Weighted + Directed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3657600"/>
            <a:ext cx="47091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Store the edge weight only in A[u][v]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0" y="3246120"/>
            <a:ext cx="4983480" cy="1234440"/>
          </a:xfrm>
          <a:prstGeom prst="roundRect">
            <a:avLst>
              <a:gd name="adj" fmla="val 5926"/>
            </a:avLst>
          </a:prstGeom>
          <a:solidFill>
            <a:srgbClr val="F5FCEB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3355848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Weighted + Undirected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7960" y="3657600"/>
            <a:ext cx="47091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Store the edge weight in both A[u][v] and A[v][u]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46120" y="5504688"/>
            <a:ext cx="5669280" cy="658368"/>
          </a:xfrm>
          <a:prstGeom prst="roundRect">
            <a:avLst>
              <a:gd name="adj" fmla="val 11111"/>
            </a:avLst>
          </a:prstGeom>
          <a:solidFill>
            <a:srgbClr val="FFF2CC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5614416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Key idea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5916168"/>
            <a:ext cx="5394960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Only the addEdges() logic changes; printing and neighbor scanning are almost the same.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Adjacency Matrix: Core Idea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A V x V matrix stores whether an edge exists between vertices.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" y="1218438"/>
            <a:ext cx="502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71600" y="1218438"/>
            <a:ext cx="502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74520" y="1218438"/>
            <a:ext cx="502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77440" y="1218438"/>
            <a:ext cx="502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80360" y="1218438"/>
            <a:ext cx="502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6636" y="1731416"/>
            <a:ext cx="251460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164592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73141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371600" y="164592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173141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74520" y="164592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74520" y="173141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377440" y="164592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77440" y="173141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880360" y="164592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80360" y="173141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6636" y="2234336"/>
            <a:ext cx="251460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68680" y="214884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223433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371600" y="214884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1600" y="223433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874520" y="214884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74520" y="223433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377440" y="214884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77440" y="223433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880360" y="214884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80360" y="223433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6636" y="2737256"/>
            <a:ext cx="251460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2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68680" y="265176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" y="273725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371600" y="265176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0" y="273725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874520" y="265176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74520" y="273725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377440" y="265176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0" y="273725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880360" y="265176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80360" y="273725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16636" y="3240176"/>
            <a:ext cx="251460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3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68680" y="315468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8680" y="324017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371600" y="315468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371600" y="324017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874520" y="315468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74520" y="324017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2377440" y="315468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377440" y="324017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2880360" y="315468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880360" y="324017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16636" y="3743096"/>
            <a:ext cx="251460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4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868680" y="365760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68680" y="374309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1371600" y="365760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371600" y="374309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1874520" y="365760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874520" y="374309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2377440" y="365760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377440" y="374309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2880360" y="365760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880360" y="374309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868680" y="4800600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FFF2CC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05840" y="49103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Matrix rule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1005840" y="5212080"/>
            <a:ext cx="292608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Row = source vertex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Column = destination / neighbor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0 = no edge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4572000" y="1463040"/>
            <a:ext cx="3063240" cy="1143000"/>
          </a:xfrm>
          <a:prstGeom prst="roundRect">
            <a:avLst>
              <a:gd name="adj" fmla="val 6400"/>
            </a:avLst>
          </a:prstGeom>
          <a:solidFill>
            <a:srgbClr val="EEF5FF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709160" y="1572768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Undirected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4709160" y="1874520"/>
            <a:ext cx="27889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A[u][v] and A[v][u]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are both updated.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8138160" y="1463040"/>
            <a:ext cx="3063240" cy="1143000"/>
          </a:xfrm>
          <a:prstGeom prst="roundRect">
            <a:avLst>
              <a:gd name="adj" fmla="val 6400"/>
            </a:avLst>
          </a:prstGeom>
          <a:solidFill>
            <a:srgbClr val="FFF2CC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275320" y="1572768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Directed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8275320" y="1874520"/>
            <a:ext cx="27889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Only A[u][v] is updated.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A[v][u] may remain 0.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4572000" y="3108960"/>
            <a:ext cx="3063240" cy="1143000"/>
          </a:xfrm>
          <a:prstGeom prst="roundRect">
            <a:avLst>
              <a:gd name="adj" fmla="val 6400"/>
            </a:avLst>
          </a:prstGeom>
          <a:solidFill>
            <a:srgbClr val="F1F8E9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709160" y="3218688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Unweighted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4709160" y="3520440"/>
            <a:ext cx="27889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Use 1 to show a connection.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8138160" y="3108960"/>
            <a:ext cx="3063240" cy="1143000"/>
          </a:xfrm>
          <a:prstGeom prst="roundRect">
            <a:avLst>
              <a:gd name="adj" fmla="val 6400"/>
            </a:avLst>
          </a:prstGeom>
          <a:solidFill>
            <a:srgbClr val="FCE4EC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275320" y="3218688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Weighted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8275320" y="3520440"/>
            <a:ext cx="27889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Use the edge weight instead of 1.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4617720" y="4892040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55B"/>
                </a:solidFill>
              </a:rPr>
              <a:t>Row 1, column 4 = 1 means vertex 1 is connected to vertex 4.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Adjacency Matrix: Undirected Unweighted Graph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Example from the driver: edges are added in both directions.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55B"/>
                </a:solidFill>
              </a:rPr>
              <a:t>Graph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499274" y="2686924"/>
            <a:ext cx="1207693" cy="-710408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426894" y="2962888"/>
            <a:ext cx="620933" cy="1069384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820142" y="2066464"/>
            <a:ext cx="-611085" cy="1947833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3006761" y="2031017"/>
            <a:ext cx="707317" cy="875726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954012" y="2061720"/>
            <a:ext cx="949975" cy="2414520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3857660" y="3263673"/>
            <a:ext cx="102800" cy="1199334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344002" y="4255030"/>
            <a:ext cx="1438477" cy="359619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24712" y="258775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16152" y="268833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0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679192" y="167335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70632" y="177393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39312" y="286207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30752" y="296265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2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947672" y="400507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39112" y="410565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3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776472" y="446227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67912" y="456285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4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55080" y="10972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55B"/>
                </a:solidFill>
              </a:rPr>
              <a:t>Adjacency Matrix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629400" y="1454810"/>
            <a:ext cx="493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23176" y="1454810"/>
            <a:ext cx="493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616952" y="1454810"/>
            <a:ext cx="493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10728" y="1454810"/>
            <a:ext cx="493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04504" y="1454810"/>
            <a:ext cx="493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83757" y="1958462"/>
            <a:ext cx="246888" cy="207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29400" y="1874520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1958462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123176" y="1874520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23176" y="1958462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616952" y="1874520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16952" y="1958462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110728" y="1874520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10728" y="1958462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604504" y="1874520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04504" y="1958462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83757" y="2452238"/>
            <a:ext cx="246888" cy="207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1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629400" y="2368296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29400" y="2452238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123176" y="2368296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23176" y="2452238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616952" y="2368296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16952" y="2452238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110728" y="2368296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10728" y="2452238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604504" y="2368296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04504" y="2452238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283757" y="2946014"/>
            <a:ext cx="246888" cy="207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2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629400" y="2862072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29400" y="2946014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123176" y="2862072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23176" y="2946014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616952" y="2862072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16952" y="2946014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8110728" y="2862072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110728" y="2946014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8604504" y="2862072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604504" y="2946014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283757" y="3439790"/>
            <a:ext cx="246888" cy="207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3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629400" y="3355848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629400" y="3439790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7123176" y="3355848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23176" y="3439790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7616952" y="3355848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616952" y="3439790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8110728" y="3355848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110728" y="3439790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8604504" y="3355848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604504" y="3439790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6283757" y="3933566"/>
            <a:ext cx="246888" cy="207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4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6629400" y="3849624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629400" y="3933566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7123176" y="3849624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123176" y="3933566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7616952" y="3849624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616952" y="3933566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8110728" y="3849624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110728" y="3933566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8604504" y="3849624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604504" y="3933566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6144768" y="4709160"/>
            <a:ext cx="4892040" cy="1024128"/>
          </a:xfrm>
          <a:prstGeom prst="roundRect">
            <a:avLst>
              <a:gd name="adj" fmla="val 7143"/>
            </a:avLst>
          </a:prstGeom>
          <a:solidFill>
            <a:srgbClr val="F1F8E9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281928" y="481888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Observation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6281928" y="5120640"/>
            <a:ext cx="4617720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The matrix is symmetric.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For every 1 in A[u][v], there is a matching 1 in A[v][u].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Editable Java: Undirected Unweighted Matrix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Core class code is editable.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6583680" cy="5303520"/>
          </a:xfrm>
          <a:prstGeom prst="roundRect">
            <a:avLst>
              <a:gd name="adj" fmla="val 862"/>
            </a:avLst>
          </a:prstGeom>
          <a:solidFill>
            <a:srgbClr val="F7F7F7"/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124712"/>
            <a:ext cx="6364224" cy="5157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GraphUndirectedUnweightedMatrix {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numVertices;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int[][] adjMatrix;</a:t>
            </a:r>
            <a:endParaRPr lang="en-US" sz="770" dirty="0"/>
          </a:p>
          <a:p>
            <a:pPr indent="0" marL="0">
              <a:buNone/>
            </a:pP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GraphUndirectedUnweightedMatrix(int numVertices) {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this.numVertices = numVertices;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adjMatrix = new int[numVertices][numVertices];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70" dirty="0"/>
          </a:p>
          <a:p>
            <a:pPr indent="0" marL="0">
              <a:buNone/>
            </a:pP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addEdges(int[][] edges) {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i = 0; i &lt; edges.length; i++) {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int source = edges[i][0];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int destination = edges[i][1];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adjMatrix[source][destination] = 1;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adjMatrix[destination][source] = 1;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70" dirty="0"/>
          </a:p>
          <a:p>
            <a:pPr indent="0" marL="0">
              <a:buNone/>
            </a:pP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printMatrix() {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System.out.println("Adjacency Matrix:");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i = 0; i &lt; numVertices; i++) {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(int j = 0; j &lt; numVertices; j++)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System.out.print(adjMatrix[i][j] + " ");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System.out.println();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70" dirty="0"/>
          </a:p>
          <a:p>
            <a:pPr indent="0" marL="0">
              <a:buNone/>
            </a:pP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findNeighbors(int vertex) {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System.out.print("Neighbors of vertex " + vertex + ": ");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i = 0; i &lt; numVertices; i++)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(adjMatrix[vertex][i] == 1) System.out.print(i + " ");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System.out.println();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70" dirty="0"/>
          </a:p>
        </p:txBody>
      </p:sp>
      <p:sp>
        <p:nvSpPr>
          <p:cNvPr id="6" name="Shape 4"/>
          <p:cNvSpPr/>
          <p:nvPr/>
        </p:nvSpPr>
        <p:spPr>
          <a:xfrm>
            <a:off x="7479792" y="1417320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FFF2CC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16952" y="152704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Insertion rule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16952" y="1828800"/>
            <a:ext cx="37947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Because the graph is undirected, one edge creates two matrix updates.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79792" y="2697480"/>
            <a:ext cx="4069080" cy="1874520"/>
          </a:xfrm>
          <a:prstGeom prst="roundRect">
            <a:avLst>
              <a:gd name="adj" fmla="val 2439"/>
            </a:avLst>
          </a:prstGeom>
          <a:solidFill>
            <a:srgbClr val="F7F7F7"/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0" y="2770632"/>
            <a:ext cx="3849624" cy="1728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int[][] edges = {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{0,1}, {0,3},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{1,3}, {1,2}, {1,4},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{2,4},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{3,4}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GraphUndirectedUnweightedMatrix graph =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GraphUndirectedUnweightedMatrix(5);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graph.addEdges(edges);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7479792" y="4892040"/>
            <a:ext cx="4069080" cy="786384"/>
          </a:xfrm>
          <a:prstGeom prst="roundRect">
            <a:avLst>
              <a:gd name="adj" fmla="val 9302"/>
            </a:avLst>
          </a:prstGeom>
          <a:solidFill>
            <a:srgbClr val="F1F8E9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16952" y="500176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Result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16952" y="5303520"/>
            <a:ext cx="3794760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The final matrix has 1s in symmetric positions.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Adjacency Matrix: Directed Unweighted Graph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Some pairs are bidirectional, while some edges are one-way.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55B"/>
                </a:solidFill>
              </a:rPr>
              <a:t>Graph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527091" y="2734213"/>
            <a:ext cx="1207693" cy="-710408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525862" y="2810736"/>
            <a:ext cx="2114637" cy="230688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679149" y="1929227"/>
            <a:ext cx="-1207693" cy="710408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64080" y="2065490"/>
            <a:ext cx="707317" cy="875726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20142" y="2066464"/>
            <a:ext cx="-611085" cy="1947833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756760" y="2872270"/>
            <a:ext cx="-707317" cy="-875726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315526" y="4093615"/>
            <a:ext cx="1358269" cy="-917749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344002" y="4255030"/>
            <a:ext cx="1438477" cy="359619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813371" y="4547319"/>
            <a:ext cx="-2323221" cy="-1642277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960460" y="4463007"/>
            <a:ext cx="-102800" cy="-1199334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124712" y="258775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16152" y="268833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0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679192" y="167335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70632" y="177393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1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39312" y="286207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30752" y="296265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2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947672" y="400507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39112" y="410565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3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776472" y="446227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67912" y="456285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4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355080" y="10972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55B"/>
                </a:solidFill>
              </a:rPr>
              <a:t>Adjacency Matrix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629400" y="1454810"/>
            <a:ext cx="493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23176" y="1454810"/>
            <a:ext cx="493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616952" y="1454810"/>
            <a:ext cx="493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10728" y="1454810"/>
            <a:ext cx="493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04504" y="1454810"/>
            <a:ext cx="493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83757" y="1958462"/>
            <a:ext cx="246888" cy="207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29400" y="1874520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1958462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123176" y="1874520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23176" y="1958462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616952" y="1874520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16952" y="1958462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110728" y="1874520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10728" y="1958462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604504" y="1874520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04504" y="1958462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283757" y="2452238"/>
            <a:ext cx="246888" cy="207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1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629400" y="2368296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29400" y="2452238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123176" y="2368296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23176" y="2452238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616952" y="2368296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16952" y="2452238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110728" y="2368296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10728" y="2452238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604504" y="2368296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604504" y="2452238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283757" y="2946014"/>
            <a:ext cx="246888" cy="207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2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629400" y="2862072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29400" y="2946014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123176" y="2862072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23176" y="2946014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7616952" y="2862072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616952" y="2946014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8110728" y="2862072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110728" y="2946014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8604504" y="2862072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604504" y="2946014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283757" y="3439790"/>
            <a:ext cx="246888" cy="207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3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6629400" y="3355848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629400" y="3439790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7123176" y="3355848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123176" y="3439790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7616952" y="3355848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616952" y="3439790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8110728" y="3355848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110728" y="3439790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8604504" y="3355848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604504" y="3439790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6283757" y="3933566"/>
            <a:ext cx="246888" cy="207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4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6629400" y="3849624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629400" y="3933566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7123176" y="3849624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123176" y="3933566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7616952" y="3849624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616952" y="3933566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8110728" y="3849624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110728" y="3933566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8604504" y="3849624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604504" y="3933566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6144768" y="4709160"/>
            <a:ext cx="4892040" cy="1051560"/>
          </a:xfrm>
          <a:prstGeom prst="roundRect">
            <a:avLst>
              <a:gd name="adj" fmla="val 6957"/>
            </a:avLst>
          </a:prstGeom>
          <a:solidFill>
            <a:srgbClr val="FFF2CC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281928" y="481888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Observation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6281928" y="5120640"/>
            <a:ext cx="46177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The matrix is not symmetric.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Example: A[4][0] = 1 but A[0][4] = 0.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Editable Java: Directed Unweighted Matrix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Only source -&gt; destination is stored.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6583680" cy="5303520"/>
          </a:xfrm>
          <a:prstGeom prst="roundRect">
            <a:avLst>
              <a:gd name="adj" fmla="val 862"/>
            </a:avLst>
          </a:prstGeom>
          <a:solidFill>
            <a:srgbClr val="F7F7F7"/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124712"/>
            <a:ext cx="6364224" cy="5157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GraphDirectedUnweightedMatrix {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numVertices;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int[][] adjMatrix;</a:t>
            </a:r>
            <a:endParaRPr lang="en-US" sz="770" dirty="0"/>
          </a:p>
          <a:p>
            <a:pPr indent="0" marL="0">
              <a:buNone/>
            </a:pP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GraphDirectedUnweightedMatrix(int numVertices) {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this.numVertices = numVertices;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adjMatrix = new int[numVertices][numVertices];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70" dirty="0"/>
          </a:p>
          <a:p>
            <a:pPr indent="0" marL="0">
              <a:buNone/>
            </a:pP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addEdges(int[][] edges) {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i = 0; i &lt; edges.length; i++) {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int source = edges[i][0];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int destination = edges[i][1];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adjMatrix[source][destination] = 1;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70" dirty="0"/>
          </a:p>
          <a:p>
            <a:pPr indent="0" marL="0">
              <a:buNone/>
            </a:pP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printMatrix() {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System.out.println("Adjacency Matrix:");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i = 0; i &lt; numVertices; i++) {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(int j = 0; j &lt; numVertices; j++)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System.out.print(adjMatrix[i][j] + " ");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System.out.println();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70" dirty="0"/>
          </a:p>
          <a:p>
            <a:pPr indent="0" marL="0">
              <a:buNone/>
            </a:pP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findNeighbors(int vertex) {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System.out.print("Neighbors of vertex " + vertex + ": ");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i = 0; i &lt; numVertices; i++)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(adjMatrix[vertex][i] == 1) System.out.print(i + " ");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System.out.println();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70" dirty="0"/>
          </a:p>
        </p:txBody>
      </p:sp>
      <p:sp>
        <p:nvSpPr>
          <p:cNvPr id="6" name="Shape 4"/>
          <p:cNvSpPr/>
          <p:nvPr/>
        </p:nvSpPr>
        <p:spPr>
          <a:xfrm>
            <a:off x="7479792" y="1417320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FFF2CC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16952" y="152704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Insertion rule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16952" y="1828800"/>
            <a:ext cx="37947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Do not automatically add the reverse edge.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79792" y="2697480"/>
            <a:ext cx="4069080" cy="2011680"/>
          </a:xfrm>
          <a:prstGeom prst="roundRect">
            <a:avLst>
              <a:gd name="adj" fmla="val 2273"/>
            </a:avLst>
          </a:prstGeom>
          <a:solidFill>
            <a:srgbClr val="F7F7F7"/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0" y="2770632"/>
            <a:ext cx="3849624" cy="1865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int[][] edges = {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{0,1}, {0,2},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{1,0}, {1,2}, {1,3},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{2,1},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{3,2}, {3,4},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{4,0}, {4,2}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7479792" y="4983480"/>
            <a:ext cx="4069080" cy="749808"/>
          </a:xfrm>
          <a:prstGeom prst="roundRect">
            <a:avLst>
              <a:gd name="adj" fmla="val 9756"/>
            </a:avLst>
          </a:prstGeom>
          <a:solidFill>
            <a:srgbClr val="EEF5FF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16952" y="509320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Neighbor meaning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16952" y="5394960"/>
            <a:ext cx="379476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Neighbors of u = vertices reachable from row u.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Adjacency Matrix: Directed Weighted Graph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Nonzero values store edge weights, not just 1.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55B"/>
                </a:solidFill>
              </a:rPr>
              <a:t>Graph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739953" y="2985341"/>
            <a:ext cx="1000653" cy="-420274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130552" y="2683764"/>
            <a:ext cx="219456" cy="173736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30552" y="2692908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731449" y="3158899"/>
            <a:ext cx="1337702" cy="723082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290572" y="3429000"/>
            <a:ext cx="219456" cy="173736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90572" y="3438144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3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04924" y="2579273"/>
            <a:ext cx="1471111" cy="757622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730752" y="2866644"/>
            <a:ext cx="219456" cy="173736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0752" y="2875788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4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16801" y="2423184"/>
            <a:ext cx="1035877" cy="-347520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525012" y="2157984"/>
            <a:ext cx="219456" cy="173736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5012" y="2167128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5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35176" y="3908892"/>
            <a:ext cx="1130647" cy="-411144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890772" y="3611880"/>
            <a:ext cx="219456" cy="173736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90772" y="3621024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6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353312" y="286207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44752" y="296265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0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24912" y="2286000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16352" y="2386584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1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044952" y="377647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36392" y="387705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2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53712" y="322783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45152" y="332841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3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142232" y="181051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33672" y="191109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4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355080" y="10972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55B"/>
                </a:solidFill>
              </a:rPr>
              <a:t>Adjacency Matrix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629400" y="1454810"/>
            <a:ext cx="493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23176" y="1454810"/>
            <a:ext cx="493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616952" y="1454810"/>
            <a:ext cx="493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110728" y="1454810"/>
            <a:ext cx="493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604504" y="1454810"/>
            <a:ext cx="493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83757" y="1958462"/>
            <a:ext cx="246888" cy="207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629400" y="1874520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9400" y="1958462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123176" y="1874520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23176" y="1958462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0020"/>
                </a:solidFill>
              </a:rPr>
              <a:t>2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616952" y="1874520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16952" y="1958462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0020"/>
                </a:solidFill>
              </a:rPr>
              <a:t>3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110728" y="1874520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10728" y="1958462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604504" y="1874520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04504" y="1958462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283757" y="2452238"/>
            <a:ext cx="246888" cy="207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1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629400" y="2368296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29400" y="2452238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123176" y="2368296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23176" y="2452238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616952" y="2368296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16952" y="2452238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8110728" y="2368296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110728" y="2452238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0020"/>
                </a:solidFill>
              </a:rPr>
              <a:t>4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8604504" y="2368296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04504" y="2452238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0020"/>
                </a:solidFill>
              </a:rPr>
              <a:t>5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283757" y="2946014"/>
            <a:ext cx="246888" cy="207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2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629400" y="2862072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29400" y="2946014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123176" y="2862072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23176" y="2946014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7616952" y="2862072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616952" y="2946014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8110728" y="2862072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110728" y="2946014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0020"/>
                </a:solidFill>
              </a:rPr>
              <a:t>6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8604504" y="2862072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604504" y="2946014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6283757" y="3439790"/>
            <a:ext cx="246888" cy="207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3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6629400" y="3355848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629400" y="3439790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7123176" y="3355848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123176" y="3439790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7616952" y="3355848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616952" y="3439790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8110728" y="3355848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110728" y="3439790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8604504" y="3355848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604504" y="3439790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6283757" y="3933566"/>
            <a:ext cx="246888" cy="207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4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6629400" y="3849624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629400" y="3933566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7123176" y="3849624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123176" y="3933566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7616952" y="3849624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616952" y="3933566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8110728" y="3849624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110728" y="3933566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8604504" y="3849624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604504" y="3933566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6144768" y="4709160"/>
            <a:ext cx="4892040" cy="1051560"/>
          </a:xfrm>
          <a:prstGeom prst="roundRect">
            <a:avLst>
              <a:gd name="adj" fmla="val 6957"/>
            </a:avLst>
          </a:prstGeom>
          <a:solidFill>
            <a:srgbClr val="FCE4EC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281928" y="481888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Observation</a:t>
            </a:r>
            <a:endParaRPr lang="en-US" sz="1200" dirty="0"/>
          </a:p>
        </p:txBody>
      </p:sp>
      <p:sp>
        <p:nvSpPr>
          <p:cNvPr id="93" name="Text 91"/>
          <p:cNvSpPr/>
          <p:nvPr/>
        </p:nvSpPr>
        <p:spPr>
          <a:xfrm>
            <a:off x="6281928" y="5120640"/>
            <a:ext cx="46177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A[1][3] = 4 means there is a directed edge 1 -&gt; 3 with weight 4.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Editable Java: Directed Weighted Matrix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The edge format is {source, destination, weight}.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6583680" cy="5303520"/>
          </a:xfrm>
          <a:prstGeom prst="roundRect">
            <a:avLst>
              <a:gd name="adj" fmla="val 862"/>
            </a:avLst>
          </a:prstGeom>
          <a:solidFill>
            <a:srgbClr val="F7F7F7"/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124712"/>
            <a:ext cx="6364224" cy="5157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GraphDirectedWeightedMatrix 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numVertices;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int[][] adjMatrix;</a:t>
            </a:r>
            <a:endParaRPr lang="en-US" sz="760" dirty="0"/>
          </a:p>
          <a:p>
            <a:pPr indent="0" marL="0">
              <a:buNone/>
            </a:pP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GraphDirectedWeightedMatrix(int numVertices) 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this.numVertices = numVertices;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adjMatrix = new int[numVertices][numVertices];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60" dirty="0"/>
          </a:p>
          <a:p>
            <a:pPr indent="0" marL="0">
              <a:buNone/>
            </a:pP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addEdges(int[][] edges) 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i = 0; i &lt; edges.length; i++) 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int source = edges[i][0];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int destination = edges[i][1];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int weight = edges[i][2];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adjMatrix[source][destination] = weight;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60" dirty="0"/>
          </a:p>
          <a:p>
            <a:pPr indent="0" marL="0">
              <a:buNone/>
            </a:pP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printMatrix() 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System.out.println("Adjacency Matrix:");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i = 0; i &lt; numVertices; i++) 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(int j = 0; j &lt; numVertices; j++)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System.out.print(adjMatrix[i][j] + " ");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System.out.println();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60" dirty="0"/>
          </a:p>
          <a:p>
            <a:pPr indent="0" marL="0">
              <a:buNone/>
            </a:pP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findNeighbors(int vertex) 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System.out.print("Neighbors of vertex " + vertex + ": ");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i = 0; i &lt; numVertices; i++)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(adjMatrix[vertex][i] != 0) System.out.print(i + " ");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System.out.println();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60" dirty="0"/>
          </a:p>
        </p:txBody>
      </p:sp>
      <p:sp>
        <p:nvSpPr>
          <p:cNvPr id="6" name="Shape 4"/>
          <p:cNvSpPr/>
          <p:nvPr/>
        </p:nvSpPr>
        <p:spPr>
          <a:xfrm>
            <a:off x="7479792" y="1417320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FCE4EC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16952" y="152704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Insertion rule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16952" y="1828800"/>
            <a:ext cx="37947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Store weight only in A[source][destination].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79792" y="2697480"/>
            <a:ext cx="4069080" cy="1417320"/>
          </a:xfrm>
          <a:prstGeom prst="roundRect">
            <a:avLst>
              <a:gd name="adj" fmla="val 3226"/>
            </a:avLst>
          </a:prstGeom>
          <a:solidFill>
            <a:srgbClr val="F7F7F7"/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0" y="2770632"/>
            <a:ext cx="3849624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int[][] edges = {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{0,1,2},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{0,2,3},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{1,3,4},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{1,4,5},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{2,3,6}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7479792" y="4434840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EEF5FF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16952" y="454456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Neighbor check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16952" y="4846320"/>
            <a:ext cx="37947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Use != 0 because weights may be any nonzero number.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Adjacency Matrix: Undirected Weighted Graph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The same weight is stored in both symmetric positions.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55B"/>
                </a:solidFill>
              </a:rPr>
              <a:t>Graph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739953" y="2985341"/>
            <a:ext cx="1000653" cy="-420274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2130552" y="2683764"/>
            <a:ext cx="219456" cy="173736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30552" y="2692908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731449" y="3158899"/>
            <a:ext cx="1337702" cy="723082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290572" y="3429000"/>
            <a:ext cx="219456" cy="173736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90572" y="3438144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3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04924" y="2579273"/>
            <a:ext cx="1471111" cy="757622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3730752" y="2866644"/>
            <a:ext cx="219456" cy="173736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0752" y="2875788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4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16801" y="2423184"/>
            <a:ext cx="1035877" cy="-347520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3525012" y="2157984"/>
            <a:ext cx="219456" cy="173736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5012" y="2167128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5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35176" y="3908892"/>
            <a:ext cx="1130647" cy="-411144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3890772" y="3611880"/>
            <a:ext cx="219456" cy="173736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90772" y="3621024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6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353312" y="286207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44752" y="296265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0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24912" y="2286000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16352" y="2386584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1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044952" y="377647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36392" y="387705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2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53712" y="322783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45152" y="332841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3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142232" y="181051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33672" y="191109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4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355080" y="10972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55B"/>
                </a:solidFill>
              </a:rPr>
              <a:t>Adjacency Matrix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629400" y="1454810"/>
            <a:ext cx="493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23176" y="1454810"/>
            <a:ext cx="493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616952" y="1454810"/>
            <a:ext cx="493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110728" y="1454810"/>
            <a:ext cx="493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604504" y="1454810"/>
            <a:ext cx="493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83757" y="1958462"/>
            <a:ext cx="246888" cy="207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629400" y="1874520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9400" y="1958462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123176" y="1874520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23176" y="1958462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0020"/>
                </a:solidFill>
              </a:rPr>
              <a:t>2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616952" y="1874520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16952" y="1958462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0020"/>
                </a:solidFill>
              </a:rPr>
              <a:t>3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110728" y="1874520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10728" y="1958462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604504" y="1874520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04504" y="1958462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283757" y="2452238"/>
            <a:ext cx="246888" cy="207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1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629400" y="2368296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29400" y="2452238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0020"/>
                </a:solidFill>
              </a:rPr>
              <a:t>2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123176" y="2368296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23176" y="2452238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616952" y="2368296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16952" y="2452238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8110728" y="2368296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110728" y="2452238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0020"/>
                </a:solidFill>
              </a:rPr>
              <a:t>4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8604504" y="2368296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04504" y="2452238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0020"/>
                </a:solidFill>
              </a:rPr>
              <a:t>5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283757" y="2946014"/>
            <a:ext cx="246888" cy="207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2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629400" y="2862072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29400" y="2946014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0020"/>
                </a:solidFill>
              </a:rPr>
              <a:t>3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123176" y="2862072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23176" y="2946014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7616952" y="2862072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616952" y="2946014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8110728" y="2862072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110728" y="2946014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0020"/>
                </a:solidFill>
              </a:rPr>
              <a:t>6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8604504" y="2862072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604504" y="2946014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6283757" y="3439790"/>
            <a:ext cx="246888" cy="207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3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6629400" y="3355848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629400" y="3439790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7123176" y="3355848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123176" y="3439790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0020"/>
                </a:solidFill>
              </a:rPr>
              <a:t>4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7616952" y="3355848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616952" y="3439790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0020"/>
                </a:solidFill>
              </a:rPr>
              <a:t>6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8110728" y="3355848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110728" y="3439790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8604504" y="3355848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604504" y="3439790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6283757" y="3933566"/>
            <a:ext cx="246888" cy="207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4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6629400" y="3849624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629400" y="3933566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7123176" y="3849624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123176" y="3933566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0020"/>
                </a:solidFill>
              </a:rPr>
              <a:t>5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7616952" y="3849624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616952" y="3933566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8110728" y="3849624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110728" y="3933566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8604504" y="3849624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604504" y="3933566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6144768" y="4709160"/>
            <a:ext cx="4892040" cy="1051560"/>
          </a:xfrm>
          <a:prstGeom prst="roundRect">
            <a:avLst>
              <a:gd name="adj" fmla="val 6957"/>
            </a:avLst>
          </a:prstGeom>
          <a:solidFill>
            <a:srgbClr val="F1F8E9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281928" y="481888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Observation</a:t>
            </a:r>
            <a:endParaRPr lang="en-US" sz="1200" dirty="0"/>
          </a:p>
        </p:txBody>
      </p:sp>
      <p:sp>
        <p:nvSpPr>
          <p:cNvPr id="93" name="Text 91"/>
          <p:cNvSpPr/>
          <p:nvPr/>
        </p:nvSpPr>
        <p:spPr>
          <a:xfrm>
            <a:off x="6281928" y="5120640"/>
            <a:ext cx="46177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A[2][3] = 6 and A[3][2] = 6. The matrix is symmetric.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Editable Java: Undirected Weighted Matrix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One weighted edge updates two cells.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6583680" cy="5303520"/>
          </a:xfrm>
          <a:prstGeom prst="roundRect">
            <a:avLst>
              <a:gd name="adj" fmla="val 862"/>
            </a:avLst>
          </a:prstGeom>
          <a:solidFill>
            <a:srgbClr val="F7F7F7"/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124712"/>
            <a:ext cx="6364224" cy="5157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GraphUndirectedWeightedMatrix 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numVertices;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int[][] adjMatrix;</a:t>
            </a:r>
            <a:endParaRPr lang="en-US" sz="760" dirty="0"/>
          </a:p>
          <a:p>
            <a:pPr indent="0" marL="0">
              <a:buNone/>
            </a:pP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GraphUndirectedWeightedMatrix(int numVertices) 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this.numVertices = numVertices;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adjMatrix = new int[numVertices][numVertices];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60" dirty="0"/>
          </a:p>
          <a:p>
            <a:pPr indent="0" marL="0">
              <a:buNone/>
            </a:pP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addEdges(int[][] edges) 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i = 0; i &lt; edges.length; i++) 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int source = edges[i][0];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int destination = edges[i][1];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int weight = edges[i][2];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adjMatrix[source][destination] = weight;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adjMatrix[destination][source] = weight;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60" dirty="0"/>
          </a:p>
          <a:p>
            <a:pPr indent="0" marL="0">
              <a:buNone/>
            </a:pP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printMatrix() 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System.out.println("Adjacency Matrix:");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i = 0; i &lt; numVertices; i++) 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(int j = 0; j &lt; numVertices; j++)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System.out.print(adjMatrix[i][j] + " ");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System.out.println();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60" dirty="0"/>
          </a:p>
          <a:p>
            <a:pPr indent="0" marL="0">
              <a:buNone/>
            </a:pP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findNeighbors(int vertex) 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System.out.print("Neighbors of vertex " + vertex + ": ");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i = 0; i &lt; numVertices; i++)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(adjMatrix[vertex][i] != 0) System.out.print(i + " ");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System.out.println();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60" dirty="0"/>
          </a:p>
        </p:txBody>
      </p:sp>
      <p:sp>
        <p:nvSpPr>
          <p:cNvPr id="6" name="Shape 4"/>
          <p:cNvSpPr/>
          <p:nvPr/>
        </p:nvSpPr>
        <p:spPr>
          <a:xfrm>
            <a:off x="7479792" y="1417320"/>
            <a:ext cx="4069080" cy="1005840"/>
          </a:xfrm>
          <a:prstGeom prst="roundRect">
            <a:avLst>
              <a:gd name="adj" fmla="val 7273"/>
            </a:avLst>
          </a:prstGeom>
          <a:solidFill>
            <a:srgbClr val="F1F8E9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16952" y="152704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Insertion rule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16952" y="1828800"/>
            <a:ext cx="37947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Set both A[source][destination] and A[destination][source] to weight.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79792" y="2788920"/>
            <a:ext cx="4069080" cy="1417320"/>
          </a:xfrm>
          <a:prstGeom prst="roundRect">
            <a:avLst>
              <a:gd name="adj" fmla="val 3226"/>
            </a:avLst>
          </a:prstGeom>
          <a:solidFill>
            <a:srgbClr val="F7F7F7"/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0" y="2862072"/>
            <a:ext cx="3849624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int[][] edges = {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{0,1,2},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{0,2,3},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{1,3,4},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{1,4,5},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{2,3,6}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7479792" y="4526280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FFF2CC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16952" y="463600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Result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16952" y="4937760"/>
            <a:ext cx="37947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A symmetric weighted matrix.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Adjacency List: Core Idea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Each vertex stores a list of its neighbors instead of a full V x V table.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" y="160934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43000" y="1709928"/>
            <a:ext cx="292608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490472" y="1508760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17904" y="158191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57400" y="1673352"/>
            <a:ext cx="146304" cy="0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203704" y="1508760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31136" y="158191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1762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143000" y="2276856"/>
            <a:ext cx="292608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490472" y="2075688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17904" y="2148840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57400" y="2240280"/>
            <a:ext cx="146304" cy="0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203704" y="2075688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31136" y="2148840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70632" y="2240280"/>
            <a:ext cx="146304" cy="0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916936" y="2075688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44368" y="2148840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83864" y="2240280"/>
            <a:ext cx="146304" cy="0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630168" y="2075688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2148840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27432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143000" y="2843784"/>
            <a:ext cx="292608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490472" y="2642616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17904" y="2715768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4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057400" y="2807208"/>
            <a:ext cx="146304" cy="0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203704" y="2642616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31136" y="2715768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8680" y="331012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143000" y="3410712"/>
            <a:ext cx="292608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490472" y="3209544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517904" y="3282696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4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057400" y="3374136"/>
            <a:ext cx="146304" cy="0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2203704" y="3209544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31136" y="3282696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770632" y="3374136"/>
            <a:ext cx="146304" cy="0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2916936" y="3209544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44368" y="3282696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68680" y="387705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4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143000" y="3977640"/>
            <a:ext cx="292608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1490472" y="3776472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517904" y="3849624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3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057400" y="3941064"/>
            <a:ext cx="146304" cy="0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2203704" y="3776472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31136" y="3849624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2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770632" y="3941064"/>
            <a:ext cx="146304" cy="0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2916936" y="3776472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944368" y="3849624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035040" y="1417320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EEF5FF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72200" y="1527048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Why adjacency list?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172200" y="1828800"/>
            <a:ext cx="452628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It stores only existing edges, so it is usually more space-efficient for sparse graphs.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035040" y="2971800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1F8E9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72200" y="3081528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Neighbor search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172200" y="3383280"/>
            <a:ext cx="452628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To find neighbors of vertex u, traverse only list[u].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035040" y="4526280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FF2CC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72200" y="4636008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Implementation style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172200" y="4937760"/>
            <a:ext cx="452628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In Java, each row can be a linked list of Node objects.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Adjacency List: Undirected Unweighted Graph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An undirected edge inserts each endpoint into the other endpoint's list.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55B"/>
                </a:solidFill>
              </a:rPr>
              <a:t>Graph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499274" y="2686924"/>
            <a:ext cx="1207693" cy="-710408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426894" y="2962888"/>
            <a:ext cx="620933" cy="1069384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820142" y="2066464"/>
            <a:ext cx="-611085" cy="1947833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3006761" y="2031017"/>
            <a:ext cx="707317" cy="875726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954012" y="2061720"/>
            <a:ext cx="949975" cy="2414520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3857660" y="3263673"/>
            <a:ext cx="102800" cy="1199334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344002" y="4255030"/>
            <a:ext cx="1438477" cy="359619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24712" y="258775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16152" y="268833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0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679192" y="167335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70632" y="177393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39312" y="286207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30752" y="296265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2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947672" y="400507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39112" y="410565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3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776472" y="446227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67912" y="456285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4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897880" y="1097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55B"/>
                </a:solidFill>
              </a:rPr>
              <a:t>Adjacency List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989320" y="179222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AA8"/>
                </a:solidFill>
              </a:rPr>
              <a:t>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1892808"/>
            <a:ext cx="292608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611112" y="1691640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38544" y="176479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178040" y="1856232"/>
            <a:ext cx="146304" cy="0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324344" y="1691640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51776" y="176479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89320" y="23865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AA8"/>
                </a:solidFill>
              </a:rPr>
              <a:t>1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63640" y="2487168"/>
            <a:ext cx="292608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611112" y="2286000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38544" y="235915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4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178040" y="2450592"/>
            <a:ext cx="146304" cy="0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324344" y="2286000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51776" y="235915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2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891272" y="2450592"/>
            <a:ext cx="146304" cy="0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037576" y="2286000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65008" y="235915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3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604504" y="2450592"/>
            <a:ext cx="146304" cy="0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750808" y="2286000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78240" y="235915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989320" y="298094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AA8"/>
                </a:solidFill>
              </a:rPr>
              <a:t>2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63640" y="3081528"/>
            <a:ext cx="292608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611112" y="2880360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38544" y="295351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4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178040" y="3044952"/>
            <a:ext cx="146304" cy="0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324344" y="2880360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51776" y="295351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1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989320" y="357530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AA8"/>
                </a:solidFill>
              </a:rPr>
              <a:t>3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263640" y="3675888"/>
            <a:ext cx="292608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6611112" y="3474720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38544" y="354787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4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178040" y="3639312"/>
            <a:ext cx="146304" cy="0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7324344" y="3474720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351776" y="354787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1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7891272" y="3639312"/>
            <a:ext cx="146304" cy="0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8037576" y="3474720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065008" y="354787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0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989320" y="416966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AA8"/>
                </a:solidFill>
              </a:rPr>
              <a:t>4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263640" y="4270248"/>
            <a:ext cx="292608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6611112" y="4069080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638544" y="414223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3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7178040" y="4233672"/>
            <a:ext cx="146304" cy="0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7324344" y="4069080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351776" y="414223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2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7891272" y="4233672"/>
            <a:ext cx="146304" cy="0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8037576" y="4069080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065008" y="414223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1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5897880" y="5074920"/>
            <a:ext cx="5166360" cy="685800"/>
          </a:xfrm>
          <a:prstGeom prst="roundRect">
            <a:avLst>
              <a:gd name="adj" fmla="val 10667"/>
            </a:avLst>
          </a:prstGeom>
          <a:solidFill>
            <a:srgbClr val="F1F8E9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035040" y="518464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Rule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6035040" y="5486400"/>
            <a:ext cx="48920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For edge (u, v): insert v into list[u] and insert u into list[v].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Editable Java: Undirected Unweighted Adjacency List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Linked-list based adjacency list.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033272"/>
            <a:ext cx="6949440" cy="5349240"/>
          </a:xfrm>
          <a:prstGeom prst="roundRect">
            <a:avLst>
              <a:gd name="adj" fmla="val 855"/>
            </a:avLst>
          </a:prstGeom>
          <a:solidFill>
            <a:srgbClr val="F7F7F7"/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106424"/>
            <a:ext cx="6729984" cy="5202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Node {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vertex;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 next;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Node(int vertex) { this.vertex = vertex; }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40" dirty="0"/>
          </a:p>
          <a:p>
            <a:pPr indent="0" marL="0">
              <a:buNone/>
            </a:pP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GraphUndirectedUnweightedList {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numVertices;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Node[] adjList;</a:t>
            </a:r>
            <a:endParaRPr lang="en-US" sz="740" dirty="0"/>
          </a:p>
          <a:p>
            <a:pPr indent="0" marL="0">
              <a:buNone/>
            </a:pP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GraphUndirectedUnweightedList(int numVertices) {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this.numVertices = numVertices;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adjList = new Node[numVertices];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40" dirty="0"/>
          </a:p>
          <a:p>
            <a:pPr indent="0" marL="0">
              <a:buNone/>
            </a:pP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void insertAtHead(int source, int destination) {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Node newNode = new Node(destination);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newNode.next = adjList[source];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adjList[source] = newNode;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40" dirty="0"/>
          </a:p>
          <a:p>
            <a:pPr indent="0" marL="0">
              <a:buNone/>
            </a:pP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addEdges(int[][] edges) {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i = 0; i &lt; edges.length; i++) {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int u = edges[i][0], v = edges[i][1];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insertAtHead(u, v);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insertAtHead(v, u);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40" dirty="0"/>
          </a:p>
          <a:p>
            <a:pPr indent="0" marL="0">
              <a:buNone/>
            </a:pP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printList() {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i = 0; i &lt; numVertices; i++) {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System.out.print(i + ": ");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(Node temp = adjList[i]; temp != null; temp = temp.next)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System.out.print(temp.vertex + " ");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System.out.println();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40" dirty="0"/>
          </a:p>
        </p:txBody>
      </p:sp>
      <p:sp>
        <p:nvSpPr>
          <p:cNvPr id="6" name="Shape 4"/>
          <p:cNvSpPr/>
          <p:nvPr/>
        </p:nvSpPr>
        <p:spPr>
          <a:xfrm>
            <a:off x="7818120" y="1417320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FFF2CC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15270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Insertion rule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55280" y="1828800"/>
            <a:ext cx="34747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Undirected graph: add two linked-list nodes for one edge.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818120" y="2697480"/>
            <a:ext cx="3749040" cy="2011680"/>
          </a:xfrm>
          <a:prstGeom prst="roundRect">
            <a:avLst>
              <a:gd name="adj" fmla="val 2273"/>
            </a:avLst>
          </a:prstGeom>
          <a:solidFill>
            <a:srgbClr val="F7F7F7"/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27848" y="2770632"/>
            <a:ext cx="3529584" cy="1865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int[][] edges =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{0,1}, {0,3},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{1,3}, {1,2}, {1,4},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{2,4}, {3,4}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GraphUndirectedUnweightedList graph =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GraphUndirectedUnweightedList(5);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graph.addEdges(edges);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graph.printList();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Adjacency List: Directed Unweighted Graph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Only outgoing neighbors are stored in each source vertex list.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55B"/>
                </a:solidFill>
              </a:rPr>
              <a:t>Graph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422199" y="2716705"/>
            <a:ext cx="1407561" cy="-541370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313565" y="2973874"/>
            <a:ext cx="573271" cy="1340021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172808" y="2231004"/>
            <a:ext cx="1243905" cy="1024392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100318" y="2286459"/>
            <a:ext cx="1114564" cy="2467963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046813" y="4314643"/>
            <a:ext cx="889854" cy="-2027319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63656" y="4536061"/>
            <a:ext cx="1936328" cy="364485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32640" y="4739653"/>
            <a:ext cx="204400" cy="-1158266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033272" y="258775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4712" y="268833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0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816352" y="190195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07792" y="200253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70832" y="318211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62272" y="328269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2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764792" y="4297680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56232" y="4398264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3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096512" y="473659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87952" y="483717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4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897880" y="1097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55B"/>
                </a:solidFill>
              </a:rPr>
              <a:t>Adjacency List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989320" y="179222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AA8"/>
                </a:solidFill>
              </a:rPr>
              <a:t>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1892808"/>
            <a:ext cx="292608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611112" y="1691640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38544" y="176479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178040" y="1856232"/>
            <a:ext cx="146304" cy="0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324344" y="1691640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51776" y="176479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89320" y="243230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AA8"/>
                </a:solidFill>
              </a:rPr>
              <a:t>1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63640" y="2532888"/>
            <a:ext cx="292608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611112" y="2331720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38544" y="240487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4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178040" y="2496312"/>
            <a:ext cx="146304" cy="0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324344" y="2331720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51776" y="240487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989320" y="30723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AA8"/>
                </a:solidFill>
              </a:rPr>
              <a:t>2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63640" y="3172968"/>
            <a:ext cx="292608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tailEnd type="none"/>
          </a:ln>
        </p:spPr>
      </p:sp>
      <p:sp>
        <p:nvSpPr>
          <p:cNvPr id="39" name="Text 37"/>
          <p:cNvSpPr/>
          <p:nvPr/>
        </p:nvSpPr>
        <p:spPr>
          <a:xfrm>
            <a:off x="5989320" y="371246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AA8"/>
                </a:solidFill>
              </a:rPr>
              <a:t>3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63640" y="3813048"/>
            <a:ext cx="292608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611112" y="3611880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38544" y="368503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4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178040" y="3776472"/>
            <a:ext cx="146304" cy="0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324344" y="3611880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51776" y="368503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1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989320" y="435254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AA8"/>
                </a:solidFill>
              </a:rPr>
              <a:t>4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263640" y="4453128"/>
            <a:ext cx="292608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6611112" y="4251960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38544" y="432511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2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897880" y="5074920"/>
            <a:ext cx="5166360" cy="685800"/>
          </a:xfrm>
          <a:prstGeom prst="roundRect">
            <a:avLst>
              <a:gd name="adj" fmla="val 10667"/>
            </a:avLst>
          </a:prstGeom>
          <a:solidFill>
            <a:srgbClr val="FFF2CC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35040" y="518464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Rule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035040" y="5486400"/>
            <a:ext cx="48920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For edge (u, v): insert only v into list[u].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Editable Java: Directed Unweighted Adjacency List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One edge inserts one node.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033272"/>
            <a:ext cx="6949440" cy="5349240"/>
          </a:xfrm>
          <a:prstGeom prst="roundRect">
            <a:avLst>
              <a:gd name="adj" fmla="val 855"/>
            </a:avLst>
          </a:prstGeom>
          <a:solidFill>
            <a:srgbClr val="F7F7F7"/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106424"/>
            <a:ext cx="6729984" cy="5202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Node {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vertex;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 next;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Node(int vertex) { this.vertex = vertex; }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40" dirty="0"/>
          </a:p>
          <a:p>
            <a:pPr indent="0" marL="0">
              <a:buNone/>
            </a:pP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GraphDirectedUnweightedList {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numVertices;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Node[] adjList;</a:t>
            </a:r>
            <a:endParaRPr lang="en-US" sz="740" dirty="0"/>
          </a:p>
          <a:p>
            <a:pPr indent="0" marL="0">
              <a:buNone/>
            </a:pP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GraphDirectedUnweightedList(int numVertices) {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this.numVertices = numVertices;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adjList = new Node[numVertices];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40" dirty="0"/>
          </a:p>
          <a:p>
            <a:pPr indent="0" marL="0">
              <a:buNone/>
            </a:pP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void insertAtHead(int source, int destination) {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Node newNode = new Node(destination);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newNode.next = adjList[source];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adjList[source] = newNode;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40" dirty="0"/>
          </a:p>
          <a:p>
            <a:pPr indent="0" marL="0">
              <a:buNone/>
            </a:pP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addEdges(int[][] edges) {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i = 0; i &lt; edges.length; i++) {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int source = edges[i][0];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int destination = edges[i][1];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insertAtHead(source, destination);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40" dirty="0"/>
          </a:p>
          <a:p>
            <a:pPr indent="0" marL="0">
              <a:buNone/>
            </a:pP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findNeighbors(int vertex) {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System.out.print("Neighbors of vertex " + vertex + ": ");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(Node temp = adjList[vertex]; temp != null; temp = temp.next)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System.out.print(temp.vertex + " ");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System.out.println();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40" dirty="0"/>
          </a:p>
        </p:txBody>
      </p:sp>
      <p:sp>
        <p:nvSpPr>
          <p:cNvPr id="6" name="Shape 4"/>
          <p:cNvSpPr/>
          <p:nvPr/>
        </p:nvSpPr>
        <p:spPr>
          <a:xfrm>
            <a:off x="7818120" y="1417320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FFF2CC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15270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Insertion rule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55280" y="1828800"/>
            <a:ext cx="34747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Directed graph: add only destination to the source list.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818120" y="2697480"/>
            <a:ext cx="3749040" cy="1463040"/>
          </a:xfrm>
          <a:prstGeom prst="roundRect">
            <a:avLst>
              <a:gd name="adj" fmla="val 3125"/>
            </a:avLst>
          </a:prstGeom>
          <a:solidFill>
            <a:srgbClr val="F7F7F7"/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27848" y="2770632"/>
            <a:ext cx="3529584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int[][] edges =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{0,1}, {0,3},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{1,2}, {1,4},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{3,1}, {3,4},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{4,2}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Adjacency List: Directed Weighted Graph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Each list node stores both destination and weight.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55B"/>
                </a:solidFill>
              </a:rPr>
              <a:t>Graph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422199" y="2716705"/>
            <a:ext cx="1407561" cy="-541370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016252" y="2354580"/>
            <a:ext cx="219456" cy="173736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6252" y="2363724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313565" y="2973874"/>
            <a:ext cx="573271" cy="1340021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490472" y="3552444"/>
            <a:ext cx="219456" cy="173736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90472" y="3561588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6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72808" y="2231004"/>
            <a:ext cx="1243905" cy="1024392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685032" y="2651760"/>
            <a:ext cx="219456" cy="173736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85032" y="2660904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3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00318" y="2286459"/>
            <a:ext cx="1114564" cy="2467963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547872" y="3429000"/>
            <a:ext cx="219456" cy="173736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47872" y="3438144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5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046813" y="4314643"/>
            <a:ext cx="889854" cy="-2027319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382012" y="3209544"/>
            <a:ext cx="219456" cy="173736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82012" y="3218688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4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163656" y="4536061"/>
            <a:ext cx="1936328" cy="364485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022092" y="4626864"/>
            <a:ext cx="219456" cy="173736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22092" y="4636008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2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32640" y="4739653"/>
            <a:ext cx="204400" cy="-1158266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325112" y="4069080"/>
            <a:ext cx="219456" cy="173736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25112" y="4078224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1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33272" y="258775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24712" y="268833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0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816352" y="190195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07792" y="200253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1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370832" y="318211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62272" y="328269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2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764792" y="4297680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56232" y="4398264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3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096512" y="473659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87952" y="483717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4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669280" y="10972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55B"/>
                </a:solidFill>
              </a:rPr>
              <a:t>Adjacency List with Weights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5669280" y="179222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5AA8"/>
                </a:solidFill>
              </a:rPr>
              <a:t>0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943600" y="1892808"/>
            <a:ext cx="292608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291072" y="1691640"/>
            <a:ext cx="969264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18504" y="176479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1(2)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260336" y="1856232"/>
            <a:ext cx="146304" cy="0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406640" y="1691640"/>
            <a:ext cx="969264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34072" y="176479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3(6)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669280" y="243230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5AA8"/>
                </a:solidFill>
              </a:rPr>
              <a:t>1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943600" y="2532888"/>
            <a:ext cx="292608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6291072" y="2331720"/>
            <a:ext cx="969264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18504" y="240487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2(3)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260336" y="2496312"/>
            <a:ext cx="146304" cy="0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7406640" y="2331720"/>
            <a:ext cx="969264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34072" y="240487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4(5)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669280" y="30723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5AA8"/>
                </a:solidFill>
              </a:rPr>
              <a:t>2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943600" y="3172968"/>
            <a:ext cx="292608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tailEnd type="none"/>
          </a:ln>
        </p:spPr>
      </p:sp>
      <p:sp>
        <p:nvSpPr>
          <p:cNvPr id="53" name="Text 51"/>
          <p:cNvSpPr/>
          <p:nvPr/>
        </p:nvSpPr>
        <p:spPr>
          <a:xfrm>
            <a:off x="5669280" y="371246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5AA8"/>
                </a:solidFill>
              </a:rPr>
              <a:t>3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943600" y="3813048"/>
            <a:ext cx="292608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6291072" y="3611880"/>
            <a:ext cx="969264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18504" y="368503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1(4)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7260336" y="3776472"/>
            <a:ext cx="146304" cy="0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7406640" y="3611880"/>
            <a:ext cx="969264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34072" y="368503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4(2)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5669280" y="435254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5AA8"/>
                </a:solidFill>
              </a:rPr>
              <a:t>4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5943600" y="4453128"/>
            <a:ext cx="292608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6291072" y="4251960"/>
            <a:ext cx="969264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18504" y="432511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2(1)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5669280" y="5074920"/>
            <a:ext cx="5440680" cy="685800"/>
          </a:xfrm>
          <a:prstGeom prst="roundRect">
            <a:avLst>
              <a:gd name="adj" fmla="val 10667"/>
            </a:avLst>
          </a:prstGeom>
          <a:solidFill>
            <a:srgbClr val="FCE4EC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806440" y="5184648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Rule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5806440" y="5486400"/>
            <a:ext cx="51663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For edge (u, v, w): insert node v with weight w into list[u].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Editable Java: Directed Weighted Adjacency List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Node stores destination and edge weight.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033272"/>
            <a:ext cx="6949440" cy="5349240"/>
          </a:xfrm>
          <a:prstGeom prst="roundRect">
            <a:avLst>
              <a:gd name="adj" fmla="val 855"/>
            </a:avLst>
          </a:prstGeom>
          <a:solidFill>
            <a:srgbClr val="F7F7F7"/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106424"/>
            <a:ext cx="6729984" cy="5202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WNode {</a:t>
            </a: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vertex;</a:t>
            </a: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weight;</a:t>
            </a: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WNode next;</a:t>
            </a: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WNode(int vertex, int weight) {</a:t>
            </a: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this.vertex = vertex;</a:t>
            </a: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this.weight = weight;</a:t>
            </a: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15" dirty="0"/>
          </a:p>
          <a:p>
            <a:pPr indent="0" marL="0">
              <a:buNone/>
            </a:pP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GraphDirectedWeightedList {</a:t>
            </a: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numVertices;</a:t>
            </a: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WNode[] adjList;</a:t>
            </a:r>
            <a:endParaRPr lang="en-US" sz="715" dirty="0"/>
          </a:p>
          <a:p>
            <a:pPr indent="0" marL="0">
              <a:buNone/>
            </a:pP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GraphDirectedWeightedList(int numVertices) {</a:t>
            </a: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this.numVertices = numVertices;</a:t>
            </a: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adjList = new WNode[numVertices];</a:t>
            </a: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15" dirty="0"/>
          </a:p>
          <a:p>
            <a:pPr indent="0" marL="0">
              <a:buNone/>
            </a:pP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void insertAtHead(int source, int destination, int weight) {</a:t>
            </a: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WNode newNode = new WNode(destination, weight);</a:t>
            </a: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newNode.next = adjList[source];</a:t>
            </a: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adjList[source] = newNode;</a:t>
            </a: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15" dirty="0"/>
          </a:p>
          <a:p>
            <a:pPr indent="0" marL="0">
              <a:buNone/>
            </a:pP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addEdges(int[][] edges) {</a:t>
            </a: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i = 0; i &lt; edges.length; i++) {</a:t>
            </a: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int u = edges[i][0], v = edges[i][1], w = edges[i][2];</a:t>
            </a: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insertAtHead(u, v, w);</a:t>
            </a: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15" dirty="0"/>
          </a:p>
          <a:p>
            <a:pPr indent="0" marL="0">
              <a:buNone/>
            </a:pP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printList() {</a:t>
            </a: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i = 0; i &lt; numVertices; i++) {</a:t>
            </a: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System.out.print(i + ": ");</a:t>
            </a: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(WNode temp = adjList[i]; temp != null; temp = temp.next)</a:t>
            </a: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System.out.print(temp.vertex + "(" + temp.weight + ") ");</a:t>
            </a: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System.out.println();</a:t>
            </a: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15" dirty="0"/>
          </a:p>
        </p:txBody>
      </p:sp>
      <p:sp>
        <p:nvSpPr>
          <p:cNvPr id="6" name="Shape 4"/>
          <p:cNvSpPr/>
          <p:nvPr/>
        </p:nvSpPr>
        <p:spPr>
          <a:xfrm>
            <a:off x="7818120" y="1417320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FCE4EC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15270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Insertion rule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55280" y="1828800"/>
            <a:ext cx="34747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Only source list is updated; each node stores destination + weight.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818120" y="2697480"/>
            <a:ext cx="3749040" cy="1463040"/>
          </a:xfrm>
          <a:prstGeom prst="roundRect">
            <a:avLst>
              <a:gd name="adj" fmla="val 3125"/>
            </a:avLst>
          </a:prstGeom>
          <a:solidFill>
            <a:srgbClr val="F7F7F7"/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27848" y="2770632"/>
            <a:ext cx="3529584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int[][] edges =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{0,1,2}, {0,3,6},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{1,2,3}, {1,4,5},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{3,1,4}, {3,4,2},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{4,2,1}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Matrix vs List: Quick Comparison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Choose representation based on what your algorithm needs.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2103120" cy="502920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Feature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80360" y="1234440"/>
            <a:ext cx="4114800" cy="502920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137160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Adjacency Matrix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995160" y="1234440"/>
            <a:ext cx="4114800" cy="502920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137160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Adjacency List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1737360"/>
            <a:ext cx="2103120" cy="658368"/>
          </a:xfrm>
          <a:prstGeom prst="rect">
            <a:avLst/>
          </a:prstGeom>
          <a:solidFill>
            <a:srgbClr val="F8FBFF"/>
          </a:solidFill>
          <a:ln w="10160">
            <a:solidFill>
              <a:srgbClr val="C9D9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192024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Space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80360" y="1737360"/>
            <a:ext cx="4114800" cy="658368"/>
          </a:xfrm>
          <a:prstGeom prst="rect">
            <a:avLst/>
          </a:prstGeom>
          <a:solidFill>
            <a:srgbClr val="F8FBFF"/>
          </a:solidFill>
          <a:ln w="10160">
            <a:solidFill>
              <a:srgbClr val="C9D9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53512" y="192024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V x V cells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95160" y="1737360"/>
            <a:ext cx="4114800" cy="658368"/>
          </a:xfrm>
          <a:prstGeom prst="rect">
            <a:avLst/>
          </a:prstGeom>
          <a:solidFill>
            <a:srgbClr val="F8FBFF"/>
          </a:solidFill>
          <a:ln w="10160">
            <a:solidFill>
              <a:srgbClr val="C9D9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68312" y="192024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V lists + existing edges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2395728"/>
            <a:ext cx="210312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C9D9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2578608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Check edge u-&gt;v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880360" y="2395728"/>
            <a:ext cx="41148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C9D9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53512" y="2578608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Fast direct lookup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95160" y="2395728"/>
            <a:ext cx="41148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C9D9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68312" y="2578608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Search list[u]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" y="3054096"/>
            <a:ext cx="2103120" cy="658368"/>
          </a:xfrm>
          <a:prstGeom prst="rect">
            <a:avLst/>
          </a:prstGeom>
          <a:solidFill>
            <a:srgbClr val="F8FBFF"/>
          </a:solidFill>
          <a:ln w="10160">
            <a:solidFill>
              <a:srgbClr val="C9D9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3236976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Find neighbors of u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880360" y="3054096"/>
            <a:ext cx="4114800" cy="658368"/>
          </a:xfrm>
          <a:prstGeom prst="rect">
            <a:avLst/>
          </a:prstGeom>
          <a:solidFill>
            <a:srgbClr val="F8FBFF"/>
          </a:solidFill>
          <a:ln w="10160">
            <a:solidFill>
              <a:srgbClr val="C9D9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53512" y="3236976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Scan row u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95160" y="3054096"/>
            <a:ext cx="4114800" cy="658368"/>
          </a:xfrm>
          <a:prstGeom prst="rect">
            <a:avLst/>
          </a:prstGeom>
          <a:solidFill>
            <a:srgbClr val="F8FBFF"/>
          </a:solidFill>
          <a:ln w="10160">
            <a:solidFill>
              <a:srgbClr val="C9D9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68312" y="3236976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Traverse list[u]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77240" y="3712464"/>
            <a:ext cx="210312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C9D9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" y="3895344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Sparse graph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880360" y="3712464"/>
            <a:ext cx="41148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C9D9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53512" y="3895344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Can waste space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995160" y="3712464"/>
            <a:ext cx="41148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C9D9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68312" y="3895344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Usually efficient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14400" y="4846320"/>
            <a:ext cx="10287000" cy="777240"/>
          </a:xfrm>
          <a:prstGeom prst="roundRect">
            <a:avLst>
              <a:gd name="adj" fmla="val 9412"/>
            </a:avLst>
          </a:prstGeom>
          <a:solidFill>
            <a:srgbClr val="FFF2CC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51560" y="4956048"/>
            <a:ext cx="10012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Classroom takeaway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51560" y="5257800"/>
            <a:ext cx="100126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Matrices are simpler for direct edge lookup; lists are more natural for neighbor traversal.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Practice: Directed or Undirected?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Determine the type by checking matrix symmetry.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45920" y="1051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55B"/>
                </a:solidFill>
              </a:rPr>
              <a:t>Matrix 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00200" y="133411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27B0"/>
                </a:solidFill>
              </a:rPr>
              <a:t>0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020824" y="133411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27B0"/>
                </a:solidFill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441448" y="133411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27B0"/>
                </a:solidFill>
              </a:rPr>
              <a:t>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62072" y="133411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27B0"/>
                </a:solidFill>
              </a:rPr>
              <a:t>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82696" y="133411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27B0"/>
                </a:solidFill>
              </a:rPr>
              <a:t>4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305763" y="1763146"/>
            <a:ext cx="210312" cy="176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27B0"/>
                </a:solidFill>
              </a:rPr>
              <a:t>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600200" y="1691640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00200" y="1763146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020824" y="1691640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20824" y="1763146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441448" y="1691640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41448" y="1763146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862072" y="1691640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62072" y="1763146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82696" y="1691640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82696" y="1763146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305763" y="2183770"/>
            <a:ext cx="210312" cy="176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27B0"/>
                </a:solidFill>
              </a:rPr>
              <a:t>1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600200" y="2112264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00200" y="2183770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020824" y="2112264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20824" y="2183770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441448" y="2112264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41448" y="2183770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862072" y="2112264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62072" y="2183770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82696" y="2112264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82696" y="2183770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305763" y="2604394"/>
            <a:ext cx="210312" cy="176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27B0"/>
                </a:solidFill>
              </a:rPr>
              <a:t>2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600200" y="2532888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00200" y="2604394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020824" y="2532888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20824" y="2604394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441448" y="2532888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41448" y="2604394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862072" y="2532888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62072" y="2604394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282696" y="2532888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82696" y="2604394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305763" y="3025018"/>
            <a:ext cx="210312" cy="176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27B0"/>
                </a:solidFill>
              </a:rPr>
              <a:t>3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1600200" y="2953512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600200" y="3025018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020824" y="2953512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20824" y="3025018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441448" y="2953512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41448" y="3025018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2862072" y="2953512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862072" y="3025018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282696" y="2953512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82696" y="3025018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1305763" y="3445642"/>
            <a:ext cx="210312" cy="176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27B0"/>
                </a:solidFill>
              </a:rPr>
              <a:t>4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1600200" y="3374136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600200" y="3445642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2020824" y="3374136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020824" y="3445642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2441448" y="3374136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441448" y="3445642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2862072" y="3374136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862072" y="3445642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3282696" y="3374136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82696" y="3445642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6858000" y="1051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55B"/>
                </a:solidFill>
              </a:rPr>
              <a:t>Matrix B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812280" y="133411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27B0"/>
                </a:solidFill>
              </a:rPr>
              <a:t>0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232904" y="133411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27B0"/>
                </a:solidFill>
              </a:rPr>
              <a:t>1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7653528" y="133411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27B0"/>
                </a:solidFill>
              </a:rPr>
              <a:t>2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8074152" y="133411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27B0"/>
                </a:solidFill>
              </a:rPr>
              <a:t>3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8494776" y="133411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27B0"/>
                </a:solidFill>
              </a:rPr>
              <a:t>4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6517843" y="1763146"/>
            <a:ext cx="210312" cy="176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27B0"/>
                </a:solidFill>
              </a:rPr>
              <a:t>0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6812280" y="1691640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812280" y="1763146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7232904" y="1691640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232904" y="1763146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7653528" y="1691640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653528" y="1763146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8074152" y="1691640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74152" y="1763146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8494776" y="1691640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494776" y="1763146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6517843" y="2183770"/>
            <a:ext cx="210312" cy="176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27B0"/>
                </a:solidFill>
              </a:rPr>
              <a:t>1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6812280" y="2112264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812280" y="2183770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7232904" y="2112264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232904" y="2183770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7653528" y="2112264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653528" y="2183770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8074152" y="2112264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074152" y="2183770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91" name="Shape 89"/>
          <p:cNvSpPr/>
          <p:nvPr/>
        </p:nvSpPr>
        <p:spPr>
          <a:xfrm>
            <a:off x="8494776" y="2112264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494776" y="2183770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93" name="Text 91"/>
          <p:cNvSpPr/>
          <p:nvPr/>
        </p:nvSpPr>
        <p:spPr>
          <a:xfrm>
            <a:off x="6517843" y="2604394"/>
            <a:ext cx="210312" cy="176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27B0"/>
                </a:solidFill>
              </a:rPr>
              <a:t>2</a:t>
            </a:r>
            <a:endParaRPr lang="en-US" sz="1050" dirty="0"/>
          </a:p>
        </p:txBody>
      </p:sp>
      <p:sp>
        <p:nvSpPr>
          <p:cNvPr id="94" name="Shape 92"/>
          <p:cNvSpPr/>
          <p:nvPr/>
        </p:nvSpPr>
        <p:spPr>
          <a:xfrm>
            <a:off x="6812280" y="2532888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812280" y="2604394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7232904" y="2532888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232904" y="2604394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98" name="Shape 96"/>
          <p:cNvSpPr/>
          <p:nvPr/>
        </p:nvSpPr>
        <p:spPr>
          <a:xfrm>
            <a:off x="7653528" y="2532888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653528" y="2604394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100" name="Shape 98"/>
          <p:cNvSpPr/>
          <p:nvPr/>
        </p:nvSpPr>
        <p:spPr>
          <a:xfrm>
            <a:off x="8074152" y="2532888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074152" y="2604394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102" name="Shape 100"/>
          <p:cNvSpPr/>
          <p:nvPr/>
        </p:nvSpPr>
        <p:spPr>
          <a:xfrm>
            <a:off x="8494776" y="2532888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494776" y="2604394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104" name="Text 102"/>
          <p:cNvSpPr/>
          <p:nvPr/>
        </p:nvSpPr>
        <p:spPr>
          <a:xfrm>
            <a:off x="6517843" y="3025018"/>
            <a:ext cx="210312" cy="176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27B0"/>
                </a:solidFill>
              </a:rPr>
              <a:t>3</a:t>
            </a:r>
            <a:endParaRPr lang="en-US" sz="1050" dirty="0"/>
          </a:p>
        </p:txBody>
      </p:sp>
      <p:sp>
        <p:nvSpPr>
          <p:cNvPr id="105" name="Shape 103"/>
          <p:cNvSpPr/>
          <p:nvPr/>
        </p:nvSpPr>
        <p:spPr>
          <a:xfrm>
            <a:off x="6812280" y="2953512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812280" y="3025018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107" name="Shape 105"/>
          <p:cNvSpPr/>
          <p:nvPr/>
        </p:nvSpPr>
        <p:spPr>
          <a:xfrm>
            <a:off x="7232904" y="2953512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232904" y="3025018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109" name="Shape 107"/>
          <p:cNvSpPr/>
          <p:nvPr/>
        </p:nvSpPr>
        <p:spPr>
          <a:xfrm>
            <a:off x="7653528" y="2953512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653528" y="3025018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111" name="Shape 109"/>
          <p:cNvSpPr/>
          <p:nvPr/>
        </p:nvSpPr>
        <p:spPr>
          <a:xfrm>
            <a:off x="8074152" y="2953512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074152" y="3025018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113" name="Shape 111"/>
          <p:cNvSpPr/>
          <p:nvPr/>
        </p:nvSpPr>
        <p:spPr>
          <a:xfrm>
            <a:off x="8494776" y="2953512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494776" y="3025018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115" name="Text 113"/>
          <p:cNvSpPr/>
          <p:nvPr/>
        </p:nvSpPr>
        <p:spPr>
          <a:xfrm>
            <a:off x="6517843" y="3445642"/>
            <a:ext cx="210312" cy="176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27B0"/>
                </a:solidFill>
              </a:rPr>
              <a:t>4</a:t>
            </a:r>
            <a:endParaRPr lang="en-US" sz="1050" dirty="0"/>
          </a:p>
        </p:txBody>
      </p:sp>
      <p:sp>
        <p:nvSpPr>
          <p:cNvPr id="116" name="Shape 114"/>
          <p:cNvSpPr/>
          <p:nvPr/>
        </p:nvSpPr>
        <p:spPr>
          <a:xfrm>
            <a:off x="6812280" y="3374136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812280" y="3445642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118" name="Shape 116"/>
          <p:cNvSpPr/>
          <p:nvPr/>
        </p:nvSpPr>
        <p:spPr>
          <a:xfrm>
            <a:off x="7232904" y="3374136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7232904" y="3445642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120" name="Shape 118"/>
          <p:cNvSpPr/>
          <p:nvPr/>
        </p:nvSpPr>
        <p:spPr>
          <a:xfrm>
            <a:off x="7653528" y="3374136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653528" y="3445642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122" name="Shape 120"/>
          <p:cNvSpPr/>
          <p:nvPr/>
        </p:nvSpPr>
        <p:spPr>
          <a:xfrm>
            <a:off x="8074152" y="3374136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074152" y="3445642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124" name="Shape 122"/>
          <p:cNvSpPr/>
          <p:nvPr/>
        </p:nvSpPr>
        <p:spPr>
          <a:xfrm>
            <a:off x="8494776" y="3374136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8494776" y="3445642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126" name="Shape 124"/>
          <p:cNvSpPr/>
          <p:nvPr/>
        </p:nvSpPr>
        <p:spPr>
          <a:xfrm>
            <a:off x="960120" y="4572000"/>
            <a:ext cx="4389120" cy="914400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097280" y="468172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Solution A</a:t>
            </a:r>
            <a:endParaRPr lang="en-US" sz="1200" dirty="0"/>
          </a:p>
        </p:txBody>
      </p:sp>
      <p:sp>
        <p:nvSpPr>
          <p:cNvPr id="128" name="Text 126"/>
          <p:cNvSpPr/>
          <p:nvPr/>
        </p:nvSpPr>
        <p:spPr>
          <a:xfrm>
            <a:off x="1097280" y="4983480"/>
            <a:ext cx="411480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Directed. It is not symmetric.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Example: A[2][3] = 1 but A[3][2] = 0.</a:t>
            </a:r>
            <a:endParaRPr lang="en-US" sz="1050" dirty="0"/>
          </a:p>
        </p:txBody>
      </p:sp>
      <p:sp>
        <p:nvSpPr>
          <p:cNvPr id="129" name="Shape 127"/>
          <p:cNvSpPr/>
          <p:nvPr/>
        </p:nvSpPr>
        <p:spPr>
          <a:xfrm>
            <a:off x="6144768" y="4572000"/>
            <a:ext cx="4389120" cy="914400"/>
          </a:xfrm>
          <a:prstGeom prst="roundRect">
            <a:avLst>
              <a:gd name="adj" fmla="val 8000"/>
            </a:avLst>
          </a:prstGeom>
          <a:solidFill>
            <a:srgbClr val="F1F8E9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6281928" y="468172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Solution B</a:t>
            </a:r>
            <a:endParaRPr lang="en-US" sz="1200" dirty="0"/>
          </a:p>
        </p:txBody>
      </p:sp>
      <p:sp>
        <p:nvSpPr>
          <p:cNvPr id="131" name="Text 129"/>
          <p:cNvSpPr/>
          <p:nvPr/>
        </p:nvSpPr>
        <p:spPr>
          <a:xfrm>
            <a:off x="6281928" y="4983480"/>
            <a:ext cx="411480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Undirected. It is symmetric.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For every A[i][j], A[j][i] has the same value.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Summary Cheat Sheet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Use the rule that matches the graph type.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143000"/>
            <a:ext cx="2743200" cy="310896"/>
          </a:xfrm>
          <a:prstGeom prst="roundRect">
            <a:avLst>
              <a:gd name="adj" fmla="val 23529"/>
            </a:avLst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216152"/>
            <a:ext cx="2596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Undirected + Unweighted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794760" y="1051560"/>
            <a:ext cx="3520440" cy="713232"/>
          </a:xfrm>
          <a:prstGeom prst="roundRect">
            <a:avLst>
              <a:gd name="adj" fmla="val 10256"/>
            </a:avLst>
          </a:prstGeom>
          <a:solidFill>
            <a:srgbClr val="F8FBFF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0" y="1161288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Matrix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0" y="1463040"/>
            <a:ext cx="324612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A[u][v] = 1; A[v][u] = 1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635240" y="1051560"/>
            <a:ext cx="3703320" cy="713232"/>
          </a:xfrm>
          <a:prstGeom prst="roundRect">
            <a:avLst>
              <a:gd name="adj" fmla="val 10256"/>
            </a:avLst>
          </a:prstGeom>
          <a:solidFill>
            <a:srgbClr val="F8FBFF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1161288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List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0" y="1463040"/>
            <a:ext cx="342900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insert v in list[u]; insert u in list[v]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2350008"/>
            <a:ext cx="2743200" cy="310896"/>
          </a:xfrm>
          <a:prstGeom prst="roundRect">
            <a:avLst>
              <a:gd name="adj" fmla="val 23529"/>
            </a:avLst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2423160"/>
            <a:ext cx="2596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Directed + Unweighted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94760" y="2258568"/>
            <a:ext cx="3520440" cy="713232"/>
          </a:xfrm>
          <a:prstGeom prst="roundRect">
            <a:avLst>
              <a:gd name="adj" fmla="val 10256"/>
            </a:avLst>
          </a:prstGeom>
          <a:solidFill>
            <a:srgbClr val="F8FBFF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0" y="2368296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Matrix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31920" y="2670048"/>
            <a:ext cx="324612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A[u][v] = 1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635240" y="2258568"/>
            <a:ext cx="3703320" cy="713232"/>
          </a:xfrm>
          <a:prstGeom prst="roundRect">
            <a:avLst>
              <a:gd name="adj" fmla="val 10256"/>
            </a:avLst>
          </a:prstGeom>
          <a:solidFill>
            <a:srgbClr val="F8FBFF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2368296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List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0" y="2670048"/>
            <a:ext cx="342900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insert v in list[u]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7240" y="3557016"/>
            <a:ext cx="2743200" cy="310896"/>
          </a:xfrm>
          <a:prstGeom prst="roundRect">
            <a:avLst>
              <a:gd name="adj" fmla="val 23529"/>
            </a:avLst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630168"/>
            <a:ext cx="2596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Directed + Weighted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794760" y="3465576"/>
            <a:ext cx="3520440" cy="713232"/>
          </a:xfrm>
          <a:prstGeom prst="roundRect">
            <a:avLst>
              <a:gd name="adj" fmla="val 10256"/>
            </a:avLst>
          </a:prstGeom>
          <a:solidFill>
            <a:srgbClr val="F8FBFF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0" y="357530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Matrix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931920" y="3877056"/>
            <a:ext cx="324612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A[u][v] = w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635240" y="3465576"/>
            <a:ext cx="3703320" cy="713232"/>
          </a:xfrm>
          <a:prstGeom prst="roundRect">
            <a:avLst>
              <a:gd name="adj" fmla="val 10256"/>
            </a:avLst>
          </a:prstGeom>
          <a:solidFill>
            <a:srgbClr val="F8FBFF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575304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List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0" y="3877056"/>
            <a:ext cx="342900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insert v(w) in list[u]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77240" y="4764024"/>
            <a:ext cx="2743200" cy="310896"/>
          </a:xfrm>
          <a:prstGeom prst="roundRect">
            <a:avLst>
              <a:gd name="adj" fmla="val 23529"/>
            </a:avLst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" y="4837176"/>
            <a:ext cx="2596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Undirected + Weighted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794760" y="4672584"/>
            <a:ext cx="3520440" cy="713232"/>
          </a:xfrm>
          <a:prstGeom prst="roundRect">
            <a:avLst>
              <a:gd name="adj" fmla="val 10256"/>
            </a:avLst>
          </a:prstGeom>
          <a:solidFill>
            <a:srgbClr val="F8FBFF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0" y="478231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Matrix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931920" y="5084064"/>
            <a:ext cx="324612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A[u][v] = w; A[v][u] = w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635240" y="4672584"/>
            <a:ext cx="3703320" cy="713232"/>
          </a:xfrm>
          <a:prstGeom prst="roundRect">
            <a:avLst>
              <a:gd name="adj" fmla="val 10256"/>
            </a:avLst>
          </a:prstGeom>
          <a:solidFill>
            <a:srgbClr val="F8FBFF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0" y="4782312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List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772400" y="5084064"/>
            <a:ext cx="342900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insert v(w) in list[u]; insert u(w) in list[v]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920240" y="598932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57400" y="609904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Final rule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057400" y="6400800"/>
            <a:ext cx="8138160" cy="-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Direction controls whether the reverse edge is added. Weight controls whether the stored value is 1 or the edge weight.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355B"/>
                </a:solidFill>
                <a:latin typeface="Aptos Display"/>
              </a:rPr>
              <a:t>Original PDF Figure: Undirected Unweighted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8580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  <a:latin typeface="Aptos"/>
              </a:rPr>
              <a:t>Figures inserted directly from the uploaded PDF.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5AA8"/>
          </a:solidFill>
          <a:ln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DEBFF"/>
          </a:solidFill>
          <a:ln>
            <a:solidFill>
              <a:srgbClr val="DD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02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72845"/>
            <a:ext cx="10835640" cy="321522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355B"/>
                </a:solidFill>
                <a:latin typeface="Aptos Display"/>
              </a:rPr>
              <a:t>Original PDF Figure: Undirected Matrix +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8580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  <a:latin typeface="Aptos"/>
              </a:rPr>
              <a:t>Figures inserted directly from the uploaded PDF.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5AA8"/>
          </a:solidFill>
          <a:ln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DEBFF"/>
          </a:solidFill>
          <a:ln>
            <a:solidFill>
              <a:srgbClr val="DD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04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06413"/>
            <a:ext cx="10835640" cy="274809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355B"/>
                </a:solidFill>
                <a:latin typeface="Aptos Display"/>
              </a:rPr>
              <a:t>Original PDF Figure: Directed Unweighted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8580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  <a:latin typeface="Aptos"/>
              </a:rPr>
              <a:t>Figures inserted directly from the uploaded PDF.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5AA8"/>
          </a:solidFill>
          <a:ln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DEBFF"/>
          </a:solidFill>
          <a:ln>
            <a:solidFill>
              <a:srgbClr val="DD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06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99402"/>
            <a:ext cx="10835640" cy="496211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355B"/>
                </a:solidFill>
                <a:latin typeface="Aptos Display"/>
              </a:rPr>
              <a:t>Original PDF Figures: Weighted Matrices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8580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  <a:latin typeface="Aptos"/>
              </a:rPr>
              <a:t>Figures inserted directly from the uploaded PDF.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5AA8"/>
          </a:solidFill>
          <a:ln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DEBFF"/>
          </a:solidFill>
          <a:ln>
            <a:solidFill>
              <a:srgbClr val="DD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7840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2355B"/>
                </a:solidFill>
                <a:latin typeface="Aptos"/>
              </a:rPr>
              <a:t>Directed weighted</a:t>
            </a:r>
          </a:p>
        </p:txBody>
      </p:sp>
      <p:pic>
        <p:nvPicPr>
          <p:cNvPr id="7" name="Picture 6" descr="p09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32362"/>
            <a:ext cx="5212080" cy="160475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63640" y="97840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2355B"/>
                </a:solidFill>
                <a:latin typeface="Aptos"/>
              </a:rPr>
              <a:t>Undirected weighted</a:t>
            </a:r>
          </a:p>
        </p:txBody>
      </p:sp>
      <p:pic>
        <p:nvPicPr>
          <p:cNvPr id="9" name="Picture 8" descr="p12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785915"/>
            <a:ext cx="5212080" cy="169764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355B"/>
                </a:solidFill>
                <a:latin typeface="Aptos Display"/>
              </a:rPr>
              <a:t>Original PDF Figure: Undirected Adjacency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8580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  <a:latin typeface="Aptos"/>
              </a:rPr>
              <a:t>Figures inserted directly from the uploaded PDF.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5AA8"/>
          </a:solidFill>
          <a:ln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DEBFF"/>
          </a:solidFill>
          <a:ln>
            <a:solidFill>
              <a:srgbClr val="DD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04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06413"/>
            <a:ext cx="10835640" cy="274809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355B"/>
                </a:solidFill>
                <a:latin typeface="Aptos Display"/>
              </a:rPr>
              <a:t>Original PDF Figures: Directed Adjacency Lists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8580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  <a:latin typeface="Aptos"/>
              </a:rPr>
              <a:t>Figures inserted directly from the uploaded PDF.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5AA8"/>
          </a:solidFill>
          <a:ln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DEBFF"/>
          </a:solidFill>
          <a:ln>
            <a:solidFill>
              <a:srgbClr val="DD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7840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2355B"/>
                </a:solidFill>
                <a:latin typeface="Aptos"/>
              </a:rPr>
              <a:t>Directed unweighted list</a:t>
            </a:r>
          </a:p>
        </p:txBody>
      </p:sp>
      <p:pic>
        <p:nvPicPr>
          <p:cNvPr id="7" name="Picture 6" descr="p19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31720"/>
            <a:ext cx="5212080" cy="2606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63640" y="97840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2355B"/>
                </a:solidFill>
                <a:latin typeface="Aptos"/>
              </a:rPr>
              <a:t>Directed weighted list</a:t>
            </a:r>
          </a:p>
        </p:txBody>
      </p:sp>
      <p:pic>
        <p:nvPicPr>
          <p:cNvPr id="9" name="Picture 8" descr="p22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368336"/>
            <a:ext cx="5212080" cy="25328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L19 Graph - Editable Java Codes and Visualizations</dc:title>
  <dc:subject>Graph representations - adjacency matrix and adjacency list</dc:subject>
  <dc:creator>OpenAI</dc:creator>
  <cp:lastModifiedBy>OpenAI</cp:lastModifiedBy>
  <cp:revision>1</cp:revision>
  <dcterms:created xsi:type="dcterms:W3CDTF">2026-08-18T06:55:44Z</dcterms:created>
  <dcterms:modified xsi:type="dcterms:W3CDTF">2026-08-18T06:55:44Z</dcterms:modified>
</cp:coreProperties>
</file>