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HM+YsccfX+LxQfGdMfcpkaF4h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0040" y="109728"/>
            <a:ext cx="11567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2A6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72A66"/>
                </a:solidFill>
                <a:latin typeface="Arial"/>
                <a:ea typeface="Arial"/>
                <a:cs typeface="Arial"/>
                <a:sym typeface="Arial"/>
              </a:rPr>
              <a:t>SELF-LOOP IN A GRAPH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411480" y="676656"/>
            <a:ext cx="1138428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66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411480" y="896112"/>
            <a:ext cx="11384280" cy="1005840"/>
          </a:xfrm>
          <a:prstGeom prst="roundRect">
            <a:avLst>
              <a:gd fmla="val 16667" name="adj"/>
            </a:avLst>
          </a:prstGeom>
          <a:solidFill>
            <a:srgbClr val="FFF5D6"/>
          </a:solidFill>
          <a:ln cap="flat" cmpd="sng" w="15225">
            <a:solidFill>
              <a:srgbClr val="E5A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21792" y="1115568"/>
            <a:ext cx="201168" cy="201168"/>
          </a:xfrm>
          <a:prstGeom prst="diamond">
            <a:avLst/>
          </a:prstGeom>
          <a:solidFill>
            <a:srgbClr val="072A66"/>
          </a:solidFill>
          <a:ln cap="flat" cmpd="sng" w="12700">
            <a:solidFill>
              <a:srgbClr val="072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14400" y="98755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self-loop</a:t>
            </a: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in a graph is an edge that </a:t>
            </a:r>
            <a:r>
              <a:rPr b="1" i="0" lang="en-US" sz="2100" u="sng" cap="none" strike="noStrike">
                <a:solidFill>
                  <a:srgbClr val="111111"/>
                </a:solidFill>
              </a:rPr>
              <a:t>starts and ends</a:t>
            </a: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at the </a:t>
            </a:r>
            <a:r>
              <a:rPr b="1" i="0" lang="en-US" sz="2100" u="sng" cap="none" strike="noStrike">
                <a:solidFill>
                  <a:srgbClr val="111111"/>
                </a:solidFill>
              </a:rPr>
              <a:t>same vertex</a:t>
            </a: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It is an edge of the form </a:t>
            </a:r>
            <a:r>
              <a:rPr b="1" i="0" lang="en-US" sz="21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(v, v)</a:t>
            </a:r>
            <a:r>
              <a:rPr b="0" i="0" lang="en-U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2148840"/>
            <a:ext cx="3886200" cy="43708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70B3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225296" y="2221992"/>
            <a:ext cx="2331720" cy="347472"/>
          </a:xfrm>
          <a:prstGeom prst="roundRect">
            <a:avLst>
              <a:gd fmla="val 16667" name="adj"/>
            </a:avLst>
          </a:prstGeom>
          <a:solidFill>
            <a:srgbClr val="EAF7EA"/>
          </a:solidFill>
          <a:ln cap="flat" cmpd="sng" w="1522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225296" y="224485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EXAMPLE GRAPH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1874520" y="3749040"/>
            <a:ext cx="150876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66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572768" y="4050792"/>
            <a:ext cx="0" cy="1179576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66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>
            <a:off x="3685032" y="4050792"/>
            <a:ext cx="0" cy="1179576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66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1874520" y="5532120"/>
            <a:ext cx="150876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66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>
            <a:off x="1801368" y="3977640"/>
            <a:ext cx="1655064" cy="132588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66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792724" y="2889478"/>
            <a:ext cx="1063500" cy="1005900"/>
          </a:xfrm>
          <a:custGeom>
            <a:rect b="b" l="l" r="r" t="t"/>
            <a:pathLst>
              <a:path extrusionOk="0" h="120000" w="120000">
                <a:moveTo>
                  <a:pt x="48844" y="111320"/>
                </a:moveTo>
                <a:cubicBezTo>
                  <a:pt x="23694" y="105936"/>
                  <a:pt x="6093" y="83378"/>
                  <a:pt x="7137" y="57868"/>
                </a:cubicBezTo>
                <a:cubicBezTo>
                  <a:pt x="8182" y="32358"/>
                  <a:pt x="27570" y="11292"/>
                  <a:pt x="53077" y="7951"/>
                </a:cubicBezTo>
                <a:cubicBezTo>
                  <a:pt x="78585" y="4611"/>
                  <a:pt x="102816" y="19964"/>
                  <a:pt x="110495" y="44332"/>
                </a:cubicBezTo>
                <a:lnTo>
                  <a:pt x="117133" y="44332"/>
                </a:lnTo>
                <a:lnTo>
                  <a:pt x="105812" y="60000"/>
                </a:lnTo>
                <a:lnTo>
                  <a:pt x="88758" y="44332"/>
                </a:lnTo>
                <a:lnTo>
                  <a:pt x="95177" y="44332"/>
                </a:lnTo>
                <a:cubicBezTo>
                  <a:pt x="87559" y="28289"/>
                  <a:pt x="69418" y="19567"/>
                  <a:pt x="51619" y="23389"/>
                </a:cubicBezTo>
                <a:cubicBezTo>
                  <a:pt x="33819" y="27212"/>
                  <a:pt x="21185" y="42543"/>
                  <a:pt x="21282" y="60200"/>
                </a:cubicBezTo>
                <a:cubicBezTo>
                  <a:pt x="21379" y="77858"/>
                  <a:pt x="34182" y="93058"/>
                  <a:pt x="52023" y="96695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cap="flat" cmpd="sng" w="317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1"/>
          <p:cNvCxnSpPr/>
          <p:nvPr/>
        </p:nvCxnSpPr>
        <p:spPr>
          <a:xfrm flipH="1" rot="10800000">
            <a:off x="804672" y="3749040"/>
            <a:ext cx="256032" cy="2286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" name="Google Shape;31;p1"/>
          <p:cNvSpPr/>
          <p:nvPr/>
        </p:nvSpPr>
        <p:spPr>
          <a:xfrm>
            <a:off x="105139" y="4114825"/>
            <a:ext cx="1655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Self-loop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at 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271016" y="3447288"/>
            <a:ext cx="603504" cy="603504"/>
          </a:xfrm>
          <a:prstGeom prst="ellipse">
            <a:avLst/>
          </a:prstGeom>
          <a:solidFill>
            <a:srgbClr val="F1FFF0"/>
          </a:solidFill>
          <a:ln cap="flat" cmpd="sng" w="304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271016" y="3483864"/>
            <a:ext cx="6035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383280" y="3447288"/>
            <a:ext cx="603504" cy="603504"/>
          </a:xfrm>
          <a:prstGeom prst="ellipse">
            <a:avLst/>
          </a:prstGeom>
          <a:solidFill>
            <a:srgbClr val="F1FFF0"/>
          </a:solidFill>
          <a:ln cap="flat" cmpd="sng" w="304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3383280" y="3483864"/>
            <a:ext cx="6035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271016" y="5230368"/>
            <a:ext cx="603504" cy="603504"/>
          </a:xfrm>
          <a:prstGeom prst="ellipse">
            <a:avLst/>
          </a:prstGeom>
          <a:solidFill>
            <a:srgbClr val="F1FFF0"/>
          </a:solidFill>
          <a:ln cap="flat" cmpd="sng" w="304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1271016" y="5266944"/>
            <a:ext cx="6035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383280" y="5230368"/>
            <a:ext cx="603504" cy="603504"/>
          </a:xfrm>
          <a:prstGeom prst="ellipse">
            <a:avLst/>
          </a:prstGeom>
          <a:solidFill>
            <a:srgbClr val="F1FFF0"/>
          </a:solidFill>
          <a:ln cap="flat" cmpd="sng" w="304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3383280" y="5266944"/>
            <a:ext cx="6035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40080" y="61081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Edges: (A,A), (A,B), (A,C), (A,D), (B,D), (C,D)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5074920" y="2029968"/>
            <a:ext cx="3730752" cy="347472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5225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5074920" y="2052828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681728" y="2523744"/>
            <a:ext cx="749808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4681728" y="2546604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431536" y="2523744"/>
            <a:ext cx="941832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5431536" y="2546604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373368" y="2523744"/>
            <a:ext cx="941832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6373368" y="2546604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7315200" y="2523744"/>
            <a:ext cx="941832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7315200" y="2546604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8257032" y="2523744"/>
            <a:ext cx="941832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8257032" y="2546604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4681728" y="2953512"/>
            <a:ext cx="749808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4681728" y="2976372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431536" y="2953512"/>
            <a:ext cx="941832" cy="429768"/>
          </a:xfrm>
          <a:prstGeom prst="rect">
            <a:avLst/>
          </a:prstGeom>
          <a:solidFill>
            <a:srgbClr val="FFEAEA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5431536" y="2976372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6373368" y="2953512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6373368" y="2976372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7315200" y="2953512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7315200" y="2976372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8257032" y="2953512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8257032" y="2976372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681728" y="3383280"/>
            <a:ext cx="749808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4681728" y="340614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5431536" y="3383280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5431536" y="3406140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6373368" y="3383280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6373368" y="3406140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7315200" y="3383280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7315200" y="3406140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8257032" y="3383280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8257032" y="3406140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4681728" y="3813048"/>
            <a:ext cx="749808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4681728" y="3835908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5431536" y="3813048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5431536" y="3835908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6373368" y="3813048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6373368" y="3835908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7315200" y="3813048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7315200" y="3835908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8257032" y="3813048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8257032" y="3835908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4681728" y="4242816"/>
            <a:ext cx="749808" cy="429768"/>
          </a:xfrm>
          <a:prstGeom prst="rect">
            <a:avLst/>
          </a:prstGeom>
          <a:solidFill>
            <a:srgbClr val="F7FA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4681728" y="4265676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431536" y="4242816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5431536" y="4265676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373368" y="4242816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373368" y="4265676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315200" y="4242816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315200" y="4265676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257032" y="4242816"/>
            <a:ext cx="941832" cy="429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8257032" y="4265676"/>
            <a:ext cx="941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9372600" y="2514600"/>
            <a:ext cx="2514600" cy="19202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5225">
            <a:solidFill>
              <a:srgbClr val="7AA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9564624" y="2697480"/>
            <a:ext cx="2066544" cy="1490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 a self-loop at vertex A, the matrix entry (A, A) is 1.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So, row A and column A are highlighted.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074920" y="4873752"/>
            <a:ext cx="3730752" cy="347472"/>
          </a:xfrm>
          <a:prstGeom prst="roundRect">
            <a:avLst>
              <a:gd fmla="val 16667" name="adj"/>
            </a:avLst>
          </a:prstGeom>
          <a:solidFill>
            <a:srgbClr val="F2ECFF"/>
          </a:solidFill>
          <a:ln cap="flat" cmpd="sng" w="15225">
            <a:solidFill>
              <a:srgbClr val="5E3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5074920" y="4896612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681728" y="5330952"/>
            <a:ext cx="685800" cy="265176"/>
          </a:xfrm>
          <a:prstGeom prst="rect">
            <a:avLst/>
          </a:prstGeom>
          <a:solidFill>
            <a:srgbClr val="F7F2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4681728" y="5353812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5367528" y="5330952"/>
            <a:ext cx="68580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5367528" y="5353812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6053328" y="5330952"/>
            <a:ext cx="3154680" cy="265176"/>
          </a:xfrm>
          <a:prstGeom prst="rect">
            <a:avLst/>
          </a:prstGeom>
          <a:solidFill>
            <a:srgbClr val="FFF7F7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6053328" y="5353812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900"/>
              <a:buFont typeface="Arial"/>
              <a:buNone/>
            </a:pPr>
            <a:r>
              <a:rPr i="0" lang="en-US" sz="1900" u="none" cap="none" strike="noStrike">
                <a:solidFill>
                  <a:schemeClr val="dk1"/>
                </a:solidFill>
              </a:rPr>
              <a:t>{ </a:t>
            </a:r>
            <a:r>
              <a:rPr b="1" i="0" lang="en-US" sz="1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A, </a:t>
            </a:r>
            <a:r>
              <a:rPr i="0" lang="en-US" sz="1900" u="none" cap="none" strike="noStrike">
                <a:solidFill>
                  <a:schemeClr val="dk1"/>
                </a:solidFill>
              </a:rPr>
              <a:t>B, C, D }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681728" y="5596128"/>
            <a:ext cx="685800" cy="265176"/>
          </a:xfrm>
          <a:prstGeom prst="rect">
            <a:avLst/>
          </a:prstGeom>
          <a:solidFill>
            <a:srgbClr val="F7F2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4681728" y="561898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367528" y="5596128"/>
            <a:ext cx="68580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5367528" y="561898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053328" y="5596128"/>
            <a:ext cx="31546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6053328" y="5618988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D }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4681728" y="5861304"/>
            <a:ext cx="685800" cy="265176"/>
          </a:xfrm>
          <a:prstGeom prst="rect">
            <a:avLst/>
          </a:prstGeom>
          <a:solidFill>
            <a:srgbClr val="F7F2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4681728" y="5884164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5367528" y="5861304"/>
            <a:ext cx="68580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5367528" y="5884164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6053328" y="5861304"/>
            <a:ext cx="31546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"/>
          <p:cNvSpPr/>
          <p:nvPr/>
        </p:nvSpPr>
        <p:spPr>
          <a:xfrm>
            <a:off x="6053328" y="5884164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D }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4681728" y="6126480"/>
            <a:ext cx="685800" cy="265176"/>
          </a:xfrm>
          <a:prstGeom prst="rect">
            <a:avLst/>
          </a:prstGeom>
          <a:solidFill>
            <a:srgbClr val="F7F2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4681728" y="6149340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5367528" y="6126480"/>
            <a:ext cx="68580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5367528" y="6149340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6053328" y="6126480"/>
            <a:ext cx="3154680" cy="265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6053328" y="6149340"/>
            <a:ext cx="3154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B, C }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9372600" y="5074920"/>
            <a:ext cx="2514600" cy="1444752"/>
          </a:xfrm>
          <a:prstGeom prst="roundRect">
            <a:avLst>
              <a:gd fmla="val 16667" name="adj"/>
            </a:avLst>
          </a:prstGeom>
          <a:solidFill>
            <a:srgbClr val="FCFAFF"/>
          </a:solidFill>
          <a:ln cap="flat" cmpd="sng" w="15225">
            <a:solidFill>
              <a:srgbClr val="A789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9564624" y="5285232"/>
            <a:ext cx="206654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 the adjacency list, </a:t>
            </a:r>
            <a:b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self-loop at A is represented by including A in its own list.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2026-09-03T07:21:15Z</dcterms:created>
  <dc:creator>OpenAI</dc:creator>
</cp:coreProperties>
</file>