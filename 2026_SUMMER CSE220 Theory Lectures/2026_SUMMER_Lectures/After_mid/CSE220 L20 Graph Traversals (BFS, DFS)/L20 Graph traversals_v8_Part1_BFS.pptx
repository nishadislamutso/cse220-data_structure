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3244850" cx="5765800"/>
  <p:notesSz cx="5765800" cy="3244850"/>
  <p:embeddedFontLst>
    <p:embeddedFont>
      <p:font typeface="Tahoma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jCgmthrWeeZt2zPsuiTxq6zE8H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089CA7-8A9E-4BA0-BFF6-A5B93BD0AE37}">
  <a:tblStyle styleId="{3A089CA7-8A9E-4BA0-BFF6-A5B93BD0AE3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Tahoma-bold.fntdata"/><Relationship Id="rId41" Type="http://schemas.openxmlformats.org/officeDocument/2006/relationships/font" Target="fonts/Tahoma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53f12814cb_0_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g353f12814cb_0_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34c850ebf_1_74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g3534c850ebf_1_74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83d757685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583d757685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48eb498df_0_5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548eb498df_0_5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3f12814cb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53f12814cb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34c850ebf_1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534c850ebf_1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34c850ebf_2_43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534c850ebf_2_43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34c850ebf_1_51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534c850ebf_1_51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34c850ebf_1_61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534c850ebf_1_61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34c850ebf_1_62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534c850ebf_1_62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34c850ebf_1_63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534c850ebf_1_63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34c850ebf_1_63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534c850ebf_1_63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34c850ebf_1_65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534c850ebf_1_65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34c850ebf_1_66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534c850ebf_1_66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34c850ebf_1_67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534c850ebf_1_67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34c850ebf_1_69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534c850ebf_1_69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34c850ebf_1_9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534c850ebf_1_9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34c850ebf_1_70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534c850ebf_1_70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34c850ebf_1_71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3534c850ebf_1_711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34c850ebf_2_45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534c850ebf_2_453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34c850ebf_2_46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534c850ebf_2_464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5483448d0_1_2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85483448d0_1_2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34c850ebf_1_57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534c850ebf_1_57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5483448d0_0_1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g385483448d0_0_1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69fe56b07_0_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e69fe56b07_0_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69fe56b07_0_1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g3e69fe56b07_0_1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34c850ebf_1_49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534c850ebf_1_49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35e628fd5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g3535e628fd5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853c110563_0_2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g3853c110563_0_2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" type="body"/>
          </p:nvPr>
        </p:nvSpPr>
        <p:spPr>
          <a:xfrm>
            <a:off x="249504" y="628650"/>
            <a:ext cx="5266791" cy="1161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ctrTitle"/>
          </p:nvPr>
        </p:nvSpPr>
        <p:spPr>
          <a:xfrm>
            <a:off x="1434846" y="161036"/>
            <a:ext cx="2867025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subTitle"/>
          </p:nvPr>
        </p:nvSpPr>
        <p:spPr>
          <a:xfrm>
            <a:off x="86664" y="2450693"/>
            <a:ext cx="469455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6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" type="body"/>
          </p:nvPr>
        </p:nvSpPr>
        <p:spPr>
          <a:xfrm>
            <a:off x="249504" y="628650"/>
            <a:ext cx="5266791" cy="1161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jp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jpg"/><Relationship Id="rId4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jpg"/><Relationship Id="rId4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jp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visualgo.net/en/dfsbfs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>
            <p:ph type="title"/>
          </p:nvPr>
        </p:nvSpPr>
        <p:spPr>
          <a:xfrm>
            <a:off x="1054100" y="1089025"/>
            <a:ext cx="3840479" cy="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452"/>
              </a:buClr>
              <a:buSzPts val="1800"/>
              <a:buFont typeface="Tahoma"/>
              <a:buNone/>
            </a:pPr>
            <a:r>
              <a:rPr b="0" i="0" lang="en-US" sz="1800" u="none" strike="noStrike">
                <a:solidFill>
                  <a:srgbClr val="3C4452"/>
                </a:solidFill>
                <a:latin typeface="Tahoma"/>
                <a:ea typeface="Tahoma"/>
                <a:cs typeface="Tahoma"/>
                <a:sym typeface="Tahoma"/>
              </a:rPr>
              <a:t>Lecture: Graph Traversals (BFS, DFS)</a:t>
            </a:r>
            <a:endParaRPr sz="2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/>
        </p:nvSpPr>
        <p:spPr>
          <a:xfrm>
            <a:off x="2031351" y="56961"/>
            <a:ext cx="1703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Graph traversals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248350" y="331450"/>
            <a:ext cx="53700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 Traversal Purpose</a:t>
            </a: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 graph G=(V,E) and a starting vertex 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Visit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vertex v∈V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exactly once</a:t>
            </a:r>
            <a:endParaRPr b="1" i="0" sz="1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Difference from Trees: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Graphs may contain cycles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risk of infinite recursion.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Graphs may be disconnected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not all vertices are reachable from one source.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7525" y="1809775"/>
            <a:ext cx="2437882" cy="13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650" y="1809775"/>
            <a:ext cx="1996946" cy="12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3f12814cb_0_7"/>
          <p:cNvSpPr txBox="1"/>
          <p:nvPr/>
        </p:nvSpPr>
        <p:spPr>
          <a:xfrm>
            <a:off x="2031351" y="56961"/>
            <a:ext cx="1703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Graph traversals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" name="Google Shape;58;g353f12814cb_0_7"/>
          <p:cNvSpPr txBox="1"/>
          <p:nvPr/>
        </p:nvSpPr>
        <p:spPr>
          <a:xfrm>
            <a:off x="112400" y="331450"/>
            <a:ext cx="5594400" cy="26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Difference from Trees: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may contain cycles</a:t>
            </a:r>
            <a:r>
              <a:rPr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→ 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 lead to infinite recursion or repeated traversal. </a:t>
            </a:r>
            <a:endParaRPr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Solution: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Use a </a:t>
            </a:r>
            <a:r>
              <a:rPr lang="en-US" sz="10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visited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array/list to keep track of vertices that have already been visited or added to the stack/queue. </a:t>
            </a:r>
            <a:b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may be disconnected</a:t>
            </a:r>
            <a:r>
              <a:rPr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→ 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→ not all vertices are reachable from a single source vertex. </a:t>
            </a:r>
            <a:b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Solution: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graph representation (adjacency matrix/list) stores information about</a:t>
            </a:r>
            <a:r>
              <a:rPr b="1" lang="en-US" sz="10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all vertices and edges,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allowing traversal to restart from unvisited vertices if needed. </a:t>
            </a:r>
            <a:endParaRPr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9" name="Google Shape;59;g353f12814cb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0552" y="1042650"/>
            <a:ext cx="1921350" cy="108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g353f12814cb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300" y="1233875"/>
            <a:ext cx="1249650" cy="77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34c850ebf_1_742"/>
          <p:cNvSpPr txBox="1"/>
          <p:nvPr/>
        </p:nvSpPr>
        <p:spPr>
          <a:xfrm>
            <a:off x="2031351" y="56961"/>
            <a:ext cx="1703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Graph traversals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" name="Google Shape;66;g3534c850ebf_1_742"/>
          <p:cNvSpPr txBox="1"/>
          <p:nvPr/>
        </p:nvSpPr>
        <p:spPr>
          <a:xfrm>
            <a:off x="73625" y="355925"/>
            <a:ext cx="443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common graph traversal algorithms: BFS &amp; DFS</a:t>
            </a:r>
            <a:endParaRPr b="1" i="0" sz="11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" name="Google Shape;67;g3534c850ebf_1_742"/>
          <p:cNvGraphicFramePr/>
          <p:nvPr/>
        </p:nvGraphicFramePr>
        <p:xfrm>
          <a:off x="73625" y="68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{3A089CA7-8A9E-4BA0-BFF6-A5B93BD0AE37}</a:tableStyleId>
              </a:tblPr>
              <a:tblGrid>
                <a:gridCol w="2367225"/>
                <a:gridCol w="3251325"/>
              </a:tblGrid>
              <a:tr h="139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Breadth-First Search (BFS)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36525" lvl="0" marL="114300" marR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●"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Start with the </a:t>
                      </a: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source vertex [always]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36525" lvl="0" marL="1143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●"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Explores </a:t>
                      </a: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breadth-first (level-wise)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07950" lvl="0" marL="314325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●"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isit</a:t>
                      </a:r>
                      <a:r>
                        <a:rPr lang="en-US" sz="8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all neighbors at the </a:t>
                      </a:r>
                      <a:r>
                        <a:rPr b="1" lang="en-US" sz="8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current level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b="1" lang="en-US" sz="800" u="none" cap="none" strike="noStrike">
                          <a:solidFill>
                            <a:srgbClr val="99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before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800" u="sng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moving to the next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</a:t>
                      </a:r>
                      <a:r>
                        <a:rPr lang="en-US" sz="8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br>
                        <a:rPr lang="en-US" sz="8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</a:br>
                      <a:r>
                        <a:rPr lang="en-US" sz="8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lang="en-US" sz="800" u="sng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Similar to ripple effect in water</a:t>
                      </a:r>
                      <a:r>
                        <a:rPr lang="en-US" sz="8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]</a:t>
                      </a:r>
                      <a:endParaRPr sz="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36525" lvl="0" marL="1143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ahoma"/>
                        <a:buChar char="●"/>
                      </a:pPr>
                      <a:r>
                        <a:rPr lang="en-US" sz="800" u="sng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Uses Queue (FIFO)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Depth-First Search (DFS)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36525" lvl="0" marL="142875" marR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●"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Start with the </a:t>
                      </a: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source vertex [always]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36525" lvl="0" marL="142875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ahoma"/>
                        <a:buChar char="●"/>
                      </a:pPr>
                      <a:r>
                        <a:rPr lang="en-US" sz="800" u="sng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Explores </a:t>
                      </a:r>
                      <a:r>
                        <a:rPr b="1" lang="en-US" sz="800" u="sng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depth-first,</a:t>
                      </a:r>
                      <a:r>
                        <a:rPr lang="en-US" sz="800" u="sng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following one path as far as possible before backtracking when </a:t>
                      </a:r>
                      <a:r>
                        <a:rPr b="1" lang="en-US" sz="800" u="sng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all neighboring nodes have been visited (no further choices remain).</a:t>
                      </a:r>
                      <a:endParaRPr b="1" sz="800" u="sng" cap="none" strike="noStrike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36525" lvl="0" marL="142875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ahoma"/>
                        <a:buChar char="●"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Recursively visit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each neighbor </a:t>
                      </a:r>
                      <a:r>
                        <a:rPr b="1" lang="en-US" sz="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b="1" lang="en-US" sz="800" u="sng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Recursive call stack</a:t>
                      </a:r>
                      <a:r>
                        <a:rPr b="1" lang="en-US" sz="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36525" lvl="0" marL="142875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ahoma"/>
                        <a:buChar char="●"/>
                      </a:pPr>
                      <a:r>
                        <a:rPr lang="en-US" sz="800" u="sng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Uses Stack (LIFO)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68" name="Google Shape;68;g3534c850ebf_1_742" title="rippl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126" y="2300550"/>
            <a:ext cx="1184325" cy="8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534c850ebf_1_742" title="maz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3250" y="2300550"/>
            <a:ext cx="2254245" cy="8556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534c850ebf_1_742"/>
          <p:cNvSpPr txBox="1"/>
          <p:nvPr/>
        </p:nvSpPr>
        <p:spPr>
          <a:xfrm>
            <a:off x="3519750" y="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(Important!!!)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83d757685_0_0"/>
          <p:cNvSpPr txBox="1"/>
          <p:nvPr/>
        </p:nvSpPr>
        <p:spPr>
          <a:xfrm>
            <a:off x="68500" y="653575"/>
            <a:ext cx="56064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Alphabetical options: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>
                <a:solidFill>
                  <a:schemeClr val="dk1"/>
                </a:solidFill>
              </a:rPr>
              <a:t>Follow alphabetical order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Numerical options: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Follow stated order (ascending/descending).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order given / mentioned: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 any option (any neighboring node you want).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rgbClr val="990000"/>
                </a:solidFill>
              </a:rPr>
              <a:t>Always follow the traversal order specified in the question.</a:t>
            </a:r>
            <a:br>
              <a:rPr lang="en-US" sz="1300" u="sng">
                <a:solidFill>
                  <a:srgbClr val="990000"/>
                </a:solidFill>
              </a:rPr>
            </a:br>
            <a:r>
              <a:rPr lang="en-US" sz="1600" u="sng">
                <a:solidFill>
                  <a:srgbClr val="990000"/>
                </a:solidFill>
              </a:rPr>
              <a:t>[Failure to follow the specified order will result in no marks.]</a:t>
            </a:r>
            <a:endParaRPr sz="1600" u="sng">
              <a:solidFill>
                <a:srgbClr val="99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" name="Google Shape;76;g3583d757685_0_0"/>
          <p:cNvSpPr txBox="1"/>
          <p:nvPr/>
        </p:nvSpPr>
        <p:spPr>
          <a:xfrm>
            <a:off x="1254875" y="3043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583d757685_0_0"/>
          <p:cNvSpPr txBox="1"/>
          <p:nvPr/>
        </p:nvSpPr>
        <p:spPr>
          <a:xfrm>
            <a:off x="1172875" y="272350"/>
            <a:ext cx="37458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Vertex Selection Rules in Traversal</a:t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525" y="357975"/>
            <a:ext cx="2739350" cy="275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 txBox="1"/>
          <p:nvPr/>
        </p:nvSpPr>
        <p:spPr>
          <a:xfrm>
            <a:off x="1368500" y="0"/>
            <a:ext cx="2807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 first search (BFS) </a:t>
            </a:r>
            <a:endParaRPr b="0" i="0" sz="14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2905450" y="357975"/>
            <a:ext cx="2807400" cy="11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1" lang="en-US" sz="11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b="0" i="0" lang="en-US" sz="11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b="0" i="1" lang="en-US" sz="11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0" lang="en-US" sz="11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</a:t>
            </a: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distance from source</a:t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Char char="●"/>
            </a:pPr>
            <a:r>
              <a:rPr b="0" i="1" lang="en-US" sz="1100" u="none" cap="none" strike="noStrike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π</a:t>
            </a:r>
            <a:r>
              <a:rPr b="0" i="0" lang="en-US" sz="11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b="0" i="1" lang="en-US" sz="11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0" lang="en-US" sz="11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] or </a:t>
            </a:r>
            <a:r>
              <a:rPr b="0" i="1" lang="en-US" sz="1100" u="none" cap="none" strike="noStrike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</a:t>
            </a:r>
            <a:r>
              <a:rPr b="0" i="0" lang="en-US" sz="11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b="0" i="1" lang="en-US" sz="11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0" lang="en-US" sz="11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</a:t>
            </a: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predecessor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u</a:t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48eb498df_0_57"/>
          <p:cNvSpPr txBox="1"/>
          <p:nvPr/>
        </p:nvSpPr>
        <p:spPr>
          <a:xfrm>
            <a:off x="2104404" y="161025"/>
            <a:ext cx="20718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 first search (BFS)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" name="Google Shape;90;g3548eb498df_0_57"/>
          <p:cNvSpPr txBox="1"/>
          <p:nvPr/>
        </p:nvSpPr>
        <p:spPr>
          <a:xfrm>
            <a:off x="391750" y="677875"/>
            <a:ext cx="51552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during traversal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7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b="0" i="1" lang="en-US" sz="13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color </a:t>
            </a:r>
            <a:r>
              <a:rPr b="0" i="0" lang="en-US" sz="13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b="0" i="1" lang="en-US" sz="13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13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color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each vertex visited (</a:t>
            </a:r>
            <a:r>
              <a:rPr b="0" i="0" lang="en-US" sz="13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skipping visited nodes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○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white: </a:t>
            </a:r>
            <a:r>
              <a:rPr b="0" i="0" lang="en-US" sz="1200" u="none" cap="none" strike="noStrike">
                <a:solidFill>
                  <a:srgbClr val="3C7F31"/>
                </a:solidFill>
                <a:latin typeface="Calibri"/>
                <a:ea typeface="Calibri"/>
                <a:cs typeface="Calibri"/>
                <a:sym typeface="Calibri"/>
              </a:rPr>
              <a:t>undiscovered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5765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○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gray: </a:t>
            </a:r>
            <a:r>
              <a:rPr b="0" i="0" lang="en-US" sz="1200" u="none" cap="none" strike="noStrike">
                <a:solidFill>
                  <a:srgbClr val="3C7F31"/>
                </a:solidFill>
                <a:latin typeface="Calibri"/>
                <a:ea typeface="Calibri"/>
                <a:cs typeface="Calibri"/>
                <a:sym typeface="Calibri"/>
              </a:rPr>
              <a:t>discovered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not finished processing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5765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○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black: </a:t>
            </a:r>
            <a:r>
              <a:rPr b="0" i="0" lang="en-US" sz="1200" u="none" cap="none" strike="noStrike">
                <a:solidFill>
                  <a:srgbClr val="3C7F31"/>
                </a:solidFill>
                <a:latin typeface="Calibri"/>
                <a:ea typeface="Calibri"/>
                <a:cs typeface="Calibri"/>
                <a:sym typeface="Calibri"/>
              </a:rPr>
              <a:t>finished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0" i="1" lang="en-US" sz="1300" u="none" cap="none" strike="noStrike">
                <a:solidFill>
                  <a:srgbClr val="0000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π</a:t>
            </a:r>
            <a:r>
              <a:rPr b="0" i="0" lang="en-US" sz="1300" u="none" cap="none" strike="noStrike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b="0" i="1" lang="en-US" sz="13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 or </a:t>
            </a:r>
            <a:r>
              <a:rPr b="0" i="1" lang="en-US" sz="1300" u="none" cap="none" strike="noStrike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</a:t>
            </a:r>
            <a:r>
              <a:rPr b="0" i="0" lang="en-US" sz="13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b="0" i="1" lang="en-US" sz="13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0" lang="en-US" sz="13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the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predecessor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u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0" i="1" lang="en-US" sz="13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b="0" i="1" lang="en-US" sz="13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the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distance from source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3f12814cb_0_0"/>
          <p:cNvSpPr txBox="1"/>
          <p:nvPr/>
        </p:nvSpPr>
        <p:spPr>
          <a:xfrm>
            <a:off x="988900" y="99800"/>
            <a:ext cx="4068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 first search (BFS)</a:t>
            </a:r>
            <a:endParaRPr b="0" i="0" sz="14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6" name="Google Shape;96;g353f12814cb_0_0" title="BFS_with_color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200" y="444475"/>
            <a:ext cx="3718850" cy="27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34c850ebf_1_0"/>
          <p:cNvSpPr txBox="1"/>
          <p:nvPr/>
        </p:nvSpPr>
        <p:spPr>
          <a:xfrm>
            <a:off x="680400" y="161025"/>
            <a:ext cx="45123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Basic idea behind breadth first search (BFS)</a:t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2" name="Google Shape;102;g3534c850ebf_1_0"/>
          <p:cNvSpPr txBox="1"/>
          <p:nvPr/>
        </p:nvSpPr>
        <p:spPr>
          <a:xfrm>
            <a:off x="177550" y="1059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534c850ebf_1_0"/>
          <p:cNvSpPr txBox="1"/>
          <p:nvPr/>
        </p:nvSpPr>
        <p:spPr>
          <a:xfrm>
            <a:off x="510050" y="532625"/>
            <a:ext cx="4745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Given a graph </a:t>
            </a:r>
            <a:r>
              <a:rPr b="0" i="1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 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(</a:t>
            </a:r>
            <a:r>
              <a:rPr b="0" i="1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 , E 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), and a distinguished vertex </a:t>
            </a:r>
            <a:r>
              <a:rPr b="0" i="1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 (source)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systematically visit</a:t>
            </a:r>
            <a:r>
              <a:rPr b="1" i="1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each vertex v ∈ V 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that is </a:t>
            </a:r>
            <a:r>
              <a:rPr b="1" i="0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reachable from </a:t>
            </a:r>
            <a:r>
              <a:rPr b="1" i="1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b="1" i="0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i="0" sz="11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Builds a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BFS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tree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over the graph starting from a 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source vertex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4" name="Google Shape;104;g3534c850ebf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2104" y="1601018"/>
            <a:ext cx="3012948" cy="1138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34c850ebf_2_439"/>
          <p:cNvSpPr txBox="1"/>
          <p:nvPr/>
        </p:nvSpPr>
        <p:spPr>
          <a:xfrm>
            <a:off x="177550" y="1059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g3534c850ebf_2_4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079" y="1240356"/>
            <a:ext cx="3012948" cy="113842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34c850ebf_2_439"/>
          <p:cNvSpPr txBox="1"/>
          <p:nvPr/>
        </p:nvSpPr>
        <p:spPr>
          <a:xfrm>
            <a:off x="1283200" y="191600"/>
            <a:ext cx="339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Breadth-first search</a:t>
            </a: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(Simulation </a:t>
            </a:r>
            <a:r>
              <a:rPr lang="en-US" sz="15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2" name="Google Shape;112;g3534c850ebf_2_439" title="BFS_with_colors.png"/>
          <p:cNvPicPr preferRelativeResize="0"/>
          <p:nvPr/>
        </p:nvPicPr>
        <p:blipFill rotWithShape="1">
          <a:blip r:embed="rId4">
            <a:alphaModFix/>
          </a:blip>
          <a:srcRect b="0" l="0" r="51669" t="0"/>
          <a:stretch/>
        </p:blipFill>
        <p:spPr>
          <a:xfrm>
            <a:off x="3480900" y="457525"/>
            <a:ext cx="1797351" cy="27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534c850ebf_1_5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492" y="1126314"/>
            <a:ext cx="2601468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534c850ebf_1_510" title="BFS_with_colors.png"/>
          <p:cNvPicPr preferRelativeResize="0"/>
          <p:nvPr/>
        </p:nvPicPr>
        <p:blipFill rotWithShape="1">
          <a:blip r:embed="rId4">
            <a:alphaModFix/>
          </a:blip>
          <a:srcRect b="0" l="0" r="51669" t="0"/>
          <a:stretch/>
        </p:blipFill>
        <p:spPr>
          <a:xfrm>
            <a:off x="3488000" y="356525"/>
            <a:ext cx="1919825" cy="288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534c850ebf_1_510"/>
          <p:cNvSpPr txBox="1"/>
          <p:nvPr/>
        </p:nvSpPr>
        <p:spPr>
          <a:xfrm>
            <a:off x="500525" y="2402225"/>
            <a:ext cx="2523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front of queue is on left side. Hence, dequeue from left (front) and enqueue from right (rear of queue)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0" name="Google Shape;120;g3534c850ebf_1_510"/>
          <p:cNvSpPr txBox="1"/>
          <p:nvPr/>
        </p:nvSpPr>
        <p:spPr>
          <a:xfrm>
            <a:off x="1283200" y="88350"/>
            <a:ext cx="339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Breadth-first search (Simulation </a:t>
            </a:r>
            <a:r>
              <a:rPr lang="en-US" sz="15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" name="Google Shape;121;g3534c850ebf_1_510"/>
          <p:cNvSpPr txBox="1"/>
          <p:nvPr/>
        </p:nvSpPr>
        <p:spPr>
          <a:xfrm>
            <a:off x="181275" y="516750"/>
            <a:ext cx="2523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Visited: s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534c850ebf_1_6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42" y="1037064"/>
            <a:ext cx="2788920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534c850ebf_1_615" title="BFS_with_colors.png"/>
          <p:cNvPicPr preferRelativeResize="0"/>
          <p:nvPr/>
        </p:nvPicPr>
        <p:blipFill rotWithShape="1">
          <a:blip r:embed="rId4">
            <a:alphaModFix/>
          </a:blip>
          <a:srcRect b="0" l="0" r="51669" t="0"/>
          <a:stretch/>
        </p:blipFill>
        <p:spPr>
          <a:xfrm>
            <a:off x="3480900" y="457525"/>
            <a:ext cx="1797351" cy="27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534c850ebf_1_615"/>
          <p:cNvSpPr txBox="1"/>
          <p:nvPr/>
        </p:nvSpPr>
        <p:spPr>
          <a:xfrm>
            <a:off x="500525" y="2402225"/>
            <a:ext cx="2523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front of queue is on left side. Hence, dequeue from left (front) and enqueue from right (rear of queue)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g3534c850ebf_1_615"/>
          <p:cNvSpPr txBox="1"/>
          <p:nvPr/>
        </p:nvSpPr>
        <p:spPr>
          <a:xfrm>
            <a:off x="1283200" y="117850"/>
            <a:ext cx="339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Breadth-first search (Simulation </a:t>
            </a:r>
            <a:r>
              <a:rPr lang="en-US" sz="15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" name="Google Shape;130;g3534c850ebf_1_615"/>
          <p:cNvSpPr txBox="1"/>
          <p:nvPr/>
        </p:nvSpPr>
        <p:spPr>
          <a:xfrm>
            <a:off x="181275" y="516750"/>
            <a:ext cx="2523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Visited: s, w, r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534c850ebf_1_6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42" y="1020489"/>
            <a:ext cx="2980944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534c850ebf_1_623" title="BFS_with_colors.png"/>
          <p:cNvPicPr preferRelativeResize="0"/>
          <p:nvPr/>
        </p:nvPicPr>
        <p:blipFill rotWithShape="1">
          <a:blip r:embed="rId4">
            <a:alphaModFix/>
          </a:blip>
          <a:srcRect b="0" l="0" r="51669" t="0"/>
          <a:stretch/>
        </p:blipFill>
        <p:spPr>
          <a:xfrm>
            <a:off x="3480900" y="457525"/>
            <a:ext cx="1797351" cy="27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534c850ebf_1_623"/>
          <p:cNvSpPr txBox="1"/>
          <p:nvPr/>
        </p:nvSpPr>
        <p:spPr>
          <a:xfrm>
            <a:off x="500525" y="2402225"/>
            <a:ext cx="2523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front of queue is on left side. Hence, dequeue from left (front) and enqueue from right (rear of queue)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8" name="Google Shape;138;g3534c850ebf_1_623"/>
          <p:cNvSpPr txBox="1"/>
          <p:nvPr/>
        </p:nvSpPr>
        <p:spPr>
          <a:xfrm>
            <a:off x="1283200" y="103100"/>
            <a:ext cx="339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Breadth-first search (Simulation </a:t>
            </a:r>
            <a:r>
              <a:rPr lang="en-US" sz="15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9" name="Google Shape;139;g3534c850ebf_1_623"/>
          <p:cNvSpPr txBox="1"/>
          <p:nvPr/>
        </p:nvSpPr>
        <p:spPr>
          <a:xfrm>
            <a:off x="181275" y="516750"/>
            <a:ext cx="2523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Visited: s, w, r, t, x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534c850ebf_1_6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042" y="1087502"/>
            <a:ext cx="2980944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534c850ebf_1_631" title="BFS_with_colors.png"/>
          <p:cNvPicPr preferRelativeResize="0"/>
          <p:nvPr/>
        </p:nvPicPr>
        <p:blipFill rotWithShape="1">
          <a:blip r:embed="rId4">
            <a:alphaModFix/>
          </a:blip>
          <a:srcRect b="0" l="0" r="51669" t="0"/>
          <a:stretch/>
        </p:blipFill>
        <p:spPr>
          <a:xfrm>
            <a:off x="3480900" y="457525"/>
            <a:ext cx="1797351" cy="27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534c850ebf_1_631"/>
          <p:cNvSpPr txBox="1"/>
          <p:nvPr/>
        </p:nvSpPr>
        <p:spPr>
          <a:xfrm>
            <a:off x="500525" y="2402225"/>
            <a:ext cx="2523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front of queue is on left side. Hence, dequeue from left (front) and enqueue from right (rear of queue)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7" name="Google Shape;147;g3534c850ebf_1_631"/>
          <p:cNvSpPr txBox="1"/>
          <p:nvPr/>
        </p:nvSpPr>
        <p:spPr>
          <a:xfrm>
            <a:off x="1224200" y="73600"/>
            <a:ext cx="339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Breadth-first search (Simulation </a:t>
            </a:r>
            <a:r>
              <a:rPr lang="en-US" sz="15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8" name="Google Shape;148;g3534c850ebf_1_631"/>
          <p:cNvSpPr txBox="1"/>
          <p:nvPr/>
        </p:nvSpPr>
        <p:spPr>
          <a:xfrm>
            <a:off x="181275" y="516750"/>
            <a:ext cx="2523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Visited: s, w, r, t, x, v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534c850ebf_1_6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42" y="1127114"/>
            <a:ext cx="2980944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534c850ebf_1_639" title="BFS_with_colors.png"/>
          <p:cNvPicPr preferRelativeResize="0"/>
          <p:nvPr/>
        </p:nvPicPr>
        <p:blipFill rotWithShape="1">
          <a:blip r:embed="rId4">
            <a:alphaModFix/>
          </a:blip>
          <a:srcRect b="0" l="0" r="51669" t="0"/>
          <a:stretch/>
        </p:blipFill>
        <p:spPr>
          <a:xfrm>
            <a:off x="3480900" y="457525"/>
            <a:ext cx="1797351" cy="27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534c850ebf_1_639"/>
          <p:cNvSpPr txBox="1"/>
          <p:nvPr/>
        </p:nvSpPr>
        <p:spPr>
          <a:xfrm>
            <a:off x="500525" y="2402225"/>
            <a:ext cx="2523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front of queue is on left side. Hence, dequeue from left (front) and enqueue from right (rear of queue)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6" name="Google Shape;156;g3534c850ebf_1_639"/>
          <p:cNvSpPr txBox="1"/>
          <p:nvPr/>
        </p:nvSpPr>
        <p:spPr>
          <a:xfrm>
            <a:off x="1268450" y="73600"/>
            <a:ext cx="339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Breadth-first search (Simulation </a:t>
            </a:r>
            <a:r>
              <a:rPr lang="en-US" sz="15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7" name="Google Shape;157;g3534c850ebf_1_639"/>
          <p:cNvSpPr txBox="1"/>
          <p:nvPr/>
        </p:nvSpPr>
        <p:spPr>
          <a:xfrm>
            <a:off x="181275" y="516750"/>
            <a:ext cx="2523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Visited: s, w, r, t, x, v, u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534c850ebf_1_6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42" y="1087502"/>
            <a:ext cx="2980944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534c850ebf_1_655" title="BFS_with_colors.png"/>
          <p:cNvPicPr preferRelativeResize="0"/>
          <p:nvPr/>
        </p:nvPicPr>
        <p:blipFill rotWithShape="1">
          <a:blip r:embed="rId4">
            <a:alphaModFix/>
          </a:blip>
          <a:srcRect b="0" l="0" r="51669" t="0"/>
          <a:stretch/>
        </p:blipFill>
        <p:spPr>
          <a:xfrm>
            <a:off x="3480900" y="457525"/>
            <a:ext cx="1797351" cy="27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534c850ebf_1_655"/>
          <p:cNvSpPr txBox="1"/>
          <p:nvPr/>
        </p:nvSpPr>
        <p:spPr>
          <a:xfrm>
            <a:off x="500525" y="2402225"/>
            <a:ext cx="2523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front of queue is on left side. Hence, dequeue from left (front) and enqueue from right (rear of queue)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g3534c850ebf_1_655"/>
          <p:cNvSpPr txBox="1"/>
          <p:nvPr/>
        </p:nvSpPr>
        <p:spPr>
          <a:xfrm>
            <a:off x="1297950" y="80975"/>
            <a:ext cx="339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Breadth-first search (Simulation </a:t>
            </a:r>
            <a:r>
              <a:rPr lang="en-US" sz="15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6" name="Google Shape;166;g3534c850ebf_1_655"/>
          <p:cNvSpPr txBox="1"/>
          <p:nvPr/>
        </p:nvSpPr>
        <p:spPr>
          <a:xfrm>
            <a:off x="181275" y="516750"/>
            <a:ext cx="2523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Visited: s, w, r, t, x, v, u, y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g3534c850ebf_1_6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42" y="1038814"/>
            <a:ext cx="2788920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534c850ebf_1_663" title="BFS_with_colors.png"/>
          <p:cNvPicPr preferRelativeResize="0"/>
          <p:nvPr/>
        </p:nvPicPr>
        <p:blipFill rotWithShape="1">
          <a:blip r:embed="rId4">
            <a:alphaModFix/>
          </a:blip>
          <a:srcRect b="0" l="0" r="51669" t="0"/>
          <a:stretch/>
        </p:blipFill>
        <p:spPr>
          <a:xfrm>
            <a:off x="3480900" y="457525"/>
            <a:ext cx="1797351" cy="27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534c850ebf_1_663"/>
          <p:cNvSpPr txBox="1"/>
          <p:nvPr/>
        </p:nvSpPr>
        <p:spPr>
          <a:xfrm>
            <a:off x="500525" y="2402225"/>
            <a:ext cx="2523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front of queue is on left side. Hence, dequeue from left (front) and enqueue from right (rear of queue)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" name="Google Shape;174;g3534c850ebf_1_663"/>
          <p:cNvSpPr txBox="1"/>
          <p:nvPr/>
        </p:nvSpPr>
        <p:spPr>
          <a:xfrm>
            <a:off x="1261075" y="95725"/>
            <a:ext cx="339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Breadth-first search (Simulation </a:t>
            </a:r>
            <a:r>
              <a:rPr lang="en-US" sz="15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g3534c850ebf_1_663"/>
          <p:cNvSpPr txBox="1"/>
          <p:nvPr/>
        </p:nvSpPr>
        <p:spPr>
          <a:xfrm>
            <a:off x="181275" y="516750"/>
            <a:ext cx="2523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Visited: s, w, r, t, x, v, u, y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534c850ebf_1_6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542" y="1044089"/>
            <a:ext cx="2601468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534c850ebf_1_671" title="BFS_with_colors.png"/>
          <p:cNvPicPr preferRelativeResize="0"/>
          <p:nvPr/>
        </p:nvPicPr>
        <p:blipFill rotWithShape="1">
          <a:blip r:embed="rId4">
            <a:alphaModFix/>
          </a:blip>
          <a:srcRect b="0" l="0" r="51669" t="0"/>
          <a:stretch/>
        </p:blipFill>
        <p:spPr>
          <a:xfrm>
            <a:off x="3480900" y="457525"/>
            <a:ext cx="1797351" cy="27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534c850ebf_1_671"/>
          <p:cNvSpPr txBox="1"/>
          <p:nvPr/>
        </p:nvSpPr>
        <p:spPr>
          <a:xfrm>
            <a:off x="500525" y="2402225"/>
            <a:ext cx="2523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front of queue is on left side. Hence, dequeue from left (front) and enqueue from right (rear of queue)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3" name="Google Shape;183;g3534c850ebf_1_671"/>
          <p:cNvSpPr txBox="1"/>
          <p:nvPr/>
        </p:nvSpPr>
        <p:spPr>
          <a:xfrm>
            <a:off x="1268450" y="103100"/>
            <a:ext cx="339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Breadth-first search (Simulation </a:t>
            </a:r>
            <a:r>
              <a:rPr lang="en-US" sz="15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" name="Google Shape;184;g3534c850ebf_1_671"/>
          <p:cNvSpPr txBox="1"/>
          <p:nvPr/>
        </p:nvSpPr>
        <p:spPr>
          <a:xfrm>
            <a:off x="181275" y="516750"/>
            <a:ext cx="2523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Visited: s, w, r, t, x, v, u, y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3534c850ebf_1_6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267" y="1005564"/>
            <a:ext cx="2523744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534c850ebf_1_695" title="BFS_with_colors.png"/>
          <p:cNvPicPr preferRelativeResize="0"/>
          <p:nvPr/>
        </p:nvPicPr>
        <p:blipFill rotWithShape="1">
          <a:blip r:embed="rId4">
            <a:alphaModFix/>
          </a:blip>
          <a:srcRect b="0" l="0" r="51669" t="0"/>
          <a:stretch/>
        </p:blipFill>
        <p:spPr>
          <a:xfrm>
            <a:off x="3480900" y="457525"/>
            <a:ext cx="1797351" cy="27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534c850ebf_1_695"/>
          <p:cNvSpPr txBox="1"/>
          <p:nvPr/>
        </p:nvSpPr>
        <p:spPr>
          <a:xfrm>
            <a:off x="500525" y="2402225"/>
            <a:ext cx="2523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front of queue is on left side. Hence, dequeue from left (front) and enqueue from right (rear of queue)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" name="Google Shape;192;g3534c850ebf_1_695"/>
          <p:cNvSpPr txBox="1"/>
          <p:nvPr/>
        </p:nvSpPr>
        <p:spPr>
          <a:xfrm>
            <a:off x="1290575" y="88350"/>
            <a:ext cx="339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Breadth-first search (Simulation </a:t>
            </a:r>
            <a:r>
              <a:rPr lang="en-US" sz="15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g3534c850ebf_1_695"/>
          <p:cNvSpPr txBox="1"/>
          <p:nvPr/>
        </p:nvSpPr>
        <p:spPr>
          <a:xfrm>
            <a:off x="181275" y="516750"/>
            <a:ext cx="2523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Visited: s, w, r, t, x, v, u, y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34c850ebf_1_90"/>
          <p:cNvSpPr txBox="1"/>
          <p:nvPr/>
        </p:nvSpPr>
        <p:spPr>
          <a:xfrm>
            <a:off x="1558550" y="69175"/>
            <a:ext cx="2807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 first search (BFS)</a:t>
            </a:r>
            <a:endParaRPr b="0" i="0" sz="14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9" name="Google Shape;199;g3534c850ebf_1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6993" y="462948"/>
            <a:ext cx="3017520" cy="11384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534c850ebf_1_90"/>
          <p:cNvSpPr txBox="1"/>
          <p:nvPr/>
        </p:nvSpPr>
        <p:spPr>
          <a:xfrm>
            <a:off x="472250" y="1848950"/>
            <a:ext cx="5036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marR="1828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This graph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= (</a:t>
            </a:r>
            <a:r>
              <a:rPr b="0" i="1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 , E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 is connected,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since BFS visits </a:t>
            </a:r>
            <a:r>
              <a:rPr b="1" i="0" lang="en-US" sz="1000" u="sng" cap="none" strike="noStrike">
                <a:solidFill>
                  <a:srgbClr val="0032CC"/>
                </a:solidFill>
                <a:latin typeface="Trebuchet MS"/>
                <a:ea typeface="Trebuchet MS"/>
                <a:cs typeface="Trebuchet MS"/>
                <a:sym typeface="Trebuchet MS"/>
              </a:rPr>
              <a:t>all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∈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starting from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BFS also finds the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shortest path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(fewest edges) </a:t>
            </a:r>
            <a:r>
              <a:rPr b="0" i="0" lang="en-US" sz="10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from 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to </a:t>
            </a:r>
            <a:r>
              <a:rPr b="0" i="0" lang="en-US" sz="10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any other vertex t.</a:t>
            </a:r>
            <a:endParaRPr b="0" i="0" sz="1000" u="sng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34c850ebf_1_703"/>
          <p:cNvSpPr txBox="1"/>
          <p:nvPr/>
        </p:nvSpPr>
        <p:spPr>
          <a:xfrm>
            <a:off x="1558550" y="69175"/>
            <a:ext cx="2807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 first search (BFS) Tree</a:t>
            </a:r>
            <a:endParaRPr b="0" i="0" sz="14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6" name="Google Shape;206;g3534c850ebf_1_7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2976" y="1456225"/>
            <a:ext cx="2525025" cy="124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534c850ebf_1_703"/>
          <p:cNvSpPr txBox="1"/>
          <p:nvPr/>
        </p:nvSpPr>
        <p:spPr>
          <a:xfrm>
            <a:off x="498050" y="424100"/>
            <a:ext cx="4928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i="0" lang="en-US" sz="11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BFS tree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a tree formed during BFS that shows the </a:t>
            </a:r>
            <a:r>
              <a:rPr b="1" i="0" lang="en-US" sz="11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shortest paths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(in terms of edges) from the </a:t>
            </a:r>
            <a:r>
              <a:rPr b="0" i="0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source vertex to all other reachable vertices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 the graph.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34c850ebf_1_711"/>
          <p:cNvSpPr txBox="1"/>
          <p:nvPr/>
        </p:nvSpPr>
        <p:spPr>
          <a:xfrm>
            <a:off x="1558550" y="69175"/>
            <a:ext cx="2807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 first search (BFS) Tree</a:t>
            </a:r>
            <a:endParaRPr b="0" i="0" sz="14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3" name="Google Shape;213;g3534c850ebf_1_711"/>
          <p:cNvPicPr preferRelativeResize="0"/>
          <p:nvPr/>
        </p:nvPicPr>
        <p:blipFill rotWithShape="1">
          <a:blip r:embed="rId3">
            <a:alphaModFix/>
          </a:blip>
          <a:srcRect b="117890" l="43600" r="-43600" t="-117890"/>
          <a:stretch/>
        </p:blipFill>
        <p:spPr>
          <a:xfrm>
            <a:off x="1658467" y="727439"/>
            <a:ext cx="2162556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534c850ebf_1_711" title="BFS_tree_new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487" y="339325"/>
            <a:ext cx="4827526" cy="290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34c850ebf_2_453"/>
          <p:cNvSpPr txBox="1"/>
          <p:nvPr/>
        </p:nvSpPr>
        <p:spPr>
          <a:xfrm>
            <a:off x="1558550" y="69175"/>
            <a:ext cx="34425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 first search (BFS) Tree</a:t>
            </a:r>
            <a:endParaRPr b="0" i="0" sz="14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0" name="Google Shape;220;g3534c850ebf_2_453"/>
          <p:cNvPicPr preferRelativeResize="0"/>
          <p:nvPr/>
        </p:nvPicPr>
        <p:blipFill rotWithShape="1">
          <a:blip r:embed="rId3">
            <a:alphaModFix/>
          </a:blip>
          <a:srcRect b="117890" l="43600" r="-43600" t="-117890"/>
          <a:stretch/>
        </p:blipFill>
        <p:spPr>
          <a:xfrm>
            <a:off x="1658467" y="727439"/>
            <a:ext cx="2162556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534c850ebf_2_453" title="BFS_tree_new_P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938" y="308225"/>
            <a:ext cx="4933625" cy="219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534c850ebf_2_453"/>
          <p:cNvSpPr txBox="1"/>
          <p:nvPr/>
        </p:nvSpPr>
        <p:spPr>
          <a:xfrm>
            <a:off x="346650" y="2542350"/>
            <a:ext cx="5626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Vertices are labeled with their distance from the source.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Arrows point to each </a:t>
            </a:r>
            <a:r>
              <a:rPr b="0" i="0" lang="en-US" sz="9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vertex’s ancestor.</a:t>
            </a: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[will be covered in Algorithms course]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Solid lines = tree edges; [will be covered in Algorithms course]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dashed lines = non-tree (back) </a:t>
            </a: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 </a:t>
            </a: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undirected graph [will be covered in Algorithms course]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34c850ebf_2_464"/>
          <p:cNvSpPr txBox="1"/>
          <p:nvPr/>
        </p:nvSpPr>
        <p:spPr>
          <a:xfrm>
            <a:off x="1558550" y="69175"/>
            <a:ext cx="28074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 first search (BFS)</a:t>
            </a:r>
            <a:endParaRPr b="0" i="0" sz="14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8" name="Google Shape;228;g3534c850ebf_2_464"/>
          <p:cNvPicPr preferRelativeResize="0"/>
          <p:nvPr/>
        </p:nvPicPr>
        <p:blipFill rotWithShape="1">
          <a:blip r:embed="rId3">
            <a:alphaModFix/>
          </a:blip>
          <a:srcRect b="117890" l="43600" r="-43600" t="-117890"/>
          <a:stretch/>
        </p:blipFill>
        <p:spPr>
          <a:xfrm>
            <a:off x="1658467" y="727439"/>
            <a:ext cx="2162556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534c850ebf_2_464" title="BFS_tree_p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4658" y="512875"/>
            <a:ext cx="3321285" cy="12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534c850ebf_2_464"/>
          <p:cNvSpPr txBox="1"/>
          <p:nvPr/>
        </p:nvSpPr>
        <p:spPr>
          <a:xfrm>
            <a:off x="163350" y="1912525"/>
            <a:ext cx="53694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single BFS </a:t>
            </a:r>
            <a:r>
              <a:rPr b="0" i="0" lang="en-US" sz="10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from vertex A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only visits vertices in its </a:t>
            </a:r>
            <a:r>
              <a:rPr b="0" i="0" lang="en-US" sz="10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connected component.</a:t>
            </a:r>
            <a:endParaRPr b="0" i="0" sz="1000" u="sng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Vertices K and L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 visited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if they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 reachable from A.</a:t>
            </a:r>
            <a:endParaRPr b="0" i="0" sz="1000" u="sng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Trebuchet MS"/>
              <a:buChar char="●"/>
            </a:pPr>
            <a:r>
              <a:rPr b="0" i="0" lang="en-US" sz="1000" u="sng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To visit all vertices</a:t>
            </a:r>
            <a:r>
              <a:rPr b="0" i="0" lang="en-US" sz="10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i="0" lang="en-US" sz="1000" u="sng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perform BFS from </a:t>
            </a:r>
            <a:r>
              <a:rPr b="1" i="0" lang="en-US" sz="1000" u="sng" cap="none" strike="noStrike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each unvisited vertex</a:t>
            </a:r>
            <a:r>
              <a:rPr b="1" i="0" lang="en-US" sz="1000" u="sng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in the graph.</a:t>
            </a:r>
            <a:endParaRPr b="0" i="0" sz="1000" u="none" cap="none" strike="noStrik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000"/>
              <a:buFont typeface="Trebuchet MS"/>
              <a:buChar char="○"/>
            </a:pPr>
            <a:r>
              <a:rPr b="0" i="0" lang="en-US" sz="1000" u="none" cap="none" strike="noStrike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This approach identifies </a:t>
            </a:r>
            <a:r>
              <a:rPr b="0" i="0" lang="en-US" sz="1000" u="sng" cap="none" strike="noStrike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all connected components</a:t>
            </a:r>
            <a:r>
              <a:rPr b="0" i="0" lang="en-US" sz="1000" u="none" cap="none" strike="noStrike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in the graph.</a:t>
            </a:r>
            <a:endParaRPr b="0" i="0" sz="1000" u="none" cap="none" strike="noStrike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"/>
          <p:cNvSpPr txBox="1"/>
          <p:nvPr>
            <p:ph type="title"/>
          </p:nvPr>
        </p:nvSpPr>
        <p:spPr>
          <a:xfrm>
            <a:off x="737717" y="1338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Breadth-first search - Analysis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49800" y="613025"/>
            <a:ext cx="5601900" cy="17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Complexity of BFS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Outer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while loop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processes 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 (V)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from the queue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Inner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loop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examines all adjacent neighbors (E)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At first glance, this may look like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nested loops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(suggesting higher complexity)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  <a:r>
              <a:rPr b="1" i="0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Nesting does not multiply time by V × E independently</a:t>
            </a:r>
            <a:endParaRPr b="1" i="0" sz="10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7" name="Google Shape;237;p6" title="BFS_with_colors.png"/>
          <p:cNvPicPr preferRelativeResize="0"/>
          <p:nvPr/>
        </p:nvPicPr>
        <p:blipFill rotWithShape="1">
          <a:blip r:embed="rId3">
            <a:alphaModFix/>
          </a:blip>
          <a:srcRect b="0" l="0" r="51669" t="0"/>
          <a:stretch/>
        </p:blipFill>
        <p:spPr>
          <a:xfrm>
            <a:off x="3936050" y="337675"/>
            <a:ext cx="1752549" cy="2636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85483448d0_1_22"/>
          <p:cNvSpPr txBox="1"/>
          <p:nvPr>
            <p:ph type="title"/>
          </p:nvPr>
        </p:nvSpPr>
        <p:spPr>
          <a:xfrm>
            <a:off x="737717" y="1338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Breadth-first search - Analysis</a:t>
            </a:r>
            <a:endParaRPr/>
          </a:p>
        </p:txBody>
      </p:sp>
      <p:sp>
        <p:nvSpPr>
          <p:cNvPr id="243" name="Google Shape;243;g385483448d0_1_22"/>
          <p:cNvSpPr txBox="1"/>
          <p:nvPr/>
        </p:nvSpPr>
        <p:spPr>
          <a:xfrm>
            <a:off x="49800" y="613025"/>
            <a:ext cx="5601900" cy="23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 of BFS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Outer While Loop – Vertex Processing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vertex enqueued &amp; dequeued once → </a:t>
            </a: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O(V)</a:t>
            </a:r>
            <a:b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For Loop – Edge Processing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Graph: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Each edge explored once → O(E)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Undirected Graph: 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edge explored twice → O(2E) ≈ O(E)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Time Required: </a:t>
            </a: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O(E)</a:t>
            </a:r>
            <a:b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Complexity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Vertex processing = </a:t>
            </a: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O(V)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processing = </a:t>
            </a: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O(E)</a:t>
            </a:r>
            <a:b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Total = </a:t>
            </a: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O(V + E)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(best, average, worst cases)</a:t>
            </a:r>
            <a:endParaRPr b="1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g385483448d0_1_22" title="BFS_with_colors.png"/>
          <p:cNvPicPr preferRelativeResize="0"/>
          <p:nvPr/>
        </p:nvPicPr>
        <p:blipFill rotWithShape="1">
          <a:blip r:embed="rId3">
            <a:alphaModFix/>
          </a:blip>
          <a:srcRect b="0" l="0" r="51669" t="0"/>
          <a:stretch/>
        </p:blipFill>
        <p:spPr>
          <a:xfrm>
            <a:off x="3936050" y="337675"/>
            <a:ext cx="1752549" cy="2636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34c850ebf_1_578"/>
          <p:cNvSpPr txBox="1"/>
          <p:nvPr/>
        </p:nvSpPr>
        <p:spPr>
          <a:xfrm>
            <a:off x="619475" y="185500"/>
            <a:ext cx="44910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Breadth first search (BFS) Algorithm  with explanation</a:t>
            </a:r>
            <a:endParaRPr b="0" i="0" sz="14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250" name="Google Shape;250;g3534c850ebf_1_578"/>
          <p:cNvGraphicFramePr/>
          <p:nvPr/>
        </p:nvGraphicFramePr>
        <p:xfrm>
          <a:off x="548425" y="45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{3A089CA7-8A9E-4BA0-BFF6-A5B93BD0AE37}</a:tableStyleId>
              </a:tblPr>
              <a:tblGrid>
                <a:gridCol w="43322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/>
                        <a:t>BFS(G, s)  // G = (V, E), s is the source vertex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/>
                        <a:t>1.  for each vertex u in V: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/>
                        <a:t>2.         u.d = ∞      // Set distance to infinity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/>
                        <a:t>3.         u.p = NIL    // Set parent to NIL</a:t>
                      </a:r>
                      <a:br>
                        <a:rPr lang="en-US" sz="1000" u="none" cap="none" strike="noStrike"/>
                      </a:b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/>
                        <a:t>4.  s.d = 0          // Set the distance of the source vertex to 0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/>
                        <a:t>5.  Q = new Queue    // Initialize an empty queue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/>
                        <a:t>6.  Enqueue(Q, s)    // Enqueue the source vertex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/>
                        <a:t>7.  while Q is not empty: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/>
                        <a:t>8.      u = Dequeue(Q)         // Remove the front vertex from the queue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/>
                        <a:t>9.      for each vertex v in Adj[u]: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/>
                        <a:t>10.           if v.d == ∞:       // If vertex v has not been visited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/>
                        <a:t>11.                v.d = u.d + 1  // Set the distance of v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/>
                        <a:t>12.                v.p = u       // Set parent of v to u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13.                Enqueue(Q, v) // Enqueue vertex 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"/>
          <p:cNvSpPr txBox="1"/>
          <p:nvPr>
            <p:ph type="title"/>
          </p:nvPr>
        </p:nvSpPr>
        <p:spPr>
          <a:xfrm>
            <a:off x="325300" y="133850"/>
            <a:ext cx="4643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Breadth-first search - Printing a path from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s </a:t>
            </a:r>
            <a:r>
              <a:rPr lang="en-US"/>
              <a:t>to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endParaRPr/>
          </a:p>
        </p:txBody>
      </p:sp>
      <p:sp>
        <p:nvSpPr>
          <p:cNvPr id="256" name="Google Shape;256;p7"/>
          <p:cNvSpPr txBox="1"/>
          <p:nvPr/>
        </p:nvSpPr>
        <p:spPr>
          <a:xfrm>
            <a:off x="132275" y="540850"/>
            <a:ext cx="3429600" cy="21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425">
            <a:spAutoFit/>
          </a:bodyPr>
          <a:lstStyle/>
          <a:p>
            <a:pPr indent="-114300" lvl="0" marL="114300" marR="0" rtl="0" algn="l">
              <a:lnSpc>
                <a:spcPct val="150000"/>
              </a:lnSpc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After BFS, we get a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BFS tree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where each path from the 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9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root to a node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shows the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shortest path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 G.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tree shows </a:t>
            </a:r>
            <a:r>
              <a:rPr b="0" i="0" lang="en-US" sz="9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each vertex was reached from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source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3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predecessor info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b="0" i="0" lang="en-US" sz="900" u="none" cap="none" strike="noStrike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u.π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stores the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previous node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on the path.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Using this info, we can easily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reconstruct or print the path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from the source </a:t>
            </a:r>
            <a:r>
              <a:rPr b="0" i="0" lang="en-US" sz="900" u="none" cap="none" strike="noStrike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 any node </a:t>
            </a:r>
            <a:r>
              <a:rPr b="0" i="0" lang="en-US" sz="900" u="none" cap="none" strike="noStrike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1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7" name="Google Shape;2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338" y="2020875"/>
            <a:ext cx="2193250" cy="1155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7" title="BFS_tree_p1.png"/>
          <p:cNvPicPr preferRelativeResize="0"/>
          <p:nvPr/>
        </p:nvPicPr>
        <p:blipFill rotWithShape="1">
          <a:blip r:embed="rId4">
            <a:alphaModFix/>
          </a:blip>
          <a:srcRect b="0" l="59876" r="0" t="0"/>
          <a:stretch/>
        </p:blipFill>
        <p:spPr>
          <a:xfrm>
            <a:off x="3760175" y="408350"/>
            <a:ext cx="1697582" cy="161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85483448d0_0_11"/>
          <p:cNvSpPr txBox="1"/>
          <p:nvPr>
            <p:ph type="title"/>
          </p:nvPr>
        </p:nvSpPr>
        <p:spPr>
          <a:xfrm>
            <a:off x="325300" y="133850"/>
            <a:ext cx="4643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Breadth-first search - Printing a path from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s </a:t>
            </a:r>
            <a:r>
              <a:rPr lang="en-US"/>
              <a:t>to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endParaRPr/>
          </a:p>
        </p:txBody>
      </p:sp>
      <p:sp>
        <p:nvSpPr>
          <p:cNvPr id="264" name="Google Shape;264;g385483448d0_0_11"/>
          <p:cNvSpPr txBox="1"/>
          <p:nvPr/>
        </p:nvSpPr>
        <p:spPr>
          <a:xfrm>
            <a:off x="132274" y="540850"/>
            <a:ext cx="53634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425">
            <a:spAutoFit/>
          </a:bodyPr>
          <a:lstStyle/>
          <a:p>
            <a:pPr indent="-131445" lvl="0" marL="156845" marR="0" rtl="0" algn="l">
              <a:lnSpc>
                <a:spcPct val="115000"/>
              </a:lnSpc>
              <a:spcBef>
                <a:spcPts val="315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Lucida Sans"/>
              <a:buChar char="•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BFS tree shows </a:t>
            </a:r>
            <a:r>
              <a:rPr b="0" i="0" lang="en-US" sz="9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each vertex was reached from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source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1445" lvl="0" marL="156845" marR="0" rtl="0" algn="l">
              <a:lnSpc>
                <a:spcPct val="115000"/>
              </a:lnSpc>
              <a:spcBef>
                <a:spcPts val="315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Lucida Sans"/>
              <a:buChar char="•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predecessor info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b="0" i="0" lang="en-US" sz="900" u="none" cap="none" strike="noStrike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u.π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stores the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previous node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on the path.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1445" lvl="0" marL="156845" marR="0" rtl="0" algn="l">
              <a:lnSpc>
                <a:spcPct val="115000"/>
              </a:lnSpc>
              <a:spcBef>
                <a:spcPts val="315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Lucida Sans"/>
              <a:buChar char="•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Using this info, we can easily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reconstruct or print the path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from the source </a:t>
            </a:r>
            <a:r>
              <a:rPr b="0" i="0" lang="en-US" sz="900" u="none" cap="none" strike="noStrike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 any node </a:t>
            </a:r>
            <a:r>
              <a:rPr b="0" i="0" lang="en-US" sz="900" u="none" cap="none" strike="noStrike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1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5" name="Google Shape;265;g385483448d0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4125" y="1843250"/>
            <a:ext cx="2521976" cy="13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85483448d0_0_11" title="BFS_tree_p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14375"/>
            <a:ext cx="3004126" cy="116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85483448d0_0_11" title="BFS_tree_p1.png"/>
          <p:cNvPicPr preferRelativeResize="0"/>
          <p:nvPr/>
        </p:nvPicPr>
        <p:blipFill rotWithShape="1">
          <a:blip r:embed="rId5">
            <a:alphaModFix/>
          </a:blip>
          <a:srcRect b="0" l="59876" r="0" t="0"/>
          <a:stretch/>
        </p:blipFill>
        <p:spPr>
          <a:xfrm>
            <a:off x="4154700" y="408350"/>
            <a:ext cx="1510609" cy="143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69fe56b07_0_6"/>
          <p:cNvSpPr txBox="1"/>
          <p:nvPr/>
        </p:nvSpPr>
        <p:spPr>
          <a:xfrm>
            <a:off x="1107875" y="96850"/>
            <a:ext cx="3201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Homework</a:t>
            </a:r>
            <a:endParaRPr b="0" i="0" sz="16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3" name="Google Shape;273;g3e69fe56b07_0_6" title="Fall2025.png"/>
          <p:cNvPicPr preferRelativeResize="0"/>
          <p:nvPr/>
        </p:nvPicPr>
        <p:blipFill rotWithShape="1">
          <a:blip r:embed="rId3">
            <a:alphaModFix/>
          </a:blip>
          <a:srcRect b="2563" l="0" r="0" t="0"/>
          <a:stretch/>
        </p:blipFill>
        <p:spPr>
          <a:xfrm>
            <a:off x="890400" y="385425"/>
            <a:ext cx="4158725" cy="276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69fe56b07_0_11"/>
          <p:cNvSpPr txBox="1"/>
          <p:nvPr/>
        </p:nvSpPr>
        <p:spPr>
          <a:xfrm>
            <a:off x="1107875" y="96850"/>
            <a:ext cx="3201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Homework</a:t>
            </a:r>
            <a:endParaRPr b="0" i="0" sz="16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9" name="Google Shape;279;g3e69fe56b07_0_11" title="576c3e80-662d-411d-a785-b5d68a12d8f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575" y="356050"/>
            <a:ext cx="4245151" cy="283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34c850ebf_1_499"/>
          <p:cNvSpPr txBox="1"/>
          <p:nvPr/>
        </p:nvSpPr>
        <p:spPr>
          <a:xfrm>
            <a:off x="1353850" y="167125"/>
            <a:ext cx="32019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Applications of BFS </a:t>
            </a:r>
            <a:br>
              <a:rPr b="0" i="0" lang="en-US" sz="16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6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(Just know that these can be done)</a:t>
            </a:r>
            <a:endParaRPr b="0" i="0" sz="16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5" name="Google Shape;285;g3534c850ebf_1_499"/>
          <p:cNvSpPr txBox="1"/>
          <p:nvPr/>
        </p:nvSpPr>
        <p:spPr>
          <a:xfrm>
            <a:off x="401325" y="773825"/>
            <a:ext cx="5045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Shortest Path (Unweighted Graph)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Finding the shortest path in undirected or directed unweighted graphs using level-order traversal. 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[Shown in previous slide</a:t>
            </a:r>
            <a:r>
              <a:rPr lang="en-US" sz="1000">
                <a:solidFill>
                  <a:srgbClr val="0000FF"/>
                </a:solidFill>
              </a:rPr>
              <a:t>s]</a:t>
            </a:r>
            <a:endParaRPr b="0" i="0" sz="1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Bipartiteness Check: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Verifying if a graph can be divided into two disjoint sets using two-coloring.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Cycle Detection (Undirected Graph):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Detecting cycles by checking for back edges during traversal.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 Connectivity: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Checking whether all vertices are reachable from a given starting point. </a:t>
            </a:r>
            <a:r>
              <a:rPr b="0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000">
                <a:solidFill>
                  <a:srgbClr val="0000FF"/>
                </a:solidFill>
              </a:rPr>
              <a:t>Appeared</a:t>
            </a:r>
            <a:r>
              <a:rPr b="0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in one of the </a:t>
            </a:r>
            <a:r>
              <a:rPr lang="en-US" sz="1000">
                <a:solidFill>
                  <a:srgbClr val="0000FF"/>
                </a:solidFill>
              </a:rPr>
              <a:t>Finals</a:t>
            </a:r>
            <a:r>
              <a:rPr b="0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br>
              <a:rPr b="0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Implementation will be covered in CSE221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35e628fd5_0_0"/>
          <p:cNvSpPr txBox="1"/>
          <p:nvPr>
            <p:ph type="title"/>
          </p:nvPr>
        </p:nvSpPr>
        <p:spPr>
          <a:xfrm>
            <a:off x="737475" y="1126050"/>
            <a:ext cx="4247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</a:rPr>
              <a:t>Use the following link to generate and traverse graphs: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https://visualgo.net/en/dfsbfs</a:t>
            </a:r>
            <a:endParaRPr sz="12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1" name="Google Shape;291;g3535e628fd5_0_0"/>
          <p:cNvSpPr txBox="1"/>
          <p:nvPr/>
        </p:nvSpPr>
        <p:spPr>
          <a:xfrm>
            <a:off x="799227" y="229800"/>
            <a:ext cx="4302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Interactive Graph Traversal with VisuAlgo</a:t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53c110563_0_27"/>
          <p:cNvSpPr txBox="1"/>
          <p:nvPr>
            <p:ph type="title"/>
          </p:nvPr>
        </p:nvSpPr>
        <p:spPr>
          <a:xfrm>
            <a:off x="2335151" y="1126050"/>
            <a:ext cx="1737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50">
                <a:solidFill>
                  <a:srgbClr val="000000"/>
                </a:solidFill>
              </a:rPr>
              <a:t>The End</a:t>
            </a:r>
            <a:endParaRPr sz="2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2025-05-02T12:21:58Z</dcterms:created>
  <dc:creator>Fadi Al Machot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2025-05-02T00:00:00Z</vt:filetime>
  </property>
  <property fmtid="{D5CDD505-2E9C-101B-9397-08002B2CF9AE}" pid="5" name="Producer">
    <vt:lpwstr>Microsoft® PowerPoint® for Microsoft 365</vt:lpwstr>
  </property>
</Properties>
</file>