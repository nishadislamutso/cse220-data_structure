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y="3244850" cx="5765800"/>
  <p:notesSz cx="5765800" cy="3244850"/>
  <p:embeddedFontLst>
    <p:embeddedFont>
      <p:font typeface="Tahoma"/>
      <p:regular r:id="rId60"/>
      <p:bold r:id="rId61"/>
    </p:embeddedFont>
    <p:embeddedFont>
      <p:font typeface="Book Antiqua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66" roundtripDataSignature="AMtx7mgvpCZJqGs49sicT0oCU8+5rr4R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815504-6AC7-4428-BB7C-43E45BFC08ED}">
  <a:tblStyle styleId="{8A815504-6AC7-4428-BB7C-43E45BFC08E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BookAntiqua-regular.fntdata"/><Relationship Id="rId61" Type="http://schemas.openxmlformats.org/officeDocument/2006/relationships/font" Target="fonts/Tahoma-bold.fntdata"/><Relationship Id="rId20" Type="http://schemas.openxmlformats.org/officeDocument/2006/relationships/slide" Target="slides/slide14.xml"/><Relationship Id="rId64" Type="http://schemas.openxmlformats.org/officeDocument/2006/relationships/font" Target="fonts/BookAntiqua-italic.fntdata"/><Relationship Id="rId63" Type="http://schemas.openxmlformats.org/officeDocument/2006/relationships/font" Target="fonts/BookAntiqua-bold.fntdata"/><Relationship Id="rId22" Type="http://schemas.openxmlformats.org/officeDocument/2006/relationships/slide" Target="slides/slide16.xml"/><Relationship Id="rId66" Type="http://customschemas.google.com/relationships/presentationmetadata" Target="metadata"/><Relationship Id="rId21" Type="http://schemas.openxmlformats.org/officeDocument/2006/relationships/slide" Target="slides/slide15.xml"/><Relationship Id="rId65" Type="http://schemas.openxmlformats.org/officeDocument/2006/relationships/font" Target="fonts/BookAntiqua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Tahoma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534c850ebf_1_74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g3534c850ebf_1_74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83d757685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583d757685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p1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34c850ebf_1_76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g3534c850ebf_1_76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34c850ebf_1_77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534c850ebf_1_77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34c850ebf_2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534c850ebf_2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34c850ebf_2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534c850ebf_2_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34c850ebf_2_1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534c850ebf_2_1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34c850ebf_2_2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534c850ebf_2_2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34c850ebf_2_3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3534c850ebf_2_3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34c850ebf_2_3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534c850ebf_2_3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34c850ebf_2_4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534c850ebf_2_4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34c850ebf_2_5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534c850ebf_2_5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34c850ebf_2_6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534c850ebf_2_6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34c850ebf_2_7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534c850ebf_2_7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34c850ebf_2_8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534c850ebf_2_8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34c850ebf_2_9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534c850ebf_2_9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34c850ebf_2_10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534c850ebf_2_10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34c850ebf_2_10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534c850ebf_2_10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34c850ebf_2_20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3534c850ebf_2_20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3e1abb4f4_1_5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53e1abb4f4_1_5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34c850ebf_2_47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534c850ebf_2_47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8a0002158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f8a0002158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34c850ebf_2_41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534c850ebf_2_41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34c850ebf_2_42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534c850ebf_2_42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34c850ebf_2_48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3534c850ebf_2_48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34c850ebf_2_38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3534c850ebf_2_38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34c850ebf_2_39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g3534c850ebf_2_39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a5b7e47b0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9a5b7e47b0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34c850ebf_2_25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3534c850ebf_2_25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34c850ebf_2_27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3534c850ebf_2_27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534c850ebf_2_27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534c850ebf_2_27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34c850ebf_2_28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534c850ebf_2_28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34c850ebf_2_29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g3534c850ebf_2_29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34c850ebf_2_29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g3534c850ebf_2_29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534c850ebf_2_30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g3534c850ebf_2_30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34c850ebf_2_31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g3534c850ebf_2_31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534c850ebf_2_32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g3534c850ebf_2_32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34c850ebf_2_32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g3534c850ebf_2_32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534c850ebf_2_33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g3534c850ebf_2_33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34c850ebf_2_33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g3534c850ebf_2_33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534c850ebf_2_34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g3534c850ebf_2_34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534c850ebf_2_35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8" name="Google Shape;348;g3534c850ebf_2_35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534c850ebf_2_36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g3534c850ebf_2_36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534c850ebf_2_37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g3534c850ebf_2_37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534c850ebf_2_24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g3534c850ebf_2_24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9a5b7e47b0_0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g39a5b7e47b0_0_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9a5b7e47b0_0_1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g39a5b7e47b0_0_1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6f1cdef63_0_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g3e6f1cdef63_0_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534c850ebf_2_38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g3534c850ebf_2_38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535e628fd5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g3535e628fd5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853c110563_0_2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g3853c110563_0_2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" type="body"/>
          </p:nvPr>
        </p:nvSpPr>
        <p:spPr>
          <a:xfrm>
            <a:off x="249504" y="628650"/>
            <a:ext cx="5266791" cy="1161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ctrTitle"/>
          </p:nvPr>
        </p:nvSpPr>
        <p:spPr>
          <a:xfrm>
            <a:off x="1434846" y="161036"/>
            <a:ext cx="2867025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subTitle"/>
          </p:nvPr>
        </p:nvSpPr>
        <p:spPr>
          <a:xfrm>
            <a:off x="86664" y="2450693"/>
            <a:ext cx="469455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5760719" cy="7193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6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" type="body"/>
          </p:nvPr>
        </p:nvSpPr>
        <p:spPr>
          <a:xfrm>
            <a:off x="249504" y="628650"/>
            <a:ext cx="5266791" cy="1161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jp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jp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jpg"/><Relationship Id="rId4" Type="http://schemas.openxmlformats.org/officeDocument/2006/relationships/image" Target="../media/image10.jpg"/><Relationship Id="rId5" Type="http://schemas.openxmlformats.org/officeDocument/2006/relationships/image" Target="../media/image19.jpg"/><Relationship Id="rId6" Type="http://schemas.openxmlformats.org/officeDocument/2006/relationships/image" Target="../media/image1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jp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jp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0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visualgo.net/en/dfsbfs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>
            <p:ph type="title"/>
          </p:nvPr>
        </p:nvSpPr>
        <p:spPr>
          <a:xfrm>
            <a:off x="1054100" y="1089025"/>
            <a:ext cx="3840479" cy="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452"/>
              </a:buClr>
              <a:buSzPts val="1800"/>
              <a:buFont typeface="Tahoma"/>
              <a:buNone/>
            </a:pPr>
            <a:r>
              <a:rPr b="0" i="0" lang="en-US" sz="1800" u="none" strike="noStrike">
                <a:solidFill>
                  <a:srgbClr val="3C4452"/>
                </a:solidFill>
                <a:latin typeface="Tahoma"/>
                <a:ea typeface="Tahoma"/>
                <a:cs typeface="Tahoma"/>
                <a:sym typeface="Tahoma"/>
              </a:rPr>
              <a:t>Lecture: Graph Traversals (DFS)</a:t>
            </a:r>
            <a:endParaRPr sz="2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534c850ebf_1_742"/>
          <p:cNvSpPr txBox="1"/>
          <p:nvPr/>
        </p:nvSpPr>
        <p:spPr>
          <a:xfrm>
            <a:off x="2031351" y="56961"/>
            <a:ext cx="1703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Graph traversals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" name="Google Shape;50;g3534c850ebf_1_742"/>
          <p:cNvSpPr txBox="1"/>
          <p:nvPr/>
        </p:nvSpPr>
        <p:spPr>
          <a:xfrm>
            <a:off x="73625" y="355925"/>
            <a:ext cx="4433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common graph traversal algorithms: BFS &amp; DFS</a:t>
            </a:r>
            <a:endParaRPr b="1" i="0" sz="11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" name="Google Shape;51;g3534c850ebf_1_742"/>
          <p:cNvGraphicFramePr/>
          <p:nvPr/>
        </p:nvGraphicFramePr>
        <p:xfrm>
          <a:off x="73625" y="68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{8A815504-6AC7-4428-BB7C-43E45BFC08ED}</a:tableStyleId>
              </a:tblPr>
              <a:tblGrid>
                <a:gridCol w="2367225"/>
                <a:gridCol w="3251325"/>
              </a:tblGrid>
              <a:tr h="139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Breadth-First Search (BFS)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14300" lvl="0" marL="114300" marR="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●"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Start with the </a:t>
                      </a: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source vertex [always]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14300" lvl="0" marL="1143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●"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Explores </a:t>
                      </a: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breadth-first (level-wise)</a:t>
                      </a: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07950" lvl="0" marL="314325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●"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Visits all neighbors at the </a:t>
                      </a:r>
                      <a:r>
                        <a:rPr b="1" lang="en-US" sz="8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current level</a:t>
                      </a: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b="1" lang="en-US" sz="800" u="none" cap="none" strike="noStrike">
                          <a:solidFill>
                            <a:srgbClr val="99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before</a:t>
                      </a: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800" u="sng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moving to the next</a:t>
                      </a: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 </a:t>
                      </a:r>
                      <a:b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</a:b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[</a:t>
                      </a:r>
                      <a:r>
                        <a:rPr lang="en-US" sz="800" u="sng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Similar to ripple effect in water</a:t>
                      </a: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]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14300" lvl="0" marL="1143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ahoma"/>
                        <a:buChar char="●"/>
                      </a:pPr>
                      <a:r>
                        <a:rPr lang="en-US" sz="800" u="sng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Uses Queue (FIFO)</a:t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Depth-First Search (DFS)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36525" lvl="0" marL="142875" marR="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●"/>
                      </a:pP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Start with the </a:t>
                      </a: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source vertex [always]</a:t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36525" lvl="0" marL="142875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ahoma"/>
                        <a:buChar char="●"/>
                      </a:pPr>
                      <a:r>
                        <a:rPr lang="en-US" sz="800" u="sng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Explores </a:t>
                      </a:r>
                      <a:r>
                        <a:rPr b="1" lang="en-US" sz="800" u="sng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depth-first,</a:t>
                      </a:r>
                      <a:r>
                        <a:rPr lang="en-US" sz="800" u="sng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following one path as far as possible before backtracking when </a:t>
                      </a:r>
                      <a:r>
                        <a:rPr b="1" lang="en-US" sz="800" u="sng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all neighboring nodes have been visited (no further choices remain).</a:t>
                      </a:r>
                      <a:endParaRPr b="1" sz="800" u="sng" cap="none" strike="noStrike">
                        <a:solidFill>
                          <a:srgbClr val="0000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36525" lvl="0" marL="142875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ahoma"/>
                        <a:buChar char="●"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Recursively visit</a:t>
                      </a:r>
                      <a:r>
                        <a:rPr lang="en-US" sz="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each neighbor </a:t>
                      </a:r>
                      <a:r>
                        <a:rPr b="1" lang="en-US" sz="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b="1" lang="en-US" sz="800" u="sng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Recursive call stack</a:t>
                      </a:r>
                      <a:r>
                        <a:rPr b="1" lang="en-US" sz="8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136525" lvl="0" marL="142875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ahoma"/>
                        <a:buChar char="●"/>
                      </a:pPr>
                      <a:r>
                        <a:rPr lang="en-US" sz="800" u="sng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Uses Stack (LIFO)</a:t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52" name="Google Shape;52;g3534c850ebf_1_742" title="ripple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126" y="2300550"/>
            <a:ext cx="1184325" cy="85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g3534c850ebf_1_742" title="maz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3250" y="2300550"/>
            <a:ext cx="2254245" cy="8556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534c850ebf_1_742"/>
          <p:cNvSpPr txBox="1"/>
          <p:nvPr/>
        </p:nvSpPr>
        <p:spPr>
          <a:xfrm>
            <a:off x="3627550" y="-2900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(Important!!!)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83d757685_0_0"/>
          <p:cNvSpPr txBox="1"/>
          <p:nvPr/>
        </p:nvSpPr>
        <p:spPr>
          <a:xfrm>
            <a:off x="545725" y="894125"/>
            <a:ext cx="49491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Alphabetical options: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Choose the alphabetically closest.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Numerical options: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Follow stated order (ascending/descending).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order given / mentioned: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Select any option (any neighboring node you want).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sng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Always follow the traversal order specified in the question.</a:t>
            </a:r>
            <a:endParaRPr b="0" i="0" sz="1300" u="sng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" name="Google Shape;60;g3583d757685_0_0"/>
          <p:cNvSpPr txBox="1"/>
          <p:nvPr/>
        </p:nvSpPr>
        <p:spPr>
          <a:xfrm>
            <a:off x="1254875" y="3043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583d757685_0_0"/>
          <p:cNvSpPr txBox="1"/>
          <p:nvPr/>
        </p:nvSpPr>
        <p:spPr>
          <a:xfrm>
            <a:off x="1172875" y="272350"/>
            <a:ext cx="37458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Vertex Selection Rules in Traversal</a:t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/>
        </p:nvSpPr>
        <p:spPr>
          <a:xfrm>
            <a:off x="2104404" y="161025"/>
            <a:ext cx="2071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7" name="Google Shape;67;p10"/>
          <p:cNvSpPr txBox="1"/>
          <p:nvPr/>
        </p:nvSpPr>
        <p:spPr>
          <a:xfrm>
            <a:off x="663503" y="581525"/>
            <a:ext cx="4633200" cy="22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98450" lvl="0" marL="457200" marR="124587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Starts from an initial vertex.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124587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Recursively visits each adjacent vertex.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Strategy to search </a:t>
            </a:r>
            <a:r>
              <a:rPr b="1" i="0" lang="en-US" sz="11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deeper</a:t>
            </a:r>
            <a:r>
              <a:rPr b="0" i="0" lang="en-US" sz="11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into the graph, unlike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BFS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fans out.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explores edges from the </a:t>
            </a:r>
            <a:r>
              <a:rPr b="1" i="0" lang="en-US" sz="11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recently discovered vertex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unexplored edges.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b="0" i="0" lang="en-US" sz="11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all edges of a vertex are explored, it backtracks to its parent.</a:t>
            </a:r>
            <a:endParaRPr b="0" i="0" sz="11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2CC"/>
              </a:buClr>
              <a:buSzPts val="1100"/>
              <a:buFont typeface="Calibri"/>
              <a:buChar char="●"/>
            </a:pPr>
            <a:r>
              <a:rPr b="0" i="0" lang="en-US" sz="1100" u="sng" cap="none" strike="noStrike">
                <a:solidFill>
                  <a:srgbClr val="0032CC"/>
                </a:solidFill>
                <a:latin typeface="Calibri"/>
                <a:ea typeface="Calibri"/>
                <a:cs typeface="Calibri"/>
                <a:sym typeface="Calibri"/>
              </a:rPr>
              <a:t>If any vertices remain undiscovered</a:t>
            </a:r>
            <a:r>
              <a:rPr b="0" i="0" lang="en-US" sz="1100" u="none" cap="none" strike="noStrike">
                <a:solidFill>
                  <a:srgbClr val="0032C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100" u="sng" cap="none" strike="noStrike">
                <a:solidFill>
                  <a:srgbClr val="0032CC"/>
                </a:solidFill>
                <a:latin typeface="Calibri"/>
                <a:ea typeface="Calibri"/>
                <a:cs typeface="Calibri"/>
                <a:sym typeface="Calibri"/>
              </a:rPr>
              <a:t>DFS starts again from one of them.</a:t>
            </a:r>
            <a:endParaRPr b="0" i="0" sz="1100" u="sng" cap="none" strike="noStrike">
              <a:solidFill>
                <a:srgbClr val="0032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DFS produces a </a:t>
            </a:r>
            <a:r>
              <a:rPr b="0" i="0" lang="en-US" sz="11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depth-first forest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(collection of DFS trees)/DFS tree.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34c850ebf_1_769"/>
          <p:cNvSpPr txBox="1"/>
          <p:nvPr/>
        </p:nvSpPr>
        <p:spPr>
          <a:xfrm>
            <a:off x="2104404" y="161025"/>
            <a:ext cx="2071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" name="Google Shape;73;g3534c850ebf_1_769"/>
          <p:cNvSpPr txBox="1"/>
          <p:nvPr/>
        </p:nvSpPr>
        <p:spPr>
          <a:xfrm>
            <a:off x="391750" y="677875"/>
            <a:ext cx="5155200" cy="19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during traversal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17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b="0" i="1" lang="en-US" sz="11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color </a:t>
            </a:r>
            <a:r>
              <a:rPr b="0" i="0" lang="en-US" sz="1100" u="none" cap="none" strike="noStrike">
                <a:solidFill>
                  <a:schemeClr val="hlink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b="0" i="1" lang="en-US" sz="11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1100" u="none" cap="none" strike="noStrike">
                <a:solidFill>
                  <a:schemeClr val="hlink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</a:t>
            </a:r>
            <a:r>
              <a:rPr b="0" i="0" lang="en-US" sz="1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color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each vertex visited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○"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white: </a:t>
            </a:r>
            <a:r>
              <a:rPr b="0" i="0" lang="en-US" sz="1000" u="none" cap="none" strike="noStrike">
                <a:solidFill>
                  <a:srgbClr val="3C7F31"/>
                </a:solidFill>
                <a:latin typeface="Calibri"/>
                <a:ea typeface="Calibri"/>
                <a:cs typeface="Calibri"/>
                <a:sym typeface="Calibri"/>
              </a:rPr>
              <a:t>undiscovered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marR="5765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○"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gray: </a:t>
            </a:r>
            <a:r>
              <a:rPr b="0" i="0" lang="en-US" sz="1000" u="none" cap="none" strike="noStrike">
                <a:solidFill>
                  <a:srgbClr val="3C7F31"/>
                </a:solidFill>
                <a:latin typeface="Calibri"/>
                <a:ea typeface="Calibri"/>
                <a:cs typeface="Calibri"/>
                <a:sym typeface="Calibri"/>
              </a:rPr>
              <a:t>discovered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not finished processing 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marR="5765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○"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black: </a:t>
            </a:r>
            <a:r>
              <a:rPr b="0" i="0" lang="en-US" sz="1000" u="none" cap="none" strike="noStrike">
                <a:solidFill>
                  <a:srgbClr val="3C7F31"/>
                </a:solidFill>
                <a:latin typeface="Calibri"/>
                <a:ea typeface="Calibri"/>
                <a:cs typeface="Calibri"/>
                <a:sym typeface="Calibri"/>
              </a:rPr>
              <a:t>finished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1" lang="en-US" sz="1100" u="none" cap="none" strike="noStrike">
                <a:solidFill>
                  <a:srgbClr val="0000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π</a:t>
            </a:r>
            <a:r>
              <a:rPr b="0" i="0" lang="en-US" sz="1100" u="none" cap="none" strike="noStrike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b="0" i="1" lang="en-US" sz="11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0" i="0" lang="en-US" sz="1100" u="none" cap="none" strike="noStrike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 or </a:t>
            </a:r>
            <a:r>
              <a:rPr b="0" i="1" lang="en-US" sz="1100" u="none" cap="none" strike="noStrike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</a:t>
            </a:r>
            <a:r>
              <a:rPr b="0" i="0" lang="en-US" sz="1100" u="none" cap="none" strike="noStrike">
                <a:solidFill>
                  <a:schemeClr val="hlink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b="0" i="1" lang="en-US" sz="11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0" i="0" lang="en-US" sz="1100" u="none" cap="none" strike="noStrike">
                <a:solidFill>
                  <a:schemeClr val="hlink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the </a:t>
            </a:r>
            <a:r>
              <a:rPr b="0" i="0" lang="en-US" sz="1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predecessor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u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1" lang="en-US" sz="11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b="0" i="0" lang="en-US" sz="1100" u="none" cap="none" strike="noStrike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b="0" i="1" lang="en-US" sz="11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0" i="0" lang="en-US" sz="1100" u="none" cap="none" strike="noStrike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the </a:t>
            </a:r>
            <a:r>
              <a:rPr b="0" i="0" lang="en-US" sz="1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discovery time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(or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hops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the start) </a:t>
            </a:r>
            <a:r>
              <a:rPr b="1" i="0" lang="en-US" sz="11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IMPORTANT!!!!!</a:t>
            </a:r>
            <a:endParaRPr b="1" i="0" sz="1100" u="none" cap="none" strike="noStrike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1" lang="en-US" sz="11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 </a:t>
            </a:r>
            <a:r>
              <a:rPr b="0" i="0" lang="en-US" sz="1100" u="none" cap="none" strike="noStrike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b="0" i="1" lang="en-US" sz="11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1100" u="none" cap="none" strike="noStrike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the </a:t>
            </a:r>
            <a:r>
              <a:rPr b="0" i="0" lang="en-US" sz="1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finish time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when processing of </a:t>
            </a:r>
            <a:r>
              <a:rPr b="0" i="1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all its descendants have finished.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34c850ebf_1_777"/>
          <p:cNvSpPr txBox="1"/>
          <p:nvPr/>
        </p:nvSpPr>
        <p:spPr>
          <a:xfrm>
            <a:off x="1349575" y="99800"/>
            <a:ext cx="2913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Algorithm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9" name="Google Shape;79;g3534c850ebf_1_777" title="DFS al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5225" y="440200"/>
            <a:ext cx="1850426" cy="274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34c850ebf_2_0"/>
          <p:cNvSpPr txBox="1"/>
          <p:nvPr/>
        </p:nvSpPr>
        <p:spPr>
          <a:xfrm>
            <a:off x="1253700" y="99800"/>
            <a:ext cx="3252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5" name="Google Shape;85;g3534c850ebf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114" y="809273"/>
            <a:ext cx="1741932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g3534c850ebf_2_0" title="DFS al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5400" y="440200"/>
            <a:ext cx="1799605" cy="2666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534c850ebf_2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151" y="741557"/>
            <a:ext cx="1741932" cy="1078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3534c850ebf_2_8" title="DFS al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2450" y="374300"/>
            <a:ext cx="1799605" cy="266608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534c850ebf_2_8"/>
          <p:cNvSpPr txBox="1"/>
          <p:nvPr/>
        </p:nvSpPr>
        <p:spPr>
          <a:xfrm>
            <a:off x="846650" y="0"/>
            <a:ext cx="45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534c850ebf_2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726" y="719607"/>
            <a:ext cx="1741932" cy="1083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534c850ebf_2_16" title="DFS al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4300" y="440200"/>
            <a:ext cx="1799605" cy="266608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534c850ebf_2_16"/>
          <p:cNvSpPr txBox="1"/>
          <p:nvPr/>
        </p:nvSpPr>
        <p:spPr>
          <a:xfrm>
            <a:off x="846650" y="0"/>
            <a:ext cx="45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3534c850ebf_2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651" y="704782"/>
            <a:ext cx="1741932" cy="1133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534c850ebf_2_24" title="DFS al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3550" y="440200"/>
            <a:ext cx="1799605" cy="266608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534c850ebf_2_24"/>
          <p:cNvSpPr txBox="1"/>
          <p:nvPr/>
        </p:nvSpPr>
        <p:spPr>
          <a:xfrm>
            <a:off x="846650" y="0"/>
            <a:ext cx="45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3534c850ebf_2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876" y="658407"/>
            <a:ext cx="1741932" cy="1133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534c850ebf_2_32" title="DFS al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1725" y="478725"/>
            <a:ext cx="1799605" cy="266608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534c850ebf_2_32"/>
          <p:cNvSpPr txBox="1"/>
          <p:nvPr/>
        </p:nvSpPr>
        <p:spPr>
          <a:xfrm>
            <a:off x="846650" y="0"/>
            <a:ext cx="45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534c850ebf_2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776" y="620882"/>
            <a:ext cx="1741932" cy="1133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534c850ebf_2_39" title="DFS al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440200"/>
            <a:ext cx="1799605" cy="266608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534c850ebf_2_39"/>
          <p:cNvSpPr txBox="1"/>
          <p:nvPr/>
        </p:nvSpPr>
        <p:spPr>
          <a:xfrm>
            <a:off x="846650" y="0"/>
            <a:ext cx="45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3534c850ebf_2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951" y="612107"/>
            <a:ext cx="1741932" cy="1133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534c850ebf_2_45" title="DFS al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0225" y="440200"/>
            <a:ext cx="1799605" cy="266608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534c850ebf_2_45"/>
          <p:cNvSpPr txBox="1"/>
          <p:nvPr/>
        </p:nvSpPr>
        <p:spPr>
          <a:xfrm>
            <a:off x="846650" y="0"/>
            <a:ext cx="45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3534c850ebf_2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251" y="612982"/>
            <a:ext cx="1741932" cy="1133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534c850ebf_2_51" title="DFS al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0250" y="440200"/>
            <a:ext cx="1799605" cy="266608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534c850ebf_2_51"/>
          <p:cNvSpPr txBox="1"/>
          <p:nvPr/>
        </p:nvSpPr>
        <p:spPr>
          <a:xfrm>
            <a:off x="846650" y="0"/>
            <a:ext cx="45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534c850ebf_2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401" y="628757"/>
            <a:ext cx="1741932" cy="1133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534c850ebf_2_66" title="DFS al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9850" y="440200"/>
            <a:ext cx="1799605" cy="266608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534c850ebf_2_66"/>
          <p:cNvSpPr txBox="1"/>
          <p:nvPr/>
        </p:nvSpPr>
        <p:spPr>
          <a:xfrm>
            <a:off x="846650" y="0"/>
            <a:ext cx="45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534c850ebf_2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676" y="551632"/>
            <a:ext cx="1741932" cy="1133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534c850ebf_2_74" title="DFS al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2675" y="440200"/>
            <a:ext cx="1799605" cy="266608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534c850ebf_2_74"/>
          <p:cNvSpPr txBox="1"/>
          <p:nvPr/>
        </p:nvSpPr>
        <p:spPr>
          <a:xfrm>
            <a:off x="846650" y="0"/>
            <a:ext cx="45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3534c850ebf_2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626" y="612957"/>
            <a:ext cx="1741932" cy="1133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534c850ebf_2_82" title="DFS al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440200"/>
            <a:ext cx="1799605" cy="266608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534c850ebf_2_82"/>
          <p:cNvSpPr txBox="1"/>
          <p:nvPr/>
        </p:nvSpPr>
        <p:spPr>
          <a:xfrm>
            <a:off x="846650" y="0"/>
            <a:ext cx="45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534c850ebf_2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351" y="734507"/>
            <a:ext cx="1737360" cy="1133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534c850ebf_2_97" title="DFS al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2800" y="374300"/>
            <a:ext cx="1799605" cy="266608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534c850ebf_2_97"/>
          <p:cNvSpPr txBox="1"/>
          <p:nvPr/>
        </p:nvSpPr>
        <p:spPr>
          <a:xfrm>
            <a:off x="846650" y="0"/>
            <a:ext cx="45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3534c850ebf_2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726" y="643507"/>
            <a:ext cx="1737360" cy="1133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534c850ebf_2_103" title="DFS al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2450" y="374300"/>
            <a:ext cx="1799605" cy="266608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534c850ebf_2_103"/>
          <p:cNvSpPr txBox="1"/>
          <p:nvPr/>
        </p:nvSpPr>
        <p:spPr>
          <a:xfrm>
            <a:off x="846650" y="0"/>
            <a:ext cx="453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17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34c850ebf_2_109"/>
          <p:cNvSpPr txBox="1"/>
          <p:nvPr/>
        </p:nvSpPr>
        <p:spPr>
          <a:xfrm>
            <a:off x="1151826" y="105925"/>
            <a:ext cx="3961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tree or forest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6" name="Google Shape;176;g3534c850ebf_2_109"/>
          <p:cNvPicPr preferRelativeResize="0"/>
          <p:nvPr/>
        </p:nvPicPr>
        <p:blipFill rotWithShape="1">
          <a:blip r:embed="rId3">
            <a:alphaModFix/>
          </a:blip>
          <a:srcRect b="0" l="0" r="0" t="17334"/>
          <a:stretch/>
        </p:blipFill>
        <p:spPr>
          <a:xfrm>
            <a:off x="457625" y="529575"/>
            <a:ext cx="1622591" cy="105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534c850ebf_2_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763" y="1905505"/>
            <a:ext cx="1541461" cy="1051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534c850ebf_2_1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89192" y="2052282"/>
            <a:ext cx="1433008" cy="1003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534c850ebf_2_10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25200" y="486688"/>
            <a:ext cx="1433008" cy="113736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534c850ebf_2_109"/>
          <p:cNvSpPr/>
          <p:nvPr/>
        </p:nvSpPr>
        <p:spPr>
          <a:xfrm>
            <a:off x="992175" y="1474050"/>
            <a:ext cx="317700" cy="274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1" name="Google Shape;181;g3534c850ebf_2_109"/>
          <p:cNvSpPr/>
          <p:nvPr/>
        </p:nvSpPr>
        <p:spPr>
          <a:xfrm>
            <a:off x="2417225" y="2350250"/>
            <a:ext cx="568200" cy="32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2" name="Google Shape;182;g3534c850ebf_2_109"/>
          <p:cNvSpPr/>
          <p:nvPr/>
        </p:nvSpPr>
        <p:spPr>
          <a:xfrm>
            <a:off x="3717100" y="1705125"/>
            <a:ext cx="317700" cy="274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34c850ebf_2_200"/>
          <p:cNvSpPr txBox="1"/>
          <p:nvPr/>
        </p:nvSpPr>
        <p:spPr>
          <a:xfrm>
            <a:off x="1151826" y="105925"/>
            <a:ext cx="3961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tree or forest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8" name="Google Shape;188;g3534c850ebf_2_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50" y="1029000"/>
            <a:ext cx="1545575" cy="100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534c850ebf_2_200" title="DFS_tre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7000" y="783150"/>
            <a:ext cx="1430851" cy="178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534c850ebf_2_200"/>
          <p:cNvSpPr/>
          <p:nvPr/>
        </p:nvSpPr>
        <p:spPr>
          <a:xfrm>
            <a:off x="1762313" y="1369700"/>
            <a:ext cx="568200" cy="32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3e1abb4f4_1_57"/>
          <p:cNvSpPr txBox="1"/>
          <p:nvPr/>
        </p:nvSpPr>
        <p:spPr>
          <a:xfrm>
            <a:off x="1151826" y="105925"/>
            <a:ext cx="3961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tree or forest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6" name="Google Shape;196;g353e1abb4f4_1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650" y="913450"/>
            <a:ext cx="1362625" cy="88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53e1abb4f4_1_57" title="DFS_tre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40625" y="570025"/>
            <a:ext cx="1430851" cy="178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53e1abb4f4_1_57"/>
          <p:cNvSpPr/>
          <p:nvPr/>
        </p:nvSpPr>
        <p:spPr>
          <a:xfrm>
            <a:off x="1560274" y="1138600"/>
            <a:ext cx="327600" cy="27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9" name="Google Shape;199;g353e1abb4f4_1_57"/>
          <p:cNvSpPr/>
          <p:nvPr/>
        </p:nvSpPr>
        <p:spPr>
          <a:xfrm>
            <a:off x="3424225" y="1177150"/>
            <a:ext cx="377400" cy="19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0" name="Google Shape;200;g353e1abb4f4_1_57" title="DFS_tree_edge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93550" y="545125"/>
            <a:ext cx="1793401" cy="183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34c850ebf_2_474"/>
          <p:cNvSpPr txBox="1"/>
          <p:nvPr/>
        </p:nvSpPr>
        <p:spPr>
          <a:xfrm>
            <a:off x="1595901" y="105925"/>
            <a:ext cx="3961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tree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6" name="Google Shape;206;g3534c850ebf_2_474" title="DFS_tree_p2_new.png"/>
          <p:cNvPicPr preferRelativeResize="0"/>
          <p:nvPr/>
        </p:nvPicPr>
        <p:blipFill rotWithShape="1">
          <a:blip r:embed="rId3">
            <a:alphaModFix/>
          </a:blip>
          <a:srcRect b="68582" l="2099" r="50420" t="-2045"/>
          <a:stretch/>
        </p:blipFill>
        <p:spPr>
          <a:xfrm>
            <a:off x="139700" y="624275"/>
            <a:ext cx="5417402" cy="172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8a0002158_0_0"/>
          <p:cNvSpPr txBox="1"/>
          <p:nvPr/>
        </p:nvSpPr>
        <p:spPr>
          <a:xfrm>
            <a:off x="1595901" y="105925"/>
            <a:ext cx="3961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tree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2" name="Google Shape;212;g3f8a0002158_0_0"/>
          <p:cNvSpPr txBox="1"/>
          <p:nvPr/>
        </p:nvSpPr>
        <p:spPr>
          <a:xfrm>
            <a:off x="568525" y="2585000"/>
            <a:ext cx="5095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Vertices are annotated with their </a:t>
            </a: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discovery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finish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times.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Arrows point to each vertex’s ancestor.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Solid lines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tree edges.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Dashed lines</a:t>
            </a: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non-tree edges (back edges in an undirected graph).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3" name="Google Shape;213;g3f8a0002158_0_0" title="DFS_tree_p2_n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150" y="380413"/>
            <a:ext cx="4879499" cy="220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34c850ebf_2_411"/>
          <p:cNvSpPr txBox="1"/>
          <p:nvPr/>
        </p:nvSpPr>
        <p:spPr>
          <a:xfrm>
            <a:off x="645200" y="148775"/>
            <a:ext cx="44754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Edges </a:t>
            </a:r>
            <a:r>
              <a:rPr b="0" i="0" lang="en-US" sz="1500" u="sng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(Not needed for CSE220)</a:t>
            </a: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9" name="Google Shape;219;g3534c850ebf_2_411"/>
          <p:cNvSpPr txBox="1"/>
          <p:nvPr/>
        </p:nvSpPr>
        <p:spPr>
          <a:xfrm>
            <a:off x="276300" y="632275"/>
            <a:ext cx="52776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DFS introduces an i</a:t>
            </a:r>
            <a:r>
              <a:rPr b="0" i="0" lang="en-US" sz="12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mportant distinction among edges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 the original graph: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●"/>
            </a:pP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Tree edge: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encounter new (white) vertex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●"/>
            </a:pP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Back edge: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from </a:t>
            </a:r>
            <a:r>
              <a:rPr b="0" i="0" lang="en-US" sz="12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descendent to ancestor</a:t>
            </a:r>
            <a:endParaRPr b="0" i="0" sz="12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●"/>
            </a:pP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Forward edge: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from </a:t>
            </a:r>
            <a:r>
              <a:rPr b="0" i="0" lang="en-US" sz="12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ancestor to descendent</a:t>
            </a:r>
            <a:endParaRPr b="0" i="0" sz="12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●"/>
            </a:pP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Cross edge: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between a tree or subtrees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Note: </a:t>
            </a:r>
            <a:r>
              <a:rPr b="0" i="0" lang="en-US" sz="1200" u="sng" cap="none" strike="noStrike">
                <a:solidFill>
                  <a:srgbClr val="0032CC"/>
                </a:solidFill>
                <a:latin typeface="Tahoma"/>
                <a:ea typeface="Tahoma"/>
                <a:cs typeface="Tahoma"/>
                <a:sym typeface="Tahoma"/>
              </a:rPr>
              <a:t>tree &amp; back edges are important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; most algorithms don’t distinguish forward &amp; cross</a:t>
            </a:r>
            <a:b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34c850ebf_2_429"/>
          <p:cNvSpPr txBox="1"/>
          <p:nvPr/>
        </p:nvSpPr>
        <p:spPr>
          <a:xfrm>
            <a:off x="130250" y="632275"/>
            <a:ext cx="55497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of these 4 edges:</a:t>
            </a:r>
            <a:br>
              <a:rPr b="1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Tree edge: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Connects a vertex to a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newly discovered vertex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building the DFS tree.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Back edge: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Points to an ancestor, identifying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cycle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the graph.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Forward edge: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helps in depth classification,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topological sorting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and identifying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strongly connected components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(SCCs).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Cross edge: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Connects nodes in </a:t>
            </a: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different DFS branches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or subtrees.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b="1" i="0" lang="en-US" sz="14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Details of there edges will be covered in CSE221</a:t>
            </a:r>
            <a:endParaRPr b="1" i="0" sz="14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5" name="Google Shape;225;g3534c850ebf_2_429"/>
          <p:cNvSpPr txBox="1"/>
          <p:nvPr/>
        </p:nvSpPr>
        <p:spPr>
          <a:xfrm>
            <a:off x="645200" y="148775"/>
            <a:ext cx="44754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Edges </a:t>
            </a:r>
            <a:r>
              <a:rPr b="0" i="0" lang="en-US" sz="15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(Not needed for CSE220) </a:t>
            </a:r>
            <a:endParaRPr b="0" i="0" sz="1500" u="none" cap="none" strike="noStrike">
              <a:solidFill>
                <a:srgbClr val="99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34c850ebf_2_485"/>
          <p:cNvSpPr txBox="1"/>
          <p:nvPr/>
        </p:nvSpPr>
        <p:spPr>
          <a:xfrm>
            <a:off x="1631176" y="97725"/>
            <a:ext cx="3961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31" name="Google Shape;231;g3534c850ebf_2_485" title="BFS_tree_p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850" y="564800"/>
            <a:ext cx="3593100" cy="138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534c850ebf_2_485"/>
          <p:cNvSpPr txBox="1"/>
          <p:nvPr/>
        </p:nvSpPr>
        <p:spPr>
          <a:xfrm>
            <a:off x="125375" y="2022300"/>
            <a:ext cx="5466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rebuchet MS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single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DFS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from </a:t>
            </a:r>
            <a:r>
              <a:rPr b="0" i="0" lang="en-US" sz="10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vertex </a:t>
            </a:r>
            <a:r>
              <a:rPr b="1" i="0" lang="en-US" sz="10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visits only its </a:t>
            </a:r>
            <a:r>
              <a:rPr b="1" i="0" lang="en-US" sz="1000" u="sng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connected component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rebuchet MS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Vertices like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and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are not visited if they are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not reachable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from A.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0"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Trebuchet MS"/>
              <a:buChar char="●"/>
            </a:pPr>
            <a:r>
              <a:rPr b="0" i="0" lang="en-US" sz="10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To visit </a:t>
            </a:r>
            <a:r>
              <a:rPr b="1" i="0" lang="en-US" sz="10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all vertices</a:t>
            </a:r>
            <a:r>
              <a:rPr b="0" i="0" lang="en-US" sz="10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, perform </a:t>
            </a:r>
            <a:r>
              <a:rPr b="1" i="0" lang="en-US" sz="10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DFS</a:t>
            </a:r>
            <a:r>
              <a:rPr b="0" i="0" lang="en-US" sz="10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 from </a:t>
            </a:r>
            <a:r>
              <a:rPr b="1" i="0" lang="en-US" sz="10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each unvisited vertex</a:t>
            </a:r>
            <a:r>
              <a:rPr b="0" i="0" lang="en-US" sz="10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000" u="none" cap="none" strike="noStrike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rebuchet MS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This ensures traversal of the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entire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including all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disconnected components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3534c850ebf_2_387" title="DFS algo - Cop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351" y="483850"/>
            <a:ext cx="2084215" cy="256574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534c850ebf_2_387"/>
          <p:cNvSpPr txBox="1"/>
          <p:nvPr/>
        </p:nvSpPr>
        <p:spPr>
          <a:xfrm>
            <a:off x="2682400" y="534300"/>
            <a:ext cx="2833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Running time: O(V²) + O(V) = O(V²)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DFS_Visit is called on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vertex</a:t>
            </a:r>
            <a:endParaRPr b="0" i="0" sz="10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loop over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Adj[] can run up to |V|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times per vertex in the worst case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1" lang="en-US" sz="1100" u="none" cap="none" strike="noStrike">
                <a:solidFill>
                  <a:srgbClr val="0032CC"/>
                </a:solidFill>
                <a:latin typeface="Arial"/>
                <a:ea typeface="Arial"/>
                <a:cs typeface="Arial"/>
                <a:sym typeface="Arial"/>
              </a:rPr>
              <a:t>How many times will DFS_Visit() actually be called?</a:t>
            </a:r>
            <a:endParaRPr b="1" i="1" sz="1100" u="none" cap="none" strike="noStrike">
              <a:solidFill>
                <a:srgbClr val="0032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534c850ebf_2_387"/>
          <p:cNvSpPr txBox="1"/>
          <p:nvPr/>
        </p:nvSpPr>
        <p:spPr>
          <a:xfrm>
            <a:off x="1219175" y="99800"/>
            <a:ext cx="3140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search- Analysis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534c850ebf_2_399"/>
          <p:cNvSpPr txBox="1"/>
          <p:nvPr/>
        </p:nvSpPr>
        <p:spPr>
          <a:xfrm>
            <a:off x="1219175" y="99800"/>
            <a:ext cx="3140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search- Analysis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5" name="Google Shape;245;g3534c850ebf_2_399" title="DFS algo - Cop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351" y="483850"/>
            <a:ext cx="2084215" cy="256574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3534c850ebf_2_399"/>
          <p:cNvSpPr txBox="1"/>
          <p:nvPr/>
        </p:nvSpPr>
        <p:spPr>
          <a:xfrm>
            <a:off x="2319575" y="546550"/>
            <a:ext cx="33321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But often DFS is more efficient: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Processing:</a:t>
            </a:r>
            <a:endParaRPr b="1" i="0" sz="10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vertex is visited exactly once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rebuchet MS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DFS_Visit() is called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once per vertex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So, time required: O(V)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 Processing:</a:t>
            </a:r>
            <a:endParaRPr b="1" i="0" sz="10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○"/>
            </a:pP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 Graph: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edge is explored once → O(E)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○"/>
            </a:pP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Undirected Graph: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Each edge is explored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twice (once per endpoint) → O(2E) ≈ O(E)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○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So, time required: O(E)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So, total time = O(V + E) instead of O(V²)</a:t>
            </a:r>
            <a:b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a5b7e47b0_0_0"/>
          <p:cNvSpPr txBox="1"/>
          <p:nvPr/>
        </p:nvSpPr>
        <p:spPr>
          <a:xfrm>
            <a:off x="212200" y="76125"/>
            <a:ext cx="51627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9a5b7e47b0_0_0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53" name="Google Shape;253;g39a5b7e47b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450" y="891000"/>
            <a:ext cx="3873741" cy="220038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9a5b7e47b0_0_0"/>
          <p:cNvSpPr txBox="1"/>
          <p:nvPr/>
        </p:nvSpPr>
        <p:spPr>
          <a:xfrm>
            <a:off x="904475" y="521700"/>
            <a:ext cx="441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this example: Choose neighbors alphabetically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34c850ebf_2_259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0" name="Google Shape;260;g3534c850ebf_2_2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775" y="601100"/>
            <a:ext cx="3878990" cy="220038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534c850ebf_2_259"/>
          <p:cNvSpPr txBox="1"/>
          <p:nvPr/>
        </p:nvSpPr>
        <p:spPr>
          <a:xfrm>
            <a:off x="212200" y="76125"/>
            <a:ext cx="51627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34c850ebf_2_272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7" name="Google Shape;267;g3534c850ebf_2_2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550" y="601100"/>
            <a:ext cx="3878990" cy="220038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534c850ebf_2_272"/>
          <p:cNvSpPr txBox="1"/>
          <p:nvPr/>
        </p:nvSpPr>
        <p:spPr>
          <a:xfrm>
            <a:off x="212200" y="76125"/>
            <a:ext cx="51627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34c850ebf_2_278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4" name="Google Shape;274;g3534c850ebf_2_2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725" y="575950"/>
            <a:ext cx="3878990" cy="220038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534c850ebf_2_278"/>
          <p:cNvSpPr txBox="1"/>
          <p:nvPr/>
        </p:nvSpPr>
        <p:spPr>
          <a:xfrm>
            <a:off x="212200" y="76125"/>
            <a:ext cx="51627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34c850ebf_2_284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1" name="Google Shape;281;g3534c850ebf_2_2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050" y="557600"/>
            <a:ext cx="3878990" cy="220038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534c850ebf_2_284"/>
          <p:cNvSpPr txBox="1"/>
          <p:nvPr/>
        </p:nvSpPr>
        <p:spPr>
          <a:xfrm>
            <a:off x="212200" y="76125"/>
            <a:ext cx="51627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34c850ebf_2_290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8" name="Google Shape;288;g3534c850ebf_2_2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250" y="563700"/>
            <a:ext cx="3878990" cy="220038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3534c850ebf_2_290"/>
          <p:cNvSpPr txBox="1"/>
          <p:nvPr/>
        </p:nvSpPr>
        <p:spPr>
          <a:xfrm>
            <a:off x="212200" y="76125"/>
            <a:ext cx="51627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34c850ebf_2_296"/>
          <p:cNvSpPr txBox="1"/>
          <p:nvPr/>
        </p:nvSpPr>
        <p:spPr>
          <a:xfrm>
            <a:off x="51302" y="24500"/>
            <a:ext cx="43026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534c850ebf_2_296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96" name="Google Shape;296;g3534c850ebf_2_2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525" y="557575"/>
            <a:ext cx="3878990" cy="2200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534c850ebf_2_302"/>
          <p:cNvSpPr txBox="1"/>
          <p:nvPr/>
        </p:nvSpPr>
        <p:spPr>
          <a:xfrm>
            <a:off x="51302" y="24500"/>
            <a:ext cx="43026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534c850ebf_2_302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03" name="Google Shape;303;g3534c850ebf_2_3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725" y="601100"/>
            <a:ext cx="3878990" cy="2200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534c850ebf_2_315"/>
          <p:cNvSpPr txBox="1"/>
          <p:nvPr/>
        </p:nvSpPr>
        <p:spPr>
          <a:xfrm>
            <a:off x="51302" y="24500"/>
            <a:ext cx="43026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534c850ebf_2_315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10" name="Google Shape;310;g3534c850ebf_2_3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075" y="570500"/>
            <a:ext cx="3878990" cy="2200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534c850ebf_2_321"/>
          <p:cNvSpPr txBox="1"/>
          <p:nvPr/>
        </p:nvSpPr>
        <p:spPr>
          <a:xfrm>
            <a:off x="51302" y="24500"/>
            <a:ext cx="43026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534c850ebf_2_321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17" name="Google Shape;317;g3534c850ebf_2_3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725" y="522238"/>
            <a:ext cx="4201023" cy="2200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534c850ebf_2_327"/>
          <p:cNvSpPr txBox="1"/>
          <p:nvPr/>
        </p:nvSpPr>
        <p:spPr>
          <a:xfrm>
            <a:off x="51300" y="24500"/>
            <a:ext cx="45948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534c850ebf_2_327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24" name="Google Shape;324;g3534c850ebf_2_3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800" y="496375"/>
            <a:ext cx="3878990" cy="2200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534c850ebf_2_333"/>
          <p:cNvSpPr txBox="1"/>
          <p:nvPr/>
        </p:nvSpPr>
        <p:spPr>
          <a:xfrm>
            <a:off x="51302" y="24500"/>
            <a:ext cx="43026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0" name="Google Shape;330;g3534c850ebf_2_333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31" name="Google Shape;331;g3534c850ebf_2_3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475" y="601100"/>
            <a:ext cx="3878990" cy="2200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534c850ebf_2_339"/>
          <p:cNvSpPr txBox="1"/>
          <p:nvPr/>
        </p:nvSpPr>
        <p:spPr>
          <a:xfrm>
            <a:off x="51300" y="24500"/>
            <a:ext cx="45063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7" name="Google Shape;337;g3534c850ebf_2_339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38" name="Google Shape;338;g3534c850ebf_2_3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25" y="522238"/>
            <a:ext cx="3878990" cy="2200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534c850ebf_2_345"/>
          <p:cNvSpPr txBox="1"/>
          <p:nvPr/>
        </p:nvSpPr>
        <p:spPr>
          <a:xfrm>
            <a:off x="51302" y="24500"/>
            <a:ext cx="43026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4" name="Google Shape;344;g3534c850ebf_2_345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5" name="Google Shape;345;g3534c850ebf_2_3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075" y="601100"/>
            <a:ext cx="3878990" cy="2200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534c850ebf_2_359"/>
          <p:cNvSpPr txBox="1"/>
          <p:nvPr/>
        </p:nvSpPr>
        <p:spPr>
          <a:xfrm>
            <a:off x="51302" y="24500"/>
            <a:ext cx="43026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1" name="Google Shape;351;g3534c850ebf_2_359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52" name="Google Shape;352;g3534c850ebf_2_3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275" y="522238"/>
            <a:ext cx="3878990" cy="2200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534c850ebf_2_365"/>
          <p:cNvSpPr txBox="1"/>
          <p:nvPr/>
        </p:nvSpPr>
        <p:spPr>
          <a:xfrm>
            <a:off x="51302" y="24500"/>
            <a:ext cx="43026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8" name="Google Shape;358;g3534c850ebf_2_365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59" name="Google Shape;359;g3534c850ebf_2_3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175" y="496375"/>
            <a:ext cx="3920735" cy="2200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534c850ebf_2_371"/>
          <p:cNvSpPr txBox="1"/>
          <p:nvPr/>
        </p:nvSpPr>
        <p:spPr>
          <a:xfrm>
            <a:off x="51302" y="24500"/>
            <a:ext cx="43026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Depth-first search (Simulation </a:t>
            </a: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5" name="Google Shape;365;g3534c850ebf_2_371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66" name="Google Shape;366;g3534c850ebf_2_3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075" y="667800"/>
            <a:ext cx="3920735" cy="2200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534c850ebf_2_249"/>
          <p:cNvSpPr txBox="1"/>
          <p:nvPr/>
        </p:nvSpPr>
        <p:spPr>
          <a:xfrm>
            <a:off x="1392375" y="0"/>
            <a:ext cx="26493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Homework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534c850ebf_2_249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73" name="Google Shape;373;g3534c850ebf_2_249" title="Summer2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375" y="424425"/>
            <a:ext cx="3942050" cy="26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a5b7e47b0_0_8"/>
          <p:cNvSpPr txBox="1"/>
          <p:nvPr/>
        </p:nvSpPr>
        <p:spPr>
          <a:xfrm>
            <a:off x="1392375" y="0"/>
            <a:ext cx="26493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Homework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9a5b7e47b0_0_8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0" name="Google Shape;380;g39a5b7e47b0_0_8"/>
          <p:cNvSpPr txBox="1"/>
          <p:nvPr/>
        </p:nvSpPr>
        <p:spPr>
          <a:xfrm>
            <a:off x="167950" y="2459550"/>
            <a:ext cx="546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The graph is </a:t>
            </a:r>
            <a:r>
              <a:rPr b="1" lang="en-US" sz="900">
                <a:solidFill>
                  <a:schemeClr val="dk1"/>
                </a:solidFill>
              </a:rPr>
              <a:t>undirected (bidirectional)</a:t>
            </a:r>
            <a:r>
              <a:rPr lang="en-US" sz="900">
                <a:solidFill>
                  <a:schemeClr val="dk1"/>
                </a:solidFill>
              </a:rPr>
              <a:t> since the adjacency matrix is symmetric (A[i][j]=A[j][i]). </a:t>
            </a:r>
            <a:br>
              <a:rPr lang="en-US" sz="900">
                <a:solidFill>
                  <a:schemeClr val="dk1"/>
                </a:solidFill>
              </a:rPr>
            </a:br>
            <a:r>
              <a:rPr lang="en-US" sz="900">
                <a:solidFill>
                  <a:schemeClr val="dk1"/>
                </a:solidFill>
              </a:rPr>
              <a:t>Thus, each edge is represented twice (e.g., 0↔6). </a:t>
            </a:r>
            <a:br>
              <a:rPr lang="en-US" sz="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81" name="Google Shape;381;g39a5b7e47b0_0_8" title="Summer2025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663" y="440000"/>
            <a:ext cx="4662723" cy="198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9a5b7e47b0_0_17"/>
          <p:cNvSpPr txBox="1"/>
          <p:nvPr/>
        </p:nvSpPr>
        <p:spPr>
          <a:xfrm>
            <a:off x="1392375" y="0"/>
            <a:ext cx="26493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Homework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9a5b7e47b0_0_17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8" name="Google Shape;388;g39a5b7e47b0_0_17"/>
          <p:cNvSpPr txBox="1"/>
          <p:nvPr/>
        </p:nvSpPr>
        <p:spPr>
          <a:xfrm>
            <a:off x="884450" y="2613675"/>
            <a:ext cx="39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Traversal rule: </a:t>
            </a:r>
            <a:r>
              <a:rPr lang="en-US" sz="900">
                <a:solidFill>
                  <a:schemeClr val="dk1"/>
                </a:solidFill>
              </a:rPr>
              <a:t>Visit neighbors in </a:t>
            </a:r>
            <a:r>
              <a:rPr b="1" lang="en-US" sz="900" u="sng">
                <a:solidFill>
                  <a:schemeClr val="dk1"/>
                </a:solidFill>
              </a:rPr>
              <a:t>ascending order of edge weights</a:t>
            </a:r>
            <a:r>
              <a:rPr lang="en-US" sz="900">
                <a:solidFill>
                  <a:schemeClr val="dk1"/>
                </a:solidFill>
              </a:rPr>
              <a:t>; </a:t>
            </a:r>
            <a:br>
              <a:rPr lang="en-US" sz="900">
                <a:solidFill>
                  <a:schemeClr val="dk1"/>
                </a:solidFill>
              </a:rPr>
            </a:br>
            <a:r>
              <a:rPr lang="en-US" sz="900">
                <a:solidFill>
                  <a:schemeClr val="dk1"/>
                </a:solidFill>
              </a:rPr>
              <a:t>                          the smallest-weight edge is chosen first. </a:t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89" name="Google Shape;389;g39a5b7e47b0_0_17" title="summer25_sol_DFS - Cop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200" y="443325"/>
            <a:ext cx="3637391" cy="217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6f1cdef63_0_2"/>
          <p:cNvSpPr txBox="1"/>
          <p:nvPr/>
        </p:nvSpPr>
        <p:spPr>
          <a:xfrm>
            <a:off x="1392375" y="0"/>
            <a:ext cx="26493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Homework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e6f1cdef63_0_2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6" name="Google Shape;396;g3e6f1cdef63_0_2"/>
          <p:cNvSpPr txBox="1"/>
          <p:nvPr/>
        </p:nvSpPr>
        <p:spPr>
          <a:xfrm>
            <a:off x="884450" y="2613675"/>
            <a:ext cx="39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Traversal rule: </a:t>
            </a:r>
            <a:r>
              <a:rPr lang="en-US" sz="900">
                <a:solidFill>
                  <a:schemeClr val="dk1"/>
                </a:solidFill>
              </a:rPr>
              <a:t>Visit neighbors in </a:t>
            </a:r>
            <a:r>
              <a:rPr b="1" lang="en-US" sz="900" u="sng">
                <a:solidFill>
                  <a:schemeClr val="dk1"/>
                </a:solidFill>
              </a:rPr>
              <a:t>ascending order of edge weights</a:t>
            </a:r>
            <a:r>
              <a:rPr lang="en-US" sz="900">
                <a:solidFill>
                  <a:schemeClr val="dk1"/>
                </a:solidFill>
              </a:rPr>
              <a:t>; </a:t>
            </a:r>
            <a:br>
              <a:rPr lang="en-US" sz="900">
                <a:solidFill>
                  <a:schemeClr val="dk1"/>
                </a:solidFill>
              </a:rPr>
            </a:br>
            <a:r>
              <a:rPr lang="en-US" sz="900">
                <a:solidFill>
                  <a:schemeClr val="dk1"/>
                </a:solidFill>
              </a:rPr>
              <a:t>                          the smallest-weight edge is chosen first. </a:t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97" name="Google Shape;397;g3e6f1cdef63_0_2" title="f6469efb-452b-415d-a9c1-e5787d3b897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450" y="427150"/>
            <a:ext cx="3558022" cy="213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534c850ebf_2_380"/>
          <p:cNvSpPr txBox="1"/>
          <p:nvPr/>
        </p:nvSpPr>
        <p:spPr>
          <a:xfrm>
            <a:off x="-661975" y="142875"/>
            <a:ext cx="63252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Applications of DFS </a:t>
            </a:r>
            <a:br>
              <a:rPr b="0" i="0" lang="en-US" sz="16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6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(Just know that these can be done)</a:t>
            </a:r>
            <a:endParaRPr b="0" i="0" sz="16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9926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534c850ebf_2_380"/>
          <p:cNvSpPr txBox="1"/>
          <p:nvPr/>
        </p:nvSpPr>
        <p:spPr>
          <a:xfrm>
            <a:off x="5374894" y="3106281"/>
            <a:ext cx="219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rPr>
              <a:t>20/23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4" name="Google Shape;404;g3534c850ebf_2_380"/>
          <p:cNvSpPr txBox="1"/>
          <p:nvPr/>
        </p:nvSpPr>
        <p:spPr>
          <a:xfrm>
            <a:off x="441700" y="780550"/>
            <a:ext cx="4933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Topological Sorting: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Ordering vertices in a directed acyclic graph (DAG).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Strongly Connected Components (SCC):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Identifying subsets of vertices where every vertex is reachable from every other vertex.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Cycle Detection: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Detecting cycles in directed graphs using back edges.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Path Finding: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Finding paths between vertices in a graph.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Solving puzzles/mazes: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Like the Knight’s Tour problem or Sudoku.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1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Implementation will be covered in CSE221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05" name="Google Shape;405;g3534c850ebf_2_380" title="Untitle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4575" y="0"/>
            <a:ext cx="1498650" cy="833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535e628fd5_0_0"/>
          <p:cNvSpPr txBox="1"/>
          <p:nvPr>
            <p:ph type="title"/>
          </p:nvPr>
        </p:nvSpPr>
        <p:spPr>
          <a:xfrm>
            <a:off x="737475" y="1126050"/>
            <a:ext cx="4247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</a:rPr>
              <a:t>Use the following link to generate and traverse graphs: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https://visualgo.net/en/dfsbfs</a:t>
            </a:r>
            <a:endParaRPr sz="12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11" name="Google Shape;411;g3535e628fd5_0_0"/>
          <p:cNvSpPr txBox="1"/>
          <p:nvPr/>
        </p:nvSpPr>
        <p:spPr>
          <a:xfrm>
            <a:off x="799227" y="229800"/>
            <a:ext cx="43026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Interactive Graph Traversal with VisuAlgo</a:t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853c110563_0_27"/>
          <p:cNvSpPr txBox="1"/>
          <p:nvPr>
            <p:ph type="title"/>
          </p:nvPr>
        </p:nvSpPr>
        <p:spPr>
          <a:xfrm>
            <a:off x="2335151" y="1126050"/>
            <a:ext cx="1737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50">
                <a:solidFill>
                  <a:srgbClr val="000000"/>
                </a:solidFill>
              </a:rPr>
              <a:t>The End</a:t>
            </a:r>
            <a:endParaRPr sz="2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2025-05-02T12:21:58Z</dcterms:created>
  <dc:creator>Fadi Al Machot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2025-05-02T00:00:00Z</vt:filetime>
  </property>
  <property fmtid="{D5CDD505-2E9C-101B-9397-08002B2CF9AE}" pid="5" name="Producer">
    <vt:lpwstr>Microsoft® PowerPoint® for Microsoft 365</vt:lpwstr>
  </property>
</Properties>
</file>