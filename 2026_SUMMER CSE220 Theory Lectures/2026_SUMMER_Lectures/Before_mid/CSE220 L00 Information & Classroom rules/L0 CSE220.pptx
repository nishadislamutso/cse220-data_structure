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g0/Lkm/g1k4jTlihnLpPiN7Yfs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f0a6322bf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8f0a6322bf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50342027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850342027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5034202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85034202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f0a6322bf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8f0a6322bf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50342027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850342027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f0a6322b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8f0a6322b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50342027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850342027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50342027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85034202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f0a6322b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8f0a6322b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f0a6322bf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8f0a6322bf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f0a6322bf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8f0a6322b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50342027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850342027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50342027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850342027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50342027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850342027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zabermd/Data-Structures-and-their-Use-in-Elementary-Algorithms" TargetMode="External"/><Relationship Id="rId4" Type="http://schemas.openxmlformats.org/officeDocument/2006/relationships/hyperlink" Target="https://drive.google.com/drive/folders/1Q5CNVW4riPvp_L6dAXGBSTVX0lDN23WY?usp=sharing" TargetMode="External"/><Relationship Id="rId5" Type="http://schemas.openxmlformats.org/officeDocument/2006/relationships/hyperlink" Target="https://join.slack.com/t/cse220sm26/signup?x=x-p11323693586307-11331901748449-11324507803555" TargetMode="External"/><Relationship Id="rId6" Type="http://schemas.openxmlformats.org/officeDocument/2006/relationships/hyperlink" Target="https://docs.google.com/spreadsheets/d/1arbjGkWY0zgYkJ5ZR0HwbYd1-Zdk8YoBJ2rqMBDP0jI/edit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CSE220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 Structures</a:t>
            </a:r>
            <a:endParaRPr/>
          </a:p>
        </p:txBody>
      </p:sp>
      <p:sp>
        <p:nvSpPr>
          <p:cNvPr id="56" name="Google Shape;5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Instructor Information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rebuchet MS"/>
              <a:buChar char="●"/>
            </a:pPr>
            <a:r>
              <a:rPr lang="en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Instructor: Mahrin Tasfe, email: mahrin.tasfe@bracu.ac.bd</a:t>
            </a:r>
            <a:br>
              <a:rPr lang="en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Senior Lecturer, BRAC University</a:t>
            </a:r>
            <a:b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At BRAC since 2017</a:t>
            </a:r>
            <a:b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 years of TA experience with algorithm &amp; data structures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3" marL="18288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During masters &amp; undergrad</a:t>
            </a:r>
            <a:b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 semesters of teaching CSE220 as theory faculty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" name="Google Shape;6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f0a6322bf_1_44"/>
          <p:cNvSpPr txBox="1"/>
          <p:nvPr>
            <p:ph idx="1" type="body"/>
          </p:nvPr>
        </p:nvSpPr>
        <p:spPr>
          <a:xfrm>
            <a:off x="1234450" y="1178100"/>
            <a:ext cx="690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CSE220: Data Structures</a:t>
            </a:r>
            <a:br>
              <a:rPr lang="en" sz="2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CSE220: </a:t>
            </a:r>
            <a:r>
              <a:rPr lang="en" sz="25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High-Paced</a:t>
            </a:r>
            <a:r>
              <a:rPr lang="en" sz="2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" sz="25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High-Intensity Course</a:t>
            </a:r>
            <a:endParaRPr sz="25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Google Shape;69;g38f0a6322bf_1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CSE220 course Intensity</a:t>
            </a:r>
            <a:endParaRPr/>
          </a:p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311700" y="10702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●"/>
            </a:pPr>
            <a:r>
              <a:rPr b="1"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 like CSE110 or CSE111</a:t>
            </a:r>
            <a:endParaRPr b="1"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CSE220 is </a:t>
            </a:r>
            <a:r>
              <a:rPr b="1" lang="en" sz="150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very content-heavy</a:t>
            </a:r>
            <a:r>
              <a:rPr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conceptually progressive</a:t>
            </a:r>
            <a:r>
              <a:rPr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Each lecture introduces </a:t>
            </a:r>
            <a:r>
              <a:rPr b="1" lang="en" sz="15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completely new </a:t>
            </a:r>
            <a:r>
              <a:rPr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content.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○"/>
            </a:pPr>
            <a:r>
              <a:rPr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New topics build on </a:t>
            </a:r>
            <a:r>
              <a:rPr lang="en" sz="15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previous ones</a:t>
            </a:r>
            <a:r>
              <a:rPr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so continuity is crucial.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5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●"/>
            </a:pPr>
            <a:r>
              <a:rPr b="1"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Pre-Class Preparation</a:t>
            </a:r>
            <a:endParaRPr b="1"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Before attending each lecture, y</a:t>
            </a:r>
            <a:r>
              <a:rPr lang="en" sz="15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 MUST review what was covered </a:t>
            </a:r>
            <a:r>
              <a:rPr b="1" lang="en" sz="150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previously.</a:t>
            </a:r>
            <a:endParaRPr b="1" sz="1500" u="sng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○"/>
            </a:pPr>
            <a:r>
              <a:rPr lang="en" sz="15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Without prior preparation, you will </a:t>
            </a:r>
            <a:r>
              <a:rPr lang="en" sz="15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struggle to follow the lecture.</a:t>
            </a:r>
            <a:endParaRPr sz="15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○"/>
            </a:pPr>
            <a:r>
              <a:rPr lang="en" sz="15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complete recap during class is not possible due to time limitations.</a:t>
            </a:r>
            <a:endParaRPr sz="15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6" name="Google Shape;7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03420271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CSE220 course Intensity</a:t>
            </a:r>
            <a:endParaRPr/>
          </a:p>
        </p:txBody>
      </p:sp>
      <p:sp>
        <p:nvSpPr>
          <p:cNvPr id="82" name="Google Shape;82;g38503420271_0_7"/>
          <p:cNvSpPr txBox="1"/>
          <p:nvPr>
            <p:ph idx="1" type="body"/>
          </p:nvPr>
        </p:nvSpPr>
        <p:spPr>
          <a:xfrm>
            <a:off x="311700" y="10702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●"/>
            </a:pPr>
            <a:r>
              <a:rPr b="1"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Self-Study Requirement</a:t>
            </a:r>
            <a:endParaRPr b="1"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Expect to spend </a:t>
            </a:r>
            <a:r>
              <a:rPr lang="en" sz="20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" sz="20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–2 hours</a:t>
            </a: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of self-study </a:t>
            </a:r>
            <a:r>
              <a:rPr lang="en" sz="20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per lecture.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Expect to spend </a:t>
            </a:r>
            <a:r>
              <a:rPr lang="en" sz="20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2–3 hours (or more)</a:t>
            </a: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each week to </a:t>
            </a:r>
            <a:r>
              <a:rPr lang="en" sz="20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complete lab tasks</a:t>
            </a: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 sz="20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beyond the scheduled lab time.</a:t>
            </a:r>
            <a:br>
              <a:rPr lang="en" sz="20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0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Some students may require additional time </a:t>
            </a:r>
            <a:endParaRPr sz="20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for understanding and practice.</a:t>
            </a:r>
            <a:endParaRPr sz="20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3" name="Google Shape;83;g38503420271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503420271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Course Style</a:t>
            </a:r>
            <a:endParaRPr/>
          </a:p>
        </p:txBody>
      </p:sp>
      <p:sp>
        <p:nvSpPr>
          <p:cNvPr id="89" name="Google Shape;89;g38503420271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●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Theory classes focus on </a:t>
            </a:r>
            <a:r>
              <a:rPr b="1" lang="en" sz="16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theoretical (</a:t>
            </a:r>
            <a:r>
              <a:rPr b="1" lang="en" sz="17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conceptual) discussions</a:t>
            </a: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of Data Structures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●"/>
            </a:pPr>
            <a:r>
              <a:rPr lang="en" sz="17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Problem-solving</a:t>
            </a: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will be covered in </a:t>
            </a:r>
            <a:r>
              <a:rPr lang="en" sz="17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Lab sessions</a:t>
            </a:r>
            <a:endParaRPr sz="20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0" name="Google Shape;90;g38503420271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f0a6322bf_1_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Course Content and Learning Resources</a:t>
            </a:r>
            <a:endParaRPr/>
          </a:p>
        </p:txBody>
      </p:sp>
      <p:sp>
        <p:nvSpPr>
          <p:cNvPr id="96" name="Google Shape;96;g38f0a6322bf_1_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●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All class concepts are clearly explained in the provided materials.</a:t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○"/>
            </a:pPr>
            <a:r>
              <a:rPr lang="en" sz="1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Java and Python implementations</a:t>
            </a: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are included where applicable.</a:t>
            </a:r>
            <a:b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●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You can learn and practice independently using the given past questions and practice exercises.</a:t>
            </a:r>
            <a:b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Additional online materials &amp; textbooks are available for deeper understanding.</a:t>
            </a:r>
            <a:endParaRPr sz="20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g38f0a6322bf_1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Course Content and Learning Resources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Centralized Git Repository:  </a:t>
            </a:r>
            <a:r>
              <a:rPr lang="en" sz="14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https://github.com/zabermd/Data-Structures-and-their-Use-in-Elementary-Algorithms</a:t>
            </a:r>
            <a:b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Own lectures in Google drive: </a:t>
            </a:r>
            <a:r>
              <a:rPr lang="en" sz="14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https://drive.google.com/drive/folders/1Q5CNVW4riPvp_L6dAXGBSTVX0lDN23WY?usp=sharing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Communication platform: </a:t>
            </a:r>
            <a:r>
              <a:rPr b="1" lang="en" sz="1400" u="sng">
                <a:solidFill>
                  <a:srgbClr val="1155CC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https://join.slack.com/t/cse220sm26/signup</a:t>
            </a:r>
            <a:r>
              <a:rPr lang="en" sz="1400">
                <a:solidFill>
                  <a:schemeClr val="dk1"/>
                </a:solidFill>
              </a:rPr>
              <a:t> </a:t>
            </a:r>
            <a:b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6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" sz="1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Lecture Plan: </a:t>
            </a:r>
            <a:r>
              <a:rPr lang="en" sz="14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6"/>
              </a:rPr>
              <a:t>https://docs.google.com/spreadsheets/d/1arbjGkWY0zgYkJ5ZR0HwbYd1-Zdk8YoBJ2rqMBDP0jI/edit?usp=sharing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503420271_0_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Theory Faculty Communication</a:t>
            </a:r>
            <a:endParaRPr/>
          </a:p>
        </p:txBody>
      </p:sp>
      <p:sp>
        <p:nvSpPr>
          <p:cNvPr id="110" name="Google Shape;110;g38503420271_0_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</a:t>
            </a:r>
            <a:r>
              <a:rPr lang="en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any communication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email at </a:t>
            </a:r>
            <a:r>
              <a:rPr lang="en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mahrin.tasfe@bracu.ac.bd</a:t>
            </a:r>
            <a:endParaRPr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➤ Always mention your section in the email.</a:t>
            </a:r>
            <a:b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Slack messages will not be replied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due to: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Missing section number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Missing student ID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 having proper names (does not match with student id-card)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Messages disappear after the semester ends</a:t>
            </a:r>
            <a:endParaRPr sz="18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g38503420271_0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f0a6322bf_1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Mark Distribution</a:t>
            </a:r>
            <a:endParaRPr/>
          </a:p>
        </p:txBody>
      </p:sp>
      <p:sp>
        <p:nvSpPr>
          <p:cNvPr id="117" name="Google Shape;117;g38f0a6322bf_1_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Trebuchet MS"/>
              <a:buChar char="●"/>
            </a:pPr>
            <a:r>
              <a:rPr lang="en" sz="1900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Quiz: 15% (Best 3 out of 4)</a:t>
            </a:r>
            <a:endParaRPr sz="1900">
              <a:solidFill>
                <a:srgbClr val="2222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Trebuchet MS"/>
              <a:buChar char="●"/>
            </a:pPr>
            <a:r>
              <a:rPr lang="en" sz="1900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Mid: 25% (Original mid in 30)</a:t>
            </a:r>
            <a:endParaRPr sz="1900">
              <a:solidFill>
                <a:srgbClr val="2222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Trebuchet MS"/>
              <a:buChar char="●"/>
            </a:pPr>
            <a:r>
              <a:rPr lang="en" sz="1900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Final: 35%</a:t>
            </a:r>
            <a:endParaRPr sz="1900">
              <a:solidFill>
                <a:srgbClr val="2222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Font typeface="Trebuchet MS"/>
              <a:buChar char="●"/>
            </a:pPr>
            <a:r>
              <a:rPr lang="en" sz="1900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Lab: 25%</a:t>
            </a:r>
            <a:endParaRPr sz="1900">
              <a:solidFill>
                <a:srgbClr val="2222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22222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Trebuchet MS"/>
              <a:buChar char="●"/>
            </a:pPr>
            <a:r>
              <a:rPr lang="en" sz="24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No marks for attendance</a:t>
            </a:r>
            <a:endParaRPr sz="24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" name="Google Shape;118;g38f0a6322bf_1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311700" y="316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Quizzes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311700" y="985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Quizzes must be attended in </a:t>
            </a:r>
            <a:r>
              <a:rPr b="1" lang="en" sz="190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your assigned section</a:t>
            </a:r>
            <a:endParaRPr b="1" sz="1900" u="sng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900"/>
              <a:buFont typeface="Trebuchet MS"/>
              <a:buChar char="●"/>
            </a:pPr>
            <a:r>
              <a:rPr b="1" lang="en" sz="190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Attending with another section is not allowed</a:t>
            </a:r>
            <a:endParaRPr b="1" sz="1700" u="sng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 makeups for:</a:t>
            </a:r>
            <a:endParaRPr b="1"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Minor illnesses (e.g., fever, cough, diarrhoea)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Personal or recreational trips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Fatigue or tiredness</a:t>
            </a:r>
            <a:b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 excuses for rain, traffic or cold:</a:t>
            </a:r>
            <a:endParaRPr b="1"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Rain:</a:t>
            </a: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Come prepared with a </a:t>
            </a: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raincoat or umbrella.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Traffic:</a:t>
            </a: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Start early</a:t>
            </a: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from home to reach on time.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Cold/Winter:</a:t>
            </a: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Wear or carry something warm.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503420271_0_17"/>
          <p:cNvSpPr txBox="1"/>
          <p:nvPr>
            <p:ph type="title"/>
          </p:nvPr>
        </p:nvSpPr>
        <p:spPr>
          <a:xfrm>
            <a:off x="311700" y="316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Makeup Quiz Policy</a:t>
            </a:r>
            <a:endParaRPr/>
          </a:p>
        </p:txBody>
      </p:sp>
      <p:sp>
        <p:nvSpPr>
          <p:cNvPr id="131" name="Google Shape;131;g38503420271_0_17"/>
          <p:cNvSpPr txBox="1"/>
          <p:nvPr>
            <p:ph idx="1" type="body"/>
          </p:nvPr>
        </p:nvSpPr>
        <p:spPr>
          <a:xfrm>
            <a:off x="311700" y="985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case of serious illness or family emergency:</a:t>
            </a:r>
            <a:endParaRPr b="1"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Notify the instructor via email as soon as possible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After recovery, request a makeup quiz by email — include </a:t>
            </a:r>
            <a:r>
              <a:rPr lang="en" sz="17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all necessary medical documents </a:t>
            </a:r>
            <a:r>
              <a:rPr lang="en" sz="17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order to be </a:t>
            </a:r>
            <a:r>
              <a:rPr lang="en" sz="17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considered for makeup</a:t>
            </a:r>
            <a:endParaRPr sz="1700" u="sng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 u="sng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Makeup quiz options:</a:t>
            </a:r>
            <a:endParaRPr b="1"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With another section → preferred /best option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During consultation hours → last resort (worst case)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</a:t>
            </a: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new questions will be made</a:t>
            </a: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2" name="Google Shape;132;g38503420271_0_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311700" y="316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Quiz Conducting Style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311700" y="802050"/>
            <a:ext cx="85206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1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13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17"/>
              <a:buFont typeface="Trebuchet MS"/>
              <a:buChar char="●"/>
            </a:pPr>
            <a:r>
              <a:rPr b="1" lang="en" sz="1617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Quizzes follow mid/final-style seating:</a:t>
            </a:r>
            <a:endParaRPr b="1" sz="161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1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131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17"/>
              <a:buFont typeface="Trebuchet MS"/>
              <a:buChar char="○"/>
            </a:pPr>
            <a:r>
              <a:rPr lang="en" sz="1617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Four columns with space between each.</a:t>
            </a:r>
            <a:endParaRPr sz="161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1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131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17"/>
              <a:buFont typeface="Trebuchet MS"/>
              <a:buChar char="○"/>
            </a:pPr>
            <a:r>
              <a:rPr b="1" lang="en" sz="1617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caught talking:</a:t>
            </a:r>
            <a:endParaRPr b="1" sz="161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1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131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17"/>
              <a:buFont typeface="Trebuchet MS"/>
              <a:buChar char="■"/>
            </a:pPr>
            <a:r>
              <a:rPr lang="en" sz="1617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First instance: verbal warning</a:t>
            </a:r>
            <a:endParaRPr sz="161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131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17"/>
              <a:buFont typeface="Trebuchet MS"/>
              <a:buChar char="■"/>
            </a:pPr>
            <a:r>
              <a:rPr lang="en" sz="1617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After that: </a:t>
            </a:r>
            <a:r>
              <a:rPr lang="en" sz="1617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your script will not be graded (Discarded)</a:t>
            </a:r>
            <a:endParaRPr sz="1617" u="sng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1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131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17"/>
              <a:buFont typeface="Trebuchet MS"/>
              <a:buChar char="●"/>
            </a:pPr>
            <a:r>
              <a:rPr lang="en" sz="1617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Raise your hand for clarification—do not talk to your peers (adjacent classmates)</a:t>
            </a:r>
            <a:endParaRPr sz="1617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17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67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18"/>
              <a:buFont typeface="Trebuchet MS"/>
              <a:buChar char="●"/>
            </a:pPr>
            <a:r>
              <a:rPr lang="en" sz="2017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Attempting to copy will have </a:t>
            </a:r>
            <a:r>
              <a:rPr lang="en" sz="2017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direct consequences</a:t>
            </a:r>
            <a:br>
              <a:rPr lang="en" sz="2017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2017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—pleading (saying sorry) won't help.</a:t>
            </a:r>
            <a:endParaRPr sz="2017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265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9" name="Google Shape;13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503420271_0_12"/>
          <p:cNvSpPr txBox="1"/>
          <p:nvPr>
            <p:ph type="title"/>
          </p:nvPr>
        </p:nvSpPr>
        <p:spPr>
          <a:xfrm>
            <a:off x="311700" y="316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Quiz Grading Policy</a:t>
            </a:r>
            <a:endParaRPr/>
          </a:p>
        </p:txBody>
      </p:sp>
      <p:sp>
        <p:nvSpPr>
          <p:cNvPr id="145" name="Google Shape;145;g38503420271_0_12"/>
          <p:cNvSpPr txBox="1"/>
          <p:nvPr>
            <p:ph idx="1" type="body"/>
          </p:nvPr>
        </p:nvSpPr>
        <p:spPr>
          <a:xfrm>
            <a:off x="311700" y="802050"/>
            <a:ext cx="8520600" cy="3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Usually checked within 1–2 days.</a:t>
            </a:r>
            <a:b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Solutions &amp; marks</a:t>
            </a: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are posted on </a:t>
            </a:r>
            <a:r>
              <a:rPr b="1"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Slack</a:t>
            </a: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after grading.</a:t>
            </a:r>
            <a:b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Collect your quiz script early and review it with the solutions to understand your mistakes.</a:t>
            </a:r>
            <a:b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1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lang="en" sz="17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you find an error in marking or total,</a:t>
            </a:r>
            <a:endParaRPr sz="17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Email a photo of your quiz script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Clearly explain why your answer is correct.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⚠️ </a:t>
            </a:r>
            <a:r>
              <a:rPr lang="en" sz="17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Check the posted solution file first before sending an email.</a:t>
            </a:r>
            <a:endParaRPr sz="17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6" name="Google Shape;146;g38503420271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Attendance Policy (Theory)</a:t>
            </a:r>
            <a:endParaRPr/>
          </a:p>
        </p:txBody>
      </p:sp>
      <p:sp>
        <p:nvSpPr>
          <p:cNvPr id="152" name="Google Shape;152;p8"/>
          <p:cNvSpPr txBox="1"/>
          <p:nvPr>
            <p:ph idx="1" type="body"/>
          </p:nvPr>
        </p:nvSpPr>
        <p:spPr>
          <a:xfrm>
            <a:off x="173250" y="1152475"/>
            <a:ext cx="8826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Theory Classes: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Minimum 70% attendance required (at least 16 out of 22 classes).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■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Can miss/skip 6 classes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●"/>
            </a:pP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Important Note: 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Attendance will be taken at the </a:t>
            </a:r>
            <a:r>
              <a:rPr b="1" lang="en" sz="18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end of every class </a:t>
            </a:r>
            <a:endParaRPr b="1" sz="18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8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It's</a:t>
            </a:r>
            <a:r>
              <a:rPr lang="en" sz="18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 your responsibility to maintain the 70% attendance</a:t>
            </a:r>
            <a:endParaRPr sz="18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" name="Google Shape;1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Attendance Policy (Lab)</a:t>
            </a:r>
            <a:endParaRPr/>
          </a:p>
        </p:txBody>
      </p:sp>
      <p:sp>
        <p:nvSpPr>
          <p:cNvPr id="159" name="Google Shape;159;p9"/>
          <p:cNvSpPr txBox="1"/>
          <p:nvPr>
            <p:ph idx="1" type="body"/>
          </p:nvPr>
        </p:nvSpPr>
        <p:spPr>
          <a:xfrm>
            <a:off x="-66475" y="1152475"/>
            <a:ext cx="8898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Lab Classes: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Minimum 90% attendance required (at least 9 out of 10 lab sessions).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Can miss/skip 1 class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any medical or family emergency,</a:t>
            </a:r>
            <a:r>
              <a:rPr b="1" lang="e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need to inform the faculty via email within 2 weeks,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otherwise </a:t>
            </a: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attendance will not be given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(No slack message)</a:t>
            </a:r>
            <a:endParaRPr sz="18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More than one lab absence = barred from final = automatic F in the course</a:t>
            </a:r>
            <a:endParaRPr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0" name="Google Shape;16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Plagiarism and Code Authenticity [Lab]</a:t>
            </a:r>
            <a:endParaRPr/>
          </a:p>
        </p:txBody>
      </p:sp>
      <p:sp>
        <p:nvSpPr>
          <p:cNvPr id="166" name="Google Shape;166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rebuchet MS"/>
              <a:buChar char="●"/>
            </a:pPr>
            <a:r>
              <a:rPr lang="e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Any form of plagiarism in lab submissions is a serious offense.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Two plagiarism flags = F in the course, no exceptions.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AI-generated code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lang="en" sz="18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copied solutions from peers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are both considered plagiarized.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■"/>
            </a:pPr>
            <a:r>
              <a:rPr lang="en" sz="190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Similar prompts to AI = similar output = flagged by the system.</a:t>
            </a:r>
            <a:b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200"/>
              <a:buFont typeface="Trebuchet MS"/>
              <a:buChar char="●"/>
            </a:pPr>
            <a:r>
              <a:rPr lang="en" sz="2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Plagiarism issues will be handled entirely by </a:t>
            </a:r>
            <a:r>
              <a:rPr lang="en" sz="22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lab faculties</a:t>
            </a:r>
            <a:r>
              <a:rPr lang="en" sz="2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2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7" name="Google Shape;16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Midterm and Final Exam Information</a:t>
            </a:r>
            <a:endParaRPr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Both midterm and final exams will be conducted </a:t>
            </a:r>
            <a:r>
              <a:rPr b="1" lang="en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centrally.</a:t>
            </a:r>
            <a:endParaRPr b="1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rebuchet MS"/>
              <a:buChar char="●"/>
            </a:pPr>
            <a:r>
              <a:rPr lang="en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Question papers are prepared by a central committee</a:t>
            </a:r>
            <a:br>
              <a:rPr lang="en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—I am not involved in setting the questions.</a:t>
            </a:r>
            <a:endParaRPr u="sng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However, I can guide you on </a:t>
            </a:r>
            <a:r>
              <a:rPr lang="e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important topics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that are </a:t>
            </a: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commonly emphasized in exams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relevant for </a:t>
            </a: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job interviews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Focus on</a:t>
            </a: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high-impact areas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that strengthen </a:t>
            </a: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foundational knowledge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improve both </a:t>
            </a:r>
            <a:r>
              <a:rPr lang="e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exam performance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lang="e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job readiness.</a:t>
            </a:r>
            <a:endParaRPr sz="18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5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" name="Google Shape;17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Mid syllabus:</a:t>
            </a:r>
            <a:endParaRPr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Char char="●"/>
            </a:pPr>
            <a: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0 to chapter 4</a:t>
            </a:r>
            <a:br>
              <a:rPr lang="e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0: complexity analysis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1: Multidimensional Array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 2: Linked List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 3: Stack &amp; Queue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 4: Hashing &amp; Hash table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1" name="Google Shape;1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Tentative Final syllabus:</a:t>
            </a:r>
            <a:endParaRPr/>
          </a:p>
        </p:txBody>
      </p:sp>
      <p:sp>
        <p:nvSpPr>
          <p:cNvPr id="187" name="Google Shape;18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rebuchet MS"/>
              <a:buChar char="●"/>
            </a:pPr>
            <a:r>
              <a:rPr lang="en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0 to chapter 7</a:t>
            </a:r>
            <a:br>
              <a:rPr lang="en" sz="2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○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Mid syllabus (chapter 0 to chapter 4)</a:t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○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New chapters</a:t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■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5: Tree &amp; BST</a:t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■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6: Heap </a:t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rebuchet MS"/>
              <a:buChar char="■"/>
            </a:pP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Chapter 7: Graph &amp; Traversals (BFS, DFS)</a:t>
            </a:r>
            <a:br>
              <a:rPr lang="en" sz="1700"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New content might be added (will be informed via slack)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8" name="Google Shape;18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38f0a6322bf_1_10" title="Tru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17725"/>
            <a:ext cx="8825302" cy="256810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8f0a6322bf_1_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f0a6322bf_1_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Which one is True?</a:t>
            </a:r>
            <a:endParaRPr/>
          </a:p>
        </p:txBody>
      </p:sp>
      <p:pic>
        <p:nvPicPr>
          <p:cNvPr id="200" name="Google Shape;200;g38f0a6322bf_1_33" title="Tru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17725"/>
            <a:ext cx="6231719" cy="181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8f0a6322bf_1_33" title="True - Cop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983500"/>
            <a:ext cx="6231723" cy="181339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8f0a6322bf_1_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f0a6322bf_1_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Which one is True?</a:t>
            </a:r>
            <a:endParaRPr/>
          </a:p>
        </p:txBody>
      </p:sp>
      <p:pic>
        <p:nvPicPr>
          <p:cNvPr id="208" name="Google Shape;208;g38f0a6322bf_1_24" title="Tru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17725"/>
            <a:ext cx="6491549" cy="1888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8f0a6322bf_1_24" title="True - Cop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983500"/>
            <a:ext cx="6491436" cy="1888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8f0a6322bf_1_24"/>
          <p:cNvSpPr txBox="1"/>
          <p:nvPr/>
        </p:nvSpPr>
        <p:spPr>
          <a:xfrm>
            <a:off x="6992275" y="1662813"/>
            <a:ext cx="251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B990D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1" i="0" sz="2200" u="none" cap="none" strike="noStrike">
              <a:solidFill>
                <a:srgbClr val="0B99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f0a6322bf_1_24"/>
          <p:cNvSpPr txBox="1"/>
          <p:nvPr/>
        </p:nvSpPr>
        <p:spPr>
          <a:xfrm>
            <a:off x="7143200" y="3487138"/>
            <a:ext cx="251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B99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8f0a6322bf_1_24"/>
          <p:cNvSpPr txBox="1"/>
          <p:nvPr/>
        </p:nvSpPr>
        <p:spPr>
          <a:xfrm>
            <a:off x="7075000" y="3487138"/>
            <a:ext cx="2516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FALSE, </a:t>
            </a:r>
            <a:br>
              <a:rPr b="1" i="0" lang="en" sz="2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(for most students)</a:t>
            </a:r>
            <a:endParaRPr b="1" i="0" sz="21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8f0a6322bf_1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3420271_0_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Students Who Typically Fail in This Course</a:t>
            </a:r>
            <a:endParaRPr/>
          </a:p>
        </p:txBody>
      </p:sp>
      <p:sp>
        <p:nvSpPr>
          <p:cNvPr id="219" name="Google Shape;219;g38503420271_0_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Lab Absentees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Frequent absence in lab sessions.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Barred from lab (more than 1 absents)→ Automatic Fail in the course.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Non-serious Students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Assume they can cover the </a:t>
            </a:r>
            <a:r>
              <a:rPr b="1"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syllabus overnight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lang="en" sz="18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(IMPOSSIBLE)</a:t>
            </a:r>
            <a:br>
              <a:rPr lang="en" sz="18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●"/>
            </a:pP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Skips mid/final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Absent in mid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■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Makeup may be allowed only with a valid reason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5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ct val="100000"/>
              <a:buFont typeface="Trebuchet MS"/>
              <a:buChar char="●"/>
            </a:pPr>
            <a:r>
              <a:rPr lang="en" sz="18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Makeup Midterm questions are usually difficult	</a:t>
            </a:r>
            <a:endParaRPr sz="18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■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makeup is missed, the mark will be 0</a:t>
            </a:r>
            <a:b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Absent in final → Direct Fail in the course.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0" name="Google Shape;220;g38503420271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503420271_0_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Students Who Typically Fail in This Course</a:t>
            </a:r>
            <a:endParaRPr/>
          </a:p>
        </p:txBody>
      </p:sp>
      <p:sp>
        <p:nvSpPr>
          <p:cNvPr id="226" name="Google Shape;226;g38503420271_0_34"/>
          <p:cNvSpPr txBox="1"/>
          <p:nvPr>
            <p:ph idx="1" type="body"/>
          </p:nvPr>
        </p:nvSpPr>
        <p:spPr>
          <a:xfrm>
            <a:off x="311700" y="1058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Inability to Code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○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Majority of exam questions are coding-based. </a:t>
            </a:r>
            <a:r>
              <a:rPr b="1"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(Around 80-90%)</a:t>
            </a:r>
            <a:endParaRPr b="1" sz="16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○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Students </a:t>
            </a:r>
            <a:r>
              <a:rPr b="1"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unable to code</a:t>
            </a: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have </a:t>
            </a:r>
            <a:r>
              <a:rPr lang="en" sz="16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minimal chance of passing</a:t>
            </a: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○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This course teaches </a:t>
            </a:r>
            <a:r>
              <a:rPr b="1"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structures</a:t>
            </a: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not basic coding 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●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 coding knowledge is assumed.</a:t>
            </a:r>
            <a:br>
              <a:rPr lang="e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Weak Fundamentals (CSE110/111 below B grade)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○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Struggle with variables, loops (for, while), arrays, recursion.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○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Poor understanding of methods, class attributes, driver code.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Trebuchet MS"/>
              <a:buChar char="○"/>
            </a:pPr>
            <a:r>
              <a:rPr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Without these basics, CSE220 is nearly impossible to follow.</a:t>
            </a:r>
            <a:endParaRPr sz="16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7" name="Google Shape;227;g38503420271_0_34"/>
          <p:cNvSpPr txBox="1"/>
          <p:nvPr/>
        </p:nvSpPr>
        <p:spPr>
          <a:xfrm>
            <a:off x="439600" y="4175525"/>
            <a:ext cx="654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If you fall into the above two groups, </a:t>
            </a:r>
            <a:br>
              <a:rPr b="0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8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start recapping CSE110–CSE111.</a:t>
            </a:r>
            <a:endParaRPr b="0" i="0" sz="18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8503420271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503420271_0_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Students Who Typically Fail in This Course</a:t>
            </a:r>
            <a:endParaRPr/>
          </a:p>
        </p:txBody>
      </p:sp>
      <p:sp>
        <p:nvSpPr>
          <p:cNvPr id="234" name="Google Shape;234;g38503420271_0_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b="1"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Retakers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Many are </a:t>
            </a:r>
            <a:r>
              <a:rPr lang="e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overconfident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assuming they </a:t>
            </a:r>
            <a:r>
              <a:rPr lang="e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already know the content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But if that were true, they wouldn’t have </a:t>
            </a:r>
            <a:r>
              <a:rPr lang="en" sz="18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failed previously.</a:t>
            </a:r>
            <a:br>
              <a:rPr lang="en" sz="1800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Often </a:t>
            </a: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skip classes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</a:t>
            </a:r>
            <a:r>
              <a:rPr lang="en" sz="18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avoid studying</a:t>
            </a: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leading to failure again.</a:t>
            </a:r>
            <a:b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">
                <a:solidFill>
                  <a:srgbClr val="990000"/>
                </a:solidFill>
              </a:rPr>
            </a:br>
            <a:r>
              <a:rPr lang="en">
                <a:solidFill>
                  <a:srgbClr val="990000"/>
                </a:solidFill>
              </a:rPr>
              <a:t>If you are a retaker, put in extra effort to </a:t>
            </a:r>
            <a:r>
              <a:rPr lang="en" u="sng">
                <a:solidFill>
                  <a:srgbClr val="990000"/>
                </a:solidFill>
              </a:rPr>
              <a:t>avoid repeating</a:t>
            </a:r>
            <a:r>
              <a:rPr lang="en">
                <a:solidFill>
                  <a:srgbClr val="990000"/>
                </a:solidFill>
              </a:rPr>
              <a:t> past mistakes</a:t>
            </a:r>
            <a:endParaRPr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990000"/>
                </a:solidFill>
              </a:rPr>
              <a:t>—attend all classes and solve every question</a:t>
            </a:r>
            <a:endParaRPr>
              <a:solidFill>
                <a:srgbClr val="99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990000"/>
                </a:solidFill>
              </a:rPr>
              <a:t>—know all the tricks to score higher in exam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Google Shape;235;g38503420271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>
            <p:ph type="title"/>
          </p:nvPr>
        </p:nvSpPr>
        <p:spPr>
          <a:xfrm>
            <a:off x="355300" y="270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How to Score Well </a:t>
            </a:r>
            <a:endParaRPr/>
          </a:p>
        </p:txBody>
      </p:sp>
      <p:sp>
        <p:nvSpPr>
          <p:cNvPr id="241" name="Google Shape;241;p11"/>
          <p:cNvSpPr txBox="1"/>
          <p:nvPr>
            <p:ph idx="1" type="body"/>
          </p:nvPr>
        </p:nvSpPr>
        <p:spPr>
          <a:xfrm>
            <a:off x="311700" y="9781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591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0"/>
              <a:buChar char="●"/>
            </a:pPr>
            <a:r>
              <a:rPr lang="en" sz="169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Simply going through the lecture materials isn’t enough to </a:t>
            </a:r>
            <a:r>
              <a:rPr b="1" lang="en" sz="169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secure high marks.</a:t>
            </a:r>
            <a:endParaRPr b="1" sz="169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591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0"/>
              <a:buFont typeface="Trebuchet MS"/>
              <a:buChar char="●"/>
            </a:pPr>
            <a:r>
              <a:rPr lang="en" sz="169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prepare effectively:</a:t>
            </a:r>
            <a:endParaRPr sz="169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○"/>
            </a:pPr>
            <a:r>
              <a:rPr b="1"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Solve all past 1) Midterm, 2) Final questions and 3) Lab questions</a:t>
            </a:r>
            <a:endParaRPr b="1"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■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Understand question </a:t>
            </a:r>
            <a:r>
              <a:rPr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formats</a:t>
            </a:r>
            <a:endParaRPr sz="16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■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Learn expected </a:t>
            </a:r>
            <a:r>
              <a:rPr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 styles</a:t>
            </a:r>
            <a:br>
              <a:rPr lang="en" sz="16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29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○"/>
            </a:pPr>
            <a:r>
              <a:rPr b="1"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Optional: (If you are hoping for A+)</a:t>
            </a:r>
            <a:endParaRPr b="1"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Practice additional problems on </a:t>
            </a:r>
            <a:r>
              <a:rPr b="1"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LeetCode, </a:t>
            </a: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and other online resources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Enhance overall problem-solving skills</a:t>
            </a:r>
            <a:br>
              <a:rPr lang="en" sz="1500">
                <a:solidFill>
                  <a:schemeClr val="dk1"/>
                </a:solidFill>
              </a:rPr>
            </a:br>
            <a:endParaRPr sz="219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990" u="sng">
                <a:solidFill>
                  <a:srgbClr val="0000FF"/>
                </a:solidFill>
              </a:rPr>
              <a:t>Focus on understanding rather than memorization</a:t>
            </a:r>
            <a:endParaRPr sz="1990" u="sng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890"/>
          </a:p>
        </p:txBody>
      </p:sp>
      <p:sp>
        <p:nvSpPr>
          <p:cNvPr id="242" name="Google Shape;24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Grading Transparency</a:t>
            </a:r>
            <a:endParaRPr/>
          </a:p>
        </p:txBody>
      </p:sp>
      <p:sp>
        <p:nvSpPr>
          <p:cNvPr id="248" name="Google Shape;24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900"/>
              <a:buChar char="●"/>
            </a:pPr>
            <a:r>
              <a:rPr lang="en" sz="1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Marks are given strictly based on the </a:t>
            </a:r>
            <a:r>
              <a:rPr b="1" lang="en" sz="1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script content (your answers)</a:t>
            </a:r>
            <a:r>
              <a:rPr lang="en" sz="1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9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900"/>
              <a:buFont typeface="Trebuchet MS"/>
              <a:buChar char="●"/>
            </a:pPr>
            <a:r>
              <a:rPr lang="en" sz="190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Personal hardships or health issues  will be sympathized with, </a:t>
            </a:r>
            <a:br>
              <a:rPr lang="en" sz="190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" sz="190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but do not affect marks.</a:t>
            </a:r>
            <a:endParaRPr sz="1900" u="sng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rebuchet MS"/>
              <a:buChar char="●"/>
            </a:pPr>
            <a:r>
              <a:rPr lang="en" sz="19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Attempts to influence the instructor</a:t>
            </a: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through </a:t>
            </a:r>
            <a:r>
              <a:rPr lang="en" sz="1900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flattery or personal appeals</a:t>
            </a:r>
            <a:r>
              <a:rPr lang="en" sz="1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are </a:t>
            </a:r>
            <a:r>
              <a:rPr lang="en" sz="19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INAPPROPRIATE and ineffective.</a:t>
            </a:r>
            <a:endParaRPr sz="1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9" name="Google Shape;2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Classroom Etiquette</a:t>
            </a:r>
            <a:endParaRPr/>
          </a:p>
        </p:txBody>
      </p:sp>
      <p:sp>
        <p:nvSpPr>
          <p:cNvPr id="255" name="Google Shape;255;p17"/>
          <p:cNvSpPr txBox="1"/>
          <p:nvPr>
            <p:ph idx="1" type="body"/>
          </p:nvPr>
        </p:nvSpPr>
        <p:spPr>
          <a:xfrm>
            <a:off x="96975" y="1152475"/>
            <a:ext cx="873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you are present in class, it’s </a:t>
            </a:r>
            <a:r>
              <a:rPr lang="en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assumed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you are here to learn.</a:t>
            </a:r>
            <a:endParaRPr u="sng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○"/>
            </a:pPr>
            <a: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you are sick, tired, or busy, you are free to leave quietly.</a:t>
            </a:r>
            <a:br>
              <a:rPr lang="e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Avoid side conversations—ask directly to instructor, if you have doubts.</a:t>
            </a:r>
            <a:br>
              <a:rPr lang="en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Keep in mind, you are in a classroom and </a:t>
            </a:r>
            <a:r>
              <a:rPr lang="en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sit properly </a:t>
            </a:r>
            <a:r>
              <a:rPr lang="en" u="sng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and adhere to all classroom rules </a:t>
            </a:r>
            <a:endParaRPr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●"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</a:t>
            </a: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ring necessary materials such as a pen, pencil, and your own notebook for taking notes.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6" name="Google Shape;25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Consultation Hours</a:t>
            </a:r>
            <a:endParaRPr/>
          </a:p>
        </p:txBody>
      </p:sp>
      <p:sp>
        <p:nvSpPr>
          <p:cNvPr id="262" name="Google Shape;26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●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Attend consultation if you need clarification</a:t>
            </a:r>
            <a:b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Book a slot via email; include topic and specific problems</a:t>
            </a:r>
            <a:b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Trebuchet MS"/>
              <a:buChar char="○"/>
            </a:pPr>
            <a:r>
              <a:rPr lang="en" sz="200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Consultation is for targeted help, not full theory lectures</a:t>
            </a:r>
            <a:br>
              <a:rPr lang="en" sz="2000" u="sng">
                <a:solidFill>
                  <a:srgbClr val="99000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000" u="sng">
              <a:solidFill>
                <a:srgbClr val="99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●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tutor support available for both lab and theory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3" name="Google Shape;2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Final Note</a:t>
            </a:r>
            <a:endParaRPr/>
          </a:p>
        </p:txBody>
      </p:sp>
      <p:sp>
        <p:nvSpPr>
          <p:cNvPr id="269" name="Google Shape;269;p18"/>
          <p:cNvSpPr txBox="1"/>
          <p:nvPr>
            <p:ph idx="1" type="body"/>
          </p:nvPr>
        </p:nvSpPr>
        <p:spPr>
          <a:xfrm>
            <a:off x="311700" y="9563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 u="sng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rebuchet MS"/>
              <a:buChar char="●"/>
            </a:pPr>
            <a:r>
              <a:rPr lang="en" sz="22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Take responsibility for your own learning</a:t>
            </a:r>
            <a:br>
              <a:rPr lang="e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rebuchet MS"/>
              <a:buChar char="●"/>
            </a:pPr>
            <a:r>
              <a:rPr lang="en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Make the most of all provided resources</a:t>
            </a:r>
            <a:endParaRPr sz="2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Past papers, lab materials, and practice problems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Theory faculty guidance 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Lab faculty guidance 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○"/>
            </a:pPr>
            <a:r>
              <a:rPr lang="e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Tutor consultations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" name="Google Shape;27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2800">
                <a:solidFill>
                  <a:schemeClr val="dk1"/>
                </a:solidFill>
              </a:rPr>
              <a:t>Best of luck with CSE220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76" name="Google Shape;2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