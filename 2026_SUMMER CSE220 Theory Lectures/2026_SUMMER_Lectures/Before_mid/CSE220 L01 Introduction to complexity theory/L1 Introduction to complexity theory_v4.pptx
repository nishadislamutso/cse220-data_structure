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y="5143500" cx="9144000"/>
  <p:notesSz cx="6858000" cy="9144000"/>
  <p:embeddedFontLst>
    <p:embeddedFont>
      <p:font typeface="Tahoma"/>
      <p:regular r:id="rId92"/>
      <p:bold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94" roundtripDataSignature="AMtx7mj4ivg5DOkBFCGIFvx6GUH599hz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F0209A-9A08-4D8E-9871-E6A123FEBC52}">
  <a:tblStyle styleId="{7DF0209A-9A08-4D8E-9871-E6A123FEBC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slide" Target="slides/slide82.xml"/><Relationship Id="rId43" Type="http://schemas.openxmlformats.org/officeDocument/2006/relationships/slide" Target="slides/slide37.xml"/><Relationship Id="rId87" Type="http://schemas.openxmlformats.org/officeDocument/2006/relationships/slide" Target="slides/slide8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94" Type="http://customschemas.google.com/relationships/presentationmetadata" Target="metadata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font" Target="fonts/Tahoma-bold.fntdata"/><Relationship Id="rId92" Type="http://schemas.openxmlformats.org/officeDocument/2006/relationships/font" Target="fonts/Tahoma-regular.fnt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c46835a7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ec46835a7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c46835a7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ec46835a7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c46835a7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ec46835a7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bbaabe8e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8bbaabe8e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bc4e607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8bc4e607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a39e80d5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6a39e80d5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c46835a7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ec46835a7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5bce5dae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f5bce5dae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6768092ec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6768092ec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cfd01ab0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3bcfd01ab0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bcfd01ab0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bcfd01ab0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cfd01ab0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bcfd01ab0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c46835a7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ec46835a7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ec46835a7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g3ec46835a7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ec46835a7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3ec46835a7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ec46835a7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ec46835a7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ec46835a7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g3ec46835a7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ec46835a7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g3ec46835a7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ec46835a7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g3ec46835a7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c41eaf0d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ec41eaf0d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f0b26c94b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f0b26c94b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f0b26c94b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g3f0b26c94b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0b26c94b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f0b26c94b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0b26c94b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g3f0b26c94b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7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7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7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7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youtube.com/watch?v=kazvOikPQrk" TargetMode="External"/><Relationship Id="rId4" Type="http://schemas.openxmlformats.org/officeDocument/2006/relationships/image" Target="../media/image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800"/>
              <a:t>Introduction to complexity theory</a:t>
            </a:r>
            <a:endParaRPr sz="3800"/>
          </a:p>
        </p:txBody>
      </p:sp>
      <p:sp>
        <p:nvSpPr>
          <p:cNvPr id="55" name="Google Shape;55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idx="1" type="body"/>
          </p:nvPr>
        </p:nvSpPr>
        <p:spPr>
          <a:xfrm>
            <a:off x="171300" y="1062275"/>
            <a:ext cx="8723400" cy="23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Computers execute tasks extremely fast, but </a:t>
            </a:r>
            <a:r>
              <a:rPr lang="en" sz="1500" u="sng">
                <a:solidFill>
                  <a:schemeClr val="dk1"/>
                </a:solidFill>
              </a:rPr>
              <a:t>real-world problems</a:t>
            </a:r>
            <a:r>
              <a:rPr lang="en" sz="1500">
                <a:solidFill>
                  <a:schemeClr val="dk1"/>
                </a:solidFill>
              </a:rPr>
              <a:t> can be </a:t>
            </a:r>
            <a:r>
              <a:rPr lang="en" sz="1500" u="sng">
                <a:solidFill>
                  <a:schemeClr val="dk1"/>
                </a:solidFill>
              </a:rPr>
              <a:t>too large to handle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As computers advance, we </a:t>
            </a:r>
            <a:r>
              <a:rPr lang="en" sz="1500" u="sng">
                <a:solidFill>
                  <a:schemeClr val="dk1"/>
                </a:solidFill>
              </a:rPr>
              <a:t>attempt to solve bigger problems</a:t>
            </a:r>
            <a:r>
              <a:rPr lang="en" sz="1500">
                <a:solidFill>
                  <a:schemeClr val="dk1"/>
                </a:solidFill>
              </a:rPr>
              <a:t>, keeping us </a:t>
            </a:r>
            <a:r>
              <a:rPr lang="en" sz="1500" u="sng">
                <a:solidFill>
                  <a:schemeClr val="dk1"/>
                </a:solidFill>
              </a:rPr>
              <a:t>limited by capacity.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Early computers were large, 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but had far less computational power than modern smartphones.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rgbClr val="0000FF"/>
                </a:solidFill>
              </a:rPr>
              <a:t>Despite advancements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 u="sng">
                <a:solidFill>
                  <a:srgbClr val="990000"/>
                </a:solidFill>
              </a:rPr>
              <a:t>computational </a:t>
            </a:r>
            <a:r>
              <a:rPr lang="en" sz="1500" u="sng">
                <a:solidFill>
                  <a:srgbClr val="990000"/>
                </a:solidFill>
              </a:rPr>
              <a:t>and </a:t>
            </a:r>
            <a:r>
              <a:rPr b="1" lang="en" sz="1500" u="sng">
                <a:solidFill>
                  <a:srgbClr val="990000"/>
                </a:solidFill>
              </a:rPr>
              <a:t>memory constraints</a:t>
            </a:r>
            <a:r>
              <a:rPr lang="en" sz="1500" u="sng">
                <a:solidFill>
                  <a:srgbClr val="990000"/>
                </a:solidFill>
              </a:rPr>
              <a:t> remain.</a:t>
            </a:r>
            <a:br>
              <a:rPr lang="en" sz="1500" u="sng">
                <a:solidFill>
                  <a:schemeClr val="dk1"/>
                </a:solidFill>
              </a:rPr>
            </a:br>
            <a:br>
              <a:rPr lang="en" sz="1500" u="sng">
                <a:solidFill>
                  <a:schemeClr val="dk1"/>
                </a:solidFill>
              </a:rPr>
            </a:br>
            <a:r>
              <a:rPr lang="en" sz="1600" u="sng">
                <a:solidFill>
                  <a:schemeClr val="dk1"/>
                </a:solidFill>
              </a:rPr>
              <a:t>Hence, we need to analyze the </a:t>
            </a:r>
            <a:r>
              <a:rPr b="1" lang="en" sz="1600" u="sng">
                <a:solidFill>
                  <a:schemeClr val="dk1"/>
                </a:solidFill>
              </a:rPr>
              <a:t>efficiency of our program</a:t>
            </a:r>
            <a:r>
              <a:rPr lang="en" sz="1600" u="sng">
                <a:solidFill>
                  <a:schemeClr val="dk1"/>
                </a:solidFill>
              </a:rPr>
              <a:t> using “</a:t>
            </a:r>
            <a:r>
              <a:rPr b="1" lang="en" sz="1600" u="sng">
                <a:solidFill>
                  <a:srgbClr val="0000FF"/>
                </a:solidFill>
              </a:rPr>
              <a:t>Complexity Theory</a:t>
            </a:r>
            <a:r>
              <a:rPr lang="en" sz="1600" u="sng">
                <a:solidFill>
                  <a:schemeClr val="dk1"/>
                </a:solidFill>
              </a:rPr>
              <a:t>”</a:t>
            </a:r>
            <a:endParaRPr sz="1600" u="sng"/>
          </a:p>
        </p:txBody>
      </p:sp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Why Computational Efficiency Still Matters?</a:t>
            </a:r>
            <a:endParaRPr/>
          </a:p>
        </p:txBody>
      </p:sp>
      <p:sp>
        <p:nvSpPr>
          <p:cNvPr id="62" name="Google Shape;6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idx="1" type="body"/>
          </p:nvPr>
        </p:nvSpPr>
        <p:spPr>
          <a:xfrm>
            <a:off x="611250" y="1245650"/>
            <a:ext cx="7921500" cy="3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Efficient programming is crucial due to </a:t>
            </a:r>
            <a:r>
              <a:rPr lang="en" sz="1400" u="sng">
                <a:solidFill>
                  <a:schemeClr val="dk1"/>
                </a:solidFill>
              </a:rPr>
              <a:t>limited computational resources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In classroom settings, we almost never encounter this issue</a:t>
            </a:r>
            <a:r>
              <a:rPr lang="en" sz="1400">
                <a:solidFill>
                  <a:schemeClr val="dk1"/>
                </a:solidFill>
              </a:rPr>
              <a:t> because the inputs to our problems are </a:t>
            </a:r>
            <a:r>
              <a:rPr b="1" lang="en" sz="1400" u="sng">
                <a:solidFill>
                  <a:srgbClr val="0000FF"/>
                </a:solidFill>
              </a:rPr>
              <a:t>quite small.</a:t>
            </a:r>
            <a:endParaRPr b="1" sz="1400" u="sng">
              <a:solidFill>
                <a:srgbClr val="0000FF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As a result, even an </a:t>
            </a:r>
            <a:r>
              <a:rPr b="1" lang="en" sz="1400">
                <a:solidFill>
                  <a:schemeClr val="dk1"/>
                </a:solidFill>
              </a:rPr>
              <a:t>inefficient program</a:t>
            </a:r>
            <a:r>
              <a:rPr lang="en" sz="1400">
                <a:solidFill>
                  <a:schemeClr val="dk1"/>
                </a:solidFill>
              </a:rPr>
              <a:t> can process them </a:t>
            </a:r>
            <a:r>
              <a:rPr b="1" lang="en" sz="1400">
                <a:solidFill>
                  <a:schemeClr val="dk1"/>
                </a:solidFill>
              </a:rPr>
              <a:t>very fast</a:t>
            </a:r>
            <a:r>
              <a:rPr lang="en" sz="1400">
                <a:solidFill>
                  <a:schemeClr val="dk1"/>
                </a:solidFill>
              </a:rPr>
              <a:t> (in computer terms).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However, real-world problems involve </a:t>
            </a:r>
            <a:r>
              <a:rPr b="1" lang="en" sz="1400" u="sng">
                <a:solidFill>
                  <a:schemeClr val="dk1"/>
                </a:solidFill>
              </a:rPr>
              <a:t>massive inputs,</a:t>
            </a:r>
            <a:r>
              <a:rPr lang="en" sz="1400">
                <a:solidFill>
                  <a:schemeClr val="dk1"/>
                </a:solidFill>
              </a:rPr>
              <a:t> making </a:t>
            </a:r>
            <a:r>
              <a:rPr b="1" lang="en" sz="1400" u="sng">
                <a:solidFill>
                  <a:schemeClr val="dk1"/>
                </a:solidFill>
              </a:rPr>
              <a:t>efficiency critical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Poorly optimized (inefficient) programs</a:t>
            </a:r>
            <a:r>
              <a:rPr lang="en" sz="1400">
                <a:solidFill>
                  <a:schemeClr val="dk1"/>
                </a:solidFill>
              </a:rPr>
              <a:t> can lead to 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</a:t>
            </a:r>
            <a:r>
              <a:rPr lang="en" sz="1400">
                <a:solidFill>
                  <a:schemeClr val="dk1"/>
                </a:solidFill>
              </a:rPr>
              <a:t>nacceptable execution times 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</a:t>
            </a:r>
            <a:r>
              <a:rPr lang="en" sz="1400">
                <a:solidFill>
                  <a:schemeClr val="dk1"/>
                </a:solidFill>
              </a:rPr>
              <a:t>igh memory consumption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8" name="Google Shape;68;p3"/>
          <p:cNvSpPr txBox="1"/>
          <p:nvPr>
            <p:ph type="title"/>
          </p:nvPr>
        </p:nvSpPr>
        <p:spPr>
          <a:xfrm>
            <a:off x="540900" y="379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Importance of Program Efficiency</a:t>
            </a:r>
            <a:endParaRPr/>
          </a:p>
        </p:txBody>
      </p:sp>
      <p:sp>
        <p:nvSpPr>
          <p:cNvPr id="69" name="Google Shape;6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– Matrix Multiplication Complexity</a:t>
            </a:r>
            <a:endParaRPr/>
          </a:p>
        </p:txBody>
      </p:sp>
      <p:sp>
        <p:nvSpPr>
          <p:cNvPr id="75" name="Google Shape;75;p4"/>
          <p:cNvSpPr txBox="1"/>
          <p:nvPr>
            <p:ph idx="1" type="body"/>
          </p:nvPr>
        </p:nvSpPr>
        <p:spPr>
          <a:xfrm>
            <a:off x="311700" y="1037863"/>
            <a:ext cx="8520600" cy="21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591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217">
                <a:solidFill>
                  <a:schemeClr val="dk1"/>
                </a:solidFill>
              </a:rPr>
              <a:t>Matrix multiplication: C = A × B, where C’s elements are computed using row-column multiplication.</a:t>
            </a: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endParaRPr sz="12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865" u="sng"/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075" y="1442975"/>
            <a:ext cx="4827300" cy="150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062" y="3179275"/>
            <a:ext cx="8931876" cy="15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– Matrix Multiplication Complexity</a:t>
            </a:r>
            <a:endParaRPr/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311700" y="1037863"/>
            <a:ext cx="8520600" cy="21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591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217">
                <a:solidFill>
                  <a:schemeClr val="dk1"/>
                </a:solidFill>
              </a:rPr>
              <a:t>Matrix multiplication: C = A × B, where C’s elements are computed using row-column multiplication.</a:t>
            </a: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217">
                <a:solidFill>
                  <a:schemeClr val="dk1"/>
                </a:solidFill>
              </a:rPr>
              <a:t>If A and B are 3 × 3 matrices:</a:t>
            </a:r>
            <a:endParaRPr sz="1217">
              <a:solidFill>
                <a:schemeClr val="dk1"/>
              </a:solidFill>
            </a:endParaRPr>
          </a:p>
          <a:p>
            <a:pPr indent="-30591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○"/>
            </a:pPr>
            <a:r>
              <a:rPr lang="en" sz="1217">
                <a:solidFill>
                  <a:schemeClr val="dk1"/>
                </a:solidFill>
              </a:rPr>
              <a:t>Each C element requires 3 multiplications, C has 9 elements</a:t>
            </a:r>
            <a:endParaRPr sz="1217">
              <a:solidFill>
                <a:schemeClr val="dk1"/>
              </a:solidFill>
            </a:endParaRPr>
          </a:p>
          <a:p>
            <a:pPr indent="-30591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○"/>
            </a:pPr>
            <a:r>
              <a:rPr lang="en" sz="1217">
                <a:solidFill>
                  <a:schemeClr val="dk1"/>
                </a:solidFill>
              </a:rPr>
              <a:t>Total multiplications = 3 × 9 = 27</a:t>
            </a:r>
            <a:endParaRPr sz="1217">
              <a:solidFill>
                <a:schemeClr val="dk1"/>
              </a:solidFill>
            </a:endParaRPr>
          </a:p>
          <a:p>
            <a:pPr indent="-30591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○"/>
            </a:pPr>
            <a:r>
              <a:rPr lang="en" sz="1217">
                <a:solidFill>
                  <a:schemeClr val="dk1"/>
                </a:solidFill>
              </a:rPr>
              <a:t>At 2 GHz CPU speed (</a:t>
            </a:r>
            <a:r>
              <a:rPr lang="en" sz="1217" u="sng">
                <a:solidFill>
                  <a:schemeClr val="dk1"/>
                </a:solidFill>
              </a:rPr>
              <a:t>~1 operation per nanosecond</a:t>
            </a:r>
            <a:r>
              <a:rPr lang="en" sz="1217">
                <a:solidFill>
                  <a:schemeClr val="dk1"/>
                </a:solidFill>
              </a:rPr>
              <a:t>), takes ~27 nanoseconds.</a:t>
            </a:r>
            <a:endParaRPr sz="1217">
              <a:solidFill>
                <a:schemeClr val="dk1"/>
              </a:solidFill>
            </a:endParaRPr>
          </a:p>
          <a:p>
            <a:pPr indent="-30591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○"/>
            </a:pPr>
            <a:r>
              <a:rPr lang="en" sz="1217">
                <a:solidFill>
                  <a:schemeClr val="dk1"/>
                </a:solidFill>
              </a:rPr>
              <a:t>27 × 10^(-9) seconds = 27 nanoseconds.</a:t>
            </a:r>
            <a:endParaRPr sz="12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217">
              <a:solidFill>
                <a:schemeClr val="dk1"/>
              </a:solidFill>
            </a:endParaRPr>
          </a:p>
        </p:txBody>
      </p:sp>
      <p:sp>
        <p:nvSpPr>
          <p:cNvPr id="85" name="Google Shape;8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01" y="1405425"/>
            <a:ext cx="7972601" cy="14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– Matrix Multiplication Complexity</a:t>
            </a:r>
            <a:endParaRPr/>
          </a:p>
        </p:txBody>
      </p:sp>
      <p:sp>
        <p:nvSpPr>
          <p:cNvPr id="92" name="Google Shape;92;p6"/>
          <p:cNvSpPr txBox="1"/>
          <p:nvPr>
            <p:ph idx="1" type="body"/>
          </p:nvPr>
        </p:nvSpPr>
        <p:spPr>
          <a:xfrm>
            <a:off x="311700" y="1037863"/>
            <a:ext cx="8520600" cy="21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591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217">
                <a:solidFill>
                  <a:schemeClr val="dk1"/>
                </a:solidFill>
              </a:rPr>
              <a:t>Matrix multiplication: C = A × B, where C’s elements are computed using row-column multiplication.</a:t>
            </a: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br>
              <a:rPr lang="en" sz="1217">
                <a:solidFill>
                  <a:schemeClr val="dk1"/>
                </a:solidFill>
              </a:rPr>
            </a:b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217">
                <a:solidFill>
                  <a:schemeClr val="dk1"/>
                </a:solidFill>
              </a:rPr>
              <a:t>If A and B are 10,000 × 10,000 matrices:</a:t>
            </a:r>
            <a:endParaRPr sz="1217">
              <a:solidFill>
                <a:schemeClr val="dk1"/>
              </a:solidFill>
            </a:endParaRPr>
          </a:p>
          <a:p>
            <a:pPr indent="-30591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○"/>
            </a:pPr>
            <a:r>
              <a:rPr lang="en" sz="1217">
                <a:solidFill>
                  <a:schemeClr val="dk1"/>
                </a:solidFill>
              </a:rPr>
              <a:t>Each C element requires 10,000 multiplications.</a:t>
            </a:r>
            <a:endParaRPr sz="1217">
              <a:solidFill>
                <a:schemeClr val="dk1"/>
              </a:solidFill>
            </a:endParaRPr>
          </a:p>
          <a:p>
            <a:pPr indent="-30591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○"/>
            </a:pPr>
            <a:r>
              <a:rPr lang="en" sz="1217">
                <a:solidFill>
                  <a:schemeClr val="dk1"/>
                </a:solidFill>
              </a:rPr>
              <a:t>Total multiplications = 10^4×10^4×10^4=10^12</a:t>
            </a:r>
            <a:endParaRPr sz="1217">
              <a:solidFill>
                <a:schemeClr val="dk1"/>
              </a:solidFill>
            </a:endParaRPr>
          </a:p>
          <a:p>
            <a:pPr indent="-30591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○"/>
            </a:pPr>
            <a:r>
              <a:rPr lang="en" sz="1217">
                <a:solidFill>
                  <a:schemeClr val="dk1"/>
                </a:solidFill>
              </a:rPr>
              <a:t>At 2 GHz CPU speed (~1 operation per nanosecond), takes </a:t>
            </a:r>
            <a:r>
              <a:rPr b="1" lang="en" sz="1217">
                <a:solidFill>
                  <a:schemeClr val="dk1"/>
                </a:solidFill>
              </a:rPr>
              <a:t>~16.67 minutes</a:t>
            </a:r>
            <a:r>
              <a:rPr lang="en" sz="1217">
                <a:solidFill>
                  <a:schemeClr val="dk1"/>
                </a:solidFill>
              </a:rPr>
              <a:t>.</a:t>
            </a:r>
            <a:endParaRPr sz="1217">
              <a:solidFill>
                <a:schemeClr val="dk1"/>
              </a:solidFill>
            </a:endParaRPr>
          </a:p>
          <a:p>
            <a:pPr indent="-30591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■"/>
            </a:pPr>
            <a:r>
              <a:rPr lang="en" sz="1217">
                <a:solidFill>
                  <a:schemeClr val="dk1"/>
                </a:solidFill>
              </a:rPr>
              <a:t>1012* 10^-9 seconds = 1000 seconds =16.67 minutes</a:t>
            </a: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b="1" lang="en" sz="1217" u="sng">
                <a:solidFill>
                  <a:srgbClr val="0000FF"/>
                </a:solidFill>
              </a:rPr>
              <a:t>Larger matrices </a:t>
            </a:r>
            <a:r>
              <a:rPr b="1" lang="en" sz="1217" u="sng">
                <a:solidFill>
                  <a:schemeClr val="dk1"/>
                </a:solidFill>
              </a:rPr>
              <a:t>drastically increase execution time.</a:t>
            </a:r>
            <a:endParaRPr b="1" sz="1865" u="sng"/>
          </a:p>
        </p:txBody>
      </p:sp>
      <p:pic>
        <p:nvPicPr>
          <p:cNvPr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075" y="1442975"/>
            <a:ext cx="4827300" cy="150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– Memory Consumption Issue</a:t>
            </a:r>
            <a:endParaRPr/>
          </a:p>
        </p:txBody>
      </p:sp>
      <p:sp>
        <p:nvSpPr>
          <p:cNvPr id="100" name="Google Shape;100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Memory efficiency </a:t>
            </a:r>
            <a:r>
              <a:rPr lang="en" sz="1400">
                <a:solidFill>
                  <a:schemeClr val="dk1"/>
                </a:solidFill>
              </a:rPr>
              <a:t>is crucial to avoid excessive resource usage.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For example: 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Bangladesh NID database has </a:t>
            </a:r>
            <a:r>
              <a:rPr b="1" lang="en">
                <a:solidFill>
                  <a:schemeClr val="dk1"/>
                </a:solidFill>
              </a:rPr>
              <a:t>50 million entries</a:t>
            </a:r>
            <a:r>
              <a:rPr lang="en">
                <a:solidFill>
                  <a:schemeClr val="dk1"/>
                </a:solidFill>
              </a:rPr>
              <a:t> (~5×10^7).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Each name: 20 characters </a:t>
            </a:r>
            <a:endParaRPr b="1"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lang="en">
                <a:solidFill>
                  <a:schemeClr val="dk1"/>
                </a:solidFill>
              </a:rPr>
              <a:t>So, </a:t>
            </a:r>
            <a:r>
              <a:rPr lang="en">
                <a:solidFill>
                  <a:schemeClr val="dk1"/>
                </a:solidFill>
              </a:rPr>
              <a:t>for 50M entries of names</a:t>
            </a:r>
            <a:r>
              <a:rPr b="1" lang="en">
                <a:solidFill>
                  <a:schemeClr val="dk1"/>
                </a:solidFill>
              </a:rPr>
              <a:t>→ 100 MB total</a:t>
            </a:r>
            <a:r>
              <a:rPr lang="en">
                <a:solidFill>
                  <a:schemeClr val="dk1"/>
                </a:solidFill>
              </a:rPr>
              <a:t> ((5 X 10^7) X 20=10^9 bytes).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If additional data is stored</a:t>
            </a:r>
            <a:r>
              <a:rPr lang="en">
                <a:solidFill>
                  <a:schemeClr val="dk1"/>
                </a:solidFill>
              </a:rPr>
              <a:t>, memory usage can </a:t>
            </a:r>
            <a:r>
              <a:rPr lang="en" u="sng">
                <a:solidFill>
                  <a:schemeClr val="dk1"/>
                </a:solidFill>
              </a:rPr>
              <a:t>exceed </a:t>
            </a:r>
            <a:r>
              <a:rPr b="1" lang="en" u="sng">
                <a:solidFill>
                  <a:schemeClr val="dk1"/>
                </a:solidFill>
              </a:rPr>
              <a:t>1 GB</a:t>
            </a:r>
            <a:r>
              <a:rPr lang="en" u="sng">
                <a:solidFill>
                  <a:schemeClr val="dk1"/>
                </a:solidFill>
              </a:rPr>
              <a:t>.</a:t>
            </a:r>
            <a:br>
              <a:rPr lang="en" u="sng">
                <a:solidFill>
                  <a:schemeClr val="dk1"/>
                </a:solidFill>
              </a:rPr>
            </a:br>
            <a:endParaRPr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chemeClr val="dk1"/>
                </a:solidFill>
              </a:rPr>
              <a:t>         Problem:</a:t>
            </a:r>
            <a:r>
              <a:rPr lang="en" sz="1400">
                <a:solidFill>
                  <a:schemeClr val="dk1"/>
                </a:solidFill>
              </a:rPr>
              <a:t> A simple program that loads the </a:t>
            </a:r>
            <a:r>
              <a:rPr lang="en" sz="1400" u="sng">
                <a:solidFill>
                  <a:schemeClr val="dk1"/>
                </a:solidFill>
              </a:rPr>
              <a:t>entire file into memory </a:t>
            </a:r>
            <a:r>
              <a:rPr lang="en" sz="1400">
                <a:solidFill>
                  <a:schemeClr val="dk1"/>
                </a:solidFill>
              </a:rPr>
              <a:t>uses at </a:t>
            </a:r>
            <a:r>
              <a:rPr lang="en" sz="1400" u="sng">
                <a:solidFill>
                  <a:schemeClr val="dk1"/>
                </a:solidFill>
              </a:rPr>
              <a:t>least 100 MB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M</a:t>
            </a:r>
            <a:r>
              <a:rPr lang="en" sz="1400">
                <a:solidFill>
                  <a:schemeClr val="dk1"/>
                </a:solidFill>
              </a:rPr>
              <a:t>ay </a:t>
            </a:r>
            <a:r>
              <a:rPr b="1" lang="en" sz="1400">
                <a:solidFill>
                  <a:schemeClr val="dk1"/>
                </a:solidFill>
              </a:rPr>
              <a:t>exceed 1 GB</a:t>
            </a:r>
            <a:r>
              <a:rPr lang="en" sz="1400">
                <a:solidFill>
                  <a:schemeClr val="dk1"/>
                </a:solidFill>
              </a:rPr>
              <a:t> if </a:t>
            </a:r>
            <a:r>
              <a:rPr lang="en" sz="1400" u="sng">
                <a:solidFill>
                  <a:schemeClr val="dk1"/>
                </a:solidFill>
              </a:rPr>
              <a:t>additional data is included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 u="sng">
                <a:solidFill>
                  <a:schemeClr val="dk1"/>
                </a:solidFill>
              </a:rPr>
            </a:br>
            <a:endParaRPr sz="1400" u="sng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Concern:</a:t>
            </a:r>
            <a:r>
              <a:rPr lang="en" sz="1400">
                <a:solidFill>
                  <a:schemeClr val="dk1"/>
                </a:solidFill>
              </a:rPr>
              <a:t> Personal computers have </a:t>
            </a:r>
            <a:r>
              <a:rPr b="1" lang="en" sz="1400">
                <a:solidFill>
                  <a:schemeClr val="dk1"/>
                </a:solidFill>
              </a:rPr>
              <a:t>8-16 GB RAM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 sz="1400">
                <a:solidFill>
                  <a:schemeClr val="dk1"/>
                </a:solidFill>
              </a:rPr>
              <a:t> single</a:t>
            </a:r>
            <a:r>
              <a:rPr b="1" lang="en" sz="1400">
                <a:solidFill>
                  <a:schemeClr val="dk1"/>
                </a:solidFill>
              </a:rPr>
              <a:t> inefficient program</a:t>
            </a:r>
            <a:r>
              <a:rPr lang="en" sz="1400">
                <a:solidFill>
                  <a:schemeClr val="dk1"/>
                </a:solidFill>
              </a:rPr>
              <a:t> can </a:t>
            </a:r>
            <a:r>
              <a:rPr b="1" lang="en" sz="1400">
                <a:solidFill>
                  <a:schemeClr val="dk1"/>
                </a:solidFill>
              </a:rPr>
              <a:t>severely impact performance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600"/>
          </a:p>
        </p:txBody>
      </p:sp>
      <p:sp>
        <p:nvSpPr>
          <p:cNvPr id="101" name="Google Shape;10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Understanding Time &amp; Space Complexity</a:t>
            </a:r>
            <a:endParaRPr/>
          </a:p>
        </p:txBody>
      </p:sp>
      <p:sp>
        <p:nvSpPr>
          <p:cNvPr id="107" name="Google Shape;10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0000FF"/>
                </a:solidFill>
              </a:rPr>
              <a:t>CPU time</a:t>
            </a:r>
            <a:r>
              <a:rPr b="1" lang="en" sz="1600">
                <a:solidFill>
                  <a:schemeClr val="dk1"/>
                </a:solidFill>
              </a:rPr>
              <a:t> and </a:t>
            </a:r>
            <a:r>
              <a:rPr b="1" lang="en" sz="1600">
                <a:solidFill>
                  <a:srgbClr val="0000FF"/>
                </a:solidFill>
              </a:rPr>
              <a:t>memory space</a:t>
            </a:r>
            <a:r>
              <a:rPr lang="en" sz="1600">
                <a:solidFill>
                  <a:schemeClr val="dk1"/>
                </a:solidFill>
              </a:rPr>
              <a:t> are </a:t>
            </a:r>
            <a:r>
              <a:rPr b="1" lang="en" sz="1600">
                <a:solidFill>
                  <a:schemeClr val="dk1"/>
                </a:solidFill>
              </a:rPr>
              <a:t>scarce (limited) resources</a:t>
            </a:r>
            <a:r>
              <a:rPr lang="en" sz="1600">
                <a:solidFill>
                  <a:schemeClr val="dk1"/>
                </a:solidFill>
              </a:rPr>
              <a:t> that must be used efficiently.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0000FF"/>
                </a:solidFill>
              </a:rPr>
              <a:t>Two key measures</a:t>
            </a:r>
            <a:r>
              <a:rPr b="1" lang="en" sz="1600">
                <a:solidFill>
                  <a:schemeClr val="dk1"/>
                </a:solidFill>
              </a:rPr>
              <a:t> of efficiency for a program: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Time Complexity</a:t>
            </a:r>
            <a:r>
              <a:rPr lang="en" sz="1600">
                <a:solidFill>
                  <a:schemeClr val="dk1"/>
                </a:solidFill>
              </a:rPr>
              <a:t> → How </a:t>
            </a:r>
            <a:r>
              <a:rPr lang="en" sz="1600" u="sng">
                <a:solidFill>
                  <a:schemeClr val="dk1"/>
                </a:solidFill>
              </a:rPr>
              <a:t>execution </a:t>
            </a:r>
            <a:r>
              <a:rPr b="1" lang="en" sz="1600" u="sng">
                <a:solidFill>
                  <a:srgbClr val="0000FF"/>
                </a:solidFill>
              </a:rPr>
              <a:t>time grows</a:t>
            </a:r>
            <a:r>
              <a:rPr lang="en" sz="1600">
                <a:solidFill>
                  <a:schemeClr val="dk1"/>
                </a:solidFill>
              </a:rPr>
              <a:t> with </a:t>
            </a:r>
            <a:r>
              <a:rPr lang="en" sz="1600" u="sng">
                <a:solidFill>
                  <a:schemeClr val="dk1"/>
                </a:solidFill>
              </a:rPr>
              <a:t>input size. (</a:t>
            </a:r>
            <a:r>
              <a:rPr lang="en" sz="1600" u="sng">
                <a:solidFill>
                  <a:srgbClr val="9900FF"/>
                </a:solidFill>
              </a:rPr>
              <a:t>growth pattern</a:t>
            </a:r>
            <a:r>
              <a:rPr lang="en" sz="1600" u="sng">
                <a:solidFill>
                  <a:schemeClr val="dk1"/>
                </a:solidFill>
              </a:rPr>
              <a:t>)</a:t>
            </a:r>
            <a:br>
              <a:rPr lang="en" sz="1600" u="sng">
                <a:solidFill>
                  <a:schemeClr val="dk1"/>
                </a:solidFill>
              </a:rPr>
            </a:br>
            <a:endParaRPr sz="1600" u="sng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Space Complexity</a:t>
            </a:r>
            <a:r>
              <a:rPr lang="en" sz="1600">
                <a:solidFill>
                  <a:schemeClr val="dk1"/>
                </a:solidFill>
              </a:rPr>
              <a:t> → How much </a:t>
            </a:r>
            <a:r>
              <a:rPr lang="en" sz="1600" u="sng">
                <a:solidFill>
                  <a:schemeClr val="dk1"/>
                </a:solidFill>
              </a:rPr>
              <a:t>memory</a:t>
            </a:r>
            <a:r>
              <a:rPr lang="en" sz="1600">
                <a:solidFill>
                  <a:schemeClr val="dk1"/>
                </a:solidFill>
              </a:rPr>
              <a:t> the </a:t>
            </a:r>
            <a:r>
              <a:rPr lang="en" sz="1600" u="sng">
                <a:solidFill>
                  <a:schemeClr val="dk1"/>
                </a:solidFill>
              </a:rPr>
              <a:t>program consumes.</a:t>
            </a:r>
            <a:endParaRPr sz="1600" u="sng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The amount of memory an algorithm requires during execution. 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08" name="Google Shape;10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c46835a7d_0_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Understanding Time &amp; Space Complexity</a:t>
            </a:r>
            <a:endParaRPr/>
          </a:p>
        </p:txBody>
      </p:sp>
      <p:sp>
        <p:nvSpPr>
          <p:cNvPr id="114" name="Google Shape;114;g3ec46835a7d_0_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Every event/</a:t>
            </a:r>
            <a:r>
              <a:rPr b="1"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algorithm</a:t>
            </a:r>
            <a:r>
              <a:rPr b="1"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can be analyzed under three scenarios:</a:t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1"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Best Case: </a:t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○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Minimum number of operations required 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○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minimum memory required.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1"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Average Case: </a:t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○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Expected number of operations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○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typical memory required for a typical input.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1"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Worst Case: </a:t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○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Maximum number of operations required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○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maximum memory required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5" name="Google Shape;115;g3ec46835a7d_0_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c46835a7d_0_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Understanding Time &amp; Space Complexity</a:t>
            </a:r>
            <a:endParaRPr/>
          </a:p>
        </p:txBody>
      </p:sp>
      <p:sp>
        <p:nvSpPr>
          <p:cNvPr id="121" name="Google Shape;121;g3ec46835a7d_0_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22" name="Google Shape;122;g3ec46835a7d_0_62"/>
          <p:cNvGraphicFramePr/>
          <p:nvPr/>
        </p:nvGraphicFramePr>
        <p:xfrm>
          <a:off x="400100" y="1170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{7DF0209A-9A08-4D8E-9871-E6A123FEBC52}</a:tableStyleId>
              </a:tblPr>
              <a:tblGrid>
                <a:gridCol w="1243175"/>
                <a:gridCol w="4046250"/>
                <a:gridCol w="2888900"/>
              </a:tblGrid>
              <a:tr h="42255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4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Example: Identifying a Student from an Attendance Sheet</a:t>
                      </a:r>
                      <a:endParaRPr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41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ahoma"/>
                          <a:ea typeface="Tahoma"/>
                          <a:cs typeface="Tahoma"/>
                          <a:sym typeface="Tahoma"/>
                        </a:rPr>
                        <a:t>Scenario</a:t>
                      </a:r>
                      <a:endParaRPr b="1"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Time Complexity</a:t>
                      </a:r>
                      <a:endParaRPr b="1"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Space Complexity</a:t>
                      </a:r>
                      <a:endParaRPr b="1"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45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Best Case</a:t>
                      </a:r>
                      <a:endParaRPr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The student is the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first entry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→ 1 comparison →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Only the first data item needs to be loaded → O(1)</a:t>
                      </a:r>
                      <a:endParaRPr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59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Average Case</a:t>
                      </a:r>
                      <a:endParaRPr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The student is found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around the middle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→ approximately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n/2 comparisons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→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O(n)</a:t>
                      </a:r>
                      <a:endParaRPr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Approximately half of the data needs to be loaded → O(n) </a:t>
                      </a:r>
                      <a:endParaRPr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59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Worst Case</a:t>
                      </a:r>
                      <a:endParaRPr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The student is the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last entry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or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not present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→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comparisons →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O(n)</a:t>
                      </a:r>
                      <a:endParaRPr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All data must be loaded into memory → O(n).</a:t>
                      </a:r>
                      <a:endParaRPr sz="15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c46835a7d_0_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Understanding Time &amp; Space Complexity</a:t>
            </a:r>
            <a:endParaRPr/>
          </a:p>
        </p:txBody>
      </p:sp>
      <p:sp>
        <p:nvSpPr>
          <p:cNvPr id="128" name="Google Shape;128;g3ec46835a7d_0_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Although algorithms can be analyzed under </a:t>
            </a:r>
            <a:r>
              <a:rPr b="1" lang="en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best-case, average-case, and worst-case</a:t>
            </a:r>
            <a:r>
              <a:rPr lang="en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scenarios, this course primarily focuses on the </a:t>
            </a:r>
            <a:r>
              <a:rPr b="1" lang="en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worst-case scenario</a:t>
            </a:r>
            <a:r>
              <a:rPr lang="en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●"/>
            </a:pPr>
            <a:r>
              <a:rPr b="1" lang="en" sz="14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Worst-case complexity helps determine:</a:t>
            </a:r>
            <a:br>
              <a:rPr lang="en" sz="14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1)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The maximum resource requirements (e.g., memory usage).</a:t>
            </a:r>
            <a:endParaRPr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2)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The maximum execution time an algorithm may require.</a:t>
            </a:r>
            <a:br>
              <a:rPr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endParaRPr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en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Best-case and average-case complexity analyses will be covered in the Algorithms course.</a:t>
            </a:r>
            <a:endParaRPr b="1"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g3ec46835a7d_0_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Improving Worst-Case Performance of a Program</a:t>
            </a:r>
            <a:endParaRPr/>
          </a:p>
        </p:txBody>
      </p:sp>
      <p:sp>
        <p:nvSpPr>
          <p:cNvPr id="135" name="Google Shape;135;p9"/>
          <p:cNvSpPr txBox="1"/>
          <p:nvPr>
            <p:ph idx="1" type="body"/>
          </p:nvPr>
        </p:nvSpPr>
        <p:spPr>
          <a:xfrm>
            <a:off x="77300" y="1152475"/>
            <a:ext cx="8754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Char char="●"/>
            </a:pPr>
            <a:r>
              <a:rPr lang="en" sz="1600">
                <a:solidFill>
                  <a:srgbClr val="0000FF"/>
                </a:solidFill>
              </a:rPr>
              <a:t>Small modifications can </a:t>
            </a:r>
            <a:r>
              <a:rPr b="1" lang="en" sz="1600">
                <a:solidFill>
                  <a:srgbClr val="0000FF"/>
                </a:solidFill>
              </a:rPr>
              <a:t>drastically improve performance</a:t>
            </a:r>
            <a:r>
              <a:rPr lang="en" sz="1600">
                <a:solidFill>
                  <a:srgbClr val="0000FF"/>
                </a:solidFill>
              </a:rPr>
              <a:t>.</a:t>
            </a:r>
            <a:br>
              <a:rPr lang="en" sz="1600">
                <a:solidFill>
                  <a:srgbClr val="0000FF"/>
                </a:solidFill>
              </a:rPr>
            </a:br>
            <a:endParaRPr sz="1600">
              <a:solidFill>
                <a:srgbClr val="0000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Example: </a:t>
            </a:r>
            <a:r>
              <a:rPr lang="en" sz="1600">
                <a:solidFill>
                  <a:schemeClr val="dk1"/>
                </a:solidFill>
              </a:rPr>
              <a:t>Searching in the NID database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Naïve approach</a:t>
            </a:r>
            <a:r>
              <a:rPr lang="en" sz="1600">
                <a:solidFill>
                  <a:schemeClr val="dk1"/>
                </a:solidFill>
              </a:rPr>
              <a:t>: Load the </a:t>
            </a:r>
            <a:r>
              <a:rPr lang="en" sz="1600" u="sng">
                <a:solidFill>
                  <a:schemeClr val="dk1"/>
                </a:solidFill>
              </a:rPr>
              <a:t>entire file</a:t>
            </a:r>
            <a:r>
              <a:rPr lang="en" sz="1600">
                <a:solidFill>
                  <a:schemeClr val="dk1"/>
                </a:solidFill>
              </a:rPr>
              <a:t> into memory </a:t>
            </a:r>
            <a:endParaRPr sz="1600">
              <a:solidFill>
                <a:schemeClr val="dk1"/>
              </a:solidFill>
            </a:endParaRPr>
          </a:p>
          <a:p>
            <a: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High memory usage</a:t>
            </a:r>
            <a:r>
              <a:rPr lang="en" sz="1600">
                <a:solidFill>
                  <a:schemeClr val="dk1"/>
                </a:solidFill>
              </a:rPr>
              <a:t> (~1 GB).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Optimized approach</a:t>
            </a:r>
            <a:r>
              <a:rPr lang="en" sz="1600">
                <a:solidFill>
                  <a:schemeClr val="dk1"/>
                </a:solidFill>
              </a:rPr>
              <a:t>: Read </a:t>
            </a:r>
            <a:r>
              <a:rPr lang="en" sz="1600" u="sng">
                <a:solidFill>
                  <a:schemeClr val="dk1"/>
                </a:solidFill>
              </a:rPr>
              <a:t>one line at a time</a:t>
            </a:r>
            <a:r>
              <a:rPr lang="en" sz="1600">
                <a:solidFill>
                  <a:schemeClr val="dk1"/>
                </a:solidFill>
              </a:rPr>
              <a:t>, compare, then discard if not a match</a:t>
            </a:r>
            <a:endParaRPr sz="1600">
              <a:solidFill>
                <a:schemeClr val="dk1"/>
              </a:solidFill>
            </a:endParaRPr>
          </a:p>
          <a:p>
            <a: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Only 20</a:t>
            </a:r>
            <a:r>
              <a:rPr lang="en" sz="1600">
                <a:solidFill>
                  <a:schemeClr val="dk1"/>
                </a:solidFill>
              </a:rPr>
              <a:t>~</a:t>
            </a:r>
            <a:r>
              <a:rPr b="1" lang="en" sz="1600">
                <a:solidFill>
                  <a:schemeClr val="dk1"/>
                </a:solidFill>
              </a:rPr>
              <a:t>100 bytes needed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Performance gain</a:t>
            </a:r>
            <a:r>
              <a:rPr lang="en" sz="1600">
                <a:solidFill>
                  <a:schemeClr val="dk1"/>
                </a:solidFill>
              </a:rPr>
              <a:t>: Stops searching early if a match is found, </a:t>
            </a:r>
            <a:endParaRPr sz="1600">
              <a:solidFill>
                <a:schemeClr val="dk1"/>
              </a:solidFill>
            </a:endParaRPr>
          </a:p>
          <a:p>
            <a: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u="sng">
                <a:solidFill>
                  <a:schemeClr val="dk1"/>
                </a:solidFill>
              </a:rPr>
              <a:t>reducing execution time.</a:t>
            </a:r>
            <a:br>
              <a:rPr lang="en" sz="1600" u="sng">
                <a:solidFill>
                  <a:schemeClr val="dk1"/>
                </a:solidFill>
              </a:rPr>
            </a:br>
            <a:endParaRPr sz="1600" u="sng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Most </a:t>
            </a:r>
            <a:r>
              <a:rPr lang="en" sz="1600" u="sng">
                <a:solidFill>
                  <a:srgbClr val="9900FF"/>
                </a:solidFill>
              </a:rPr>
              <a:t>performance improvements</a:t>
            </a:r>
            <a:r>
              <a:rPr lang="en" sz="1600">
                <a:solidFill>
                  <a:schemeClr val="dk1"/>
                </a:solidFill>
              </a:rPr>
              <a:t> require </a:t>
            </a:r>
            <a:r>
              <a:rPr b="1" lang="en" sz="1600">
                <a:solidFill>
                  <a:schemeClr val="dk1"/>
                </a:solidFill>
              </a:rPr>
              <a:t>clever algorithms and data structures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0000FF"/>
                </a:solidFill>
              </a:rPr>
              <a:t>Thus, Data Structures &amp; Algorithms (DSA) </a:t>
            </a:r>
            <a:r>
              <a:rPr lang="en" sz="1600">
                <a:solidFill>
                  <a:schemeClr val="dk1"/>
                </a:solidFill>
              </a:rPr>
              <a:t>are </a:t>
            </a:r>
            <a:r>
              <a:rPr lang="en" sz="1600">
                <a:solidFill>
                  <a:srgbClr val="9900FF"/>
                </a:solidFill>
              </a:rPr>
              <a:t>core areas of computer science</a:t>
            </a:r>
            <a:r>
              <a:rPr lang="en" sz="1600">
                <a:solidFill>
                  <a:schemeClr val="dk1"/>
                </a:solidFill>
              </a:rPr>
              <a:t> for this reason.</a:t>
            </a:r>
            <a:endParaRPr/>
          </a:p>
        </p:txBody>
      </p:sp>
      <p:sp>
        <p:nvSpPr>
          <p:cNvPr id="136" name="Google Shape;1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Linear/sequential Search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311700" y="1152475"/>
            <a:ext cx="8520600" cy="19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675" y="1152475"/>
            <a:ext cx="4365326" cy="17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225" y="2850300"/>
            <a:ext cx="5491030" cy="17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10"/>
          <p:cNvSpPr txBox="1"/>
          <p:nvPr/>
        </p:nvSpPr>
        <p:spPr>
          <a:xfrm>
            <a:off x="1957000" y="2333500"/>
            <a:ext cx="197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(Sentinel value)</a:t>
            </a:r>
            <a:endParaRPr b="0" i="0" sz="18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Binary Search [data sorted in ascending]</a:t>
            </a:r>
            <a:endParaRPr/>
          </a:p>
        </p:txBody>
      </p:sp>
      <p:sp>
        <p:nvSpPr>
          <p:cNvPr id="152" name="Google Shape;1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375" y="1076150"/>
            <a:ext cx="7685924" cy="312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 title="Binary_search_arra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1850" y="4077900"/>
            <a:ext cx="4185625" cy="6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Binary Search [data sorted in ascending]</a:t>
            </a:r>
            <a:endParaRPr/>
          </a:p>
        </p:txBody>
      </p:sp>
      <p:sp>
        <p:nvSpPr>
          <p:cNvPr id="160" name="Google Shape;1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523307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2" title="Binary_search_arra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7925" y="1574500"/>
            <a:ext cx="5293225" cy="800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75" y="184375"/>
            <a:ext cx="3089074" cy="225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1025" y="1794250"/>
            <a:ext cx="6390305" cy="28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bbaabe8ee_0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g38bbaabe8ee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25" y="79875"/>
            <a:ext cx="3244100" cy="236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8bbaabe8ee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6775" y="2001950"/>
            <a:ext cx="6804374" cy="305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8bbaabe8ee_0_1"/>
          <p:cNvSpPr txBox="1"/>
          <p:nvPr/>
        </p:nvSpPr>
        <p:spPr>
          <a:xfrm>
            <a:off x="4099650" y="743575"/>
            <a:ext cx="492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What if we were looking for 51?</a:t>
            </a:r>
            <a:br>
              <a:rPr b="1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8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bc4e607e0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g38bc4e607e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25" y="79875"/>
            <a:ext cx="3244100" cy="236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8bc4e607e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6775" y="2001950"/>
            <a:ext cx="6804374" cy="305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8bc4e607e0_0_0"/>
          <p:cNvSpPr txBox="1"/>
          <p:nvPr/>
        </p:nvSpPr>
        <p:spPr>
          <a:xfrm>
            <a:off x="4099650" y="519950"/>
            <a:ext cx="4921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What if we were looking for 51?</a:t>
            </a:r>
            <a:br>
              <a:rPr b="1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L= M+1=4+1=5,</a:t>
            </a:r>
            <a:br>
              <a:rPr b="1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H=4,</a:t>
            </a:r>
            <a:br>
              <a:rPr b="1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Here, L&gt;H, LOOP break, return -1</a:t>
            </a:r>
            <a:endParaRPr b="1" i="0" sz="18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a39e80d5a_0_1"/>
          <p:cNvSpPr txBox="1"/>
          <p:nvPr>
            <p:ph type="title"/>
          </p:nvPr>
        </p:nvSpPr>
        <p:spPr>
          <a:xfrm>
            <a:off x="311700" y="42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Binary Search video</a:t>
            </a:r>
            <a:endParaRPr/>
          </a:p>
        </p:txBody>
      </p:sp>
      <p:sp>
        <p:nvSpPr>
          <p:cNvPr id="191" name="Google Shape;191;g36a39e80d5a_0_1"/>
          <p:cNvSpPr txBox="1"/>
          <p:nvPr>
            <p:ph idx="1" type="body"/>
          </p:nvPr>
        </p:nvSpPr>
        <p:spPr>
          <a:xfrm>
            <a:off x="311700" y="1000075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"/>
              <a:t>https://www.youtube.com/watch?v=kazvOikPQrk</a:t>
            </a:r>
            <a:endParaRPr/>
          </a:p>
        </p:txBody>
      </p:sp>
      <p:sp>
        <p:nvSpPr>
          <p:cNvPr id="192" name="Google Shape;192;g36a39e80d5a_0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n animation showing how the binary search works." id="193" name="Google Shape;193;g36a39e80d5a_0_1" title="L18-V01: Binary search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" y="1393675"/>
            <a:ext cx="6205550" cy="34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Comparing Linear Search vs. Binary Search</a:t>
            </a:r>
            <a:endParaRPr/>
          </a:p>
        </p:txBody>
      </p:sp>
      <p:sp>
        <p:nvSpPr>
          <p:cNvPr id="199" name="Google Shape;19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Linear Search: O(N)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Directly checks </a:t>
            </a:r>
            <a:r>
              <a:rPr lang="en" sz="1300" u="sng">
                <a:solidFill>
                  <a:schemeClr val="dk1"/>
                </a:solidFill>
              </a:rPr>
              <a:t>each element.</a:t>
            </a:r>
            <a:endParaRPr sz="1300" u="sng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Example:</a:t>
            </a:r>
            <a:r>
              <a:rPr lang="en" sz="1300">
                <a:solidFill>
                  <a:schemeClr val="dk1"/>
                </a:solidFill>
              </a:rPr>
              <a:t> If N=1024, it takes </a:t>
            </a:r>
            <a:r>
              <a:rPr b="1" lang="en" sz="1300">
                <a:solidFill>
                  <a:schemeClr val="dk1"/>
                </a:solidFill>
              </a:rPr>
              <a:t>1024 comparisons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</a:rPr>
              <a:t>Binary Search: O(log⁡</a:t>
            </a:r>
            <a:r>
              <a:rPr b="1" baseline="-25000" lang="en" sz="1300">
                <a:solidFill>
                  <a:schemeClr val="dk1"/>
                </a:solidFill>
              </a:rPr>
              <a:t>2</a:t>
            </a:r>
            <a:r>
              <a:rPr b="1" lang="en" sz="1300">
                <a:solidFill>
                  <a:schemeClr val="dk1"/>
                </a:solidFill>
              </a:rPr>
              <a:t>N)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Cuts the </a:t>
            </a:r>
            <a:r>
              <a:rPr lang="en" sz="1300" u="sng">
                <a:solidFill>
                  <a:schemeClr val="dk1"/>
                </a:solidFill>
              </a:rPr>
              <a:t>search space in half</a:t>
            </a:r>
            <a:r>
              <a:rPr lang="en" sz="1300">
                <a:solidFill>
                  <a:schemeClr val="dk1"/>
                </a:solidFill>
              </a:rPr>
              <a:t> each step.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Example:</a:t>
            </a:r>
            <a:r>
              <a:rPr lang="en" sz="1300">
                <a:solidFill>
                  <a:schemeClr val="dk1"/>
                </a:solidFill>
              </a:rPr>
              <a:t> If N=1024, it only takes </a:t>
            </a:r>
            <a:r>
              <a:rPr b="1" lang="en" sz="1300">
                <a:solidFill>
                  <a:schemeClr val="dk1"/>
                </a:solidFill>
              </a:rPr>
              <a:t>10 comparisons</a:t>
            </a:r>
            <a:r>
              <a:rPr lang="en" sz="1300">
                <a:solidFill>
                  <a:schemeClr val="dk1"/>
                </a:solidFill>
              </a:rPr>
              <a:t> (log⁡</a:t>
            </a:r>
            <a:r>
              <a:rPr baseline="-25000" lang="en" sz="1300">
                <a:solidFill>
                  <a:schemeClr val="dk1"/>
                </a:solidFill>
              </a:rPr>
              <a:t>2</a:t>
            </a:r>
            <a:r>
              <a:rPr lang="en" sz="1300">
                <a:solidFill>
                  <a:schemeClr val="dk1"/>
                </a:solidFill>
              </a:rPr>
              <a:t>1024 = log⁡</a:t>
            </a:r>
            <a:r>
              <a:rPr baseline="-25000" lang="en" sz="1300">
                <a:solidFill>
                  <a:schemeClr val="dk1"/>
                </a:solidFill>
              </a:rPr>
              <a:t>2</a:t>
            </a:r>
            <a:r>
              <a:rPr lang="en" sz="1300">
                <a:solidFill>
                  <a:schemeClr val="dk1"/>
                </a:solidFill>
              </a:rPr>
              <a:t>2</a:t>
            </a:r>
            <a:r>
              <a:rPr baseline="30000" lang="en" sz="1300">
                <a:solidFill>
                  <a:schemeClr val="dk1"/>
                </a:solidFill>
              </a:rPr>
              <a:t>10 </a:t>
            </a:r>
            <a:r>
              <a:rPr lang="en" sz="1300">
                <a:solidFill>
                  <a:schemeClr val="dk1"/>
                </a:solidFill>
              </a:rPr>
              <a:t>= 10).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Key Takeaway: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Binary search is </a:t>
            </a:r>
            <a:r>
              <a:rPr b="1" lang="en" sz="1300">
                <a:solidFill>
                  <a:srgbClr val="0000FF"/>
                </a:solidFill>
              </a:rPr>
              <a:t>exponentially faster</a:t>
            </a:r>
            <a:r>
              <a:rPr lang="en" sz="1300">
                <a:solidFill>
                  <a:schemeClr val="dk1"/>
                </a:solidFill>
              </a:rPr>
              <a:t> than linear search for </a:t>
            </a:r>
            <a:r>
              <a:rPr b="1" lang="en" sz="1300">
                <a:solidFill>
                  <a:srgbClr val="0000FF"/>
                </a:solidFill>
              </a:rPr>
              <a:t>large inputs.</a:t>
            </a:r>
            <a:endParaRPr b="1" sz="1300">
              <a:solidFill>
                <a:srgbClr val="0000FF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Choosing the right algorithm </a:t>
            </a:r>
            <a:r>
              <a:rPr b="1" lang="en" sz="1300" u="sng">
                <a:solidFill>
                  <a:schemeClr val="dk1"/>
                </a:solidFill>
              </a:rPr>
              <a:t>can drastically improve performance</a:t>
            </a:r>
            <a:r>
              <a:rPr lang="en" sz="1300" u="sng">
                <a:solidFill>
                  <a:schemeClr val="dk1"/>
                </a:solidFill>
              </a:rPr>
              <a:t>.</a:t>
            </a:r>
            <a:endParaRPr sz="2000" u="sng"/>
          </a:p>
        </p:txBody>
      </p:sp>
      <p:sp>
        <p:nvSpPr>
          <p:cNvPr id="200" name="Google Shape;20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Understanding Asymptotic Complexity</a:t>
            </a:r>
            <a:endParaRPr/>
          </a:p>
        </p:txBody>
      </p:sp>
      <p:sp>
        <p:nvSpPr>
          <p:cNvPr id="206" name="Google Shape;20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 u="sng">
                <a:solidFill>
                  <a:schemeClr val="dk1"/>
                </a:solidFill>
              </a:rPr>
              <a:t>Asymptotic complexity</a:t>
            </a:r>
            <a:r>
              <a:rPr lang="en" sz="1400">
                <a:solidFill>
                  <a:schemeClr val="dk1"/>
                </a:solidFill>
              </a:rPr>
              <a:t> describes how a program’s </a:t>
            </a:r>
            <a:r>
              <a:rPr b="1" lang="en" sz="1400" u="sng">
                <a:solidFill>
                  <a:schemeClr val="dk1"/>
                </a:solidFill>
              </a:rPr>
              <a:t>resource usage </a:t>
            </a:r>
            <a:r>
              <a:rPr b="1" lang="en" sz="1400" u="sng">
                <a:solidFill>
                  <a:srgbClr val="0000FF"/>
                </a:solidFill>
              </a:rPr>
              <a:t>grows</a:t>
            </a:r>
            <a:r>
              <a:rPr lang="en" sz="1400">
                <a:solidFill>
                  <a:srgbClr val="0000FF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with </a:t>
            </a:r>
            <a:r>
              <a:rPr b="1" lang="en" sz="1400" u="sng">
                <a:solidFill>
                  <a:schemeClr val="dk1"/>
                </a:solidFill>
              </a:rPr>
              <a:t>input size N.</a:t>
            </a:r>
            <a:br>
              <a:rPr b="1" lang="en" sz="1400" u="sng">
                <a:solidFill>
                  <a:schemeClr val="dk1"/>
                </a:solidFill>
              </a:rPr>
            </a:br>
            <a:endParaRPr b="1" sz="1400" u="sng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Example:</a:t>
            </a:r>
            <a:r>
              <a:rPr lang="en" sz="1400">
                <a:solidFill>
                  <a:schemeClr val="dk1"/>
                </a:solidFill>
              </a:rPr>
              <a:t> If complexity is O(N^2), the</a:t>
            </a:r>
            <a:r>
              <a:rPr b="1" lang="en" sz="1400">
                <a:solidFill>
                  <a:schemeClr val="dk1"/>
                </a:solidFill>
              </a:rPr>
              <a:t> actual time/space</a:t>
            </a:r>
            <a:r>
              <a:rPr lang="en" sz="1400">
                <a:solidFill>
                  <a:schemeClr val="dk1"/>
                </a:solidFill>
              </a:rPr>
              <a:t> usage is </a:t>
            </a:r>
            <a:r>
              <a:rPr b="1" lang="en" sz="1400">
                <a:solidFill>
                  <a:schemeClr val="dk1"/>
                </a:solidFill>
              </a:rPr>
              <a:t>C⋅N^2 </a:t>
            </a:r>
            <a:r>
              <a:rPr lang="en" sz="1400">
                <a:solidFill>
                  <a:schemeClr val="dk1"/>
                </a:solidFill>
              </a:rPr>
              <a:t>for some constant C.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The constant C depends on:</a:t>
            </a:r>
            <a:endParaRPr sz="1400">
              <a:solidFill>
                <a:schemeClr val="dk1"/>
              </a:solidFill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Code implementation details.</a:t>
            </a:r>
            <a:endParaRPr>
              <a:solidFill>
                <a:schemeClr val="dk1"/>
              </a:solidFill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CPU architecture and operation costs.</a:t>
            </a:r>
            <a:endParaRPr>
              <a:solidFill>
                <a:schemeClr val="dk1"/>
              </a:solidFill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Data size and data structure.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We focus on </a:t>
            </a:r>
            <a:r>
              <a:rPr lang="en" sz="1400" u="sng">
                <a:solidFill>
                  <a:schemeClr val="dk1"/>
                </a:solidFill>
              </a:rPr>
              <a:t>how complexity </a:t>
            </a:r>
            <a:r>
              <a:rPr b="1" lang="en" sz="1400" u="sng">
                <a:solidFill>
                  <a:srgbClr val="0000FF"/>
                </a:solidFill>
              </a:rPr>
              <a:t>scales</a:t>
            </a:r>
            <a:r>
              <a:rPr lang="en" sz="1400" u="sng">
                <a:solidFill>
                  <a:srgbClr val="0000FF"/>
                </a:solidFill>
              </a:rPr>
              <a:t> </a:t>
            </a:r>
            <a:r>
              <a:rPr lang="en" sz="1400" u="sng">
                <a:solidFill>
                  <a:schemeClr val="dk1"/>
                </a:solidFill>
              </a:rPr>
              <a:t>rather than </a:t>
            </a:r>
            <a:r>
              <a:rPr b="1" lang="en" sz="1400" u="sng">
                <a:solidFill>
                  <a:schemeClr val="dk1"/>
                </a:solidFill>
              </a:rPr>
              <a:t>exact execution time</a:t>
            </a:r>
            <a:r>
              <a:rPr lang="en" sz="1400" u="sng">
                <a:solidFill>
                  <a:schemeClr val="dk1"/>
                </a:solidFill>
              </a:rPr>
              <a:t>.</a:t>
            </a:r>
            <a:endParaRPr u="sng"/>
          </a:p>
        </p:txBody>
      </p:sp>
      <p:sp>
        <p:nvSpPr>
          <p:cNvPr id="207" name="Google Shape;20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>
            <p:ph type="title"/>
          </p:nvPr>
        </p:nvSpPr>
        <p:spPr>
          <a:xfrm>
            <a:off x="110000" y="390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– Linear Search Complexity</a:t>
            </a:r>
            <a:endParaRPr/>
          </a:p>
        </p:txBody>
      </p:sp>
      <p:sp>
        <p:nvSpPr>
          <p:cNvPr id="213" name="Google Shape;21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Operations in worst-case for input size N: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</a:rPr>
              <a:t>Compute length → </a:t>
            </a:r>
            <a:r>
              <a:rPr b="1" lang="en" sz="1400">
                <a:solidFill>
                  <a:schemeClr val="dk1"/>
                </a:solidFill>
              </a:rPr>
              <a:t>1 operation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</a:rPr>
              <a:t>Increment loop index → </a:t>
            </a:r>
            <a:r>
              <a:rPr b="1" lang="en" sz="1400">
                <a:solidFill>
                  <a:schemeClr val="dk1"/>
                </a:solidFill>
              </a:rPr>
              <a:t>N additions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</a:rPr>
              <a:t>Compare index with length → </a:t>
            </a:r>
            <a:r>
              <a:rPr b="1" lang="en" sz="1400">
                <a:solidFill>
                  <a:schemeClr val="dk1"/>
                </a:solidFill>
              </a:rPr>
              <a:t>N comparisons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</a:rPr>
              <a:t>Load and compare elements → N+ N = </a:t>
            </a:r>
            <a:r>
              <a:rPr b="1" lang="en" sz="1400">
                <a:solidFill>
                  <a:schemeClr val="dk1"/>
                </a:solidFill>
              </a:rPr>
              <a:t>2N operations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</a:rPr>
              <a:t>Return statement → </a:t>
            </a:r>
            <a:r>
              <a:rPr b="1" lang="en" sz="1400">
                <a:solidFill>
                  <a:schemeClr val="dk1"/>
                </a:solidFill>
              </a:rPr>
              <a:t>1 operation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Total:</a:t>
            </a:r>
            <a:r>
              <a:rPr lang="en" sz="1400">
                <a:solidFill>
                  <a:schemeClr val="dk1"/>
                </a:solidFill>
              </a:rPr>
              <a:t> 1+ N + N + 2N+ 1 = 4N+2 operations.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If another implementation takes </a:t>
            </a:r>
            <a:r>
              <a:rPr b="1" lang="en" sz="1400">
                <a:solidFill>
                  <a:schemeClr val="dk1"/>
                </a:solidFill>
              </a:rPr>
              <a:t>3N+2</a:t>
            </a:r>
            <a:r>
              <a:rPr lang="en" sz="1400">
                <a:solidFill>
                  <a:schemeClr val="dk1"/>
                </a:solidFill>
              </a:rPr>
              <a:t>, 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 sz="1400">
                <a:solidFill>
                  <a:schemeClr val="dk1"/>
                </a:solidFill>
              </a:rPr>
              <a:t>t’s </a:t>
            </a:r>
            <a:r>
              <a:rPr b="1" lang="en" sz="1400">
                <a:solidFill>
                  <a:schemeClr val="dk1"/>
                </a:solidFill>
              </a:rPr>
              <a:t>better</a:t>
            </a:r>
            <a:r>
              <a:rPr lang="en" sz="1400">
                <a:solidFill>
                  <a:schemeClr val="dk1"/>
                </a:solidFill>
              </a:rPr>
              <a:t>, but constant differences </a:t>
            </a:r>
            <a:r>
              <a:rPr b="1" lang="en" sz="1400">
                <a:solidFill>
                  <a:schemeClr val="dk1"/>
                </a:solidFill>
              </a:rPr>
              <a:t>don’t matter</a:t>
            </a:r>
            <a:r>
              <a:rPr lang="en" sz="1400">
                <a:solidFill>
                  <a:schemeClr val="dk1"/>
                </a:solidFill>
              </a:rPr>
              <a:t> much.</a:t>
            </a:r>
            <a:endParaRPr sz="1400"/>
          </a:p>
        </p:txBody>
      </p:sp>
      <p:sp>
        <p:nvSpPr>
          <p:cNvPr id="214" name="Google Shape;21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" name="Google Shape;2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1750" y="45850"/>
            <a:ext cx="3632249" cy="1444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Why Ignore Constant Factors in Complexity?</a:t>
            </a:r>
            <a:endParaRPr/>
          </a:p>
        </p:txBody>
      </p:sp>
      <p:sp>
        <p:nvSpPr>
          <p:cNvPr id="221" name="Google Shape;22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rgbClr val="0000FF"/>
                </a:solidFill>
              </a:rPr>
              <a:t>Compilers </a:t>
            </a:r>
            <a:r>
              <a:rPr lang="en" sz="1400" u="sng">
                <a:solidFill>
                  <a:srgbClr val="9900FF"/>
                </a:solidFill>
              </a:rPr>
              <a:t>optimize execution</a:t>
            </a:r>
            <a:r>
              <a:rPr lang="en" sz="1400">
                <a:solidFill>
                  <a:schemeClr val="dk1"/>
                </a:solidFill>
              </a:rPr>
              <a:t>, making </a:t>
            </a:r>
            <a:r>
              <a:rPr lang="en" sz="1400" u="sng">
                <a:solidFill>
                  <a:srgbClr val="0000FF"/>
                </a:solidFill>
              </a:rPr>
              <a:t>small differences </a:t>
            </a:r>
            <a:r>
              <a:rPr b="1" lang="en" sz="1400" u="sng">
                <a:solidFill>
                  <a:srgbClr val="0000FF"/>
                </a:solidFill>
              </a:rPr>
              <a:t>negligible</a:t>
            </a:r>
            <a:r>
              <a:rPr b="1" lang="en" sz="1400">
                <a:solidFill>
                  <a:srgbClr val="0000FF"/>
                </a:solidFill>
              </a:rPr>
              <a:t>.</a:t>
            </a:r>
            <a:endParaRPr b="1" sz="1400">
              <a:solidFill>
                <a:srgbClr val="0000FF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rgbClr val="0000FF"/>
                </a:solidFill>
              </a:rPr>
              <a:t>Different CPU operations</a:t>
            </a:r>
            <a:r>
              <a:rPr lang="en" sz="1400">
                <a:solidFill>
                  <a:schemeClr val="dk1"/>
                </a:solidFill>
              </a:rPr>
              <a:t> have </a:t>
            </a:r>
            <a:r>
              <a:rPr lang="en" sz="1400" u="sng">
                <a:solidFill>
                  <a:schemeClr val="dk1"/>
                </a:solidFill>
              </a:rPr>
              <a:t>varying execution costs</a:t>
            </a:r>
            <a:r>
              <a:rPr lang="en" sz="1400">
                <a:solidFill>
                  <a:schemeClr val="dk1"/>
                </a:solidFill>
              </a:rPr>
              <a:t>, making </a:t>
            </a:r>
            <a:r>
              <a:rPr lang="en" sz="1400" u="sng">
                <a:solidFill>
                  <a:schemeClr val="dk1"/>
                </a:solidFill>
              </a:rPr>
              <a:t>exact timing unpredictable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Hardware improvements</a:t>
            </a:r>
            <a:r>
              <a:rPr lang="en" sz="1400">
                <a:solidFill>
                  <a:schemeClr val="dk1"/>
                </a:solidFill>
              </a:rPr>
              <a:t> make constant factor differences </a:t>
            </a:r>
            <a:r>
              <a:rPr lang="en" sz="1400" u="sng">
                <a:solidFill>
                  <a:schemeClr val="dk1"/>
                </a:solidFill>
              </a:rPr>
              <a:t>irrelevant over time.</a:t>
            </a:r>
            <a:br>
              <a:rPr lang="en" sz="1400" u="sng">
                <a:solidFill>
                  <a:schemeClr val="dk1"/>
                </a:solidFill>
              </a:rPr>
            </a:br>
            <a:br>
              <a:rPr lang="en" sz="1400" u="sng">
                <a:solidFill>
                  <a:schemeClr val="dk1"/>
                </a:solidFill>
              </a:rPr>
            </a:br>
            <a:endParaRPr sz="1400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500">
                <a:solidFill>
                  <a:srgbClr val="990000"/>
                </a:solidFill>
              </a:rPr>
              <a:t>     </a:t>
            </a:r>
            <a:r>
              <a:rPr lang="en" sz="1500" u="sng">
                <a:solidFill>
                  <a:srgbClr val="990000"/>
                </a:solidFill>
              </a:rPr>
              <a:t>What matters is </a:t>
            </a:r>
            <a:r>
              <a:rPr b="1" lang="en" sz="1500" u="sng">
                <a:solidFill>
                  <a:srgbClr val="990000"/>
                </a:solidFill>
              </a:rPr>
              <a:t>how complexity grows with input size</a:t>
            </a:r>
            <a:r>
              <a:rPr lang="en" sz="1500" u="sng">
                <a:solidFill>
                  <a:srgbClr val="990000"/>
                </a:solidFill>
              </a:rPr>
              <a:t> </a:t>
            </a:r>
            <a:br>
              <a:rPr lang="en" sz="1500" u="sng">
                <a:solidFill>
                  <a:srgbClr val="990000"/>
                </a:solidFill>
              </a:rPr>
            </a:br>
            <a:r>
              <a:rPr lang="en" sz="1500">
                <a:solidFill>
                  <a:srgbClr val="990000"/>
                </a:solidFill>
              </a:rPr>
              <a:t>   </a:t>
            </a:r>
            <a:r>
              <a:rPr lang="en" sz="1500" u="sng">
                <a:solidFill>
                  <a:srgbClr val="990000"/>
                </a:solidFill>
              </a:rPr>
              <a:t>rather than small efficiency differences.</a:t>
            </a:r>
            <a:endParaRPr sz="1500" u="sng">
              <a:solidFill>
                <a:srgbClr val="99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22" name="Google Shape;22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 txBox="1"/>
          <p:nvPr>
            <p:ph type="title"/>
          </p:nvPr>
        </p:nvSpPr>
        <p:spPr>
          <a:xfrm>
            <a:off x="311700" y="160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Comparing Sorting Algorithm Time Efficiency</a:t>
            </a:r>
            <a:endParaRPr sz="2120"/>
          </a:p>
        </p:txBody>
      </p:sp>
      <p:sp>
        <p:nvSpPr>
          <p:cNvPr id="228" name="Google Shape;228;p18"/>
          <p:cNvSpPr txBox="1"/>
          <p:nvPr>
            <p:ph idx="1" type="body"/>
          </p:nvPr>
        </p:nvSpPr>
        <p:spPr>
          <a:xfrm>
            <a:off x="256675" y="68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Selection Sort:</a:t>
            </a:r>
            <a:r>
              <a:rPr lang="en" sz="1400">
                <a:solidFill>
                  <a:schemeClr val="dk1"/>
                </a:solidFill>
              </a:rPr>
              <a:t> O(n^2), runs in </a:t>
            </a:r>
            <a:r>
              <a:rPr b="1" lang="en" sz="1400">
                <a:solidFill>
                  <a:srgbClr val="0000FF"/>
                </a:solidFill>
              </a:rPr>
              <a:t>(n(n+1))/2 time. [Pattern/growth trend same]</a:t>
            </a:r>
            <a:endParaRPr b="1" sz="1400">
              <a:solidFill>
                <a:srgbClr val="0000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Bubble Sort:</a:t>
            </a:r>
            <a:r>
              <a:rPr lang="en" sz="1400">
                <a:solidFill>
                  <a:schemeClr val="dk1"/>
                </a:solidFill>
              </a:rPr>
              <a:t> O(n^2), similar growth as selection sort. </a:t>
            </a:r>
            <a:r>
              <a:rPr b="1" lang="en" sz="1400">
                <a:solidFill>
                  <a:srgbClr val="0000FF"/>
                </a:solidFill>
              </a:rPr>
              <a:t>[Pattern/growth trend same]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Merge Sort:</a:t>
            </a:r>
            <a:r>
              <a:rPr lang="en" sz="1400">
                <a:solidFill>
                  <a:schemeClr val="dk1"/>
                </a:solidFill>
              </a:rPr>
              <a:t> O(nlog⁡n) significantly faster for large inputs.</a:t>
            </a:r>
            <a:endParaRPr sz="2100" u="sng">
              <a:solidFill>
                <a:srgbClr val="0000FF"/>
              </a:solidFill>
            </a:endParaRPr>
          </a:p>
        </p:txBody>
      </p:sp>
      <p:sp>
        <p:nvSpPr>
          <p:cNvPr id="229" name="Google Shape;22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0" name="Google Shape;2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550" y="1549050"/>
            <a:ext cx="5843350" cy="304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/>
          <p:nvPr/>
        </p:nvSpPr>
        <p:spPr>
          <a:xfrm>
            <a:off x="7030650" y="4132100"/>
            <a:ext cx="870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Data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1163375" y="1549050"/>
            <a:ext cx="443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Time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"/>
          <p:cNvSpPr txBox="1"/>
          <p:nvPr>
            <p:ph type="title"/>
          </p:nvPr>
        </p:nvSpPr>
        <p:spPr>
          <a:xfrm>
            <a:off x="311700" y="160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Comparing Sorting Algorithm Time Efficiency</a:t>
            </a:r>
            <a:endParaRPr sz="2120"/>
          </a:p>
        </p:txBody>
      </p:sp>
      <p:sp>
        <p:nvSpPr>
          <p:cNvPr id="238" name="Google Shape;238;p19"/>
          <p:cNvSpPr txBox="1"/>
          <p:nvPr>
            <p:ph idx="1" type="body"/>
          </p:nvPr>
        </p:nvSpPr>
        <p:spPr>
          <a:xfrm>
            <a:off x="256675" y="68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Selection Sort:</a:t>
            </a:r>
            <a:r>
              <a:rPr lang="en" sz="1000">
                <a:solidFill>
                  <a:schemeClr val="dk1"/>
                </a:solidFill>
              </a:rPr>
              <a:t> O(n^2), runs in (n(n+1))/2 time.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Bubble Sort:</a:t>
            </a:r>
            <a:r>
              <a:rPr lang="en" sz="1000">
                <a:solidFill>
                  <a:schemeClr val="dk1"/>
                </a:solidFill>
              </a:rPr>
              <a:t> O(n^2), similar growth as selection sort.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000">
                <a:solidFill>
                  <a:schemeClr val="dk1"/>
                </a:solidFill>
              </a:rPr>
              <a:t>Merge Sort:</a:t>
            </a:r>
            <a:r>
              <a:rPr lang="en" sz="1000">
                <a:solidFill>
                  <a:schemeClr val="dk1"/>
                </a:solidFill>
              </a:rPr>
              <a:t> O(nlog⁡n) significantly faster for large inputs.</a:t>
            </a:r>
            <a:br>
              <a:rPr lang="en" sz="11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For small inputs, all three perform similarly.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As </a:t>
            </a:r>
            <a:r>
              <a:rPr b="1" lang="en" sz="1300">
                <a:solidFill>
                  <a:schemeClr val="dk1"/>
                </a:solidFill>
              </a:rPr>
              <a:t>N</a:t>
            </a:r>
            <a:r>
              <a:rPr lang="en" sz="1300">
                <a:solidFill>
                  <a:schemeClr val="dk1"/>
                </a:solidFill>
              </a:rPr>
              <a:t> grows, merge sort outperforms both selection and bubble sort.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 u="sng">
                <a:solidFill>
                  <a:srgbClr val="0000FF"/>
                </a:solidFill>
              </a:rPr>
              <a:t>Constant factors are negligible; the dominant term determines efficiency.</a:t>
            </a:r>
            <a:endParaRPr sz="1600" u="sng">
              <a:solidFill>
                <a:srgbClr val="0000FF"/>
              </a:solidFill>
            </a:endParaRPr>
          </a:p>
        </p:txBody>
      </p:sp>
      <p:sp>
        <p:nvSpPr>
          <p:cNvPr id="239" name="Google Shape;23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7350" y="2571750"/>
            <a:ext cx="4559925" cy="237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675" y="2701074"/>
            <a:ext cx="3181475" cy="225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 txBox="1"/>
          <p:nvPr>
            <p:ph type="title"/>
          </p:nvPr>
        </p:nvSpPr>
        <p:spPr>
          <a:xfrm>
            <a:off x="311700" y="417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Space Complexity of Bubble, Selection, and Merge Sort</a:t>
            </a:r>
            <a:endParaRPr/>
          </a:p>
        </p:txBody>
      </p:sp>
      <p:sp>
        <p:nvSpPr>
          <p:cNvPr id="247" name="Google Shape;24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Bubble Sort</a:t>
            </a:r>
            <a:r>
              <a:rPr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b="1"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Selection Sort</a:t>
            </a:r>
            <a:r>
              <a:rPr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are </a:t>
            </a:r>
            <a:r>
              <a:rPr b="1" lang="en" sz="14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in-place </a:t>
            </a:r>
            <a:r>
              <a:rPr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sorting algorithms.</a:t>
            </a:r>
            <a:endParaRPr b="1" sz="14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They do not require any s</a:t>
            </a:r>
            <a:r>
              <a:rPr lang="en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ignificant extra memory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; only a </a:t>
            </a:r>
            <a:r>
              <a:rPr lang="en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constant amount of space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used for </a:t>
            </a:r>
            <a:r>
              <a:rPr lang="en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swapping elements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Therefore, their </a:t>
            </a: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space complexity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</a:t>
            </a: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O(1)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b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Merge Sort</a:t>
            </a:r>
            <a:r>
              <a:rPr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requires </a:t>
            </a:r>
            <a:r>
              <a:rPr b="1"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extra memory</a:t>
            </a:r>
            <a:r>
              <a:rPr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for </a:t>
            </a:r>
            <a:r>
              <a:rPr lang="en" sz="14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temporary subarrays </a:t>
            </a:r>
            <a:r>
              <a:rPr lang="en" sz="14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during the merging process.</a:t>
            </a:r>
            <a:endParaRPr sz="14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space needed for the </a:t>
            </a: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subarrays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proportional to the </a:t>
            </a: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 size (n)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Thus, the </a:t>
            </a: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space complexity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of </a:t>
            </a: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Merge Sort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also </a:t>
            </a: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O(n)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b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Time complexity and space complexity are </a:t>
            </a:r>
            <a:r>
              <a:rPr b="1" lang="en" sz="135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independent measures </a:t>
            </a:r>
            <a:r>
              <a:rPr b="1" lang="en" sz="13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and should be </a:t>
            </a:r>
            <a:r>
              <a:rPr b="1" lang="en" sz="135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analyzed separately.</a:t>
            </a:r>
            <a:endParaRPr b="1" sz="1350" u="sng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Algorithms may have the </a:t>
            </a:r>
            <a:r>
              <a:rPr b="1" lang="en" sz="135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same time complexity</a:t>
            </a:r>
            <a:r>
              <a:rPr b="1" lang="en" sz="13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but </a:t>
            </a:r>
            <a:r>
              <a:rPr b="1" lang="en" sz="135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different space complexities</a:t>
            </a:r>
            <a:r>
              <a:rPr b="1" lang="en" sz="13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, and vice versa.</a:t>
            </a:r>
            <a:endParaRPr b="1" sz="135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4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" name="Google Shape;24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Understanding Big-O Notation</a:t>
            </a:r>
            <a:endParaRPr/>
          </a:p>
        </p:txBody>
      </p:sp>
      <p:sp>
        <p:nvSpPr>
          <p:cNvPr id="254" name="Google Shape;254;p21"/>
          <p:cNvSpPr txBox="1"/>
          <p:nvPr>
            <p:ph idx="1" type="body"/>
          </p:nvPr>
        </p:nvSpPr>
        <p:spPr>
          <a:xfrm>
            <a:off x="175450" y="1152475"/>
            <a:ext cx="8656800" cy="3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1"/>
              <a:buNone/>
            </a:pPr>
            <a:r>
              <a:rPr b="1" lang="en">
                <a:solidFill>
                  <a:schemeClr val="dk1"/>
                </a:solidFill>
              </a:rPr>
              <a:t>What is Big-O Notation?</a:t>
            </a:r>
            <a:endParaRPr b="1"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It describes the </a:t>
            </a:r>
            <a:r>
              <a:rPr b="1" lang="en">
                <a:solidFill>
                  <a:srgbClr val="0000FF"/>
                </a:solidFill>
              </a:rPr>
              <a:t>worst-case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 u="sng">
                <a:solidFill>
                  <a:schemeClr val="dk1"/>
                </a:solidFill>
              </a:rPr>
              <a:t>time or space complexity </a:t>
            </a:r>
            <a:r>
              <a:rPr lang="en">
                <a:solidFill>
                  <a:schemeClr val="dk1"/>
                </a:solidFill>
              </a:rPr>
              <a:t>of an algorithm as </a:t>
            </a:r>
            <a:r>
              <a:rPr lang="en" u="sng">
                <a:solidFill>
                  <a:schemeClr val="dk1"/>
                </a:solidFill>
              </a:rPr>
              <a:t>input size </a:t>
            </a:r>
            <a:r>
              <a:rPr b="1" lang="en" u="sng">
                <a:solidFill>
                  <a:schemeClr val="dk1"/>
                </a:solidFill>
              </a:rPr>
              <a:t>N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grows to </a:t>
            </a:r>
            <a:r>
              <a:rPr b="1" lang="en">
                <a:solidFill>
                  <a:srgbClr val="0000FF"/>
                </a:solidFill>
              </a:rPr>
              <a:t>infinity.</a:t>
            </a:r>
            <a:br>
              <a:rPr b="1" lang="en">
                <a:solidFill>
                  <a:srgbClr val="0000FF"/>
                </a:solidFill>
              </a:rPr>
            </a:br>
            <a:endParaRPr b="1">
              <a:solidFill>
                <a:srgbClr val="0000FF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It helps </a:t>
            </a:r>
            <a:r>
              <a:rPr lang="en" u="sng">
                <a:solidFill>
                  <a:schemeClr val="dk1"/>
                </a:solidFill>
              </a:rPr>
              <a:t>compare algorithms</a:t>
            </a:r>
            <a:r>
              <a:rPr lang="en">
                <a:solidFill>
                  <a:schemeClr val="dk1"/>
                </a:solidFill>
              </a:rPr>
              <a:t> by focusing on their </a:t>
            </a:r>
            <a:r>
              <a:rPr b="1" lang="en">
                <a:solidFill>
                  <a:srgbClr val="0000FF"/>
                </a:solidFill>
              </a:rPr>
              <a:t>growth rate</a:t>
            </a:r>
            <a:r>
              <a:rPr lang="en">
                <a:solidFill>
                  <a:srgbClr val="0000FF"/>
                </a:solidFill>
              </a:rPr>
              <a:t>,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rgbClr val="990000"/>
                </a:solidFill>
              </a:rPr>
              <a:t>ignoring </a:t>
            </a:r>
            <a:endParaRPr b="1">
              <a:solidFill>
                <a:srgbClr val="990000"/>
              </a:solidFill>
            </a:endParaRPr>
          </a:p>
          <a:p>
            <a:pPr indent="-31718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800">
                <a:solidFill>
                  <a:schemeClr val="dk1"/>
                </a:solidFill>
              </a:rPr>
              <a:t>1) Constant factors (Multiplicative &amp; Additive) </a:t>
            </a:r>
            <a:endParaRPr sz="1800">
              <a:solidFill>
                <a:schemeClr val="dk1"/>
              </a:solidFill>
            </a:endParaRPr>
          </a:p>
          <a:p>
            <a:pPr indent="-31718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800">
                <a:solidFill>
                  <a:schemeClr val="dk1"/>
                </a:solidFill>
              </a:rPr>
              <a:t>2) Lower-order terms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Example1 (constant factors):  </a:t>
            </a:r>
            <a:r>
              <a:rPr b="1" lang="en">
                <a:solidFill>
                  <a:schemeClr val="dk1"/>
                </a:solidFill>
              </a:rPr>
              <a:t>O(N)</a:t>
            </a:r>
            <a:endParaRPr>
              <a:solidFill>
                <a:schemeClr val="dk1"/>
              </a:solidFill>
            </a:endParaRPr>
          </a:p>
          <a:p>
            <a:pPr indent="-31718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800">
                <a:solidFill>
                  <a:schemeClr val="dk1"/>
                </a:solidFill>
              </a:rPr>
              <a:t>Linear search algorithm takes T(N) = 4N + 2 operations in the worst case.</a:t>
            </a:r>
            <a:endParaRPr sz="1800">
              <a:solidFill>
                <a:schemeClr val="dk1"/>
              </a:solidFill>
            </a:endParaRPr>
          </a:p>
          <a:p>
            <a:pPr indent="-317182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800">
                <a:solidFill>
                  <a:schemeClr val="dk1"/>
                </a:solidFill>
              </a:rPr>
              <a:t>Multiplicative constants (4) are ignored because they don’t affect growth rate.</a:t>
            </a:r>
            <a:endParaRPr sz="1800">
              <a:solidFill>
                <a:schemeClr val="dk1"/>
              </a:solidFill>
            </a:endParaRPr>
          </a:p>
          <a:p>
            <a:pPr indent="-317182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800">
                <a:solidFill>
                  <a:schemeClr val="dk1"/>
                </a:solidFill>
              </a:rPr>
              <a:t>Additive constants (+2) are insignificant for large N.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Example2 (lower-order terms): </a:t>
            </a:r>
            <a:endParaRPr>
              <a:solidFill>
                <a:schemeClr val="dk1"/>
              </a:solidFill>
            </a:endParaRPr>
          </a:p>
          <a:p>
            <a:pPr indent="-31718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800">
                <a:solidFill>
                  <a:schemeClr val="dk1"/>
                </a:solidFill>
              </a:rPr>
              <a:t>If time complexity is an^3 + bn^2 + cn + d, </a:t>
            </a:r>
            <a:endParaRPr sz="1800">
              <a:solidFill>
                <a:schemeClr val="dk1"/>
              </a:solidFill>
            </a:endParaRPr>
          </a:p>
          <a:p>
            <a:pPr indent="-317182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800">
                <a:solidFill>
                  <a:schemeClr val="dk1"/>
                </a:solidFill>
              </a:rPr>
              <a:t>we write </a:t>
            </a:r>
            <a:r>
              <a:rPr b="1" lang="en" sz="1800">
                <a:solidFill>
                  <a:schemeClr val="dk1"/>
                </a:solidFill>
              </a:rPr>
              <a:t>O(N^3)</a:t>
            </a:r>
            <a:r>
              <a:rPr lang="en" sz="1800">
                <a:solidFill>
                  <a:schemeClr val="dk1"/>
                </a:solidFill>
              </a:rPr>
              <a:t> because N^3 dominates for large N.</a:t>
            </a:r>
            <a:endParaRPr sz="1400"/>
          </a:p>
        </p:txBody>
      </p:sp>
      <p:sp>
        <p:nvSpPr>
          <p:cNvPr id="255" name="Google Shape;25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Understanding Big-O Notation</a:t>
            </a:r>
            <a:endParaRPr/>
          </a:p>
        </p:txBody>
      </p:sp>
      <p:sp>
        <p:nvSpPr>
          <p:cNvPr id="261" name="Google Shape;261;p22"/>
          <p:cNvSpPr txBox="1"/>
          <p:nvPr>
            <p:ph idx="1" type="body"/>
          </p:nvPr>
        </p:nvSpPr>
        <p:spPr>
          <a:xfrm>
            <a:off x="175500" y="1017725"/>
            <a:ext cx="8656800" cy="3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en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Ignores lower-order terms: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○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3x^3+5x^2+10x+6 and 3x^3 have same time complexity   </a:t>
            </a:r>
            <a:endParaRPr b="1" sz="1200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○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5x^2 is 2nd lowest   </a:t>
            </a:r>
            <a:endParaRPr b="1" sz="1200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10x has the lowest  </a:t>
            </a:r>
            <a:br>
              <a:rPr lang="en" sz="1400">
                <a:solidFill>
                  <a:schemeClr val="dk1"/>
                </a:solidFill>
              </a:rPr>
            </a:br>
            <a:endParaRPr sz="1400"/>
          </a:p>
        </p:txBody>
      </p:sp>
      <p:sp>
        <p:nvSpPr>
          <p:cNvPr id="262" name="Google Shape;26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3" name="Google Shape;2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7250" y="2299225"/>
            <a:ext cx="5806700" cy="256834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1771675" y="2989150"/>
            <a:ext cx="443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7081100" y="4067125"/>
            <a:ext cx="211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Data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1377250" y="2049750"/>
            <a:ext cx="44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Time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c46835a7d_0_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Understanding Big-O Notation</a:t>
            </a:r>
            <a:endParaRPr/>
          </a:p>
        </p:txBody>
      </p:sp>
      <p:sp>
        <p:nvSpPr>
          <p:cNvPr id="272" name="Google Shape;272;g3ec46835a7d_0_85"/>
          <p:cNvSpPr txBox="1"/>
          <p:nvPr>
            <p:ph idx="1" type="body"/>
          </p:nvPr>
        </p:nvSpPr>
        <p:spPr>
          <a:xfrm>
            <a:off x="175500" y="1017725"/>
            <a:ext cx="8656800" cy="3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en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Ignores lower-order terms: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○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3x^3+5x^2+10x+6 and 3x^3 have same time complexity   </a:t>
            </a:r>
            <a:r>
              <a:rPr b="1" lang="en" sz="1200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O(N</a:t>
            </a:r>
            <a:r>
              <a:rPr b="1" baseline="30000" lang="en" sz="1200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1" lang="en" sz="1200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sz="1200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○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5x^2 is 2nd lowest   </a:t>
            </a:r>
            <a:r>
              <a:rPr b="1" lang="en" sz="1200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O(N</a:t>
            </a:r>
            <a:r>
              <a:rPr b="1" baseline="30000" lang="en" sz="1200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lang="en" sz="1200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sz="1200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10x has the lowest   </a:t>
            </a:r>
            <a:r>
              <a:rPr b="1" lang="en" sz="1200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O(N)</a:t>
            </a:r>
            <a:br>
              <a:rPr lang="en" sz="1400">
                <a:solidFill>
                  <a:schemeClr val="dk1"/>
                </a:solidFill>
              </a:rPr>
            </a:br>
            <a:endParaRPr sz="1400"/>
          </a:p>
        </p:txBody>
      </p:sp>
      <p:sp>
        <p:nvSpPr>
          <p:cNvPr id="273" name="Google Shape;273;g3ec46835a7d_0_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4" name="Google Shape;274;g3ec46835a7d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7250" y="2299225"/>
            <a:ext cx="5806700" cy="256834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ec46835a7d_0_85"/>
          <p:cNvSpPr txBox="1"/>
          <p:nvPr/>
        </p:nvSpPr>
        <p:spPr>
          <a:xfrm>
            <a:off x="1771675" y="2989150"/>
            <a:ext cx="443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6" name="Google Shape;276;g3ec46835a7d_0_85"/>
          <p:cNvSpPr txBox="1"/>
          <p:nvPr/>
        </p:nvSpPr>
        <p:spPr>
          <a:xfrm>
            <a:off x="7081100" y="4067125"/>
            <a:ext cx="211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Data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77" name="Google Shape;277;g3ec46835a7d_0_85"/>
          <p:cNvSpPr txBox="1"/>
          <p:nvPr/>
        </p:nvSpPr>
        <p:spPr>
          <a:xfrm>
            <a:off x="1377250" y="2049750"/>
            <a:ext cx="44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Time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5bce5dae2_1_0"/>
          <p:cNvSpPr txBox="1"/>
          <p:nvPr>
            <p:ph type="title"/>
          </p:nvPr>
        </p:nvSpPr>
        <p:spPr>
          <a:xfrm>
            <a:off x="311700" y="110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How to Read Big-O Notation (</a:t>
            </a:r>
            <a:r>
              <a:rPr lang="en">
                <a:solidFill>
                  <a:srgbClr val="990000"/>
                </a:solidFill>
              </a:rPr>
              <a:t>Mandatory</a:t>
            </a:r>
            <a:r>
              <a:rPr lang="en"/>
              <a:t>) </a:t>
            </a:r>
            <a:endParaRPr/>
          </a:p>
        </p:txBody>
      </p:sp>
      <p:sp>
        <p:nvSpPr>
          <p:cNvPr id="283" name="Google Shape;283;g3f5bce5dae2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84" name="Google Shape;284;g3f5bce5dae2_1_0"/>
          <p:cNvGraphicFramePr/>
          <p:nvPr/>
        </p:nvGraphicFramePr>
        <p:xfrm>
          <a:off x="488450" y="81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{7DF0209A-9A08-4D8E-9871-E6A123FEBC52}</a:tableStyleId>
              </a:tblPr>
              <a:tblGrid>
                <a:gridCol w="2317975"/>
                <a:gridCol w="1984625"/>
                <a:gridCol w="2651350"/>
              </a:tblGrid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Notation</a:t>
                      </a:r>
                      <a:endParaRPr b="1"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Running time</a:t>
                      </a:r>
                      <a:endParaRPr b="1"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Read as</a:t>
                      </a:r>
                      <a:endParaRPr b="1"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4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O(1)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Constant time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Big O of one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34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O(log⁡N)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Logarithmic time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Big O of log n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O(N)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Linear time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Big O of n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34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O(Nlog⁡N)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Log-linear time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Big O of n log n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34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O(N^2)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Quadratic time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2937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Big O of n squared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34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O(N^3)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Cubic time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Big O of n cubed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34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O(2^N)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Exponential time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Big O of two to the power of n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34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O(N!)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Factorial time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Big O of n factorial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5" name="Google Shape;285;g3f5bce5dae2_1_0"/>
          <p:cNvSpPr txBox="1"/>
          <p:nvPr>
            <p:ph idx="1" type="body"/>
          </p:nvPr>
        </p:nvSpPr>
        <p:spPr>
          <a:xfrm>
            <a:off x="-88625" y="4099800"/>
            <a:ext cx="790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0">
                <a:solidFill>
                  <a:schemeClr val="dk1"/>
                </a:solidFill>
              </a:rPr>
              <a:t>Note: </a:t>
            </a:r>
            <a:r>
              <a:rPr lang="en" sz="1190">
                <a:solidFill>
                  <a:schemeClr val="dk1"/>
                </a:solidFill>
              </a:rPr>
              <a:t>Big-O notation may also be read informally as “order of n,” “order of n squared,”  and so on. </a:t>
            </a:r>
            <a:br>
              <a:rPr lang="en" sz="1190">
                <a:solidFill>
                  <a:schemeClr val="dk1"/>
                </a:solidFill>
              </a:rPr>
            </a:br>
            <a:r>
              <a:rPr lang="en" sz="1190">
                <a:solidFill>
                  <a:schemeClr val="dk1"/>
                </a:solidFill>
              </a:rPr>
              <a:t>However, “Big O of n,” “Big O of n squared,” etc. are the more precise and technically accurate readings.</a:t>
            </a:r>
            <a:endParaRPr sz="119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 txBox="1"/>
          <p:nvPr>
            <p:ph type="title"/>
          </p:nvPr>
        </p:nvSpPr>
        <p:spPr>
          <a:xfrm>
            <a:off x="311700" y="316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Typical Running Time Functions </a:t>
            </a:r>
            <a:r>
              <a:rPr lang="en"/>
              <a:t>(</a:t>
            </a:r>
            <a:r>
              <a:rPr lang="en">
                <a:solidFill>
                  <a:srgbClr val="990000"/>
                </a:solidFill>
              </a:rPr>
              <a:t>Important! Remember!!</a:t>
            </a:r>
            <a:r>
              <a:rPr lang="en"/>
              <a:t>) </a:t>
            </a:r>
            <a:endParaRPr/>
          </a:p>
        </p:txBody>
      </p:sp>
      <p:sp>
        <p:nvSpPr>
          <p:cNvPr id="291" name="Google Shape;291;p24"/>
          <p:cNvSpPr txBox="1"/>
          <p:nvPr>
            <p:ph idx="1" type="body"/>
          </p:nvPr>
        </p:nvSpPr>
        <p:spPr>
          <a:xfrm>
            <a:off x="311700" y="996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1 (constant running time):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Instructions are executed </a:t>
            </a:r>
            <a:r>
              <a:rPr lang="en" sz="1500" u="sng">
                <a:solidFill>
                  <a:schemeClr val="dk1"/>
                </a:solidFill>
              </a:rPr>
              <a:t>once or a few times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logN (logarithmic)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 big problem is solved by </a:t>
            </a:r>
            <a:r>
              <a:rPr lang="en" sz="1500" u="sng">
                <a:solidFill>
                  <a:schemeClr val="dk1"/>
                </a:solidFill>
              </a:rPr>
              <a:t>cutting the original problem in smaller sizes</a:t>
            </a:r>
            <a:r>
              <a:rPr lang="en" sz="1500">
                <a:solidFill>
                  <a:schemeClr val="dk1"/>
                </a:solidFill>
              </a:rPr>
              <a:t>, by a </a:t>
            </a:r>
            <a:r>
              <a:rPr lang="en" sz="1500" u="sng">
                <a:solidFill>
                  <a:srgbClr val="9900FF"/>
                </a:solidFill>
              </a:rPr>
              <a:t>constant fraction</a:t>
            </a:r>
            <a:r>
              <a:rPr lang="en" sz="1500" u="sng">
                <a:solidFill>
                  <a:schemeClr val="dk1"/>
                </a:solidFill>
              </a:rPr>
              <a:t> at each step </a:t>
            </a:r>
            <a:endParaRPr sz="1500" u="sng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Shortcut:</a:t>
            </a:r>
            <a:r>
              <a:rPr lang="en" sz="1500">
                <a:solidFill>
                  <a:schemeClr val="dk1"/>
                </a:solidFill>
              </a:rPr>
              <a:t> the number that is used for division or multiplication will be </a:t>
            </a:r>
            <a:r>
              <a:rPr lang="en" sz="1500" u="sng">
                <a:solidFill>
                  <a:schemeClr val="dk1"/>
                </a:solidFill>
              </a:rPr>
              <a:t>the base of log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 (linear)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 small amount of processing is done on </a:t>
            </a:r>
            <a:r>
              <a:rPr lang="en" sz="1500" u="sng">
                <a:solidFill>
                  <a:schemeClr val="dk1"/>
                </a:solidFill>
              </a:rPr>
              <a:t>each input element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 logN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 problem is solved by </a:t>
            </a:r>
            <a:r>
              <a:rPr lang="en" sz="1500" u="sng">
                <a:solidFill>
                  <a:srgbClr val="0000FF"/>
                </a:solidFill>
              </a:rPr>
              <a:t>dividing</a:t>
            </a:r>
            <a:r>
              <a:rPr lang="en" sz="1500" u="sng">
                <a:solidFill>
                  <a:schemeClr val="dk1"/>
                </a:solidFill>
              </a:rPr>
              <a:t> it into smaller problems,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 u="sng">
                <a:solidFill>
                  <a:schemeClr val="dk1"/>
                </a:solidFill>
              </a:rPr>
              <a:t>solving them independently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lang="en" sz="1500" u="sng">
                <a:solidFill>
                  <a:srgbClr val="9900FF"/>
                </a:solidFill>
              </a:rPr>
              <a:t>combining </a:t>
            </a:r>
            <a:r>
              <a:rPr lang="en" sz="1500" u="sng">
                <a:solidFill>
                  <a:schemeClr val="dk1"/>
                </a:solidFill>
              </a:rPr>
              <a:t>the solution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92" name="Google Shape;2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Typical Running Time Functions </a:t>
            </a:r>
            <a:r>
              <a:rPr lang="en"/>
              <a:t>(</a:t>
            </a:r>
            <a:r>
              <a:rPr lang="en">
                <a:solidFill>
                  <a:srgbClr val="990000"/>
                </a:solidFill>
              </a:rPr>
              <a:t>Important! Remember!!</a:t>
            </a:r>
            <a:r>
              <a:rPr lang="en"/>
              <a:t>) </a:t>
            </a:r>
            <a:endParaRPr/>
          </a:p>
        </p:txBody>
      </p:sp>
      <p:sp>
        <p:nvSpPr>
          <p:cNvPr id="298" name="Google Shape;29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</a:t>
            </a:r>
            <a:r>
              <a:rPr baseline="30000" lang="en" sz="1500">
                <a:solidFill>
                  <a:schemeClr val="dk1"/>
                </a:solidFill>
              </a:rPr>
              <a:t>2</a:t>
            </a:r>
            <a:r>
              <a:rPr lang="en" sz="1500">
                <a:solidFill>
                  <a:schemeClr val="dk1"/>
                </a:solidFill>
              </a:rPr>
              <a:t> (quadratic)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Typical for algorithms that process all pairs of data items (</a:t>
            </a:r>
            <a:r>
              <a:rPr b="1" lang="en" sz="1500">
                <a:solidFill>
                  <a:schemeClr val="dk1"/>
                </a:solidFill>
              </a:rPr>
              <a:t>double</a:t>
            </a:r>
            <a:r>
              <a:rPr b="1" lang="en" sz="1500">
                <a:solidFill>
                  <a:srgbClr val="E06666"/>
                </a:solidFill>
              </a:rPr>
              <a:t> nested </a:t>
            </a:r>
            <a:r>
              <a:rPr b="1" lang="en" sz="1500">
                <a:solidFill>
                  <a:schemeClr val="dk1"/>
                </a:solidFill>
              </a:rPr>
              <a:t>loops</a:t>
            </a:r>
            <a:r>
              <a:rPr lang="en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</a:t>
            </a:r>
            <a:r>
              <a:rPr baseline="30000" lang="en" sz="1500">
                <a:solidFill>
                  <a:schemeClr val="dk1"/>
                </a:solidFill>
              </a:rPr>
              <a:t>3</a:t>
            </a:r>
            <a:r>
              <a:rPr lang="en" sz="1500">
                <a:solidFill>
                  <a:schemeClr val="dk1"/>
                </a:solidFill>
              </a:rPr>
              <a:t> (cubic)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Processing of triples of data (</a:t>
            </a:r>
            <a:r>
              <a:rPr b="1" lang="en" sz="1500">
                <a:solidFill>
                  <a:schemeClr val="dk1"/>
                </a:solidFill>
              </a:rPr>
              <a:t>triple</a:t>
            </a:r>
            <a:r>
              <a:rPr b="1" lang="en" sz="1500">
                <a:solidFill>
                  <a:srgbClr val="CC0000"/>
                </a:solidFill>
              </a:rPr>
              <a:t> nested</a:t>
            </a:r>
            <a:r>
              <a:rPr b="1" lang="en" sz="1500">
                <a:solidFill>
                  <a:schemeClr val="dk1"/>
                </a:solidFill>
              </a:rPr>
              <a:t> loops</a:t>
            </a:r>
            <a:r>
              <a:rPr lang="en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</a:t>
            </a:r>
            <a:r>
              <a:rPr baseline="30000" lang="en" sz="1500">
                <a:solidFill>
                  <a:schemeClr val="dk1"/>
                </a:solidFill>
              </a:rPr>
              <a:t>K</a:t>
            </a:r>
            <a:r>
              <a:rPr lang="en" sz="1500">
                <a:solidFill>
                  <a:schemeClr val="dk1"/>
                </a:solidFill>
              </a:rPr>
              <a:t> (polynomial), 2</a:t>
            </a:r>
            <a:r>
              <a:rPr baseline="30000" lang="en" sz="1500">
                <a:solidFill>
                  <a:schemeClr val="dk1"/>
                </a:solidFill>
              </a:rPr>
              <a:t>N</a:t>
            </a:r>
            <a:r>
              <a:rPr lang="en" sz="1500">
                <a:solidFill>
                  <a:schemeClr val="dk1"/>
                </a:solidFill>
              </a:rPr>
              <a:t> (exponential)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Few exponential algorithms are appropriate for practical use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99" name="Google Shape;29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5" name="Google Shape;3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825" y="48688"/>
            <a:ext cx="3804227" cy="504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Typical Running Time Functions (</a:t>
            </a:r>
            <a:r>
              <a:rPr lang="en">
                <a:solidFill>
                  <a:srgbClr val="990000"/>
                </a:solidFill>
              </a:rPr>
              <a:t>Important! Remember!!</a:t>
            </a:r>
            <a:r>
              <a:rPr lang="en"/>
              <a:t>)</a:t>
            </a:r>
            <a:endParaRPr/>
          </a:p>
        </p:txBody>
      </p:sp>
      <p:sp>
        <p:nvSpPr>
          <p:cNvPr id="311" name="Google Shape;31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2" name="Google Shape;312;p26" title="Screenshot 2025-06-20 20294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150" y="1140350"/>
            <a:ext cx="646122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Typical Running Time Functions (</a:t>
            </a:r>
            <a:r>
              <a:rPr lang="en">
                <a:solidFill>
                  <a:srgbClr val="990000"/>
                </a:solidFill>
              </a:rPr>
              <a:t>Important! Remember!!</a:t>
            </a:r>
            <a:r>
              <a:rPr lang="en"/>
              <a:t>)</a:t>
            </a:r>
            <a:endParaRPr/>
          </a:p>
        </p:txBody>
      </p:sp>
      <p:sp>
        <p:nvSpPr>
          <p:cNvPr id="318" name="Google Shape;31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9" name="Google Shape;319;p27" title="Time_complexit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000" y="1092725"/>
            <a:ext cx="609796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Example01</a:t>
            </a:r>
            <a:endParaRPr/>
          </a:p>
        </p:txBody>
      </p:sp>
      <p:sp>
        <p:nvSpPr>
          <p:cNvPr id="325" name="Google Shape;32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solidFill>
                  <a:schemeClr val="dk1"/>
                </a:solidFill>
              </a:rPr>
              <a:t>Code: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solidFill>
                  <a:schemeClr val="dk1"/>
                </a:solidFill>
              </a:rPr>
              <a:t>	a = b;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solidFill>
                  <a:schemeClr val="dk1"/>
                </a:solidFill>
              </a:rPr>
              <a:t>Time complexity: ?</a:t>
            </a:r>
            <a:br>
              <a:rPr lang="en" sz="2100">
                <a:solidFill>
                  <a:schemeClr val="dk1"/>
                </a:solidFill>
              </a:rPr>
            </a:br>
            <a:r>
              <a:rPr lang="en" sz="2100">
                <a:solidFill>
                  <a:schemeClr val="dk1"/>
                </a:solidFill>
              </a:rPr>
              <a:t>Space complexity: 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26" name="Google Shape;32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Example01</a:t>
            </a:r>
            <a:endParaRPr/>
          </a:p>
        </p:txBody>
      </p:sp>
      <p:sp>
        <p:nvSpPr>
          <p:cNvPr id="332" name="Google Shape;33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solidFill>
                  <a:schemeClr val="dk1"/>
                </a:solidFill>
              </a:rPr>
              <a:t>Code: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solidFill>
                  <a:schemeClr val="dk1"/>
                </a:solidFill>
              </a:rPr>
              <a:t>	a = b;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solidFill>
                  <a:schemeClr val="dk1"/>
                </a:solidFill>
              </a:rPr>
              <a:t>Time complexity: </a:t>
            </a:r>
            <a:r>
              <a:rPr lang="en" sz="2100">
                <a:solidFill>
                  <a:srgbClr val="990000"/>
                </a:solidFill>
              </a:rPr>
              <a:t>O(1)</a:t>
            </a:r>
            <a:br>
              <a:rPr lang="en" sz="2100">
                <a:solidFill>
                  <a:srgbClr val="990000"/>
                </a:solidFill>
              </a:rPr>
            </a:br>
            <a:r>
              <a:rPr lang="en" sz="2100">
                <a:solidFill>
                  <a:schemeClr val="dk1"/>
                </a:solidFill>
              </a:rPr>
              <a:t>Space complexity: </a:t>
            </a:r>
            <a:r>
              <a:rPr lang="en" sz="2100">
                <a:solidFill>
                  <a:srgbClr val="990000"/>
                </a:solidFill>
              </a:rPr>
              <a:t>O(1) — Since it's a simple value assignment</a:t>
            </a:r>
            <a:endParaRPr sz="2100">
              <a:solidFill>
                <a:srgbClr val="99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33" name="Google Shape;33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768092ec6_0_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Rules (</a:t>
            </a:r>
            <a:r>
              <a:rPr lang="en">
                <a:solidFill>
                  <a:srgbClr val="990000"/>
                </a:solidFill>
              </a:rPr>
              <a:t>Important! Remember!!</a:t>
            </a:r>
            <a:r>
              <a:rPr lang="en"/>
              <a:t>) </a:t>
            </a:r>
            <a:endParaRPr/>
          </a:p>
        </p:txBody>
      </p:sp>
      <p:sp>
        <p:nvSpPr>
          <p:cNvPr id="339" name="Google Shape;339;g36768092ec6_0_2"/>
          <p:cNvSpPr txBox="1"/>
          <p:nvPr>
            <p:ph idx="1" type="body"/>
          </p:nvPr>
        </p:nvSpPr>
        <p:spPr>
          <a:xfrm>
            <a:off x="311700" y="1152475"/>
            <a:ext cx="8520600" cy="3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nested, multiply.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sequential (in a single line), add.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Constant factors: 2 types –Remove them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Multiplicative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Additive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Lower-order terms – Remove them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Shortcut for constant:</a:t>
            </a:r>
            <a:r>
              <a:rPr lang="en">
                <a:solidFill>
                  <a:schemeClr val="dk1"/>
                </a:solidFill>
              </a:rPr>
              <a:t> If it can be counted on your fingers, treat it as O(1).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Compared to large inputs, we are ignoring small values.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40" name="Google Shape;340;g36768092ec6_0_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Example02</a:t>
            </a:r>
            <a:endParaRPr/>
          </a:p>
        </p:txBody>
      </p:sp>
      <p:sp>
        <p:nvSpPr>
          <p:cNvPr id="346" name="Google Shape;346;p32"/>
          <p:cNvSpPr txBox="1"/>
          <p:nvPr>
            <p:ph idx="1" type="body"/>
          </p:nvPr>
        </p:nvSpPr>
        <p:spPr>
          <a:xfrm>
            <a:off x="21025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7297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 sum = 0; n = 100;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97297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(i=1; i &lt;=n; i++){ </a:t>
            </a:r>
            <a:b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sum += n;</a:t>
            </a:r>
            <a:b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>
                <a:solidFill>
                  <a:srgbClr val="333399"/>
                </a:solidFill>
              </a:rPr>
              <a:t>Time complexity: ?</a:t>
            </a:r>
            <a:br>
              <a:rPr lang="en" sz="2800">
                <a:solidFill>
                  <a:srgbClr val="333399"/>
                </a:solidFill>
              </a:rPr>
            </a:br>
            <a:r>
              <a:rPr lang="en" sz="2800">
                <a:solidFill>
                  <a:srgbClr val="333399"/>
                </a:solidFill>
              </a:rPr>
              <a:t>Space complexity: ?</a:t>
            </a:r>
            <a:br>
              <a:rPr lang="en" sz="2800">
                <a:solidFill>
                  <a:srgbClr val="333399"/>
                </a:solidFill>
              </a:rPr>
            </a:b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7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7" name="Google Shape;3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Example02</a:t>
            </a:r>
            <a:endParaRPr/>
          </a:p>
        </p:txBody>
      </p:sp>
      <p:sp>
        <p:nvSpPr>
          <p:cNvPr id="353" name="Google Shape;353;p33"/>
          <p:cNvSpPr txBox="1"/>
          <p:nvPr>
            <p:ph idx="1" type="body"/>
          </p:nvPr>
        </p:nvSpPr>
        <p:spPr>
          <a:xfrm>
            <a:off x="311700" y="1152475"/>
            <a:ext cx="8520600" cy="3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333399"/>
                </a:solidFill>
              </a:rPr>
              <a:t>Code:</a:t>
            </a:r>
            <a:endParaRPr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 sum = 0; n = 100; </a:t>
            </a:r>
            <a:r>
              <a:rPr lang="en">
                <a:solidFill>
                  <a:srgbClr val="990000"/>
                </a:solidFill>
              </a:rPr>
              <a:t>O (1)</a:t>
            </a: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(i=1; i &lt;=n; i++){ // </a:t>
            </a:r>
            <a:r>
              <a:rPr lang="en">
                <a:solidFill>
                  <a:srgbClr val="990000"/>
                </a:solidFill>
              </a:rPr>
              <a:t>O (n)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sum += n; </a:t>
            </a:r>
            <a:r>
              <a:rPr lang="en">
                <a:solidFill>
                  <a:srgbClr val="990000"/>
                </a:solidFill>
              </a:rPr>
              <a:t>O (1)</a:t>
            </a:r>
            <a:br>
              <a:rPr lang="en">
                <a:solidFill>
                  <a:srgbClr val="990000"/>
                </a:solidFill>
              </a:rPr>
            </a:br>
            <a:r>
              <a:rPr lang="en">
                <a:solidFill>
                  <a:schemeClr val="dk1"/>
                </a:solidFill>
              </a:rPr>
              <a:t>}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85714"/>
              <a:buNone/>
            </a:pPr>
            <a:r>
              <a:rPr lang="en" sz="2100">
                <a:solidFill>
                  <a:schemeClr val="dk1"/>
                </a:solidFill>
              </a:rPr>
              <a:t>Time complexity</a:t>
            </a:r>
            <a:r>
              <a:rPr lang="en">
                <a:solidFill>
                  <a:srgbClr val="333399"/>
                </a:solidFill>
              </a:rPr>
              <a:t>: </a:t>
            </a:r>
            <a:r>
              <a:rPr lang="en">
                <a:solidFill>
                  <a:srgbClr val="990000"/>
                </a:solidFill>
              </a:rPr>
              <a:t>O (1) + O (n) X O (1) </a:t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990000"/>
                </a:solidFill>
              </a:rPr>
              <a:t>                             = O (1) + O (n) </a:t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990000"/>
                </a:solidFill>
              </a:rPr>
              <a:t>                             = O (n)</a:t>
            </a:r>
            <a:br>
              <a:rPr lang="en">
                <a:solidFill>
                  <a:srgbClr val="990000"/>
                </a:solidFill>
              </a:rPr>
            </a:br>
            <a:br>
              <a:rPr lang="en">
                <a:solidFill>
                  <a:srgbClr val="990000"/>
                </a:solidFill>
              </a:rPr>
            </a:br>
            <a:r>
              <a:rPr lang="en">
                <a:solidFill>
                  <a:schemeClr val="dk1"/>
                </a:solidFill>
              </a:rPr>
              <a:t>Space complexity:</a:t>
            </a:r>
            <a:r>
              <a:rPr lang="en">
                <a:solidFill>
                  <a:srgbClr val="990000"/>
                </a:solidFill>
              </a:rPr>
              <a:t> O(1) — The loop runs O(n) times, but no extra space is used apart from a few variables, making it constant space.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4" name="Google Shape;35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Example03</a:t>
            </a:r>
            <a:endParaRPr/>
          </a:p>
        </p:txBody>
      </p:sp>
      <p:sp>
        <p:nvSpPr>
          <p:cNvPr id="360" name="Google Shape;36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 sum1 = 0, n = 100;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(i=1; i&lt;=n; i++){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for (j=1; j&lt;=n; j++){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Sum1++;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 ?</a:t>
            </a:r>
            <a:b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complexity:??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1" name="Google Shape;36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Example03</a:t>
            </a:r>
            <a:endParaRPr/>
          </a:p>
        </p:txBody>
      </p:sp>
      <p:sp>
        <p:nvSpPr>
          <p:cNvPr id="367" name="Google Shape;367;p35"/>
          <p:cNvSpPr txBox="1"/>
          <p:nvPr>
            <p:ph idx="1" type="body"/>
          </p:nvPr>
        </p:nvSpPr>
        <p:spPr>
          <a:xfrm>
            <a:off x="311700" y="1152475"/>
            <a:ext cx="8520600" cy="3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 sum1 = 0, n = 100; </a:t>
            </a:r>
            <a:r>
              <a:rPr lang="en" sz="1891">
                <a:solidFill>
                  <a:srgbClr val="FF0000"/>
                </a:solidFill>
              </a:rPr>
              <a:t>O(1)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(i=1; i&lt;=n; i++){ </a:t>
            </a:r>
            <a:r>
              <a:rPr lang="en" sz="1891">
                <a:solidFill>
                  <a:srgbClr val="FF0000"/>
                </a:solidFill>
              </a:rPr>
              <a:t>O(n)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for (j=1; j&lt;=n; j++){ </a:t>
            </a:r>
            <a:r>
              <a:rPr lang="en" sz="1891">
                <a:solidFill>
                  <a:srgbClr val="FF0000"/>
                </a:solidFill>
              </a:rPr>
              <a:t>O(n)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sum1++; </a:t>
            </a:r>
            <a:r>
              <a:rPr lang="en" sz="1891">
                <a:solidFill>
                  <a:srgbClr val="FF0000"/>
                </a:solidFill>
              </a:rPr>
              <a:t>O(1)</a:t>
            </a:r>
            <a:br>
              <a:rPr lang="en" sz="1891">
                <a:solidFill>
                  <a:srgbClr val="FF0000"/>
                </a:solidFill>
              </a:rPr>
            </a:br>
            <a:r>
              <a:rPr lang="en" sz="1891">
                <a:solidFill>
                  <a:srgbClr val="333399"/>
                </a:solidFill>
              </a:rPr>
              <a:t>        }</a:t>
            </a:r>
            <a:endParaRPr sz="1891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5187"/>
              <a:buNone/>
            </a:pPr>
            <a:r>
              <a:rPr lang="en" sz="1891">
                <a:solidFill>
                  <a:srgbClr val="333399"/>
                </a:solidFill>
              </a:rPr>
              <a:t>}</a:t>
            </a:r>
            <a:endParaRPr sz="1891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 </a:t>
            </a:r>
            <a:r>
              <a:rPr lang="en" sz="1891">
                <a:solidFill>
                  <a:srgbClr val="FF0000"/>
                </a:solidFill>
              </a:rPr>
              <a:t>O(1) +</a:t>
            </a: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91">
                <a:solidFill>
                  <a:srgbClr val="FF0000"/>
                </a:solidFill>
              </a:rPr>
              <a:t>O(n) x O(n) x O(1) = O(n²)</a:t>
            </a:r>
            <a:br>
              <a:rPr lang="en" sz="1891">
                <a:solidFill>
                  <a:srgbClr val="FF0000"/>
                </a:solidFill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20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 — only a few integer variables are used, requiring constant space.</a:t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368" name="Google Shape;36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Example04</a:t>
            </a:r>
            <a:endParaRPr/>
          </a:p>
        </p:txBody>
      </p:sp>
      <p:sp>
        <p:nvSpPr>
          <p:cNvPr id="374" name="Google Shape;37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0, n = 100;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(i=1; i&lt;=n; i++) {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for (j=1; j&lt;=2*n; j++){ 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sum1++; </a:t>
            </a:r>
            <a:b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b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complexity:??</a:t>
            </a:r>
            <a:b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complexity:??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5" name="Google Shape;37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Example04</a:t>
            </a:r>
            <a:endParaRPr/>
          </a:p>
        </p:txBody>
      </p:sp>
      <p:sp>
        <p:nvSpPr>
          <p:cNvPr id="381" name="Google Shape;381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</a:t>
            </a: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, n = 100;</a:t>
            </a: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91">
                <a:solidFill>
                  <a:srgbClr val="FF0000"/>
                </a:solidFill>
              </a:rPr>
              <a:t>O(1)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(i=1; i&lt;=n; i++){ </a:t>
            </a:r>
            <a:r>
              <a:rPr lang="en" sz="1891">
                <a:solidFill>
                  <a:srgbClr val="FF0000"/>
                </a:solidFill>
              </a:rPr>
              <a:t>O(n)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for (j=1; j&lt;=2*n; j++){ </a:t>
            </a:r>
            <a:r>
              <a:rPr lang="en" sz="1891">
                <a:solidFill>
                  <a:srgbClr val="FF0000"/>
                </a:solidFill>
              </a:rPr>
              <a:t>O(2n) = O(n)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sum1++; </a:t>
            </a:r>
            <a:r>
              <a:rPr lang="en" sz="1891">
                <a:solidFill>
                  <a:srgbClr val="FF0000"/>
                </a:solidFill>
              </a:rPr>
              <a:t>O(1)</a:t>
            </a:r>
            <a:br>
              <a:rPr lang="en" sz="1891">
                <a:solidFill>
                  <a:srgbClr val="FF0000"/>
                </a:solidFill>
              </a:rPr>
            </a:br>
            <a:r>
              <a:rPr lang="en" sz="1891">
                <a:solidFill>
                  <a:srgbClr val="333399"/>
                </a:solidFill>
              </a:rPr>
              <a:t>       }</a:t>
            </a:r>
            <a:br>
              <a:rPr lang="en" sz="1891">
                <a:solidFill>
                  <a:srgbClr val="333399"/>
                </a:solidFill>
              </a:rPr>
            </a:br>
            <a:r>
              <a:rPr lang="en" sz="1891">
                <a:solidFill>
                  <a:srgbClr val="333399"/>
                </a:solidFill>
              </a:rPr>
              <a:t>}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 </a:t>
            </a:r>
            <a:r>
              <a:rPr lang="en" sz="1891">
                <a:solidFill>
                  <a:srgbClr val="FF0000"/>
                </a:solidFill>
              </a:rPr>
              <a:t>O(1) +</a:t>
            </a: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91">
                <a:solidFill>
                  <a:srgbClr val="FF0000"/>
                </a:solidFill>
              </a:rPr>
              <a:t>O(2n) x O(n) = O(n²)</a:t>
            </a:r>
            <a:br>
              <a:rPr lang="en" sz="1891">
                <a:solidFill>
                  <a:srgbClr val="FF0000"/>
                </a:solidFill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20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2" name="Google Shape;38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Example05</a:t>
            </a:r>
            <a:endParaRPr/>
          </a:p>
        </p:txBody>
      </p:sp>
      <p:sp>
        <p:nvSpPr>
          <p:cNvPr id="388" name="Google Shape;388;p38"/>
          <p:cNvSpPr txBox="1"/>
          <p:nvPr>
            <p:ph idx="1" type="body"/>
          </p:nvPr>
        </p:nvSpPr>
        <p:spPr>
          <a:xfrm>
            <a:off x="362350" y="1132275"/>
            <a:ext cx="8520600" cy="3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2949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6127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 = 0; n = 100;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16127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(j=1; j&lt;=n; j++) {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16127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(i=1; i&lt;=j; i++){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16127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Sum++;</a:t>
            </a:r>
            <a:b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16127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(k=0; k&lt;n; k++){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16127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s = k;</a:t>
            </a:r>
            <a:b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82949"/>
              <a:buNone/>
            </a:pPr>
            <a:r>
              <a:rPr lang="en" sz="2800">
                <a:solidFill>
                  <a:srgbClr val="333399"/>
                </a:solidFill>
              </a:rPr>
              <a:t>Time complexity: </a:t>
            </a:r>
            <a:r>
              <a:rPr lang="en" sz="2800">
                <a:solidFill>
                  <a:srgbClr val="FF0000"/>
                </a:solidFill>
              </a:rPr>
              <a:t>?</a:t>
            </a:r>
            <a:br>
              <a:rPr lang="en" sz="2800">
                <a:solidFill>
                  <a:srgbClr val="FF0000"/>
                </a:solidFill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complexity:??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9" name="Google Shape;38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05</a:t>
            </a:r>
            <a:endParaRPr/>
          </a:p>
        </p:txBody>
      </p:sp>
      <p:sp>
        <p:nvSpPr>
          <p:cNvPr id="395" name="Google Shape;395;p39"/>
          <p:cNvSpPr txBox="1"/>
          <p:nvPr>
            <p:ph idx="1" type="body"/>
          </p:nvPr>
        </p:nvSpPr>
        <p:spPr>
          <a:xfrm>
            <a:off x="311700" y="1152475"/>
            <a:ext cx="8520600" cy="3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5882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 = 0, n = 100; </a:t>
            </a:r>
            <a:r>
              <a:rPr lang="en" sz="1891">
                <a:solidFill>
                  <a:srgbClr val="FF0000"/>
                </a:solidFill>
              </a:rPr>
              <a:t>O(1)</a:t>
            </a:r>
            <a:br>
              <a:rPr lang="en" sz="1891">
                <a:solidFill>
                  <a:srgbClr val="FF0000"/>
                </a:solidFill>
              </a:rPr>
            </a:b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5882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(j=1; j&lt;=n; j++){   </a:t>
            </a:r>
            <a:r>
              <a:rPr b="1" lang="en" sz="2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b="1" sz="20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5882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(i=1; i&lt;=j; i++){   </a:t>
            </a:r>
            <a:r>
              <a:rPr b="1" lang="en" sz="2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O(n), max value of j is n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5882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Sum++;  </a:t>
            </a:r>
            <a:r>
              <a:rPr b="1" lang="en" sz="2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 sz="2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5882"/>
              <a:buNone/>
            </a:pPr>
            <a:r>
              <a:rPr b="1"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b="1"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5882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(k=0; k&lt;n; k++){ </a:t>
            </a:r>
            <a:r>
              <a:rPr b="1" lang="en" sz="2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5882"/>
              <a:buNone/>
            </a:pP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s = k; </a:t>
            </a:r>
            <a:r>
              <a:rPr b="1" lang="en" sz="2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1985"/>
              <a:buNone/>
            </a:pPr>
            <a:r>
              <a:rPr lang="en" sz="1891">
                <a:solidFill>
                  <a:srgbClr val="333399"/>
                </a:solidFill>
              </a:rPr>
              <a:t>Time complexity: </a:t>
            </a:r>
            <a:r>
              <a:rPr lang="en" sz="1891">
                <a:solidFill>
                  <a:srgbClr val="FF0000"/>
                </a:solidFill>
              </a:rPr>
              <a:t>O(1) + </a:t>
            </a:r>
            <a:r>
              <a:rPr lang="en" sz="1891">
                <a:solidFill>
                  <a:srgbClr val="333399"/>
                </a:solidFill>
              </a:rPr>
              <a:t>O(n²) + O(n)  = </a:t>
            </a:r>
            <a:r>
              <a:rPr b="1" lang="en" sz="2000">
                <a:solidFill>
                  <a:srgbClr val="990000"/>
                </a:solidFill>
              </a:rPr>
              <a:t>O(n²)</a:t>
            </a:r>
            <a:br>
              <a:rPr b="1" lang="en" sz="2000">
                <a:solidFill>
                  <a:srgbClr val="990000"/>
                </a:solidFill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20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b="1" sz="1000">
              <a:solidFill>
                <a:srgbClr val="990000"/>
              </a:solidFill>
            </a:endParaRPr>
          </a:p>
        </p:txBody>
      </p:sp>
      <p:sp>
        <p:nvSpPr>
          <p:cNvPr id="396" name="Google Shape;39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39"/>
          <p:cNvSpPr txBox="1"/>
          <p:nvPr/>
        </p:nvSpPr>
        <p:spPr>
          <a:xfrm>
            <a:off x="5183875" y="1571300"/>
            <a:ext cx="3589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O(n)* O(n) * O(1) = O(</a:t>
            </a:r>
            <a:r>
              <a:rPr b="1" lang="en" sz="1800">
                <a:solidFill>
                  <a:schemeClr val="dk1"/>
                </a:solidFill>
              </a:rPr>
              <a:t>n²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9"/>
          <p:cNvSpPr txBox="1"/>
          <p:nvPr/>
        </p:nvSpPr>
        <p:spPr>
          <a:xfrm>
            <a:off x="3929900" y="3364075"/>
            <a:ext cx="22647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</a:rPr>
              <a:t>O(n)* O(1) = O(n)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Example06</a:t>
            </a:r>
            <a:endParaRPr/>
          </a:p>
        </p:txBody>
      </p:sp>
      <p:sp>
        <p:nvSpPr>
          <p:cNvPr id="404" name="Google Shape;40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5882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 = 100;</a:t>
            </a:r>
            <a:endParaRPr sz="17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5882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(k=1; k&lt;=n; k*=2){ 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// k = k*2</a:t>
            </a:r>
            <a:endParaRPr b="1" sz="17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5882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for (j=1; j&lt;=n; j++){</a:t>
            </a:r>
            <a:endParaRPr b="1" sz="17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5882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Sum1++;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17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5882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??</a:t>
            </a:r>
            <a:b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complexity:??</a:t>
            </a:r>
            <a:endParaRPr sz="23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5" name="Google Shape;40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Example06</a:t>
            </a:r>
            <a:endParaRPr/>
          </a:p>
        </p:txBody>
      </p:sp>
      <p:sp>
        <p:nvSpPr>
          <p:cNvPr id="411" name="Google Shape;411;p41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 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 = 100; 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7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(k=1; k&lt;=n; k*=2){ 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//k starts at 1 and doubles each time </a:t>
            </a:r>
            <a:endParaRPr b="1" sz="17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//= O(log</a:t>
            </a:r>
            <a:r>
              <a:rPr b="1" baseline="-25000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</a:t>
            </a:r>
            <a:endParaRPr b="1" sz="17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for (j=1; j&lt;=n; j++){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//j runs from 1 to n = 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b="1" sz="17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Sum1++; 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O(1) + O(1) +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 x 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O(n) = O(n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2" name="Google Shape;41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Example06</a:t>
            </a:r>
            <a:endParaRPr/>
          </a:p>
        </p:txBody>
      </p:sp>
      <p:sp>
        <p:nvSpPr>
          <p:cNvPr id="418" name="Google Shape;418;p42"/>
          <p:cNvSpPr txBox="1"/>
          <p:nvPr>
            <p:ph idx="1" type="body"/>
          </p:nvPr>
        </p:nvSpPr>
        <p:spPr>
          <a:xfrm>
            <a:off x="214025" y="1152475"/>
            <a:ext cx="8807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 = 100;</a:t>
            </a:r>
            <a:endParaRPr sz="17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(k=1; k&lt;=n; k*=2){ 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// k= 1 2 4 8 16 32 64 </a:t>
            </a:r>
            <a:b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= total 7 time loop runs</a:t>
            </a:r>
            <a:b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for (j=1; j&lt;=n; j++){</a:t>
            </a:r>
            <a:endParaRPr b="1" sz="17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Sum1++;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O(log</a:t>
            </a:r>
            <a:r>
              <a:rPr b="1" baseline="-25000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 x 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O(n) = O(n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b="1" baseline="-25000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3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9" name="Google Shape;41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p42"/>
          <p:cNvSpPr txBox="1"/>
          <p:nvPr/>
        </p:nvSpPr>
        <p:spPr>
          <a:xfrm>
            <a:off x="3669050" y="1335100"/>
            <a:ext cx="44466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b="1" baseline="-25000" i="0" lang="en" sz="18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i="0" lang="en" sz="18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(100) = 6.67 = approx 7</a:t>
            </a:r>
            <a:endParaRPr b="0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Example07</a:t>
            </a:r>
            <a:endParaRPr/>
          </a:p>
        </p:txBody>
      </p:sp>
      <p:sp>
        <p:nvSpPr>
          <p:cNvPr id="426" name="Google Shape;426;p43"/>
          <p:cNvSpPr txBox="1"/>
          <p:nvPr>
            <p:ph idx="1" type="body"/>
          </p:nvPr>
        </p:nvSpPr>
        <p:spPr>
          <a:xfrm>
            <a:off x="311700" y="1152475"/>
            <a:ext cx="85206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 = 100;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(i=n; i&gt;=1; i=i/2) {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for (j=1; j&lt;=n; j++){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sum1= sum1 + i ;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complexity:???</a:t>
            </a:r>
            <a:endParaRPr b="1" sz="14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7" name="Google Shape;42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33" name="Google Shape;433;p44"/>
          <p:cNvSpPr txBox="1"/>
          <p:nvPr>
            <p:ph idx="1" type="body"/>
          </p:nvPr>
        </p:nvSpPr>
        <p:spPr>
          <a:xfrm>
            <a:off x="311700" y="1152475"/>
            <a:ext cx="8520600" cy="3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946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 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 = 100; 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946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(i=n; i&gt;=1; i=i/2){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//i starts at n and is halved each time 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//= O(log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946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for (j=1; j&lt;=n; j++){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//j runs from 1 to n = 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946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Sum1= Sum1 + i ; 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946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O(1) + O(1) +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n)x 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O(n) = O(n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b="1" sz="14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4" name="Google Shape;43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40" name="Google Shape;44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 = 100;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(i=n; i&gt;=1; i=i/2){ 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// i= 100 50 25 12 6 3 1 = total 7 times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for (j=1; j&lt;=n; j++){ 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sum1= sum1 + i ; 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n)x 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O(n) = O(n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4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1" name="Google Shape;44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45"/>
          <p:cNvSpPr txBox="1"/>
          <p:nvPr/>
        </p:nvSpPr>
        <p:spPr>
          <a:xfrm>
            <a:off x="3616875" y="1460100"/>
            <a:ext cx="44466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8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b="1" baseline="-25000" i="0" lang="en" sz="18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i="0" lang="en" sz="18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(100)  =  6.67  = approx 7</a:t>
            </a:r>
            <a:endParaRPr b="0" i="0" sz="19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Example08</a:t>
            </a:r>
            <a:endParaRPr/>
          </a:p>
        </p:txBody>
      </p:sp>
      <p:sp>
        <p:nvSpPr>
          <p:cNvPr id="448" name="Google Shape;448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333399"/>
                </a:solidFill>
              </a:rPr>
              <a:t>Code:</a:t>
            </a:r>
            <a:endParaRPr sz="17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a=0;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N= 50;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i=N;</a:t>
            </a: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while (i&gt;0){ 	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a = a+ i;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i = i/2 ;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??</a:t>
            </a:r>
            <a:b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complexity:??</a:t>
            </a:r>
            <a:endParaRPr b="1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9" name="Google Shape;44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Example08</a:t>
            </a:r>
            <a:endParaRPr/>
          </a:p>
        </p:txBody>
      </p:sp>
      <p:sp>
        <p:nvSpPr>
          <p:cNvPr id="455" name="Google Shape;455;p47"/>
          <p:cNvSpPr txBox="1"/>
          <p:nvPr>
            <p:ph idx="1" type="body"/>
          </p:nvPr>
        </p:nvSpPr>
        <p:spPr>
          <a:xfrm>
            <a:off x="311700" y="1152475"/>
            <a:ext cx="8520600" cy="3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100">
                <a:solidFill>
                  <a:srgbClr val="333399"/>
                </a:solidFill>
              </a:rPr>
              <a:t>Code:</a:t>
            </a:r>
            <a:endParaRPr sz="31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a=0 ;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N= 50;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i=N;</a:t>
            </a:r>
            <a:endParaRPr sz="17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while (i&gt;0){	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a = a+ i; 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i = i/2; 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//i starts at N and is halved each time = O(log</a:t>
            </a:r>
            <a:r>
              <a:rPr b="1" baseline="-25000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</a:t>
            </a:r>
            <a:b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n)X O(1)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= O(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b="1" sz="16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6" name="Google Shape;45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62" name="Google Shape;462;p48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 = 100;</a:t>
            </a: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(i=n; i&gt;=1; i=i/2) </a:t>
            </a:r>
            <a: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" sz="19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(k=1; k&lt;=n; k*=2){</a:t>
            </a:r>
            <a:endParaRPr b="1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sum1= sum1 + i ;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??</a:t>
            </a:r>
            <a:b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</a:t>
            </a:r>
            <a:r>
              <a:rPr lang="en" sz="2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??</a:t>
            </a:r>
            <a:endParaRPr b="1" sz="14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3" name="Google Shape;46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Example09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69" name="Google Shape;469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 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 = 100; 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(i=n; i&gt;=1; i=i/2){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O(log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(k=1; k&lt;=n; k*=2){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O(log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sum1= sum1 + i ; 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n)x O(log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n)x O(1)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= O((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</a:t>
            </a:r>
            <a:r>
              <a:rPr b="1" baseline="30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b="1" sz="14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0" name="Google Shape;47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76" name="Google Shape;476;p50"/>
          <p:cNvSpPr txBox="1"/>
          <p:nvPr>
            <p:ph idx="1" type="body"/>
          </p:nvPr>
        </p:nvSpPr>
        <p:spPr>
          <a:xfrm>
            <a:off x="311700" y="1152475"/>
            <a:ext cx="8520600" cy="3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 = 50;</a:t>
            </a: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i&lt;=n; i=i+1) {</a:t>
            </a:r>
            <a: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for (k=0; k&lt;=i*n; k=k+1) {</a:t>
            </a: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 = sum1 + i ;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i&lt;=n+n; i=i+1) {</a:t>
            </a:r>
            <a:b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sum1= sum1 + i;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65306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/>
              <a:t>???</a:t>
            </a:r>
            <a:br>
              <a:rPr lang="en"/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complexity:??</a:t>
            </a:r>
            <a:endParaRPr b="1" sz="14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7" name="Google Shape;47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83" name="Google Shape;483;p51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 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n = 50; 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i&lt;=n; i=i+1){ </a:t>
            </a:r>
            <a: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O(n)</a:t>
            </a:r>
            <a:endParaRPr b="1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for (k=0; k&lt;=i*n; k=k+1){</a:t>
            </a:r>
            <a: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990000"/>
                </a:solidFill>
              </a:rPr>
              <a:t>O(n²), max value of i is n </a:t>
            </a:r>
            <a:endParaRPr b="1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sum1= sum1 + i ; </a:t>
            </a:r>
            <a: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i&lt;=n+n; i=i+1){ </a:t>
            </a:r>
            <a: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O(2n)= O(n)</a:t>
            </a:r>
            <a:b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sum1= sum1 + i ; </a:t>
            </a:r>
            <a: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65306"/>
              <a:buNone/>
            </a:pPr>
            <a:r>
              <a:rPr lang="en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O(1) + O(1) + </a:t>
            </a:r>
            <a:r>
              <a:rPr lang="en" sz="1700">
                <a:solidFill>
                  <a:srgbClr val="990000"/>
                </a:solidFill>
              </a:rPr>
              <a:t>O(n</a:t>
            </a:r>
            <a:r>
              <a:rPr baseline="30000" lang="en" sz="1700">
                <a:solidFill>
                  <a:srgbClr val="990000"/>
                </a:solidFill>
              </a:rPr>
              <a:t>3</a:t>
            </a:r>
            <a:r>
              <a:rPr lang="en" sz="1700">
                <a:solidFill>
                  <a:srgbClr val="990000"/>
                </a:solidFill>
              </a:rPr>
              <a:t>)</a:t>
            </a:r>
            <a:r>
              <a:rPr lang="en"/>
              <a:t> </a:t>
            </a:r>
            <a:r>
              <a:rPr b="1" lang="en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+ O(n)</a:t>
            </a:r>
            <a: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= O(n</a:t>
            </a:r>
            <a:r>
              <a:rPr b="1" baseline="30000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1" lang="en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20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b="1" sz="14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4" name="Google Shape;48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1"/>
          <p:cNvSpPr txBox="1"/>
          <p:nvPr/>
        </p:nvSpPr>
        <p:spPr>
          <a:xfrm>
            <a:off x="6199400" y="1623825"/>
            <a:ext cx="2539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O(n)* O(n²) = O(n</a:t>
            </a:r>
            <a:r>
              <a:rPr b="1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Multi-Parameter Complexity [examples in analysis 11, 12]</a:t>
            </a:r>
            <a:endParaRPr/>
          </a:p>
        </p:txBody>
      </p:sp>
      <p:sp>
        <p:nvSpPr>
          <p:cNvPr id="491" name="Google Shape;49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When </a:t>
            </a:r>
            <a:r>
              <a:rPr b="1" lang="en" sz="1600">
                <a:solidFill>
                  <a:schemeClr val="dk1"/>
                </a:solidFill>
              </a:rPr>
              <a:t>input has multiple attributes,</a:t>
            </a:r>
            <a:r>
              <a:rPr lang="en" sz="1600">
                <a:solidFill>
                  <a:schemeClr val="dk1"/>
                </a:solidFill>
              </a:rPr>
              <a:t> complexity depends on </a:t>
            </a:r>
            <a:r>
              <a:rPr b="1" lang="en" sz="1600">
                <a:solidFill>
                  <a:schemeClr val="dk1"/>
                </a:solidFill>
              </a:rPr>
              <a:t>all relevant factors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Example:</a:t>
            </a:r>
            <a:r>
              <a:rPr lang="en" sz="1600">
                <a:solidFill>
                  <a:schemeClr val="dk1"/>
                </a:solidFill>
              </a:rPr>
              <a:t> Processing a dataset with </a:t>
            </a:r>
            <a:r>
              <a:rPr b="1" lang="en" sz="1600">
                <a:solidFill>
                  <a:srgbClr val="0000FF"/>
                </a:solidFill>
              </a:rPr>
              <a:t>N records</a:t>
            </a:r>
            <a:r>
              <a:rPr lang="en" sz="1600">
                <a:solidFill>
                  <a:schemeClr val="dk1"/>
                </a:solidFill>
              </a:rPr>
              <a:t>, each having </a:t>
            </a:r>
            <a:r>
              <a:rPr b="1" lang="en" sz="1600">
                <a:solidFill>
                  <a:srgbClr val="0000FF"/>
                </a:solidFill>
              </a:rPr>
              <a:t>M features</a:t>
            </a:r>
            <a:r>
              <a:rPr lang="en" sz="1600">
                <a:solidFill>
                  <a:schemeClr val="dk1"/>
                </a:solidFill>
              </a:rPr>
              <a:t> → </a:t>
            </a:r>
            <a:r>
              <a:rPr b="1" lang="en" sz="1600">
                <a:solidFill>
                  <a:schemeClr val="dk1"/>
                </a:solidFill>
              </a:rPr>
              <a:t>O(N+M)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Char char="●"/>
            </a:pPr>
            <a:r>
              <a:rPr lang="en" sz="1600">
                <a:solidFill>
                  <a:srgbClr val="0000FF"/>
                </a:solidFill>
              </a:rPr>
              <a:t>Some problems require expressing complexity in terms of </a:t>
            </a:r>
            <a:r>
              <a:rPr b="1" lang="en" sz="1600">
                <a:solidFill>
                  <a:srgbClr val="0000FF"/>
                </a:solidFill>
              </a:rPr>
              <a:t>multiple input sizes</a:t>
            </a:r>
            <a:r>
              <a:rPr lang="en" sz="1600">
                <a:solidFill>
                  <a:srgbClr val="0000FF"/>
                </a:solidFill>
              </a:rPr>
              <a:t>.</a:t>
            </a:r>
            <a:endParaRPr sz="1600">
              <a:solidFill>
                <a:srgbClr val="0000FF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 We will see details later</a:t>
            </a:r>
            <a:endParaRPr/>
          </a:p>
        </p:txBody>
      </p:sp>
      <p:sp>
        <p:nvSpPr>
          <p:cNvPr id="492" name="Google Shape;49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2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98" name="Google Shape;498;p52"/>
          <p:cNvSpPr txBox="1"/>
          <p:nvPr>
            <p:ph idx="1" type="body"/>
          </p:nvPr>
        </p:nvSpPr>
        <p:spPr>
          <a:xfrm>
            <a:off x="311700" y="795400"/>
            <a:ext cx="8520600" cy="4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946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 n = 100; m = 50;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946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(i=n; i&gt;=1; i=i-1){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(k=1; k&lt;=m; k=k+2){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sum1= sum1 + i + k ; 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946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(i=1; i&lt;=m; i=i+1){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print(i) ;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946"/>
              <a:buNone/>
            </a:pP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 sz="17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??</a:t>
            </a:r>
            <a:br>
              <a:rPr b="1" lang="en" sz="17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complexity:???</a:t>
            </a:r>
            <a:endParaRPr b="1" sz="17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9" name="Google Shape;49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3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05" name="Google Shape;505;p53"/>
          <p:cNvSpPr txBox="1"/>
          <p:nvPr>
            <p:ph idx="1" type="body"/>
          </p:nvPr>
        </p:nvSpPr>
        <p:spPr>
          <a:xfrm>
            <a:off x="311700" y="825175"/>
            <a:ext cx="8709300" cy="4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63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sum1 = 0; n = 100; m = 50;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32351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(i=n; i&gt;=1; i=i-1){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 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" sz="17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(k=1; k&lt;=m; k=k+2){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O(m/2)= O(m) 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74722"/>
              <a:buNone/>
            </a:pPr>
            <a:r>
              <a:rPr b="1" lang="en" sz="1212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</a:t>
            </a:r>
            <a:r>
              <a:rPr b="1" lang="en" sz="1428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// k goes from 1 to 50 in steps of 2 → 25 iterations</a:t>
            </a:r>
            <a:endParaRPr b="1" sz="1428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sum1= sum1 + i + k ;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(i=1; i&lt;=m; i=i+1){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O(m) 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			print(i) ;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O(n)x O(m)x O(1)   +   O(m)x</a:t>
            </a:r>
            <a:r>
              <a:rPr b="1" lang="en" sz="16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= O(n x m) + O(m) 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= O(n x m) 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0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20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b="1" sz="14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6" name="Google Shape;50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4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12" name="Google Shape;512;p54"/>
          <p:cNvSpPr txBox="1"/>
          <p:nvPr>
            <p:ph idx="1" type="body"/>
          </p:nvPr>
        </p:nvSpPr>
        <p:spPr>
          <a:xfrm>
            <a:off x="311700" y="825175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ArrayList&lt;Integer&gt; arr = new ArrayList&lt;&gt;(); // </a:t>
            </a: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an empty list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int counter=0, N=100, M=40;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(i=1; i&lt;=N; i=i+1){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arr.add(i)</a:t>
            </a: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Inserting values to empty list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(i=1; i&lt;=M; i=i+1){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counter+=1;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???? 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</a:t>
            </a:r>
            <a:r>
              <a:rPr lang="en" sz="1600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???</a:t>
            </a:r>
            <a:endParaRPr b="1" sz="1600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3" name="Google Shape;51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cfd01ab06_0_2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19" name="Google Shape;519;g3bcfd01ab06_0_2"/>
          <p:cNvSpPr txBox="1"/>
          <p:nvPr>
            <p:ph idx="1" type="body"/>
          </p:nvPr>
        </p:nvSpPr>
        <p:spPr>
          <a:xfrm>
            <a:off x="311700" y="825175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ArrayList&lt;Integer&gt; arr = new ArrayList&lt;&gt;();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int counter=0, N=100, M=40;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(i=1; i&lt;=N; i=i+1){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arr.add(i);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(i=1; i&lt;=M; i=i+1){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O(M)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counter+=1;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O(1)+ O(1)+ O(N)x O(1)+ O(M)x O(1)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1621"/>
              <a:buFont typeface="Arial"/>
              <a:buNone/>
            </a:pP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= O(2)+ O(N) + O(M)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= O(N) + O(M)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= O(N+M) 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0" name="Google Shape;520;g3bcfd01ab06_0_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cfd01ab06_0_9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26" name="Google Shape;526;g3bcfd01ab06_0_9"/>
          <p:cNvSpPr txBox="1"/>
          <p:nvPr>
            <p:ph idx="1" type="body"/>
          </p:nvPr>
        </p:nvSpPr>
        <p:spPr>
          <a:xfrm>
            <a:off x="179850" y="825175"/>
            <a:ext cx="8652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ArrayList&lt;Integer&gt; arr = new ArrayList&lt;&gt;();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an empty list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int counter=0, N=100, M=40;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(i=1; i&lt;=N; i=i+1){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arr.add(i);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Inserting values to empty list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(i=1; i&lt;=M; i=i+1){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counter+=1;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</a:t>
            </a:r>
            <a:r>
              <a:rPr b="1" lang="en" sz="1600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???</a:t>
            </a:r>
            <a:endParaRPr b="1" sz="1600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7" name="Google Shape;527;g3bcfd01ab06_0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bcfd01ab06_0_15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33" name="Google Shape;533;g3bcfd01ab06_0_15"/>
          <p:cNvSpPr txBox="1"/>
          <p:nvPr>
            <p:ph idx="1" type="body"/>
          </p:nvPr>
        </p:nvSpPr>
        <p:spPr>
          <a:xfrm>
            <a:off x="311700" y="825175"/>
            <a:ext cx="89931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ArrayList&lt;Integer&gt; arr = new ArrayList&lt;&gt;();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int counter=0, N=100, M=40;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(i=1; i&lt;=N; i=i+1){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O(N), because N number of elements are being inserted.</a:t>
            </a:r>
            <a:b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So, space requirement is N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arr.add(i);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(i=1; i&lt;=M; i=i+1){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O(1): Space needed for local variables only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125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counter+=1; 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b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384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= O(1) + O(1) + O(N) + O(1)</a:t>
            </a:r>
            <a:endParaRPr b="1" sz="1384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30078"/>
              <a:buNone/>
            </a:pPr>
            <a:r>
              <a:rPr b="1" lang="en" sz="1384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= O(N)</a:t>
            </a:r>
            <a:endParaRPr b="1" sz="1384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4" name="Google Shape;534;g3bcfd01ab06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c46835a7d_0_10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40" name="Google Shape;540;g3ec46835a7d_0_10"/>
          <p:cNvSpPr txBox="1"/>
          <p:nvPr>
            <p:ph idx="1" type="body"/>
          </p:nvPr>
        </p:nvSpPr>
        <p:spPr>
          <a:xfrm>
            <a:off x="311700" y="825175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int[] arr = new int[n]; 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n; i++) { 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arr[i] = i; 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???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1" name="Google Shape;541;g3ec46835a7d_0_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c46835a7d_0_17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47" name="Google Shape;547;g3ec46835a7d_0_17"/>
          <p:cNvSpPr txBox="1"/>
          <p:nvPr>
            <p:ph idx="1" type="body"/>
          </p:nvPr>
        </p:nvSpPr>
        <p:spPr>
          <a:xfrm>
            <a:off x="311700" y="825175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int[] arr = new int[n];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n; i++) {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arr[i] = i;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 + O(n)x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endParaRPr b="1" sz="15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=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8" name="Google Shape;548;g3ec46835a7d_0_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ec46835a7d_0_23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54" name="Google Shape;554;g3ec46835a7d_0_23"/>
          <p:cNvSpPr txBox="1"/>
          <p:nvPr>
            <p:ph idx="1" type="body"/>
          </p:nvPr>
        </p:nvSpPr>
        <p:spPr>
          <a:xfrm>
            <a:off x="311700" y="825175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int[] arr = new int[n];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n; i++) {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arr[i] = i;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 + O(1)x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endParaRPr b="1" sz="15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=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5" name="Google Shape;555;g3ec46835a7d_0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c46835a7d_0_29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61" name="Google Shape;561;g3ec46835a7d_0_29"/>
          <p:cNvSpPr txBox="1"/>
          <p:nvPr>
            <p:ph idx="1" type="body"/>
          </p:nvPr>
        </p:nvSpPr>
        <p:spPr>
          <a:xfrm>
            <a:off x="311700" y="825175"/>
            <a:ext cx="8520600" cy="4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Code:</a:t>
            </a:r>
            <a:endParaRPr b="1"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int[][] matrix = new int[n][n]; </a:t>
            </a:r>
            <a:endParaRPr b="1" sz="14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n; i++) {  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(int j = 0; j &lt; n; j++) {   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matrix[i][j] = i + j;  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b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?????</a:t>
            </a:r>
            <a:endParaRPr b="1" sz="14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2" name="Google Shape;562;g3ec46835a7d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ec46835a7d_0_36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68" name="Google Shape;568;g3ec46835a7d_0_36"/>
          <p:cNvSpPr txBox="1"/>
          <p:nvPr>
            <p:ph idx="1" type="body"/>
          </p:nvPr>
        </p:nvSpPr>
        <p:spPr>
          <a:xfrm>
            <a:off x="311700" y="825175"/>
            <a:ext cx="8520600" cy="4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Code:</a:t>
            </a:r>
            <a:endParaRPr b="1"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int[][] matrix = new int[n][n];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O(n²)</a:t>
            </a:r>
            <a:endParaRPr b="1" sz="14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n; i++) { 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(int j = 0; j &lt; n; j++) {  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matrix[i][j] = i + j; 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b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O(n²) + O(n)x O(n)  </a:t>
            </a:r>
            <a:endParaRPr b="1" sz="14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= O(n²) + O(n²) </a:t>
            </a:r>
            <a:b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= O(2n²) </a:t>
            </a:r>
            <a:endParaRPr b="1" sz="14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= O(n²)</a:t>
            </a:r>
            <a:endParaRPr b="1" sz="14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9" name="Google Shape;569;g3ec46835a7d_0_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ec46835a7d_0_42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75" name="Google Shape;575;g3ec46835a7d_0_42"/>
          <p:cNvSpPr txBox="1"/>
          <p:nvPr>
            <p:ph idx="1" type="body"/>
          </p:nvPr>
        </p:nvSpPr>
        <p:spPr>
          <a:xfrm>
            <a:off x="311700" y="825175"/>
            <a:ext cx="8520600" cy="4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Code:</a:t>
            </a:r>
            <a:endParaRPr b="1"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int[][] matrix = new int[n][n];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O(n²)</a:t>
            </a:r>
            <a:endParaRPr b="1" sz="14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n; i++) { 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(int j = 0; j &lt; n; j++) {  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matrix[i][j] = i + j; 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b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4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Space complexity: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O(n²) + O(1) x O(1)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x O(1) </a:t>
            </a: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4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= O(n²) </a:t>
            </a:r>
            <a:endParaRPr b="1" sz="14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6" name="Google Shape;576;g3ec46835a7d_0_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8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82" name="Google Shape;582;p58"/>
          <p:cNvSpPr txBox="1"/>
          <p:nvPr>
            <p:ph idx="1" type="body"/>
          </p:nvPr>
        </p:nvSpPr>
        <p:spPr>
          <a:xfrm>
            <a:off x="311700" y="825175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 i, j, k = 0, n=100; </a:t>
            </a:r>
            <a:b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 = n / 2; i &lt;= n; i++) { 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(j = 2; j &lt;= n; j = j * 2) { 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k = k + n / 2; 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???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3" name="Google Shape;583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9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89" name="Google Shape;589;p59"/>
          <p:cNvSpPr txBox="1"/>
          <p:nvPr>
            <p:ph idx="1" type="body"/>
          </p:nvPr>
        </p:nvSpPr>
        <p:spPr>
          <a:xfrm>
            <a:off x="311700" y="825175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</a:rPr>
              <a:t>Code:</a:t>
            </a:r>
            <a:endParaRPr sz="2800">
              <a:solidFill>
                <a:srgbClr val="3333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int i, j, k = 0, n=100;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(i = n / 2; i &lt;= n; i++) {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O(n/2)= O(n), </a:t>
            </a:r>
            <a:endParaRPr b="1" sz="15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//loop runs from n/2 to n time, total runs n/2 times</a:t>
            </a:r>
            <a:r>
              <a:rPr b="1"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br>
              <a:rPr b="1"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for (j = 2; j &lt;= n; j = j * 2) {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k = k + n / 2;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6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Time complexity: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O(1) + O(n)x 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 x </a:t>
            </a: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O(2)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= O(nlog</a:t>
            </a:r>
            <a:r>
              <a:rPr b="1" baseline="-25000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n)</a:t>
            </a:r>
            <a:endParaRPr b="1" sz="1600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0" name="Google Shape;590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c46835a7d_0_3"/>
          <p:cNvSpPr txBox="1"/>
          <p:nvPr>
            <p:ph type="title"/>
          </p:nvPr>
        </p:nvSpPr>
        <p:spPr>
          <a:xfrm>
            <a:off x="265850" y="77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96" name="Google Shape;596;g3ec46835a7d_0_3"/>
          <p:cNvSpPr txBox="1"/>
          <p:nvPr>
            <p:ph idx="1" type="body"/>
          </p:nvPr>
        </p:nvSpPr>
        <p:spPr>
          <a:xfrm>
            <a:off x="311700" y="475400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Code:</a:t>
            </a:r>
            <a:endParaRPr b="1"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int i, j;      </a:t>
            </a:r>
            <a:b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Assume,</a:t>
            </a: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A[] is an array and has n=10 integer elements                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if (condition) {                // Suppose condition is true in some cases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(i = 0; i &lt; n; i++) {   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a[i] = i + 2;           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else {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(i = 0; i &lt; n; i++) {       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for (j = 0; j &lt; n; j++) {   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a[i] = a[j] + 1;        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b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Time complexity: </a:t>
            </a: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???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7" name="Google Shape;597;g3ec46835a7d_0_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1"/>
          <p:cNvSpPr txBox="1"/>
          <p:nvPr>
            <p:ph type="title"/>
          </p:nvPr>
        </p:nvSpPr>
        <p:spPr>
          <a:xfrm>
            <a:off x="265850" y="77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03" name="Google Shape;603;p61"/>
          <p:cNvSpPr txBox="1"/>
          <p:nvPr>
            <p:ph idx="1" type="body"/>
          </p:nvPr>
        </p:nvSpPr>
        <p:spPr>
          <a:xfrm>
            <a:off x="311700" y="543750"/>
            <a:ext cx="8520600" cy="4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Code:</a:t>
            </a:r>
            <a:endParaRPr b="1"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int i, j;                      </a:t>
            </a:r>
            <a:b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Assume,</a:t>
            </a: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A[] is an array and has n=100 integer elements               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if (condition) {                // Suppose condition is true in some cases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(i = 0; i &lt; n; i++) {   </a:t>
            </a: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// O(n)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a[i] = i + 2;           </a:t>
            </a: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// O(1)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else {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(i = 0; i &lt; n; i++) {       </a:t>
            </a: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// O(n)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for (j = 0; j &lt; n; j++) {   </a:t>
            </a: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// O(n)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a[i] = a[j] + 1;        </a:t>
            </a: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// O(1)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b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Time complexity: </a:t>
            </a: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O(n)xO(1) + O(n)xO(n)xO(1) </a:t>
            </a:r>
            <a:b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= O(n) + O(n²) </a:t>
            </a:r>
            <a:b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= O(n²)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4" name="Google Shape;604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05" name="Google Shape;605;p61"/>
          <p:cNvCxnSpPr/>
          <p:nvPr/>
        </p:nvCxnSpPr>
        <p:spPr>
          <a:xfrm flipH="1" rot="10800000">
            <a:off x="354900" y="1302775"/>
            <a:ext cx="8308200" cy="780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61"/>
          <p:cNvSpPr txBox="1"/>
          <p:nvPr/>
        </p:nvSpPr>
        <p:spPr>
          <a:xfrm>
            <a:off x="3943025" y="455900"/>
            <a:ext cx="49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The focus of this example is the if-else statement. When calculating the time complexity, ignore the code before the red border.</a:t>
            </a:r>
            <a:r>
              <a:rPr lang="en" sz="1100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800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ec41eaf0d4_3_0"/>
          <p:cNvSpPr txBox="1"/>
          <p:nvPr>
            <p:ph type="title"/>
          </p:nvPr>
        </p:nvSpPr>
        <p:spPr>
          <a:xfrm>
            <a:off x="265850" y="77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12" name="Google Shape;612;g3ec41eaf0d4_3_0"/>
          <p:cNvSpPr txBox="1"/>
          <p:nvPr>
            <p:ph idx="1" type="body"/>
          </p:nvPr>
        </p:nvSpPr>
        <p:spPr>
          <a:xfrm>
            <a:off x="311700" y="543750"/>
            <a:ext cx="8520600" cy="4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Code:</a:t>
            </a:r>
            <a:endParaRPr b="1"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int i, j;                      </a:t>
            </a:r>
            <a:b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Assume,</a:t>
            </a: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A[] is an array and has n=100 integer elements               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if (condition) {                // Suppose condition is true in some cases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(i = 0; i &lt; n; i++) {   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a[i] = i + 2;           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else {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(i = 0; i &lt; n; i++) {       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for (j = 0; j &lt; n; j++) {  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a[i] = a[j] + 1;        </a:t>
            </a: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13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523"/>
              <a:buNone/>
            </a:pPr>
            <a: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br>
              <a:rPr lang="en" sz="13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1" sz="13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3" name="Google Shape;613;g3ec41eaf0d4_3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" name="Google Shape;614;g3ec41eaf0d4_3_0"/>
          <p:cNvSpPr txBox="1"/>
          <p:nvPr/>
        </p:nvSpPr>
        <p:spPr>
          <a:xfrm>
            <a:off x="4274675" y="2383825"/>
            <a:ext cx="4557600" cy="15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FF"/>
                </a:solidFill>
              </a:rPr>
              <a:t>Without considering the array declaration part,</a:t>
            </a:r>
            <a:b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complexity: O(1) </a:t>
            </a:r>
            <a:b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[No extra space is used apart from loop variables.]</a:t>
            </a:r>
            <a:b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400" u="none" cap="none" strike="noStrike">
                <a:solidFill>
                  <a:srgbClr val="0000FF"/>
                </a:solidFill>
              </a:rPr>
              <a:t>Considering  the array declaration part,</a:t>
            </a:r>
            <a:b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complexity: O(n)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f0b26c94ba_0_23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Example17 [Optional, skip if you want]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20" name="Google Shape;620;g3f0b26c94ba_0_23"/>
          <p:cNvSpPr txBox="1"/>
          <p:nvPr>
            <p:ph idx="1" type="body"/>
          </p:nvPr>
        </p:nvSpPr>
        <p:spPr>
          <a:xfrm>
            <a:off x="311700" y="825175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Code:</a:t>
            </a:r>
            <a:endParaRPr sz="28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int i, j, k = 0, n=100; </a:t>
            </a:r>
            <a:b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for (i = 1; i &lt;= n; i = i * 2)</a:t>
            </a: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{ </a:t>
            </a:r>
            <a:b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(j = 1; j &lt;= i; j = j + 1) { 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k ++; 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b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Time complexity: </a:t>
            </a:r>
            <a:r>
              <a:rPr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??????</a:t>
            </a:r>
            <a:endParaRPr b="1" sz="16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1" name="Google Shape;621;g3f0b26c94ba_0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f0b26c94ba_0_46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Example17 [Optional, skip if you want]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27" name="Google Shape;627;g3f0b26c94ba_0_46"/>
          <p:cNvSpPr txBox="1"/>
          <p:nvPr>
            <p:ph idx="1" type="body"/>
          </p:nvPr>
        </p:nvSpPr>
        <p:spPr>
          <a:xfrm>
            <a:off x="311700" y="825175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Code:</a:t>
            </a:r>
            <a:endParaRPr sz="28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int i, j, k = 0, n=100;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O(1)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for (i = 1; i &lt;= n; i = i * 2) {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// i = 1, 2, 4, 8, 16, 32, 64    //</a:t>
            </a:r>
            <a:r>
              <a:rPr b="1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O(log</a:t>
            </a:r>
            <a:r>
              <a:rPr b="1" baseline="-25000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b="1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n)</a:t>
            </a:r>
            <a:br>
              <a:rPr b="1"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(j = 1; j &lt;= i; j = j + 1) {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// O(n) = putting the last value of i (64) which is close to n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k ++;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O(1)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b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Time complexity: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O(1) + </a:t>
            </a:r>
            <a:r>
              <a:rPr b="1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O(log</a:t>
            </a:r>
            <a:r>
              <a:rPr b="1" baseline="-25000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b="1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n)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O(n) </a:t>
            </a:r>
            <a:r>
              <a:rPr b="1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O(1)</a:t>
            </a:r>
            <a:r>
              <a:rPr b="1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= O(nlog</a:t>
            </a:r>
            <a:r>
              <a:rPr b="1" baseline="-25000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b="1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n)  </a:t>
            </a:r>
            <a:r>
              <a:rPr b="1" lang="en" sz="16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?????</a:t>
            </a:r>
            <a:endParaRPr b="1" sz="1600">
              <a:solidFill>
                <a:srgbClr val="99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8" name="Google Shape;628;g3f0b26c94ba_0_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g3f0b26c94ba_0_46"/>
          <p:cNvSpPr txBox="1"/>
          <p:nvPr/>
        </p:nvSpPr>
        <p:spPr>
          <a:xfrm>
            <a:off x="2276675" y="2780975"/>
            <a:ext cx="61302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But, h</a:t>
            </a:r>
            <a:r>
              <a:rPr b="1" lang="en" sz="19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ow many times inner loop is actually running?</a:t>
            </a:r>
            <a:br>
              <a:rPr b="1" lang="en" sz="19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" sz="19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Is it really O(n)?</a:t>
            </a:r>
            <a:endParaRPr sz="22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f0b26c94ba_0_29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Example17 [Optional, skip if you want]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35" name="Google Shape;635;g3f0b26c94ba_0_29"/>
          <p:cNvSpPr txBox="1"/>
          <p:nvPr>
            <p:ph idx="1" type="body"/>
          </p:nvPr>
        </p:nvSpPr>
        <p:spPr>
          <a:xfrm>
            <a:off x="311700" y="825175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Code:</a:t>
            </a:r>
            <a:endParaRPr sz="28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int i, j, k = 0, n=100;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O(1)    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for (i = 1; i &lt;= n; i = i * 2) { </a:t>
            </a:r>
            <a:r>
              <a:rPr b="1" lang="en" sz="15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// i = 1, 2, 4, 8, 16, 32, 64    //</a:t>
            </a:r>
            <a:r>
              <a:rPr b="1" lang="en" sz="16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O(log</a:t>
            </a:r>
            <a:r>
              <a:rPr b="1" baseline="-25000" lang="en" sz="16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b="1" lang="en" sz="16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n) = 7 times</a:t>
            </a:r>
            <a:br>
              <a:rPr b="1" lang="en" sz="16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(j = 1; j &lt;= i; j = j + 1) {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//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1 + 2 + 4 + 8 + 16 + 32 + 64 = 127 times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k ++;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O(1)   </a:t>
            </a:r>
            <a:b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b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Time complexity: </a:t>
            </a:r>
            <a:r>
              <a:rPr b="1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O(n)</a:t>
            </a:r>
            <a:endParaRPr b="1" sz="16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6" name="Google Shape;636;g3f0b26c94ba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g3f0b26c94ba_0_29"/>
          <p:cNvSpPr txBox="1"/>
          <p:nvPr/>
        </p:nvSpPr>
        <p:spPr>
          <a:xfrm>
            <a:off x="2093950" y="2698750"/>
            <a:ext cx="602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// total execution time for k++ is (1 + 2 + 4 + 8 + 16 + 32 + 64) =127 ≈(close to) 100 (n)</a:t>
            </a:r>
            <a:b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" sz="13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Hence, the total time needed is close to n, not n log n.</a:t>
            </a:r>
            <a:endParaRPr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f0b26c94ba_0_53"/>
          <p:cNvSpPr txBox="1"/>
          <p:nvPr>
            <p:ph type="title"/>
          </p:nvPr>
        </p:nvSpPr>
        <p:spPr>
          <a:xfrm>
            <a:off x="265850" y="2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Example17 [Optional, skip if you want]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43" name="Google Shape;643;g3f0b26c94ba_0_53"/>
          <p:cNvSpPr txBox="1"/>
          <p:nvPr>
            <p:ph idx="1" type="body"/>
          </p:nvPr>
        </p:nvSpPr>
        <p:spPr>
          <a:xfrm>
            <a:off x="311700" y="825175"/>
            <a:ext cx="85206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Code:</a:t>
            </a:r>
            <a:endParaRPr sz="28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int i, j, k = 0, n=100;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O(1)    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for (i = 1; i &lt;= n; i = i * 2) { </a:t>
            </a:r>
            <a:r>
              <a:rPr b="1" lang="en" sz="15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// i = 1, 2, 4, 8, 16, 32, 64    //</a:t>
            </a:r>
            <a:r>
              <a:rPr b="1" lang="en" sz="16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O(log</a:t>
            </a:r>
            <a:r>
              <a:rPr b="1" baseline="-25000" lang="en" sz="16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b="1" lang="en" sz="16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n) = 7 times</a:t>
            </a:r>
            <a:b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(j = 1; j &lt;= i; j = j + 1) { </a:t>
            </a:r>
            <a:endParaRPr b="1" sz="145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k ++;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b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1600">
              <a:solidFill>
                <a:srgbClr val="33339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b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rgbClr val="333399"/>
                </a:solidFill>
                <a:latin typeface="Trebuchet MS"/>
                <a:ea typeface="Trebuchet MS"/>
                <a:cs typeface="Trebuchet MS"/>
                <a:sym typeface="Trebuchet MS"/>
              </a:rPr>
              <a:t>Time complexity: </a:t>
            </a:r>
            <a:r>
              <a:rPr b="1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O(n) [Correct answer]</a:t>
            </a:r>
            <a:endParaRPr b="1" sz="16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4" name="Google Shape;644;g3f0b26c94ba_0_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g3f0b26c94ba_0_53"/>
          <p:cNvSpPr txBox="1"/>
          <p:nvPr/>
        </p:nvSpPr>
        <p:spPr>
          <a:xfrm>
            <a:off x="3068700" y="2261100"/>
            <a:ext cx="60753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// 1 + 2 + 4 + 8 + 16 + 32 + 64 = 127 times</a:t>
            </a:r>
            <a:endParaRPr b="1" sz="15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= 2</a:t>
            </a:r>
            <a:r>
              <a:rPr b="1" baseline="30000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+  2</a:t>
            </a:r>
            <a:r>
              <a:rPr b="1" baseline="30000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+ 2</a:t>
            </a:r>
            <a:r>
              <a:rPr b="1" baseline="30000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+  2</a:t>
            </a:r>
            <a:r>
              <a:rPr b="1" baseline="30000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+ 2</a:t>
            </a:r>
            <a:r>
              <a:rPr b="1" baseline="30000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+  2</a:t>
            </a:r>
            <a:r>
              <a:rPr b="1" baseline="30000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+ 2</a:t>
            </a:r>
            <a:r>
              <a:rPr b="1" baseline="30000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+......2</a:t>
            </a:r>
            <a:r>
              <a:rPr b="1" baseline="30000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n    </a:t>
            </a:r>
            <a:r>
              <a:rPr b="1" lang="en" sz="145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(Geometric series)</a:t>
            </a:r>
            <a: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                                            = 2n - 1</a:t>
            </a:r>
            <a:b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= O (2n - 1) </a:t>
            </a:r>
            <a:b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" sz="145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= O (n)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Practical Use of Asymptotic Complexity</a:t>
            </a:r>
            <a:endParaRPr/>
          </a:p>
        </p:txBody>
      </p:sp>
      <p:sp>
        <p:nvSpPr>
          <p:cNvPr id="651" name="Google Shape;651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Ignoring Constants: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Asymptotic complexity ignores </a:t>
            </a:r>
            <a:r>
              <a:rPr b="1" lang="en" sz="1600" u="sng">
                <a:solidFill>
                  <a:schemeClr val="dk1"/>
                </a:solidFill>
              </a:rPr>
              <a:t>constant</a:t>
            </a:r>
            <a:r>
              <a:rPr lang="en" sz="1600">
                <a:solidFill>
                  <a:schemeClr val="dk1"/>
                </a:solidFill>
              </a:rPr>
              <a:t> multipliers and additive factors.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However, constant coefficients of </a:t>
            </a:r>
            <a:r>
              <a:rPr lang="en" sz="1600" u="sng">
                <a:solidFill>
                  <a:schemeClr val="dk1"/>
                </a:solidFill>
              </a:rPr>
              <a:t>different powers of </a:t>
            </a:r>
            <a:r>
              <a:rPr b="1" lang="en" sz="1600" u="sng">
                <a:solidFill>
                  <a:schemeClr val="dk1"/>
                </a:solidFill>
              </a:rPr>
              <a:t>N</a:t>
            </a:r>
            <a:r>
              <a:rPr lang="en" sz="1600" u="sng">
                <a:solidFill>
                  <a:schemeClr val="dk1"/>
                </a:solidFill>
              </a:rPr>
              <a:t> may matter</a:t>
            </a:r>
            <a:r>
              <a:rPr lang="en" sz="1600">
                <a:solidFill>
                  <a:schemeClr val="dk1"/>
                </a:solidFill>
              </a:rPr>
              <a:t> in real-world applications.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Estimating Resource Requirements</a:t>
            </a:r>
            <a:endParaRPr b="1" sz="1600">
              <a:solidFill>
                <a:schemeClr val="dk1"/>
              </a:solidFill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Used to estimate the </a:t>
            </a:r>
            <a:r>
              <a:rPr b="1" lang="en" sz="1600" u="sng">
                <a:solidFill>
                  <a:schemeClr val="dk1"/>
                </a:solidFill>
              </a:rPr>
              <a:t>time</a:t>
            </a:r>
            <a:r>
              <a:rPr lang="en" sz="1600" u="sng">
                <a:solidFill>
                  <a:schemeClr val="dk1"/>
                </a:solidFill>
              </a:rPr>
              <a:t> and </a:t>
            </a:r>
            <a:r>
              <a:rPr b="1" lang="en" sz="1600" u="sng">
                <a:solidFill>
                  <a:schemeClr val="dk1"/>
                </a:solidFill>
              </a:rPr>
              <a:t>space</a:t>
            </a:r>
            <a:r>
              <a:rPr lang="en" sz="1600" u="sng">
                <a:solidFill>
                  <a:schemeClr val="dk1"/>
                </a:solidFill>
              </a:rPr>
              <a:t> costs</a:t>
            </a:r>
            <a:r>
              <a:rPr lang="en" sz="1600">
                <a:solidFill>
                  <a:schemeClr val="dk1"/>
                </a:solidFill>
              </a:rPr>
              <a:t> of a program for </a:t>
            </a:r>
            <a:r>
              <a:rPr b="1" lang="en" sz="1600">
                <a:solidFill>
                  <a:schemeClr val="dk1"/>
                </a:solidFill>
              </a:rPr>
              <a:t>large input sizes.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Helps in selecting the </a:t>
            </a:r>
            <a:r>
              <a:rPr b="1" lang="en" sz="1600">
                <a:solidFill>
                  <a:schemeClr val="dk1"/>
                </a:solidFill>
              </a:rPr>
              <a:t>most efficient implementation.</a:t>
            </a:r>
            <a:endParaRPr b="1" sz="1600"/>
          </a:p>
        </p:txBody>
      </p:sp>
      <p:sp>
        <p:nvSpPr>
          <p:cNvPr id="652" name="Google Shape;65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3"/>
          <p:cNvSpPr txBox="1"/>
          <p:nvPr>
            <p:ph type="title"/>
          </p:nvPr>
        </p:nvSpPr>
        <p:spPr>
          <a:xfrm>
            <a:off x="311700" y="261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Practical Use of Asymptotic Complexity (Example)</a:t>
            </a:r>
            <a:endParaRPr/>
          </a:p>
        </p:txBody>
      </p:sp>
      <p:sp>
        <p:nvSpPr>
          <p:cNvPr id="658" name="Google Shape;658;p63"/>
          <p:cNvSpPr txBox="1"/>
          <p:nvPr>
            <p:ph idx="1" type="body"/>
          </p:nvPr>
        </p:nvSpPr>
        <p:spPr>
          <a:xfrm>
            <a:off x="-187550" y="780700"/>
            <a:ext cx="9331500" cy="4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Example: Space Complexity Limitation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Two implementations have </a:t>
            </a:r>
            <a:r>
              <a:rPr b="1" lang="en" sz="1500">
                <a:solidFill>
                  <a:schemeClr val="dk1"/>
                </a:solidFill>
              </a:rPr>
              <a:t>C₁ * n log₂n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b="1" lang="en" sz="1500">
                <a:solidFill>
                  <a:schemeClr val="dk1"/>
                </a:solidFill>
              </a:rPr>
              <a:t>C₂ * n log₂n</a:t>
            </a:r>
            <a:r>
              <a:rPr lang="en" sz="1500">
                <a:solidFill>
                  <a:schemeClr val="dk1"/>
                </a:solidFill>
              </a:rPr>
              <a:t>  </a:t>
            </a:r>
            <a:r>
              <a:rPr lang="en" sz="1500" u="sng">
                <a:solidFill>
                  <a:srgbClr val="0000FF"/>
                </a:solidFill>
              </a:rPr>
              <a:t>same time complexity</a:t>
            </a:r>
            <a:r>
              <a:rPr lang="en" sz="1500">
                <a:solidFill>
                  <a:schemeClr val="dk1"/>
                </a:solidFill>
              </a:rPr>
              <a:t> (</a:t>
            </a:r>
            <a:r>
              <a:rPr b="1" lang="en" sz="1500">
                <a:solidFill>
                  <a:srgbClr val="0000FF"/>
                </a:solidFill>
              </a:rPr>
              <a:t>Same</a:t>
            </a:r>
            <a:r>
              <a:rPr lang="en" sz="1500">
                <a:solidFill>
                  <a:schemeClr val="dk1"/>
                </a:solidFill>
              </a:rPr>
              <a:t>).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Assume: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RAM size</a:t>
            </a:r>
            <a:r>
              <a:rPr lang="en" sz="1500">
                <a:solidFill>
                  <a:schemeClr val="dk1"/>
                </a:solidFill>
              </a:rPr>
              <a:t> = 32GB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Understanding the Input Size:</a:t>
            </a:r>
            <a:endParaRPr b="1" sz="1500">
              <a:solidFill>
                <a:schemeClr val="dk1"/>
              </a:solidFill>
            </a:endParaRPr>
          </a:p>
          <a:p>
            <a:pPr indent="-3238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maximum input size is </a:t>
            </a:r>
            <a:r>
              <a:rPr b="1" lang="en" sz="1500">
                <a:solidFill>
                  <a:schemeClr val="dk1"/>
                </a:solidFill>
              </a:rPr>
              <a:t>512M = 2²⁹</a:t>
            </a:r>
            <a:r>
              <a:rPr lang="en" sz="1500">
                <a:solidFill>
                  <a:schemeClr val="dk1"/>
                </a:solidFill>
              </a:rPr>
              <a:t> entries.</a:t>
            </a:r>
            <a:endParaRPr sz="1500">
              <a:solidFill>
                <a:schemeClr val="dk1"/>
              </a:solidFill>
            </a:endParaRPr>
          </a:p>
          <a:p>
            <a:pPr indent="-3238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entry is </a:t>
            </a:r>
            <a:r>
              <a:rPr b="1" lang="en" sz="1500">
                <a:solidFill>
                  <a:schemeClr val="dk1"/>
                </a:solidFill>
              </a:rPr>
              <a:t>1 byte</a:t>
            </a:r>
            <a:r>
              <a:rPr lang="en" sz="1500">
                <a:solidFill>
                  <a:schemeClr val="dk1"/>
                </a:solidFill>
              </a:rPr>
              <a:t>, so storing all entries would take </a:t>
            </a:r>
            <a:r>
              <a:rPr b="1" lang="en" sz="1500">
                <a:solidFill>
                  <a:schemeClr val="dk1"/>
                </a:solidFill>
              </a:rPr>
              <a:t>2²⁹ bytes (≈ 512MB)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Computing Memory Requirement for Processing:</a:t>
            </a:r>
            <a:endParaRPr b="1" sz="1500">
              <a:solidFill>
                <a:schemeClr val="dk1"/>
              </a:solidFill>
            </a:endParaRPr>
          </a:p>
          <a:p>
            <a:pPr indent="-3238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time complexity given is </a:t>
            </a:r>
            <a:r>
              <a:rPr b="1" lang="en" sz="1500">
                <a:solidFill>
                  <a:schemeClr val="dk1"/>
                </a:solidFill>
              </a:rPr>
              <a:t>n log₂n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For </a:t>
            </a:r>
            <a:r>
              <a:rPr b="1" lang="en" sz="1500">
                <a:solidFill>
                  <a:schemeClr val="dk1"/>
                </a:solidFill>
              </a:rPr>
              <a:t>n = 2²⁹</a:t>
            </a:r>
            <a:r>
              <a:rPr lang="en" sz="1500">
                <a:solidFill>
                  <a:schemeClr val="dk1"/>
                </a:solidFill>
              </a:rPr>
              <a:t>, we compute: n</a:t>
            </a:r>
            <a:r>
              <a:rPr b="1" lang="en" sz="1500">
                <a:solidFill>
                  <a:srgbClr val="0000FF"/>
                </a:solidFill>
              </a:rPr>
              <a:t>log⁡</a:t>
            </a:r>
            <a:r>
              <a:rPr b="1" baseline="-25000" lang="en" sz="1500">
                <a:solidFill>
                  <a:srgbClr val="0000FF"/>
                </a:solidFill>
              </a:rPr>
              <a:t>2</a:t>
            </a:r>
            <a:r>
              <a:rPr b="1" lang="en" sz="1500">
                <a:solidFill>
                  <a:srgbClr val="0000FF"/>
                </a:solidFill>
              </a:rPr>
              <a:t>n</a:t>
            </a:r>
            <a:r>
              <a:rPr lang="en" sz="1500">
                <a:solidFill>
                  <a:schemeClr val="dk1"/>
                </a:solidFill>
              </a:rPr>
              <a:t>=  (2^29)×(</a:t>
            </a:r>
            <a:r>
              <a:rPr b="1" lang="en" sz="1500">
                <a:solidFill>
                  <a:srgbClr val="0000FF"/>
                </a:solidFill>
              </a:rPr>
              <a:t>30)</a:t>
            </a:r>
            <a:endParaRPr b="1" sz="1500">
              <a:solidFill>
                <a:srgbClr val="0000FF"/>
              </a:solidFill>
            </a:endParaRPr>
          </a:p>
          <a:p>
            <a:pPr indent="-32385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Here, </a:t>
            </a:r>
            <a:r>
              <a:rPr b="1" lang="en" sz="1500">
                <a:solidFill>
                  <a:schemeClr val="dk1"/>
                </a:solidFill>
              </a:rPr>
              <a:t>log₂(2²⁹) = 29</a:t>
            </a:r>
            <a:r>
              <a:rPr lang="en" sz="1500">
                <a:solidFill>
                  <a:schemeClr val="dk1"/>
                </a:solidFill>
              </a:rPr>
              <a:t>, so we assume an additional small factor (≈ 30) for overhead.</a:t>
            </a:r>
            <a:endParaRPr sz="1500">
              <a:solidFill>
                <a:schemeClr val="dk1"/>
              </a:solidFill>
            </a:endParaRPr>
          </a:p>
          <a:p>
            <a:pPr indent="-3238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Approximate: 2²⁹</a:t>
            </a:r>
            <a:r>
              <a:rPr lang="en" sz="1500">
                <a:solidFill>
                  <a:schemeClr val="dk1"/>
                </a:solidFill>
              </a:rPr>
              <a:t>×30  ≈ </a:t>
            </a:r>
            <a:r>
              <a:rPr b="1" lang="en" sz="1500">
                <a:solidFill>
                  <a:schemeClr val="dk1"/>
                </a:solidFill>
              </a:rPr>
              <a:t>2²⁹</a:t>
            </a:r>
            <a:r>
              <a:rPr lang="en" sz="1500">
                <a:solidFill>
                  <a:schemeClr val="dk1"/>
                </a:solidFill>
              </a:rPr>
              <a:t>×2x15  ≈  </a:t>
            </a:r>
            <a:r>
              <a:rPr b="1" lang="en" sz="1500">
                <a:solidFill>
                  <a:schemeClr val="dk1"/>
                </a:solidFill>
              </a:rPr>
              <a:t>2</a:t>
            </a:r>
            <a:r>
              <a:rPr b="1" baseline="30000" lang="en" sz="1500">
                <a:solidFill>
                  <a:schemeClr val="dk1"/>
                </a:solidFill>
              </a:rPr>
              <a:t>30</a:t>
            </a:r>
            <a:r>
              <a:rPr lang="en" sz="1500">
                <a:solidFill>
                  <a:schemeClr val="dk1"/>
                </a:solidFill>
              </a:rPr>
              <a:t>×15</a:t>
            </a:r>
            <a:endParaRPr sz="1500">
              <a:solidFill>
                <a:schemeClr val="dk1"/>
              </a:solidFill>
            </a:endParaRPr>
          </a:p>
          <a:p>
            <a:pPr indent="-3238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Since </a:t>
            </a:r>
            <a:r>
              <a:rPr b="1" lang="en" sz="1500">
                <a:solidFill>
                  <a:schemeClr val="dk1"/>
                </a:solidFill>
              </a:rPr>
              <a:t>2</a:t>
            </a:r>
            <a:r>
              <a:rPr b="1" baseline="30000" lang="en" sz="1500">
                <a:solidFill>
                  <a:schemeClr val="dk1"/>
                </a:solidFill>
              </a:rPr>
              <a:t>30</a:t>
            </a:r>
            <a:r>
              <a:rPr lang="en" sz="1500">
                <a:solidFill>
                  <a:schemeClr val="dk1"/>
                </a:solidFill>
              </a:rPr>
              <a:t> bytes = 1GB, Memory requirement is 15GB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59" name="Google Shape;659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4"/>
          <p:cNvSpPr txBox="1"/>
          <p:nvPr>
            <p:ph type="title"/>
          </p:nvPr>
        </p:nvSpPr>
        <p:spPr>
          <a:xfrm>
            <a:off x="311700" y="261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Practical Use of Asymptotic Complexity (Example)</a:t>
            </a:r>
            <a:endParaRPr/>
          </a:p>
        </p:txBody>
      </p:sp>
      <p:sp>
        <p:nvSpPr>
          <p:cNvPr id="665" name="Google Shape;665;p64"/>
          <p:cNvSpPr txBox="1"/>
          <p:nvPr>
            <p:ph idx="1" type="body"/>
          </p:nvPr>
        </p:nvSpPr>
        <p:spPr>
          <a:xfrm>
            <a:off x="0" y="907700"/>
            <a:ext cx="894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Example: Space Complexity Limitation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Two implementations have </a:t>
            </a:r>
            <a:r>
              <a:rPr b="1" lang="en" sz="1500">
                <a:solidFill>
                  <a:srgbClr val="0000FF"/>
                </a:solidFill>
              </a:rPr>
              <a:t>C₁ * n log₂n</a:t>
            </a:r>
            <a:r>
              <a:rPr lang="en" sz="1500">
                <a:solidFill>
                  <a:srgbClr val="0000FF"/>
                </a:solidFill>
              </a:rPr>
              <a:t> and </a:t>
            </a:r>
            <a:r>
              <a:rPr b="1" lang="en" sz="1500">
                <a:solidFill>
                  <a:srgbClr val="0000FF"/>
                </a:solidFill>
              </a:rPr>
              <a:t>C₂ * n log₂n</a:t>
            </a:r>
            <a:r>
              <a:rPr lang="en" sz="1500">
                <a:solidFill>
                  <a:srgbClr val="0000FF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time complexity (</a:t>
            </a:r>
            <a:r>
              <a:rPr b="1" lang="en" sz="1500">
                <a:solidFill>
                  <a:srgbClr val="0000FF"/>
                </a:solidFill>
              </a:rPr>
              <a:t>Same</a:t>
            </a:r>
            <a:r>
              <a:rPr lang="en" sz="1500">
                <a:solidFill>
                  <a:schemeClr val="dk1"/>
                </a:solidFill>
              </a:rPr>
              <a:t>).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Assume: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RAM size</a:t>
            </a:r>
            <a:r>
              <a:rPr lang="en" sz="1500">
                <a:solidFill>
                  <a:schemeClr val="dk1"/>
                </a:solidFill>
              </a:rPr>
              <a:t> = 32GB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Max input size</a:t>
            </a:r>
            <a:r>
              <a:rPr lang="en" sz="1500">
                <a:solidFill>
                  <a:schemeClr val="dk1"/>
                </a:solidFill>
              </a:rPr>
              <a:t> = 512M (≈ </a:t>
            </a:r>
            <a:r>
              <a:rPr b="1" lang="en" sz="1500">
                <a:solidFill>
                  <a:schemeClr val="dk1"/>
                </a:solidFill>
              </a:rPr>
              <a:t>2²⁹</a:t>
            </a:r>
            <a:r>
              <a:rPr lang="en" sz="1500">
                <a:solidFill>
                  <a:schemeClr val="dk1"/>
                </a:solidFill>
              </a:rPr>
              <a:t>) entries of 1 byte each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n log₂n</a:t>
            </a:r>
            <a:r>
              <a:rPr lang="en" sz="1500">
                <a:solidFill>
                  <a:schemeClr val="dk1"/>
                </a:solidFill>
              </a:rPr>
              <a:t> = </a:t>
            </a:r>
            <a:r>
              <a:rPr b="1" lang="en" sz="1500">
                <a:solidFill>
                  <a:schemeClr val="dk1"/>
                </a:solidFill>
              </a:rPr>
              <a:t>2²⁹ * 30</a:t>
            </a:r>
            <a:r>
              <a:rPr lang="en" sz="1500">
                <a:solidFill>
                  <a:schemeClr val="dk1"/>
                </a:solidFill>
              </a:rPr>
              <a:t> ≈ 15GB [Memory requirement]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Impact of Constants (C₁ and C₂):</a:t>
            </a:r>
            <a:endParaRPr b="1" sz="1500">
              <a:solidFill>
                <a:schemeClr val="dk1"/>
              </a:solidFill>
            </a:endParaRPr>
          </a:p>
          <a:p>
            <a:pPr indent="-32385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</a:t>
            </a:r>
            <a:r>
              <a:rPr b="1" lang="en" sz="1500">
                <a:solidFill>
                  <a:schemeClr val="dk1"/>
                </a:solidFill>
              </a:rPr>
              <a:t>C₁ = 2</a:t>
            </a:r>
            <a:r>
              <a:rPr lang="en" sz="1500">
                <a:solidFill>
                  <a:schemeClr val="dk1"/>
                </a:solidFill>
              </a:rPr>
              <a:t>, the required space is = 2×15 GB=</a:t>
            </a:r>
            <a:r>
              <a:rPr b="1" lang="en" sz="1500">
                <a:solidFill>
                  <a:schemeClr val="dk1"/>
                </a:solidFill>
              </a:rPr>
              <a:t>30 GB </a:t>
            </a:r>
            <a:endParaRPr b="1" sz="1500">
              <a:solidFill>
                <a:schemeClr val="dk1"/>
              </a:solidFill>
            </a:endParaRPr>
          </a:p>
          <a:p>
            <a:pPr indent="-323850" lvl="1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This </a:t>
            </a:r>
            <a:r>
              <a:rPr b="1" lang="en" sz="1500">
                <a:solidFill>
                  <a:schemeClr val="dk1"/>
                </a:solidFill>
              </a:rPr>
              <a:t>fits within</a:t>
            </a:r>
            <a:r>
              <a:rPr lang="en" sz="1500">
                <a:solidFill>
                  <a:schemeClr val="dk1"/>
                </a:solidFill>
              </a:rPr>
              <a:t> the available 32GB RAM</a:t>
            </a:r>
            <a:endParaRPr sz="1500">
              <a:solidFill>
                <a:schemeClr val="dk1"/>
              </a:solidFill>
            </a:endParaRPr>
          </a:p>
          <a:p>
            <a:pPr indent="-32385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</a:t>
            </a:r>
            <a:r>
              <a:rPr b="1" lang="en" sz="1500">
                <a:solidFill>
                  <a:schemeClr val="dk1"/>
                </a:solidFill>
              </a:rPr>
              <a:t>C₂ = 3</a:t>
            </a:r>
            <a:r>
              <a:rPr lang="en" sz="1500">
                <a:solidFill>
                  <a:schemeClr val="dk1"/>
                </a:solidFill>
              </a:rPr>
              <a:t>, the required space is = 3×15GB=</a:t>
            </a:r>
            <a:r>
              <a:rPr b="1" lang="en" sz="1500">
                <a:solidFill>
                  <a:schemeClr val="dk1"/>
                </a:solidFill>
              </a:rPr>
              <a:t>45 GB</a:t>
            </a:r>
            <a:endParaRPr b="1" sz="1500">
              <a:solidFill>
                <a:schemeClr val="dk1"/>
              </a:solidFill>
            </a:endParaRPr>
          </a:p>
          <a:p>
            <a:pPr indent="-323850" lvl="1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This </a:t>
            </a:r>
            <a:r>
              <a:rPr b="1" lang="en" sz="1500">
                <a:solidFill>
                  <a:schemeClr val="dk1"/>
                </a:solidFill>
              </a:rPr>
              <a:t>exceeds</a:t>
            </a:r>
            <a:r>
              <a:rPr lang="en" sz="1500">
                <a:solidFill>
                  <a:schemeClr val="dk1"/>
                </a:solidFill>
              </a:rPr>
              <a:t> the available 32GB RAM, making execution </a:t>
            </a:r>
            <a:r>
              <a:rPr b="1" lang="en" sz="1500">
                <a:solidFill>
                  <a:schemeClr val="dk1"/>
                </a:solidFill>
              </a:rPr>
              <a:t>impossible</a:t>
            </a:r>
            <a:br>
              <a:rPr b="1" lang="en" sz="1500">
                <a:solidFill>
                  <a:schemeClr val="dk1"/>
                </a:solidFill>
              </a:rPr>
            </a:br>
            <a:br>
              <a:rPr b="1" lang="en" sz="1500">
                <a:solidFill>
                  <a:schemeClr val="dk1"/>
                </a:solidFill>
              </a:rPr>
            </a:br>
            <a:r>
              <a:rPr b="1" lang="en" sz="1500">
                <a:solidFill>
                  <a:srgbClr val="0000FF"/>
                </a:solidFill>
              </a:rPr>
              <a:t>First implementation is the only viable option.</a:t>
            </a:r>
            <a:endParaRPr b="1" sz="15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66" name="Google Shape;66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5"/>
          <p:cNvSpPr txBox="1"/>
          <p:nvPr>
            <p:ph type="title"/>
          </p:nvPr>
        </p:nvSpPr>
        <p:spPr>
          <a:xfrm>
            <a:off x="311700" y="261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Practical Use of Asymptotic Complexity</a:t>
            </a:r>
            <a:endParaRPr/>
          </a:p>
        </p:txBody>
      </p:sp>
      <p:sp>
        <p:nvSpPr>
          <p:cNvPr id="672" name="Google Shape;672;p65"/>
          <p:cNvSpPr txBox="1"/>
          <p:nvPr>
            <p:ph idx="1" type="body"/>
          </p:nvPr>
        </p:nvSpPr>
        <p:spPr>
          <a:xfrm>
            <a:off x="0" y="556975"/>
            <a:ext cx="894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Time vs. Space Tradeoff</a:t>
            </a:r>
            <a:br>
              <a:rPr b="1"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Optimization dilemma: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b="1" lang="en" sz="1600">
                <a:solidFill>
                  <a:schemeClr val="dk1"/>
                </a:solidFill>
              </a:rPr>
              <a:t>Improving time efficiency</a:t>
            </a:r>
            <a:r>
              <a:rPr lang="en" sz="1600">
                <a:solidFill>
                  <a:schemeClr val="dk1"/>
                </a:solidFill>
              </a:rPr>
              <a:t> may require extra memory to store additional data and speed up access.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b="1" lang="en" sz="1600">
                <a:solidFill>
                  <a:schemeClr val="dk1"/>
                </a:solidFill>
              </a:rPr>
              <a:t>Improving space efficiency</a:t>
            </a:r>
            <a:r>
              <a:rPr lang="en" sz="1600">
                <a:solidFill>
                  <a:schemeClr val="dk1"/>
                </a:solidFill>
              </a:rPr>
              <a:t> may reduce memory usage but can make the algorithm slower </a:t>
            </a:r>
            <a:r>
              <a:rPr lang="en" sz="1600">
                <a:solidFill>
                  <a:schemeClr val="dk1"/>
                </a:solidFill>
              </a:rPr>
              <a:t>due to </a:t>
            </a:r>
            <a:r>
              <a:rPr lang="en" sz="1600" u="sng">
                <a:solidFill>
                  <a:schemeClr val="dk1"/>
                </a:solidFill>
              </a:rPr>
              <a:t>less efficient algorithms</a:t>
            </a:r>
            <a:r>
              <a:rPr lang="en" sz="1600">
                <a:solidFill>
                  <a:schemeClr val="dk1"/>
                </a:solidFill>
              </a:rPr>
              <a:t> or </a:t>
            </a:r>
            <a:r>
              <a:rPr lang="en" sz="1600" u="sng">
                <a:solidFill>
                  <a:schemeClr val="dk1"/>
                </a:solidFill>
              </a:rPr>
              <a:t>extra resource management steps.</a:t>
            </a:r>
            <a:endParaRPr sz="1600" u="sng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Real-world impact:</a:t>
            </a:r>
            <a:r>
              <a:rPr lang="en" sz="1600">
                <a:solidFill>
                  <a:schemeClr val="dk1"/>
                </a:solidFill>
              </a:rPr>
              <a:t> Some problems require balancing time and space efficiency </a:t>
            </a:r>
            <a:r>
              <a:rPr b="1" lang="en" sz="1600">
                <a:solidFill>
                  <a:srgbClr val="0000FF"/>
                </a:solidFill>
              </a:rPr>
              <a:t>based on </a:t>
            </a:r>
            <a:r>
              <a:rPr b="1" lang="en" sz="1600" u="sng">
                <a:solidFill>
                  <a:srgbClr val="0000FF"/>
                </a:solidFill>
              </a:rPr>
              <a:t>constraints.</a:t>
            </a:r>
            <a:endParaRPr b="1" sz="1600" u="sng">
              <a:solidFill>
                <a:srgbClr val="0000FF"/>
              </a:solidFill>
            </a:endParaRPr>
          </a:p>
        </p:txBody>
      </p:sp>
      <p:sp>
        <p:nvSpPr>
          <p:cNvPr id="673" name="Google Shape;673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9" name="Google Shape;679;p66"/>
          <p:cNvSpPr txBox="1"/>
          <p:nvPr/>
        </p:nvSpPr>
        <p:spPr>
          <a:xfrm>
            <a:off x="3701251" y="1914525"/>
            <a:ext cx="161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0" i="0" lang="en" sz="24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End</a:t>
            </a:r>
            <a:endParaRPr b="0" i="0" sz="245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