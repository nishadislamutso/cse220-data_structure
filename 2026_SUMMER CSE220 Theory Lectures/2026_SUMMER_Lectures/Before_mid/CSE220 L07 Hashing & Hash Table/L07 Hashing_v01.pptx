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70" roundtripDataSignature="AMtx7mh6TflQTPPsRYC6lcA7HtHkzE7a4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D94F819-1C7E-4F3F-9C7D-EC6BF9FAB339}">
  <a:tblStyle styleId="{DD94F819-1C7E-4F3F-9C7D-EC6BF9FAB33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39564256-AF69-4C5B-B919-4077E5C37268}" styleName="Table_1">
    <a:wholeTbl>
      <a:tcTxStyle>
        <a:font>
          <a:latin typeface="Arial"/>
          <a:ea typeface="Arial"/>
          <a:cs typeface="Arial"/>
        </a:font>
        <a:srgbClr val="000000"/>
      </a:tcTxStyle>
      <a:tcStyle>
        <a:tcBdr>
          <a:left>
            <a:ln cap="flat" cmpd="sng" w="6350">
              <a:solidFill>
                <a:srgbClr val="000000"/>
              </a:solidFill>
              <a:prstDash val="solid"/>
              <a:round/>
              <a:headEnd len="sm" w="sm" type="none"/>
              <a:tailEnd len="sm" w="sm" type="none"/>
            </a:ln>
          </a:left>
          <a:right>
            <a:ln cap="flat" cmpd="sng" w="6350">
              <a:solidFill>
                <a:srgbClr val="000000"/>
              </a:solidFill>
              <a:prstDash val="solid"/>
              <a:round/>
              <a:headEnd len="sm" w="sm" type="none"/>
              <a:tailEnd len="sm" w="sm" type="none"/>
            </a:ln>
          </a:right>
          <a:top>
            <a:ln cap="flat" cmpd="sng" w="6350">
              <a:solidFill>
                <a:srgbClr val="000000"/>
              </a:solidFill>
              <a:prstDash val="solid"/>
              <a:round/>
              <a:headEnd len="sm" w="sm" type="none"/>
              <a:tailEnd len="sm" w="sm" type="none"/>
            </a:ln>
          </a:top>
          <a:bottom>
            <a:ln cap="flat" cmpd="sng" w="6350">
              <a:solidFill>
                <a:srgbClr val="000000"/>
              </a:solidFill>
              <a:prstDash val="solid"/>
              <a:round/>
              <a:headEnd len="sm" w="sm" type="none"/>
              <a:tailEnd len="sm" w="sm" type="none"/>
            </a:ln>
          </a:bottom>
          <a:insideH>
            <a:ln cap="flat" cmpd="sng" w="6350">
              <a:solidFill>
                <a:srgbClr val="000000"/>
              </a:solidFill>
              <a:prstDash val="solid"/>
              <a:round/>
              <a:headEnd len="sm" w="sm" type="none"/>
              <a:tailEnd len="sm" w="sm" type="none"/>
            </a:ln>
          </a:insideH>
          <a:insideV>
            <a:ln cap="flat" cmpd="sng" w="635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0" Type="http://customschemas.google.com/relationships/presentationmetadata" Target="meta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93b0b83d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g3f93b0b83d1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f557c7bba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3f557c7bba2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f93ba2dd2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g3f93ba2dd27_0_10: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f93ba2dd2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g3f93ba2dd27_0_26: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f93ba2dd2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g3f93ba2dd27_0_39: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f93ba2dd2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g3f93ba2dd27_0_50: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f93ba2dd27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g3f93ba2dd27_0_151: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f93ba2dd27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g3f93ba2dd27_0_61: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f93b0b83d1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g3f93b0b83d1_2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f557c7bba2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g3f557c7bba2_0_1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f557c7bba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g3f557c7bba2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f557c7bba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g3f557c7bba2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f557c7bba2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g3f557c7bba2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f557c7bba2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3f557c7bba2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f93b0b83d1_2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g3f93b0b83d1_2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f557c7bba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g3f557c7bba2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f557c7bba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g3f557c7bba2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f557c7bba2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g3f557c7bba2_0_2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f70f9e471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g3f70f9e4716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f557c7bba2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g3f557c7bba2_0_2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f557c7bba2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g3f557c7bba2_0_1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f557c7bba2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g3f557c7bba2_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f557c7bba2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g3f557c7bba2_0_2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f557c7bba2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g3f557c7bba2_0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f557c7bba2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g3f557c7bba2_0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f557c7bba2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g3f557c7bba2_0_1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f557c7bba2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g3f557c7bba2_0_1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f557c7bba2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g3f557c7bba2_0_3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f557c7bba2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g3f557c7bba2_0_3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f557c7bba2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g3f557c7bba2_0_3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f557c7bba2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g3f557c7bba2_0_3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f557c7bba2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g3f557c7bba2_0_3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f557c7bba2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g3f557c7bba2_0_3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2"/>
          <p:cNvSpPr/>
          <p:nvPr>
            <p:ph idx="2" type="pic"/>
          </p:nvPr>
        </p:nvSpPr>
        <p:spPr>
          <a:xfrm>
            <a:off x="1792288" y="612775"/>
            <a:ext cx="5486400" cy="4114800"/>
          </a:xfrm>
          <a:prstGeom prst="rect">
            <a:avLst/>
          </a:prstGeom>
          <a:noFill/>
          <a:ln>
            <a:noFill/>
          </a:ln>
        </p:spPr>
      </p:sp>
      <p:sp>
        <p:nvSpPr>
          <p:cNvPr id="64" name="Google Shape;64;p4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2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1"/>
          <p:cNvSpPr/>
          <p:nvPr/>
        </p:nvSpPr>
        <p:spPr>
          <a:xfrm>
            <a:off x="0" y="0"/>
            <a:ext cx="274320" cy="68580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5" name="Google Shape;85;p1"/>
          <p:cNvSpPr txBox="1"/>
          <p:nvPr/>
        </p:nvSpPr>
        <p:spPr>
          <a:xfrm>
            <a:off x="4838015" y="2645735"/>
            <a:ext cx="32919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17365D"/>
                </a:solidFill>
                <a:latin typeface="Calibri"/>
                <a:ea typeface="Calibri"/>
                <a:cs typeface="Calibri"/>
                <a:sym typeface="Calibri"/>
              </a:rPr>
              <a:t>Lecture : </a:t>
            </a:r>
            <a:r>
              <a:rPr b="1" i="0" lang="en-US" sz="3400" u="none" cap="none" strike="noStrike">
                <a:solidFill>
                  <a:srgbClr val="17365D"/>
                </a:solidFill>
                <a:latin typeface="Calibri"/>
                <a:ea typeface="Calibri"/>
                <a:cs typeface="Calibri"/>
                <a:sym typeface="Calibri"/>
              </a:rPr>
              <a:t>Hashing</a:t>
            </a:r>
            <a:endParaRPr/>
          </a:p>
        </p:txBody>
      </p:sp>
      <p:sp>
        <p:nvSpPr>
          <p:cNvPr id="86" name="Google Shape;86;p1"/>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87" name="Google Shape;87;p1"/>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2"/>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 name="Google Shape;93;p2"/>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 name="Google Shape;94;p2"/>
          <p:cNvSpPr txBox="1"/>
          <p:nvPr/>
        </p:nvSpPr>
        <p:spPr>
          <a:xfrm>
            <a:off x="411480" y="256032"/>
            <a:ext cx="11155680" cy="530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Primary vs. Secondary Data Structures</a:t>
            </a:r>
            <a:endParaRPr/>
          </a:p>
        </p:txBody>
      </p:sp>
      <p:sp>
        <p:nvSpPr>
          <p:cNvPr id="95" name="Google Shape;95;p2"/>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6" name="Google Shape;96;p2"/>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97" name="Google Shape;97;p2"/>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a:t>
            </a:r>
            <a:endParaRPr/>
          </a:p>
        </p:txBody>
      </p:sp>
      <p:graphicFrame>
        <p:nvGraphicFramePr>
          <p:cNvPr id="98" name="Google Shape;98;p2"/>
          <p:cNvGraphicFramePr/>
          <p:nvPr/>
        </p:nvGraphicFramePr>
        <p:xfrm>
          <a:off x="497151" y="1977710"/>
          <a:ext cx="3000000" cy="3000000"/>
        </p:xfrm>
        <a:graphic>
          <a:graphicData uri="http://schemas.openxmlformats.org/drawingml/2006/table">
            <a:tbl>
              <a:tblPr bandRow="1" firstRow="1">
                <a:noFill/>
                <a:tableStyleId>{DD94F819-1C7E-4F3F-9C7D-EC6BF9FAB339}</a:tableStyleId>
              </a:tblPr>
              <a:tblGrid>
                <a:gridCol w="2041875"/>
                <a:gridCol w="6631625"/>
                <a:gridCol w="2015225"/>
              </a:tblGrid>
              <a:tr h="308900">
                <a:tc>
                  <a:txBody>
                    <a:bodyPr/>
                    <a:lstStyle/>
                    <a:p>
                      <a:pPr indent="0" lvl="0" marL="0" marR="0" rtl="0" algn="ctr">
                        <a:lnSpc>
                          <a:spcPct val="150000"/>
                        </a:lnSpc>
                        <a:spcBef>
                          <a:spcPts val="0"/>
                        </a:spcBef>
                        <a:spcAft>
                          <a:spcPts val="0"/>
                        </a:spcAft>
                        <a:buNone/>
                      </a:pPr>
                      <a:r>
                        <a:rPr lang="en-US" sz="1600" u="none" cap="none" strike="noStrike">
                          <a:latin typeface="Trebuchet MS"/>
                          <a:ea typeface="Trebuchet MS"/>
                          <a:cs typeface="Trebuchet MS"/>
                          <a:sym typeface="Trebuchet MS"/>
                        </a:rPr>
                        <a:t>Data Structures </a:t>
                      </a:r>
                      <a:endParaRPr sz="1600" u="none" cap="none" strike="noStrike">
                        <a:latin typeface="Trebuchet MS"/>
                        <a:ea typeface="Trebuchet MS"/>
                        <a:cs typeface="Trebuchet MS"/>
                        <a:sym typeface="Trebuchet MS"/>
                      </a:endParaRPr>
                    </a:p>
                  </a:txBody>
                  <a:tcPr marT="45725" marB="45725" marR="91450" marL="91450"/>
                </a:tc>
                <a:tc>
                  <a:txBody>
                    <a:bodyPr/>
                    <a:lstStyle/>
                    <a:p>
                      <a:pPr indent="0" lvl="0" marL="0" marR="0" rtl="0" algn="ctr">
                        <a:lnSpc>
                          <a:spcPct val="150000"/>
                        </a:lnSpc>
                        <a:spcBef>
                          <a:spcPts val="0"/>
                        </a:spcBef>
                        <a:spcAft>
                          <a:spcPts val="0"/>
                        </a:spcAft>
                        <a:buNone/>
                      </a:pPr>
                      <a:r>
                        <a:rPr i="0" lang="en-US" sz="1600" u="none" cap="none" strike="noStrike">
                          <a:solidFill>
                            <a:schemeClr val="lt1"/>
                          </a:solidFill>
                          <a:latin typeface="Trebuchet MS"/>
                          <a:ea typeface="Trebuchet MS"/>
                          <a:cs typeface="Trebuchet MS"/>
                          <a:sym typeface="Trebuchet MS"/>
                        </a:rPr>
                        <a:t>Purpose</a:t>
                      </a:r>
                      <a:endParaRPr sz="1600" u="none" cap="none" strike="noStrike">
                        <a:latin typeface="Trebuchet MS"/>
                        <a:ea typeface="Trebuchet MS"/>
                        <a:cs typeface="Trebuchet MS"/>
                        <a:sym typeface="Trebuchet MS"/>
                      </a:endParaRPr>
                    </a:p>
                  </a:txBody>
                  <a:tcPr marT="45725" marB="45725" marR="91450" marL="91450"/>
                </a:tc>
                <a:tc>
                  <a:txBody>
                    <a:bodyPr/>
                    <a:lstStyle/>
                    <a:p>
                      <a:pPr indent="0" lvl="0" marL="0" marR="0" rtl="0" algn="ctr">
                        <a:lnSpc>
                          <a:spcPct val="150000"/>
                        </a:lnSpc>
                        <a:spcBef>
                          <a:spcPts val="0"/>
                        </a:spcBef>
                        <a:spcAft>
                          <a:spcPts val="0"/>
                        </a:spcAft>
                        <a:buNone/>
                      </a:pPr>
                      <a:r>
                        <a:rPr lang="en-US" sz="1600" u="none" cap="none" strike="noStrike">
                          <a:latin typeface="Trebuchet MS"/>
                          <a:ea typeface="Trebuchet MS"/>
                          <a:cs typeface="Trebuchet MS"/>
                          <a:sym typeface="Trebuchet MS"/>
                        </a:rPr>
                        <a:t>Examples</a:t>
                      </a:r>
                      <a:endParaRPr sz="1600" u="none" cap="none" strike="noStrike">
                        <a:latin typeface="Trebuchet MS"/>
                        <a:ea typeface="Trebuchet MS"/>
                        <a:cs typeface="Trebuchet MS"/>
                        <a:sym typeface="Trebuchet MS"/>
                      </a:endParaRPr>
                    </a:p>
                  </a:txBody>
                  <a:tcPr marT="45725" marB="45725" marR="91450" marL="91450"/>
                </a:tc>
              </a:tr>
              <a:tr h="308900">
                <a:tc>
                  <a:txBody>
                    <a:bodyPr/>
                    <a:lstStyle/>
                    <a:p>
                      <a:pPr indent="0" lvl="0" marL="0" marR="0" rtl="0" algn="l">
                        <a:lnSpc>
                          <a:spcPct val="150000"/>
                        </a:lnSpc>
                        <a:spcBef>
                          <a:spcPts val="0"/>
                        </a:spcBef>
                        <a:spcAft>
                          <a:spcPts val="0"/>
                        </a:spcAft>
                        <a:buNone/>
                      </a:pPr>
                      <a:r>
                        <a:rPr lang="en-US" sz="1600" u="none" cap="none" strike="noStrike">
                          <a:latin typeface="Trebuchet MS"/>
                          <a:ea typeface="Trebuchet MS"/>
                          <a:cs typeface="Trebuchet MS"/>
                          <a:sym typeface="Trebuchet MS"/>
                        </a:rPr>
                        <a:t>Primary</a:t>
                      </a:r>
                      <a:endParaRPr sz="1600">
                        <a:latin typeface="Trebuchet MS"/>
                        <a:ea typeface="Trebuchet MS"/>
                        <a:cs typeface="Trebuchet MS"/>
                        <a:sym typeface="Trebuchet MS"/>
                      </a:endParaRPr>
                    </a:p>
                  </a:txBody>
                  <a:tcPr marT="45725" marB="45725" marR="91450" marL="91450"/>
                </a:tc>
                <a:tc>
                  <a:txBody>
                    <a:bodyPr/>
                    <a:lstStyle/>
                    <a:p>
                      <a:pPr indent="0" lvl="0" marL="0" marR="0" rtl="0" algn="l">
                        <a:lnSpc>
                          <a:spcPct val="150000"/>
                        </a:lnSpc>
                        <a:spcBef>
                          <a:spcPts val="0"/>
                        </a:spcBef>
                        <a:spcAft>
                          <a:spcPts val="0"/>
                        </a:spcAft>
                        <a:buClr>
                          <a:schemeClr val="dk1"/>
                        </a:buClr>
                        <a:buSzPts val="1800"/>
                        <a:buFont typeface="Calibri"/>
                        <a:buNone/>
                      </a:pPr>
                      <a:r>
                        <a:rPr lang="en-US" sz="1600">
                          <a:latin typeface="Trebuchet MS"/>
                          <a:ea typeface="Trebuchet MS"/>
                          <a:cs typeface="Trebuchet MS"/>
                          <a:sym typeface="Trebuchet MS"/>
                        </a:rPr>
                        <a:t>Provides the basic means of organizing and storing data. They are directly supported at the language level.</a:t>
                      </a:r>
                      <a:endParaRPr sz="1600">
                        <a:latin typeface="Trebuchet MS"/>
                        <a:ea typeface="Trebuchet MS"/>
                        <a:cs typeface="Trebuchet MS"/>
                        <a:sym typeface="Trebuchet MS"/>
                      </a:endParaRPr>
                    </a:p>
                    <a:p>
                      <a:pPr indent="0" lvl="0" marL="0" marR="0" rtl="0" algn="l">
                        <a:lnSpc>
                          <a:spcPct val="150000"/>
                        </a:lnSpc>
                        <a:spcBef>
                          <a:spcPts val="0"/>
                        </a:spcBef>
                        <a:spcAft>
                          <a:spcPts val="0"/>
                        </a:spcAft>
                        <a:buNone/>
                      </a:pPr>
                      <a:r>
                        <a:t/>
                      </a:r>
                      <a:endParaRPr sz="1600">
                        <a:latin typeface="Trebuchet MS"/>
                        <a:ea typeface="Trebuchet MS"/>
                        <a:cs typeface="Trebuchet MS"/>
                        <a:sym typeface="Trebuchet MS"/>
                      </a:endParaRPr>
                    </a:p>
                  </a:txBody>
                  <a:tcPr marT="45725" marB="45725" marR="91450" marL="91450"/>
                </a:tc>
                <a:tc>
                  <a:txBody>
                    <a:bodyPr/>
                    <a:lstStyle/>
                    <a:p>
                      <a:pPr indent="0" lvl="1" marL="457200" marR="0" rtl="0" algn="l">
                        <a:lnSpc>
                          <a:spcPct val="150000"/>
                        </a:lnSpc>
                        <a:spcBef>
                          <a:spcPts val="0"/>
                        </a:spcBef>
                        <a:spcAft>
                          <a:spcPts val="0"/>
                        </a:spcAft>
                        <a:buNone/>
                      </a:pPr>
                      <a:r>
                        <a:rPr lang="en-US" sz="1600" u="none" cap="none" strike="noStrike">
                          <a:latin typeface="Trebuchet MS"/>
                          <a:ea typeface="Trebuchet MS"/>
                          <a:cs typeface="Trebuchet MS"/>
                          <a:sym typeface="Trebuchet MS"/>
                        </a:rPr>
                        <a:t>• arrays</a:t>
                      </a:r>
                      <a:endParaRPr sz="1600">
                        <a:latin typeface="Trebuchet MS"/>
                        <a:ea typeface="Trebuchet MS"/>
                        <a:cs typeface="Trebuchet MS"/>
                        <a:sym typeface="Trebuchet MS"/>
                      </a:endParaRPr>
                    </a:p>
                    <a:p>
                      <a:pPr indent="0" lvl="1" marL="457200" marR="0" rtl="0" algn="l">
                        <a:lnSpc>
                          <a:spcPct val="150000"/>
                        </a:lnSpc>
                        <a:spcBef>
                          <a:spcPts val="0"/>
                        </a:spcBef>
                        <a:spcAft>
                          <a:spcPts val="0"/>
                        </a:spcAft>
                        <a:buNone/>
                      </a:pPr>
                      <a:r>
                        <a:rPr lang="en-US" sz="1600" u="none" cap="none" strike="noStrike">
                          <a:latin typeface="Trebuchet MS"/>
                          <a:ea typeface="Trebuchet MS"/>
                          <a:cs typeface="Trebuchet MS"/>
                          <a:sym typeface="Trebuchet MS"/>
                        </a:rPr>
                        <a:t>• linked lists</a:t>
                      </a:r>
                      <a:endParaRPr sz="1600">
                        <a:latin typeface="Trebuchet MS"/>
                        <a:ea typeface="Trebuchet MS"/>
                        <a:cs typeface="Trebuchet MS"/>
                        <a:sym typeface="Trebuchet MS"/>
                      </a:endParaRPr>
                    </a:p>
                    <a:p>
                      <a:pPr indent="0" lvl="0" marL="0" marR="0" rtl="0" algn="l">
                        <a:lnSpc>
                          <a:spcPct val="150000"/>
                        </a:lnSpc>
                        <a:spcBef>
                          <a:spcPts val="0"/>
                        </a:spcBef>
                        <a:spcAft>
                          <a:spcPts val="0"/>
                        </a:spcAft>
                        <a:buNone/>
                      </a:pPr>
                      <a:r>
                        <a:t/>
                      </a:r>
                      <a:endParaRPr sz="1600">
                        <a:latin typeface="Trebuchet MS"/>
                        <a:ea typeface="Trebuchet MS"/>
                        <a:cs typeface="Trebuchet MS"/>
                        <a:sym typeface="Trebuchet MS"/>
                      </a:endParaRPr>
                    </a:p>
                  </a:txBody>
                  <a:tcPr marT="45725" marB="45725" marR="91450" marL="91450"/>
                </a:tc>
              </a:tr>
              <a:tr h="308900">
                <a:tc>
                  <a:txBody>
                    <a:bodyPr/>
                    <a:lstStyle/>
                    <a:p>
                      <a:pPr indent="0" lvl="0" marL="0" marR="0" rtl="0" algn="l">
                        <a:lnSpc>
                          <a:spcPct val="150000"/>
                        </a:lnSpc>
                        <a:spcBef>
                          <a:spcPts val="0"/>
                        </a:spcBef>
                        <a:spcAft>
                          <a:spcPts val="0"/>
                        </a:spcAft>
                        <a:buNone/>
                      </a:pPr>
                      <a:r>
                        <a:rPr lang="en-US" sz="1600">
                          <a:latin typeface="Trebuchet MS"/>
                          <a:ea typeface="Trebuchet MS"/>
                          <a:cs typeface="Trebuchet MS"/>
                          <a:sym typeface="Trebuchet MS"/>
                        </a:rPr>
                        <a:t>Secondary</a:t>
                      </a:r>
                      <a:endParaRPr sz="1600">
                        <a:latin typeface="Trebuchet MS"/>
                        <a:ea typeface="Trebuchet MS"/>
                        <a:cs typeface="Trebuchet MS"/>
                        <a:sym typeface="Trebuchet MS"/>
                      </a:endParaRPr>
                    </a:p>
                  </a:txBody>
                  <a:tcPr marT="45725" marB="45725" marR="91450" marL="91450"/>
                </a:tc>
                <a:tc>
                  <a:txBody>
                    <a:bodyPr/>
                    <a:lstStyle/>
                    <a:p>
                      <a:pPr indent="0" lvl="0" marL="0" marR="0" rtl="0" algn="l">
                        <a:lnSpc>
                          <a:spcPct val="150000"/>
                        </a:lnSpc>
                        <a:spcBef>
                          <a:spcPts val="0"/>
                        </a:spcBef>
                        <a:spcAft>
                          <a:spcPts val="0"/>
                        </a:spcAft>
                        <a:buClr>
                          <a:schemeClr val="dk1"/>
                        </a:buClr>
                        <a:buSzPts val="1800"/>
                        <a:buFont typeface="Calibri"/>
                        <a:buNone/>
                      </a:pPr>
                      <a:r>
                        <a:rPr lang="en-US" sz="1600">
                          <a:latin typeface="Trebuchet MS"/>
                          <a:ea typeface="Trebuchet MS"/>
                          <a:cs typeface="Trebuchet MS"/>
                          <a:sym typeface="Trebuchet MS"/>
                        </a:rPr>
                        <a:t>Built using primary structures to offer more advanced data organization and access patterns.</a:t>
                      </a:r>
                      <a:endParaRPr sz="1600">
                        <a:latin typeface="Trebuchet MS"/>
                        <a:ea typeface="Trebuchet MS"/>
                        <a:cs typeface="Trebuchet MS"/>
                        <a:sym typeface="Trebuchet MS"/>
                      </a:endParaRPr>
                    </a:p>
                    <a:p>
                      <a:pPr indent="0" lvl="0" marL="0" marR="0" rtl="0" algn="l">
                        <a:lnSpc>
                          <a:spcPct val="150000"/>
                        </a:lnSpc>
                        <a:spcBef>
                          <a:spcPts val="0"/>
                        </a:spcBef>
                        <a:spcAft>
                          <a:spcPts val="0"/>
                        </a:spcAft>
                        <a:buNone/>
                      </a:pPr>
                      <a:r>
                        <a:t/>
                      </a:r>
                      <a:endParaRPr sz="1600">
                        <a:latin typeface="Trebuchet MS"/>
                        <a:ea typeface="Trebuchet MS"/>
                        <a:cs typeface="Trebuchet MS"/>
                        <a:sym typeface="Trebuchet MS"/>
                      </a:endParaRPr>
                    </a:p>
                  </a:txBody>
                  <a:tcPr marT="45725" marB="45725" marR="91450" marL="91450"/>
                </a:tc>
                <a:tc>
                  <a:txBody>
                    <a:bodyPr/>
                    <a:lstStyle/>
                    <a:p>
                      <a:pPr indent="0" lvl="1" marL="457200" marR="0" rtl="0" algn="l">
                        <a:lnSpc>
                          <a:spcPct val="150000"/>
                        </a:lnSpc>
                        <a:spcBef>
                          <a:spcPts val="0"/>
                        </a:spcBef>
                        <a:spcAft>
                          <a:spcPts val="0"/>
                        </a:spcAft>
                        <a:buNone/>
                      </a:pPr>
                      <a:r>
                        <a:rPr lang="en-US" sz="1600" u="none" cap="none" strike="noStrike">
                          <a:latin typeface="Trebuchet MS"/>
                          <a:ea typeface="Trebuchet MS"/>
                          <a:cs typeface="Trebuchet MS"/>
                          <a:sym typeface="Trebuchet MS"/>
                        </a:rPr>
                        <a:t>• Hash tables</a:t>
                      </a:r>
                      <a:endParaRPr sz="1600">
                        <a:latin typeface="Trebuchet MS"/>
                        <a:ea typeface="Trebuchet MS"/>
                        <a:cs typeface="Trebuchet MS"/>
                        <a:sym typeface="Trebuchet MS"/>
                      </a:endParaRPr>
                    </a:p>
                    <a:p>
                      <a:pPr indent="0" lvl="1" marL="457200" marR="0" rtl="0" algn="l">
                        <a:lnSpc>
                          <a:spcPct val="150000"/>
                        </a:lnSpc>
                        <a:spcBef>
                          <a:spcPts val="0"/>
                        </a:spcBef>
                        <a:spcAft>
                          <a:spcPts val="0"/>
                        </a:spcAft>
                        <a:buNone/>
                      </a:pPr>
                      <a:r>
                        <a:rPr lang="en-US" sz="1600" u="none" cap="none" strike="noStrike">
                          <a:latin typeface="Trebuchet MS"/>
                          <a:ea typeface="Trebuchet MS"/>
                          <a:cs typeface="Trebuchet MS"/>
                          <a:sym typeface="Trebuchet MS"/>
                        </a:rPr>
                        <a:t>• Stacks</a:t>
                      </a:r>
                      <a:endParaRPr sz="1600">
                        <a:latin typeface="Trebuchet MS"/>
                        <a:ea typeface="Trebuchet MS"/>
                        <a:cs typeface="Trebuchet MS"/>
                        <a:sym typeface="Trebuchet MS"/>
                      </a:endParaRPr>
                    </a:p>
                    <a:p>
                      <a:pPr indent="0" lvl="1" marL="457200" marR="0" rtl="0" algn="l">
                        <a:lnSpc>
                          <a:spcPct val="150000"/>
                        </a:lnSpc>
                        <a:spcBef>
                          <a:spcPts val="0"/>
                        </a:spcBef>
                        <a:spcAft>
                          <a:spcPts val="0"/>
                        </a:spcAft>
                        <a:buNone/>
                      </a:pPr>
                      <a:r>
                        <a:rPr lang="en-US" sz="1600" u="none" cap="none" strike="noStrike">
                          <a:latin typeface="Trebuchet MS"/>
                          <a:ea typeface="Trebuchet MS"/>
                          <a:cs typeface="Trebuchet MS"/>
                          <a:sym typeface="Trebuchet MS"/>
                        </a:rPr>
                        <a:t>• Queues</a:t>
                      </a:r>
                      <a:endParaRPr sz="1600">
                        <a:latin typeface="Trebuchet MS"/>
                        <a:ea typeface="Trebuchet MS"/>
                        <a:cs typeface="Trebuchet MS"/>
                        <a:sym typeface="Trebuchet MS"/>
                      </a:endParaRPr>
                    </a:p>
                    <a:p>
                      <a:pPr indent="0" lvl="0" marL="0" marR="0" rtl="0" algn="l">
                        <a:lnSpc>
                          <a:spcPct val="150000"/>
                        </a:lnSpc>
                        <a:spcBef>
                          <a:spcPts val="0"/>
                        </a:spcBef>
                        <a:spcAft>
                          <a:spcPts val="0"/>
                        </a:spcAft>
                        <a:buNone/>
                      </a:pPr>
                      <a:r>
                        <a:t/>
                      </a:r>
                      <a:endParaRPr sz="1600">
                        <a:latin typeface="Trebuchet MS"/>
                        <a:ea typeface="Trebuchet MS"/>
                        <a:cs typeface="Trebuchet MS"/>
                        <a:sym typeface="Trebuchet MS"/>
                      </a:endParaRPr>
                    </a:p>
                  </a:txBody>
                  <a:tcPr marT="45725" marB="45725" marR="91450" marL="9145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p3"/>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4" name="Google Shape;104;p3"/>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 name="Google Shape;105;p3"/>
          <p:cNvSpPr txBox="1"/>
          <p:nvPr/>
        </p:nvSpPr>
        <p:spPr>
          <a:xfrm>
            <a:off x="411480" y="256032"/>
            <a:ext cx="326801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Hash Table or Hash Map</a:t>
            </a:r>
            <a:endParaRPr b="0" i="0" sz="1800" u="none" cap="none" strike="noStrike">
              <a:solidFill>
                <a:schemeClr val="dk1"/>
              </a:solidFill>
              <a:latin typeface="Calibri"/>
              <a:ea typeface="Calibri"/>
              <a:cs typeface="Calibri"/>
              <a:sym typeface="Calibri"/>
            </a:endParaRPr>
          </a:p>
        </p:txBody>
      </p:sp>
      <p:sp>
        <p:nvSpPr>
          <p:cNvPr id="106" name="Google Shape;106;p3"/>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7" name="Google Shape;107;p3"/>
          <p:cNvSpPr txBox="1"/>
          <p:nvPr/>
        </p:nvSpPr>
        <p:spPr>
          <a:xfrm>
            <a:off x="649225" y="1344175"/>
            <a:ext cx="11247000" cy="4901100"/>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rPr i="0" lang="en-US" sz="1700" u="none" cap="none" strike="noStrike">
                <a:solidFill>
                  <a:srgbClr val="1E293B"/>
                </a:solidFill>
                <a:latin typeface="Trebuchet MS"/>
                <a:ea typeface="Trebuchet MS"/>
                <a:cs typeface="Trebuchet MS"/>
                <a:sym typeface="Trebuchet MS"/>
              </a:rPr>
              <a:t>• A HashTable is an </a:t>
            </a:r>
            <a:r>
              <a:rPr b="1" i="0" lang="en-US" sz="1700" u="none" cap="none" strike="noStrike">
                <a:solidFill>
                  <a:srgbClr val="1E293B"/>
                </a:solidFill>
                <a:latin typeface="Trebuchet MS"/>
                <a:ea typeface="Trebuchet MS"/>
                <a:cs typeface="Trebuchet MS"/>
                <a:sym typeface="Trebuchet MS"/>
              </a:rPr>
              <a:t>abstract data type (ADT)</a:t>
            </a:r>
            <a:r>
              <a:rPr i="0" lang="en-US" sz="1700" u="none" cap="none" strike="noStrike">
                <a:solidFill>
                  <a:srgbClr val="1E293B"/>
                </a:solidFill>
                <a:latin typeface="Trebuchet MS"/>
                <a:ea typeface="Trebuchet MS"/>
                <a:cs typeface="Trebuchet MS"/>
                <a:sym typeface="Trebuchet MS"/>
              </a:rPr>
              <a:t> often implemented as an adapter over </a:t>
            </a:r>
            <a:r>
              <a:rPr i="0" lang="en-US" sz="1700" u="sng" cap="none" strike="noStrike">
                <a:solidFill>
                  <a:srgbClr val="1E293B"/>
                </a:solidFill>
                <a:latin typeface="Trebuchet MS"/>
                <a:ea typeface="Trebuchet MS"/>
                <a:cs typeface="Trebuchet MS"/>
                <a:sym typeface="Trebuchet MS"/>
              </a:rPr>
              <a:t>primary data structures</a:t>
            </a:r>
            <a:r>
              <a:rPr i="0" lang="en-US" sz="1700" u="none" cap="none" strike="noStrike">
                <a:solidFill>
                  <a:srgbClr val="1E293B"/>
                </a:solidFill>
                <a:latin typeface="Trebuchet MS"/>
                <a:ea typeface="Trebuchet MS"/>
                <a:cs typeface="Trebuchet MS"/>
                <a:sym typeface="Trebuchet MS"/>
              </a:rPr>
              <a:t>.</a:t>
            </a:r>
            <a:endParaRPr i="0" sz="1800" u="none" cap="none" strike="noStrike">
              <a:solidFill>
                <a:schemeClr val="dk1"/>
              </a:solidFill>
              <a:latin typeface="Trebuchet MS"/>
              <a:ea typeface="Trebuchet MS"/>
              <a:cs typeface="Trebuchet MS"/>
              <a:sym typeface="Trebuchet MS"/>
            </a:endParaRPr>
          </a:p>
          <a:p>
            <a:pPr indent="0" lvl="0" marL="0" marR="0" rtl="0" algn="l">
              <a:lnSpc>
                <a:spcPct val="150000"/>
              </a:lnSpc>
              <a:spcBef>
                <a:spcPts val="0"/>
              </a:spcBef>
              <a:spcAft>
                <a:spcPts val="0"/>
              </a:spcAft>
              <a:buNone/>
            </a:pPr>
            <a:r>
              <a:t/>
            </a:r>
            <a:endParaRPr i="0" sz="1800" u="none" cap="none" strike="noStrike">
              <a:solidFill>
                <a:schemeClr val="dk1"/>
              </a:solidFill>
              <a:latin typeface="Trebuchet MS"/>
              <a:ea typeface="Trebuchet MS"/>
              <a:cs typeface="Trebuchet MS"/>
              <a:sym typeface="Trebuchet MS"/>
            </a:endParaRPr>
          </a:p>
          <a:p>
            <a:pPr indent="0" lvl="0" marL="0" marR="0" rtl="0" algn="l">
              <a:lnSpc>
                <a:spcPct val="150000"/>
              </a:lnSpc>
              <a:spcBef>
                <a:spcPts val="0"/>
              </a:spcBef>
              <a:spcAft>
                <a:spcPts val="0"/>
              </a:spcAft>
              <a:buNone/>
            </a:pPr>
            <a:r>
              <a:rPr i="0" lang="en-US" sz="1700" u="none" cap="none" strike="noStrike">
                <a:solidFill>
                  <a:srgbClr val="1E293B"/>
                </a:solidFill>
                <a:latin typeface="Trebuchet MS"/>
                <a:ea typeface="Trebuchet MS"/>
                <a:cs typeface="Trebuchet MS"/>
                <a:sym typeface="Trebuchet MS"/>
              </a:rPr>
              <a:t>• The underlying implementation of Hashtable may use:</a:t>
            </a:r>
            <a:endParaRPr>
              <a:latin typeface="Trebuchet MS"/>
              <a:ea typeface="Trebuchet MS"/>
              <a:cs typeface="Trebuchet MS"/>
              <a:sym typeface="Trebuchet MS"/>
            </a:endParaRPr>
          </a:p>
          <a:p>
            <a:pPr indent="0" lvl="1" marL="457200" marR="0" rtl="0" algn="l">
              <a:lnSpc>
                <a:spcPct val="20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Arrays – for indexing and storage</a:t>
            </a:r>
            <a:endParaRPr>
              <a:latin typeface="Trebuchet MS"/>
              <a:ea typeface="Trebuchet MS"/>
              <a:cs typeface="Trebuchet MS"/>
              <a:sym typeface="Trebuchet MS"/>
            </a:endParaRPr>
          </a:p>
          <a:p>
            <a:pPr indent="0" lvl="1" marL="457200" marR="0" rtl="0" algn="l">
              <a:lnSpc>
                <a:spcPct val="20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Linked Lists – for collision handling via chaining</a:t>
            </a:r>
            <a:endParaRPr>
              <a:latin typeface="Trebuchet MS"/>
              <a:ea typeface="Trebuchet MS"/>
              <a:cs typeface="Trebuchet MS"/>
              <a:sym typeface="Trebuchet MS"/>
            </a:endParaRPr>
          </a:p>
        </p:txBody>
      </p:sp>
      <p:sp>
        <p:nvSpPr>
          <p:cNvPr id="108" name="Google Shape;108;p3"/>
          <p:cNvSpPr/>
          <p:nvPr/>
        </p:nvSpPr>
        <p:spPr>
          <a:xfrm>
            <a:off x="3289361" y="4334732"/>
            <a:ext cx="4069200" cy="822900"/>
          </a:xfrm>
          <a:prstGeom prst="roundRect">
            <a:avLst>
              <a:gd fmla="val 16667" name="adj"/>
            </a:avLst>
          </a:prstGeom>
          <a:solidFill>
            <a:srgbClr val="E8F5E9"/>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3"/>
          <p:cNvSpPr txBox="1"/>
          <p:nvPr/>
        </p:nvSpPr>
        <p:spPr>
          <a:xfrm>
            <a:off x="3097604" y="4450053"/>
            <a:ext cx="42609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17365D"/>
                </a:solidFill>
                <a:latin typeface="Calibri"/>
                <a:ea typeface="Calibri"/>
                <a:cs typeface="Calibri"/>
                <a:sym typeface="Calibri"/>
              </a:rPr>
              <a:t>   HashTable = Array + Linked List chaining</a:t>
            </a:r>
            <a:endParaRPr/>
          </a:p>
        </p:txBody>
      </p:sp>
      <p:sp>
        <p:nvSpPr>
          <p:cNvPr id="110" name="Google Shape;110;p3"/>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111" name="Google Shape;111;p3"/>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4"/>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7" name="Google Shape;117;p4"/>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8" name="Google Shape;118;p4"/>
          <p:cNvSpPr txBox="1"/>
          <p:nvPr/>
        </p:nvSpPr>
        <p:spPr>
          <a:xfrm>
            <a:off x="411480" y="256032"/>
            <a:ext cx="11155680" cy="530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Hash Table or Hash Map</a:t>
            </a:r>
            <a:endParaRPr/>
          </a:p>
        </p:txBody>
      </p:sp>
      <p:sp>
        <p:nvSpPr>
          <p:cNvPr id="119" name="Google Shape;119;p4"/>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0" name="Google Shape;120;p4"/>
          <p:cNvSpPr txBox="1"/>
          <p:nvPr/>
        </p:nvSpPr>
        <p:spPr>
          <a:xfrm>
            <a:off x="649225" y="1435600"/>
            <a:ext cx="8578500" cy="3438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i="0" lang="en-US" sz="1800" u="none" cap="none" strike="noStrike">
                <a:solidFill>
                  <a:srgbClr val="1E293B"/>
                </a:solidFill>
                <a:latin typeface="Trebuchet MS"/>
                <a:ea typeface="Trebuchet MS"/>
                <a:cs typeface="Trebuchet MS"/>
                <a:sym typeface="Trebuchet MS"/>
              </a:rPr>
              <a:t>• Use </a:t>
            </a:r>
            <a:r>
              <a:rPr b="1" i="0" lang="en-US" sz="1800" u="none" cap="none" strike="noStrike">
                <a:solidFill>
                  <a:srgbClr val="1E293B"/>
                </a:solidFill>
                <a:latin typeface="Trebuchet MS"/>
                <a:ea typeface="Trebuchet MS"/>
                <a:cs typeface="Trebuchet MS"/>
                <a:sym typeface="Trebuchet MS"/>
              </a:rPr>
              <a:t>key-value pairs</a:t>
            </a:r>
            <a:r>
              <a:rPr i="0" lang="en-US" sz="1800" u="none" cap="none" strike="noStrike">
                <a:solidFill>
                  <a:srgbClr val="1E293B"/>
                </a:solidFill>
                <a:latin typeface="Trebuchet MS"/>
                <a:ea typeface="Trebuchet MS"/>
                <a:cs typeface="Trebuchet MS"/>
                <a:sym typeface="Trebuchet MS"/>
              </a:rPr>
              <a:t> to store data instead of </a:t>
            </a:r>
            <a:r>
              <a:rPr b="1" i="0" lang="en-US" sz="1800" u="sng" cap="none" strike="noStrike">
                <a:solidFill>
                  <a:srgbClr val="1E293B"/>
                </a:solidFill>
                <a:latin typeface="Trebuchet MS"/>
                <a:ea typeface="Trebuchet MS"/>
                <a:cs typeface="Trebuchet MS"/>
                <a:sym typeface="Trebuchet MS"/>
              </a:rPr>
              <a:t>storing against an index</a:t>
            </a:r>
            <a:r>
              <a:rPr i="0" lang="en-US" sz="1800" u="none" cap="none" strike="noStrike">
                <a:solidFill>
                  <a:srgbClr val="1E293B"/>
                </a:solidFill>
                <a:latin typeface="Trebuchet MS"/>
                <a:ea typeface="Trebuchet MS"/>
                <a:cs typeface="Trebuchet MS"/>
                <a:sym typeface="Trebuchet MS"/>
              </a:rPr>
              <a:t>.</a:t>
            </a:r>
            <a:br>
              <a:rPr i="0" lang="en-US" sz="1800" u="none" cap="none" strike="noStrike">
                <a:solidFill>
                  <a:srgbClr val="1E293B"/>
                </a:solidFill>
                <a:latin typeface="Trebuchet MS"/>
                <a:ea typeface="Trebuchet MS"/>
                <a:cs typeface="Trebuchet MS"/>
                <a:sym typeface="Trebuchet MS"/>
              </a:rPr>
            </a:br>
            <a:endParaRPr i="0" sz="1800" u="none" cap="none" strike="noStrike">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i="0" lang="en-US" sz="1800" u="none" cap="none" strike="noStrike">
                <a:solidFill>
                  <a:srgbClr val="1E293B"/>
                </a:solidFill>
                <a:latin typeface="Trebuchet MS"/>
                <a:ea typeface="Trebuchet MS"/>
                <a:cs typeface="Trebuchet MS"/>
                <a:sym typeface="Trebuchet MS"/>
              </a:rPr>
              <a:t>• The idea is to </a:t>
            </a:r>
            <a:r>
              <a:rPr b="1" i="0" lang="en-US" sz="1800" u="none" cap="none" strike="noStrike">
                <a:solidFill>
                  <a:srgbClr val="1E293B"/>
                </a:solidFill>
                <a:latin typeface="Trebuchet MS"/>
                <a:ea typeface="Trebuchet MS"/>
                <a:cs typeface="Trebuchet MS"/>
                <a:sym typeface="Trebuchet MS"/>
              </a:rPr>
              <a:t>find the data</a:t>
            </a:r>
            <a:r>
              <a:rPr i="0" lang="en-US" sz="1800" u="none" cap="none" strike="noStrike">
                <a:solidFill>
                  <a:srgbClr val="1E293B"/>
                </a:solidFill>
                <a:latin typeface="Trebuchet MS"/>
                <a:ea typeface="Trebuchet MS"/>
                <a:cs typeface="Trebuchet MS"/>
                <a:sym typeface="Trebuchet MS"/>
              </a:rPr>
              <a:t> in </a:t>
            </a:r>
            <a:r>
              <a:rPr b="1" i="0" lang="en-US" sz="1800" u="sng" cap="none" strike="noStrike">
                <a:solidFill>
                  <a:srgbClr val="1E293B"/>
                </a:solidFill>
                <a:latin typeface="Trebuchet MS"/>
                <a:ea typeface="Trebuchet MS"/>
                <a:cs typeface="Trebuchet MS"/>
                <a:sym typeface="Trebuchet MS"/>
              </a:rPr>
              <a:t>constant time</a:t>
            </a:r>
            <a:r>
              <a:rPr i="0" lang="en-US" sz="1800" u="none" cap="none" strike="noStrike">
                <a:solidFill>
                  <a:srgbClr val="1E293B"/>
                </a:solidFill>
                <a:latin typeface="Trebuchet MS"/>
                <a:ea typeface="Trebuchet MS"/>
                <a:cs typeface="Trebuchet MS"/>
                <a:sym typeface="Trebuchet MS"/>
              </a:rPr>
              <a:t> </a:t>
            </a:r>
            <a:r>
              <a:rPr b="1" i="0" lang="en-US" sz="1800" u="none" cap="none" strike="noStrike">
                <a:solidFill>
                  <a:srgbClr val="9900FF"/>
                </a:solidFill>
                <a:latin typeface="Trebuchet MS"/>
                <a:ea typeface="Trebuchet MS"/>
                <a:cs typeface="Trebuchet MS"/>
                <a:sym typeface="Trebuchet MS"/>
              </a:rPr>
              <a:t>using that key.</a:t>
            </a:r>
            <a:br>
              <a:rPr i="0" lang="en-US" sz="1800" u="none" cap="none" strike="noStrike">
                <a:solidFill>
                  <a:srgbClr val="1E293B"/>
                </a:solidFill>
                <a:latin typeface="Trebuchet MS"/>
                <a:ea typeface="Trebuchet MS"/>
                <a:cs typeface="Trebuchet MS"/>
                <a:sym typeface="Trebuchet MS"/>
              </a:rPr>
            </a:br>
            <a:endParaRPr i="0" sz="1800" u="none" cap="none" strike="noStrike">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i="0" lang="en-US" sz="1800" u="none" cap="none" strike="noStrike">
                <a:solidFill>
                  <a:srgbClr val="1E293B"/>
                </a:solidFill>
                <a:latin typeface="Trebuchet MS"/>
                <a:ea typeface="Trebuchet MS"/>
                <a:cs typeface="Trebuchet MS"/>
                <a:sym typeface="Trebuchet MS"/>
              </a:rPr>
              <a:t>• Example:</a:t>
            </a:r>
            <a:endParaRPr>
              <a:latin typeface="Trebuchet MS"/>
              <a:ea typeface="Trebuchet MS"/>
              <a:cs typeface="Trebuchet MS"/>
              <a:sym typeface="Trebuchet MS"/>
            </a:endParaRPr>
          </a:p>
          <a:p>
            <a:pPr indent="0" lvl="1" marL="457200" marR="0" rtl="0" algn="l">
              <a:spcBef>
                <a:spcPts val="0"/>
              </a:spcBef>
              <a:spcAft>
                <a:spcPts val="0"/>
              </a:spcAft>
              <a:buNone/>
            </a:pPr>
            <a:r>
              <a:rPr i="0" lang="en-US" sz="1700" u="none" cap="none" strike="noStrike">
                <a:solidFill>
                  <a:srgbClr val="1E293B"/>
                </a:solidFill>
                <a:latin typeface="Trebuchet MS"/>
                <a:ea typeface="Trebuchet MS"/>
                <a:cs typeface="Trebuchet MS"/>
                <a:sym typeface="Trebuchet MS"/>
              </a:rPr>
              <a:t>◦ Python dictionary.</a:t>
            </a:r>
            <a:endParaRPr>
              <a:latin typeface="Trebuchet MS"/>
              <a:ea typeface="Trebuchet MS"/>
              <a:cs typeface="Trebuchet MS"/>
              <a:sym typeface="Trebuchet MS"/>
            </a:endParaRPr>
          </a:p>
          <a:p>
            <a:pPr indent="0" lvl="1" marL="457200" marR="0" rtl="0" algn="l">
              <a:spcBef>
                <a:spcPts val="0"/>
              </a:spcBef>
              <a:spcAft>
                <a:spcPts val="0"/>
              </a:spcAft>
              <a:buNone/>
            </a:pPr>
            <a:r>
              <a:rPr i="0" lang="en-US" sz="1700" u="none" cap="none" strike="noStrike">
                <a:solidFill>
                  <a:srgbClr val="1E293B"/>
                </a:solidFill>
                <a:latin typeface="Trebuchet MS"/>
                <a:ea typeface="Trebuchet MS"/>
                <a:cs typeface="Trebuchet MS"/>
                <a:sym typeface="Trebuchet MS"/>
              </a:rPr>
              <a:t>◦ JSON (JavaScript Object Notation)</a:t>
            </a:r>
            <a:endParaRPr>
              <a:latin typeface="Trebuchet MS"/>
              <a:ea typeface="Trebuchet MS"/>
              <a:cs typeface="Trebuchet MS"/>
              <a:sym typeface="Trebuchet MS"/>
            </a:endParaRPr>
          </a:p>
        </p:txBody>
      </p:sp>
      <p:sp>
        <p:nvSpPr>
          <p:cNvPr id="121" name="Google Shape;121;p4"/>
          <p:cNvSpPr/>
          <p:nvPr/>
        </p:nvSpPr>
        <p:spPr>
          <a:xfrm>
            <a:off x="5797300" y="2957300"/>
            <a:ext cx="5267100" cy="2217000"/>
          </a:xfrm>
          <a:prstGeom prst="roundRect">
            <a:avLst>
              <a:gd fmla="val 16667" name="adj"/>
            </a:avLst>
          </a:prstGeom>
          <a:solidFill>
            <a:srgbClr val="EAF2F8"/>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2" name="Google Shape;122;p4"/>
          <p:cNvSpPr txBox="1"/>
          <p:nvPr/>
        </p:nvSpPr>
        <p:spPr>
          <a:xfrm>
            <a:off x="6036872" y="3081529"/>
            <a:ext cx="4387800" cy="69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i="0" lang="en-US" sz="1900" u="none" cap="none" strike="noStrike">
                <a:solidFill>
                  <a:srgbClr val="1E293B"/>
                </a:solidFill>
                <a:latin typeface="Calibri"/>
                <a:ea typeface="Calibri"/>
                <a:cs typeface="Calibri"/>
                <a:sym typeface="Calibri"/>
              </a:rPr>
              <a:t>• Python dictionary example</a:t>
            </a:r>
            <a:endParaRPr sz="1800"/>
          </a:p>
        </p:txBody>
      </p:sp>
      <p:sp>
        <p:nvSpPr>
          <p:cNvPr id="123" name="Google Shape;123;p4"/>
          <p:cNvSpPr txBox="1"/>
          <p:nvPr/>
        </p:nvSpPr>
        <p:spPr>
          <a:xfrm>
            <a:off x="6144776" y="3587724"/>
            <a:ext cx="4848600" cy="14841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i="0" lang="en-US" sz="1700" u="none" cap="none" strike="noStrike">
                <a:solidFill>
                  <a:srgbClr val="1E293B"/>
                </a:solidFill>
                <a:latin typeface="Trebuchet MS"/>
                <a:ea typeface="Trebuchet MS"/>
                <a:cs typeface="Trebuchet MS"/>
                <a:sym typeface="Trebuchet MS"/>
              </a:rPr>
              <a:t>student_info = {</a:t>
            </a:r>
            <a:br>
              <a:rPr i="0" lang="en-US" sz="1700" u="none" cap="none" strike="noStrike">
                <a:solidFill>
                  <a:srgbClr val="1E293B"/>
                </a:solidFill>
                <a:latin typeface="Trebuchet MS"/>
                <a:ea typeface="Trebuchet MS"/>
                <a:cs typeface="Trebuchet MS"/>
                <a:sym typeface="Trebuchet MS"/>
              </a:rPr>
            </a:br>
            <a:r>
              <a:rPr i="0" lang="en-US" sz="1700" u="none" cap="none" strike="noStrike">
                <a:solidFill>
                  <a:srgbClr val="1E293B"/>
                </a:solidFill>
                <a:latin typeface="Trebuchet MS"/>
                <a:ea typeface="Trebuchet MS"/>
                <a:cs typeface="Trebuchet MS"/>
                <a:sym typeface="Trebuchet MS"/>
              </a:rPr>
              <a:t>    "name": "Alice",</a:t>
            </a:r>
            <a:br>
              <a:rPr i="0" lang="en-US" sz="1700" u="none" cap="none" strike="noStrike">
                <a:solidFill>
                  <a:srgbClr val="1E293B"/>
                </a:solidFill>
                <a:latin typeface="Trebuchet MS"/>
                <a:ea typeface="Trebuchet MS"/>
                <a:cs typeface="Trebuchet MS"/>
                <a:sym typeface="Trebuchet MS"/>
              </a:rPr>
            </a:br>
            <a:r>
              <a:rPr i="0" lang="en-US" sz="1700" u="none" cap="none" strike="noStrike">
                <a:solidFill>
                  <a:srgbClr val="1E293B"/>
                </a:solidFill>
                <a:latin typeface="Trebuchet MS"/>
                <a:ea typeface="Trebuchet MS"/>
                <a:cs typeface="Trebuchet MS"/>
                <a:sym typeface="Trebuchet MS"/>
              </a:rPr>
              <a:t>    "age": 20,</a:t>
            </a:r>
            <a:br>
              <a:rPr i="0" lang="en-US" sz="1700" u="none" cap="none" strike="noStrike">
                <a:solidFill>
                  <a:srgbClr val="1E293B"/>
                </a:solidFill>
                <a:latin typeface="Trebuchet MS"/>
                <a:ea typeface="Trebuchet MS"/>
                <a:cs typeface="Trebuchet MS"/>
                <a:sym typeface="Trebuchet MS"/>
              </a:rPr>
            </a:br>
            <a:r>
              <a:rPr i="0" lang="en-US" sz="1700" u="none" cap="none" strike="noStrike">
                <a:solidFill>
                  <a:srgbClr val="1E293B"/>
                </a:solidFill>
                <a:latin typeface="Trebuchet MS"/>
                <a:ea typeface="Trebuchet MS"/>
                <a:cs typeface="Trebuchet MS"/>
                <a:sym typeface="Trebuchet MS"/>
              </a:rPr>
              <a:t>    "major": "Computer Science"</a:t>
            </a:r>
            <a:br>
              <a:rPr i="0" lang="en-US" sz="1700" u="none" cap="none" strike="noStrike">
                <a:solidFill>
                  <a:srgbClr val="1E293B"/>
                </a:solidFill>
                <a:latin typeface="Trebuchet MS"/>
                <a:ea typeface="Trebuchet MS"/>
                <a:cs typeface="Trebuchet MS"/>
                <a:sym typeface="Trebuchet MS"/>
              </a:rPr>
            </a:br>
            <a:r>
              <a:rPr i="0" lang="en-US" sz="1700" u="none" cap="none" strike="noStrike">
                <a:solidFill>
                  <a:srgbClr val="1E293B"/>
                </a:solidFill>
                <a:latin typeface="Trebuchet MS"/>
                <a:ea typeface="Trebuchet MS"/>
                <a:cs typeface="Trebuchet MS"/>
                <a:sym typeface="Trebuchet MS"/>
              </a:rPr>
              <a:t>}</a:t>
            </a:r>
            <a:endParaRPr sz="1900">
              <a:latin typeface="Trebuchet MS"/>
              <a:ea typeface="Trebuchet MS"/>
              <a:cs typeface="Trebuchet MS"/>
              <a:sym typeface="Trebuchet MS"/>
            </a:endParaRPr>
          </a:p>
        </p:txBody>
      </p:sp>
      <p:sp>
        <p:nvSpPr>
          <p:cNvPr id="124" name="Google Shape;124;p4"/>
          <p:cNvSpPr/>
          <p:nvPr/>
        </p:nvSpPr>
        <p:spPr>
          <a:xfrm>
            <a:off x="822950" y="5486400"/>
            <a:ext cx="10321200" cy="694800"/>
          </a:xfrm>
          <a:prstGeom prst="roundRect">
            <a:avLst>
              <a:gd fmla="val 16667" name="adj"/>
            </a:avLst>
          </a:prstGeom>
          <a:solidFill>
            <a:srgbClr val="EAF2F8"/>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5" name="Google Shape;125;p4"/>
          <p:cNvSpPr txBox="1"/>
          <p:nvPr/>
        </p:nvSpPr>
        <p:spPr>
          <a:xfrm>
            <a:off x="822950" y="5612050"/>
            <a:ext cx="97554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17365D"/>
                </a:solidFill>
                <a:latin typeface="Trebuchet MS"/>
                <a:ea typeface="Trebuchet MS"/>
                <a:cs typeface="Trebuchet MS"/>
                <a:sym typeface="Trebuchet MS"/>
              </a:rPr>
              <a:t>• Key-value storage </a:t>
            </a:r>
            <a:r>
              <a:rPr b="1" i="0" lang="en-US" sz="1800" u="none" cap="none" strike="noStrike">
                <a:solidFill>
                  <a:srgbClr val="FF0000"/>
                </a:solidFill>
                <a:latin typeface="Trebuchet MS"/>
                <a:ea typeface="Trebuchet MS"/>
                <a:cs typeface="Trebuchet MS"/>
                <a:sym typeface="Trebuchet MS"/>
              </a:rPr>
              <a:t>avoids remembering </a:t>
            </a:r>
            <a:r>
              <a:rPr b="1" i="0" lang="en-US" sz="1800" u="none" cap="none" strike="noStrike">
                <a:solidFill>
                  <a:srgbClr val="17365D"/>
                </a:solidFill>
                <a:latin typeface="Trebuchet MS"/>
                <a:ea typeface="Trebuchet MS"/>
                <a:cs typeface="Trebuchet MS"/>
                <a:sym typeface="Trebuchet MS"/>
              </a:rPr>
              <a:t>a separate </a:t>
            </a:r>
            <a:r>
              <a:rPr b="1" i="0" lang="en-US" sz="1800" u="none" cap="none" strike="noStrike">
                <a:solidFill>
                  <a:srgbClr val="FF0000"/>
                </a:solidFill>
                <a:latin typeface="Trebuchet MS"/>
                <a:ea typeface="Trebuchet MS"/>
                <a:cs typeface="Trebuchet MS"/>
                <a:sym typeface="Trebuchet MS"/>
              </a:rPr>
              <a:t>fixed array index</a:t>
            </a:r>
            <a:r>
              <a:rPr b="1" i="0" lang="en-US" sz="1800" u="none" cap="none" strike="noStrike">
                <a:solidFill>
                  <a:srgbClr val="17365D"/>
                </a:solidFill>
                <a:latin typeface="Trebuchet MS"/>
                <a:ea typeface="Trebuchet MS"/>
                <a:cs typeface="Trebuchet MS"/>
                <a:sym typeface="Trebuchet MS"/>
              </a:rPr>
              <a:t>.</a:t>
            </a:r>
            <a:endParaRPr sz="1800">
              <a:latin typeface="Trebuchet MS"/>
              <a:ea typeface="Trebuchet MS"/>
              <a:cs typeface="Trebuchet MS"/>
              <a:sym typeface="Trebuchet MS"/>
            </a:endParaRPr>
          </a:p>
        </p:txBody>
      </p:sp>
      <p:sp>
        <p:nvSpPr>
          <p:cNvPr id="126" name="Google Shape;126;p4"/>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127" name="Google Shape;127;p4"/>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g3f93b0b83d1_2_0"/>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3" name="Google Shape;133;g3f93b0b83d1_2_0"/>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4" name="Google Shape;134;g3f93b0b83d1_2_0"/>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US" sz="2400">
                <a:solidFill>
                  <a:srgbClr val="17365D"/>
                </a:solidFill>
              </a:rPr>
              <a:t>Key-Value Lookup in a Hash Table</a:t>
            </a:r>
            <a:endParaRPr/>
          </a:p>
        </p:txBody>
      </p:sp>
      <p:sp>
        <p:nvSpPr>
          <p:cNvPr id="135" name="Google Shape;135;g3f93b0b83d1_2_0"/>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6" name="Google Shape;136;g3f93b0b83d1_2_0"/>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137" name="Google Shape;137;g3f93b0b83d1_2_0"/>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3</a:t>
            </a:r>
            <a:endParaRPr/>
          </a:p>
        </p:txBody>
      </p:sp>
      <p:pic>
        <p:nvPicPr>
          <p:cNvPr descr="a_clean_infographic_slide_style_diagram_on_a_whi_batch_1.png" id="138" name="Google Shape;138;g3f93b0b83d1_2_0"/>
          <p:cNvPicPr preferRelativeResize="0"/>
          <p:nvPr/>
        </p:nvPicPr>
        <p:blipFill rotWithShape="1">
          <a:blip r:embed="rId3">
            <a:alphaModFix/>
          </a:blip>
          <a:srcRect b="0" l="0" r="0" t="0"/>
          <a:stretch/>
        </p:blipFill>
        <p:spPr>
          <a:xfrm>
            <a:off x="4899337" y="1312275"/>
            <a:ext cx="7027813" cy="3955249"/>
          </a:xfrm>
          <a:prstGeom prst="rect">
            <a:avLst/>
          </a:prstGeom>
          <a:noFill/>
          <a:ln cap="flat" cmpd="sng" w="9525">
            <a:solidFill>
              <a:srgbClr val="D9EAF7"/>
            </a:solidFill>
            <a:prstDash val="solid"/>
            <a:round/>
            <a:headEnd len="sm" w="sm" type="none"/>
            <a:tailEnd len="sm" w="sm" type="none"/>
          </a:ln>
        </p:spPr>
      </p:pic>
      <p:sp>
        <p:nvSpPr>
          <p:cNvPr id="139" name="Google Shape;139;g3f93b0b83d1_2_0"/>
          <p:cNvSpPr txBox="1"/>
          <p:nvPr/>
        </p:nvSpPr>
        <p:spPr>
          <a:xfrm>
            <a:off x="411475" y="1709900"/>
            <a:ext cx="4312500" cy="3438300"/>
          </a:xfrm>
          <a:prstGeom prst="rect">
            <a:avLst/>
          </a:prstGeom>
          <a:noFill/>
          <a:ln>
            <a:noFill/>
          </a:ln>
        </p:spPr>
        <p:txBody>
          <a:bodyPr anchorCtr="0" anchor="t" bIns="45700" lIns="91425" spcFirstLastPara="1" rIns="91425" wrap="square" tIns="45700">
            <a:normAutofit/>
          </a:bodyPr>
          <a:lstStyle/>
          <a:p>
            <a:pPr indent="0" lvl="0" marL="0" rtl="0" algn="l">
              <a:lnSpc>
                <a:spcPct val="200000"/>
              </a:lnSpc>
              <a:spcBef>
                <a:spcPts val="0"/>
              </a:spcBef>
              <a:spcAft>
                <a:spcPts val="0"/>
              </a:spcAft>
              <a:buClr>
                <a:schemeClr val="dk1"/>
              </a:buClr>
              <a:buFont typeface="Arial"/>
              <a:buNone/>
            </a:pPr>
            <a:r>
              <a:rPr lang="en-US" sz="1600">
                <a:solidFill>
                  <a:srgbClr val="1F2937"/>
                </a:solidFill>
                <a:latin typeface="Trebuchet MS"/>
                <a:ea typeface="Trebuchet MS"/>
                <a:cs typeface="Trebuchet MS"/>
                <a:sym typeface="Trebuchet MS"/>
              </a:rPr>
              <a:t>• Key is passed to the </a:t>
            </a:r>
            <a:r>
              <a:rPr b="1" lang="en-US" sz="1600">
                <a:solidFill>
                  <a:srgbClr val="1F2937"/>
                </a:solidFill>
                <a:latin typeface="Trebuchet MS"/>
                <a:ea typeface="Trebuchet MS"/>
                <a:cs typeface="Trebuchet MS"/>
                <a:sym typeface="Trebuchet MS"/>
              </a:rPr>
              <a:t>hash function</a:t>
            </a:r>
            <a:r>
              <a:rPr lang="en-US" sz="1600">
                <a:solidFill>
                  <a:srgbClr val="1F2937"/>
                </a:solidFill>
                <a:latin typeface="Trebuchet MS"/>
                <a:ea typeface="Trebuchet MS"/>
                <a:cs typeface="Trebuchet MS"/>
                <a:sym typeface="Trebuchet MS"/>
              </a:rPr>
              <a:t>.</a:t>
            </a:r>
            <a:endParaRPr>
              <a:solidFill>
                <a:schemeClr val="dk1"/>
              </a:solidFill>
              <a:latin typeface="Trebuchet MS"/>
              <a:ea typeface="Trebuchet MS"/>
              <a:cs typeface="Trebuchet MS"/>
              <a:sym typeface="Trebuchet MS"/>
            </a:endParaRPr>
          </a:p>
          <a:p>
            <a:pPr indent="0" lvl="0" marL="0" rtl="0" algn="l">
              <a:lnSpc>
                <a:spcPct val="200000"/>
              </a:lnSpc>
              <a:spcBef>
                <a:spcPts val="0"/>
              </a:spcBef>
              <a:spcAft>
                <a:spcPts val="0"/>
              </a:spcAft>
              <a:buClr>
                <a:schemeClr val="dk1"/>
              </a:buClr>
              <a:buFont typeface="Arial"/>
              <a:buNone/>
            </a:pPr>
            <a:r>
              <a:rPr lang="en-US" sz="1600">
                <a:solidFill>
                  <a:srgbClr val="1F2937"/>
                </a:solidFill>
                <a:latin typeface="Trebuchet MS"/>
                <a:ea typeface="Trebuchet MS"/>
                <a:cs typeface="Trebuchet MS"/>
                <a:sym typeface="Trebuchet MS"/>
              </a:rPr>
              <a:t>• </a:t>
            </a:r>
            <a:r>
              <a:rPr b="1" lang="en-US" sz="1600">
                <a:solidFill>
                  <a:srgbClr val="1F2937"/>
                </a:solidFill>
                <a:latin typeface="Trebuchet MS"/>
                <a:ea typeface="Trebuchet MS"/>
                <a:cs typeface="Trebuchet MS"/>
                <a:sym typeface="Trebuchet MS"/>
              </a:rPr>
              <a:t>Hash function</a:t>
            </a:r>
            <a:r>
              <a:rPr lang="en-US" sz="1600">
                <a:solidFill>
                  <a:srgbClr val="1F2937"/>
                </a:solidFill>
                <a:latin typeface="Trebuchet MS"/>
                <a:ea typeface="Trebuchet MS"/>
                <a:cs typeface="Trebuchet MS"/>
                <a:sym typeface="Trebuchet MS"/>
              </a:rPr>
              <a:t> calculates an </a:t>
            </a:r>
            <a:r>
              <a:rPr b="1" lang="en-US" sz="1600">
                <a:solidFill>
                  <a:srgbClr val="1F2937"/>
                </a:solidFill>
                <a:latin typeface="Trebuchet MS"/>
                <a:ea typeface="Trebuchet MS"/>
                <a:cs typeface="Trebuchet MS"/>
                <a:sym typeface="Trebuchet MS"/>
              </a:rPr>
              <a:t>array index.</a:t>
            </a:r>
            <a:endParaRPr b="1">
              <a:solidFill>
                <a:schemeClr val="dk1"/>
              </a:solidFill>
              <a:latin typeface="Trebuchet MS"/>
              <a:ea typeface="Trebuchet MS"/>
              <a:cs typeface="Trebuchet MS"/>
              <a:sym typeface="Trebuchet MS"/>
            </a:endParaRPr>
          </a:p>
          <a:p>
            <a:pPr indent="0" lvl="0" marL="0" rtl="0" algn="l">
              <a:lnSpc>
                <a:spcPct val="200000"/>
              </a:lnSpc>
              <a:spcBef>
                <a:spcPts val="0"/>
              </a:spcBef>
              <a:spcAft>
                <a:spcPts val="0"/>
              </a:spcAft>
              <a:buClr>
                <a:schemeClr val="dk1"/>
              </a:buClr>
              <a:buFont typeface="Arial"/>
              <a:buNone/>
            </a:pPr>
            <a:r>
              <a:rPr lang="en-US" sz="1600">
                <a:solidFill>
                  <a:srgbClr val="1F2937"/>
                </a:solidFill>
                <a:latin typeface="Trebuchet MS"/>
                <a:ea typeface="Trebuchet MS"/>
                <a:cs typeface="Trebuchet MS"/>
                <a:sym typeface="Trebuchet MS"/>
              </a:rPr>
              <a:t>• The </a:t>
            </a:r>
            <a:r>
              <a:rPr b="1" lang="en-US" sz="1600">
                <a:solidFill>
                  <a:srgbClr val="1F2937"/>
                </a:solidFill>
                <a:latin typeface="Trebuchet MS"/>
                <a:ea typeface="Trebuchet MS"/>
                <a:cs typeface="Trebuchet MS"/>
                <a:sym typeface="Trebuchet MS"/>
              </a:rPr>
              <a:t>calculated index</a:t>
            </a:r>
            <a:r>
              <a:rPr lang="en-US" sz="1600">
                <a:solidFill>
                  <a:srgbClr val="1F2937"/>
                </a:solidFill>
                <a:latin typeface="Trebuchet MS"/>
                <a:ea typeface="Trebuchet MS"/>
                <a:cs typeface="Trebuchet MS"/>
                <a:sym typeface="Trebuchet MS"/>
              </a:rPr>
              <a:t> is used to access the </a:t>
            </a:r>
            <a:r>
              <a:rPr b="1" lang="en-US" sz="1600">
                <a:solidFill>
                  <a:srgbClr val="1F2937"/>
                </a:solidFill>
                <a:latin typeface="Trebuchet MS"/>
                <a:ea typeface="Trebuchet MS"/>
                <a:cs typeface="Trebuchet MS"/>
                <a:sym typeface="Trebuchet MS"/>
              </a:rPr>
              <a:t>associated value.</a:t>
            </a:r>
            <a:endParaRPr b="1" sz="1800">
              <a:solidFill>
                <a:srgbClr val="1E293B"/>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5"/>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5" name="Google Shape;145;p5"/>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6" name="Google Shape;146;p5"/>
          <p:cNvSpPr txBox="1"/>
          <p:nvPr/>
        </p:nvSpPr>
        <p:spPr>
          <a:xfrm>
            <a:off x="411480" y="256032"/>
            <a:ext cx="11155680" cy="530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Why use hashing?</a:t>
            </a:r>
            <a:endParaRPr/>
          </a:p>
        </p:txBody>
      </p:sp>
      <p:sp>
        <p:nvSpPr>
          <p:cNvPr id="147" name="Google Shape;147;p5"/>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8" name="Google Shape;148;p5"/>
          <p:cNvSpPr txBox="1"/>
          <p:nvPr/>
        </p:nvSpPr>
        <p:spPr>
          <a:xfrm>
            <a:off x="636426" y="1106438"/>
            <a:ext cx="11247000" cy="4992600"/>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t/>
            </a:r>
            <a:endParaRPr b="1" i="0" sz="1700" u="none" cap="none" strike="noStrike">
              <a:solidFill>
                <a:schemeClr val="dk1"/>
              </a:solidFill>
              <a:latin typeface="Trebuchet MS"/>
              <a:ea typeface="Trebuchet MS"/>
              <a:cs typeface="Trebuchet MS"/>
              <a:sym typeface="Trebuchet MS"/>
            </a:endParaRPr>
          </a:p>
          <a:p>
            <a:pPr indent="-336550" lvl="0" marL="457200" marR="0" rtl="0" algn="l">
              <a:lnSpc>
                <a:spcPct val="150000"/>
              </a:lnSpc>
              <a:spcBef>
                <a:spcPts val="0"/>
              </a:spcBef>
              <a:spcAft>
                <a:spcPts val="0"/>
              </a:spcAft>
              <a:buClr>
                <a:srgbClr val="1E293B"/>
              </a:buClr>
              <a:buSzPts val="1700"/>
              <a:buFont typeface="Trebuchet MS"/>
              <a:buChar char="●"/>
            </a:pPr>
            <a:r>
              <a:rPr b="1" lang="en-US" sz="1700">
                <a:solidFill>
                  <a:srgbClr val="1E293B"/>
                </a:solidFill>
                <a:latin typeface="Trebuchet MS"/>
                <a:ea typeface="Trebuchet MS"/>
                <a:cs typeface="Trebuchet MS"/>
                <a:sym typeface="Trebuchet MS"/>
              </a:rPr>
              <a:t>Fast Data Retrieval (Time Complexity: O(1))</a:t>
            </a:r>
            <a:endParaRPr b="1" sz="1700">
              <a:solidFill>
                <a:srgbClr val="1E293B"/>
              </a:solidFill>
              <a:latin typeface="Trebuchet MS"/>
              <a:ea typeface="Trebuchet MS"/>
              <a:cs typeface="Trebuchet MS"/>
              <a:sym typeface="Trebuchet MS"/>
            </a:endParaRPr>
          </a:p>
          <a:p>
            <a:pPr indent="-336550" lvl="1" marL="914400" marR="0" rtl="0" algn="l">
              <a:lnSpc>
                <a:spcPct val="150000"/>
              </a:lnSpc>
              <a:spcBef>
                <a:spcPts val="0"/>
              </a:spcBef>
              <a:spcAft>
                <a:spcPts val="0"/>
              </a:spcAft>
              <a:buClr>
                <a:srgbClr val="1E293B"/>
              </a:buClr>
              <a:buSzPts val="1700"/>
              <a:buFont typeface="Trebuchet MS"/>
              <a:buChar char="○"/>
            </a:pPr>
            <a:r>
              <a:rPr i="0" lang="en-US" sz="1700" u="none" cap="none" strike="noStrike">
                <a:solidFill>
                  <a:srgbClr val="1E293B"/>
                </a:solidFill>
                <a:latin typeface="Trebuchet MS"/>
                <a:ea typeface="Trebuchet MS"/>
                <a:cs typeface="Trebuchet MS"/>
                <a:sym typeface="Trebuchet MS"/>
              </a:rPr>
              <a:t>Hashing enables O(1) time complexity for search, insertion, and deletion in ideal conditions.</a:t>
            </a:r>
            <a:endParaRPr sz="1700">
              <a:latin typeface="Trebuchet MS"/>
              <a:ea typeface="Trebuchet MS"/>
              <a:cs typeface="Trebuchet MS"/>
              <a:sym typeface="Trebuchet MS"/>
            </a:endParaRPr>
          </a:p>
          <a:p>
            <a:pPr indent="-336550" lvl="1" marL="914400" marR="0" rtl="0" algn="l">
              <a:lnSpc>
                <a:spcPct val="150000"/>
              </a:lnSpc>
              <a:spcBef>
                <a:spcPts val="0"/>
              </a:spcBef>
              <a:spcAft>
                <a:spcPts val="0"/>
              </a:spcAft>
              <a:buClr>
                <a:srgbClr val="1E293B"/>
              </a:buClr>
              <a:buSzPts val="1700"/>
              <a:buFont typeface="Trebuchet MS"/>
              <a:buChar char="○"/>
            </a:pPr>
            <a:r>
              <a:rPr i="0" lang="en-US" sz="1700" u="none" cap="none" strike="noStrike">
                <a:solidFill>
                  <a:srgbClr val="1E293B"/>
                </a:solidFill>
                <a:latin typeface="Trebuchet MS"/>
                <a:ea typeface="Trebuchet MS"/>
                <a:cs typeface="Trebuchet MS"/>
                <a:sym typeface="Trebuchet MS"/>
              </a:rPr>
              <a:t>A data structure that allows for the </a:t>
            </a:r>
            <a:r>
              <a:rPr i="0" lang="en-US" sz="1700" u="sng" cap="none" strike="noStrike">
                <a:solidFill>
                  <a:srgbClr val="1E293B"/>
                </a:solidFill>
                <a:latin typeface="Trebuchet MS"/>
                <a:ea typeface="Trebuchet MS"/>
                <a:cs typeface="Trebuchet MS"/>
                <a:sym typeface="Trebuchet MS"/>
              </a:rPr>
              <a:t>very fast retrieval of data</a:t>
            </a:r>
            <a:r>
              <a:rPr i="0" lang="en-US" sz="1700" u="none" cap="none" strike="noStrike">
                <a:solidFill>
                  <a:srgbClr val="1E293B"/>
                </a:solidFill>
                <a:latin typeface="Trebuchet MS"/>
                <a:ea typeface="Trebuchet MS"/>
                <a:cs typeface="Trebuchet MS"/>
                <a:sym typeface="Trebuchet MS"/>
              </a:rPr>
              <a:t> no matter how much data there is.</a:t>
            </a:r>
            <a:endParaRPr sz="1700">
              <a:latin typeface="Trebuchet MS"/>
              <a:ea typeface="Trebuchet MS"/>
              <a:cs typeface="Trebuchet MS"/>
              <a:sym typeface="Trebuchet MS"/>
            </a:endParaRPr>
          </a:p>
          <a:p>
            <a:pPr indent="-336550" lvl="1" marL="914400" marR="0" rtl="0" algn="l">
              <a:lnSpc>
                <a:spcPct val="150000"/>
              </a:lnSpc>
              <a:spcBef>
                <a:spcPts val="0"/>
              </a:spcBef>
              <a:spcAft>
                <a:spcPts val="0"/>
              </a:spcAft>
              <a:buClr>
                <a:srgbClr val="1E293B"/>
              </a:buClr>
              <a:buSzPts val="1700"/>
              <a:buFont typeface="Trebuchet MS"/>
              <a:buChar char="○"/>
            </a:pPr>
            <a:r>
              <a:rPr i="0" lang="en-US" sz="1700" u="none" cap="none" strike="noStrike">
                <a:solidFill>
                  <a:srgbClr val="1E293B"/>
                </a:solidFill>
                <a:latin typeface="Trebuchet MS"/>
                <a:ea typeface="Trebuchet MS"/>
                <a:cs typeface="Trebuchet MS"/>
                <a:sym typeface="Trebuchet MS"/>
              </a:rPr>
              <a:t>Hashing is an example of a</a:t>
            </a:r>
            <a:r>
              <a:rPr b="1" i="0" lang="en-US" sz="1700" u="sng" cap="none" strike="noStrike">
                <a:solidFill>
                  <a:srgbClr val="1E293B"/>
                </a:solidFill>
                <a:latin typeface="Trebuchet MS"/>
                <a:ea typeface="Trebuchet MS"/>
                <a:cs typeface="Trebuchet MS"/>
                <a:sym typeface="Trebuchet MS"/>
              </a:rPr>
              <a:t> space-time tradeoff</a:t>
            </a:r>
            <a:r>
              <a:rPr i="0" lang="en-US" sz="1700" u="none" cap="none" strike="noStrike">
                <a:solidFill>
                  <a:srgbClr val="1E293B"/>
                </a:solidFill>
                <a:latin typeface="Trebuchet MS"/>
                <a:ea typeface="Trebuchet MS"/>
                <a:cs typeface="Trebuchet MS"/>
                <a:sym typeface="Trebuchet MS"/>
              </a:rPr>
              <a:t>.</a:t>
            </a:r>
            <a:endParaRPr sz="1700">
              <a:latin typeface="Trebuchet MS"/>
              <a:ea typeface="Trebuchet MS"/>
              <a:cs typeface="Trebuchet MS"/>
              <a:sym typeface="Trebuchet MS"/>
            </a:endParaRPr>
          </a:p>
          <a:p>
            <a:pPr indent="-336550" lvl="2" marL="1371600" marR="0" rtl="0" algn="l">
              <a:lnSpc>
                <a:spcPct val="150000"/>
              </a:lnSpc>
              <a:spcBef>
                <a:spcPts val="0"/>
              </a:spcBef>
              <a:spcAft>
                <a:spcPts val="0"/>
              </a:spcAft>
              <a:buClr>
                <a:srgbClr val="1E293B"/>
              </a:buClr>
              <a:buSzPts val="1700"/>
              <a:buFont typeface="Trebuchet MS"/>
              <a:buChar char="■"/>
            </a:pPr>
            <a:r>
              <a:rPr i="0" lang="en-US" sz="1700" u="none" cap="none" strike="noStrike">
                <a:solidFill>
                  <a:srgbClr val="1E293B"/>
                </a:solidFill>
                <a:latin typeface="Trebuchet MS"/>
                <a:ea typeface="Trebuchet MS"/>
                <a:cs typeface="Trebuchet MS"/>
                <a:sym typeface="Trebuchet MS"/>
              </a:rPr>
              <a:t>It uses extra memory to achieve faster data access.</a:t>
            </a:r>
            <a:endParaRPr i="0" sz="1700" u="none" cap="none" strike="noStrike">
              <a:solidFill>
                <a:schemeClr val="dk1"/>
              </a:solidFill>
              <a:latin typeface="Trebuchet MS"/>
              <a:ea typeface="Trebuchet MS"/>
              <a:cs typeface="Trebuchet MS"/>
              <a:sym typeface="Trebuchet MS"/>
            </a:endParaRPr>
          </a:p>
          <a:p>
            <a:pPr indent="0" lvl="0" marL="457200" marR="0" rtl="0" algn="l">
              <a:lnSpc>
                <a:spcPct val="150000"/>
              </a:lnSpc>
              <a:spcBef>
                <a:spcPts val="0"/>
              </a:spcBef>
              <a:spcAft>
                <a:spcPts val="0"/>
              </a:spcAft>
              <a:buNone/>
            </a:pPr>
            <a:r>
              <a:t/>
            </a:r>
            <a:endParaRPr i="0" sz="1700" u="none" cap="none" strike="noStrike">
              <a:solidFill>
                <a:schemeClr val="dk1"/>
              </a:solidFill>
              <a:latin typeface="Trebuchet MS"/>
              <a:ea typeface="Trebuchet MS"/>
              <a:cs typeface="Trebuchet MS"/>
              <a:sym typeface="Trebuchet MS"/>
            </a:endParaRPr>
          </a:p>
          <a:p>
            <a:pPr indent="-336550" lvl="0" marL="457200" marR="0" rtl="0" algn="l">
              <a:lnSpc>
                <a:spcPct val="150000"/>
              </a:lnSpc>
              <a:spcBef>
                <a:spcPts val="0"/>
              </a:spcBef>
              <a:spcAft>
                <a:spcPts val="0"/>
              </a:spcAft>
              <a:buClr>
                <a:srgbClr val="1E293B"/>
              </a:buClr>
              <a:buSzPts val="1700"/>
              <a:buFont typeface="Calibri"/>
              <a:buChar char="●"/>
            </a:pPr>
            <a:r>
              <a:rPr i="0" lang="en-US" sz="1700" u="none" cap="none" strike="noStrike">
                <a:solidFill>
                  <a:srgbClr val="1E293B"/>
                </a:solidFill>
                <a:latin typeface="Trebuchet MS"/>
                <a:ea typeface="Trebuchet MS"/>
                <a:cs typeface="Trebuchet MS"/>
                <a:sym typeface="Trebuchet MS"/>
              </a:rPr>
              <a:t> </a:t>
            </a:r>
            <a:r>
              <a:rPr b="1" i="0" lang="en-US" sz="1700" u="none" cap="none" strike="noStrike">
                <a:solidFill>
                  <a:srgbClr val="1E293B"/>
                </a:solidFill>
                <a:latin typeface="Trebuchet MS"/>
                <a:ea typeface="Trebuchet MS"/>
                <a:cs typeface="Trebuchet MS"/>
                <a:sym typeface="Trebuchet MS"/>
              </a:rPr>
              <a:t>Efficient Handling of Large Datasets</a:t>
            </a:r>
            <a:endParaRPr b="1" i="0" sz="1700" u="none" cap="none" strike="noStrike">
              <a:solidFill>
                <a:schemeClr val="dk1"/>
              </a:solidFill>
              <a:latin typeface="Trebuchet MS"/>
              <a:ea typeface="Trebuchet MS"/>
              <a:cs typeface="Trebuchet MS"/>
              <a:sym typeface="Trebuchet MS"/>
            </a:endParaRPr>
          </a:p>
          <a:p>
            <a:pPr indent="-336550" lvl="1" marL="914400" marR="0" rtl="0" algn="l">
              <a:lnSpc>
                <a:spcPct val="150000"/>
              </a:lnSpc>
              <a:spcBef>
                <a:spcPts val="0"/>
              </a:spcBef>
              <a:spcAft>
                <a:spcPts val="0"/>
              </a:spcAft>
              <a:buClr>
                <a:srgbClr val="1E293B"/>
              </a:buClr>
              <a:buSzPts val="1700"/>
              <a:buFont typeface="Trebuchet MS"/>
              <a:buChar char="○"/>
            </a:pPr>
            <a:r>
              <a:rPr i="0" lang="en-US" sz="1700" u="none" cap="none" strike="noStrike">
                <a:solidFill>
                  <a:srgbClr val="1E293B"/>
                </a:solidFill>
                <a:latin typeface="Trebuchet MS"/>
                <a:ea typeface="Trebuchet MS"/>
                <a:cs typeface="Trebuchet MS"/>
                <a:sym typeface="Trebuchet MS"/>
              </a:rPr>
              <a:t>Hashing </a:t>
            </a:r>
            <a:r>
              <a:rPr b="1" i="0" lang="en-US" sz="1700" u="sng" cap="none" strike="noStrike">
                <a:solidFill>
                  <a:srgbClr val="1E293B"/>
                </a:solidFill>
                <a:latin typeface="Trebuchet MS"/>
                <a:ea typeface="Trebuchet MS"/>
                <a:cs typeface="Trebuchet MS"/>
                <a:sym typeface="Trebuchet MS"/>
              </a:rPr>
              <a:t>distributes data evenly</a:t>
            </a:r>
            <a:r>
              <a:rPr i="0" lang="en-US" sz="1700" u="none" cap="none" strike="noStrike">
                <a:solidFill>
                  <a:srgbClr val="1E293B"/>
                </a:solidFill>
                <a:latin typeface="Trebuchet MS"/>
                <a:ea typeface="Trebuchet MS"/>
                <a:cs typeface="Trebuchet MS"/>
                <a:sym typeface="Trebuchet MS"/>
              </a:rPr>
              <a:t> across a fixed-size table, enabling </a:t>
            </a:r>
            <a:r>
              <a:rPr b="1" i="0" lang="en-US" sz="1700" u="none" cap="none" strike="noStrike">
                <a:solidFill>
                  <a:srgbClr val="1E293B"/>
                </a:solidFill>
                <a:latin typeface="Trebuchet MS"/>
                <a:ea typeface="Trebuchet MS"/>
                <a:cs typeface="Trebuchet MS"/>
                <a:sym typeface="Trebuchet MS"/>
              </a:rPr>
              <a:t>quick access</a:t>
            </a:r>
            <a:r>
              <a:rPr i="0" lang="en-US" sz="1700" u="none" cap="none" strike="noStrike">
                <a:solidFill>
                  <a:srgbClr val="1E293B"/>
                </a:solidFill>
                <a:latin typeface="Trebuchet MS"/>
                <a:ea typeface="Trebuchet MS"/>
                <a:cs typeface="Trebuchet MS"/>
                <a:sym typeface="Trebuchet MS"/>
              </a:rPr>
              <a:t>.</a:t>
            </a:r>
            <a:endParaRPr sz="1700">
              <a:latin typeface="Trebuchet MS"/>
              <a:ea typeface="Trebuchet MS"/>
              <a:cs typeface="Trebuchet MS"/>
              <a:sym typeface="Trebuchet MS"/>
            </a:endParaRPr>
          </a:p>
          <a:p>
            <a:pPr indent="-336550" lvl="1" marL="914400" marR="0" rtl="0" algn="l">
              <a:lnSpc>
                <a:spcPct val="150000"/>
              </a:lnSpc>
              <a:spcBef>
                <a:spcPts val="0"/>
              </a:spcBef>
              <a:spcAft>
                <a:spcPts val="0"/>
              </a:spcAft>
              <a:buClr>
                <a:srgbClr val="1E293B"/>
              </a:buClr>
              <a:buSzPts val="1700"/>
              <a:buFont typeface="Trebuchet MS"/>
              <a:buChar char="○"/>
            </a:pPr>
            <a:r>
              <a:rPr i="0" lang="en-US" sz="1700" u="none" cap="none" strike="noStrike">
                <a:solidFill>
                  <a:srgbClr val="1E293B"/>
                </a:solidFill>
                <a:latin typeface="Trebuchet MS"/>
                <a:ea typeface="Trebuchet MS"/>
                <a:cs typeface="Trebuchet MS"/>
                <a:sym typeface="Trebuchet MS"/>
              </a:rPr>
              <a:t>This prevents the need to search the entire dataset, improving efficiency. </a:t>
            </a:r>
            <a:endParaRPr sz="1700">
              <a:solidFill>
                <a:srgbClr val="1E293B"/>
              </a:solidFill>
              <a:latin typeface="Trebuchet MS"/>
              <a:ea typeface="Trebuchet MS"/>
              <a:cs typeface="Trebuchet MS"/>
              <a:sym typeface="Trebuchet MS"/>
            </a:endParaRPr>
          </a:p>
          <a:p>
            <a:pPr indent="-336550" lvl="3" marL="1828800" marR="0" rtl="0" algn="l">
              <a:lnSpc>
                <a:spcPct val="150000"/>
              </a:lnSpc>
              <a:spcBef>
                <a:spcPts val="0"/>
              </a:spcBef>
              <a:spcAft>
                <a:spcPts val="0"/>
              </a:spcAft>
              <a:buClr>
                <a:srgbClr val="1E293B"/>
              </a:buClr>
              <a:buSzPts val="1700"/>
              <a:buFont typeface="Trebuchet MS"/>
              <a:buChar char="●"/>
            </a:pPr>
            <a:r>
              <a:rPr i="0" lang="en-US" sz="1700" u="none" cap="none" strike="noStrike">
                <a:solidFill>
                  <a:srgbClr val="1E293B"/>
                </a:solidFill>
                <a:latin typeface="Trebuchet MS"/>
                <a:ea typeface="Trebuchet MS"/>
                <a:cs typeface="Trebuchet MS"/>
                <a:sym typeface="Trebuchet MS"/>
              </a:rPr>
              <a:t>Avoiding Sequential / Linear Search </a:t>
            </a:r>
            <a:r>
              <a:rPr lang="en-US" sz="1700">
                <a:solidFill>
                  <a:srgbClr val="1E293B"/>
                </a:solidFill>
                <a:latin typeface="Trebuchet MS"/>
                <a:ea typeface="Trebuchet MS"/>
                <a:cs typeface="Trebuchet MS"/>
                <a:sym typeface="Trebuchet MS"/>
              </a:rPr>
              <a:t>/ </a:t>
            </a:r>
            <a:r>
              <a:rPr i="0" lang="en-US" sz="1700" u="none" cap="none" strike="noStrike">
                <a:solidFill>
                  <a:srgbClr val="1E293B"/>
                </a:solidFill>
                <a:latin typeface="Trebuchet MS"/>
                <a:ea typeface="Trebuchet MS"/>
                <a:cs typeface="Trebuchet MS"/>
                <a:sym typeface="Trebuchet MS"/>
              </a:rPr>
              <a:t>O(n)</a:t>
            </a:r>
            <a:endParaRPr sz="1700">
              <a:latin typeface="Trebuchet MS"/>
              <a:ea typeface="Trebuchet MS"/>
              <a:cs typeface="Trebuchet MS"/>
              <a:sym typeface="Trebuchet MS"/>
            </a:endParaRPr>
          </a:p>
        </p:txBody>
      </p:sp>
      <p:sp>
        <p:nvSpPr>
          <p:cNvPr id="149" name="Google Shape;149;p5"/>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150" name="Google Shape;150;p5"/>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sp>
        <p:nvSpPr>
          <p:cNvPr id="155" name="Google Shape;155;p6"/>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6" name="Google Shape;156;p6"/>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7" name="Google Shape;157;p6"/>
          <p:cNvSpPr txBox="1"/>
          <p:nvPr/>
        </p:nvSpPr>
        <p:spPr>
          <a:xfrm>
            <a:off x="411480" y="256032"/>
            <a:ext cx="11155680" cy="530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Demonstration of Hashing importance</a:t>
            </a:r>
            <a:endParaRPr/>
          </a:p>
        </p:txBody>
      </p:sp>
      <p:sp>
        <p:nvSpPr>
          <p:cNvPr id="158" name="Google Shape;158;p6"/>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9" name="Google Shape;159;p6"/>
          <p:cNvSpPr txBox="1"/>
          <p:nvPr/>
        </p:nvSpPr>
        <p:spPr>
          <a:xfrm>
            <a:off x="270725" y="1456750"/>
            <a:ext cx="6053700" cy="3670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i="0" lang="en-US" sz="1700" u="none" cap="none" strike="noStrike">
                <a:solidFill>
                  <a:srgbClr val="1E293B"/>
                </a:solidFill>
                <a:latin typeface="Trebuchet MS"/>
                <a:ea typeface="Trebuchet MS"/>
                <a:cs typeface="Trebuchet MS"/>
                <a:sym typeface="Trebuchet MS"/>
              </a:rPr>
              <a:t>In an Array:</a:t>
            </a:r>
            <a:endParaRPr i="0" sz="1700" u="none" cap="none" strike="noStrike">
              <a:solidFill>
                <a:schemeClr val="dk1"/>
              </a:solidFill>
              <a:latin typeface="Trebuchet MS"/>
              <a:ea typeface="Trebuchet MS"/>
              <a:cs typeface="Trebuchet MS"/>
              <a:sym typeface="Trebuchet MS"/>
            </a:endParaRPr>
          </a:p>
          <a:p>
            <a:pPr indent="-336550" lvl="0" marL="457200" marR="0" rtl="0" algn="l">
              <a:lnSpc>
                <a:spcPct val="150000"/>
              </a:lnSpc>
              <a:spcBef>
                <a:spcPts val="0"/>
              </a:spcBef>
              <a:spcAft>
                <a:spcPts val="0"/>
              </a:spcAft>
              <a:buClr>
                <a:srgbClr val="1E293B"/>
              </a:buClr>
              <a:buSzPts val="1700"/>
              <a:buFont typeface="Trebuchet MS"/>
              <a:buChar char="●"/>
            </a:pPr>
            <a:r>
              <a:rPr i="0" lang="en-US" sz="1700" u="none" cap="none" strike="noStrike">
                <a:solidFill>
                  <a:srgbClr val="1E293B"/>
                </a:solidFill>
                <a:latin typeface="Trebuchet MS"/>
                <a:ea typeface="Trebuchet MS"/>
                <a:cs typeface="Trebuchet MS"/>
                <a:sym typeface="Trebuchet MS"/>
              </a:rPr>
              <a:t>If we do not know the index of the data, </a:t>
            </a:r>
            <a:br>
              <a:rPr i="0" lang="en-US" sz="1700" u="none" cap="none" strike="noStrike">
                <a:solidFill>
                  <a:srgbClr val="1E293B"/>
                </a:solidFill>
                <a:latin typeface="Trebuchet MS"/>
                <a:ea typeface="Trebuchet MS"/>
                <a:cs typeface="Trebuchet MS"/>
                <a:sym typeface="Trebuchet MS"/>
              </a:rPr>
            </a:br>
            <a:r>
              <a:rPr i="0" lang="en-US" sz="1700" u="none" cap="none" strike="noStrike">
                <a:solidFill>
                  <a:srgbClr val="1E293B"/>
                </a:solidFill>
                <a:latin typeface="Trebuchet MS"/>
                <a:ea typeface="Trebuchet MS"/>
                <a:cs typeface="Trebuchet MS"/>
                <a:sym typeface="Trebuchet MS"/>
              </a:rPr>
              <a:t>we must s</a:t>
            </a:r>
            <a:r>
              <a:rPr b="1" i="0" lang="en-US" sz="1700" u="none" cap="none" strike="noStrike">
                <a:solidFill>
                  <a:srgbClr val="1E293B"/>
                </a:solidFill>
                <a:latin typeface="Trebuchet MS"/>
                <a:ea typeface="Trebuchet MS"/>
                <a:cs typeface="Trebuchet MS"/>
                <a:sym typeface="Trebuchet MS"/>
              </a:rPr>
              <a:t>earch sequentially</a:t>
            </a:r>
            <a:r>
              <a:rPr i="0" lang="en-US" sz="1700" u="none" cap="none" strike="noStrike">
                <a:solidFill>
                  <a:srgbClr val="1E293B"/>
                </a:solidFill>
                <a:latin typeface="Trebuchet MS"/>
                <a:ea typeface="Trebuchet MS"/>
                <a:cs typeface="Trebuchet MS"/>
                <a:sym typeface="Trebuchet MS"/>
              </a:rPr>
              <a:t> (Linear Search) to find the data (here, in this example, "Ada").</a:t>
            </a:r>
            <a:br>
              <a:rPr i="0" lang="en-US" sz="1700" u="none" cap="none" strike="noStrike">
                <a:solidFill>
                  <a:srgbClr val="1E293B"/>
                </a:solidFill>
                <a:latin typeface="Trebuchet MS"/>
                <a:ea typeface="Trebuchet MS"/>
                <a:cs typeface="Trebuchet MS"/>
                <a:sym typeface="Trebuchet MS"/>
              </a:rPr>
            </a:br>
            <a:endParaRPr i="0" sz="1700" u="none" cap="none" strike="noStrike">
              <a:solidFill>
                <a:schemeClr val="dk1"/>
              </a:solidFill>
              <a:latin typeface="Trebuchet MS"/>
              <a:ea typeface="Trebuchet MS"/>
              <a:cs typeface="Trebuchet MS"/>
              <a:sym typeface="Trebuchet MS"/>
            </a:endParaRPr>
          </a:p>
          <a:p>
            <a:pPr indent="-336550" lvl="1" marL="914400" marR="0" rtl="0" algn="l">
              <a:lnSpc>
                <a:spcPct val="150000"/>
              </a:lnSpc>
              <a:spcBef>
                <a:spcPts val="0"/>
              </a:spcBef>
              <a:spcAft>
                <a:spcPts val="0"/>
              </a:spcAft>
              <a:buClr>
                <a:srgbClr val="1E293B"/>
              </a:buClr>
              <a:buSzPts val="1700"/>
              <a:buFont typeface="Trebuchet MS"/>
              <a:buChar char="○"/>
            </a:pPr>
            <a:r>
              <a:rPr i="0" lang="en-US" sz="1700" u="none" cap="none" strike="noStrike">
                <a:solidFill>
                  <a:srgbClr val="1E293B"/>
                </a:solidFill>
                <a:latin typeface="Trebuchet MS"/>
                <a:ea typeface="Trebuchet MS"/>
                <a:cs typeface="Trebuchet MS"/>
                <a:sym typeface="Trebuchet MS"/>
              </a:rPr>
              <a:t>In the worst case, the entire array may need to be traversed, </a:t>
            </a:r>
            <a:r>
              <a:rPr lang="en-US" sz="1700">
                <a:solidFill>
                  <a:srgbClr val="1E293B"/>
                </a:solidFill>
                <a:latin typeface="Trebuchet MS"/>
                <a:ea typeface="Trebuchet MS"/>
                <a:cs typeface="Trebuchet MS"/>
                <a:sym typeface="Trebuchet MS"/>
              </a:rPr>
              <a:t> </a:t>
            </a:r>
            <a:r>
              <a:rPr i="0" lang="en-US" sz="1700" u="none" cap="none" strike="noStrike">
                <a:solidFill>
                  <a:srgbClr val="1E293B"/>
                </a:solidFill>
                <a:latin typeface="Trebuchet MS"/>
                <a:ea typeface="Trebuchet MS"/>
                <a:cs typeface="Trebuchet MS"/>
                <a:sym typeface="Trebuchet MS"/>
              </a:rPr>
              <a:t>resulting in a time complexity of O(n).</a:t>
            </a:r>
            <a:br>
              <a:rPr i="0" lang="en-US" sz="1700" u="none" cap="none" strike="noStrike">
                <a:solidFill>
                  <a:srgbClr val="1E293B"/>
                </a:solidFill>
                <a:latin typeface="Trebuchet MS"/>
                <a:ea typeface="Trebuchet MS"/>
                <a:cs typeface="Trebuchet MS"/>
                <a:sym typeface="Trebuchet MS"/>
              </a:rPr>
            </a:br>
            <a:endParaRPr i="0" sz="1700" u="none" cap="none" strike="noStrike">
              <a:solidFill>
                <a:schemeClr val="dk1"/>
              </a:solidFill>
              <a:latin typeface="Trebuchet MS"/>
              <a:ea typeface="Trebuchet MS"/>
              <a:cs typeface="Trebuchet MS"/>
              <a:sym typeface="Trebuchet MS"/>
            </a:endParaRPr>
          </a:p>
          <a:p>
            <a:pPr indent="-336550" lvl="0" marL="457200" marR="0" rtl="0" algn="l">
              <a:lnSpc>
                <a:spcPct val="150000"/>
              </a:lnSpc>
              <a:spcBef>
                <a:spcPts val="0"/>
              </a:spcBef>
              <a:spcAft>
                <a:spcPts val="0"/>
              </a:spcAft>
              <a:buClr>
                <a:srgbClr val="1E293B"/>
              </a:buClr>
              <a:buSzPts val="1700"/>
              <a:buFont typeface="Trebuchet MS"/>
              <a:buChar char="●"/>
            </a:pPr>
            <a:r>
              <a:rPr i="0" lang="en-US" sz="1700" u="none" cap="none" strike="noStrike">
                <a:solidFill>
                  <a:srgbClr val="1E293B"/>
                </a:solidFill>
                <a:latin typeface="Trebuchet MS"/>
                <a:ea typeface="Trebuchet MS"/>
                <a:cs typeface="Trebuchet MS"/>
                <a:sym typeface="Trebuchet MS"/>
              </a:rPr>
              <a:t>Therefore, for a very large array, searching can take a significant amount of time</a:t>
            </a:r>
            <a:r>
              <a:rPr lang="en-US" sz="1700">
                <a:solidFill>
                  <a:srgbClr val="1E293B"/>
                </a:solidFill>
                <a:latin typeface="Trebuchet MS"/>
                <a:ea typeface="Trebuchet MS"/>
                <a:cs typeface="Trebuchet MS"/>
                <a:sym typeface="Trebuchet MS"/>
              </a:rPr>
              <a:t>, </a:t>
            </a:r>
            <a:r>
              <a:rPr lang="en-US" sz="1700">
                <a:solidFill>
                  <a:srgbClr val="1E293B"/>
                </a:solidFill>
                <a:latin typeface="Trebuchet MS"/>
                <a:ea typeface="Trebuchet MS"/>
                <a:cs typeface="Trebuchet MS"/>
                <a:sym typeface="Trebuchet MS"/>
              </a:rPr>
              <a:t>O(n)</a:t>
            </a:r>
            <a:endParaRPr i="0" sz="1700" u="none" cap="none" strike="noStrike">
              <a:solidFill>
                <a:srgbClr val="1E293B"/>
              </a:solidFill>
              <a:latin typeface="Trebuchet MS"/>
              <a:ea typeface="Trebuchet MS"/>
              <a:cs typeface="Trebuchet MS"/>
              <a:sym typeface="Trebuchet MS"/>
            </a:endParaRPr>
          </a:p>
          <a:p>
            <a:pPr indent="-336550" lvl="0" marL="457200" marR="0" rtl="0" algn="l">
              <a:lnSpc>
                <a:spcPct val="150000"/>
              </a:lnSpc>
              <a:spcBef>
                <a:spcPts val="0"/>
              </a:spcBef>
              <a:spcAft>
                <a:spcPts val="0"/>
              </a:spcAft>
              <a:buClr>
                <a:srgbClr val="1E293B"/>
              </a:buClr>
              <a:buSzPts val="1700"/>
              <a:buFont typeface="Trebuchet MS"/>
              <a:buChar char="●"/>
            </a:pPr>
            <a:r>
              <a:rPr b="1" lang="en-US" sz="1700" u="sng">
                <a:solidFill>
                  <a:srgbClr val="1E293B"/>
                </a:solidFill>
                <a:latin typeface="Trebuchet MS"/>
                <a:ea typeface="Trebuchet MS"/>
                <a:cs typeface="Trebuchet MS"/>
                <a:sym typeface="Trebuchet MS"/>
              </a:rPr>
              <a:t>This motivates calculating an index from the key.</a:t>
            </a:r>
            <a:endParaRPr b="1" sz="1700" u="sng">
              <a:solidFill>
                <a:srgbClr val="1E293B"/>
              </a:solidFill>
              <a:latin typeface="Trebuchet MS"/>
              <a:ea typeface="Trebuchet MS"/>
              <a:cs typeface="Trebuchet MS"/>
              <a:sym typeface="Trebuchet MS"/>
            </a:endParaRPr>
          </a:p>
        </p:txBody>
      </p:sp>
      <p:sp>
        <p:nvSpPr>
          <p:cNvPr id="160" name="Google Shape;160;p6"/>
          <p:cNvSpPr txBox="1"/>
          <p:nvPr/>
        </p:nvSpPr>
        <p:spPr>
          <a:xfrm>
            <a:off x="6791125" y="4828925"/>
            <a:ext cx="56694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F6368"/>
                </a:solidFill>
                <a:latin typeface="Calibri"/>
                <a:ea typeface="Calibri"/>
                <a:cs typeface="Calibri"/>
                <a:sym typeface="Calibri"/>
              </a:rPr>
              <a:t>• Figure: Linear search is needed when the index is unknown.</a:t>
            </a:r>
            <a:endParaRPr sz="1800"/>
          </a:p>
        </p:txBody>
      </p:sp>
      <p:sp>
        <p:nvSpPr>
          <p:cNvPr id="161" name="Google Shape;161;p6"/>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162" name="Google Shape;162;p6"/>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5</a:t>
            </a:r>
            <a:endParaRPr/>
          </a:p>
        </p:txBody>
      </p:sp>
      <p:pic>
        <p:nvPicPr>
          <p:cNvPr id="163" name="Google Shape;163;p6"/>
          <p:cNvPicPr preferRelativeResize="0"/>
          <p:nvPr/>
        </p:nvPicPr>
        <p:blipFill rotWithShape="1">
          <a:blip r:embed="rId3">
            <a:alphaModFix/>
          </a:blip>
          <a:srcRect b="0" l="0" r="0" t="0"/>
          <a:stretch/>
        </p:blipFill>
        <p:spPr>
          <a:xfrm>
            <a:off x="6324524" y="1456752"/>
            <a:ext cx="5739525" cy="323019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 name="Shape 167"/>
        <p:cNvGrpSpPr/>
        <p:nvPr/>
      </p:nvGrpSpPr>
      <p:grpSpPr>
        <a:xfrm>
          <a:off x="0" y="0"/>
          <a:ext cx="0" cy="0"/>
          <a:chOff x="0" y="0"/>
          <a:chExt cx="0" cy="0"/>
        </a:xfrm>
      </p:grpSpPr>
      <p:sp>
        <p:nvSpPr>
          <p:cNvPr id="168" name="Google Shape;168;p7"/>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9" name="Google Shape;169;p7"/>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0" name="Google Shape;170;p7"/>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1" name="Google Shape;171;p7"/>
          <p:cNvSpPr txBox="1"/>
          <p:nvPr/>
        </p:nvSpPr>
        <p:spPr>
          <a:xfrm>
            <a:off x="334700" y="1650475"/>
            <a:ext cx="5996700" cy="3572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If we know the </a:t>
            </a:r>
            <a:r>
              <a:rPr b="1" i="0" lang="en-US" sz="1600" u="sng" cap="none" strike="noStrike">
                <a:solidFill>
                  <a:srgbClr val="1E293B"/>
                </a:solidFill>
                <a:latin typeface="Trebuchet MS"/>
                <a:ea typeface="Trebuchet MS"/>
                <a:cs typeface="Trebuchet MS"/>
                <a:sym typeface="Trebuchet MS"/>
              </a:rPr>
              <a:t>index number of the data</a:t>
            </a:r>
            <a:r>
              <a:rPr i="0" lang="en-US" sz="1600" u="none" cap="none" strike="noStrike">
                <a:solidFill>
                  <a:srgbClr val="1E293B"/>
                </a:solidFill>
                <a:latin typeface="Trebuchet MS"/>
                <a:ea typeface="Trebuchet MS"/>
                <a:cs typeface="Trebuchet MS"/>
                <a:sym typeface="Trebuchet MS"/>
              </a:rPr>
              <a:t> we are looking for, then the time it takes to access element is:</a:t>
            </a:r>
            <a:br>
              <a:rPr i="0" lang="en-US" sz="1600" u="none" cap="none" strike="noStrike">
                <a:solidFill>
                  <a:srgbClr val="1E293B"/>
                </a:solidFill>
                <a:latin typeface="Trebuchet MS"/>
                <a:ea typeface="Trebuchet MS"/>
                <a:cs typeface="Trebuchet MS"/>
                <a:sym typeface="Trebuchet MS"/>
              </a:rPr>
            </a:br>
            <a:endParaRPr i="0" sz="1600" u="none" cap="none" strike="noStrike">
              <a:solidFill>
                <a:schemeClr val="dk1"/>
              </a:solidFill>
              <a:latin typeface="Trebuchet MS"/>
              <a:ea typeface="Trebuchet MS"/>
              <a:cs typeface="Trebuchet MS"/>
              <a:sym typeface="Trebuchet MS"/>
            </a:endParaRPr>
          </a:p>
          <a:p>
            <a:pPr indent="0" lvl="1" marL="457200" marR="0" rtl="0" algn="l">
              <a:lnSpc>
                <a:spcPct val="20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I</a:t>
            </a:r>
            <a:r>
              <a:rPr b="1" i="0" lang="en-US" sz="1600" u="none" cap="none" strike="noStrike">
                <a:solidFill>
                  <a:srgbClr val="1E293B"/>
                </a:solidFill>
                <a:latin typeface="Trebuchet MS"/>
                <a:ea typeface="Trebuchet MS"/>
                <a:cs typeface="Trebuchet MS"/>
                <a:sym typeface="Trebuchet MS"/>
              </a:rPr>
              <a:t>ndependent of the size</a:t>
            </a:r>
            <a:r>
              <a:rPr i="0" lang="en-US" sz="1600" u="none" cap="none" strike="noStrike">
                <a:solidFill>
                  <a:srgbClr val="1E293B"/>
                </a:solidFill>
                <a:latin typeface="Trebuchet MS"/>
                <a:ea typeface="Trebuchet MS"/>
                <a:cs typeface="Trebuchet MS"/>
                <a:sym typeface="Trebuchet MS"/>
              </a:rPr>
              <a:t> of the Array</a:t>
            </a:r>
            <a:endParaRPr sz="1600">
              <a:latin typeface="Trebuchet MS"/>
              <a:ea typeface="Trebuchet MS"/>
              <a:cs typeface="Trebuchet MS"/>
              <a:sym typeface="Trebuchet MS"/>
            </a:endParaRPr>
          </a:p>
          <a:p>
            <a:pPr indent="0" lvl="1" marL="457200" marR="0" rtl="0" algn="l">
              <a:lnSpc>
                <a:spcPct val="20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a:t>
            </a:r>
            <a:r>
              <a:rPr b="1" i="0" lang="en-US" sz="1600" u="none" cap="none" strike="noStrike">
                <a:solidFill>
                  <a:srgbClr val="1E293B"/>
                </a:solidFill>
                <a:latin typeface="Trebuchet MS"/>
                <a:ea typeface="Trebuchet MS"/>
                <a:cs typeface="Trebuchet MS"/>
                <a:sym typeface="Trebuchet MS"/>
              </a:rPr>
              <a:t>Independent of the position</a:t>
            </a:r>
            <a:r>
              <a:rPr i="0" lang="en-US" sz="1600" u="none" cap="none" strike="noStrike">
                <a:solidFill>
                  <a:srgbClr val="1E293B"/>
                </a:solidFill>
                <a:latin typeface="Trebuchet MS"/>
                <a:ea typeface="Trebuchet MS"/>
                <a:cs typeface="Trebuchet MS"/>
                <a:sym typeface="Trebuchet MS"/>
              </a:rPr>
              <a:t> of the element in the Array</a:t>
            </a:r>
            <a:endParaRPr sz="1600">
              <a:latin typeface="Trebuchet MS"/>
              <a:ea typeface="Trebuchet MS"/>
              <a:cs typeface="Trebuchet MS"/>
              <a:sym typeface="Trebuchet MS"/>
            </a:endParaRPr>
          </a:p>
          <a:p>
            <a:pPr indent="0" lvl="1" marL="457200" marR="0" rtl="0" algn="l">
              <a:lnSpc>
                <a:spcPct val="20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Data access time O(1).</a:t>
            </a:r>
            <a:endParaRPr i="0" sz="1600" u="none" cap="none" strike="noStrike">
              <a:solidFill>
                <a:srgbClr val="1E293B"/>
              </a:solidFill>
              <a:latin typeface="Trebuchet MS"/>
              <a:ea typeface="Trebuchet MS"/>
              <a:cs typeface="Trebuchet MS"/>
              <a:sym typeface="Trebuchet MS"/>
            </a:endParaRPr>
          </a:p>
          <a:p>
            <a:pPr indent="0" lvl="1" marL="457200" marR="0" rtl="0" algn="l">
              <a:lnSpc>
                <a:spcPct val="200000"/>
              </a:lnSpc>
              <a:spcBef>
                <a:spcPts val="0"/>
              </a:spcBef>
              <a:spcAft>
                <a:spcPts val="0"/>
              </a:spcAft>
              <a:buNone/>
            </a:pPr>
            <a:r>
              <a:t/>
            </a:r>
            <a:endParaRPr sz="1800">
              <a:solidFill>
                <a:schemeClr val="dk2"/>
              </a:solidFill>
              <a:latin typeface="Trebuchet MS"/>
              <a:ea typeface="Trebuchet MS"/>
              <a:cs typeface="Trebuchet MS"/>
              <a:sym typeface="Trebuchet MS"/>
            </a:endParaRPr>
          </a:p>
          <a:p>
            <a:pPr indent="0" lvl="1" marL="0" marR="0" rtl="0" algn="l">
              <a:lnSpc>
                <a:spcPct val="200000"/>
              </a:lnSpc>
              <a:spcBef>
                <a:spcPts val="0"/>
              </a:spcBef>
              <a:spcAft>
                <a:spcPts val="0"/>
              </a:spcAft>
              <a:buNone/>
            </a:pPr>
            <a:r>
              <a:rPr lang="en-US" sz="1800">
                <a:solidFill>
                  <a:schemeClr val="dk2"/>
                </a:solidFill>
                <a:latin typeface="Trebuchet MS"/>
                <a:ea typeface="Trebuchet MS"/>
                <a:cs typeface="Trebuchet MS"/>
                <a:sym typeface="Trebuchet MS"/>
              </a:rPr>
              <a:t>This is the main idea behind hashing.</a:t>
            </a:r>
            <a:endParaRPr sz="1800">
              <a:solidFill>
                <a:schemeClr val="dk2"/>
              </a:solidFill>
              <a:latin typeface="Trebuchet MS"/>
              <a:ea typeface="Trebuchet MS"/>
              <a:cs typeface="Trebuchet MS"/>
              <a:sym typeface="Trebuchet MS"/>
            </a:endParaRPr>
          </a:p>
        </p:txBody>
      </p:sp>
      <p:sp>
        <p:nvSpPr>
          <p:cNvPr id="172" name="Google Shape;172;p7"/>
          <p:cNvSpPr txBox="1"/>
          <p:nvPr/>
        </p:nvSpPr>
        <p:spPr>
          <a:xfrm>
            <a:off x="6603711" y="4617720"/>
            <a:ext cx="58065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u="none" cap="none" strike="noStrike">
                <a:solidFill>
                  <a:srgbClr val="5F6368"/>
                </a:solidFill>
                <a:latin typeface="Trebuchet MS"/>
                <a:ea typeface="Trebuchet MS"/>
                <a:cs typeface="Trebuchet MS"/>
                <a:sym typeface="Trebuchet MS"/>
              </a:rPr>
              <a:t>• Figure: Direct access becomes possible when the index is known.</a:t>
            </a:r>
            <a:endParaRPr>
              <a:latin typeface="Trebuchet MS"/>
              <a:ea typeface="Trebuchet MS"/>
              <a:cs typeface="Trebuchet MS"/>
              <a:sym typeface="Trebuchet MS"/>
            </a:endParaRPr>
          </a:p>
        </p:txBody>
      </p:sp>
      <p:sp>
        <p:nvSpPr>
          <p:cNvPr id="173" name="Google Shape;173;p7"/>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174" name="Google Shape;174;p7"/>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6</a:t>
            </a:r>
            <a:endParaRPr/>
          </a:p>
        </p:txBody>
      </p:sp>
      <p:sp>
        <p:nvSpPr>
          <p:cNvPr id="175" name="Google Shape;175;p7"/>
          <p:cNvSpPr txBox="1"/>
          <p:nvPr/>
        </p:nvSpPr>
        <p:spPr>
          <a:xfrm>
            <a:off x="411480" y="256032"/>
            <a:ext cx="11155680" cy="530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Demonstration of Hashing importance</a:t>
            </a:r>
            <a:endParaRPr/>
          </a:p>
        </p:txBody>
      </p:sp>
      <p:pic>
        <p:nvPicPr>
          <p:cNvPr id="176" name="Google Shape;176;p7"/>
          <p:cNvPicPr preferRelativeResize="0"/>
          <p:nvPr/>
        </p:nvPicPr>
        <p:blipFill rotWithShape="1">
          <a:blip r:embed="rId3">
            <a:alphaModFix/>
          </a:blip>
          <a:srcRect b="0" l="0" r="0" t="0"/>
          <a:stretch/>
        </p:blipFill>
        <p:spPr>
          <a:xfrm>
            <a:off x="6408265" y="1419008"/>
            <a:ext cx="5683579" cy="319871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 name="Shape 180"/>
        <p:cNvGrpSpPr/>
        <p:nvPr/>
      </p:nvGrpSpPr>
      <p:grpSpPr>
        <a:xfrm>
          <a:off x="0" y="0"/>
          <a:ext cx="0" cy="0"/>
          <a:chOff x="0" y="0"/>
          <a:chExt cx="0" cy="0"/>
        </a:xfrm>
      </p:grpSpPr>
      <p:sp>
        <p:nvSpPr>
          <p:cNvPr id="181" name="Google Shape;181;p8"/>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2" name="Google Shape;182;p8"/>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3" name="Google Shape;183;p8"/>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4" name="Google Shape;184;p8"/>
          <p:cNvSpPr txBox="1"/>
          <p:nvPr/>
        </p:nvSpPr>
        <p:spPr>
          <a:xfrm>
            <a:off x="269425" y="1367702"/>
            <a:ext cx="6068400" cy="5111700"/>
          </a:xfrm>
          <a:prstGeom prst="rect">
            <a:avLst/>
          </a:prstGeom>
          <a:noFill/>
          <a:ln>
            <a:noFill/>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None/>
            </a:pPr>
            <a:r>
              <a:rPr b="1" i="0" lang="en-US" sz="1800" u="none" cap="none" strike="noStrike">
                <a:solidFill>
                  <a:srgbClr val="1E293B"/>
                </a:solidFill>
                <a:latin typeface="Trebuchet MS"/>
                <a:ea typeface="Trebuchet MS"/>
                <a:cs typeface="Trebuchet MS"/>
                <a:sym typeface="Trebuchet MS"/>
              </a:rPr>
              <a:t>Calculate the index from the data (key) itself</a:t>
            </a:r>
            <a:endParaRPr i="0" sz="1800" u="none" cap="none" strike="noStrike">
              <a:solidFill>
                <a:schemeClr val="dk1"/>
              </a:solidFill>
              <a:latin typeface="Trebuchet MS"/>
              <a:ea typeface="Trebuchet MS"/>
              <a:cs typeface="Trebuchet MS"/>
              <a:sym typeface="Trebuchet MS"/>
            </a:endParaRPr>
          </a:p>
          <a:p>
            <a:pPr indent="-215900" lvl="1" marL="457200" marR="0" rtl="0" algn="l">
              <a:lnSpc>
                <a:spcPct val="200000"/>
              </a:lnSpc>
              <a:spcBef>
                <a:spcPts val="0"/>
              </a:spcBef>
              <a:spcAft>
                <a:spcPts val="0"/>
              </a:spcAft>
              <a:buClr>
                <a:srgbClr val="1E293B"/>
              </a:buClr>
              <a:buSzPts val="1600"/>
              <a:buFont typeface="Arial"/>
              <a:buChar char="•"/>
            </a:pPr>
            <a:r>
              <a:rPr i="0" lang="en-US" sz="1600" u="none" cap="none" strike="noStrike">
                <a:solidFill>
                  <a:srgbClr val="1E293B"/>
                </a:solidFill>
                <a:latin typeface="Trebuchet MS"/>
                <a:ea typeface="Trebuchet MS"/>
                <a:cs typeface="Trebuchet MS"/>
                <a:sym typeface="Trebuchet MS"/>
              </a:rPr>
              <a:t>Remembering the </a:t>
            </a:r>
            <a:r>
              <a:rPr b="1" i="0" lang="en-US" sz="1600" u="sng" cap="none" strike="noStrike">
                <a:solidFill>
                  <a:srgbClr val="1E293B"/>
                </a:solidFill>
                <a:latin typeface="Trebuchet MS"/>
                <a:ea typeface="Trebuchet MS"/>
                <a:cs typeface="Trebuchet MS"/>
                <a:sym typeface="Trebuchet MS"/>
              </a:rPr>
              <a:t>index of every data item is impractical</a:t>
            </a:r>
            <a:r>
              <a:rPr i="0" lang="en-US" sz="1600" u="none" cap="none" strike="noStrike">
                <a:solidFill>
                  <a:srgbClr val="1E293B"/>
                </a:solidFill>
                <a:latin typeface="Trebuchet MS"/>
                <a:ea typeface="Trebuchet MS"/>
                <a:cs typeface="Trebuchet MS"/>
                <a:sym typeface="Trebuchet MS"/>
              </a:rPr>
              <a:t>.</a:t>
            </a:r>
            <a:endParaRPr sz="1600">
              <a:latin typeface="Trebuchet MS"/>
              <a:ea typeface="Trebuchet MS"/>
              <a:cs typeface="Trebuchet MS"/>
              <a:sym typeface="Trebuchet MS"/>
            </a:endParaRPr>
          </a:p>
          <a:p>
            <a:pPr indent="-215900" lvl="1" marL="457200" marR="0" rtl="0" algn="l">
              <a:lnSpc>
                <a:spcPct val="200000"/>
              </a:lnSpc>
              <a:spcBef>
                <a:spcPts val="0"/>
              </a:spcBef>
              <a:spcAft>
                <a:spcPts val="0"/>
              </a:spcAft>
              <a:buClr>
                <a:srgbClr val="1E293B"/>
              </a:buClr>
              <a:buSzPts val="1600"/>
              <a:buFont typeface="Arial"/>
              <a:buChar char="•"/>
            </a:pPr>
            <a:r>
              <a:rPr i="0" lang="en-US" sz="1600" u="none" cap="none" strike="noStrike">
                <a:solidFill>
                  <a:srgbClr val="1E293B"/>
                </a:solidFill>
                <a:latin typeface="Trebuchet MS"/>
                <a:ea typeface="Trebuchet MS"/>
                <a:cs typeface="Trebuchet MS"/>
                <a:sym typeface="Trebuchet MS"/>
              </a:rPr>
              <a:t>Instead, we calculate the </a:t>
            </a:r>
            <a:r>
              <a:rPr b="1" i="0" lang="en-US" sz="1600" u="sng" cap="none" strike="noStrike">
                <a:solidFill>
                  <a:srgbClr val="1E293B"/>
                </a:solidFill>
                <a:latin typeface="Trebuchet MS"/>
                <a:ea typeface="Trebuchet MS"/>
                <a:cs typeface="Trebuchet MS"/>
                <a:sym typeface="Trebuchet MS"/>
              </a:rPr>
              <a:t>index from the data (key) itself </a:t>
            </a:r>
            <a:r>
              <a:rPr i="0" lang="en-US" sz="1600" u="none" cap="none" strike="noStrike">
                <a:solidFill>
                  <a:srgbClr val="1E293B"/>
                </a:solidFill>
                <a:latin typeface="Trebuchet MS"/>
                <a:ea typeface="Trebuchet MS"/>
                <a:cs typeface="Trebuchet MS"/>
                <a:sym typeface="Trebuchet MS"/>
              </a:rPr>
              <a:t>using a function.</a:t>
            </a:r>
            <a:endParaRPr sz="1600">
              <a:latin typeface="Trebuchet MS"/>
              <a:ea typeface="Trebuchet MS"/>
              <a:cs typeface="Trebuchet MS"/>
              <a:sym typeface="Trebuchet MS"/>
            </a:endParaRPr>
          </a:p>
          <a:p>
            <a:pPr indent="-215900" lvl="1" marL="457200" marR="0" rtl="0" algn="l">
              <a:lnSpc>
                <a:spcPct val="200000"/>
              </a:lnSpc>
              <a:spcBef>
                <a:spcPts val="0"/>
              </a:spcBef>
              <a:spcAft>
                <a:spcPts val="0"/>
              </a:spcAft>
              <a:buClr>
                <a:schemeClr val="dk2"/>
              </a:buClr>
              <a:buSzPts val="1600"/>
              <a:buFont typeface="Arial"/>
              <a:buChar char="•"/>
            </a:pPr>
            <a:r>
              <a:rPr b="1" i="0" lang="en-US" sz="1600" u="none" cap="none" strike="noStrike">
                <a:solidFill>
                  <a:schemeClr val="dk2"/>
                </a:solidFill>
                <a:latin typeface="Trebuchet MS"/>
                <a:ea typeface="Trebuchet MS"/>
                <a:cs typeface="Trebuchet MS"/>
                <a:sym typeface="Trebuchet MS"/>
              </a:rPr>
              <a:t>Thus, the index is directly derived from the key, </a:t>
            </a:r>
            <a:r>
              <a:rPr b="1" i="0" lang="en-US" sz="1600" u="sng" cap="none" strike="noStrike">
                <a:solidFill>
                  <a:schemeClr val="dk2"/>
                </a:solidFill>
                <a:latin typeface="Trebuchet MS"/>
                <a:ea typeface="Trebuchet MS"/>
                <a:cs typeface="Trebuchet MS"/>
                <a:sym typeface="Trebuchet MS"/>
              </a:rPr>
              <a:t>eliminating the need for linear search</a:t>
            </a:r>
            <a:r>
              <a:rPr b="1" i="0" lang="en-US" sz="1600" u="none" cap="none" strike="noStrike">
                <a:solidFill>
                  <a:schemeClr val="dk2"/>
                </a:solidFill>
                <a:latin typeface="Trebuchet MS"/>
                <a:ea typeface="Trebuchet MS"/>
                <a:cs typeface="Trebuchet MS"/>
                <a:sym typeface="Trebuchet MS"/>
              </a:rPr>
              <a:t>.</a:t>
            </a:r>
            <a:endParaRPr b="1" i="0" sz="1600" u="none" cap="none" strike="noStrike">
              <a:solidFill>
                <a:schemeClr val="dk2"/>
              </a:solidFill>
              <a:latin typeface="Trebuchet MS"/>
              <a:ea typeface="Trebuchet MS"/>
              <a:cs typeface="Trebuchet MS"/>
              <a:sym typeface="Trebuchet MS"/>
            </a:endParaRPr>
          </a:p>
          <a:p>
            <a:pPr indent="-215900" lvl="2" marL="457200" marR="0" rtl="0" algn="l">
              <a:lnSpc>
                <a:spcPct val="200000"/>
              </a:lnSpc>
              <a:spcBef>
                <a:spcPts val="0"/>
              </a:spcBef>
              <a:spcAft>
                <a:spcPts val="0"/>
              </a:spcAft>
              <a:buClr>
                <a:srgbClr val="1E293B"/>
              </a:buClr>
              <a:buSzPts val="1600"/>
              <a:buFont typeface="Trebuchet MS"/>
              <a:buChar char="•"/>
            </a:pPr>
            <a:r>
              <a:rPr i="0" lang="en-US" sz="1600" u="none" cap="none" strike="noStrike">
                <a:solidFill>
                  <a:srgbClr val="1E293B"/>
                </a:solidFill>
                <a:latin typeface="Trebuchet MS"/>
                <a:ea typeface="Trebuchet MS"/>
                <a:cs typeface="Trebuchet MS"/>
                <a:sym typeface="Trebuchet MS"/>
              </a:rPr>
              <a:t>This allows data to be accessed efficiently, </a:t>
            </a:r>
            <a:br>
              <a:rPr i="0" lang="en-US" sz="1600" u="none" cap="none" strike="noStrike">
                <a:solidFill>
                  <a:srgbClr val="1E293B"/>
                </a:solidFill>
                <a:latin typeface="Trebuchet MS"/>
                <a:ea typeface="Trebuchet MS"/>
                <a:cs typeface="Trebuchet MS"/>
                <a:sym typeface="Trebuchet MS"/>
              </a:rPr>
            </a:br>
            <a:r>
              <a:rPr i="0" lang="en-US" sz="1600" u="none" cap="none" strike="noStrike">
                <a:solidFill>
                  <a:srgbClr val="1E293B"/>
                </a:solidFill>
                <a:latin typeface="Trebuchet MS"/>
                <a:ea typeface="Trebuchet MS"/>
                <a:cs typeface="Trebuchet MS"/>
                <a:sym typeface="Trebuchet MS"/>
              </a:rPr>
              <a:t>typically in O(1) average time.</a:t>
            </a:r>
            <a:endParaRPr i="0" sz="1600" u="none" cap="none" strike="noStrike">
              <a:solidFill>
                <a:schemeClr val="dk1"/>
              </a:solidFill>
              <a:latin typeface="Trebuchet MS"/>
              <a:ea typeface="Trebuchet MS"/>
              <a:cs typeface="Trebuchet MS"/>
              <a:sym typeface="Trebuchet MS"/>
            </a:endParaRPr>
          </a:p>
        </p:txBody>
      </p:sp>
      <p:sp>
        <p:nvSpPr>
          <p:cNvPr id="185" name="Google Shape;185;p8"/>
          <p:cNvSpPr txBox="1"/>
          <p:nvPr/>
        </p:nvSpPr>
        <p:spPr>
          <a:xfrm>
            <a:off x="6669794" y="4663439"/>
            <a:ext cx="5669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u="none" cap="none" strike="noStrike">
                <a:solidFill>
                  <a:srgbClr val="5F6368"/>
                </a:solidFill>
                <a:latin typeface="Trebuchet MS"/>
                <a:ea typeface="Trebuchet MS"/>
                <a:cs typeface="Trebuchet MS"/>
                <a:sym typeface="Trebuchet MS"/>
              </a:rPr>
              <a:t>• Figure: The index is derived from the key.</a:t>
            </a:r>
            <a:endParaRPr>
              <a:latin typeface="Trebuchet MS"/>
              <a:ea typeface="Trebuchet MS"/>
              <a:cs typeface="Trebuchet MS"/>
              <a:sym typeface="Trebuchet MS"/>
            </a:endParaRPr>
          </a:p>
        </p:txBody>
      </p:sp>
      <p:sp>
        <p:nvSpPr>
          <p:cNvPr id="186" name="Google Shape;186;p8"/>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187" name="Google Shape;187;p8"/>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7</a:t>
            </a:r>
            <a:endParaRPr/>
          </a:p>
        </p:txBody>
      </p:sp>
      <p:sp>
        <p:nvSpPr>
          <p:cNvPr id="188" name="Google Shape;188;p8"/>
          <p:cNvSpPr txBox="1"/>
          <p:nvPr/>
        </p:nvSpPr>
        <p:spPr>
          <a:xfrm>
            <a:off x="411480" y="329184"/>
            <a:ext cx="11155680" cy="530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Demonstration of Hashing importance</a:t>
            </a:r>
            <a:endParaRPr/>
          </a:p>
        </p:txBody>
      </p:sp>
      <p:pic>
        <p:nvPicPr>
          <p:cNvPr id="189" name="Google Shape;189;p8"/>
          <p:cNvPicPr preferRelativeResize="0"/>
          <p:nvPr/>
        </p:nvPicPr>
        <p:blipFill rotWithShape="1">
          <a:blip r:embed="rId3">
            <a:alphaModFix/>
          </a:blip>
          <a:srcRect b="0" l="0" r="0" t="0"/>
          <a:stretch/>
        </p:blipFill>
        <p:spPr>
          <a:xfrm>
            <a:off x="6337850" y="1302063"/>
            <a:ext cx="5853852" cy="329453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9"/>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5" name="Google Shape;195;p9"/>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6" name="Google Shape;196;p9"/>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7" name="Google Shape;197;p9"/>
          <p:cNvSpPr txBox="1"/>
          <p:nvPr/>
        </p:nvSpPr>
        <p:spPr>
          <a:xfrm>
            <a:off x="649223" y="1371600"/>
            <a:ext cx="8743351" cy="380390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i="0" lang="en-US" sz="1900" u="none" cap="none" strike="noStrike">
                <a:solidFill>
                  <a:srgbClr val="1E293B"/>
                </a:solidFill>
                <a:latin typeface="Trebuchet MS"/>
                <a:ea typeface="Trebuchet MS"/>
                <a:cs typeface="Trebuchet MS"/>
                <a:sym typeface="Trebuchet MS"/>
              </a:rPr>
              <a:t>• Process of calculating index number (the most basic one):</a:t>
            </a:r>
            <a:endParaRPr i="0" sz="2000" u="none" cap="none" strike="noStrike">
              <a:solidFill>
                <a:schemeClr val="dk1"/>
              </a:solidFill>
              <a:latin typeface="Trebuchet MS"/>
              <a:ea typeface="Trebuchet MS"/>
              <a:cs typeface="Trebuchet MS"/>
              <a:sym typeface="Trebuchet MS"/>
            </a:endParaRPr>
          </a:p>
        </p:txBody>
      </p:sp>
      <p:sp>
        <p:nvSpPr>
          <p:cNvPr id="198" name="Google Shape;198;p9"/>
          <p:cNvSpPr txBox="1"/>
          <p:nvPr/>
        </p:nvSpPr>
        <p:spPr>
          <a:xfrm>
            <a:off x="3387347" y="5780549"/>
            <a:ext cx="44757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u="none" cap="none" strike="noStrike">
                <a:solidFill>
                  <a:srgbClr val="5F6368"/>
                </a:solidFill>
                <a:latin typeface="Trebuchet MS"/>
                <a:ea typeface="Trebuchet MS"/>
                <a:cs typeface="Trebuchet MS"/>
                <a:sym typeface="Trebuchet MS"/>
              </a:rPr>
              <a:t>• Figure: Process of calculating index number</a:t>
            </a:r>
            <a:endParaRPr>
              <a:latin typeface="Trebuchet MS"/>
              <a:ea typeface="Trebuchet MS"/>
              <a:cs typeface="Trebuchet MS"/>
              <a:sym typeface="Trebuchet MS"/>
            </a:endParaRPr>
          </a:p>
        </p:txBody>
      </p:sp>
      <p:sp>
        <p:nvSpPr>
          <p:cNvPr id="199" name="Google Shape;199;p9"/>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200" name="Google Shape;200;p9"/>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7</a:t>
            </a:r>
            <a:endParaRPr/>
          </a:p>
        </p:txBody>
      </p:sp>
      <p:sp>
        <p:nvSpPr>
          <p:cNvPr id="201" name="Google Shape;201;p9"/>
          <p:cNvSpPr txBox="1"/>
          <p:nvPr/>
        </p:nvSpPr>
        <p:spPr>
          <a:xfrm>
            <a:off x="411480" y="329184"/>
            <a:ext cx="11155680" cy="530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Demonstration of Hashing importance</a:t>
            </a:r>
            <a:endParaRPr/>
          </a:p>
        </p:txBody>
      </p:sp>
      <p:pic>
        <p:nvPicPr>
          <p:cNvPr id="202" name="Google Shape;202;p9"/>
          <p:cNvPicPr preferRelativeResize="0"/>
          <p:nvPr/>
        </p:nvPicPr>
        <p:blipFill rotWithShape="1">
          <a:blip r:embed="rId3">
            <a:alphaModFix/>
          </a:blip>
          <a:srcRect b="0" l="0" r="0" t="0"/>
          <a:stretch/>
        </p:blipFill>
        <p:spPr>
          <a:xfrm>
            <a:off x="2582743" y="2056372"/>
            <a:ext cx="6592872" cy="371045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11"/>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8" name="Google Shape;208;p11"/>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9" name="Google Shape;209;p11"/>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0" name="Google Shape;210;p11"/>
          <p:cNvSpPr txBox="1"/>
          <p:nvPr/>
        </p:nvSpPr>
        <p:spPr>
          <a:xfrm>
            <a:off x="679500" y="1256475"/>
            <a:ext cx="7785000" cy="1929300"/>
          </a:xfrm>
          <a:prstGeom prst="rect">
            <a:avLst/>
          </a:prstGeom>
          <a:noFill/>
          <a:ln>
            <a:noFill/>
          </a:ln>
        </p:spPr>
        <p:txBody>
          <a:bodyPr anchorCtr="0" anchor="t" bIns="45700" lIns="91425" spcFirstLastPara="1" rIns="91425" wrap="square" tIns="45700">
            <a:normAutofit/>
          </a:bodyPr>
          <a:lstStyle/>
          <a:p>
            <a:pPr indent="-349250" lvl="0" marL="457200" marR="0" rtl="0" algn="l">
              <a:lnSpc>
                <a:spcPct val="150000"/>
              </a:lnSpc>
              <a:spcBef>
                <a:spcPts val="0"/>
              </a:spcBef>
              <a:spcAft>
                <a:spcPts val="0"/>
              </a:spcAft>
              <a:buClr>
                <a:srgbClr val="1E293B"/>
              </a:buClr>
              <a:buSzPts val="1900"/>
              <a:buFont typeface="Trebuchet MS"/>
              <a:buChar char="●"/>
            </a:pPr>
            <a:r>
              <a:rPr lang="en-US" sz="1900">
                <a:solidFill>
                  <a:srgbClr val="1E293B"/>
                </a:solidFill>
                <a:latin typeface="Trebuchet MS"/>
                <a:ea typeface="Trebuchet MS"/>
                <a:cs typeface="Trebuchet MS"/>
                <a:sym typeface="Trebuchet MS"/>
              </a:rPr>
              <a:t> Process of calculating index number (the most basic one):</a:t>
            </a:r>
            <a:endParaRPr sz="2000">
              <a:solidFill>
                <a:schemeClr val="dk1"/>
              </a:solidFill>
              <a:latin typeface="Trebuchet MS"/>
              <a:ea typeface="Trebuchet MS"/>
              <a:cs typeface="Trebuchet MS"/>
              <a:sym typeface="Trebuchet MS"/>
            </a:endParaRPr>
          </a:p>
          <a:p>
            <a:pPr indent="-349250" lvl="1" marL="914400" marR="0" rtl="0" algn="l">
              <a:lnSpc>
                <a:spcPct val="150000"/>
              </a:lnSpc>
              <a:spcBef>
                <a:spcPts val="0"/>
              </a:spcBef>
              <a:spcAft>
                <a:spcPts val="0"/>
              </a:spcAft>
              <a:buClr>
                <a:srgbClr val="1E293B"/>
              </a:buClr>
              <a:buSzPts val="1900"/>
              <a:buFont typeface="Trebuchet MS"/>
              <a:buChar char="○"/>
            </a:pPr>
            <a:r>
              <a:rPr b="0" i="0" lang="en-US" sz="1800" u="none" cap="none" strike="noStrike">
                <a:solidFill>
                  <a:srgbClr val="1E293B"/>
                </a:solidFill>
                <a:latin typeface="Calibri"/>
                <a:ea typeface="Calibri"/>
                <a:cs typeface="Calibri"/>
                <a:sym typeface="Calibri"/>
              </a:rPr>
              <a:t>Sum up the ASCII codes and divide by the length of the Array = 11.</a:t>
            </a:r>
            <a:endParaRPr/>
          </a:p>
          <a:p>
            <a:pPr indent="-349250" lvl="1" marL="914400" marR="0" rtl="0" algn="l">
              <a:lnSpc>
                <a:spcPct val="150000"/>
              </a:lnSpc>
              <a:spcBef>
                <a:spcPts val="0"/>
              </a:spcBef>
              <a:spcAft>
                <a:spcPts val="0"/>
              </a:spcAft>
              <a:buClr>
                <a:srgbClr val="1E293B"/>
              </a:buClr>
              <a:buSzPts val="1900"/>
              <a:buFont typeface="Trebuchet MS"/>
              <a:buChar char="○"/>
            </a:pPr>
            <a:r>
              <a:rPr b="0" i="0" lang="en-US" sz="1800" u="none" cap="none" strike="noStrike">
                <a:solidFill>
                  <a:srgbClr val="1E293B"/>
                </a:solidFill>
                <a:latin typeface="Calibri"/>
                <a:ea typeface="Calibri"/>
                <a:cs typeface="Calibri"/>
                <a:sym typeface="Calibri"/>
              </a:rPr>
              <a:t>The remainder 4 is the index.</a:t>
            </a:r>
            <a:endParaRPr b="0" i="0" sz="1800" u="none" cap="none" strike="noStrike">
              <a:solidFill>
                <a:schemeClr val="dk1"/>
              </a:solidFill>
              <a:latin typeface="Calibri"/>
              <a:ea typeface="Calibri"/>
              <a:cs typeface="Calibri"/>
              <a:sym typeface="Calibri"/>
            </a:endParaRPr>
          </a:p>
        </p:txBody>
      </p:sp>
      <p:sp>
        <p:nvSpPr>
          <p:cNvPr id="211" name="Google Shape;211;p11"/>
          <p:cNvSpPr txBox="1"/>
          <p:nvPr/>
        </p:nvSpPr>
        <p:spPr>
          <a:xfrm>
            <a:off x="6489500" y="6080399"/>
            <a:ext cx="4183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u="none" cap="none" strike="noStrike">
                <a:solidFill>
                  <a:srgbClr val="5F6368"/>
                </a:solidFill>
                <a:latin typeface="Trebuchet MS"/>
                <a:ea typeface="Trebuchet MS"/>
                <a:cs typeface="Trebuchet MS"/>
                <a:sym typeface="Trebuchet MS"/>
              </a:rPr>
              <a:t>• Figure: Remainder gives the index.</a:t>
            </a:r>
            <a:endParaRPr>
              <a:latin typeface="Trebuchet MS"/>
              <a:ea typeface="Trebuchet MS"/>
              <a:cs typeface="Trebuchet MS"/>
              <a:sym typeface="Trebuchet MS"/>
            </a:endParaRPr>
          </a:p>
        </p:txBody>
      </p:sp>
      <p:sp>
        <p:nvSpPr>
          <p:cNvPr id="212" name="Google Shape;212;p11"/>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213" name="Google Shape;213;p11"/>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8</a:t>
            </a:r>
            <a:endParaRPr/>
          </a:p>
        </p:txBody>
      </p:sp>
      <p:pic>
        <p:nvPicPr>
          <p:cNvPr id="214" name="Google Shape;214;p11"/>
          <p:cNvPicPr preferRelativeResize="0"/>
          <p:nvPr/>
        </p:nvPicPr>
        <p:blipFill rotWithShape="1">
          <a:blip r:embed="rId3">
            <a:alphaModFix/>
          </a:blip>
          <a:srcRect b="0" l="0" r="0" t="0"/>
          <a:stretch/>
        </p:blipFill>
        <p:spPr>
          <a:xfrm>
            <a:off x="5271850" y="2434991"/>
            <a:ext cx="6295302" cy="3543009"/>
          </a:xfrm>
          <a:prstGeom prst="rect">
            <a:avLst/>
          </a:prstGeom>
          <a:noFill/>
          <a:ln>
            <a:noFill/>
          </a:ln>
        </p:spPr>
      </p:pic>
      <p:sp>
        <p:nvSpPr>
          <p:cNvPr id="215" name="Google Shape;215;p11"/>
          <p:cNvSpPr txBox="1"/>
          <p:nvPr/>
        </p:nvSpPr>
        <p:spPr>
          <a:xfrm>
            <a:off x="411480" y="329184"/>
            <a:ext cx="11155680" cy="530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Demonstration of Hashing importance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12"/>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1" name="Google Shape;221;p12"/>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2" name="Google Shape;222;p12"/>
          <p:cNvSpPr txBox="1"/>
          <p:nvPr/>
        </p:nvSpPr>
        <p:spPr>
          <a:xfrm>
            <a:off x="411480" y="256032"/>
            <a:ext cx="506734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Demonstration of Hashing importance</a:t>
            </a:r>
            <a:endParaRPr b="0" i="0" sz="1800" u="none" cap="none" strike="noStrike">
              <a:solidFill>
                <a:schemeClr val="dk1"/>
              </a:solidFill>
              <a:latin typeface="Calibri"/>
              <a:ea typeface="Calibri"/>
              <a:cs typeface="Calibri"/>
              <a:sym typeface="Calibri"/>
            </a:endParaRPr>
          </a:p>
        </p:txBody>
      </p:sp>
      <p:sp>
        <p:nvSpPr>
          <p:cNvPr id="223" name="Google Shape;223;p12"/>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4" name="Google Shape;224;p12"/>
          <p:cNvSpPr txBox="1"/>
          <p:nvPr/>
        </p:nvSpPr>
        <p:spPr>
          <a:xfrm>
            <a:off x="649224" y="1312282"/>
            <a:ext cx="9435900" cy="1929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i="0" lang="en-US" sz="1800" u="none" cap="none" strike="noStrike">
                <a:solidFill>
                  <a:srgbClr val="1E293B"/>
                </a:solidFill>
                <a:latin typeface="Trebuchet MS"/>
                <a:ea typeface="Trebuchet MS"/>
                <a:cs typeface="Trebuchet MS"/>
                <a:sym typeface="Trebuchet MS"/>
              </a:rPr>
              <a:t>• The indices for the rest of the elements could be </a:t>
            </a:r>
            <a:r>
              <a:rPr i="0" lang="en-US" sz="1800" u="sng" cap="none" strike="noStrike">
                <a:solidFill>
                  <a:srgbClr val="1E293B"/>
                </a:solidFill>
                <a:latin typeface="Trebuchet MS"/>
                <a:ea typeface="Trebuchet MS"/>
                <a:cs typeface="Trebuchet MS"/>
                <a:sym typeface="Trebuchet MS"/>
              </a:rPr>
              <a:t>calculated in the </a:t>
            </a:r>
            <a:r>
              <a:rPr b="1" i="0" lang="en-US" sz="1800" u="sng" cap="none" strike="noStrike">
                <a:solidFill>
                  <a:schemeClr val="dk2"/>
                </a:solidFill>
                <a:latin typeface="Trebuchet MS"/>
                <a:ea typeface="Trebuchet MS"/>
                <a:cs typeface="Trebuchet MS"/>
                <a:sym typeface="Trebuchet MS"/>
              </a:rPr>
              <a:t>same way</a:t>
            </a:r>
            <a:r>
              <a:rPr i="0" lang="en-US" sz="1800" u="sng" cap="none" strike="noStrike">
                <a:solidFill>
                  <a:srgbClr val="1E293B"/>
                </a:solidFill>
                <a:latin typeface="Trebuchet MS"/>
                <a:ea typeface="Trebuchet MS"/>
                <a:cs typeface="Trebuchet MS"/>
                <a:sym typeface="Trebuchet MS"/>
              </a:rPr>
              <a:t>.</a:t>
            </a:r>
            <a:endParaRPr i="0" sz="1800" u="sng" cap="none" strike="noStrike">
              <a:solidFill>
                <a:schemeClr val="dk1"/>
              </a:solidFill>
              <a:latin typeface="Trebuchet MS"/>
              <a:ea typeface="Trebuchet MS"/>
              <a:cs typeface="Trebuchet MS"/>
              <a:sym typeface="Trebuchet MS"/>
            </a:endParaRPr>
          </a:p>
        </p:txBody>
      </p:sp>
      <p:sp>
        <p:nvSpPr>
          <p:cNvPr id="225" name="Google Shape;225;p12"/>
          <p:cNvSpPr txBox="1"/>
          <p:nvPr/>
        </p:nvSpPr>
        <p:spPr>
          <a:xfrm>
            <a:off x="4205796" y="6236175"/>
            <a:ext cx="5009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u="none" cap="none" strike="noStrike">
                <a:solidFill>
                  <a:srgbClr val="5F6368"/>
                </a:solidFill>
                <a:latin typeface="Trebuchet MS"/>
                <a:ea typeface="Trebuchet MS"/>
                <a:cs typeface="Trebuchet MS"/>
                <a:sym typeface="Trebuchet MS"/>
              </a:rPr>
              <a:t>• Figure: Other keys can be indexed in the same way.</a:t>
            </a:r>
            <a:endParaRPr>
              <a:latin typeface="Trebuchet MS"/>
              <a:ea typeface="Trebuchet MS"/>
              <a:cs typeface="Trebuchet MS"/>
              <a:sym typeface="Trebuchet MS"/>
            </a:endParaRPr>
          </a:p>
        </p:txBody>
      </p:sp>
      <p:sp>
        <p:nvSpPr>
          <p:cNvPr id="226" name="Google Shape;226;p12"/>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227" name="Google Shape;227;p12"/>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8</a:t>
            </a:r>
            <a:endParaRPr/>
          </a:p>
        </p:txBody>
      </p:sp>
      <p:pic>
        <p:nvPicPr>
          <p:cNvPr id="228" name="Google Shape;228;p12"/>
          <p:cNvPicPr preferRelativeResize="0"/>
          <p:nvPr/>
        </p:nvPicPr>
        <p:blipFill rotWithShape="1">
          <a:blip r:embed="rId3">
            <a:alphaModFix/>
          </a:blip>
          <a:srcRect b="0" l="0" r="0" t="0"/>
          <a:stretch/>
        </p:blipFill>
        <p:spPr>
          <a:xfrm>
            <a:off x="2108875" y="1838125"/>
            <a:ext cx="7814602" cy="43980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sp>
        <p:nvSpPr>
          <p:cNvPr id="233" name="Google Shape;233;p13"/>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4" name="Google Shape;234;p13"/>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5" name="Google Shape;235;p13"/>
          <p:cNvSpPr txBox="1"/>
          <p:nvPr/>
        </p:nvSpPr>
        <p:spPr>
          <a:xfrm>
            <a:off x="411480" y="329170"/>
            <a:ext cx="506734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Demonstration of Hashing importance</a:t>
            </a:r>
            <a:endParaRPr b="0" i="0" sz="1800" u="none" cap="none" strike="noStrike">
              <a:solidFill>
                <a:schemeClr val="dk1"/>
              </a:solidFill>
              <a:latin typeface="Calibri"/>
              <a:ea typeface="Calibri"/>
              <a:cs typeface="Calibri"/>
              <a:sym typeface="Calibri"/>
            </a:endParaRPr>
          </a:p>
        </p:txBody>
      </p:sp>
      <p:sp>
        <p:nvSpPr>
          <p:cNvPr id="236" name="Google Shape;236;p13"/>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7" name="Google Shape;237;p13"/>
          <p:cNvSpPr txBox="1"/>
          <p:nvPr/>
        </p:nvSpPr>
        <p:spPr>
          <a:xfrm>
            <a:off x="3222150" y="5806705"/>
            <a:ext cx="5247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u="none" cap="none" strike="noStrike">
                <a:solidFill>
                  <a:srgbClr val="5F6368"/>
                </a:solidFill>
                <a:latin typeface="Trebuchet MS"/>
                <a:ea typeface="Trebuchet MS"/>
                <a:cs typeface="Trebuchet MS"/>
                <a:sym typeface="Trebuchet MS"/>
              </a:rPr>
              <a:t>• Figure: The key can be used again to retrieve the element.</a:t>
            </a:r>
            <a:endParaRPr>
              <a:latin typeface="Trebuchet MS"/>
              <a:ea typeface="Trebuchet MS"/>
              <a:cs typeface="Trebuchet MS"/>
              <a:sym typeface="Trebuchet MS"/>
            </a:endParaRPr>
          </a:p>
        </p:txBody>
      </p:sp>
      <p:sp>
        <p:nvSpPr>
          <p:cNvPr id="238" name="Google Shape;238;p13"/>
          <p:cNvSpPr txBox="1"/>
          <p:nvPr/>
        </p:nvSpPr>
        <p:spPr>
          <a:xfrm>
            <a:off x="817278" y="1463041"/>
            <a:ext cx="4661551" cy="40233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0" lang="en-US" sz="1800" u="none" cap="none" strike="noStrike">
                <a:solidFill>
                  <a:srgbClr val="1E293B"/>
                </a:solidFill>
                <a:latin typeface="Trebuchet MS"/>
                <a:ea typeface="Trebuchet MS"/>
                <a:cs typeface="Trebuchet MS"/>
                <a:sym typeface="Trebuchet MS"/>
              </a:rPr>
              <a:t>• Retrieve the element / Key and Value</a:t>
            </a:r>
            <a:endParaRPr sz="1800">
              <a:latin typeface="Trebuchet MS"/>
              <a:ea typeface="Trebuchet MS"/>
              <a:cs typeface="Trebuchet MS"/>
              <a:sym typeface="Trebuchet MS"/>
            </a:endParaRPr>
          </a:p>
          <a:p>
            <a:pPr indent="0" lvl="0" marL="0" marR="0" rtl="0" algn="l">
              <a:spcBef>
                <a:spcPts val="0"/>
              </a:spcBef>
              <a:spcAft>
                <a:spcPts val="0"/>
              </a:spcAft>
              <a:buNone/>
            </a:pPr>
            <a:r>
              <a:t/>
            </a:r>
            <a:endParaRPr i="0" sz="1800" u="none" cap="none" strike="noStrike">
              <a:solidFill>
                <a:schemeClr val="dk1"/>
              </a:solidFill>
              <a:latin typeface="Trebuchet MS"/>
              <a:ea typeface="Trebuchet MS"/>
              <a:cs typeface="Trebuchet MS"/>
              <a:sym typeface="Trebuchet MS"/>
            </a:endParaRPr>
          </a:p>
        </p:txBody>
      </p:sp>
      <p:sp>
        <p:nvSpPr>
          <p:cNvPr id="239" name="Google Shape;239;p13"/>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240" name="Google Shape;240;p13"/>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9</a:t>
            </a:r>
            <a:endParaRPr/>
          </a:p>
        </p:txBody>
      </p:sp>
      <p:pic>
        <p:nvPicPr>
          <p:cNvPr id="241" name="Google Shape;241;p13"/>
          <p:cNvPicPr preferRelativeResize="0"/>
          <p:nvPr/>
        </p:nvPicPr>
        <p:blipFill rotWithShape="1">
          <a:blip r:embed="rId3">
            <a:alphaModFix/>
          </a:blip>
          <a:srcRect b="0" l="0" r="0" t="0"/>
          <a:stretch/>
        </p:blipFill>
        <p:spPr>
          <a:xfrm>
            <a:off x="2456073" y="2091249"/>
            <a:ext cx="6601747" cy="371545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14"/>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200000"/>
              </a:lnSpc>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7" name="Google Shape;247;p14"/>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200000"/>
              </a:lnSpc>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8" name="Google Shape;248;p14"/>
          <p:cNvSpPr txBox="1"/>
          <p:nvPr/>
        </p:nvSpPr>
        <p:spPr>
          <a:xfrm>
            <a:off x="411480" y="256032"/>
            <a:ext cx="3379643" cy="727571"/>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b="1" i="0" lang="en-US" sz="2400" u="none" cap="none" strike="noStrike">
                <a:solidFill>
                  <a:srgbClr val="17365D"/>
                </a:solidFill>
                <a:latin typeface="Calibri"/>
                <a:ea typeface="Calibri"/>
                <a:cs typeface="Calibri"/>
                <a:sym typeface="Calibri"/>
              </a:rPr>
              <a:t>Key and Value in Hashing</a:t>
            </a:r>
            <a:endParaRPr b="0" i="0" sz="1800" u="none" cap="none" strike="noStrike">
              <a:solidFill>
                <a:schemeClr val="dk1"/>
              </a:solidFill>
              <a:latin typeface="Calibri"/>
              <a:ea typeface="Calibri"/>
              <a:cs typeface="Calibri"/>
              <a:sym typeface="Calibri"/>
            </a:endParaRPr>
          </a:p>
        </p:txBody>
      </p:sp>
      <p:sp>
        <p:nvSpPr>
          <p:cNvPr id="249" name="Google Shape;249;p14"/>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200000"/>
              </a:lnSpc>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0" name="Google Shape;250;p14"/>
          <p:cNvSpPr txBox="1"/>
          <p:nvPr/>
        </p:nvSpPr>
        <p:spPr>
          <a:xfrm>
            <a:off x="321925" y="1046384"/>
            <a:ext cx="7836000" cy="4305600"/>
          </a:xfrm>
          <a:prstGeom prst="rect">
            <a:avLst/>
          </a:prstGeom>
          <a:noFill/>
          <a:ln>
            <a:noFill/>
          </a:ln>
        </p:spPr>
        <p:txBody>
          <a:bodyPr anchorCtr="0" anchor="t" bIns="45700" lIns="91425" spcFirstLastPara="1" rIns="91425" wrap="square" tIns="45700">
            <a:noAutofit/>
          </a:bodyPr>
          <a:lstStyle/>
          <a:p>
            <a:pPr indent="0" lvl="0" marL="0" marR="0" rtl="0" algn="l">
              <a:lnSpc>
                <a:spcPct val="20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While using the name as a key for indexing, we can also keep other information.</a:t>
            </a:r>
            <a:endParaRPr i="0" sz="1600" u="none" cap="none" strike="noStrike">
              <a:solidFill>
                <a:schemeClr val="dk1"/>
              </a:solidFill>
              <a:latin typeface="Trebuchet MS"/>
              <a:ea typeface="Trebuchet MS"/>
              <a:cs typeface="Trebuchet MS"/>
              <a:sym typeface="Trebuchet MS"/>
            </a:endParaRPr>
          </a:p>
          <a:p>
            <a:pPr indent="0" lvl="0" marL="0" marR="0" rtl="0" algn="l">
              <a:lnSpc>
                <a:spcPct val="200000"/>
              </a:lnSpc>
              <a:spcBef>
                <a:spcPts val="0"/>
              </a:spcBef>
              <a:spcAft>
                <a:spcPts val="0"/>
              </a:spcAft>
              <a:buNone/>
            </a:pPr>
            <a:r>
              <a:rPr b="1" i="0" lang="en-US" sz="1600" u="none" cap="none" strike="noStrike">
                <a:solidFill>
                  <a:srgbClr val="1E293B"/>
                </a:solidFill>
                <a:latin typeface="Trebuchet MS"/>
                <a:ea typeface="Trebuchet MS"/>
                <a:cs typeface="Trebuchet MS"/>
                <a:sym typeface="Trebuchet MS"/>
              </a:rPr>
              <a:t>• </a:t>
            </a:r>
            <a:r>
              <a:rPr b="1" i="0" lang="en-US" sz="1600" u="sng" cap="none" strike="noStrike">
                <a:solidFill>
                  <a:srgbClr val="1E293B"/>
                </a:solidFill>
                <a:latin typeface="Trebuchet MS"/>
                <a:ea typeface="Trebuchet MS"/>
                <a:cs typeface="Trebuchet MS"/>
                <a:sym typeface="Trebuchet MS"/>
              </a:rPr>
              <a:t>The key is used to </a:t>
            </a:r>
            <a:r>
              <a:rPr b="1" i="0" lang="en-US" sz="1600" u="sng" cap="none" strike="noStrike">
                <a:solidFill>
                  <a:srgbClr val="0000FF"/>
                </a:solidFill>
                <a:latin typeface="Trebuchet MS"/>
                <a:ea typeface="Trebuchet MS"/>
                <a:cs typeface="Trebuchet MS"/>
                <a:sym typeface="Trebuchet MS"/>
              </a:rPr>
              <a:t>locate and access</a:t>
            </a:r>
            <a:r>
              <a:rPr b="1" i="0" lang="en-US" sz="1600" u="sng" cap="none" strike="noStrike">
                <a:solidFill>
                  <a:srgbClr val="1E293B"/>
                </a:solidFill>
                <a:latin typeface="Trebuchet MS"/>
                <a:ea typeface="Trebuchet MS"/>
                <a:cs typeface="Trebuchet MS"/>
                <a:sym typeface="Trebuchet MS"/>
              </a:rPr>
              <a:t> its </a:t>
            </a:r>
            <a:r>
              <a:rPr b="1" i="0" lang="en-US" sz="1600" u="sng" cap="none" strike="noStrike">
                <a:solidFill>
                  <a:srgbClr val="0000FF"/>
                </a:solidFill>
                <a:latin typeface="Trebuchet MS"/>
                <a:ea typeface="Trebuchet MS"/>
                <a:cs typeface="Trebuchet MS"/>
                <a:sym typeface="Trebuchet MS"/>
              </a:rPr>
              <a:t>corresponding value.</a:t>
            </a:r>
            <a:endParaRPr>
              <a:solidFill>
                <a:srgbClr val="0000FF"/>
              </a:solidFill>
              <a:latin typeface="Trebuchet MS"/>
              <a:ea typeface="Trebuchet MS"/>
              <a:cs typeface="Trebuchet MS"/>
              <a:sym typeface="Trebuchet MS"/>
            </a:endParaRPr>
          </a:p>
          <a:p>
            <a:pPr indent="0" lvl="1" marL="457200" marR="0" rtl="0" algn="l">
              <a:lnSpc>
                <a:spcPct val="20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a:t>
            </a:r>
            <a:r>
              <a:rPr b="1" i="0" lang="en-US" sz="1600" u="none" cap="none" strike="noStrike">
                <a:solidFill>
                  <a:srgbClr val="1E293B"/>
                </a:solidFill>
                <a:latin typeface="Trebuchet MS"/>
                <a:ea typeface="Trebuchet MS"/>
                <a:cs typeface="Trebuchet MS"/>
                <a:sym typeface="Trebuchet MS"/>
              </a:rPr>
              <a:t>Key: </a:t>
            </a:r>
            <a:r>
              <a:rPr i="0" lang="en-US" sz="1600" u="none" cap="none" strike="noStrike">
                <a:solidFill>
                  <a:srgbClr val="1E293B"/>
                </a:solidFill>
                <a:latin typeface="Trebuchet MS"/>
                <a:ea typeface="Trebuchet MS"/>
                <a:cs typeface="Trebuchet MS"/>
                <a:sym typeface="Trebuchet MS"/>
              </a:rPr>
              <a:t>The part of the </a:t>
            </a:r>
            <a:r>
              <a:rPr b="1" i="0" lang="en-US" sz="1600" u="sng" cap="none" strike="noStrike">
                <a:solidFill>
                  <a:srgbClr val="1E293B"/>
                </a:solidFill>
                <a:latin typeface="Trebuchet MS"/>
                <a:ea typeface="Trebuchet MS"/>
                <a:cs typeface="Trebuchet MS"/>
                <a:sym typeface="Trebuchet MS"/>
              </a:rPr>
              <a:t>data used to calculate the hash index (array index).</a:t>
            </a:r>
            <a:endParaRPr>
              <a:latin typeface="Trebuchet MS"/>
              <a:ea typeface="Trebuchet MS"/>
              <a:cs typeface="Trebuchet MS"/>
              <a:sym typeface="Trebuchet MS"/>
            </a:endParaRPr>
          </a:p>
          <a:p>
            <a:pPr indent="0" lvl="1" marL="457200" marR="0" rtl="0" algn="l">
              <a:lnSpc>
                <a:spcPct val="20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a:t>
            </a:r>
            <a:r>
              <a:rPr b="1" i="0" lang="en-US" sz="1600" u="none" cap="none" strike="noStrike">
                <a:solidFill>
                  <a:srgbClr val="1E293B"/>
                </a:solidFill>
                <a:latin typeface="Trebuchet MS"/>
                <a:ea typeface="Trebuchet MS"/>
                <a:cs typeface="Trebuchet MS"/>
                <a:sym typeface="Trebuchet MS"/>
              </a:rPr>
              <a:t>Value</a:t>
            </a:r>
            <a:r>
              <a:rPr i="0" lang="en-US" sz="1600" u="none" cap="none" strike="noStrike">
                <a:solidFill>
                  <a:srgbClr val="1E293B"/>
                </a:solidFill>
                <a:latin typeface="Trebuchet MS"/>
                <a:ea typeface="Trebuchet MS"/>
                <a:cs typeface="Trebuchet MS"/>
                <a:sym typeface="Trebuchet MS"/>
              </a:rPr>
              <a:t>: The </a:t>
            </a:r>
            <a:r>
              <a:rPr b="1" i="0" lang="en-US" sz="1600" u="sng" cap="none" strike="noStrike">
                <a:solidFill>
                  <a:srgbClr val="1E293B"/>
                </a:solidFill>
                <a:latin typeface="Trebuchet MS"/>
                <a:ea typeface="Trebuchet MS"/>
                <a:cs typeface="Trebuchet MS"/>
                <a:sym typeface="Trebuchet MS"/>
              </a:rPr>
              <a:t>remaining information associated with the key</a:t>
            </a:r>
            <a:r>
              <a:rPr i="0" lang="en-US" sz="1600" u="none" cap="none" strike="noStrike">
                <a:solidFill>
                  <a:srgbClr val="1E293B"/>
                </a:solidFill>
                <a:latin typeface="Trebuchet MS"/>
                <a:ea typeface="Trebuchet MS"/>
                <a:cs typeface="Trebuchet MS"/>
                <a:sym typeface="Trebuchet MS"/>
              </a:rPr>
              <a:t>.</a:t>
            </a:r>
            <a:br>
              <a:rPr i="0" lang="en-US" sz="1600" u="none" cap="none" strike="noStrike">
                <a:solidFill>
                  <a:srgbClr val="1E293B"/>
                </a:solidFill>
                <a:latin typeface="Trebuchet MS"/>
                <a:ea typeface="Trebuchet MS"/>
                <a:cs typeface="Trebuchet MS"/>
                <a:sym typeface="Trebuchet MS"/>
              </a:rPr>
            </a:br>
            <a:endParaRPr sz="1600">
              <a:solidFill>
                <a:srgbClr val="1E293B"/>
              </a:solidFill>
              <a:latin typeface="Trebuchet MS"/>
              <a:ea typeface="Trebuchet MS"/>
              <a:cs typeface="Trebuchet MS"/>
              <a:sym typeface="Trebuchet MS"/>
            </a:endParaRPr>
          </a:p>
          <a:p>
            <a:pPr indent="0" lvl="1" marL="0" marR="0" rtl="0" algn="l">
              <a:lnSpc>
                <a:spcPct val="200000"/>
              </a:lnSpc>
              <a:spcBef>
                <a:spcPts val="0"/>
              </a:spcBef>
              <a:spcAft>
                <a:spcPts val="0"/>
              </a:spcAft>
              <a:buNone/>
            </a:pPr>
            <a:r>
              <a:rPr lang="en-US" sz="1600">
                <a:solidFill>
                  <a:srgbClr val="1E293B"/>
                </a:solidFill>
                <a:latin typeface="Trebuchet MS"/>
                <a:ea typeface="Trebuchet MS"/>
                <a:cs typeface="Trebuchet MS"/>
                <a:sym typeface="Trebuchet MS"/>
              </a:rPr>
              <a:t>In this example, </a:t>
            </a:r>
            <a:endParaRPr sz="1600">
              <a:solidFill>
                <a:srgbClr val="1E293B"/>
              </a:solidFill>
              <a:latin typeface="Trebuchet MS"/>
              <a:ea typeface="Trebuchet MS"/>
              <a:cs typeface="Trebuchet MS"/>
              <a:sym typeface="Trebuchet MS"/>
            </a:endParaRPr>
          </a:p>
          <a:p>
            <a:pPr indent="0" lvl="1" marL="457200" marR="0" rtl="0" algn="l">
              <a:lnSpc>
                <a:spcPct val="200000"/>
              </a:lnSpc>
              <a:spcBef>
                <a:spcPts val="0"/>
              </a:spcBef>
              <a:spcAft>
                <a:spcPts val="0"/>
              </a:spcAft>
              <a:buNone/>
            </a:pPr>
            <a:r>
              <a:rPr lang="en-US" sz="1600">
                <a:solidFill>
                  <a:srgbClr val="1E293B"/>
                </a:solidFill>
                <a:latin typeface="Trebuchet MS"/>
                <a:ea typeface="Trebuchet MS"/>
                <a:cs typeface="Trebuchet MS"/>
                <a:sym typeface="Trebuchet MS"/>
              </a:rPr>
              <a:t>• The </a:t>
            </a:r>
            <a:r>
              <a:rPr lang="en-US" sz="1600">
                <a:solidFill>
                  <a:srgbClr val="0000FF"/>
                </a:solidFill>
                <a:latin typeface="Trebuchet MS"/>
                <a:ea typeface="Trebuchet MS"/>
                <a:cs typeface="Trebuchet MS"/>
                <a:sym typeface="Trebuchet MS"/>
              </a:rPr>
              <a:t>name</a:t>
            </a:r>
            <a:r>
              <a:rPr lang="en-US" sz="1600">
                <a:solidFill>
                  <a:srgbClr val="1E293B"/>
                </a:solidFill>
                <a:latin typeface="Trebuchet MS"/>
                <a:ea typeface="Trebuchet MS"/>
                <a:cs typeface="Trebuchet MS"/>
                <a:sym typeface="Trebuchet MS"/>
              </a:rPr>
              <a:t> is used as the </a:t>
            </a:r>
            <a:r>
              <a:rPr lang="en-US" sz="1600">
                <a:solidFill>
                  <a:srgbClr val="0000FF"/>
                </a:solidFill>
                <a:latin typeface="Trebuchet MS"/>
                <a:ea typeface="Trebuchet MS"/>
                <a:cs typeface="Trebuchet MS"/>
                <a:sym typeface="Trebuchet MS"/>
              </a:rPr>
              <a:t>key.</a:t>
            </a:r>
            <a:endParaRPr sz="1600">
              <a:solidFill>
                <a:srgbClr val="0000FF"/>
              </a:solidFill>
              <a:latin typeface="Trebuchet MS"/>
              <a:ea typeface="Trebuchet MS"/>
              <a:cs typeface="Trebuchet MS"/>
              <a:sym typeface="Trebuchet MS"/>
            </a:endParaRPr>
          </a:p>
          <a:p>
            <a:pPr indent="0" lvl="1" marL="457200" marR="0" rtl="0" algn="l">
              <a:lnSpc>
                <a:spcPct val="200000"/>
              </a:lnSpc>
              <a:spcBef>
                <a:spcPts val="0"/>
              </a:spcBef>
              <a:spcAft>
                <a:spcPts val="0"/>
              </a:spcAft>
              <a:buNone/>
            </a:pPr>
            <a:r>
              <a:rPr lang="en-US" sz="1600">
                <a:solidFill>
                  <a:srgbClr val="1E293B"/>
                </a:solidFill>
                <a:latin typeface="Trebuchet MS"/>
                <a:ea typeface="Trebuchet MS"/>
                <a:cs typeface="Trebuchet MS"/>
                <a:sym typeface="Trebuchet MS"/>
              </a:rPr>
              <a:t>• </a:t>
            </a:r>
            <a:r>
              <a:rPr lang="en-US" sz="1600">
                <a:solidFill>
                  <a:srgbClr val="0000FF"/>
                </a:solidFill>
                <a:latin typeface="Trebuchet MS"/>
                <a:ea typeface="Trebuchet MS"/>
                <a:cs typeface="Trebuchet MS"/>
                <a:sym typeface="Trebuchet MS"/>
              </a:rPr>
              <a:t>Additional information</a:t>
            </a:r>
            <a:r>
              <a:rPr lang="en-US" sz="1600">
                <a:solidFill>
                  <a:srgbClr val="1E293B"/>
                </a:solidFill>
                <a:latin typeface="Trebuchet MS"/>
                <a:ea typeface="Trebuchet MS"/>
                <a:cs typeface="Trebuchet MS"/>
                <a:sym typeface="Trebuchet MS"/>
              </a:rPr>
              <a:t> is stored as the </a:t>
            </a:r>
            <a:r>
              <a:rPr lang="en-US" sz="1600">
                <a:solidFill>
                  <a:srgbClr val="0000FF"/>
                </a:solidFill>
                <a:latin typeface="Trebuchet MS"/>
                <a:ea typeface="Trebuchet MS"/>
                <a:cs typeface="Trebuchet MS"/>
                <a:sym typeface="Trebuchet MS"/>
              </a:rPr>
              <a:t>value</a:t>
            </a:r>
            <a:r>
              <a:rPr lang="en-US" sz="1600">
                <a:solidFill>
                  <a:srgbClr val="1E293B"/>
                </a:solidFill>
                <a:latin typeface="Trebuchet MS"/>
                <a:ea typeface="Trebuchet MS"/>
                <a:cs typeface="Trebuchet MS"/>
                <a:sym typeface="Trebuchet MS"/>
              </a:rPr>
              <a:t>.</a:t>
            </a:r>
            <a:endParaRPr sz="1600">
              <a:solidFill>
                <a:srgbClr val="1E293B"/>
              </a:solidFill>
              <a:latin typeface="Trebuchet MS"/>
              <a:ea typeface="Trebuchet MS"/>
              <a:cs typeface="Trebuchet MS"/>
              <a:sym typeface="Trebuchet MS"/>
            </a:endParaRPr>
          </a:p>
        </p:txBody>
      </p:sp>
      <p:sp>
        <p:nvSpPr>
          <p:cNvPr id="251" name="Google Shape;251;p14"/>
          <p:cNvSpPr txBox="1"/>
          <p:nvPr/>
        </p:nvSpPr>
        <p:spPr>
          <a:xfrm>
            <a:off x="6223950" y="6370295"/>
            <a:ext cx="5628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i="1" lang="en-US" u="none" cap="none" strike="noStrike">
                <a:solidFill>
                  <a:srgbClr val="5F6368"/>
                </a:solidFill>
                <a:latin typeface="Trebuchet MS"/>
                <a:ea typeface="Trebuchet MS"/>
                <a:cs typeface="Trebuchet MS"/>
                <a:sym typeface="Trebuchet MS"/>
              </a:rPr>
              <a:t>• Figure: Values can be stored together with their keys.</a:t>
            </a:r>
            <a:endParaRPr>
              <a:latin typeface="Trebuchet MS"/>
              <a:ea typeface="Trebuchet MS"/>
              <a:cs typeface="Trebuchet MS"/>
              <a:sym typeface="Trebuchet MS"/>
            </a:endParaRPr>
          </a:p>
        </p:txBody>
      </p:sp>
      <p:sp>
        <p:nvSpPr>
          <p:cNvPr id="252" name="Google Shape;252;p14"/>
          <p:cNvSpPr txBox="1"/>
          <p:nvPr/>
        </p:nvSpPr>
        <p:spPr>
          <a:xfrm>
            <a:off x="411480" y="6419088"/>
            <a:ext cx="497252" cy="323165"/>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253" name="Google Shape;253;p14"/>
          <p:cNvSpPr txBox="1"/>
          <p:nvPr/>
        </p:nvSpPr>
        <p:spPr>
          <a:xfrm>
            <a:off x="11517284" y="6419088"/>
            <a:ext cx="232756" cy="323165"/>
          </a:xfrm>
          <a:prstGeom prst="rect">
            <a:avLst/>
          </a:prstGeom>
          <a:noFill/>
          <a:ln>
            <a:noFill/>
          </a:ln>
        </p:spPr>
        <p:txBody>
          <a:bodyPr anchorCtr="0" anchor="t" bIns="45700" lIns="91425" spcFirstLastPara="1" rIns="91425" wrap="square" tIns="45700">
            <a:spAutoFit/>
          </a:bodyPr>
          <a:lstStyle/>
          <a:p>
            <a:pPr indent="0" lvl="0" marL="0" marR="0" rtl="0" algn="r">
              <a:lnSpc>
                <a:spcPct val="200000"/>
              </a:lnSpc>
              <a:spcBef>
                <a:spcPts val="0"/>
              </a:spcBef>
              <a:spcAft>
                <a:spcPts val="0"/>
              </a:spcAft>
              <a:buNone/>
            </a:pPr>
            <a:r>
              <a:rPr b="0" i="0" lang="en-US" sz="750" u="none" cap="none" strike="noStrike">
                <a:solidFill>
                  <a:srgbClr val="5F6368"/>
                </a:solidFill>
                <a:latin typeface="Calibri"/>
                <a:ea typeface="Calibri"/>
                <a:cs typeface="Calibri"/>
                <a:sym typeface="Calibri"/>
              </a:rPr>
              <a:t>9</a:t>
            </a:r>
            <a:endParaRPr/>
          </a:p>
        </p:txBody>
      </p:sp>
      <p:pic>
        <p:nvPicPr>
          <p:cNvPr id="254" name="Google Shape;254;p14"/>
          <p:cNvPicPr preferRelativeResize="0"/>
          <p:nvPr/>
        </p:nvPicPr>
        <p:blipFill rotWithShape="1">
          <a:blip r:embed="rId3">
            <a:alphaModFix/>
          </a:blip>
          <a:srcRect b="0" l="0" r="0" t="0"/>
          <a:stretch/>
        </p:blipFill>
        <p:spPr>
          <a:xfrm>
            <a:off x="6054475" y="2993925"/>
            <a:ext cx="6044251" cy="34529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 name="Shape 258"/>
        <p:cNvGrpSpPr/>
        <p:nvPr/>
      </p:nvGrpSpPr>
      <p:grpSpPr>
        <a:xfrm>
          <a:off x="0" y="0"/>
          <a:ext cx="0" cy="0"/>
          <a:chOff x="0" y="0"/>
          <a:chExt cx="0" cy="0"/>
        </a:xfrm>
      </p:grpSpPr>
      <p:sp>
        <p:nvSpPr>
          <p:cNvPr id="259" name="Google Shape;259;p15"/>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0" name="Google Shape;260;p15"/>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1" name="Google Shape;261;p15"/>
          <p:cNvSpPr txBox="1"/>
          <p:nvPr/>
        </p:nvSpPr>
        <p:spPr>
          <a:xfrm>
            <a:off x="411480" y="256032"/>
            <a:ext cx="291926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Important definitions</a:t>
            </a:r>
            <a:endParaRPr b="0" i="0" sz="1800" u="none" cap="none" strike="noStrike">
              <a:solidFill>
                <a:schemeClr val="dk1"/>
              </a:solidFill>
              <a:latin typeface="Calibri"/>
              <a:ea typeface="Calibri"/>
              <a:cs typeface="Calibri"/>
              <a:sym typeface="Calibri"/>
            </a:endParaRPr>
          </a:p>
        </p:txBody>
      </p:sp>
      <p:sp>
        <p:nvSpPr>
          <p:cNvPr id="262" name="Google Shape;262;p15"/>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63" name="Google Shape;263;p15"/>
          <p:cNvSpPr txBox="1"/>
          <p:nvPr/>
        </p:nvSpPr>
        <p:spPr>
          <a:xfrm>
            <a:off x="649224" y="1389888"/>
            <a:ext cx="9835304" cy="4581144"/>
          </a:xfrm>
          <a:prstGeom prst="rect">
            <a:avLst/>
          </a:prstGeom>
          <a:noFill/>
          <a:ln>
            <a:noFill/>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a:t>
            </a:r>
            <a:r>
              <a:rPr b="1" i="0" lang="en-US" sz="1600" u="none" cap="none" strike="noStrike">
                <a:solidFill>
                  <a:srgbClr val="1E293B"/>
                </a:solidFill>
                <a:latin typeface="Trebuchet MS"/>
                <a:ea typeface="Trebuchet MS"/>
                <a:cs typeface="Trebuchet MS"/>
                <a:sym typeface="Trebuchet MS"/>
              </a:rPr>
              <a:t>Hash table: </a:t>
            </a:r>
            <a:r>
              <a:rPr b="1" lang="en-US" sz="1600">
                <a:solidFill>
                  <a:srgbClr val="1E293B"/>
                </a:solidFill>
                <a:latin typeface="Trebuchet MS"/>
                <a:ea typeface="Trebuchet MS"/>
                <a:cs typeface="Trebuchet MS"/>
                <a:sym typeface="Trebuchet MS"/>
              </a:rPr>
              <a:t> </a:t>
            </a:r>
            <a:r>
              <a:rPr i="0" lang="en-US" sz="1600" u="none" cap="none" strike="noStrike">
                <a:solidFill>
                  <a:srgbClr val="1E293B"/>
                </a:solidFill>
                <a:latin typeface="Trebuchet MS"/>
                <a:ea typeface="Trebuchet MS"/>
                <a:cs typeface="Trebuchet MS"/>
                <a:sym typeface="Trebuchet MS"/>
              </a:rPr>
              <a:t>The array where </a:t>
            </a:r>
            <a:r>
              <a:rPr b="1" i="0" lang="en-US" sz="1600" u="sng" cap="none" strike="noStrike">
                <a:solidFill>
                  <a:srgbClr val="0000FF"/>
                </a:solidFill>
                <a:latin typeface="Trebuchet MS"/>
                <a:ea typeface="Trebuchet MS"/>
                <a:cs typeface="Trebuchet MS"/>
                <a:sym typeface="Trebuchet MS"/>
              </a:rPr>
              <a:t>both key and values are stored</a:t>
            </a:r>
            <a:r>
              <a:rPr i="0" lang="en-US" sz="1600" u="none" cap="none" strike="noStrike">
                <a:solidFill>
                  <a:srgbClr val="1E293B"/>
                </a:solidFill>
                <a:latin typeface="Trebuchet MS"/>
                <a:ea typeface="Trebuchet MS"/>
                <a:cs typeface="Trebuchet MS"/>
                <a:sym typeface="Trebuchet MS"/>
              </a:rPr>
              <a:t>.</a:t>
            </a:r>
            <a:br>
              <a:rPr i="0" lang="en-US" sz="1600" u="none" cap="none" strike="noStrike">
                <a:solidFill>
                  <a:srgbClr val="1E293B"/>
                </a:solidFill>
                <a:latin typeface="Trebuchet MS"/>
                <a:ea typeface="Trebuchet MS"/>
                <a:cs typeface="Trebuchet MS"/>
                <a:sym typeface="Trebuchet MS"/>
              </a:rPr>
            </a:br>
            <a:endParaRPr i="0" sz="1600" u="none" cap="none" strike="noStrike">
              <a:solidFill>
                <a:schemeClr val="dk1"/>
              </a:solidFill>
              <a:latin typeface="Trebuchet MS"/>
              <a:ea typeface="Trebuchet MS"/>
              <a:cs typeface="Trebuchet MS"/>
              <a:sym typeface="Trebuchet MS"/>
            </a:endParaRPr>
          </a:p>
          <a:p>
            <a:pPr indent="0" lvl="0" marL="0" marR="0" rtl="0" algn="l">
              <a:lnSpc>
                <a:spcPct val="20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a:t>
            </a:r>
            <a:r>
              <a:rPr b="1" i="0" lang="en-US" sz="1600" u="none" cap="none" strike="noStrike">
                <a:solidFill>
                  <a:srgbClr val="1E293B"/>
                </a:solidFill>
                <a:latin typeface="Trebuchet MS"/>
                <a:ea typeface="Trebuchet MS"/>
                <a:cs typeface="Trebuchet MS"/>
                <a:sym typeface="Trebuchet MS"/>
              </a:rPr>
              <a:t>Hashing Algorithm / Hashing Function: </a:t>
            </a:r>
            <a:endParaRPr sz="1600">
              <a:latin typeface="Trebuchet MS"/>
              <a:ea typeface="Trebuchet MS"/>
              <a:cs typeface="Trebuchet MS"/>
              <a:sym typeface="Trebuchet MS"/>
            </a:endParaRPr>
          </a:p>
          <a:p>
            <a:pPr indent="0" lvl="0" marL="0" marR="0" rtl="0" algn="l">
              <a:lnSpc>
                <a:spcPct val="20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It represents the </a:t>
            </a:r>
            <a:r>
              <a:rPr b="1" i="0" lang="en-US" sz="1600" u="none" cap="none" strike="noStrike">
                <a:solidFill>
                  <a:srgbClr val="1E293B"/>
                </a:solidFill>
                <a:latin typeface="Trebuchet MS"/>
                <a:ea typeface="Trebuchet MS"/>
                <a:cs typeface="Trebuchet MS"/>
                <a:sym typeface="Trebuchet MS"/>
              </a:rPr>
              <a:t>calculations </a:t>
            </a:r>
            <a:r>
              <a:rPr i="0" lang="en-US" sz="1600" u="none" cap="none" strike="noStrike">
                <a:solidFill>
                  <a:srgbClr val="1E293B"/>
                </a:solidFill>
                <a:latin typeface="Trebuchet MS"/>
                <a:ea typeface="Trebuchet MS"/>
                <a:cs typeface="Trebuchet MS"/>
                <a:sym typeface="Trebuchet MS"/>
              </a:rPr>
              <a:t>applied to a key which may be a </a:t>
            </a:r>
            <a:r>
              <a:rPr b="1" i="0" lang="en-US" sz="1600" u="none" cap="none" strike="noStrike">
                <a:solidFill>
                  <a:srgbClr val="1E293B"/>
                </a:solidFill>
                <a:latin typeface="Trebuchet MS"/>
                <a:ea typeface="Trebuchet MS"/>
                <a:cs typeface="Trebuchet MS"/>
                <a:sym typeface="Trebuchet MS"/>
              </a:rPr>
              <a:t>very large number</a:t>
            </a:r>
            <a:r>
              <a:rPr i="0" lang="en-US" sz="1600" u="none" cap="none" strike="noStrike">
                <a:solidFill>
                  <a:srgbClr val="1E293B"/>
                </a:solidFill>
                <a:latin typeface="Trebuchet MS"/>
                <a:ea typeface="Trebuchet MS"/>
                <a:cs typeface="Trebuchet MS"/>
                <a:sym typeface="Trebuchet MS"/>
              </a:rPr>
              <a:t> or a </a:t>
            </a:r>
            <a:r>
              <a:rPr b="1" i="0" lang="en-US" sz="1600" u="none" cap="none" strike="noStrike">
                <a:solidFill>
                  <a:srgbClr val="1E293B"/>
                </a:solidFill>
                <a:latin typeface="Trebuchet MS"/>
                <a:ea typeface="Trebuchet MS"/>
                <a:cs typeface="Trebuchet MS"/>
                <a:sym typeface="Trebuchet MS"/>
              </a:rPr>
              <a:t>very large string </a:t>
            </a:r>
            <a:r>
              <a:rPr i="0" lang="en-US" sz="1600" u="none" cap="none" strike="noStrike">
                <a:solidFill>
                  <a:srgbClr val="1E293B"/>
                </a:solidFill>
                <a:latin typeface="Trebuchet MS"/>
                <a:ea typeface="Trebuchet MS"/>
                <a:cs typeface="Trebuchet MS"/>
                <a:sym typeface="Trebuchet MS"/>
              </a:rPr>
              <a:t>to transform it into </a:t>
            </a:r>
            <a:r>
              <a:rPr b="1" i="0" lang="en-US" sz="1600" u="sng" cap="none" strike="noStrike">
                <a:solidFill>
                  <a:srgbClr val="1E293B"/>
                </a:solidFill>
                <a:latin typeface="Trebuchet MS"/>
                <a:ea typeface="Trebuchet MS"/>
                <a:cs typeface="Trebuchet MS"/>
                <a:sym typeface="Trebuchet MS"/>
              </a:rPr>
              <a:t>a relatively small index </a:t>
            </a:r>
            <a:r>
              <a:rPr i="0" lang="en-US" sz="1600" u="none" cap="none" strike="noStrike">
                <a:solidFill>
                  <a:srgbClr val="1E293B"/>
                </a:solidFill>
                <a:latin typeface="Trebuchet MS"/>
                <a:ea typeface="Trebuchet MS"/>
                <a:cs typeface="Trebuchet MS"/>
                <a:sym typeface="Trebuchet MS"/>
              </a:rPr>
              <a:t>that corresponds to a </a:t>
            </a:r>
            <a:r>
              <a:rPr b="1" i="0" lang="en-US" sz="1600" u="none" cap="none" strike="noStrike">
                <a:solidFill>
                  <a:srgbClr val="1E293B"/>
                </a:solidFill>
                <a:latin typeface="Trebuchet MS"/>
                <a:ea typeface="Trebuchet MS"/>
                <a:cs typeface="Trebuchet MS"/>
                <a:sym typeface="Trebuchet MS"/>
              </a:rPr>
              <a:t>position/index </a:t>
            </a:r>
            <a:r>
              <a:rPr i="0" lang="en-US" sz="1600" u="none" cap="none" strike="noStrike">
                <a:solidFill>
                  <a:srgbClr val="1E293B"/>
                </a:solidFill>
                <a:latin typeface="Trebuchet MS"/>
                <a:ea typeface="Trebuchet MS"/>
                <a:cs typeface="Trebuchet MS"/>
                <a:sym typeface="Trebuchet MS"/>
              </a:rPr>
              <a:t>in a hash table. </a:t>
            </a:r>
            <a:endParaRPr i="0" sz="1600" u="none" cap="none" strike="noStrike">
              <a:solidFill>
                <a:srgbClr val="1E293B"/>
              </a:solidFill>
              <a:latin typeface="Trebuchet MS"/>
              <a:ea typeface="Trebuchet MS"/>
              <a:cs typeface="Trebuchet MS"/>
              <a:sym typeface="Trebuchet MS"/>
            </a:endParaRPr>
          </a:p>
          <a:p>
            <a:pPr indent="0" lvl="0" marL="0" marR="0" rtl="0" algn="l">
              <a:lnSpc>
                <a:spcPct val="20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The output, typically a </a:t>
            </a:r>
            <a:r>
              <a:rPr b="1" i="0" lang="en-US" sz="1600" u="none" cap="none" strike="noStrike">
                <a:solidFill>
                  <a:srgbClr val="1E293B"/>
                </a:solidFill>
                <a:latin typeface="Trebuchet MS"/>
                <a:ea typeface="Trebuchet MS"/>
                <a:cs typeface="Trebuchet MS"/>
                <a:sym typeface="Trebuchet MS"/>
              </a:rPr>
              <a:t>number</a:t>
            </a:r>
            <a:r>
              <a:rPr i="0" lang="en-US" sz="1600" u="none" cap="none" strike="noStrike">
                <a:solidFill>
                  <a:srgbClr val="1E293B"/>
                </a:solidFill>
                <a:latin typeface="Trebuchet MS"/>
                <a:ea typeface="Trebuchet MS"/>
                <a:cs typeface="Trebuchet MS"/>
                <a:sym typeface="Trebuchet MS"/>
              </a:rPr>
              <a:t>, is called the </a:t>
            </a:r>
            <a:r>
              <a:rPr b="1" i="0" lang="en-US" sz="1600" u="none" cap="none" strike="noStrike">
                <a:solidFill>
                  <a:srgbClr val="C00000"/>
                </a:solidFill>
                <a:latin typeface="Trebuchet MS"/>
                <a:ea typeface="Trebuchet MS"/>
                <a:cs typeface="Trebuchet MS"/>
                <a:sym typeface="Trebuchet MS"/>
              </a:rPr>
              <a:t>hash code or hash value</a:t>
            </a:r>
            <a:r>
              <a:rPr i="0" lang="en-US" sz="1600" u="none" cap="none" strike="noStrike">
                <a:solidFill>
                  <a:srgbClr val="1E293B"/>
                </a:solidFill>
                <a:latin typeface="Trebuchet MS"/>
                <a:ea typeface="Trebuchet MS"/>
                <a:cs typeface="Trebuchet MS"/>
                <a:sym typeface="Trebuchet MS"/>
              </a:rPr>
              <a:t>.</a:t>
            </a:r>
            <a:endParaRPr sz="1600">
              <a:latin typeface="Trebuchet MS"/>
              <a:ea typeface="Trebuchet MS"/>
              <a:cs typeface="Trebuchet MS"/>
              <a:sym typeface="Trebuchet MS"/>
            </a:endParaRPr>
          </a:p>
          <a:p>
            <a:pPr indent="0" lvl="1" marL="457200" marR="0" rtl="0" algn="l">
              <a:lnSpc>
                <a:spcPct val="20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This index number is effectively a </a:t>
            </a:r>
            <a:r>
              <a:rPr i="0" lang="en-US" sz="1600" u="sng" cap="none" strike="noStrike">
                <a:solidFill>
                  <a:srgbClr val="1E293B"/>
                </a:solidFill>
                <a:latin typeface="Trebuchet MS"/>
                <a:ea typeface="Trebuchet MS"/>
                <a:cs typeface="Trebuchet MS"/>
                <a:sym typeface="Trebuchet MS"/>
              </a:rPr>
              <a:t>memory address.</a:t>
            </a:r>
            <a:endParaRPr sz="1600" u="sng">
              <a:latin typeface="Trebuchet MS"/>
              <a:ea typeface="Trebuchet MS"/>
              <a:cs typeface="Trebuchet MS"/>
              <a:sym typeface="Trebuchet MS"/>
            </a:endParaRPr>
          </a:p>
          <a:p>
            <a:pPr indent="0" lvl="1" marL="457200" marR="0" rtl="0" algn="l">
              <a:lnSpc>
                <a:spcPct val="20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There is a lot of Hashing Algorithms to choose from.</a:t>
            </a:r>
            <a:endParaRPr sz="1600">
              <a:latin typeface="Trebuchet MS"/>
              <a:ea typeface="Trebuchet MS"/>
              <a:cs typeface="Trebuchet MS"/>
              <a:sym typeface="Trebuchet MS"/>
            </a:endParaRPr>
          </a:p>
        </p:txBody>
      </p:sp>
      <p:sp>
        <p:nvSpPr>
          <p:cNvPr id="264" name="Google Shape;264;p15"/>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265" name="Google Shape;265;p15"/>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10</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16"/>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1" name="Google Shape;271;p16"/>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2" name="Google Shape;272;p16"/>
          <p:cNvSpPr txBox="1"/>
          <p:nvPr/>
        </p:nvSpPr>
        <p:spPr>
          <a:xfrm>
            <a:off x="411480" y="256032"/>
            <a:ext cx="36699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Objectives of hash function</a:t>
            </a:r>
            <a:endParaRPr b="0" i="0" sz="1800" u="none" cap="none" strike="noStrike">
              <a:solidFill>
                <a:schemeClr val="dk1"/>
              </a:solidFill>
              <a:latin typeface="Calibri"/>
              <a:ea typeface="Calibri"/>
              <a:cs typeface="Calibri"/>
              <a:sym typeface="Calibri"/>
            </a:endParaRPr>
          </a:p>
        </p:txBody>
      </p:sp>
      <p:sp>
        <p:nvSpPr>
          <p:cNvPr id="273" name="Google Shape;273;p16"/>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4" name="Google Shape;274;p16"/>
          <p:cNvSpPr txBox="1"/>
          <p:nvPr/>
        </p:nvSpPr>
        <p:spPr>
          <a:xfrm>
            <a:off x="649224" y="1389888"/>
            <a:ext cx="9835304" cy="4581144"/>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rPr i="0" lang="en-US" sz="1700" u="none" cap="none" strike="noStrike">
                <a:solidFill>
                  <a:srgbClr val="1E293B"/>
                </a:solidFill>
                <a:latin typeface="Trebuchet MS"/>
                <a:ea typeface="Trebuchet MS"/>
                <a:cs typeface="Trebuchet MS"/>
                <a:sym typeface="Trebuchet MS"/>
              </a:rPr>
              <a:t>• </a:t>
            </a:r>
            <a:r>
              <a:rPr b="1" i="0" lang="en-US" sz="1700" u="none" cap="none" strike="noStrike">
                <a:solidFill>
                  <a:srgbClr val="1E293B"/>
                </a:solidFill>
                <a:latin typeface="Trebuchet MS"/>
                <a:ea typeface="Trebuchet MS"/>
                <a:cs typeface="Trebuchet MS"/>
                <a:sym typeface="Trebuchet MS"/>
              </a:rPr>
              <a:t>Objectives of Hash Algorithm / Hash Function: </a:t>
            </a:r>
            <a:endParaRPr sz="1700">
              <a:latin typeface="Trebuchet MS"/>
              <a:ea typeface="Trebuchet MS"/>
              <a:cs typeface="Trebuchet MS"/>
              <a:sym typeface="Trebuchet MS"/>
            </a:endParaRPr>
          </a:p>
          <a:p>
            <a:pPr indent="-279400" lvl="1" marL="742950" marR="0" rtl="0" algn="l">
              <a:lnSpc>
                <a:spcPct val="200000"/>
              </a:lnSpc>
              <a:spcBef>
                <a:spcPts val="0"/>
              </a:spcBef>
              <a:spcAft>
                <a:spcPts val="0"/>
              </a:spcAft>
              <a:buClr>
                <a:schemeClr val="dk1"/>
              </a:buClr>
              <a:buSzPts val="1700"/>
              <a:buFont typeface="Trebuchet MS"/>
              <a:buChar char="•"/>
            </a:pPr>
            <a:r>
              <a:rPr i="0" lang="en-US" sz="1700" u="none" cap="none" strike="noStrike">
                <a:solidFill>
                  <a:schemeClr val="dk1"/>
                </a:solidFill>
                <a:latin typeface="Trebuchet MS"/>
                <a:ea typeface="Trebuchet MS"/>
                <a:cs typeface="Trebuchet MS"/>
                <a:sym typeface="Trebuchet MS"/>
              </a:rPr>
              <a:t>Easy to calculate</a:t>
            </a:r>
            <a:endParaRPr sz="1700">
              <a:latin typeface="Trebuchet MS"/>
              <a:ea typeface="Trebuchet MS"/>
              <a:cs typeface="Trebuchet MS"/>
              <a:sym typeface="Trebuchet MS"/>
            </a:endParaRPr>
          </a:p>
          <a:p>
            <a:pPr indent="-279400" lvl="1" marL="742950" marR="0" rtl="0" algn="l">
              <a:lnSpc>
                <a:spcPct val="200000"/>
              </a:lnSpc>
              <a:spcBef>
                <a:spcPts val="0"/>
              </a:spcBef>
              <a:spcAft>
                <a:spcPts val="0"/>
              </a:spcAft>
              <a:buClr>
                <a:schemeClr val="dk1"/>
              </a:buClr>
              <a:buSzPts val="1700"/>
              <a:buFont typeface="Trebuchet MS"/>
              <a:buChar char="•"/>
            </a:pPr>
            <a:r>
              <a:rPr i="0" lang="en-US" sz="1700" u="none" cap="none" strike="noStrike">
                <a:solidFill>
                  <a:schemeClr val="dk1"/>
                </a:solidFill>
                <a:latin typeface="Trebuchet MS"/>
                <a:ea typeface="Trebuchet MS"/>
                <a:cs typeface="Trebuchet MS"/>
                <a:sym typeface="Trebuchet MS"/>
              </a:rPr>
              <a:t>Uniform distribution of hash values</a:t>
            </a:r>
            <a:endParaRPr sz="1700">
              <a:latin typeface="Trebuchet MS"/>
              <a:ea typeface="Trebuchet MS"/>
              <a:cs typeface="Trebuchet MS"/>
              <a:sym typeface="Trebuchet MS"/>
            </a:endParaRPr>
          </a:p>
          <a:p>
            <a:pPr indent="-279400" lvl="1" marL="742950" marR="0" rtl="0" algn="l">
              <a:lnSpc>
                <a:spcPct val="200000"/>
              </a:lnSpc>
              <a:spcBef>
                <a:spcPts val="0"/>
              </a:spcBef>
              <a:spcAft>
                <a:spcPts val="0"/>
              </a:spcAft>
              <a:buClr>
                <a:schemeClr val="dk1"/>
              </a:buClr>
              <a:buSzPts val="1700"/>
              <a:buFont typeface="Trebuchet MS"/>
              <a:buChar char="•"/>
            </a:pPr>
            <a:r>
              <a:rPr i="0" lang="en-US" sz="1700" u="none" cap="none" strike="noStrike">
                <a:solidFill>
                  <a:schemeClr val="dk1"/>
                </a:solidFill>
                <a:latin typeface="Trebuchet MS"/>
                <a:ea typeface="Trebuchet MS"/>
                <a:cs typeface="Trebuchet MS"/>
                <a:sym typeface="Trebuchet MS"/>
              </a:rPr>
              <a:t>Minimize collision</a:t>
            </a:r>
            <a:endParaRPr sz="1700">
              <a:latin typeface="Trebuchet MS"/>
              <a:ea typeface="Trebuchet MS"/>
              <a:cs typeface="Trebuchet MS"/>
              <a:sym typeface="Trebuchet MS"/>
            </a:endParaRPr>
          </a:p>
          <a:p>
            <a:pPr indent="-279400" lvl="1" marL="742950" marR="0" rtl="0" algn="l">
              <a:lnSpc>
                <a:spcPct val="200000"/>
              </a:lnSpc>
              <a:spcBef>
                <a:spcPts val="0"/>
              </a:spcBef>
              <a:spcAft>
                <a:spcPts val="0"/>
              </a:spcAft>
              <a:buClr>
                <a:schemeClr val="dk1"/>
              </a:buClr>
              <a:buSzPts val="1700"/>
              <a:buFont typeface="Trebuchet MS"/>
              <a:buChar char="•"/>
            </a:pPr>
            <a:r>
              <a:rPr i="0" lang="en-US" sz="1700" u="none" cap="none" strike="noStrike">
                <a:solidFill>
                  <a:schemeClr val="dk1"/>
                </a:solidFill>
                <a:latin typeface="Trebuchet MS"/>
                <a:ea typeface="Trebuchet MS"/>
                <a:cs typeface="Trebuchet MS"/>
                <a:sym typeface="Trebuchet MS"/>
              </a:rPr>
              <a:t>Resolve any collisions</a:t>
            </a:r>
            <a:endParaRPr sz="1700">
              <a:latin typeface="Trebuchet MS"/>
              <a:ea typeface="Trebuchet MS"/>
              <a:cs typeface="Trebuchet MS"/>
              <a:sym typeface="Trebuchet MS"/>
            </a:endParaRPr>
          </a:p>
        </p:txBody>
      </p:sp>
      <p:sp>
        <p:nvSpPr>
          <p:cNvPr id="275" name="Google Shape;275;p16"/>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276" name="Google Shape;276;p16"/>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10</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sp>
        <p:nvSpPr>
          <p:cNvPr id="281" name="Google Shape;281;p17"/>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2" name="Google Shape;282;p17"/>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3" name="Google Shape;283;p17"/>
          <p:cNvSpPr txBox="1"/>
          <p:nvPr/>
        </p:nvSpPr>
        <p:spPr>
          <a:xfrm>
            <a:off x="411480" y="256032"/>
            <a:ext cx="550695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 Possible ways of creating hash functions</a:t>
            </a:r>
            <a:endParaRPr/>
          </a:p>
        </p:txBody>
      </p:sp>
      <p:sp>
        <p:nvSpPr>
          <p:cNvPr id="284" name="Google Shape;284;p17"/>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5" name="Google Shape;285;p17"/>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286" name="Google Shape;286;p17"/>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11</a:t>
            </a:r>
            <a:endParaRPr/>
          </a:p>
        </p:txBody>
      </p:sp>
      <p:sp>
        <p:nvSpPr>
          <p:cNvPr id="287" name="Google Shape;287;p17"/>
          <p:cNvSpPr txBox="1"/>
          <p:nvPr/>
        </p:nvSpPr>
        <p:spPr>
          <a:xfrm>
            <a:off x="662025" y="1138500"/>
            <a:ext cx="9422700" cy="5719500"/>
          </a:xfrm>
          <a:prstGeom prst="rect">
            <a:avLst/>
          </a:prstGeom>
          <a:noFill/>
          <a:ln>
            <a:noFill/>
          </a:ln>
        </p:spPr>
        <p:txBody>
          <a:bodyPr anchorCtr="0" anchor="t" bIns="45700" lIns="91425" spcFirstLastPara="1" rIns="91425" wrap="square" tIns="45700">
            <a:noAutofit/>
          </a:bodyPr>
          <a:lstStyle/>
          <a:p>
            <a:pPr indent="-336550" lvl="0" marL="457200" marR="0" rtl="0" algn="l">
              <a:lnSpc>
                <a:spcPct val="150000"/>
              </a:lnSpc>
              <a:spcBef>
                <a:spcPts val="0"/>
              </a:spcBef>
              <a:spcAft>
                <a:spcPts val="0"/>
              </a:spcAft>
              <a:buSzPts val="1700"/>
              <a:buFont typeface="Trebuchet MS"/>
              <a:buChar char="●"/>
            </a:pPr>
            <a:r>
              <a:rPr b="1" lang="en-US" sz="1700">
                <a:solidFill>
                  <a:schemeClr val="dk1"/>
                </a:solidFill>
                <a:latin typeface="Trebuchet MS"/>
                <a:ea typeface="Trebuchet MS"/>
                <a:cs typeface="Trebuchet MS"/>
                <a:sym typeface="Trebuchet MS"/>
              </a:rPr>
              <a:t>Numeric keys:</a:t>
            </a:r>
            <a:endParaRPr b="1" sz="1700">
              <a:solidFill>
                <a:schemeClr val="dk1"/>
              </a:solidFill>
              <a:latin typeface="Trebuchet MS"/>
              <a:ea typeface="Trebuchet MS"/>
              <a:cs typeface="Trebuchet MS"/>
              <a:sym typeface="Trebuchet MS"/>
            </a:endParaRPr>
          </a:p>
          <a:p>
            <a:pPr indent="-336550" lvl="1" marL="914400" rtl="0" algn="l">
              <a:lnSpc>
                <a:spcPct val="150000"/>
              </a:lnSpc>
              <a:spcBef>
                <a:spcPts val="0"/>
              </a:spcBef>
              <a:spcAft>
                <a:spcPts val="0"/>
              </a:spcAft>
              <a:buClr>
                <a:schemeClr val="dk1"/>
              </a:buClr>
              <a:buSzPts val="1700"/>
              <a:buFont typeface="Trebuchet MS"/>
              <a:buChar char="○"/>
            </a:pPr>
            <a:r>
              <a:rPr lang="en-US" sz="1700">
                <a:solidFill>
                  <a:schemeClr val="dk1"/>
                </a:solidFill>
                <a:latin typeface="Trebuchet MS"/>
                <a:ea typeface="Trebuchet MS"/>
                <a:cs typeface="Trebuchet MS"/>
                <a:sym typeface="Trebuchet MS"/>
              </a:rPr>
              <a:t>Divide the key by the number of available addresses, n (Length of hash table).</a:t>
            </a:r>
            <a:endParaRPr sz="1700">
              <a:solidFill>
                <a:schemeClr val="dk1"/>
              </a:solidFill>
              <a:latin typeface="Trebuchet MS"/>
              <a:ea typeface="Trebuchet MS"/>
              <a:cs typeface="Trebuchet MS"/>
              <a:sym typeface="Trebuchet MS"/>
            </a:endParaRPr>
          </a:p>
          <a:p>
            <a:pPr indent="-336550" lvl="1" marL="914400" rtl="0" algn="l">
              <a:lnSpc>
                <a:spcPct val="150000"/>
              </a:lnSpc>
              <a:spcBef>
                <a:spcPts val="0"/>
              </a:spcBef>
              <a:spcAft>
                <a:spcPts val="0"/>
              </a:spcAft>
              <a:buClr>
                <a:schemeClr val="dk1"/>
              </a:buClr>
              <a:buSzPts val="1700"/>
              <a:buFont typeface="Trebuchet MS"/>
              <a:buChar char="○"/>
            </a:pPr>
            <a:r>
              <a:rPr lang="en-US" sz="1700">
                <a:solidFill>
                  <a:schemeClr val="dk1"/>
                </a:solidFill>
                <a:latin typeface="Trebuchet MS"/>
                <a:ea typeface="Trebuchet MS"/>
                <a:cs typeface="Trebuchet MS"/>
                <a:sym typeface="Trebuchet MS"/>
              </a:rPr>
              <a:t>Use the remainder as the address.</a:t>
            </a:r>
            <a:endParaRPr sz="1700">
              <a:solidFill>
                <a:schemeClr val="dk1"/>
              </a:solidFill>
              <a:latin typeface="Trebuchet MS"/>
              <a:ea typeface="Trebuchet MS"/>
              <a:cs typeface="Trebuchet MS"/>
              <a:sym typeface="Trebuchet MS"/>
            </a:endParaRPr>
          </a:p>
          <a:p>
            <a:pPr indent="0" lvl="0" marL="0" rtl="0" algn="l">
              <a:lnSpc>
                <a:spcPct val="150000"/>
              </a:lnSpc>
              <a:spcBef>
                <a:spcPts val="1200"/>
              </a:spcBef>
              <a:spcAft>
                <a:spcPts val="0"/>
              </a:spcAft>
              <a:buNone/>
            </a:pPr>
            <a:r>
              <a:rPr b="1" lang="en-US" sz="1700">
                <a:solidFill>
                  <a:srgbClr val="9900FF"/>
                </a:solidFill>
                <a:latin typeface="Trebuchet MS"/>
                <a:ea typeface="Trebuchet MS"/>
                <a:cs typeface="Trebuchet MS"/>
                <a:sym typeface="Trebuchet MS"/>
              </a:rPr>
              <a:t>                                                Address = Key mod n</a:t>
            </a:r>
            <a:br>
              <a:rPr b="1" lang="en-US" sz="1700">
                <a:solidFill>
                  <a:srgbClr val="9900FF"/>
                </a:solidFill>
                <a:latin typeface="Trebuchet MS"/>
                <a:ea typeface="Trebuchet MS"/>
                <a:cs typeface="Trebuchet MS"/>
                <a:sym typeface="Trebuchet MS"/>
              </a:rPr>
            </a:br>
            <a:r>
              <a:rPr b="1" lang="en-US" sz="1700">
                <a:solidFill>
                  <a:srgbClr val="9900FF"/>
                </a:solidFill>
                <a:latin typeface="Trebuchet MS"/>
                <a:ea typeface="Trebuchet MS"/>
                <a:cs typeface="Trebuchet MS"/>
                <a:sym typeface="Trebuchet MS"/>
              </a:rPr>
              <a:t>                                                              </a:t>
            </a:r>
            <a:r>
              <a:rPr b="1" lang="en-US" sz="1700">
                <a:solidFill>
                  <a:srgbClr val="9900FF"/>
                </a:solidFill>
                <a:latin typeface="Trebuchet MS"/>
                <a:ea typeface="Trebuchet MS"/>
                <a:cs typeface="Trebuchet MS"/>
                <a:sym typeface="Trebuchet MS"/>
              </a:rPr>
              <a:t>= 42 mod 11 = 9</a:t>
            </a:r>
            <a:endParaRPr b="1" sz="1700">
              <a:solidFill>
                <a:srgbClr val="9900FF"/>
              </a:solidFill>
              <a:latin typeface="Trebuchet MS"/>
              <a:ea typeface="Trebuchet MS"/>
              <a:cs typeface="Trebuchet MS"/>
              <a:sym typeface="Trebuchet MS"/>
            </a:endParaRPr>
          </a:p>
          <a:p>
            <a:pPr indent="-336550" lvl="0" marL="457200" rtl="0" algn="l">
              <a:lnSpc>
                <a:spcPct val="150000"/>
              </a:lnSpc>
              <a:spcBef>
                <a:spcPts val="0"/>
              </a:spcBef>
              <a:spcAft>
                <a:spcPts val="0"/>
              </a:spcAft>
              <a:buClr>
                <a:schemeClr val="dk1"/>
              </a:buClr>
              <a:buSzPts val="1700"/>
              <a:buFont typeface="Trebuchet MS"/>
              <a:buChar char="●"/>
            </a:pPr>
            <a:r>
              <a:rPr b="1" lang="en-US" sz="1700">
                <a:solidFill>
                  <a:schemeClr val="dk1"/>
                </a:solidFill>
                <a:latin typeface="Trebuchet MS"/>
                <a:ea typeface="Trebuchet MS"/>
                <a:cs typeface="Trebuchet MS"/>
                <a:sym typeface="Trebuchet MS"/>
              </a:rPr>
              <a:t>Alphanumeric keys:</a:t>
            </a:r>
            <a:endParaRPr b="1" sz="1700">
              <a:solidFill>
                <a:schemeClr val="dk1"/>
              </a:solidFill>
              <a:latin typeface="Trebuchet MS"/>
              <a:ea typeface="Trebuchet MS"/>
              <a:cs typeface="Trebuchet MS"/>
              <a:sym typeface="Trebuchet MS"/>
            </a:endParaRPr>
          </a:p>
          <a:p>
            <a:pPr indent="-336550" lvl="1" marL="914400" rtl="0" algn="l">
              <a:lnSpc>
                <a:spcPct val="150000"/>
              </a:lnSpc>
              <a:spcBef>
                <a:spcPts val="0"/>
              </a:spcBef>
              <a:spcAft>
                <a:spcPts val="0"/>
              </a:spcAft>
              <a:buClr>
                <a:schemeClr val="dk1"/>
              </a:buClr>
              <a:buSzPts val="1700"/>
              <a:buFont typeface="Trebuchet MS"/>
              <a:buChar char="○"/>
            </a:pPr>
            <a:r>
              <a:rPr lang="en-US" sz="1700">
                <a:solidFill>
                  <a:schemeClr val="dk1"/>
                </a:solidFill>
                <a:latin typeface="Trebuchet MS"/>
                <a:ea typeface="Trebuchet MS"/>
                <a:cs typeface="Trebuchet MS"/>
                <a:sym typeface="Trebuchet MS"/>
              </a:rPr>
              <a:t>Add the ASCII codes of all characters in the key.</a:t>
            </a:r>
            <a:endParaRPr sz="1700">
              <a:solidFill>
                <a:schemeClr val="dk1"/>
              </a:solidFill>
              <a:latin typeface="Trebuchet MS"/>
              <a:ea typeface="Trebuchet MS"/>
              <a:cs typeface="Trebuchet MS"/>
              <a:sym typeface="Trebuchet MS"/>
            </a:endParaRPr>
          </a:p>
          <a:p>
            <a:pPr indent="-336550" lvl="1" marL="914400" rtl="0" algn="l">
              <a:lnSpc>
                <a:spcPct val="150000"/>
              </a:lnSpc>
              <a:spcBef>
                <a:spcPts val="0"/>
              </a:spcBef>
              <a:spcAft>
                <a:spcPts val="0"/>
              </a:spcAft>
              <a:buClr>
                <a:schemeClr val="dk1"/>
              </a:buClr>
              <a:buSzPts val="1700"/>
              <a:buFont typeface="Trebuchet MS"/>
              <a:buChar char="○"/>
            </a:pPr>
            <a:r>
              <a:rPr lang="en-US" sz="1700">
                <a:solidFill>
                  <a:schemeClr val="dk1"/>
                </a:solidFill>
                <a:latin typeface="Trebuchet MS"/>
                <a:ea typeface="Trebuchet MS"/>
                <a:cs typeface="Trebuchet MS"/>
                <a:sym typeface="Trebuchet MS"/>
              </a:rPr>
              <a:t>Divide the sum by the number of available addresses, n </a:t>
            </a:r>
            <a:r>
              <a:rPr lang="en-US" sz="1700">
                <a:solidFill>
                  <a:schemeClr val="dk1"/>
                </a:solidFill>
                <a:latin typeface="Trebuchet MS"/>
                <a:ea typeface="Trebuchet MS"/>
                <a:cs typeface="Trebuchet MS"/>
                <a:sym typeface="Trebuchet MS"/>
              </a:rPr>
              <a:t>(Length of hash table).</a:t>
            </a:r>
            <a:endParaRPr sz="1700">
              <a:solidFill>
                <a:schemeClr val="dk1"/>
              </a:solidFill>
              <a:latin typeface="Trebuchet MS"/>
              <a:ea typeface="Trebuchet MS"/>
              <a:cs typeface="Trebuchet MS"/>
              <a:sym typeface="Trebuchet MS"/>
            </a:endParaRPr>
          </a:p>
          <a:p>
            <a:pPr indent="-336550" lvl="1" marL="914400" rtl="0" algn="l">
              <a:lnSpc>
                <a:spcPct val="150000"/>
              </a:lnSpc>
              <a:spcBef>
                <a:spcPts val="0"/>
              </a:spcBef>
              <a:spcAft>
                <a:spcPts val="0"/>
              </a:spcAft>
              <a:buClr>
                <a:schemeClr val="dk1"/>
              </a:buClr>
              <a:buSzPts val="1700"/>
              <a:buFont typeface="Trebuchet MS"/>
              <a:buChar char="○"/>
            </a:pPr>
            <a:r>
              <a:rPr lang="en-US" sz="1700">
                <a:solidFill>
                  <a:schemeClr val="dk1"/>
                </a:solidFill>
                <a:latin typeface="Trebuchet MS"/>
                <a:ea typeface="Trebuchet MS"/>
                <a:cs typeface="Trebuchet MS"/>
                <a:sym typeface="Trebuchet MS"/>
              </a:rPr>
              <a:t>Use the remainder as the address.</a:t>
            </a:r>
            <a:br>
              <a:rPr lang="en-US" sz="1700">
                <a:solidFill>
                  <a:schemeClr val="dk1"/>
                </a:solidFill>
                <a:latin typeface="Trebuchet MS"/>
                <a:ea typeface="Trebuchet MS"/>
                <a:cs typeface="Trebuchet MS"/>
                <a:sym typeface="Trebuchet MS"/>
              </a:rPr>
            </a:br>
            <a:r>
              <a:rPr lang="en-US" sz="1700">
                <a:solidFill>
                  <a:schemeClr val="dk1"/>
                </a:solidFill>
                <a:latin typeface="Trebuchet MS"/>
                <a:ea typeface="Trebuchet MS"/>
                <a:cs typeface="Trebuchet MS"/>
                <a:sym typeface="Trebuchet MS"/>
              </a:rPr>
              <a:t>    </a:t>
            </a:r>
            <a:r>
              <a:rPr b="1" lang="en-US" sz="1700">
                <a:solidFill>
                  <a:srgbClr val="9900FF"/>
                </a:solidFill>
                <a:latin typeface="Trebuchet MS"/>
                <a:ea typeface="Trebuchet MS"/>
                <a:cs typeface="Trebuchet MS"/>
                <a:sym typeface="Trebuchet MS"/>
              </a:rPr>
              <a:t> </a:t>
            </a:r>
            <a:r>
              <a:rPr b="1" lang="en-US" sz="1500">
                <a:solidFill>
                  <a:srgbClr val="9900FF"/>
                </a:solidFill>
                <a:latin typeface="Trebuchet MS"/>
                <a:ea typeface="Trebuchet MS"/>
                <a:cs typeface="Trebuchet MS"/>
                <a:sym typeface="Trebuchet MS"/>
              </a:rPr>
              <a:t>Address = (Sum of the ASCII codes of all characters in the key) mod n</a:t>
            </a:r>
            <a:br>
              <a:rPr b="1" lang="en-US" sz="1500">
                <a:solidFill>
                  <a:srgbClr val="9900FF"/>
                </a:solidFill>
                <a:latin typeface="Trebuchet MS"/>
                <a:ea typeface="Trebuchet MS"/>
                <a:cs typeface="Trebuchet MS"/>
                <a:sym typeface="Trebuchet MS"/>
              </a:rPr>
            </a:br>
            <a:r>
              <a:rPr b="1" lang="en-US" sz="1500">
                <a:solidFill>
                  <a:srgbClr val="9900FF"/>
                </a:solidFill>
                <a:latin typeface="Trebuchet MS"/>
                <a:ea typeface="Trebuchet MS"/>
                <a:cs typeface="Trebuchet MS"/>
                <a:sym typeface="Trebuchet MS"/>
              </a:rPr>
              <a:t>                   = (ASCII("C")+ASCII("A")+ASCII("T")) mod 11</a:t>
            </a:r>
            <a:br>
              <a:rPr b="1" lang="en-US" sz="1500">
                <a:solidFill>
                  <a:srgbClr val="9900FF"/>
                </a:solidFill>
                <a:latin typeface="Trebuchet MS"/>
                <a:ea typeface="Trebuchet MS"/>
                <a:cs typeface="Trebuchet MS"/>
                <a:sym typeface="Trebuchet MS"/>
              </a:rPr>
            </a:br>
            <a:r>
              <a:rPr b="1" lang="en-US" sz="1500">
                <a:solidFill>
                  <a:srgbClr val="9900FF"/>
                </a:solidFill>
                <a:latin typeface="Trebuchet MS"/>
                <a:ea typeface="Trebuchet MS"/>
                <a:cs typeface="Trebuchet MS"/>
                <a:sym typeface="Trebuchet MS"/>
              </a:rPr>
              <a:t>                   = (67+65+84) mod 11 </a:t>
            </a:r>
            <a:br>
              <a:rPr b="1" lang="en-US" sz="1500">
                <a:solidFill>
                  <a:srgbClr val="9900FF"/>
                </a:solidFill>
                <a:latin typeface="Trebuchet MS"/>
                <a:ea typeface="Trebuchet MS"/>
                <a:cs typeface="Trebuchet MS"/>
                <a:sym typeface="Trebuchet MS"/>
              </a:rPr>
            </a:br>
            <a:r>
              <a:rPr b="1" lang="en-US" sz="1500">
                <a:solidFill>
                  <a:srgbClr val="9900FF"/>
                </a:solidFill>
                <a:latin typeface="Trebuchet MS"/>
                <a:ea typeface="Trebuchet MS"/>
                <a:cs typeface="Trebuchet MS"/>
                <a:sym typeface="Trebuchet MS"/>
              </a:rPr>
              <a:t>                   = 216 mod 11 </a:t>
            </a:r>
            <a:br>
              <a:rPr b="1" lang="en-US" sz="1500">
                <a:solidFill>
                  <a:srgbClr val="9900FF"/>
                </a:solidFill>
                <a:latin typeface="Trebuchet MS"/>
                <a:ea typeface="Trebuchet MS"/>
                <a:cs typeface="Trebuchet MS"/>
                <a:sym typeface="Trebuchet MS"/>
              </a:rPr>
            </a:br>
            <a:r>
              <a:rPr b="1" lang="en-US" sz="1500">
                <a:solidFill>
                  <a:srgbClr val="9900FF"/>
                </a:solidFill>
                <a:latin typeface="Trebuchet MS"/>
                <a:ea typeface="Trebuchet MS"/>
                <a:cs typeface="Trebuchet MS"/>
                <a:sym typeface="Trebuchet MS"/>
              </a:rPr>
              <a:t>                   =  7</a:t>
            </a:r>
            <a:endParaRPr b="1" sz="1500">
              <a:solidFill>
                <a:srgbClr val="9900FF"/>
              </a:solidFill>
              <a:latin typeface="Trebuchet MS"/>
              <a:ea typeface="Trebuchet MS"/>
              <a:cs typeface="Trebuchet MS"/>
              <a:sym typeface="Trebuchet M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sp>
        <p:nvSpPr>
          <p:cNvPr id="292" name="Google Shape;292;g3f557c7bba2_0_2"/>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3" name="Google Shape;293;g3f557c7bba2_0_2"/>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4" name="Google Shape;294;g3f557c7bba2_0_2"/>
          <p:cNvSpPr txBox="1"/>
          <p:nvPr/>
        </p:nvSpPr>
        <p:spPr>
          <a:xfrm>
            <a:off x="411480" y="256032"/>
            <a:ext cx="5507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 Possible ways of creating hash functions</a:t>
            </a:r>
            <a:endParaRPr/>
          </a:p>
        </p:txBody>
      </p:sp>
      <p:sp>
        <p:nvSpPr>
          <p:cNvPr id="295" name="Google Shape;295;g3f557c7bba2_0_2"/>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6" name="Google Shape;296;g3f557c7bba2_0_2"/>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297" name="Google Shape;297;g3f557c7bba2_0_2"/>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11</a:t>
            </a:r>
            <a:endParaRPr/>
          </a:p>
        </p:txBody>
      </p:sp>
      <p:sp>
        <p:nvSpPr>
          <p:cNvPr id="298" name="Google Shape;298;g3f557c7bba2_0_2"/>
          <p:cNvSpPr txBox="1"/>
          <p:nvPr/>
        </p:nvSpPr>
        <p:spPr>
          <a:xfrm>
            <a:off x="649225" y="1005850"/>
            <a:ext cx="9422700" cy="5621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t/>
            </a:r>
            <a:endParaRPr sz="1700">
              <a:solidFill>
                <a:schemeClr val="dk1"/>
              </a:solidFill>
              <a:latin typeface="Trebuchet MS"/>
              <a:ea typeface="Trebuchet MS"/>
              <a:cs typeface="Trebuchet MS"/>
              <a:sym typeface="Trebuchet MS"/>
            </a:endParaRPr>
          </a:p>
          <a:p>
            <a:pPr indent="-336550" lvl="0" marL="457200" rtl="0" algn="l">
              <a:lnSpc>
                <a:spcPct val="150000"/>
              </a:lnSpc>
              <a:spcBef>
                <a:spcPts val="0"/>
              </a:spcBef>
              <a:spcAft>
                <a:spcPts val="0"/>
              </a:spcAft>
              <a:buClr>
                <a:schemeClr val="dk1"/>
              </a:buClr>
              <a:buSzPts val="1700"/>
              <a:buFont typeface="Trebuchet MS"/>
              <a:buChar char="●"/>
            </a:pPr>
            <a:r>
              <a:rPr b="1" lang="en-US" sz="1700">
                <a:solidFill>
                  <a:schemeClr val="dk1"/>
                </a:solidFill>
                <a:latin typeface="Trebuchet MS"/>
                <a:ea typeface="Trebuchet MS"/>
                <a:cs typeface="Trebuchet MS"/>
                <a:sym typeface="Trebuchet MS"/>
              </a:rPr>
              <a:t>Folding method:</a:t>
            </a:r>
            <a:endParaRPr b="1" sz="1700">
              <a:solidFill>
                <a:schemeClr val="dk1"/>
              </a:solidFill>
              <a:latin typeface="Trebuchet MS"/>
              <a:ea typeface="Trebuchet MS"/>
              <a:cs typeface="Trebuchet MS"/>
              <a:sym typeface="Trebuchet MS"/>
            </a:endParaRPr>
          </a:p>
          <a:p>
            <a:pPr indent="-336550" lvl="1" marL="914400" rtl="0" algn="l">
              <a:lnSpc>
                <a:spcPct val="150000"/>
              </a:lnSpc>
              <a:spcBef>
                <a:spcPts val="0"/>
              </a:spcBef>
              <a:spcAft>
                <a:spcPts val="0"/>
              </a:spcAft>
              <a:buClr>
                <a:schemeClr val="dk1"/>
              </a:buClr>
              <a:buSzPts val="1700"/>
              <a:buFont typeface="Trebuchet MS"/>
              <a:buChar char="○"/>
            </a:pPr>
            <a:r>
              <a:rPr lang="en-US" sz="1700">
                <a:solidFill>
                  <a:schemeClr val="dk1"/>
                </a:solidFill>
                <a:latin typeface="Trebuchet MS"/>
                <a:ea typeface="Trebuchet MS"/>
                <a:cs typeface="Trebuchet MS"/>
                <a:sym typeface="Trebuchet MS"/>
              </a:rPr>
              <a:t>Divide the key into equal-sized parts.</a:t>
            </a:r>
            <a:endParaRPr sz="1700">
              <a:solidFill>
                <a:schemeClr val="dk1"/>
              </a:solidFill>
              <a:latin typeface="Trebuchet MS"/>
              <a:ea typeface="Trebuchet MS"/>
              <a:cs typeface="Trebuchet MS"/>
              <a:sym typeface="Trebuchet MS"/>
            </a:endParaRPr>
          </a:p>
          <a:p>
            <a:pPr indent="-336550" lvl="1" marL="914400" rtl="0" algn="l">
              <a:lnSpc>
                <a:spcPct val="150000"/>
              </a:lnSpc>
              <a:spcBef>
                <a:spcPts val="0"/>
              </a:spcBef>
              <a:spcAft>
                <a:spcPts val="0"/>
              </a:spcAft>
              <a:buClr>
                <a:schemeClr val="dk1"/>
              </a:buClr>
              <a:buSzPts val="1700"/>
              <a:buFont typeface="Trebuchet MS"/>
              <a:buChar char="○"/>
            </a:pPr>
            <a:r>
              <a:rPr lang="en-US" sz="1700">
                <a:solidFill>
                  <a:schemeClr val="dk1"/>
                </a:solidFill>
                <a:latin typeface="Trebuchet MS"/>
                <a:ea typeface="Trebuchet MS"/>
                <a:cs typeface="Trebuchet MS"/>
                <a:sym typeface="Trebuchet MS"/>
              </a:rPr>
              <a:t>Add the parts together.</a:t>
            </a:r>
            <a:endParaRPr sz="1700">
              <a:solidFill>
                <a:schemeClr val="dk1"/>
              </a:solidFill>
              <a:latin typeface="Trebuchet MS"/>
              <a:ea typeface="Trebuchet MS"/>
              <a:cs typeface="Trebuchet MS"/>
              <a:sym typeface="Trebuchet MS"/>
            </a:endParaRPr>
          </a:p>
          <a:p>
            <a:pPr indent="-336550" lvl="1" marL="914400" rtl="0" algn="l">
              <a:lnSpc>
                <a:spcPct val="150000"/>
              </a:lnSpc>
              <a:spcBef>
                <a:spcPts val="0"/>
              </a:spcBef>
              <a:spcAft>
                <a:spcPts val="0"/>
              </a:spcAft>
              <a:buClr>
                <a:schemeClr val="dk1"/>
              </a:buClr>
              <a:buSzPts val="1700"/>
              <a:buFont typeface="Trebuchet MS"/>
              <a:buChar char="○"/>
            </a:pPr>
            <a:r>
              <a:rPr lang="en-US" sz="1700">
                <a:solidFill>
                  <a:schemeClr val="dk1"/>
                </a:solidFill>
                <a:latin typeface="Trebuchet MS"/>
                <a:ea typeface="Trebuchet MS"/>
                <a:cs typeface="Trebuchet MS"/>
                <a:sym typeface="Trebuchet MS"/>
              </a:rPr>
              <a:t>Depending on the table size, divide the result by a constant and use the remainder.</a:t>
            </a:r>
            <a:br>
              <a:rPr lang="en-US" sz="1700">
                <a:solidFill>
                  <a:schemeClr val="dk1"/>
                </a:solidFill>
                <a:latin typeface="Trebuchet MS"/>
                <a:ea typeface="Trebuchet MS"/>
                <a:cs typeface="Trebuchet MS"/>
                <a:sym typeface="Trebuchet MS"/>
              </a:rPr>
            </a:br>
            <a:br>
              <a:rPr lang="en-US" sz="1700">
                <a:solidFill>
                  <a:schemeClr val="dk1"/>
                </a:solidFill>
                <a:latin typeface="Trebuchet MS"/>
                <a:ea typeface="Trebuchet MS"/>
                <a:cs typeface="Trebuchet MS"/>
                <a:sym typeface="Trebuchet MS"/>
              </a:rPr>
            </a:br>
            <a:br>
              <a:rPr lang="en-US" sz="1700">
                <a:solidFill>
                  <a:schemeClr val="dk1"/>
                </a:solidFill>
                <a:latin typeface="Trebuchet MS"/>
                <a:ea typeface="Trebuchet MS"/>
                <a:cs typeface="Trebuchet MS"/>
                <a:sym typeface="Trebuchet MS"/>
              </a:rPr>
            </a:br>
            <a:r>
              <a:rPr b="1" lang="en-US" sz="1700">
                <a:solidFill>
                  <a:schemeClr val="dk1"/>
                </a:solidFill>
                <a:latin typeface="Trebuchet MS"/>
                <a:ea typeface="Trebuchet MS"/>
                <a:cs typeface="Trebuchet MS"/>
                <a:sym typeface="Trebuchet MS"/>
              </a:rPr>
              <a:t>Example:</a:t>
            </a:r>
            <a:br>
              <a:rPr b="1" lang="en-US" sz="1700">
                <a:solidFill>
                  <a:schemeClr val="dk1"/>
                </a:solidFill>
                <a:latin typeface="Trebuchet MS"/>
                <a:ea typeface="Trebuchet MS"/>
                <a:cs typeface="Trebuchet MS"/>
                <a:sym typeface="Trebuchet MS"/>
              </a:rPr>
            </a:br>
            <a:r>
              <a:rPr lang="en-US" sz="1700">
                <a:solidFill>
                  <a:schemeClr val="dk1"/>
                </a:solidFill>
                <a:latin typeface="Trebuchet MS"/>
                <a:ea typeface="Trebuchet MS"/>
                <a:cs typeface="Trebuchet MS"/>
                <a:sym typeface="Trebuchet MS"/>
              </a:rPr>
              <a:t>Key: 12345678</a:t>
            </a:r>
            <a:endParaRPr sz="1700">
              <a:solidFill>
                <a:schemeClr val="dk1"/>
              </a:solidFill>
              <a:latin typeface="Trebuchet MS"/>
              <a:ea typeface="Trebuchet MS"/>
              <a:cs typeface="Trebuchet MS"/>
              <a:sym typeface="Trebuchet MS"/>
            </a:endParaRPr>
          </a:p>
          <a:p>
            <a:pPr indent="-336550" lvl="3" marL="1828800" rtl="0" algn="l">
              <a:lnSpc>
                <a:spcPct val="150000"/>
              </a:lnSpc>
              <a:spcBef>
                <a:spcPts val="0"/>
              </a:spcBef>
              <a:spcAft>
                <a:spcPts val="0"/>
              </a:spcAft>
              <a:buClr>
                <a:schemeClr val="dk1"/>
              </a:buClr>
              <a:buSzPts val="1700"/>
              <a:buFont typeface="Trebuchet MS"/>
              <a:buChar char="●"/>
            </a:pPr>
            <a:r>
              <a:rPr lang="en-US" sz="1700">
                <a:solidFill>
                  <a:schemeClr val="dk1"/>
                </a:solidFill>
                <a:latin typeface="Trebuchet MS"/>
                <a:ea typeface="Trebuchet MS"/>
                <a:cs typeface="Trebuchet MS"/>
                <a:sym typeface="Trebuchet MS"/>
              </a:rPr>
              <a:t>Divide the key into equal-sized parts:  12  |   34  |  56  |  78</a:t>
            </a:r>
            <a:endParaRPr sz="1700">
              <a:solidFill>
                <a:schemeClr val="dk1"/>
              </a:solidFill>
              <a:latin typeface="Trebuchet MS"/>
              <a:ea typeface="Trebuchet MS"/>
              <a:cs typeface="Trebuchet MS"/>
              <a:sym typeface="Trebuchet MS"/>
            </a:endParaRPr>
          </a:p>
          <a:p>
            <a:pPr indent="-336550" lvl="3" marL="1828800" rtl="0" algn="l">
              <a:lnSpc>
                <a:spcPct val="150000"/>
              </a:lnSpc>
              <a:spcBef>
                <a:spcPts val="0"/>
              </a:spcBef>
              <a:spcAft>
                <a:spcPts val="0"/>
              </a:spcAft>
              <a:buClr>
                <a:schemeClr val="dk1"/>
              </a:buClr>
              <a:buSzPts val="1700"/>
              <a:buFont typeface="Trebuchet MS"/>
              <a:buChar char="●"/>
            </a:pPr>
            <a:r>
              <a:rPr lang="en-US" sz="1700">
                <a:solidFill>
                  <a:schemeClr val="dk1"/>
                </a:solidFill>
                <a:latin typeface="Trebuchet MS"/>
                <a:ea typeface="Trebuchet MS"/>
                <a:cs typeface="Trebuchet MS"/>
                <a:sym typeface="Trebuchet MS"/>
              </a:rPr>
              <a:t>Add the parts: 12 + 34 + 56 + 78 = 180</a:t>
            </a:r>
            <a:endParaRPr sz="1700">
              <a:solidFill>
                <a:schemeClr val="dk1"/>
              </a:solidFill>
              <a:latin typeface="Trebuchet MS"/>
              <a:ea typeface="Trebuchet MS"/>
              <a:cs typeface="Trebuchet MS"/>
              <a:sym typeface="Trebuchet MS"/>
            </a:endParaRPr>
          </a:p>
          <a:p>
            <a:pPr indent="-336550" lvl="3" marL="1828800" rtl="0" algn="l">
              <a:lnSpc>
                <a:spcPct val="150000"/>
              </a:lnSpc>
              <a:spcBef>
                <a:spcPts val="0"/>
              </a:spcBef>
              <a:spcAft>
                <a:spcPts val="0"/>
              </a:spcAft>
              <a:buClr>
                <a:schemeClr val="dk1"/>
              </a:buClr>
              <a:buSzPts val="1700"/>
              <a:buFont typeface="Trebuchet MS"/>
              <a:buChar char="●"/>
            </a:pPr>
            <a:r>
              <a:rPr lang="en-US" sz="1700">
                <a:solidFill>
                  <a:schemeClr val="dk1"/>
                </a:solidFill>
                <a:latin typeface="Trebuchet MS"/>
                <a:ea typeface="Trebuchet MS"/>
                <a:cs typeface="Trebuchet MS"/>
                <a:sym typeface="Trebuchet MS"/>
              </a:rPr>
              <a:t>For a hash table of size 11: 180 mod 11 = 4</a:t>
            </a:r>
            <a:endParaRPr sz="1700">
              <a:solidFill>
                <a:schemeClr val="dk1"/>
              </a:solidFill>
              <a:latin typeface="Trebuchet MS"/>
              <a:ea typeface="Trebuchet MS"/>
              <a:cs typeface="Trebuchet MS"/>
              <a:sym typeface="Trebuchet MS"/>
            </a:endParaRPr>
          </a:p>
          <a:p>
            <a:pPr indent="-336550" lvl="3" marL="1828800" rtl="0" algn="l">
              <a:lnSpc>
                <a:spcPct val="150000"/>
              </a:lnSpc>
              <a:spcBef>
                <a:spcPts val="0"/>
              </a:spcBef>
              <a:spcAft>
                <a:spcPts val="0"/>
              </a:spcAft>
              <a:buClr>
                <a:schemeClr val="dk1"/>
              </a:buClr>
              <a:buSzPts val="1700"/>
              <a:buFont typeface="Trebuchet MS"/>
              <a:buChar char="●"/>
            </a:pPr>
            <a:r>
              <a:rPr lang="en-US" sz="1700">
                <a:solidFill>
                  <a:schemeClr val="dk1"/>
                </a:solidFill>
                <a:latin typeface="Trebuchet MS"/>
                <a:ea typeface="Trebuchet MS"/>
                <a:cs typeface="Trebuchet MS"/>
                <a:sym typeface="Trebuchet MS"/>
              </a:rPr>
              <a:t>Final address/index: 4</a:t>
            </a:r>
            <a:endParaRPr b="1" sz="1700">
              <a:solidFill>
                <a:srgbClr val="1E293B"/>
              </a:solidFill>
              <a:latin typeface="Trebuchet MS"/>
              <a:ea typeface="Trebuchet MS"/>
              <a:cs typeface="Trebuchet MS"/>
              <a:sym typeface="Trebuchet M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sp>
        <p:nvSpPr>
          <p:cNvPr id="303" name="Google Shape;303;g3f93ba2dd27_0_10"/>
          <p:cNvSpPr/>
          <p:nvPr/>
        </p:nvSpPr>
        <p:spPr>
          <a:xfrm>
            <a:off x="0" y="0"/>
            <a:ext cx="12192000" cy="1830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g3f93ba2dd27_0_10"/>
          <p:cNvSpPr/>
          <p:nvPr/>
        </p:nvSpPr>
        <p:spPr>
          <a:xfrm>
            <a:off x="0" y="6675120"/>
            <a:ext cx="12192000" cy="1830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g3f93ba2dd27_0_10"/>
          <p:cNvSpPr txBox="1"/>
          <p:nvPr/>
        </p:nvSpPr>
        <p:spPr>
          <a:xfrm>
            <a:off x="411491" y="256032"/>
            <a:ext cx="11156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Why Do We Use mod with the Hash Table Size?</a:t>
            </a:r>
            <a:endParaRPr/>
          </a:p>
        </p:txBody>
      </p:sp>
      <p:sp>
        <p:nvSpPr>
          <p:cNvPr id="306" name="Google Shape;306;g3f93ba2dd27_0_10"/>
          <p:cNvSpPr txBox="1"/>
          <p:nvPr/>
        </p:nvSpPr>
        <p:spPr>
          <a:xfrm>
            <a:off x="290725" y="1338825"/>
            <a:ext cx="7125300" cy="2560200"/>
          </a:xfrm>
          <a:prstGeom prst="rect">
            <a:avLst/>
          </a:prstGeom>
          <a:noFill/>
          <a:ln>
            <a:noFill/>
          </a:ln>
        </p:spPr>
        <p:txBody>
          <a:bodyPr anchorCtr="0" anchor="t" bIns="45700" lIns="91425" spcFirstLastPara="1" rIns="91425" wrap="square" tIns="45700">
            <a:normAutofit lnSpcReduction="20000"/>
          </a:bodyPr>
          <a:lstStyle/>
          <a:p>
            <a:pPr indent="-330200" lvl="0" marL="457200" marR="0" rtl="0" algn="l">
              <a:lnSpc>
                <a:spcPct val="150000"/>
              </a:lnSpc>
              <a:spcBef>
                <a:spcPts val="0"/>
              </a:spcBef>
              <a:spcAft>
                <a:spcPts val="0"/>
              </a:spcAft>
              <a:buClr>
                <a:srgbClr val="282828"/>
              </a:buClr>
              <a:buSzPts val="1600"/>
              <a:buFont typeface="Trebuchet MS"/>
              <a:buChar char="●"/>
            </a:pPr>
            <a:r>
              <a:rPr i="0" lang="en-US" sz="1600" u="none" cap="none" strike="noStrike">
                <a:solidFill>
                  <a:srgbClr val="282828"/>
                </a:solidFill>
                <a:latin typeface="Trebuchet MS"/>
                <a:ea typeface="Trebuchet MS"/>
                <a:cs typeface="Trebuchet MS"/>
                <a:sym typeface="Trebuchet MS"/>
              </a:rPr>
              <a:t>For a hash table of length n, the valid indices are 0 to n − 1.</a:t>
            </a:r>
            <a:endParaRPr sz="1600">
              <a:latin typeface="Trebuchet MS"/>
              <a:ea typeface="Trebuchet MS"/>
              <a:cs typeface="Trebuchet MS"/>
              <a:sym typeface="Trebuchet MS"/>
            </a:endParaRPr>
          </a:p>
          <a:p>
            <a:pPr indent="-330200" lvl="0" marL="457200" marR="0" rtl="0" algn="l">
              <a:lnSpc>
                <a:spcPct val="150000"/>
              </a:lnSpc>
              <a:spcBef>
                <a:spcPts val="0"/>
              </a:spcBef>
              <a:spcAft>
                <a:spcPts val="0"/>
              </a:spcAft>
              <a:buClr>
                <a:srgbClr val="282828"/>
              </a:buClr>
              <a:buSzPts val="1600"/>
              <a:buFont typeface="Trebuchet MS"/>
              <a:buChar char="●"/>
            </a:pPr>
            <a:r>
              <a:rPr i="0" lang="en-US" sz="1600" u="none" cap="none" strike="noStrike">
                <a:solidFill>
                  <a:srgbClr val="282828"/>
                </a:solidFill>
                <a:latin typeface="Trebuchet MS"/>
                <a:ea typeface="Trebuchet MS"/>
                <a:cs typeface="Trebuchet MS"/>
                <a:sym typeface="Trebuchet MS"/>
              </a:rPr>
              <a:t>Using index = key mod n</a:t>
            </a:r>
            <a:endParaRPr sz="1600">
              <a:solidFill>
                <a:srgbClr val="282828"/>
              </a:solidFill>
              <a:latin typeface="Trebuchet MS"/>
              <a:ea typeface="Trebuchet MS"/>
              <a:cs typeface="Trebuchet MS"/>
              <a:sym typeface="Trebuchet MS"/>
            </a:endParaRPr>
          </a:p>
          <a:p>
            <a:pPr indent="-330200" lvl="2" marL="1371600" marR="0" rtl="0" algn="l">
              <a:lnSpc>
                <a:spcPct val="150000"/>
              </a:lnSpc>
              <a:spcBef>
                <a:spcPts val="0"/>
              </a:spcBef>
              <a:spcAft>
                <a:spcPts val="0"/>
              </a:spcAft>
              <a:buClr>
                <a:srgbClr val="282828"/>
              </a:buClr>
              <a:buSzPts val="1600"/>
              <a:buFont typeface="Trebuchet MS"/>
              <a:buChar char="■"/>
            </a:pPr>
            <a:r>
              <a:rPr lang="en-US" sz="1600">
                <a:solidFill>
                  <a:srgbClr val="282828"/>
                </a:solidFill>
                <a:latin typeface="Trebuchet MS"/>
                <a:ea typeface="Trebuchet MS"/>
                <a:cs typeface="Trebuchet MS"/>
                <a:sym typeface="Trebuchet MS"/>
              </a:rPr>
              <a:t>A</a:t>
            </a:r>
            <a:r>
              <a:rPr i="0" lang="en-US" sz="1600" u="none" cap="none" strike="noStrike">
                <a:solidFill>
                  <a:srgbClr val="282828"/>
                </a:solidFill>
                <a:latin typeface="Trebuchet MS"/>
                <a:ea typeface="Trebuchet MS"/>
                <a:cs typeface="Trebuchet MS"/>
                <a:sym typeface="Trebuchet MS"/>
              </a:rPr>
              <a:t>lways produces a remainder in the range 0 to n − 1.</a:t>
            </a:r>
            <a:endParaRPr sz="1600">
              <a:latin typeface="Trebuchet MS"/>
              <a:ea typeface="Trebuchet MS"/>
              <a:cs typeface="Trebuchet MS"/>
              <a:sym typeface="Trebuchet MS"/>
            </a:endParaRPr>
          </a:p>
          <a:p>
            <a:pPr indent="-330200" lvl="0" marL="457200" marR="0" rtl="0" algn="l">
              <a:lnSpc>
                <a:spcPct val="150000"/>
              </a:lnSpc>
              <a:spcBef>
                <a:spcPts val="0"/>
              </a:spcBef>
              <a:spcAft>
                <a:spcPts val="0"/>
              </a:spcAft>
              <a:buClr>
                <a:srgbClr val="0000FF"/>
              </a:buClr>
              <a:buSzPts val="1600"/>
              <a:buFont typeface="Trebuchet MS"/>
              <a:buChar char="●"/>
            </a:pPr>
            <a:r>
              <a:rPr b="1" i="0" lang="en-US" sz="1600" u="sng" cap="none" strike="noStrike">
                <a:solidFill>
                  <a:srgbClr val="0000FF"/>
                </a:solidFill>
                <a:latin typeface="Trebuchet MS"/>
                <a:ea typeface="Trebuchet MS"/>
                <a:cs typeface="Trebuchet MS"/>
                <a:sym typeface="Trebuchet MS"/>
              </a:rPr>
              <a:t>So, even a very large key is converted into a valid array index.</a:t>
            </a:r>
            <a:endParaRPr b="1" sz="1600" u="sng">
              <a:solidFill>
                <a:srgbClr val="0000FF"/>
              </a:solidFill>
              <a:latin typeface="Trebuchet MS"/>
              <a:ea typeface="Trebuchet MS"/>
              <a:cs typeface="Trebuchet MS"/>
              <a:sym typeface="Trebuchet MS"/>
            </a:endParaRPr>
          </a:p>
          <a:p>
            <a:pPr indent="-330200" lvl="0" marL="457200" marR="0" rtl="0" algn="l">
              <a:lnSpc>
                <a:spcPct val="150000"/>
              </a:lnSpc>
              <a:spcBef>
                <a:spcPts val="0"/>
              </a:spcBef>
              <a:spcAft>
                <a:spcPts val="0"/>
              </a:spcAft>
              <a:buClr>
                <a:srgbClr val="282828"/>
              </a:buClr>
              <a:buSzPts val="1600"/>
              <a:buFont typeface="Trebuchet MS"/>
              <a:buChar char="●"/>
            </a:pPr>
            <a:r>
              <a:rPr i="0" lang="en-US" sz="1600" u="none" cap="none" strike="noStrike">
                <a:solidFill>
                  <a:srgbClr val="282828"/>
                </a:solidFill>
                <a:latin typeface="Trebuchet MS"/>
                <a:ea typeface="Trebuchet MS"/>
                <a:cs typeface="Trebuchet MS"/>
                <a:sym typeface="Trebuchet MS"/>
              </a:rPr>
              <a:t>Example: </a:t>
            </a:r>
            <a:endParaRPr i="0" sz="1600" u="none" cap="none" strike="noStrike">
              <a:solidFill>
                <a:srgbClr val="282828"/>
              </a:solidFill>
              <a:latin typeface="Trebuchet MS"/>
              <a:ea typeface="Trebuchet MS"/>
              <a:cs typeface="Trebuchet MS"/>
              <a:sym typeface="Trebuchet MS"/>
            </a:endParaRPr>
          </a:p>
          <a:p>
            <a:pPr indent="-330200" lvl="1" marL="914400" marR="0" rtl="0" algn="l">
              <a:lnSpc>
                <a:spcPct val="150000"/>
              </a:lnSpc>
              <a:spcBef>
                <a:spcPts val="0"/>
              </a:spcBef>
              <a:spcAft>
                <a:spcPts val="0"/>
              </a:spcAft>
              <a:buClr>
                <a:srgbClr val="282828"/>
              </a:buClr>
              <a:buSzPts val="1600"/>
              <a:buFont typeface="Trebuchet MS"/>
              <a:buChar char="○"/>
            </a:pPr>
            <a:r>
              <a:rPr lang="en-US" sz="1600">
                <a:solidFill>
                  <a:srgbClr val="282828"/>
                </a:solidFill>
                <a:latin typeface="Trebuchet MS"/>
                <a:ea typeface="Trebuchet MS"/>
                <a:cs typeface="Trebuchet MS"/>
                <a:sym typeface="Trebuchet MS"/>
              </a:rPr>
              <a:t>I</a:t>
            </a:r>
            <a:r>
              <a:rPr i="0" lang="en-US" sz="1600" u="none" cap="none" strike="noStrike">
                <a:solidFill>
                  <a:srgbClr val="282828"/>
                </a:solidFill>
                <a:latin typeface="Trebuchet MS"/>
                <a:ea typeface="Trebuchet MS"/>
                <a:cs typeface="Trebuchet MS"/>
                <a:sym typeface="Trebuchet MS"/>
              </a:rPr>
              <a:t>f n = 10, then</a:t>
            </a:r>
            <a:endParaRPr i="0" sz="1600" u="none" cap="none" strike="noStrike">
              <a:solidFill>
                <a:srgbClr val="282828"/>
              </a:solidFill>
              <a:latin typeface="Trebuchet MS"/>
              <a:ea typeface="Trebuchet MS"/>
              <a:cs typeface="Trebuchet MS"/>
              <a:sym typeface="Trebuchet MS"/>
            </a:endParaRPr>
          </a:p>
          <a:p>
            <a:pPr indent="-330200" lvl="1" marL="914400" marR="0" rtl="0" algn="l">
              <a:lnSpc>
                <a:spcPct val="150000"/>
              </a:lnSpc>
              <a:spcBef>
                <a:spcPts val="0"/>
              </a:spcBef>
              <a:spcAft>
                <a:spcPts val="0"/>
              </a:spcAft>
              <a:buClr>
                <a:srgbClr val="282828"/>
              </a:buClr>
              <a:buSzPts val="1600"/>
              <a:buFont typeface="Trebuchet MS"/>
              <a:buChar char="○"/>
            </a:pPr>
            <a:r>
              <a:rPr i="0" lang="en-US" sz="1600" u="none" cap="none" strike="noStrike">
                <a:solidFill>
                  <a:srgbClr val="282828"/>
                </a:solidFill>
                <a:latin typeface="Trebuchet MS"/>
                <a:ea typeface="Trebuchet MS"/>
                <a:cs typeface="Trebuchet MS"/>
                <a:sym typeface="Trebuchet MS"/>
              </a:rPr>
              <a:t>12347 mod 10 = 7, </a:t>
            </a:r>
            <a:endParaRPr i="0" sz="1600" u="none" cap="none" strike="noStrike">
              <a:solidFill>
                <a:srgbClr val="282828"/>
              </a:solidFill>
              <a:latin typeface="Trebuchet MS"/>
              <a:ea typeface="Trebuchet MS"/>
              <a:cs typeface="Trebuchet MS"/>
              <a:sym typeface="Trebuchet MS"/>
            </a:endParaRPr>
          </a:p>
          <a:p>
            <a:pPr indent="-330200" lvl="1" marL="914400" marR="0" rtl="0" algn="l">
              <a:lnSpc>
                <a:spcPct val="150000"/>
              </a:lnSpc>
              <a:spcBef>
                <a:spcPts val="0"/>
              </a:spcBef>
              <a:spcAft>
                <a:spcPts val="0"/>
              </a:spcAft>
              <a:buClr>
                <a:srgbClr val="282828"/>
              </a:buClr>
              <a:buSzPts val="1600"/>
              <a:buFont typeface="Trebuchet MS"/>
              <a:buChar char="○"/>
            </a:pPr>
            <a:r>
              <a:rPr lang="en-US" sz="1600">
                <a:solidFill>
                  <a:srgbClr val="282828"/>
                </a:solidFill>
                <a:latin typeface="Trebuchet MS"/>
                <a:ea typeface="Trebuchet MS"/>
                <a:cs typeface="Trebuchet MS"/>
                <a:sym typeface="Trebuchet MS"/>
              </a:rPr>
              <a:t>S</a:t>
            </a:r>
            <a:r>
              <a:rPr i="0" lang="en-US" sz="1600" u="none" cap="none" strike="noStrike">
                <a:solidFill>
                  <a:srgbClr val="282828"/>
                </a:solidFill>
                <a:latin typeface="Trebuchet MS"/>
                <a:ea typeface="Trebuchet MS"/>
                <a:cs typeface="Trebuchet MS"/>
                <a:sym typeface="Trebuchet MS"/>
              </a:rPr>
              <a:t>o, the item is stored at index 7.</a:t>
            </a:r>
            <a:endParaRPr sz="1600">
              <a:latin typeface="Trebuchet MS"/>
              <a:ea typeface="Trebuchet MS"/>
              <a:cs typeface="Trebuchet MS"/>
              <a:sym typeface="Trebuchet MS"/>
            </a:endParaRPr>
          </a:p>
        </p:txBody>
      </p:sp>
      <p:sp>
        <p:nvSpPr>
          <p:cNvPr id="307" name="Google Shape;307;g3f93ba2dd27_0_10"/>
          <p:cNvSpPr txBox="1"/>
          <p:nvPr/>
        </p:nvSpPr>
        <p:spPr>
          <a:xfrm>
            <a:off x="7544308" y="1538822"/>
            <a:ext cx="40233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17365D"/>
                </a:solidFill>
                <a:latin typeface="Calibri"/>
                <a:ea typeface="Calibri"/>
                <a:cs typeface="Calibri"/>
                <a:sym typeface="Calibri"/>
              </a:rPr>
              <a:t>Valid indices for length 10</a:t>
            </a:r>
            <a:endParaRPr/>
          </a:p>
        </p:txBody>
      </p:sp>
      <p:sp>
        <p:nvSpPr>
          <p:cNvPr id="308" name="Google Shape;308;g3f93ba2dd27_0_10"/>
          <p:cNvSpPr/>
          <p:nvPr/>
        </p:nvSpPr>
        <p:spPr>
          <a:xfrm>
            <a:off x="7590029" y="2087463"/>
            <a:ext cx="3931800" cy="502800"/>
          </a:xfrm>
          <a:prstGeom prst="roundRect">
            <a:avLst>
              <a:gd fmla="val 16667" name="adj"/>
            </a:avLst>
          </a:prstGeom>
          <a:solidFill>
            <a:srgbClr val="E2EFDA"/>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g3f93ba2dd27_0_10"/>
          <p:cNvSpPr txBox="1"/>
          <p:nvPr/>
        </p:nvSpPr>
        <p:spPr>
          <a:xfrm>
            <a:off x="7590029" y="2087463"/>
            <a:ext cx="3931800" cy="461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17365D"/>
                </a:solidFill>
                <a:latin typeface="Calibri"/>
                <a:ea typeface="Calibri"/>
                <a:cs typeface="Calibri"/>
                <a:sym typeface="Calibri"/>
              </a:rPr>
              <a:t>0   1   2   3   4   5   6   7   8   9</a:t>
            </a:r>
            <a:endParaRPr/>
          </a:p>
        </p:txBody>
      </p:sp>
      <p:sp>
        <p:nvSpPr>
          <p:cNvPr id="310" name="Google Shape;310;g3f93ba2dd27_0_10"/>
          <p:cNvSpPr txBox="1"/>
          <p:nvPr/>
        </p:nvSpPr>
        <p:spPr>
          <a:xfrm>
            <a:off x="4023654" y="4257030"/>
            <a:ext cx="39318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17365D"/>
                </a:solidFill>
                <a:latin typeface="Trebuchet MS"/>
                <a:ea typeface="Trebuchet MS"/>
                <a:cs typeface="Trebuchet MS"/>
                <a:sym typeface="Trebuchet MS"/>
              </a:rPr>
              <a:t>Important note</a:t>
            </a:r>
            <a:endParaRPr>
              <a:latin typeface="Trebuchet MS"/>
              <a:ea typeface="Trebuchet MS"/>
              <a:cs typeface="Trebuchet MS"/>
              <a:sym typeface="Trebuchet MS"/>
            </a:endParaRPr>
          </a:p>
        </p:txBody>
      </p:sp>
      <p:sp>
        <p:nvSpPr>
          <p:cNvPr id="311" name="Google Shape;311;g3f93ba2dd27_0_10"/>
          <p:cNvSpPr/>
          <p:nvPr/>
        </p:nvSpPr>
        <p:spPr>
          <a:xfrm>
            <a:off x="1863301" y="4659613"/>
            <a:ext cx="8465400" cy="1657500"/>
          </a:xfrm>
          <a:prstGeom prst="roundRect">
            <a:avLst>
              <a:gd fmla="val 16667" name="adj"/>
            </a:avLst>
          </a:prstGeom>
          <a:solidFill>
            <a:srgbClr val="FFF2CC"/>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g3f93ba2dd27_0_10"/>
          <p:cNvSpPr txBox="1"/>
          <p:nvPr/>
        </p:nvSpPr>
        <p:spPr>
          <a:xfrm>
            <a:off x="2306750" y="4984313"/>
            <a:ext cx="7365600" cy="1139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700" u="none" cap="none" strike="noStrike">
                <a:solidFill>
                  <a:srgbClr val="282828"/>
                </a:solidFill>
                <a:latin typeface="Trebuchet MS"/>
                <a:ea typeface="Trebuchet MS"/>
                <a:cs typeface="Trebuchet MS"/>
                <a:sym typeface="Trebuchet MS"/>
              </a:rPr>
              <a:t>Always modding with the hash table length is not enough; </a:t>
            </a:r>
            <a:endParaRPr i="0" sz="1700" u="none" cap="none" strike="noStrike">
              <a:solidFill>
                <a:srgbClr val="282828"/>
              </a:solidFill>
              <a:latin typeface="Trebuchet MS"/>
              <a:ea typeface="Trebuchet MS"/>
              <a:cs typeface="Trebuchet MS"/>
              <a:sym typeface="Trebuchet MS"/>
            </a:endParaRPr>
          </a:p>
          <a:p>
            <a:pPr indent="0" lvl="0" marL="0" marR="0" rtl="0" algn="ctr">
              <a:spcBef>
                <a:spcPts val="0"/>
              </a:spcBef>
              <a:spcAft>
                <a:spcPts val="0"/>
              </a:spcAft>
              <a:buNone/>
            </a:pPr>
            <a:r>
              <a:rPr i="0" lang="en-US" sz="1700" u="none" cap="none" strike="noStrike">
                <a:solidFill>
                  <a:srgbClr val="282828"/>
                </a:solidFill>
                <a:latin typeface="Trebuchet MS"/>
                <a:ea typeface="Trebuchet MS"/>
                <a:cs typeface="Trebuchet MS"/>
                <a:sym typeface="Trebuchet MS"/>
              </a:rPr>
              <a:t>you also need to check </a:t>
            </a:r>
            <a:endParaRPr i="0" sz="1700" u="none" cap="none" strike="noStrike">
              <a:solidFill>
                <a:srgbClr val="282828"/>
              </a:solidFill>
              <a:latin typeface="Trebuchet MS"/>
              <a:ea typeface="Trebuchet MS"/>
              <a:cs typeface="Trebuchet MS"/>
              <a:sym typeface="Trebuchet MS"/>
            </a:endParaRPr>
          </a:p>
          <a:p>
            <a:pPr indent="0" lvl="0" marL="0" marR="0" rtl="0" algn="ctr">
              <a:spcBef>
                <a:spcPts val="0"/>
              </a:spcBef>
              <a:spcAft>
                <a:spcPts val="0"/>
              </a:spcAft>
              <a:buNone/>
            </a:pPr>
            <a:r>
              <a:rPr b="1" i="0" lang="en-US" sz="1700" u="none" cap="none" strike="noStrike">
                <a:solidFill>
                  <a:schemeClr val="dk2"/>
                </a:solidFill>
                <a:latin typeface="Trebuchet MS"/>
                <a:ea typeface="Trebuchet MS"/>
                <a:cs typeface="Trebuchet MS"/>
                <a:sym typeface="Trebuchet MS"/>
              </a:rPr>
              <a:t>how the hash function is working</a:t>
            </a:r>
            <a:r>
              <a:rPr i="0" lang="en-US" sz="1700" u="none" cap="none" strike="noStrike">
                <a:solidFill>
                  <a:srgbClr val="282828"/>
                </a:solidFill>
                <a:latin typeface="Trebuchet MS"/>
                <a:ea typeface="Trebuchet MS"/>
                <a:cs typeface="Trebuchet MS"/>
                <a:sym typeface="Trebuchet MS"/>
              </a:rPr>
              <a:t> and </a:t>
            </a:r>
            <a:endParaRPr i="0" sz="1700" u="none" cap="none" strike="noStrike">
              <a:solidFill>
                <a:srgbClr val="282828"/>
              </a:solidFill>
              <a:latin typeface="Trebuchet MS"/>
              <a:ea typeface="Trebuchet MS"/>
              <a:cs typeface="Trebuchet MS"/>
              <a:sym typeface="Trebuchet MS"/>
            </a:endParaRPr>
          </a:p>
          <a:p>
            <a:pPr indent="0" lvl="0" marL="0" marR="0" rtl="0" algn="ctr">
              <a:spcBef>
                <a:spcPts val="0"/>
              </a:spcBef>
              <a:spcAft>
                <a:spcPts val="0"/>
              </a:spcAft>
              <a:buNone/>
            </a:pPr>
            <a:r>
              <a:rPr i="0" lang="en-US" sz="1700" u="none" cap="none" strike="noStrike">
                <a:solidFill>
                  <a:srgbClr val="282828"/>
                </a:solidFill>
                <a:latin typeface="Trebuchet MS"/>
                <a:ea typeface="Trebuchet MS"/>
                <a:cs typeface="Trebuchet MS"/>
                <a:sym typeface="Trebuchet MS"/>
              </a:rPr>
              <a:t>whether </a:t>
            </a:r>
            <a:r>
              <a:rPr b="1" i="0" lang="en-US" sz="1700" u="sng" cap="none" strike="noStrike">
                <a:solidFill>
                  <a:srgbClr val="282828"/>
                </a:solidFill>
                <a:latin typeface="Trebuchet MS"/>
                <a:ea typeface="Trebuchet MS"/>
                <a:cs typeface="Trebuchet MS"/>
                <a:sym typeface="Trebuchet MS"/>
              </a:rPr>
              <a:t>i</a:t>
            </a:r>
            <a:r>
              <a:rPr b="1" i="0" lang="en-US" sz="1700" u="sng" cap="none" strike="noStrike">
                <a:solidFill>
                  <a:schemeClr val="dk2"/>
                </a:solidFill>
                <a:latin typeface="Trebuchet MS"/>
                <a:ea typeface="Trebuchet MS"/>
                <a:cs typeface="Trebuchet MS"/>
                <a:sym typeface="Trebuchet MS"/>
              </a:rPr>
              <a:t>t distributes the given keys well.</a:t>
            </a:r>
            <a:endParaRPr b="1" sz="1700" u="sng">
              <a:solidFill>
                <a:schemeClr val="dk2"/>
              </a:solidFill>
              <a:latin typeface="Trebuchet MS"/>
              <a:ea typeface="Trebuchet MS"/>
              <a:cs typeface="Trebuchet MS"/>
              <a:sym typeface="Trebuchet MS"/>
            </a:endParaRPr>
          </a:p>
        </p:txBody>
      </p:sp>
      <p:sp>
        <p:nvSpPr>
          <p:cNvPr id="313" name="Google Shape;313;g3f93ba2dd27_0_10"/>
          <p:cNvSpPr txBox="1"/>
          <p:nvPr/>
        </p:nvSpPr>
        <p:spPr>
          <a:xfrm>
            <a:off x="411491" y="6419088"/>
            <a:ext cx="18288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5F5F"/>
                </a:solidFill>
                <a:latin typeface="Calibri"/>
                <a:ea typeface="Calibri"/>
                <a:cs typeface="Calibri"/>
                <a:sym typeface="Calibri"/>
              </a:rPr>
              <a:t>Hashing</a:t>
            </a:r>
            <a:endParaRPr/>
          </a:p>
        </p:txBody>
      </p:sp>
      <p:sp>
        <p:nvSpPr>
          <p:cNvPr id="314" name="Google Shape;314;g3f93ba2dd27_0_10"/>
          <p:cNvSpPr txBox="1"/>
          <p:nvPr/>
        </p:nvSpPr>
        <p:spPr>
          <a:xfrm>
            <a:off x="10973093" y="6419088"/>
            <a:ext cx="7314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5F5F"/>
                </a:solidFill>
                <a:latin typeface="Calibri"/>
                <a:ea typeface="Calibri"/>
                <a:cs typeface="Calibri"/>
                <a:sym typeface="Calibri"/>
              </a:rPr>
              <a:t>1</a:t>
            </a:r>
            <a:endParaRPr/>
          </a:p>
        </p:txBody>
      </p:sp>
      <p:sp>
        <p:nvSpPr>
          <p:cNvPr id="315" name="Google Shape;315;g3f93ba2dd27_0_10"/>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9" name="Shape 319"/>
        <p:cNvGrpSpPr/>
        <p:nvPr/>
      </p:nvGrpSpPr>
      <p:grpSpPr>
        <a:xfrm>
          <a:off x="0" y="0"/>
          <a:ext cx="0" cy="0"/>
          <a:chOff x="0" y="0"/>
          <a:chExt cx="0" cy="0"/>
        </a:xfrm>
      </p:grpSpPr>
      <p:sp>
        <p:nvSpPr>
          <p:cNvPr id="320" name="Google Shape;320;g3f93ba2dd27_0_26"/>
          <p:cNvSpPr/>
          <p:nvPr/>
        </p:nvSpPr>
        <p:spPr>
          <a:xfrm>
            <a:off x="0" y="0"/>
            <a:ext cx="12192000" cy="1830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g3f93ba2dd27_0_26"/>
          <p:cNvSpPr/>
          <p:nvPr/>
        </p:nvSpPr>
        <p:spPr>
          <a:xfrm>
            <a:off x="0" y="6675120"/>
            <a:ext cx="12192000" cy="1830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g3f93ba2dd27_0_26"/>
          <p:cNvSpPr txBox="1"/>
          <p:nvPr/>
        </p:nvSpPr>
        <p:spPr>
          <a:xfrm>
            <a:off x="411491" y="256032"/>
            <a:ext cx="11156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What Happens If a Smaller Divisor Is Used?</a:t>
            </a:r>
            <a:endParaRPr/>
          </a:p>
        </p:txBody>
      </p:sp>
      <p:sp>
        <p:nvSpPr>
          <p:cNvPr id="323" name="Google Shape;323;g3f93ba2dd27_0_26"/>
          <p:cNvSpPr txBox="1"/>
          <p:nvPr/>
        </p:nvSpPr>
        <p:spPr>
          <a:xfrm>
            <a:off x="558100" y="1357925"/>
            <a:ext cx="7712100" cy="3337500"/>
          </a:xfrm>
          <a:prstGeom prst="rect">
            <a:avLst/>
          </a:prstGeom>
          <a:noFill/>
          <a:ln>
            <a:noFill/>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None/>
            </a:pPr>
            <a:r>
              <a:rPr i="0" lang="en-US" sz="1600" u="none" cap="none" strike="noStrike">
                <a:solidFill>
                  <a:srgbClr val="282828"/>
                </a:solidFill>
                <a:latin typeface="Trebuchet MS"/>
                <a:ea typeface="Trebuchet MS"/>
                <a:cs typeface="Trebuchet MS"/>
                <a:sym typeface="Trebuchet MS"/>
              </a:rPr>
              <a:t>• Suppose, the hash table length is 10, </a:t>
            </a:r>
            <a:r>
              <a:rPr i="0" lang="en-US" sz="1600" u="sng" cap="none" strike="noStrike">
                <a:solidFill>
                  <a:srgbClr val="282828"/>
                </a:solidFill>
                <a:latin typeface="Trebuchet MS"/>
                <a:ea typeface="Trebuchet MS"/>
                <a:cs typeface="Trebuchet MS"/>
                <a:sym typeface="Trebuchet MS"/>
              </a:rPr>
              <a:t>but the hash function uses </a:t>
            </a:r>
            <a:r>
              <a:rPr b="1" i="0" lang="en-US" sz="1600" u="sng" cap="none" strike="noStrike">
                <a:solidFill>
                  <a:srgbClr val="0000FF"/>
                </a:solidFill>
                <a:latin typeface="Trebuchet MS"/>
                <a:ea typeface="Trebuchet MS"/>
                <a:cs typeface="Trebuchet MS"/>
                <a:sym typeface="Trebuchet MS"/>
              </a:rPr>
              <a:t>key mod 5.</a:t>
            </a:r>
            <a:endParaRPr b="1" sz="1600" u="sng">
              <a:solidFill>
                <a:srgbClr val="0000FF"/>
              </a:solidFill>
              <a:latin typeface="Trebuchet MS"/>
              <a:ea typeface="Trebuchet MS"/>
              <a:cs typeface="Trebuchet MS"/>
              <a:sym typeface="Trebuchet MS"/>
            </a:endParaRPr>
          </a:p>
          <a:p>
            <a:pPr indent="0" lvl="0" marL="914400" marR="0" rtl="0" algn="l">
              <a:lnSpc>
                <a:spcPct val="200000"/>
              </a:lnSpc>
              <a:spcBef>
                <a:spcPts val="0"/>
              </a:spcBef>
              <a:spcAft>
                <a:spcPts val="0"/>
              </a:spcAft>
              <a:buNone/>
            </a:pPr>
            <a:r>
              <a:rPr i="0" lang="en-US" sz="1600" u="none" cap="none" strike="noStrike">
                <a:solidFill>
                  <a:srgbClr val="282828"/>
                </a:solidFill>
                <a:latin typeface="Trebuchet MS"/>
                <a:ea typeface="Trebuchet MS"/>
                <a:cs typeface="Trebuchet MS"/>
                <a:sym typeface="Trebuchet MS"/>
              </a:rPr>
              <a:t>• Then the possible indices are only 0, 1, 2, 3, and 4.</a:t>
            </a:r>
            <a:endParaRPr sz="1600">
              <a:latin typeface="Trebuchet MS"/>
              <a:ea typeface="Trebuchet MS"/>
              <a:cs typeface="Trebuchet MS"/>
              <a:sym typeface="Trebuchet MS"/>
            </a:endParaRPr>
          </a:p>
          <a:p>
            <a:pPr indent="0" lvl="0" marL="914400" marR="0" rtl="0" algn="l">
              <a:lnSpc>
                <a:spcPct val="200000"/>
              </a:lnSpc>
              <a:spcBef>
                <a:spcPts val="0"/>
              </a:spcBef>
              <a:spcAft>
                <a:spcPts val="0"/>
              </a:spcAft>
              <a:buNone/>
            </a:pPr>
            <a:r>
              <a:rPr i="0" lang="en-US" sz="1600" u="none" cap="none" strike="noStrike">
                <a:solidFill>
                  <a:srgbClr val="282828"/>
                </a:solidFill>
                <a:latin typeface="Trebuchet MS"/>
                <a:ea typeface="Trebuchet MS"/>
                <a:cs typeface="Trebuchet MS"/>
                <a:sym typeface="Trebuchet MS"/>
              </a:rPr>
              <a:t>• Indices 5 to 9 will never be used.</a:t>
            </a:r>
            <a:endParaRPr sz="1600">
              <a:latin typeface="Trebuchet MS"/>
              <a:ea typeface="Trebuchet MS"/>
              <a:cs typeface="Trebuchet MS"/>
              <a:sym typeface="Trebuchet MS"/>
            </a:endParaRPr>
          </a:p>
          <a:p>
            <a:pPr indent="0" lvl="0" marL="0" marR="0" rtl="0" algn="l">
              <a:lnSpc>
                <a:spcPct val="200000"/>
              </a:lnSpc>
              <a:spcBef>
                <a:spcPts val="0"/>
              </a:spcBef>
              <a:spcAft>
                <a:spcPts val="0"/>
              </a:spcAft>
              <a:buNone/>
            </a:pPr>
            <a:r>
              <a:rPr i="0" lang="en-US" sz="1600" u="none" cap="none" strike="noStrike">
                <a:solidFill>
                  <a:srgbClr val="282828"/>
                </a:solidFill>
                <a:latin typeface="Trebuchet MS"/>
                <a:ea typeface="Trebuchet MS"/>
                <a:cs typeface="Trebuchet MS"/>
                <a:sym typeface="Trebuchet MS"/>
              </a:rPr>
              <a:t>• So, </a:t>
            </a:r>
            <a:r>
              <a:rPr i="0" lang="en-US" sz="1600" u="sng" cap="none" strike="noStrike">
                <a:solidFill>
                  <a:srgbClr val="282828"/>
                </a:solidFill>
                <a:latin typeface="Trebuchet MS"/>
                <a:ea typeface="Trebuchet MS"/>
                <a:cs typeface="Trebuchet MS"/>
                <a:sym typeface="Trebuchet MS"/>
              </a:rPr>
              <a:t>only half of the table is used</a:t>
            </a:r>
            <a:r>
              <a:rPr i="0" lang="en-US" sz="1600" u="none" cap="none" strike="noStrike">
                <a:solidFill>
                  <a:srgbClr val="282828"/>
                </a:solidFill>
                <a:latin typeface="Trebuchet MS"/>
                <a:ea typeface="Trebuchet MS"/>
                <a:cs typeface="Trebuchet MS"/>
                <a:sym typeface="Trebuchet MS"/>
              </a:rPr>
              <a:t> and the </a:t>
            </a:r>
            <a:r>
              <a:rPr i="0" lang="en-US" sz="1600" u="sng" cap="none" strike="noStrike">
                <a:solidFill>
                  <a:srgbClr val="282828"/>
                </a:solidFill>
                <a:latin typeface="Trebuchet MS"/>
                <a:ea typeface="Trebuchet MS"/>
                <a:cs typeface="Trebuchet MS"/>
                <a:sym typeface="Trebuchet MS"/>
              </a:rPr>
              <a:t>number of collisions increases.</a:t>
            </a:r>
            <a:endParaRPr sz="1600" u="sng">
              <a:latin typeface="Trebuchet MS"/>
              <a:ea typeface="Trebuchet MS"/>
              <a:cs typeface="Trebuchet MS"/>
              <a:sym typeface="Trebuchet MS"/>
            </a:endParaRPr>
          </a:p>
          <a:p>
            <a:pPr indent="0" lvl="0" marL="0" marR="0" rtl="0" algn="l">
              <a:lnSpc>
                <a:spcPct val="200000"/>
              </a:lnSpc>
              <a:spcBef>
                <a:spcPts val="0"/>
              </a:spcBef>
              <a:spcAft>
                <a:spcPts val="0"/>
              </a:spcAft>
              <a:buNone/>
            </a:pPr>
            <a:r>
              <a:t/>
            </a:r>
            <a:endParaRPr sz="1600">
              <a:solidFill>
                <a:srgbClr val="282828"/>
              </a:solidFill>
              <a:latin typeface="Trebuchet MS"/>
              <a:ea typeface="Trebuchet MS"/>
              <a:cs typeface="Trebuchet MS"/>
              <a:sym typeface="Trebuchet MS"/>
            </a:endParaRPr>
          </a:p>
          <a:p>
            <a:pPr indent="0" lvl="0" marL="0" marR="0" rtl="0" algn="l">
              <a:lnSpc>
                <a:spcPct val="200000"/>
              </a:lnSpc>
              <a:spcBef>
                <a:spcPts val="0"/>
              </a:spcBef>
              <a:spcAft>
                <a:spcPts val="0"/>
              </a:spcAft>
              <a:buNone/>
            </a:pPr>
            <a:r>
              <a:rPr b="1" i="0" lang="en-US" sz="1600" u="none" cap="none" strike="noStrike">
                <a:solidFill>
                  <a:srgbClr val="0000FF"/>
                </a:solidFill>
                <a:latin typeface="Trebuchet MS"/>
                <a:ea typeface="Trebuchet MS"/>
                <a:cs typeface="Trebuchet MS"/>
                <a:sym typeface="Trebuchet MS"/>
              </a:rPr>
              <a:t>The same problem happens if </a:t>
            </a:r>
            <a:r>
              <a:rPr b="1" i="0" lang="en-US" sz="1600" u="sng" cap="none" strike="noStrike">
                <a:solidFill>
                  <a:srgbClr val="9900FF"/>
                </a:solidFill>
                <a:latin typeface="Trebuchet MS"/>
                <a:ea typeface="Trebuchet MS"/>
                <a:cs typeface="Trebuchet MS"/>
                <a:sym typeface="Trebuchet MS"/>
              </a:rPr>
              <a:t>any number smaller than n</a:t>
            </a:r>
            <a:r>
              <a:rPr b="1" i="0" lang="en-US" sz="1600" u="none" cap="none" strike="noStrike">
                <a:solidFill>
                  <a:srgbClr val="0000FF"/>
                </a:solidFill>
                <a:latin typeface="Trebuchet MS"/>
                <a:ea typeface="Trebuchet MS"/>
                <a:cs typeface="Trebuchet MS"/>
                <a:sym typeface="Trebuchet MS"/>
              </a:rPr>
              <a:t> is used for modding.</a:t>
            </a:r>
            <a:endParaRPr b="1" sz="1600">
              <a:solidFill>
                <a:srgbClr val="0000FF"/>
              </a:solidFill>
              <a:latin typeface="Trebuchet MS"/>
              <a:ea typeface="Trebuchet MS"/>
              <a:cs typeface="Trebuchet MS"/>
              <a:sym typeface="Trebuchet MS"/>
            </a:endParaRPr>
          </a:p>
        </p:txBody>
      </p:sp>
      <p:graphicFrame>
        <p:nvGraphicFramePr>
          <p:cNvPr id="324" name="Google Shape;324;g3f93ba2dd27_0_26"/>
          <p:cNvGraphicFramePr/>
          <p:nvPr/>
        </p:nvGraphicFramePr>
        <p:xfrm>
          <a:off x="8207527" y="1357917"/>
          <a:ext cx="3000000" cy="3000000"/>
        </p:xfrm>
        <a:graphic>
          <a:graphicData uri="http://schemas.openxmlformats.org/drawingml/2006/table">
            <a:tbl>
              <a:tblPr bandRow="1" firstRow="1">
                <a:noFill/>
                <a:tableStyleId>{DD94F819-1C7E-4F3F-9C7D-EC6BF9FAB339}</a:tableStyleId>
              </a:tblPr>
              <a:tblGrid>
                <a:gridCol w="914425"/>
                <a:gridCol w="1371625"/>
                <a:gridCol w="1371625"/>
              </a:tblGrid>
              <a:tr h="340825">
                <a:tc>
                  <a:txBody>
                    <a:bodyPr/>
                    <a:lstStyle/>
                    <a:p>
                      <a:pPr indent="0" lvl="0" marL="0" marR="0" rtl="0" algn="ctr">
                        <a:spcBef>
                          <a:spcPts val="0"/>
                        </a:spcBef>
                        <a:spcAft>
                          <a:spcPts val="0"/>
                        </a:spcAft>
                        <a:buNone/>
                      </a:pPr>
                      <a:r>
                        <a:rPr lang="en-US" sz="1600" u="none" cap="none" strike="noStrike">
                          <a:solidFill>
                            <a:srgbClr val="FFFFFF"/>
                          </a:solidFill>
                          <a:latin typeface="Trebuchet MS"/>
                          <a:ea typeface="Trebuchet MS"/>
                          <a:cs typeface="Trebuchet MS"/>
                          <a:sym typeface="Trebuchet MS"/>
                        </a:rPr>
                        <a:t>Key</a:t>
                      </a:r>
                      <a:endParaRPr sz="1600">
                        <a:latin typeface="Trebuchet MS"/>
                        <a:ea typeface="Trebuchet MS"/>
                        <a:cs typeface="Trebuchet MS"/>
                        <a:sym typeface="Trebuchet MS"/>
                      </a:endParaRPr>
                    </a:p>
                  </a:txBody>
                  <a:tcPr marT="45725" marB="45725" marR="91450" marL="91450">
                    <a:solidFill>
                      <a:srgbClr val="1F4E79"/>
                    </a:solidFill>
                  </a:tcPr>
                </a:tc>
                <a:tc>
                  <a:txBody>
                    <a:bodyPr/>
                    <a:lstStyle/>
                    <a:p>
                      <a:pPr indent="0" lvl="0" marL="0" marR="0" rtl="0" algn="ctr">
                        <a:spcBef>
                          <a:spcPts val="0"/>
                        </a:spcBef>
                        <a:spcAft>
                          <a:spcPts val="0"/>
                        </a:spcAft>
                        <a:buNone/>
                      </a:pPr>
                      <a:r>
                        <a:rPr lang="en-US" sz="1600" u="none" cap="none" strike="noStrike">
                          <a:solidFill>
                            <a:srgbClr val="FFFFFF"/>
                          </a:solidFill>
                          <a:latin typeface="Trebuchet MS"/>
                          <a:ea typeface="Trebuchet MS"/>
                          <a:cs typeface="Trebuchet MS"/>
                          <a:sym typeface="Trebuchet MS"/>
                        </a:rPr>
                        <a:t>key mod 10</a:t>
                      </a:r>
                      <a:endParaRPr sz="1600">
                        <a:latin typeface="Trebuchet MS"/>
                        <a:ea typeface="Trebuchet MS"/>
                        <a:cs typeface="Trebuchet MS"/>
                        <a:sym typeface="Trebuchet MS"/>
                      </a:endParaRPr>
                    </a:p>
                  </a:txBody>
                  <a:tcPr marT="45725" marB="45725" marR="91450" marL="91450">
                    <a:solidFill>
                      <a:srgbClr val="1F4E79"/>
                    </a:solidFill>
                  </a:tcPr>
                </a:tc>
                <a:tc>
                  <a:txBody>
                    <a:bodyPr/>
                    <a:lstStyle/>
                    <a:p>
                      <a:pPr indent="0" lvl="0" marL="0" marR="0" rtl="0" algn="ctr">
                        <a:spcBef>
                          <a:spcPts val="0"/>
                        </a:spcBef>
                        <a:spcAft>
                          <a:spcPts val="0"/>
                        </a:spcAft>
                        <a:buNone/>
                      </a:pPr>
                      <a:r>
                        <a:rPr lang="en-US" sz="1600" u="none" cap="none" strike="noStrike">
                          <a:solidFill>
                            <a:srgbClr val="FFFFFF"/>
                          </a:solidFill>
                          <a:latin typeface="Trebuchet MS"/>
                          <a:ea typeface="Trebuchet MS"/>
                          <a:cs typeface="Trebuchet MS"/>
                          <a:sym typeface="Trebuchet MS"/>
                        </a:rPr>
                        <a:t>key mod 5</a:t>
                      </a:r>
                      <a:endParaRPr sz="1600">
                        <a:latin typeface="Trebuchet MS"/>
                        <a:ea typeface="Trebuchet MS"/>
                        <a:cs typeface="Trebuchet MS"/>
                        <a:sym typeface="Trebuchet MS"/>
                      </a:endParaRPr>
                    </a:p>
                  </a:txBody>
                  <a:tcPr marT="45725" marB="45725" marR="91450" marL="91450">
                    <a:solidFill>
                      <a:srgbClr val="1F4E79"/>
                    </a:solidFill>
                  </a:tcPr>
                </a:tc>
              </a:tr>
              <a:tr h="340825">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r>
              <a:tr h="340825">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1</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1</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1</a:t>
                      </a:r>
                      <a:endParaRPr sz="1600">
                        <a:latin typeface="Trebuchet MS"/>
                        <a:ea typeface="Trebuchet MS"/>
                        <a:cs typeface="Trebuchet MS"/>
                        <a:sym typeface="Trebuchet MS"/>
                      </a:endParaRPr>
                    </a:p>
                  </a:txBody>
                  <a:tcPr marT="45725" marB="45725" marR="91450" marL="91450">
                    <a:solidFill>
                      <a:srgbClr val="FFFFFF"/>
                    </a:solidFill>
                  </a:tcPr>
                </a:tc>
              </a:tr>
              <a:tr h="340825">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2</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2</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2</a:t>
                      </a:r>
                      <a:endParaRPr sz="1600">
                        <a:latin typeface="Trebuchet MS"/>
                        <a:ea typeface="Trebuchet MS"/>
                        <a:cs typeface="Trebuchet MS"/>
                        <a:sym typeface="Trebuchet MS"/>
                      </a:endParaRPr>
                    </a:p>
                  </a:txBody>
                  <a:tcPr marT="45725" marB="45725" marR="91450" marL="91450">
                    <a:solidFill>
                      <a:srgbClr val="FFFFFF"/>
                    </a:solidFill>
                  </a:tcPr>
                </a:tc>
              </a:tr>
              <a:tr h="340825">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3</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3</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3</a:t>
                      </a:r>
                      <a:endParaRPr sz="1600">
                        <a:latin typeface="Trebuchet MS"/>
                        <a:ea typeface="Trebuchet MS"/>
                        <a:cs typeface="Trebuchet MS"/>
                        <a:sym typeface="Trebuchet MS"/>
                      </a:endParaRPr>
                    </a:p>
                  </a:txBody>
                  <a:tcPr marT="45725" marB="45725" marR="91450" marL="91450">
                    <a:solidFill>
                      <a:srgbClr val="FFFFFF"/>
                    </a:solidFill>
                  </a:tcPr>
                </a:tc>
              </a:tr>
              <a:tr h="340825">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4</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4</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4</a:t>
                      </a:r>
                      <a:endParaRPr sz="1600">
                        <a:latin typeface="Trebuchet MS"/>
                        <a:ea typeface="Trebuchet MS"/>
                        <a:cs typeface="Trebuchet MS"/>
                        <a:sym typeface="Trebuchet MS"/>
                      </a:endParaRPr>
                    </a:p>
                  </a:txBody>
                  <a:tcPr marT="45725" marB="45725" marR="91450" marL="91450">
                    <a:solidFill>
                      <a:srgbClr val="FFFFFF"/>
                    </a:solidFill>
                  </a:tcPr>
                </a:tc>
              </a:tr>
              <a:tr h="340825">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r>
              <a:tr h="340825">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6</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6</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1</a:t>
                      </a:r>
                      <a:endParaRPr sz="1600">
                        <a:latin typeface="Trebuchet MS"/>
                        <a:ea typeface="Trebuchet MS"/>
                        <a:cs typeface="Trebuchet MS"/>
                        <a:sym typeface="Trebuchet MS"/>
                      </a:endParaRPr>
                    </a:p>
                  </a:txBody>
                  <a:tcPr marT="45725" marB="45725" marR="91450" marL="91450">
                    <a:solidFill>
                      <a:srgbClr val="FFFFFF"/>
                    </a:solidFill>
                  </a:tcPr>
                </a:tc>
              </a:tr>
              <a:tr h="340825">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7</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7</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2</a:t>
                      </a:r>
                      <a:endParaRPr sz="1600">
                        <a:latin typeface="Trebuchet MS"/>
                        <a:ea typeface="Trebuchet MS"/>
                        <a:cs typeface="Trebuchet MS"/>
                        <a:sym typeface="Trebuchet MS"/>
                      </a:endParaRPr>
                    </a:p>
                  </a:txBody>
                  <a:tcPr marT="45725" marB="45725" marR="91450" marL="91450">
                    <a:solidFill>
                      <a:srgbClr val="FFFFFF"/>
                    </a:solidFill>
                  </a:tcPr>
                </a:tc>
              </a:tr>
              <a:tr h="340825">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8</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8</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3</a:t>
                      </a:r>
                      <a:endParaRPr sz="1600">
                        <a:latin typeface="Trebuchet MS"/>
                        <a:ea typeface="Trebuchet MS"/>
                        <a:cs typeface="Trebuchet MS"/>
                        <a:sym typeface="Trebuchet MS"/>
                      </a:endParaRPr>
                    </a:p>
                  </a:txBody>
                  <a:tcPr marT="45725" marB="45725" marR="91450" marL="91450">
                    <a:solidFill>
                      <a:srgbClr val="FFFFFF"/>
                    </a:solidFill>
                  </a:tcPr>
                </a:tc>
              </a:tr>
              <a:tr h="340825">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9</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9</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4</a:t>
                      </a:r>
                      <a:endParaRPr sz="1600">
                        <a:latin typeface="Trebuchet MS"/>
                        <a:ea typeface="Trebuchet MS"/>
                        <a:cs typeface="Trebuchet MS"/>
                        <a:sym typeface="Trebuchet MS"/>
                      </a:endParaRPr>
                    </a:p>
                  </a:txBody>
                  <a:tcPr marT="45725" marB="45725" marR="91450" marL="91450">
                    <a:solidFill>
                      <a:srgbClr val="FFFFFF"/>
                    </a:solidFill>
                  </a:tcPr>
                </a:tc>
              </a:tr>
            </a:tbl>
          </a:graphicData>
        </a:graphic>
      </p:graphicFrame>
      <p:sp>
        <p:nvSpPr>
          <p:cNvPr id="325" name="Google Shape;325;g3f93ba2dd27_0_26"/>
          <p:cNvSpPr txBox="1"/>
          <p:nvPr/>
        </p:nvSpPr>
        <p:spPr>
          <a:xfrm>
            <a:off x="411491" y="6419088"/>
            <a:ext cx="18288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5F5F"/>
                </a:solidFill>
                <a:latin typeface="Calibri"/>
                <a:ea typeface="Calibri"/>
                <a:cs typeface="Calibri"/>
                <a:sym typeface="Calibri"/>
              </a:rPr>
              <a:t>Hashing</a:t>
            </a:r>
            <a:endParaRPr/>
          </a:p>
        </p:txBody>
      </p:sp>
      <p:sp>
        <p:nvSpPr>
          <p:cNvPr id="326" name="Google Shape;326;g3f93ba2dd27_0_26"/>
          <p:cNvSpPr txBox="1"/>
          <p:nvPr/>
        </p:nvSpPr>
        <p:spPr>
          <a:xfrm>
            <a:off x="10973093" y="6419088"/>
            <a:ext cx="7314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5F5F"/>
                </a:solidFill>
                <a:latin typeface="Calibri"/>
                <a:ea typeface="Calibri"/>
                <a:cs typeface="Calibri"/>
                <a:sym typeface="Calibri"/>
              </a:rPr>
              <a:t>2</a:t>
            </a:r>
            <a:endParaRPr/>
          </a:p>
        </p:txBody>
      </p:sp>
      <p:sp>
        <p:nvSpPr>
          <p:cNvPr id="327" name="Google Shape;327;g3f93ba2dd27_0_26"/>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g3f93ba2dd27_0_39"/>
          <p:cNvSpPr/>
          <p:nvPr/>
        </p:nvSpPr>
        <p:spPr>
          <a:xfrm>
            <a:off x="0" y="0"/>
            <a:ext cx="12192000" cy="1830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3" name="Google Shape;333;g3f93ba2dd27_0_39"/>
          <p:cNvSpPr/>
          <p:nvPr/>
        </p:nvSpPr>
        <p:spPr>
          <a:xfrm>
            <a:off x="0" y="6675120"/>
            <a:ext cx="12192000" cy="1830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4" name="Google Shape;334;g3f93ba2dd27_0_39"/>
          <p:cNvSpPr txBox="1"/>
          <p:nvPr/>
        </p:nvSpPr>
        <p:spPr>
          <a:xfrm>
            <a:off x="411491" y="256032"/>
            <a:ext cx="11156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Hashing Theory Sample Question</a:t>
            </a:r>
            <a:endParaRPr/>
          </a:p>
        </p:txBody>
      </p:sp>
      <p:sp>
        <p:nvSpPr>
          <p:cNvPr id="335" name="Google Shape;335;g3f93ba2dd27_0_39"/>
          <p:cNvSpPr txBox="1"/>
          <p:nvPr/>
        </p:nvSpPr>
        <p:spPr>
          <a:xfrm>
            <a:off x="640097" y="1325880"/>
            <a:ext cx="10698900" cy="4297800"/>
          </a:xfrm>
          <a:prstGeom prst="rect">
            <a:avLst/>
          </a:prstGeom>
          <a:noFill/>
          <a:ln>
            <a:noFill/>
          </a:ln>
        </p:spPr>
        <p:txBody>
          <a:bodyPr anchorCtr="0" anchor="t" bIns="45700" lIns="91425" spcFirstLastPara="1" rIns="91425" wrap="square" tIns="45700">
            <a:normAutofit/>
          </a:bodyPr>
          <a:lstStyle/>
          <a:p>
            <a:pPr indent="-330200" lvl="0" marL="457200" marR="0" rtl="0" algn="l">
              <a:lnSpc>
                <a:spcPct val="150000"/>
              </a:lnSpc>
              <a:spcBef>
                <a:spcPts val="0"/>
              </a:spcBef>
              <a:spcAft>
                <a:spcPts val="0"/>
              </a:spcAft>
              <a:buClr>
                <a:srgbClr val="282828"/>
              </a:buClr>
              <a:buSzPts val="1600"/>
              <a:buFont typeface="Trebuchet MS"/>
              <a:buChar char="●"/>
            </a:pPr>
            <a:r>
              <a:rPr i="0" lang="en-US" sz="1600" u="none" cap="none" strike="noStrike">
                <a:solidFill>
                  <a:srgbClr val="282828"/>
                </a:solidFill>
                <a:latin typeface="Trebuchet MS"/>
                <a:ea typeface="Trebuchet MS"/>
                <a:cs typeface="Trebuchet MS"/>
                <a:sym typeface="Trebuchet MS"/>
              </a:rPr>
              <a:t>A </a:t>
            </a:r>
            <a:r>
              <a:rPr i="0" lang="en-US" sz="1600" u="none" cap="none" strike="noStrike">
                <a:solidFill>
                  <a:srgbClr val="0000FF"/>
                </a:solidFill>
                <a:latin typeface="Trebuchet MS"/>
                <a:ea typeface="Trebuchet MS"/>
                <a:cs typeface="Trebuchet MS"/>
                <a:sym typeface="Trebuchet MS"/>
              </a:rPr>
              <a:t>hash table of size 10</a:t>
            </a:r>
            <a:r>
              <a:rPr i="0" lang="en-US" sz="1600" u="none" cap="none" strike="noStrike">
                <a:solidFill>
                  <a:srgbClr val="282828"/>
                </a:solidFill>
                <a:latin typeface="Trebuchet MS"/>
                <a:ea typeface="Trebuchet MS"/>
                <a:cs typeface="Trebuchet MS"/>
                <a:sym typeface="Trebuchet MS"/>
              </a:rPr>
              <a:t> is used to store the following keys: 15, 25, 35, 45, 55, 65, 75.</a:t>
            </a:r>
            <a:endParaRPr sz="1600">
              <a:latin typeface="Trebuchet MS"/>
              <a:ea typeface="Trebuchet MS"/>
              <a:cs typeface="Trebuchet MS"/>
              <a:sym typeface="Trebuchet MS"/>
            </a:endParaRPr>
          </a:p>
          <a:p>
            <a:pPr indent="-330200" lvl="0" marL="457200" marR="0" rtl="0" algn="l">
              <a:lnSpc>
                <a:spcPct val="150000"/>
              </a:lnSpc>
              <a:spcBef>
                <a:spcPts val="0"/>
              </a:spcBef>
              <a:spcAft>
                <a:spcPts val="0"/>
              </a:spcAft>
              <a:buSzPts val="1600"/>
              <a:buFont typeface="Trebuchet MS"/>
              <a:buChar char="●"/>
            </a:pPr>
            <a:r>
              <a:rPr i="0" lang="en-US" sz="1600" u="none" cap="none" strike="noStrike">
                <a:solidFill>
                  <a:srgbClr val="282828"/>
                </a:solidFill>
                <a:latin typeface="Trebuchet MS"/>
                <a:ea typeface="Trebuchet MS"/>
                <a:cs typeface="Trebuchet MS"/>
                <a:sym typeface="Trebuchet MS"/>
              </a:rPr>
              <a:t>Assume forward chaining will be used for collision handling.</a:t>
            </a:r>
            <a:r>
              <a:rPr lang="en-US" sz="1600">
                <a:latin typeface="Trebuchet MS"/>
                <a:ea typeface="Trebuchet MS"/>
                <a:cs typeface="Trebuchet MS"/>
                <a:sym typeface="Trebuchet MS"/>
              </a:rPr>
              <a:t> </a:t>
            </a:r>
            <a:r>
              <a:rPr i="0" lang="en-US" sz="1600" u="none" cap="none" strike="noStrike">
                <a:solidFill>
                  <a:srgbClr val="282828"/>
                </a:solidFill>
                <a:latin typeface="Trebuchet MS"/>
                <a:ea typeface="Trebuchet MS"/>
                <a:cs typeface="Trebuchet MS"/>
                <a:sym typeface="Trebuchet MS"/>
              </a:rPr>
              <a:t>The following four hash functions are proposed:</a:t>
            </a:r>
            <a:br>
              <a:rPr i="0" lang="en-US" sz="1600" u="none" cap="none" strike="noStrike">
                <a:solidFill>
                  <a:srgbClr val="282828"/>
                </a:solidFill>
                <a:latin typeface="Trebuchet MS"/>
                <a:ea typeface="Trebuchet MS"/>
                <a:cs typeface="Trebuchet MS"/>
                <a:sym typeface="Trebuchet MS"/>
              </a:rPr>
            </a:br>
            <a:endParaRPr sz="1600">
              <a:latin typeface="Trebuchet MS"/>
              <a:ea typeface="Trebuchet MS"/>
              <a:cs typeface="Trebuchet MS"/>
              <a:sym typeface="Trebuchet MS"/>
            </a:endParaRPr>
          </a:p>
          <a:p>
            <a:pPr indent="-330200" lvl="2" marL="1371600" marR="0" rtl="0" algn="l">
              <a:lnSpc>
                <a:spcPct val="150000"/>
              </a:lnSpc>
              <a:spcBef>
                <a:spcPts val="0"/>
              </a:spcBef>
              <a:spcAft>
                <a:spcPts val="0"/>
              </a:spcAft>
              <a:buClr>
                <a:srgbClr val="0000FF"/>
              </a:buClr>
              <a:buSzPts val="1600"/>
              <a:buFont typeface="Trebuchet MS"/>
              <a:buChar char="■"/>
            </a:pPr>
            <a:r>
              <a:rPr i="0" lang="en-US" sz="1600" u="none" cap="none" strike="noStrike">
                <a:solidFill>
                  <a:srgbClr val="0000FF"/>
                </a:solidFill>
                <a:latin typeface="Trebuchet MS"/>
                <a:ea typeface="Trebuchet MS"/>
                <a:cs typeface="Trebuchet MS"/>
                <a:sym typeface="Trebuchet MS"/>
              </a:rPr>
              <a:t>H1(k) = k mod 10</a:t>
            </a:r>
            <a:endParaRPr sz="1600">
              <a:solidFill>
                <a:srgbClr val="0000FF"/>
              </a:solidFill>
              <a:latin typeface="Trebuchet MS"/>
              <a:ea typeface="Trebuchet MS"/>
              <a:cs typeface="Trebuchet MS"/>
              <a:sym typeface="Trebuchet MS"/>
            </a:endParaRPr>
          </a:p>
          <a:p>
            <a:pPr indent="-330200" lvl="2" marL="1371600" marR="0" rtl="0" algn="l">
              <a:lnSpc>
                <a:spcPct val="150000"/>
              </a:lnSpc>
              <a:spcBef>
                <a:spcPts val="0"/>
              </a:spcBef>
              <a:spcAft>
                <a:spcPts val="0"/>
              </a:spcAft>
              <a:buClr>
                <a:srgbClr val="0000FF"/>
              </a:buClr>
              <a:buSzPts val="1600"/>
              <a:buFont typeface="Trebuchet MS"/>
              <a:buChar char="■"/>
            </a:pPr>
            <a:r>
              <a:rPr i="0" lang="en-US" sz="1600" u="none" cap="none" strike="noStrike">
                <a:solidFill>
                  <a:srgbClr val="0000FF"/>
                </a:solidFill>
                <a:latin typeface="Trebuchet MS"/>
                <a:ea typeface="Trebuchet MS"/>
                <a:cs typeface="Trebuchet MS"/>
                <a:sym typeface="Trebuchet MS"/>
              </a:rPr>
              <a:t>H2(k) = (k / 10) mod 10</a:t>
            </a:r>
            <a:endParaRPr sz="1600">
              <a:solidFill>
                <a:srgbClr val="0000FF"/>
              </a:solidFill>
              <a:latin typeface="Trebuchet MS"/>
              <a:ea typeface="Trebuchet MS"/>
              <a:cs typeface="Trebuchet MS"/>
              <a:sym typeface="Trebuchet MS"/>
            </a:endParaRPr>
          </a:p>
          <a:p>
            <a:pPr indent="-330200" lvl="2" marL="1371600" marR="0" rtl="0" algn="l">
              <a:lnSpc>
                <a:spcPct val="150000"/>
              </a:lnSpc>
              <a:spcBef>
                <a:spcPts val="0"/>
              </a:spcBef>
              <a:spcAft>
                <a:spcPts val="0"/>
              </a:spcAft>
              <a:buClr>
                <a:srgbClr val="0000FF"/>
              </a:buClr>
              <a:buSzPts val="1600"/>
              <a:buFont typeface="Trebuchet MS"/>
              <a:buChar char="■"/>
            </a:pPr>
            <a:r>
              <a:rPr i="0" lang="en-US" sz="1600" u="none" cap="none" strike="noStrike">
                <a:solidFill>
                  <a:srgbClr val="0000FF"/>
                </a:solidFill>
                <a:latin typeface="Trebuchet MS"/>
                <a:ea typeface="Trebuchet MS"/>
                <a:cs typeface="Trebuchet MS"/>
                <a:sym typeface="Trebuchet MS"/>
              </a:rPr>
              <a:t>H3(k) = (k + 5) mod 10</a:t>
            </a:r>
            <a:endParaRPr sz="1600">
              <a:solidFill>
                <a:srgbClr val="0000FF"/>
              </a:solidFill>
              <a:latin typeface="Trebuchet MS"/>
              <a:ea typeface="Trebuchet MS"/>
              <a:cs typeface="Trebuchet MS"/>
              <a:sym typeface="Trebuchet MS"/>
            </a:endParaRPr>
          </a:p>
          <a:p>
            <a:pPr indent="-330200" lvl="2" marL="1371600" marR="0" rtl="0" algn="l">
              <a:lnSpc>
                <a:spcPct val="150000"/>
              </a:lnSpc>
              <a:spcBef>
                <a:spcPts val="0"/>
              </a:spcBef>
              <a:spcAft>
                <a:spcPts val="0"/>
              </a:spcAft>
              <a:buClr>
                <a:srgbClr val="282828"/>
              </a:buClr>
              <a:buSzPts val="1600"/>
              <a:buFont typeface="Trebuchet MS"/>
              <a:buChar char="■"/>
            </a:pPr>
            <a:r>
              <a:rPr i="0" lang="en-US" sz="1600" u="none" cap="none" strike="noStrike">
                <a:solidFill>
                  <a:srgbClr val="0000FF"/>
                </a:solidFill>
                <a:latin typeface="Trebuchet MS"/>
                <a:ea typeface="Trebuchet MS"/>
                <a:cs typeface="Trebuchet MS"/>
                <a:sym typeface="Trebuchet MS"/>
              </a:rPr>
              <a:t>H4(k) = (k × 2) mod 10</a:t>
            </a:r>
            <a:br>
              <a:rPr lang="en-US" sz="1600">
                <a:latin typeface="Trebuchet MS"/>
                <a:ea typeface="Trebuchet MS"/>
                <a:cs typeface="Trebuchet MS"/>
                <a:sym typeface="Trebuchet MS"/>
              </a:rPr>
            </a:br>
            <a:endParaRPr sz="1600">
              <a:latin typeface="Trebuchet MS"/>
              <a:ea typeface="Trebuchet MS"/>
              <a:cs typeface="Trebuchet MS"/>
              <a:sym typeface="Trebuchet MS"/>
            </a:endParaRPr>
          </a:p>
          <a:p>
            <a:pPr indent="-330200" lvl="0" marL="457200" marR="0" rtl="0" algn="l">
              <a:lnSpc>
                <a:spcPct val="150000"/>
              </a:lnSpc>
              <a:spcBef>
                <a:spcPts val="0"/>
              </a:spcBef>
              <a:spcAft>
                <a:spcPts val="0"/>
              </a:spcAft>
              <a:buClr>
                <a:srgbClr val="282828"/>
              </a:buClr>
              <a:buSzPts val="1600"/>
              <a:buFont typeface="Trebuchet MS"/>
              <a:buChar char="●"/>
            </a:pPr>
            <a:r>
              <a:rPr i="0" lang="en-US" sz="1600" u="none" cap="none" strike="noStrike">
                <a:solidFill>
                  <a:srgbClr val="282828"/>
                </a:solidFill>
                <a:latin typeface="Trebuchet MS"/>
                <a:ea typeface="Trebuchet MS"/>
                <a:cs typeface="Trebuchet MS"/>
                <a:sym typeface="Trebuchet MS"/>
              </a:rPr>
              <a:t>Which hash function is the best choice here to reduce collision?</a:t>
            </a:r>
            <a:endParaRPr i="0" sz="1600" u="none" cap="none" strike="noStrike">
              <a:solidFill>
                <a:srgbClr val="282828"/>
              </a:solidFill>
              <a:latin typeface="Trebuchet MS"/>
              <a:ea typeface="Trebuchet MS"/>
              <a:cs typeface="Trebuchet MS"/>
              <a:sym typeface="Trebuchet MS"/>
            </a:endParaRPr>
          </a:p>
          <a:p>
            <a:pPr indent="-330200" lvl="0" marL="457200" rtl="0" algn="l">
              <a:lnSpc>
                <a:spcPct val="150000"/>
              </a:lnSpc>
              <a:spcBef>
                <a:spcPts val="0"/>
              </a:spcBef>
              <a:spcAft>
                <a:spcPts val="0"/>
              </a:spcAft>
              <a:buClr>
                <a:srgbClr val="282828"/>
              </a:buClr>
              <a:buSzPts val="1600"/>
              <a:buFont typeface="Trebuchet MS"/>
              <a:buChar char="●"/>
            </a:pPr>
            <a:r>
              <a:rPr lang="en-US" sz="1600">
                <a:solidFill>
                  <a:srgbClr val="282828"/>
                </a:solidFill>
                <a:latin typeface="Trebuchet MS"/>
                <a:ea typeface="Trebuchet MS"/>
                <a:cs typeface="Trebuchet MS"/>
                <a:sym typeface="Trebuchet MS"/>
              </a:rPr>
              <a:t>Note: </a:t>
            </a:r>
            <a:r>
              <a:rPr lang="en-US" sz="1600">
                <a:solidFill>
                  <a:srgbClr val="282828"/>
                </a:solidFill>
                <a:latin typeface="Trebuchet MS"/>
                <a:ea typeface="Trebuchet MS"/>
                <a:cs typeface="Trebuchet MS"/>
                <a:sym typeface="Trebuchet MS"/>
              </a:rPr>
              <a:t>All the results will be in integer; if there are fractions, the floor value is considered.</a:t>
            </a:r>
            <a:endParaRPr sz="1600">
              <a:solidFill>
                <a:srgbClr val="282828"/>
              </a:solidFill>
              <a:latin typeface="Trebuchet MS"/>
              <a:ea typeface="Trebuchet MS"/>
              <a:cs typeface="Trebuchet MS"/>
              <a:sym typeface="Trebuchet MS"/>
            </a:endParaRPr>
          </a:p>
        </p:txBody>
      </p:sp>
      <p:sp>
        <p:nvSpPr>
          <p:cNvPr id="336" name="Google Shape;336;g3f93ba2dd27_0_39"/>
          <p:cNvSpPr/>
          <p:nvPr/>
        </p:nvSpPr>
        <p:spPr>
          <a:xfrm>
            <a:off x="1920291" y="5486400"/>
            <a:ext cx="8046900" cy="457200"/>
          </a:xfrm>
          <a:prstGeom prst="roundRect">
            <a:avLst>
              <a:gd fmla="val 16667" name="adj"/>
            </a:avLst>
          </a:prstGeom>
          <a:solidFill>
            <a:srgbClr val="EAF2F8"/>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7" name="Google Shape;337;g3f93ba2dd27_0_39"/>
          <p:cNvSpPr txBox="1"/>
          <p:nvPr/>
        </p:nvSpPr>
        <p:spPr>
          <a:xfrm>
            <a:off x="1920291" y="5486400"/>
            <a:ext cx="80469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17365D"/>
                </a:solidFill>
                <a:latin typeface="Calibri"/>
                <a:ea typeface="Calibri"/>
                <a:cs typeface="Calibri"/>
                <a:sym typeface="Calibri"/>
              </a:rPr>
              <a:t>Answer options:  (a) H1    (b) H2    (c) H3    (d) H4</a:t>
            </a:r>
            <a:endParaRPr/>
          </a:p>
        </p:txBody>
      </p:sp>
      <p:sp>
        <p:nvSpPr>
          <p:cNvPr id="338" name="Google Shape;338;g3f93ba2dd27_0_39"/>
          <p:cNvSpPr txBox="1"/>
          <p:nvPr/>
        </p:nvSpPr>
        <p:spPr>
          <a:xfrm>
            <a:off x="411491" y="6419088"/>
            <a:ext cx="18288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5F5F"/>
                </a:solidFill>
                <a:latin typeface="Calibri"/>
                <a:ea typeface="Calibri"/>
                <a:cs typeface="Calibri"/>
                <a:sym typeface="Calibri"/>
              </a:rPr>
              <a:t>Hashing</a:t>
            </a:r>
            <a:endParaRPr/>
          </a:p>
        </p:txBody>
      </p:sp>
      <p:sp>
        <p:nvSpPr>
          <p:cNvPr id="339" name="Google Shape;339;g3f93ba2dd27_0_39"/>
          <p:cNvSpPr txBox="1"/>
          <p:nvPr/>
        </p:nvSpPr>
        <p:spPr>
          <a:xfrm>
            <a:off x="10973093" y="6419088"/>
            <a:ext cx="7314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5F5F"/>
                </a:solidFill>
                <a:latin typeface="Calibri"/>
                <a:ea typeface="Calibri"/>
                <a:cs typeface="Calibri"/>
                <a:sym typeface="Calibri"/>
              </a:rPr>
              <a:t>3</a:t>
            </a:r>
            <a:endParaRPr/>
          </a:p>
        </p:txBody>
      </p:sp>
      <p:sp>
        <p:nvSpPr>
          <p:cNvPr id="340" name="Google Shape;340;g3f93ba2dd27_0_39"/>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4" name="Shape 344"/>
        <p:cNvGrpSpPr/>
        <p:nvPr/>
      </p:nvGrpSpPr>
      <p:grpSpPr>
        <a:xfrm>
          <a:off x="0" y="0"/>
          <a:ext cx="0" cy="0"/>
          <a:chOff x="0" y="0"/>
          <a:chExt cx="0" cy="0"/>
        </a:xfrm>
      </p:grpSpPr>
      <p:sp>
        <p:nvSpPr>
          <p:cNvPr id="345" name="Google Shape;345;g3f93ba2dd27_0_50"/>
          <p:cNvSpPr/>
          <p:nvPr/>
        </p:nvSpPr>
        <p:spPr>
          <a:xfrm>
            <a:off x="0" y="0"/>
            <a:ext cx="12192000" cy="1830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6" name="Google Shape;346;g3f93ba2dd27_0_50"/>
          <p:cNvSpPr/>
          <p:nvPr/>
        </p:nvSpPr>
        <p:spPr>
          <a:xfrm>
            <a:off x="0" y="6675120"/>
            <a:ext cx="12192000" cy="1830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g3f93ba2dd27_0_50"/>
          <p:cNvSpPr txBox="1"/>
          <p:nvPr/>
        </p:nvSpPr>
        <p:spPr>
          <a:xfrm>
            <a:off x="411491" y="256032"/>
            <a:ext cx="11156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Working Out the Four Hash Functions</a:t>
            </a:r>
            <a:endParaRPr/>
          </a:p>
        </p:txBody>
      </p:sp>
      <p:graphicFrame>
        <p:nvGraphicFramePr>
          <p:cNvPr id="348" name="Google Shape;348;g3f93ba2dd27_0_50"/>
          <p:cNvGraphicFramePr/>
          <p:nvPr/>
        </p:nvGraphicFramePr>
        <p:xfrm>
          <a:off x="1182705" y="891567"/>
          <a:ext cx="3000000" cy="3000000"/>
        </p:xfrm>
        <a:graphic>
          <a:graphicData uri="http://schemas.openxmlformats.org/drawingml/2006/table">
            <a:tbl>
              <a:tblPr bandRow="1" firstRow="1">
                <a:noFill/>
                <a:tableStyleId>{DD94F819-1C7E-4F3F-9C7D-EC6BF9FAB339}</a:tableStyleId>
              </a:tblPr>
              <a:tblGrid>
                <a:gridCol w="914425"/>
                <a:gridCol w="1920300"/>
                <a:gridCol w="2377525"/>
                <a:gridCol w="2011725"/>
                <a:gridCol w="2011725"/>
              </a:tblGrid>
              <a:tr h="434350">
                <a:tc>
                  <a:txBody>
                    <a:bodyPr/>
                    <a:lstStyle/>
                    <a:p>
                      <a:pPr indent="0" lvl="0" marL="0" marR="0" rtl="0" algn="ctr">
                        <a:spcBef>
                          <a:spcPts val="0"/>
                        </a:spcBef>
                        <a:spcAft>
                          <a:spcPts val="0"/>
                        </a:spcAft>
                        <a:buNone/>
                      </a:pPr>
                      <a:r>
                        <a:rPr lang="en-US" sz="1600" u="none" cap="none" strike="noStrike">
                          <a:solidFill>
                            <a:srgbClr val="FFFFFF"/>
                          </a:solidFill>
                          <a:latin typeface="Trebuchet MS"/>
                          <a:ea typeface="Trebuchet MS"/>
                          <a:cs typeface="Trebuchet MS"/>
                          <a:sym typeface="Trebuchet MS"/>
                        </a:rPr>
                        <a:t>Key</a:t>
                      </a:r>
                      <a:endParaRPr sz="1600">
                        <a:latin typeface="Trebuchet MS"/>
                        <a:ea typeface="Trebuchet MS"/>
                        <a:cs typeface="Trebuchet MS"/>
                        <a:sym typeface="Trebuchet MS"/>
                      </a:endParaRPr>
                    </a:p>
                  </a:txBody>
                  <a:tcPr marT="45725" marB="45725" marR="91450" marL="91450">
                    <a:solidFill>
                      <a:srgbClr val="1F4E79"/>
                    </a:solidFill>
                  </a:tcPr>
                </a:tc>
                <a:tc>
                  <a:txBody>
                    <a:bodyPr/>
                    <a:lstStyle/>
                    <a:p>
                      <a:pPr indent="0" lvl="0" marL="0" marR="0" rtl="0" algn="ctr">
                        <a:spcBef>
                          <a:spcPts val="0"/>
                        </a:spcBef>
                        <a:spcAft>
                          <a:spcPts val="0"/>
                        </a:spcAft>
                        <a:buNone/>
                      </a:pPr>
                      <a:r>
                        <a:rPr lang="en-US" sz="1600" u="none" cap="none" strike="noStrike">
                          <a:solidFill>
                            <a:srgbClr val="FFFFFF"/>
                          </a:solidFill>
                          <a:latin typeface="Trebuchet MS"/>
                          <a:ea typeface="Trebuchet MS"/>
                          <a:cs typeface="Trebuchet MS"/>
                          <a:sym typeface="Trebuchet MS"/>
                        </a:rPr>
                        <a:t>H1: k mod 10</a:t>
                      </a:r>
                      <a:endParaRPr sz="1600">
                        <a:latin typeface="Trebuchet MS"/>
                        <a:ea typeface="Trebuchet MS"/>
                        <a:cs typeface="Trebuchet MS"/>
                        <a:sym typeface="Trebuchet MS"/>
                      </a:endParaRPr>
                    </a:p>
                  </a:txBody>
                  <a:tcPr marT="45725" marB="45725" marR="91450" marL="91450">
                    <a:solidFill>
                      <a:srgbClr val="1F4E79"/>
                    </a:solidFill>
                  </a:tcPr>
                </a:tc>
                <a:tc>
                  <a:txBody>
                    <a:bodyPr/>
                    <a:lstStyle/>
                    <a:p>
                      <a:pPr indent="0" lvl="0" marL="0" marR="0" rtl="0" algn="ctr">
                        <a:spcBef>
                          <a:spcPts val="0"/>
                        </a:spcBef>
                        <a:spcAft>
                          <a:spcPts val="0"/>
                        </a:spcAft>
                        <a:buNone/>
                      </a:pPr>
                      <a:r>
                        <a:rPr lang="en-US" sz="1600" u="none" cap="none" strike="noStrike">
                          <a:solidFill>
                            <a:srgbClr val="FFFFFF"/>
                          </a:solidFill>
                          <a:latin typeface="Trebuchet MS"/>
                          <a:ea typeface="Trebuchet MS"/>
                          <a:cs typeface="Trebuchet MS"/>
                          <a:sym typeface="Trebuchet MS"/>
                        </a:rPr>
                        <a:t>H2: (k/10) mod 10</a:t>
                      </a:r>
                      <a:endParaRPr sz="1600">
                        <a:latin typeface="Trebuchet MS"/>
                        <a:ea typeface="Trebuchet MS"/>
                        <a:cs typeface="Trebuchet MS"/>
                        <a:sym typeface="Trebuchet MS"/>
                      </a:endParaRPr>
                    </a:p>
                  </a:txBody>
                  <a:tcPr marT="45725" marB="45725" marR="91450" marL="91450">
                    <a:solidFill>
                      <a:srgbClr val="1F4E79"/>
                    </a:solidFill>
                  </a:tcPr>
                </a:tc>
                <a:tc>
                  <a:txBody>
                    <a:bodyPr/>
                    <a:lstStyle/>
                    <a:p>
                      <a:pPr indent="0" lvl="0" marL="0" marR="0" rtl="0" algn="ctr">
                        <a:spcBef>
                          <a:spcPts val="0"/>
                        </a:spcBef>
                        <a:spcAft>
                          <a:spcPts val="0"/>
                        </a:spcAft>
                        <a:buNone/>
                      </a:pPr>
                      <a:r>
                        <a:rPr lang="en-US" sz="1600" u="none" cap="none" strike="noStrike">
                          <a:solidFill>
                            <a:srgbClr val="FFFFFF"/>
                          </a:solidFill>
                          <a:latin typeface="Trebuchet MS"/>
                          <a:ea typeface="Trebuchet MS"/>
                          <a:cs typeface="Trebuchet MS"/>
                          <a:sym typeface="Trebuchet MS"/>
                        </a:rPr>
                        <a:t>H3: (k+5) mod 10</a:t>
                      </a:r>
                      <a:endParaRPr sz="1600">
                        <a:latin typeface="Trebuchet MS"/>
                        <a:ea typeface="Trebuchet MS"/>
                        <a:cs typeface="Trebuchet MS"/>
                        <a:sym typeface="Trebuchet MS"/>
                      </a:endParaRPr>
                    </a:p>
                  </a:txBody>
                  <a:tcPr marT="45725" marB="45725" marR="91450" marL="91450">
                    <a:solidFill>
                      <a:srgbClr val="1F4E79"/>
                    </a:solidFill>
                  </a:tcPr>
                </a:tc>
                <a:tc>
                  <a:txBody>
                    <a:bodyPr/>
                    <a:lstStyle/>
                    <a:p>
                      <a:pPr indent="0" lvl="0" marL="0" marR="0" rtl="0" algn="ctr">
                        <a:spcBef>
                          <a:spcPts val="0"/>
                        </a:spcBef>
                        <a:spcAft>
                          <a:spcPts val="0"/>
                        </a:spcAft>
                        <a:buNone/>
                      </a:pPr>
                      <a:r>
                        <a:rPr lang="en-US" sz="1600" u="none" cap="none" strike="noStrike">
                          <a:solidFill>
                            <a:srgbClr val="FFFFFF"/>
                          </a:solidFill>
                          <a:latin typeface="Trebuchet MS"/>
                          <a:ea typeface="Trebuchet MS"/>
                          <a:cs typeface="Trebuchet MS"/>
                          <a:sym typeface="Trebuchet MS"/>
                        </a:rPr>
                        <a:t>H4: (k×2) mod 10</a:t>
                      </a:r>
                      <a:endParaRPr sz="1600">
                        <a:latin typeface="Trebuchet MS"/>
                        <a:ea typeface="Trebuchet MS"/>
                        <a:cs typeface="Trebuchet MS"/>
                        <a:sym typeface="Trebuchet MS"/>
                      </a:endParaRPr>
                    </a:p>
                  </a:txBody>
                  <a:tcPr marT="45725" marB="45725" marR="91450" marL="91450">
                    <a:solidFill>
                      <a:srgbClr val="1F4E79"/>
                    </a:solidFill>
                  </a:tcPr>
                </a:tc>
              </a:tr>
              <a:tr h="434350">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15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1</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r>
              <a:tr h="434350">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25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2</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r>
              <a:tr h="434350">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35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3</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r>
              <a:tr h="434350">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45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4</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r>
              <a:tr h="434350">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r>
              <a:tr h="434350">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65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6</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r>
              <a:tr h="434350">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75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7</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r>
            </a:tbl>
          </a:graphicData>
        </a:graphic>
      </p:graphicFrame>
      <p:sp>
        <p:nvSpPr>
          <p:cNvPr id="349" name="Google Shape;349;g3f93ba2dd27_0_50"/>
          <p:cNvSpPr/>
          <p:nvPr/>
        </p:nvSpPr>
        <p:spPr>
          <a:xfrm>
            <a:off x="792300" y="4630798"/>
            <a:ext cx="10971600" cy="1553700"/>
          </a:xfrm>
          <a:prstGeom prst="roundRect">
            <a:avLst>
              <a:gd fmla="val 16667" name="adj"/>
            </a:avLst>
          </a:prstGeom>
          <a:solidFill>
            <a:srgbClr val="EAF2F8"/>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600" u="none" cap="none" strike="noStrike">
              <a:solidFill>
                <a:schemeClr val="dk1"/>
              </a:solidFill>
              <a:latin typeface="Trebuchet MS"/>
              <a:ea typeface="Trebuchet MS"/>
              <a:cs typeface="Trebuchet MS"/>
              <a:sym typeface="Trebuchet MS"/>
            </a:endParaRPr>
          </a:p>
        </p:txBody>
      </p:sp>
      <p:sp>
        <p:nvSpPr>
          <p:cNvPr id="350" name="Google Shape;350;g3f93ba2dd27_0_50"/>
          <p:cNvSpPr txBox="1"/>
          <p:nvPr/>
        </p:nvSpPr>
        <p:spPr>
          <a:xfrm>
            <a:off x="1020125" y="4803300"/>
            <a:ext cx="10834200" cy="13812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i="0" lang="en-US" sz="1600" u="none" cap="none" strike="noStrike">
                <a:solidFill>
                  <a:srgbClr val="282828"/>
                </a:solidFill>
                <a:latin typeface="Trebuchet MS"/>
                <a:ea typeface="Trebuchet MS"/>
                <a:cs typeface="Trebuchet MS"/>
                <a:sym typeface="Trebuchet MS"/>
              </a:rPr>
              <a:t>• H1: all keys go to index 5 → worst collision.</a:t>
            </a:r>
            <a:endParaRPr sz="1600">
              <a:latin typeface="Trebuchet MS"/>
              <a:ea typeface="Trebuchet MS"/>
              <a:cs typeface="Trebuchet MS"/>
              <a:sym typeface="Trebuchet MS"/>
            </a:endParaRPr>
          </a:p>
          <a:p>
            <a:pPr indent="0" lvl="0" marL="0" marR="0" rtl="0" algn="l">
              <a:lnSpc>
                <a:spcPct val="115000"/>
              </a:lnSpc>
              <a:spcBef>
                <a:spcPts val="0"/>
              </a:spcBef>
              <a:spcAft>
                <a:spcPts val="0"/>
              </a:spcAft>
              <a:buNone/>
            </a:pPr>
            <a:r>
              <a:rPr i="0" lang="en-US" sz="1600" u="none" cap="none" strike="noStrike">
                <a:solidFill>
                  <a:srgbClr val="282828"/>
                </a:solidFill>
                <a:latin typeface="Trebuchet MS"/>
                <a:ea typeface="Trebuchet MS"/>
                <a:cs typeface="Trebuchet MS"/>
                <a:sym typeface="Trebuchet MS"/>
              </a:rPr>
              <a:t>• H2: keys go to 1, 2, 3, 4, 5, 6, 7 → no collision.</a:t>
            </a:r>
            <a:endParaRPr sz="1600">
              <a:latin typeface="Trebuchet MS"/>
              <a:ea typeface="Trebuchet MS"/>
              <a:cs typeface="Trebuchet MS"/>
              <a:sym typeface="Trebuchet MS"/>
            </a:endParaRPr>
          </a:p>
          <a:p>
            <a:pPr indent="0" lvl="0" marL="0" marR="0" rtl="0" algn="l">
              <a:lnSpc>
                <a:spcPct val="115000"/>
              </a:lnSpc>
              <a:spcBef>
                <a:spcPts val="0"/>
              </a:spcBef>
              <a:spcAft>
                <a:spcPts val="0"/>
              </a:spcAft>
              <a:buNone/>
            </a:pPr>
            <a:r>
              <a:rPr i="0" lang="en-US" sz="1600" u="none" cap="none" strike="noStrike">
                <a:solidFill>
                  <a:srgbClr val="282828"/>
                </a:solidFill>
                <a:latin typeface="Trebuchet MS"/>
                <a:ea typeface="Trebuchet MS"/>
                <a:cs typeface="Trebuchet MS"/>
                <a:sym typeface="Trebuchet MS"/>
              </a:rPr>
              <a:t>• H3: all keys go to index 0 → worst collision.</a:t>
            </a:r>
            <a:endParaRPr sz="1600">
              <a:latin typeface="Trebuchet MS"/>
              <a:ea typeface="Trebuchet MS"/>
              <a:cs typeface="Trebuchet MS"/>
              <a:sym typeface="Trebuchet MS"/>
            </a:endParaRPr>
          </a:p>
          <a:p>
            <a:pPr indent="0" lvl="0" marL="0" marR="0" rtl="0" algn="l">
              <a:lnSpc>
                <a:spcPct val="115000"/>
              </a:lnSpc>
              <a:spcBef>
                <a:spcPts val="0"/>
              </a:spcBef>
              <a:spcAft>
                <a:spcPts val="0"/>
              </a:spcAft>
              <a:buNone/>
            </a:pPr>
            <a:r>
              <a:rPr i="0" lang="en-US" sz="1600" u="none" cap="none" strike="noStrike">
                <a:solidFill>
                  <a:srgbClr val="282828"/>
                </a:solidFill>
                <a:latin typeface="Trebuchet MS"/>
                <a:ea typeface="Trebuchet MS"/>
                <a:cs typeface="Trebuchet MS"/>
                <a:sym typeface="Trebuchet MS"/>
              </a:rPr>
              <a:t>• H4: all keys go to index 0 → worst collision.</a:t>
            </a:r>
            <a:endParaRPr sz="1600">
              <a:latin typeface="Trebuchet MS"/>
              <a:ea typeface="Trebuchet MS"/>
              <a:cs typeface="Trebuchet MS"/>
              <a:sym typeface="Trebuchet MS"/>
            </a:endParaRPr>
          </a:p>
        </p:txBody>
      </p:sp>
      <p:sp>
        <p:nvSpPr>
          <p:cNvPr id="351" name="Google Shape;351;g3f93ba2dd27_0_50"/>
          <p:cNvSpPr txBox="1"/>
          <p:nvPr/>
        </p:nvSpPr>
        <p:spPr>
          <a:xfrm>
            <a:off x="411491" y="6419088"/>
            <a:ext cx="1828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u="none" cap="none" strike="noStrike">
                <a:solidFill>
                  <a:srgbClr val="5F5F5F"/>
                </a:solidFill>
                <a:latin typeface="Trebuchet MS"/>
                <a:ea typeface="Trebuchet MS"/>
                <a:cs typeface="Trebuchet MS"/>
                <a:sym typeface="Trebuchet MS"/>
              </a:rPr>
              <a:t>Hashing</a:t>
            </a:r>
            <a:endParaRPr sz="1600">
              <a:latin typeface="Trebuchet MS"/>
              <a:ea typeface="Trebuchet MS"/>
              <a:cs typeface="Trebuchet MS"/>
              <a:sym typeface="Trebuchet MS"/>
            </a:endParaRPr>
          </a:p>
        </p:txBody>
      </p:sp>
      <p:sp>
        <p:nvSpPr>
          <p:cNvPr id="352" name="Google Shape;352;g3f93ba2dd27_0_50"/>
          <p:cNvSpPr txBox="1"/>
          <p:nvPr/>
        </p:nvSpPr>
        <p:spPr>
          <a:xfrm>
            <a:off x="10973093" y="6419088"/>
            <a:ext cx="731400" cy="338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1600" u="none" cap="none" strike="noStrike">
                <a:solidFill>
                  <a:srgbClr val="5F5F5F"/>
                </a:solidFill>
                <a:latin typeface="Trebuchet MS"/>
                <a:ea typeface="Trebuchet MS"/>
                <a:cs typeface="Trebuchet MS"/>
                <a:sym typeface="Trebuchet MS"/>
              </a:rPr>
              <a:t>4</a:t>
            </a:r>
            <a:endParaRPr sz="1600">
              <a:latin typeface="Trebuchet MS"/>
              <a:ea typeface="Trebuchet MS"/>
              <a:cs typeface="Trebuchet MS"/>
              <a:sym typeface="Trebuchet MS"/>
            </a:endParaRPr>
          </a:p>
        </p:txBody>
      </p:sp>
      <p:sp>
        <p:nvSpPr>
          <p:cNvPr id="353" name="Google Shape;353;g3f93ba2dd27_0_50"/>
          <p:cNvSpPr/>
          <p:nvPr/>
        </p:nvSpPr>
        <p:spPr>
          <a:xfrm>
            <a:off x="472505" y="79549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g3f93ba2dd27_0_151"/>
          <p:cNvSpPr/>
          <p:nvPr/>
        </p:nvSpPr>
        <p:spPr>
          <a:xfrm>
            <a:off x="0" y="0"/>
            <a:ext cx="12192000" cy="1830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9" name="Google Shape;359;g3f93ba2dd27_0_151"/>
          <p:cNvSpPr/>
          <p:nvPr/>
        </p:nvSpPr>
        <p:spPr>
          <a:xfrm>
            <a:off x="0" y="6675120"/>
            <a:ext cx="12192000" cy="1830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0" name="Google Shape;360;g3f93ba2dd27_0_151"/>
          <p:cNvSpPr txBox="1"/>
          <p:nvPr/>
        </p:nvSpPr>
        <p:spPr>
          <a:xfrm>
            <a:off x="411491" y="256032"/>
            <a:ext cx="11156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Working Out the Four Hash Functions</a:t>
            </a:r>
            <a:endParaRPr/>
          </a:p>
        </p:txBody>
      </p:sp>
      <p:graphicFrame>
        <p:nvGraphicFramePr>
          <p:cNvPr id="361" name="Google Shape;361;g3f93ba2dd27_0_151"/>
          <p:cNvGraphicFramePr/>
          <p:nvPr/>
        </p:nvGraphicFramePr>
        <p:xfrm>
          <a:off x="1182705" y="891567"/>
          <a:ext cx="3000000" cy="3000000"/>
        </p:xfrm>
        <a:graphic>
          <a:graphicData uri="http://schemas.openxmlformats.org/drawingml/2006/table">
            <a:tbl>
              <a:tblPr bandRow="1" firstRow="1">
                <a:noFill/>
                <a:tableStyleId>{DD94F819-1C7E-4F3F-9C7D-EC6BF9FAB339}</a:tableStyleId>
              </a:tblPr>
              <a:tblGrid>
                <a:gridCol w="914425"/>
                <a:gridCol w="1920300"/>
                <a:gridCol w="2377525"/>
                <a:gridCol w="2011725"/>
                <a:gridCol w="2011725"/>
              </a:tblGrid>
              <a:tr h="434350">
                <a:tc>
                  <a:txBody>
                    <a:bodyPr/>
                    <a:lstStyle/>
                    <a:p>
                      <a:pPr indent="0" lvl="0" marL="0" marR="0" rtl="0" algn="ctr">
                        <a:spcBef>
                          <a:spcPts val="0"/>
                        </a:spcBef>
                        <a:spcAft>
                          <a:spcPts val="0"/>
                        </a:spcAft>
                        <a:buNone/>
                      </a:pPr>
                      <a:r>
                        <a:rPr lang="en-US" sz="1600" u="none" cap="none" strike="noStrike">
                          <a:solidFill>
                            <a:srgbClr val="FFFFFF"/>
                          </a:solidFill>
                          <a:latin typeface="Trebuchet MS"/>
                          <a:ea typeface="Trebuchet MS"/>
                          <a:cs typeface="Trebuchet MS"/>
                          <a:sym typeface="Trebuchet MS"/>
                        </a:rPr>
                        <a:t>Key</a:t>
                      </a:r>
                      <a:endParaRPr sz="1600">
                        <a:latin typeface="Trebuchet MS"/>
                        <a:ea typeface="Trebuchet MS"/>
                        <a:cs typeface="Trebuchet MS"/>
                        <a:sym typeface="Trebuchet MS"/>
                      </a:endParaRPr>
                    </a:p>
                  </a:txBody>
                  <a:tcPr marT="45725" marB="45725" marR="91450" marL="91450">
                    <a:solidFill>
                      <a:srgbClr val="1F4E79"/>
                    </a:solidFill>
                  </a:tcPr>
                </a:tc>
                <a:tc>
                  <a:txBody>
                    <a:bodyPr/>
                    <a:lstStyle/>
                    <a:p>
                      <a:pPr indent="0" lvl="0" marL="0" marR="0" rtl="0" algn="ctr">
                        <a:spcBef>
                          <a:spcPts val="0"/>
                        </a:spcBef>
                        <a:spcAft>
                          <a:spcPts val="0"/>
                        </a:spcAft>
                        <a:buNone/>
                      </a:pPr>
                      <a:r>
                        <a:rPr lang="en-US" sz="1600" u="none" cap="none" strike="noStrike">
                          <a:solidFill>
                            <a:srgbClr val="FFFFFF"/>
                          </a:solidFill>
                          <a:latin typeface="Trebuchet MS"/>
                          <a:ea typeface="Trebuchet MS"/>
                          <a:cs typeface="Trebuchet MS"/>
                          <a:sym typeface="Trebuchet MS"/>
                        </a:rPr>
                        <a:t>H1: k mod 10</a:t>
                      </a:r>
                      <a:endParaRPr sz="1600">
                        <a:latin typeface="Trebuchet MS"/>
                        <a:ea typeface="Trebuchet MS"/>
                        <a:cs typeface="Trebuchet MS"/>
                        <a:sym typeface="Trebuchet MS"/>
                      </a:endParaRPr>
                    </a:p>
                  </a:txBody>
                  <a:tcPr marT="45725" marB="45725" marR="91450" marL="91450">
                    <a:solidFill>
                      <a:srgbClr val="1F4E79"/>
                    </a:solidFill>
                  </a:tcPr>
                </a:tc>
                <a:tc>
                  <a:txBody>
                    <a:bodyPr/>
                    <a:lstStyle/>
                    <a:p>
                      <a:pPr indent="0" lvl="0" marL="0" marR="0" rtl="0" algn="ctr">
                        <a:spcBef>
                          <a:spcPts val="0"/>
                        </a:spcBef>
                        <a:spcAft>
                          <a:spcPts val="0"/>
                        </a:spcAft>
                        <a:buNone/>
                      </a:pPr>
                      <a:r>
                        <a:rPr lang="en-US" sz="1600" u="none" cap="none" strike="noStrike">
                          <a:solidFill>
                            <a:srgbClr val="FFFFFF"/>
                          </a:solidFill>
                          <a:latin typeface="Trebuchet MS"/>
                          <a:ea typeface="Trebuchet MS"/>
                          <a:cs typeface="Trebuchet MS"/>
                          <a:sym typeface="Trebuchet MS"/>
                        </a:rPr>
                        <a:t>H2: (k/10) mod 10</a:t>
                      </a:r>
                      <a:endParaRPr sz="1600">
                        <a:latin typeface="Trebuchet MS"/>
                        <a:ea typeface="Trebuchet MS"/>
                        <a:cs typeface="Trebuchet MS"/>
                        <a:sym typeface="Trebuchet MS"/>
                      </a:endParaRPr>
                    </a:p>
                  </a:txBody>
                  <a:tcPr marT="45725" marB="45725" marR="91450" marL="91450">
                    <a:solidFill>
                      <a:srgbClr val="1F4E79"/>
                    </a:solidFill>
                  </a:tcPr>
                </a:tc>
                <a:tc>
                  <a:txBody>
                    <a:bodyPr/>
                    <a:lstStyle/>
                    <a:p>
                      <a:pPr indent="0" lvl="0" marL="0" marR="0" rtl="0" algn="ctr">
                        <a:spcBef>
                          <a:spcPts val="0"/>
                        </a:spcBef>
                        <a:spcAft>
                          <a:spcPts val="0"/>
                        </a:spcAft>
                        <a:buNone/>
                      </a:pPr>
                      <a:r>
                        <a:rPr lang="en-US" sz="1600" u="none" cap="none" strike="noStrike">
                          <a:solidFill>
                            <a:srgbClr val="FFFFFF"/>
                          </a:solidFill>
                          <a:latin typeface="Trebuchet MS"/>
                          <a:ea typeface="Trebuchet MS"/>
                          <a:cs typeface="Trebuchet MS"/>
                          <a:sym typeface="Trebuchet MS"/>
                        </a:rPr>
                        <a:t>H3: (k+5) mod 10</a:t>
                      </a:r>
                      <a:endParaRPr sz="1600">
                        <a:latin typeface="Trebuchet MS"/>
                        <a:ea typeface="Trebuchet MS"/>
                        <a:cs typeface="Trebuchet MS"/>
                        <a:sym typeface="Trebuchet MS"/>
                      </a:endParaRPr>
                    </a:p>
                  </a:txBody>
                  <a:tcPr marT="45725" marB="45725" marR="91450" marL="91450">
                    <a:solidFill>
                      <a:srgbClr val="1F4E79"/>
                    </a:solidFill>
                  </a:tcPr>
                </a:tc>
                <a:tc>
                  <a:txBody>
                    <a:bodyPr/>
                    <a:lstStyle/>
                    <a:p>
                      <a:pPr indent="0" lvl="0" marL="0" marR="0" rtl="0" algn="ctr">
                        <a:spcBef>
                          <a:spcPts val="0"/>
                        </a:spcBef>
                        <a:spcAft>
                          <a:spcPts val="0"/>
                        </a:spcAft>
                        <a:buNone/>
                      </a:pPr>
                      <a:r>
                        <a:rPr lang="en-US" sz="1600" u="none" cap="none" strike="noStrike">
                          <a:solidFill>
                            <a:srgbClr val="FFFFFF"/>
                          </a:solidFill>
                          <a:latin typeface="Trebuchet MS"/>
                          <a:ea typeface="Trebuchet MS"/>
                          <a:cs typeface="Trebuchet MS"/>
                          <a:sym typeface="Trebuchet MS"/>
                        </a:rPr>
                        <a:t>H4: (k×2) mod 10</a:t>
                      </a:r>
                      <a:endParaRPr sz="1600">
                        <a:latin typeface="Trebuchet MS"/>
                        <a:ea typeface="Trebuchet MS"/>
                        <a:cs typeface="Trebuchet MS"/>
                        <a:sym typeface="Trebuchet MS"/>
                      </a:endParaRPr>
                    </a:p>
                  </a:txBody>
                  <a:tcPr marT="45725" marB="45725" marR="91450" marL="91450">
                    <a:solidFill>
                      <a:srgbClr val="1F4E79"/>
                    </a:solidFill>
                  </a:tcPr>
                </a:tc>
              </a:tr>
              <a:tr h="434350">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15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1</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r>
              <a:tr h="434350">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25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2</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r>
              <a:tr h="434350">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35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3</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r>
              <a:tr h="434350">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45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4</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r>
              <a:tr h="434350">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r>
              <a:tr h="434350">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65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6</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r>
              <a:tr h="434350">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75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5</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7</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c>
                  <a:txBody>
                    <a:bodyPr/>
                    <a:lstStyle/>
                    <a:p>
                      <a:pPr indent="0" lvl="0" marL="0" marR="0" rtl="0" algn="ctr">
                        <a:spcBef>
                          <a:spcPts val="0"/>
                        </a:spcBef>
                        <a:spcAft>
                          <a:spcPts val="0"/>
                        </a:spcAft>
                        <a:buNone/>
                      </a:pPr>
                      <a:r>
                        <a:rPr lang="en-US" sz="1600" u="none" cap="none" strike="noStrike">
                          <a:solidFill>
                            <a:srgbClr val="282828"/>
                          </a:solidFill>
                          <a:latin typeface="Trebuchet MS"/>
                          <a:ea typeface="Trebuchet MS"/>
                          <a:cs typeface="Trebuchet MS"/>
                          <a:sym typeface="Trebuchet MS"/>
                        </a:rPr>
                        <a:t>0</a:t>
                      </a:r>
                      <a:endParaRPr sz="1600">
                        <a:latin typeface="Trebuchet MS"/>
                        <a:ea typeface="Trebuchet MS"/>
                        <a:cs typeface="Trebuchet MS"/>
                        <a:sym typeface="Trebuchet MS"/>
                      </a:endParaRPr>
                    </a:p>
                  </a:txBody>
                  <a:tcPr marT="45725" marB="45725" marR="91450" marL="91450">
                    <a:solidFill>
                      <a:srgbClr val="FFFFFF"/>
                    </a:solidFill>
                  </a:tcPr>
                </a:tc>
              </a:tr>
            </a:tbl>
          </a:graphicData>
        </a:graphic>
      </p:graphicFrame>
      <p:sp>
        <p:nvSpPr>
          <p:cNvPr id="362" name="Google Shape;362;g3f93ba2dd27_0_151"/>
          <p:cNvSpPr/>
          <p:nvPr/>
        </p:nvSpPr>
        <p:spPr>
          <a:xfrm>
            <a:off x="792300" y="4553751"/>
            <a:ext cx="10971600" cy="1688700"/>
          </a:xfrm>
          <a:prstGeom prst="roundRect">
            <a:avLst>
              <a:gd fmla="val 16667" name="adj"/>
            </a:avLst>
          </a:prstGeom>
          <a:solidFill>
            <a:srgbClr val="EAF2F8"/>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600" u="none" cap="none" strike="noStrike">
              <a:solidFill>
                <a:schemeClr val="dk1"/>
              </a:solidFill>
              <a:latin typeface="Trebuchet MS"/>
              <a:ea typeface="Trebuchet MS"/>
              <a:cs typeface="Trebuchet MS"/>
              <a:sym typeface="Trebuchet MS"/>
            </a:endParaRPr>
          </a:p>
        </p:txBody>
      </p:sp>
      <p:sp>
        <p:nvSpPr>
          <p:cNvPr id="363" name="Google Shape;363;g3f93ba2dd27_0_151"/>
          <p:cNvSpPr txBox="1"/>
          <p:nvPr/>
        </p:nvSpPr>
        <p:spPr>
          <a:xfrm>
            <a:off x="1058950" y="4702138"/>
            <a:ext cx="10834200" cy="1381200"/>
          </a:xfrm>
          <a:prstGeom prst="rect">
            <a:avLst/>
          </a:prstGeom>
          <a:noFill/>
          <a:ln>
            <a:noFill/>
          </a:ln>
        </p:spPr>
        <p:txBody>
          <a:bodyPr anchorCtr="0" anchor="t" bIns="45700" lIns="91425" spcFirstLastPara="1" rIns="91425" wrap="square" tIns="45700">
            <a:noAutofit/>
          </a:bodyPr>
          <a:lstStyle/>
          <a:p>
            <a:pPr indent="-330200" lvl="0" marL="457200" rtl="0" algn="l">
              <a:lnSpc>
                <a:spcPct val="150000"/>
              </a:lnSpc>
              <a:spcBef>
                <a:spcPts val="0"/>
              </a:spcBef>
              <a:spcAft>
                <a:spcPts val="0"/>
              </a:spcAft>
              <a:buClr>
                <a:srgbClr val="282828"/>
              </a:buClr>
              <a:buSzPts val="1600"/>
              <a:buFont typeface="Trebuchet MS"/>
              <a:buChar char="●"/>
            </a:pPr>
            <a:r>
              <a:rPr lang="en-US" sz="1600">
                <a:solidFill>
                  <a:srgbClr val="282828"/>
                </a:solidFill>
                <a:latin typeface="Trebuchet MS"/>
                <a:ea typeface="Trebuchet MS"/>
                <a:cs typeface="Trebuchet MS"/>
                <a:sym typeface="Trebuchet MS"/>
              </a:rPr>
              <a:t>Best choice: H2(k) = (k / 10) mod 10</a:t>
            </a:r>
            <a:endParaRPr sz="1600">
              <a:solidFill>
                <a:schemeClr val="dk1"/>
              </a:solidFill>
              <a:latin typeface="Trebuchet MS"/>
              <a:ea typeface="Trebuchet MS"/>
              <a:cs typeface="Trebuchet MS"/>
              <a:sym typeface="Trebuchet MS"/>
            </a:endParaRPr>
          </a:p>
          <a:p>
            <a:pPr indent="-330200" lvl="1" marL="914400" rtl="0" algn="l">
              <a:lnSpc>
                <a:spcPct val="150000"/>
              </a:lnSpc>
              <a:spcBef>
                <a:spcPts val="0"/>
              </a:spcBef>
              <a:spcAft>
                <a:spcPts val="0"/>
              </a:spcAft>
              <a:buClr>
                <a:srgbClr val="282828"/>
              </a:buClr>
              <a:buSzPts val="1600"/>
              <a:buFont typeface="Trebuchet MS"/>
              <a:buChar char="○"/>
            </a:pPr>
            <a:r>
              <a:rPr lang="en-US" sz="1600">
                <a:solidFill>
                  <a:srgbClr val="282828"/>
                </a:solidFill>
                <a:latin typeface="Trebuchet MS"/>
                <a:ea typeface="Trebuchet MS"/>
                <a:cs typeface="Trebuchet MS"/>
                <a:sym typeface="Trebuchet MS"/>
              </a:rPr>
              <a:t>Reason: </a:t>
            </a:r>
            <a:endParaRPr sz="1600">
              <a:solidFill>
                <a:srgbClr val="282828"/>
              </a:solidFill>
              <a:latin typeface="Trebuchet MS"/>
              <a:ea typeface="Trebuchet MS"/>
              <a:cs typeface="Trebuchet MS"/>
              <a:sym typeface="Trebuchet MS"/>
            </a:endParaRPr>
          </a:p>
          <a:p>
            <a:pPr indent="-330200" lvl="2" marL="1371600" rtl="0" algn="l">
              <a:lnSpc>
                <a:spcPct val="150000"/>
              </a:lnSpc>
              <a:spcBef>
                <a:spcPts val="0"/>
              </a:spcBef>
              <a:spcAft>
                <a:spcPts val="0"/>
              </a:spcAft>
              <a:buClr>
                <a:srgbClr val="282828"/>
              </a:buClr>
              <a:buSzPts val="1600"/>
              <a:buFont typeface="Trebuchet MS"/>
              <a:buChar char="■"/>
            </a:pPr>
            <a:r>
              <a:rPr lang="en-US" sz="1600">
                <a:solidFill>
                  <a:srgbClr val="282828"/>
                </a:solidFill>
                <a:latin typeface="Trebuchet MS"/>
                <a:ea typeface="Trebuchet MS"/>
                <a:cs typeface="Trebuchet MS"/>
                <a:sym typeface="Trebuchet MS"/>
              </a:rPr>
              <a:t>Each key produces a different index, so collisions are minimized.</a:t>
            </a:r>
            <a:endParaRPr sz="1600">
              <a:solidFill>
                <a:schemeClr val="dk1"/>
              </a:solidFill>
              <a:latin typeface="Trebuchet MS"/>
              <a:ea typeface="Trebuchet MS"/>
              <a:cs typeface="Trebuchet MS"/>
              <a:sym typeface="Trebuchet MS"/>
            </a:endParaRPr>
          </a:p>
          <a:p>
            <a:pPr indent="-330200" lvl="2" marL="1371600" rtl="0" algn="l">
              <a:lnSpc>
                <a:spcPct val="150000"/>
              </a:lnSpc>
              <a:spcBef>
                <a:spcPts val="0"/>
              </a:spcBef>
              <a:spcAft>
                <a:spcPts val="0"/>
              </a:spcAft>
              <a:buClr>
                <a:srgbClr val="282828"/>
              </a:buClr>
              <a:buSzPts val="1600"/>
              <a:buFont typeface="Trebuchet MS"/>
              <a:buChar char="■"/>
            </a:pPr>
            <a:r>
              <a:rPr lang="en-US" sz="1600">
                <a:solidFill>
                  <a:srgbClr val="282828"/>
                </a:solidFill>
                <a:latin typeface="Trebuchet MS"/>
                <a:ea typeface="Trebuchet MS"/>
                <a:cs typeface="Trebuchet MS"/>
                <a:sym typeface="Trebuchet MS"/>
              </a:rPr>
              <a:t>H1, H3, and H4 all create very poor distributions for this particular set of keys.</a:t>
            </a:r>
            <a:endParaRPr sz="1600">
              <a:solidFill>
                <a:srgbClr val="282828"/>
              </a:solidFill>
              <a:latin typeface="Trebuchet MS"/>
              <a:ea typeface="Trebuchet MS"/>
              <a:cs typeface="Trebuchet MS"/>
              <a:sym typeface="Trebuchet MS"/>
            </a:endParaRPr>
          </a:p>
        </p:txBody>
      </p:sp>
      <p:sp>
        <p:nvSpPr>
          <p:cNvPr id="364" name="Google Shape;364;g3f93ba2dd27_0_151"/>
          <p:cNvSpPr txBox="1"/>
          <p:nvPr/>
        </p:nvSpPr>
        <p:spPr>
          <a:xfrm>
            <a:off x="411491" y="6419088"/>
            <a:ext cx="1828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600" u="none" cap="none" strike="noStrike">
                <a:solidFill>
                  <a:srgbClr val="5F5F5F"/>
                </a:solidFill>
                <a:latin typeface="Trebuchet MS"/>
                <a:ea typeface="Trebuchet MS"/>
                <a:cs typeface="Trebuchet MS"/>
                <a:sym typeface="Trebuchet MS"/>
              </a:rPr>
              <a:t>Hashing</a:t>
            </a:r>
            <a:endParaRPr sz="1600">
              <a:latin typeface="Trebuchet MS"/>
              <a:ea typeface="Trebuchet MS"/>
              <a:cs typeface="Trebuchet MS"/>
              <a:sym typeface="Trebuchet MS"/>
            </a:endParaRPr>
          </a:p>
        </p:txBody>
      </p:sp>
      <p:sp>
        <p:nvSpPr>
          <p:cNvPr id="365" name="Google Shape;365;g3f93ba2dd27_0_151"/>
          <p:cNvSpPr txBox="1"/>
          <p:nvPr/>
        </p:nvSpPr>
        <p:spPr>
          <a:xfrm>
            <a:off x="10973093" y="6419088"/>
            <a:ext cx="731400" cy="3387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0" lang="en-US" sz="1600" u="none" cap="none" strike="noStrike">
                <a:solidFill>
                  <a:srgbClr val="5F5F5F"/>
                </a:solidFill>
                <a:latin typeface="Trebuchet MS"/>
                <a:ea typeface="Trebuchet MS"/>
                <a:cs typeface="Trebuchet MS"/>
                <a:sym typeface="Trebuchet MS"/>
              </a:rPr>
              <a:t>4</a:t>
            </a:r>
            <a:endParaRPr sz="1600">
              <a:latin typeface="Trebuchet MS"/>
              <a:ea typeface="Trebuchet MS"/>
              <a:cs typeface="Trebuchet MS"/>
              <a:sym typeface="Trebuchet MS"/>
            </a:endParaRPr>
          </a:p>
        </p:txBody>
      </p:sp>
      <p:sp>
        <p:nvSpPr>
          <p:cNvPr id="366" name="Google Shape;366;g3f93ba2dd27_0_151"/>
          <p:cNvSpPr/>
          <p:nvPr/>
        </p:nvSpPr>
        <p:spPr>
          <a:xfrm>
            <a:off x="8746500" y="4611698"/>
            <a:ext cx="3017400" cy="567600"/>
          </a:xfrm>
          <a:prstGeom prst="roundRect">
            <a:avLst>
              <a:gd fmla="val 16667" name="adj"/>
            </a:avLst>
          </a:prstGeom>
          <a:solidFill>
            <a:srgbClr val="E2EFDA"/>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g3f93ba2dd27_0_151"/>
          <p:cNvSpPr txBox="1"/>
          <p:nvPr/>
        </p:nvSpPr>
        <p:spPr>
          <a:xfrm>
            <a:off x="8746500" y="4611690"/>
            <a:ext cx="3017400" cy="461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17365D"/>
                </a:solidFill>
                <a:latin typeface="Calibri"/>
                <a:ea typeface="Calibri"/>
                <a:cs typeface="Calibri"/>
                <a:sym typeface="Calibri"/>
              </a:rPr>
              <a:t>Final Answer:  (b) H2</a:t>
            </a:r>
            <a:endParaRPr/>
          </a:p>
        </p:txBody>
      </p:sp>
      <p:sp>
        <p:nvSpPr>
          <p:cNvPr id="368" name="Google Shape;368;g3f93ba2dd27_0_151"/>
          <p:cNvSpPr/>
          <p:nvPr/>
        </p:nvSpPr>
        <p:spPr>
          <a:xfrm>
            <a:off x="366055" y="79549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2" name="Shape 372"/>
        <p:cNvGrpSpPr/>
        <p:nvPr/>
      </p:nvGrpSpPr>
      <p:grpSpPr>
        <a:xfrm>
          <a:off x="0" y="0"/>
          <a:ext cx="0" cy="0"/>
          <a:chOff x="0" y="0"/>
          <a:chExt cx="0" cy="0"/>
        </a:xfrm>
      </p:grpSpPr>
      <p:sp>
        <p:nvSpPr>
          <p:cNvPr id="373" name="Google Shape;373;g3f93ba2dd27_0_61"/>
          <p:cNvSpPr/>
          <p:nvPr/>
        </p:nvSpPr>
        <p:spPr>
          <a:xfrm>
            <a:off x="0" y="0"/>
            <a:ext cx="12192000" cy="1830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4" name="Google Shape;374;g3f93ba2dd27_0_61"/>
          <p:cNvSpPr/>
          <p:nvPr/>
        </p:nvSpPr>
        <p:spPr>
          <a:xfrm>
            <a:off x="0" y="6675120"/>
            <a:ext cx="12192000" cy="1830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g3f93ba2dd27_0_61"/>
          <p:cNvSpPr txBox="1"/>
          <p:nvPr/>
        </p:nvSpPr>
        <p:spPr>
          <a:xfrm>
            <a:off x="456916" y="363582"/>
            <a:ext cx="11156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17365D"/>
                </a:solidFill>
                <a:latin typeface="Calibri"/>
                <a:ea typeface="Calibri"/>
                <a:cs typeface="Calibri"/>
                <a:sym typeface="Calibri"/>
              </a:rPr>
              <a:t>Key </a:t>
            </a:r>
            <a:r>
              <a:rPr b="1" lang="en-US" sz="2400">
                <a:solidFill>
                  <a:srgbClr val="17365D"/>
                </a:solidFill>
                <a:latin typeface="Calibri"/>
                <a:ea typeface="Calibri"/>
                <a:cs typeface="Calibri"/>
                <a:sym typeface="Calibri"/>
              </a:rPr>
              <a:t>Takeaway</a:t>
            </a:r>
            <a:r>
              <a:rPr b="1" lang="en-US" sz="2400">
                <a:solidFill>
                  <a:srgbClr val="17365D"/>
                </a:solidFill>
                <a:latin typeface="Calibri"/>
                <a:ea typeface="Calibri"/>
                <a:cs typeface="Calibri"/>
                <a:sym typeface="Calibri"/>
              </a:rPr>
              <a:t> from the Previous Example</a:t>
            </a:r>
            <a:endParaRPr/>
          </a:p>
        </p:txBody>
      </p:sp>
      <p:sp>
        <p:nvSpPr>
          <p:cNvPr id="376" name="Google Shape;376;g3f93ba2dd27_0_61"/>
          <p:cNvSpPr txBox="1"/>
          <p:nvPr/>
        </p:nvSpPr>
        <p:spPr>
          <a:xfrm>
            <a:off x="777245" y="1417325"/>
            <a:ext cx="9265500" cy="3566100"/>
          </a:xfrm>
          <a:prstGeom prst="rect">
            <a:avLst/>
          </a:prstGeom>
          <a:noFill/>
          <a:ln>
            <a:noFill/>
          </a:ln>
        </p:spPr>
        <p:txBody>
          <a:bodyPr anchorCtr="0" anchor="t" bIns="45700" lIns="91425" spcFirstLastPara="1" rIns="91425" wrap="square" tIns="45700">
            <a:normAutofit/>
          </a:bodyPr>
          <a:lstStyle/>
          <a:p>
            <a:pPr indent="-330200" lvl="0" marL="457200" rtl="0" algn="l">
              <a:lnSpc>
                <a:spcPct val="200000"/>
              </a:lnSpc>
              <a:spcBef>
                <a:spcPts val="0"/>
              </a:spcBef>
              <a:spcAft>
                <a:spcPts val="0"/>
              </a:spcAft>
              <a:buClr>
                <a:srgbClr val="282828"/>
              </a:buClr>
              <a:buSzPts val="1600"/>
              <a:buFont typeface="Trebuchet MS"/>
              <a:buChar char="●"/>
            </a:pPr>
            <a:r>
              <a:rPr lang="en-US" sz="1600">
                <a:solidFill>
                  <a:schemeClr val="dk1"/>
                </a:solidFill>
                <a:latin typeface="Trebuchet MS"/>
                <a:ea typeface="Trebuchet MS"/>
                <a:cs typeface="Trebuchet MS"/>
                <a:sym typeface="Trebuchet MS"/>
              </a:rPr>
              <a:t>Using </a:t>
            </a:r>
            <a:r>
              <a:rPr b="1" lang="en-US" sz="1600">
                <a:solidFill>
                  <a:schemeClr val="dk1"/>
                </a:solidFill>
                <a:latin typeface="Trebuchet MS"/>
                <a:ea typeface="Trebuchet MS"/>
                <a:cs typeface="Trebuchet MS"/>
                <a:sym typeface="Trebuchet MS"/>
              </a:rPr>
              <a:t>mod n</a:t>
            </a:r>
            <a:r>
              <a:rPr lang="en-US" sz="1600">
                <a:solidFill>
                  <a:schemeClr val="dk1"/>
                </a:solidFill>
                <a:latin typeface="Trebuchet MS"/>
                <a:ea typeface="Trebuchet MS"/>
                <a:cs typeface="Trebuchet MS"/>
                <a:sym typeface="Trebuchet MS"/>
              </a:rPr>
              <a:t> keeps the index within the valid range.</a:t>
            </a:r>
            <a:endParaRPr sz="1600">
              <a:solidFill>
                <a:schemeClr val="dk1"/>
              </a:solidFill>
              <a:latin typeface="Trebuchet MS"/>
              <a:ea typeface="Trebuchet MS"/>
              <a:cs typeface="Trebuchet MS"/>
              <a:sym typeface="Trebuchet MS"/>
            </a:endParaRPr>
          </a:p>
          <a:p>
            <a:pPr indent="-330200" lvl="0" marL="457200" rtl="0" algn="l">
              <a:lnSpc>
                <a:spcPct val="200000"/>
              </a:lnSpc>
              <a:spcBef>
                <a:spcPts val="0"/>
              </a:spcBef>
              <a:spcAft>
                <a:spcPts val="0"/>
              </a:spcAft>
              <a:buClr>
                <a:srgbClr val="CC0000"/>
              </a:buClr>
              <a:buSzPts val="1600"/>
              <a:buFont typeface="Trebuchet MS"/>
              <a:buChar char="●"/>
            </a:pPr>
            <a:r>
              <a:rPr b="1" lang="en-US" sz="1600">
                <a:solidFill>
                  <a:srgbClr val="CC0000"/>
                </a:solidFill>
                <a:latin typeface="Trebuchet MS"/>
                <a:ea typeface="Trebuchet MS"/>
                <a:cs typeface="Trebuchet MS"/>
                <a:sym typeface="Trebuchet MS"/>
              </a:rPr>
              <a:t>However, it does not guarantee </a:t>
            </a:r>
            <a:r>
              <a:rPr b="1" lang="en-US" sz="1600" u="sng">
                <a:solidFill>
                  <a:srgbClr val="CC0000"/>
                </a:solidFill>
                <a:latin typeface="Trebuchet MS"/>
                <a:ea typeface="Trebuchet MS"/>
                <a:cs typeface="Trebuchet MS"/>
                <a:sym typeface="Trebuchet MS"/>
              </a:rPr>
              <a:t>an even distribution of keys.</a:t>
            </a:r>
            <a:endParaRPr b="1" sz="1600" u="sng">
              <a:solidFill>
                <a:srgbClr val="CC0000"/>
              </a:solidFill>
              <a:latin typeface="Trebuchet MS"/>
              <a:ea typeface="Trebuchet MS"/>
              <a:cs typeface="Trebuchet MS"/>
              <a:sym typeface="Trebuchet MS"/>
            </a:endParaRPr>
          </a:p>
          <a:p>
            <a:pPr indent="-330200" lvl="0" marL="457200" rtl="0" algn="l">
              <a:lnSpc>
                <a:spcPct val="200000"/>
              </a:lnSpc>
              <a:spcBef>
                <a:spcPts val="0"/>
              </a:spcBef>
              <a:spcAft>
                <a:spcPts val="0"/>
              </a:spcAft>
              <a:buClr>
                <a:srgbClr val="282828"/>
              </a:buClr>
              <a:buSzPts val="1600"/>
              <a:buFont typeface="Trebuchet MS"/>
              <a:buChar char="●"/>
            </a:pPr>
            <a:r>
              <a:rPr lang="en-US" sz="1600">
                <a:solidFill>
                  <a:schemeClr val="dk1"/>
                </a:solidFill>
                <a:latin typeface="Trebuchet MS"/>
                <a:ea typeface="Trebuchet MS"/>
                <a:cs typeface="Trebuchet MS"/>
                <a:sym typeface="Trebuchet MS"/>
              </a:rPr>
              <a:t>The hash function must be evaluated based on:</a:t>
            </a:r>
            <a:endParaRPr sz="1600">
              <a:solidFill>
                <a:schemeClr val="dk1"/>
              </a:solidFill>
              <a:latin typeface="Trebuchet MS"/>
              <a:ea typeface="Trebuchet MS"/>
              <a:cs typeface="Trebuchet MS"/>
              <a:sym typeface="Trebuchet MS"/>
            </a:endParaRPr>
          </a:p>
          <a:p>
            <a:pPr indent="-330200" lvl="0" marL="1371600" rtl="0" algn="l">
              <a:lnSpc>
                <a:spcPct val="200000"/>
              </a:lnSpc>
              <a:spcBef>
                <a:spcPts val="0"/>
              </a:spcBef>
              <a:spcAft>
                <a:spcPts val="0"/>
              </a:spcAft>
              <a:buClr>
                <a:schemeClr val="dk1"/>
              </a:buClr>
              <a:buSzPts val="1600"/>
              <a:buFont typeface="Trebuchet MS"/>
              <a:buChar char="●"/>
            </a:pPr>
            <a:r>
              <a:rPr lang="en-US" sz="1600">
                <a:solidFill>
                  <a:schemeClr val="dk1"/>
                </a:solidFill>
                <a:latin typeface="Trebuchet MS"/>
                <a:ea typeface="Trebuchet MS"/>
                <a:cs typeface="Trebuchet MS"/>
                <a:sym typeface="Trebuchet MS"/>
              </a:rPr>
              <a:t>How </a:t>
            </a:r>
            <a:r>
              <a:rPr lang="en-US" sz="1600" u="sng">
                <a:solidFill>
                  <a:schemeClr val="dk1"/>
                </a:solidFill>
                <a:latin typeface="Trebuchet MS"/>
                <a:ea typeface="Trebuchet MS"/>
                <a:cs typeface="Trebuchet MS"/>
                <a:sym typeface="Trebuchet MS"/>
              </a:rPr>
              <a:t>evenly/uniformly it distributes</a:t>
            </a:r>
            <a:r>
              <a:rPr lang="en-US" sz="1600">
                <a:solidFill>
                  <a:schemeClr val="dk1"/>
                </a:solidFill>
                <a:latin typeface="Trebuchet MS"/>
                <a:ea typeface="Trebuchet MS"/>
                <a:cs typeface="Trebuchet MS"/>
                <a:sym typeface="Trebuchet MS"/>
              </a:rPr>
              <a:t> the given keys</a:t>
            </a:r>
            <a:endParaRPr sz="1600">
              <a:solidFill>
                <a:schemeClr val="dk1"/>
              </a:solidFill>
              <a:latin typeface="Trebuchet MS"/>
              <a:ea typeface="Trebuchet MS"/>
              <a:cs typeface="Trebuchet MS"/>
              <a:sym typeface="Trebuchet MS"/>
            </a:endParaRPr>
          </a:p>
          <a:p>
            <a:pPr indent="-330200" lvl="0" marL="1371600" rtl="0" algn="l">
              <a:lnSpc>
                <a:spcPct val="200000"/>
              </a:lnSpc>
              <a:spcBef>
                <a:spcPts val="0"/>
              </a:spcBef>
              <a:spcAft>
                <a:spcPts val="0"/>
              </a:spcAft>
              <a:buClr>
                <a:schemeClr val="dk1"/>
              </a:buClr>
              <a:buSzPts val="1600"/>
              <a:buFont typeface="Trebuchet MS"/>
              <a:buChar char="●"/>
            </a:pPr>
            <a:r>
              <a:rPr lang="en-US" sz="1600">
                <a:solidFill>
                  <a:schemeClr val="dk1"/>
                </a:solidFill>
                <a:latin typeface="Trebuchet MS"/>
                <a:ea typeface="Trebuchet MS"/>
                <a:cs typeface="Trebuchet MS"/>
                <a:sym typeface="Trebuchet MS"/>
              </a:rPr>
              <a:t>How effectively it </a:t>
            </a:r>
            <a:r>
              <a:rPr lang="en-US" sz="1600" u="sng">
                <a:solidFill>
                  <a:schemeClr val="dk1"/>
                </a:solidFill>
                <a:latin typeface="Trebuchet MS"/>
                <a:ea typeface="Trebuchet MS"/>
                <a:cs typeface="Trebuchet MS"/>
                <a:sym typeface="Trebuchet MS"/>
              </a:rPr>
              <a:t>minimizes collisions</a:t>
            </a:r>
            <a:endParaRPr sz="1600" u="sng">
              <a:solidFill>
                <a:srgbClr val="282828"/>
              </a:solidFill>
              <a:latin typeface="Trebuchet MS"/>
              <a:ea typeface="Trebuchet MS"/>
              <a:cs typeface="Trebuchet MS"/>
              <a:sym typeface="Trebuchet MS"/>
            </a:endParaRPr>
          </a:p>
        </p:txBody>
      </p:sp>
      <p:sp>
        <p:nvSpPr>
          <p:cNvPr id="377" name="Google Shape;377;g3f93ba2dd27_0_61"/>
          <p:cNvSpPr txBox="1"/>
          <p:nvPr/>
        </p:nvSpPr>
        <p:spPr>
          <a:xfrm>
            <a:off x="411491" y="6419088"/>
            <a:ext cx="18288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5F5F"/>
                </a:solidFill>
                <a:latin typeface="Calibri"/>
                <a:ea typeface="Calibri"/>
                <a:cs typeface="Calibri"/>
                <a:sym typeface="Calibri"/>
              </a:rPr>
              <a:t>Hashing</a:t>
            </a:r>
            <a:endParaRPr/>
          </a:p>
        </p:txBody>
      </p:sp>
      <p:sp>
        <p:nvSpPr>
          <p:cNvPr id="378" name="Google Shape;378;g3f93ba2dd27_0_61"/>
          <p:cNvSpPr txBox="1"/>
          <p:nvPr/>
        </p:nvSpPr>
        <p:spPr>
          <a:xfrm>
            <a:off x="10973093" y="6419088"/>
            <a:ext cx="7314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5F5F"/>
                </a:solidFill>
                <a:latin typeface="Calibri"/>
                <a:ea typeface="Calibri"/>
                <a:cs typeface="Calibri"/>
                <a:sym typeface="Calibri"/>
              </a:rPr>
              <a:t>5</a:t>
            </a:r>
            <a:endParaRPr/>
          </a:p>
        </p:txBody>
      </p:sp>
      <p:sp>
        <p:nvSpPr>
          <p:cNvPr id="379" name="Google Shape;379;g3f93ba2dd27_0_61"/>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sp>
        <p:nvSpPr>
          <p:cNvPr id="384" name="Google Shape;384;p18"/>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5" name="Google Shape;385;p18"/>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6" name="Google Shape;386;p18"/>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Collisions </a:t>
            </a:r>
            <a:endParaRPr/>
          </a:p>
        </p:txBody>
      </p:sp>
      <p:sp>
        <p:nvSpPr>
          <p:cNvPr id="387" name="Google Shape;387;p18"/>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8" name="Google Shape;388;p18"/>
          <p:cNvSpPr txBox="1"/>
          <p:nvPr/>
        </p:nvSpPr>
        <p:spPr>
          <a:xfrm>
            <a:off x="632638" y="1210575"/>
            <a:ext cx="10804800" cy="982500"/>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rPr i="0" lang="en-US" sz="1700" u="none" cap="none" strike="noStrike">
                <a:solidFill>
                  <a:srgbClr val="1E293B"/>
                </a:solidFill>
                <a:latin typeface="Trebuchet MS"/>
                <a:ea typeface="Trebuchet MS"/>
                <a:cs typeface="Trebuchet MS"/>
                <a:sym typeface="Trebuchet MS"/>
              </a:rPr>
              <a:t>Sometimes a hash function applied to </a:t>
            </a:r>
            <a:r>
              <a:rPr b="1" i="0" lang="en-US" sz="1700" u="sng" cap="none" strike="noStrike">
                <a:solidFill>
                  <a:srgbClr val="1E293B"/>
                </a:solidFill>
                <a:latin typeface="Trebuchet MS"/>
                <a:ea typeface="Trebuchet MS"/>
                <a:cs typeface="Trebuchet MS"/>
                <a:sym typeface="Trebuchet MS"/>
              </a:rPr>
              <a:t>different keys</a:t>
            </a:r>
            <a:r>
              <a:rPr i="0" lang="en-US" sz="1700" u="none" cap="none" strike="noStrike">
                <a:solidFill>
                  <a:srgbClr val="1E293B"/>
                </a:solidFill>
                <a:latin typeface="Trebuchet MS"/>
                <a:ea typeface="Trebuchet MS"/>
                <a:cs typeface="Trebuchet MS"/>
                <a:sym typeface="Trebuchet MS"/>
              </a:rPr>
              <a:t> could generate the </a:t>
            </a:r>
            <a:r>
              <a:rPr b="1" i="0" lang="en-US" sz="1700" u="sng" cap="none" strike="noStrike">
                <a:solidFill>
                  <a:srgbClr val="1E293B"/>
                </a:solidFill>
                <a:latin typeface="Trebuchet MS"/>
                <a:ea typeface="Trebuchet MS"/>
                <a:cs typeface="Trebuchet MS"/>
                <a:sym typeface="Trebuchet MS"/>
              </a:rPr>
              <a:t>same index number</a:t>
            </a:r>
            <a:r>
              <a:rPr i="0" lang="en-US" sz="1700" u="none" cap="none" strike="noStrike">
                <a:solidFill>
                  <a:srgbClr val="1E293B"/>
                </a:solidFill>
                <a:latin typeface="Trebuchet MS"/>
                <a:ea typeface="Trebuchet MS"/>
                <a:cs typeface="Trebuchet MS"/>
                <a:sym typeface="Trebuchet MS"/>
              </a:rPr>
              <a:t> </a:t>
            </a:r>
            <a:r>
              <a:rPr lang="en-US" sz="1700">
                <a:solidFill>
                  <a:srgbClr val="1E293B"/>
                </a:solidFill>
                <a:latin typeface="Trebuchet MS"/>
                <a:ea typeface="Trebuchet MS"/>
                <a:cs typeface="Trebuchet MS"/>
                <a:sym typeface="Trebuchet MS"/>
              </a:rPr>
              <a:t>different keys</a:t>
            </a:r>
            <a:r>
              <a:rPr i="0" lang="en-US" sz="1700" u="none" cap="none" strike="noStrike">
                <a:solidFill>
                  <a:srgbClr val="1E293B"/>
                </a:solidFill>
                <a:latin typeface="Trebuchet MS"/>
                <a:ea typeface="Trebuchet MS"/>
                <a:cs typeface="Trebuchet MS"/>
                <a:sym typeface="Trebuchet MS"/>
              </a:rPr>
              <a:t> However, </a:t>
            </a:r>
            <a:r>
              <a:rPr lang="en-US" sz="1700">
                <a:solidFill>
                  <a:srgbClr val="1E293B"/>
                </a:solidFill>
                <a:latin typeface="Trebuchet MS"/>
                <a:ea typeface="Trebuchet MS"/>
                <a:cs typeface="Trebuchet MS"/>
                <a:sym typeface="Trebuchet MS"/>
              </a:rPr>
              <a:t>multiple</a:t>
            </a:r>
            <a:r>
              <a:rPr i="0" lang="en-US" sz="1700" u="none" cap="none" strike="noStrike">
                <a:solidFill>
                  <a:srgbClr val="1E293B"/>
                </a:solidFill>
                <a:latin typeface="Trebuchet MS"/>
                <a:ea typeface="Trebuchet MS"/>
                <a:cs typeface="Trebuchet MS"/>
                <a:sym typeface="Trebuchet MS"/>
              </a:rPr>
              <a:t> items cannot be stored in the same place.</a:t>
            </a:r>
            <a:endParaRPr sz="1700">
              <a:latin typeface="Trebuchet MS"/>
              <a:ea typeface="Trebuchet MS"/>
              <a:cs typeface="Trebuchet MS"/>
              <a:sym typeface="Trebuchet MS"/>
            </a:endParaRPr>
          </a:p>
        </p:txBody>
      </p:sp>
      <p:sp>
        <p:nvSpPr>
          <p:cNvPr id="389" name="Google Shape;389;p18"/>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390" name="Google Shape;390;p18"/>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12</a:t>
            </a:r>
            <a:endParaRPr/>
          </a:p>
        </p:txBody>
      </p:sp>
      <p:sp>
        <p:nvSpPr>
          <p:cNvPr id="391" name="Google Shape;391;p18"/>
          <p:cNvSpPr/>
          <p:nvPr/>
        </p:nvSpPr>
        <p:spPr>
          <a:xfrm>
            <a:off x="1298225" y="2861255"/>
            <a:ext cx="21945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65D"/>
              </a:buClr>
              <a:buSzPts val="1900"/>
              <a:buFont typeface="Arial"/>
              <a:buNone/>
            </a:pPr>
            <a:r>
              <a:rPr b="1" lang="en-US" sz="1900">
                <a:solidFill>
                  <a:srgbClr val="17365D"/>
                </a:solidFill>
                <a:latin typeface="Arial"/>
                <a:ea typeface="Arial"/>
                <a:cs typeface="Arial"/>
                <a:sym typeface="Arial"/>
              </a:rPr>
              <a:t>Different keys</a:t>
            </a:r>
            <a:endParaRPr sz="1900">
              <a:solidFill>
                <a:srgbClr val="000000"/>
              </a:solidFill>
              <a:latin typeface="Arial"/>
              <a:ea typeface="Arial"/>
              <a:cs typeface="Arial"/>
              <a:sym typeface="Arial"/>
            </a:endParaRPr>
          </a:p>
        </p:txBody>
      </p:sp>
      <p:sp>
        <p:nvSpPr>
          <p:cNvPr id="392" name="Google Shape;392;p18"/>
          <p:cNvSpPr/>
          <p:nvPr/>
        </p:nvSpPr>
        <p:spPr>
          <a:xfrm>
            <a:off x="8430545" y="2861255"/>
            <a:ext cx="25602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0000"/>
              </a:buClr>
              <a:buSzPts val="1900"/>
              <a:buFont typeface="Arial"/>
              <a:buNone/>
            </a:pPr>
            <a:r>
              <a:rPr b="1" lang="en-US" sz="1900">
                <a:solidFill>
                  <a:srgbClr val="C00000"/>
                </a:solidFill>
                <a:latin typeface="Arial"/>
                <a:ea typeface="Arial"/>
                <a:cs typeface="Arial"/>
                <a:sym typeface="Arial"/>
              </a:rPr>
              <a:t>Same bucket index</a:t>
            </a:r>
            <a:endParaRPr sz="1900">
              <a:solidFill>
                <a:srgbClr val="000000"/>
              </a:solidFill>
              <a:latin typeface="Arial"/>
              <a:ea typeface="Arial"/>
              <a:cs typeface="Arial"/>
              <a:sym typeface="Arial"/>
            </a:endParaRPr>
          </a:p>
        </p:txBody>
      </p:sp>
      <p:sp>
        <p:nvSpPr>
          <p:cNvPr id="393" name="Google Shape;393;p18"/>
          <p:cNvSpPr/>
          <p:nvPr/>
        </p:nvSpPr>
        <p:spPr>
          <a:xfrm>
            <a:off x="1526825" y="3684215"/>
            <a:ext cx="822900" cy="457200"/>
          </a:xfrm>
          <a:prstGeom prst="rect">
            <a:avLst/>
          </a:prstGeom>
          <a:solidFill>
            <a:srgbClr val="EAF2F8"/>
          </a:solidFill>
          <a:ln cap="flat" cmpd="sng" w="15225">
            <a:solidFill>
              <a:srgbClr val="2F559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8"/>
          <p:cNvSpPr/>
          <p:nvPr/>
        </p:nvSpPr>
        <p:spPr>
          <a:xfrm>
            <a:off x="1526825" y="3830519"/>
            <a:ext cx="8229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5597"/>
              </a:buClr>
              <a:buSzPts val="1600"/>
              <a:buFont typeface="Arial"/>
              <a:buNone/>
            </a:pPr>
            <a:r>
              <a:rPr b="1" lang="en-US" sz="1600">
                <a:solidFill>
                  <a:srgbClr val="2F5597"/>
                </a:solidFill>
                <a:latin typeface="Arial"/>
                <a:ea typeface="Arial"/>
                <a:cs typeface="Arial"/>
                <a:sym typeface="Arial"/>
              </a:rPr>
              <a:t>cat</a:t>
            </a:r>
            <a:endParaRPr sz="1600">
              <a:solidFill>
                <a:srgbClr val="000000"/>
              </a:solidFill>
              <a:latin typeface="Arial"/>
              <a:ea typeface="Arial"/>
              <a:cs typeface="Arial"/>
              <a:sym typeface="Arial"/>
            </a:endParaRPr>
          </a:p>
        </p:txBody>
      </p:sp>
      <p:sp>
        <p:nvSpPr>
          <p:cNvPr id="395" name="Google Shape;395;p18"/>
          <p:cNvSpPr/>
          <p:nvPr/>
        </p:nvSpPr>
        <p:spPr>
          <a:xfrm>
            <a:off x="1526825" y="4507175"/>
            <a:ext cx="822900" cy="457200"/>
          </a:xfrm>
          <a:prstGeom prst="rect">
            <a:avLst/>
          </a:prstGeom>
          <a:solidFill>
            <a:srgbClr val="EAF2F8"/>
          </a:solidFill>
          <a:ln cap="flat" cmpd="sng" w="15225">
            <a:solidFill>
              <a:srgbClr val="2F559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8"/>
          <p:cNvSpPr/>
          <p:nvPr/>
        </p:nvSpPr>
        <p:spPr>
          <a:xfrm>
            <a:off x="1526825" y="4653479"/>
            <a:ext cx="8229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5597"/>
              </a:buClr>
              <a:buSzPts val="1600"/>
              <a:buFont typeface="Arial"/>
              <a:buNone/>
            </a:pPr>
            <a:r>
              <a:rPr b="1" lang="en-US" sz="1600">
                <a:solidFill>
                  <a:srgbClr val="2F5597"/>
                </a:solidFill>
                <a:latin typeface="Arial"/>
                <a:ea typeface="Arial"/>
                <a:cs typeface="Arial"/>
                <a:sym typeface="Arial"/>
              </a:rPr>
              <a:t>rat</a:t>
            </a:r>
            <a:endParaRPr sz="1600">
              <a:solidFill>
                <a:srgbClr val="000000"/>
              </a:solidFill>
              <a:latin typeface="Arial"/>
              <a:ea typeface="Arial"/>
              <a:cs typeface="Arial"/>
              <a:sym typeface="Arial"/>
            </a:endParaRPr>
          </a:p>
        </p:txBody>
      </p:sp>
      <p:cxnSp>
        <p:nvCxnSpPr>
          <p:cNvPr id="397" name="Google Shape;397;p18"/>
          <p:cNvCxnSpPr/>
          <p:nvPr/>
        </p:nvCxnSpPr>
        <p:spPr>
          <a:xfrm>
            <a:off x="2532665" y="3912815"/>
            <a:ext cx="1737300" cy="320100"/>
          </a:xfrm>
          <a:prstGeom prst="straightConnector1">
            <a:avLst/>
          </a:prstGeom>
          <a:noFill/>
          <a:ln cap="flat" cmpd="sng" w="17775">
            <a:solidFill>
              <a:srgbClr val="5B6573"/>
            </a:solidFill>
            <a:prstDash val="solid"/>
            <a:round/>
            <a:headEnd len="sm" w="sm" type="none"/>
            <a:tailEnd len="med" w="med" type="triangle"/>
          </a:ln>
        </p:spPr>
      </p:cxnSp>
      <p:cxnSp>
        <p:nvCxnSpPr>
          <p:cNvPr id="398" name="Google Shape;398;p18"/>
          <p:cNvCxnSpPr/>
          <p:nvPr/>
        </p:nvCxnSpPr>
        <p:spPr>
          <a:xfrm flipH="1" rot="10800000">
            <a:off x="2532665" y="4324175"/>
            <a:ext cx="1737300" cy="411600"/>
          </a:xfrm>
          <a:prstGeom prst="straightConnector1">
            <a:avLst/>
          </a:prstGeom>
          <a:noFill/>
          <a:ln cap="flat" cmpd="sng" w="17775">
            <a:solidFill>
              <a:srgbClr val="5B6573"/>
            </a:solidFill>
            <a:prstDash val="solid"/>
            <a:round/>
            <a:headEnd len="sm" w="sm" type="none"/>
            <a:tailEnd len="med" w="med" type="triangle"/>
          </a:ln>
        </p:spPr>
      </p:cxnSp>
      <p:sp>
        <p:nvSpPr>
          <p:cNvPr id="399" name="Google Shape;399;p18"/>
          <p:cNvSpPr/>
          <p:nvPr/>
        </p:nvSpPr>
        <p:spPr>
          <a:xfrm>
            <a:off x="4315745" y="3867095"/>
            <a:ext cx="1828800" cy="822900"/>
          </a:xfrm>
          <a:prstGeom prst="hexagon">
            <a:avLst>
              <a:gd fmla="val 25000" name="adj"/>
              <a:gd fmla="val 115470" name="vf"/>
            </a:avLst>
          </a:prstGeom>
          <a:solidFill>
            <a:srgbClr val="F1E7F7"/>
          </a:solidFill>
          <a:ln cap="flat" cmpd="sng" w="15225">
            <a:solidFill>
              <a:srgbClr val="7030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8"/>
          <p:cNvSpPr/>
          <p:nvPr/>
        </p:nvSpPr>
        <p:spPr>
          <a:xfrm>
            <a:off x="4635785" y="4095695"/>
            <a:ext cx="11886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030A0"/>
              </a:buClr>
              <a:buSzPts val="1400"/>
              <a:buFont typeface="Arial"/>
              <a:buNone/>
            </a:pPr>
            <a:r>
              <a:rPr b="1" lang="en-US" sz="1400">
                <a:solidFill>
                  <a:srgbClr val="7030A0"/>
                </a:solidFill>
                <a:latin typeface="Arial"/>
                <a:ea typeface="Arial"/>
                <a:cs typeface="Arial"/>
                <a:sym typeface="Arial"/>
              </a:rPr>
              <a:t>hash</a:t>
            </a:r>
            <a:endParaRPr sz="1400">
              <a:solidFill>
                <a:srgbClr val="000000"/>
              </a:solidFill>
              <a:latin typeface="Arial"/>
              <a:ea typeface="Arial"/>
              <a:cs typeface="Arial"/>
              <a:sym typeface="Arial"/>
            </a:endParaRPr>
          </a:p>
          <a:p>
            <a:pPr indent="0" lvl="0" marL="0" marR="0" rtl="0" algn="ctr">
              <a:spcBef>
                <a:spcPts val="0"/>
              </a:spcBef>
              <a:spcAft>
                <a:spcPts val="0"/>
              </a:spcAft>
              <a:buClr>
                <a:srgbClr val="7030A0"/>
              </a:buClr>
              <a:buSzPts val="1400"/>
              <a:buFont typeface="Arial"/>
              <a:buNone/>
            </a:pPr>
            <a:r>
              <a:rPr b="1" lang="en-US" sz="1400">
                <a:solidFill>
                  <a:srgbClr val="7030A0"/>
                </a:solidFill>
                <a:latin typeface="Arial"/>
                <a:ea typeface="Arial"/>
                <a:cs typeface="Arial"/>
                <a:sym typeface="Arial"/>
              </a:rPr>
              <a:t>function</a:t>
            </a:r>
            <a:endParaRPr sz="1400">
              <a:solidFill>
                <a:srgbClr val="000000"/>
              </a:solidFill>
              <a:latin typeface="Arial"/>
              <a:ea typeface="Arial"/>
              <a:cs typeface="Arial"/>
              <a:sym typeface="Arial"/>
            </a:endParaRPr>
          </a:p>
        </p:txBody>
      </p:sp>
      <p:cxnSp>
        <p:nvCxnSpPr>
          <p:cNvPr id="401" name="Google Shape;401;p18"/>
          <p:cNvCxnSpPr/>
          <p:nvPr/>
        </p:nvCxnSpPr>
        <p:spPr>
          <a:xfrm>
            <a:off x="6281705" y="4278575"/>
            <a:ext cx="1920300" cy="0"/>
          </a:xfrm>
          <a:prstGeom prst="straightConnector1">
            <a:avLst/>
          </a:prstGeom>
          <a:noFill/>
          <a:ln cap="flat" cmpd="sng" w="17775">
            <a:solidFill>
              <a:srgbClr val="5B6573"/>
            </a:solidFill>
            <a:prstDash val="solid"/>
            <a:round/>
            <a:headEnd len="sm" w="sm" type="none"/>
            <a:tailEnd len="med" w="med" type="triangle"/>
          </a:ln>
        </p:spPr>
      </p:cxnSp>
      <p:sp>
        <p:nvSpPr>
          <p:cNvPr id="402" name="Google Shape;402;p18"/>
          <p:cNvSpPr/>
          <p:nvPr/>
        </p:nvSpPr>
        <p:spPr>
          <a:xfrm>
            <a:off x="8339105" y="4068263"/>
            <a:ext cx="438900" cy="457200"/>
          </a:xfrm>
          <a:prstGeom prst="rect">
            <a:avLst/>
          </a:prstGeom>
          <a:solidFill>
            <a:srgbClr val="FFFFFF"/>
          </a:solidFill>
          <a:ln cap="flat" cmpd="sng" w="15225">
            <a:solidFill>
              <a:srgbClr val="B8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8"/>
          <p:cNvSpPr/>
          <p:nvPr/>
        </p:nvSpPr>
        <p:spPr>
          <a:xfrm>
            <a:off x="8339105" y="4214567"/>
            <a:ext cx="4389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7D9"/>
              </a:buClr>
              <a:buSzPts val="1200"/>
              <a:buFont typeface="Arial"/>
              <a:buNone/>
            </a:pPr>
            <a:r>
              <a:rPr b="1" lang="en-US" sz="1200">
                <a:solidFill>
                  <a:srgbClr val="B8C7D9"/>
                </a:solidFill>
                <a:latin typeface="Arial"/>
                <a:ea typeface="Arial"/>
                <a:cs typeface="Arial"/>
                <a:sym typeface="Arial"/>
              </a:rPr>
              <a:t>0</a:t>
            </a:r>
            <a:endParaRPr sz="1200">
              <a:solidFill>
                <a:srgbClr val="000000"/>
              </a:solidFill>
              <a:latin typeface="Arial"/>
              <a:ea typeface="Arial"/>
              <a:cs typeface="Arial"/>
              <a:sym typeface="Arial"/>
            </a:endParaRPr>
          </a:p>
        </p:txBody>
      </p:sp>
      <p:sp>
        <p:nvSpPr>
          <p:cNvPr id="404" name="Google Shape;404;p18"/>
          <p:cNvSpPr/>
          <p:nvPr/>
        </p:nvSpPr>
        <p:spPr>
          <a:xfrm>
            <a:off x="8842025" y="4068263"/>
            <a:ext cx="438900" cy="457200"/>
          </a:xfrm>
          <a:prstGeom prst="rect">
            <a:avLst/>
          </a:prstGeom>
          <a:solidFill>
            <a:srgbClr val="FFFFFF"/>
          </a:solidFill>
          <a:ln cap="flat" cmpd="sng" w="15225">
            <a:solidFill>
              <a:srgbClr val="B8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8"/>
          <p:cNvSpPr/>
          <p:nvPr/>
        </p:nvSpPr>
        <p:spPr>
          <a:xfrm>
            <a:off x="8842025" y="4214567"/>
            <a:ext cx="4389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7D9"/>
              </a:buClr>
              <a:buSzPts val="1200"/>
              <a:buFont typeface="Arial"/>
              <a:buNone/>
            </a:pPr>
            <a:r>
              <a:rPr b="1" lang="en-US" sz="1200">
                <a:solidFill>
                  <a:srgbClr val="B8C7D9"/>
                </a:solidFill>
                <a:latin typeface="Arial"/>
                <a:ea typeface="Arial"/>
                <a:cs typeface="Arial"/>
                <a:sym typeface="Arial"/>
              </a:rPr>
              <a:t>1</a:t>
            </a:r>
            <a:endParaRPr sz="1200">
              <a:solidFill>
                <a:srgbClr val="000000"/>
              </a:solidFill>
              <a:latin typeface="Arial"/>
              <a:ea typeface="Arial"/>
              <a:cs typeface="Arial"/>
              <a:sym typeface="Arial"/>
            </a:endParaRPr>
          </a:p>
        </p:txBody>
      </p:sp>
      <p:sp>
        <p:nvSpPr>
          <p:cNvPr id="406" name="Google Shape;406;p18"/>
          <p:cNvSpPr/>
          <p:nvPr/>
        </p:nvSpPr>
        <p:spPr>
          <a:xfrm>
            <a:off x="9344945" y="4068263"/>
            <a:ext cx="438900" cy="457200"/>
          </a:xfrm>
          <a:prstGeom prst="rect">
            <a:avLst/>
          </a:prstGeom>
          <a:solidFill>
            <a:srgbClr val="FCE4D6"/>
          </a:solidFill>
          <a:ln cap="flat" cmpd="sng" w="15225">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8"/>
          <p:cNvSpPr/>
          <p:nvPr/>
        </p:nvSpPr>
        <p:spPr>
          <a:xfrm>
            <a:off x="9344945" y="4214567"/>
            <a:ext cx="4389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0000"/>
              </a:buClr>
              <a:buSzPts val="1200"/>
              <a:buFont typeface="Arial"/>
              <a:buNone/>
            </a:pPr>
            <a:r>
              <a:rPr b="1" lang="en-US" sz="1200">
                <a:solidFill>
                  <a:srgbClr val="C00000"/>
                </a:solidFill>
                <a:latin typeface="Arial"/>
                <a:ea typeface="Arial"/>
                <a:cs typeface="Arial"/>
                <a:sym typeface="Arial"/>
              </a:rPr>
              <a:t>2</a:t>
            </a:r>
            <a:endParaRPr sz="1200">
              <a:solidFill>
                <a:srgbClr val="000000"/>
              </a:solidFill>
              <a:latin typeface="Arial"/>
              <a:ea typeface="Arial"/>
              <a:cs typeface="Arial"/>
              <a:sym typeface="Arial"/>
            </a:endParaRPr>
          </a:p>
        </p:txBody>
      </p:sp>
      <p:sp>
        <p:nvSpPr>
          <p:cNvPr id="408" name="Google Shape;408;p18"/>
          <p:cNvSpPr/>
          <p:nvPr/>
        </p:nvSpPr>
        <p:spPr>
          <a:xfrm>
            <a:off x="9847865" y="4068263"/>
            <a:ext cx="438900" cy="457200"/>
          </a:xfrm>
          <a:prstGeom prst="rect">
            <a:avLst/>
          </a:prstGeom>
          <a:solidFill>
            <a:srgbClr val="FFFFFF"/>
          </a:solidFill>
          <a:ln cap="flat" cmpd="sng" w="15225">
            <a:solidFill>
              <a:srgbClr val="B8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8"/>
          <p:cNvSpPr/>
          <p:nvPr/>
        </p:nvSpPr>
        <p:spPr>
          <a:xfrm>
            <a:off x="9847865" y="4214567"/>
            <a:ext cx="4389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7D9"/>
              </a:buClr>
              <a:buSzPts val="1200"/>
              <a:buFont typeface="Arial"/>
              <a:buNone/>
            </a:pPr>
            <a:r>
              <a:rPr b="1" lang="en-US" sz="1200">
                <a:solidFill>
                  <a:srgbClr val="B8C7D9"/>
                </a:solidFill>
                <a:latin typeface="Arial"/>
                <a:ea typeface="Arial"/>
                <a:cs typeface="Arial"/>
                <a:sym typeface="Arial"/>
              </a:rPr>
              <a:t>3</a:t>
            </a:r>
            <a:endParaRPr sz="1200">
              <a:solidFill>
                <a:srgbClr val="000000"/>
              </a:solidFill>
              <a:latin typeface="Arial"/>
              <a:ea typeface="Arial"/>
              <a:cs typeface="Arial"/>
              <a:sym typeface="Arial"/>
            </a:endParaRPr>
          </a:p>
        </p:txBody>
      </p:sp>
      <p:sp>
        <p:nvSpPr>
          <p:cNvPr id="410" name="Google Shape;410;p18"/>
          <p:cNvSpPr/>
          <p:nvPr/>
        </p:nvSpPr>
        <p:spPr>
          <a:xfrm>
            <a:off x="10350785" y="4068263"/>
            <a:ext cx="438900" cy="457200"/>
          </a:xfrm>
          <a:prstGeom prst="rect">
            <a:avLst/>
          </a:prstGeom>
          <a:solidFill>
            <a:srgbClr val="FFFFFF"/>
          </a:solidFill>
          <a:ln cap="flat" cmpd="sng" w="15225">
            <a:solidFill>
              <a:srgbClr val="B8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8"/>
          <p:cNvSpPr/>
          <p:nvPr/>
        </p:nvSpPr>
        <p:spPr>
          <a:xfrm>
            <a:off x="10350785" y="4214567"/>
            <a:ext cx="4389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7D9"/>
              </a:buClr>
              <a:buSzPts val="1200"/>
              <a:buFont typeface="Arial"/>
              <a:buNone/>
            </a:pPr>
            <a:r>
              <a:rPr b="1" lang="en-US" sz="1200">
                <a:solidFill>
                  <a:srgbClr val="B8C7D9"/>
                </a:solidFill>
                <a:latin typeface="Arial"/>
                <a:ea typeface="Arial"/>
                <a:cs typeface="Arial"/>
                <a:sym typeface="Arial"/>
              </a:rPr>
              <a:t>4</a:t>
            </a:r>
            <a:endParaRPr sz="1200">
              <a:solidFill>
                <a:srgbClr val="000000"/>
              </a:solidFill>
              <a:latin typeface="Arial"/>
              <a:ea typeface="Arial"/>
              <a:cs typeface="Arial"/>
              <a:sym typeface="Arial"/>
            </a:endParaRPr>
          </a:p>
        </p:txBody>
      </p:sp>
      <p:sp>
        <p:nvSpPr>
          <p:cNvPr id="412" name="Google Shape;412;p18"/>
          <p:cNvSpPr/>
          <p:nvPr/>
        </p:nvSpPr>
        <p:spPr>
          <a:xfrm>
            <a:off x="1526835" y="5494720"/>
            <a:ext cx="95097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3"/>
              </a:buClr>
              <a:buSzPts val="2000"/>
              <a:buFont typeface="Arial"/>
              <a:buNone/>
            </a:pPr>
            <a:r>
              <a:rPr b="1" lang="en-US" sz="2000">
                <a:solidFill>
                  <a:srgbClr val="1F2933"/>
                </a:solidFill>
                <a:latin typeface="Arial"/>
                <a:ea typeface="Arial"/>
                <a:cs typeface="Arial"/>
                <a:sym typeface="Arial"/>
              </a:rPr>
              <a:t>Both cannot occupy the same single array location without a strategy.</a:t>
            </a:r>
            <a:endParaRPr sz="2000">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6" name="Shape 416"/>
        <p:cNvGrpSpPr/>
        <p:nvPr/>
      </p:nvGrpSpPr>
      <p:grpSpPr>
        <a:xfrm>
          <a:off x="0" y="0"/>
          <a:ext cx="0" cy="0"/>
          <a:chOff x="0" y="0"/>
          <a:chExt cx="0" cy="0"/>
        </a:xfrm>
      </p:grpSpPr>
      <p:sp>
        <p:nvSpPr>
          <p:cNvPr id="417" name="Google Shape;417;g3f93b0b83d1_2_17"/>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8" name="Google Shape;418;g3f93b0b83d1_2_17"/>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9" name="Google Shape;419;g3f93b0b83d1_2_17"/>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b="1" lang="en-US" sz="2400">
                <a:solidFill>
                  <a:srgbClr val="17365D"/>
                </a:solidFill>
              </a:rPr>
              <a:t>Collision in Hashing</a:t>
            </a:r>
            <a:endParaRPr/>
          </a:p>
        </p:txBody>
      </p:sp>
      <p:sp>
        <p:nvSpPr>
          <p:cNvPr id="420" name="Google Shape;420;g3f93b0b83d1_2_17"/>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1" name="Google Shape;421;g3f93b0b83d1_2_17"/>
          <p:cNvSpPr txBox="1"/>
          <p:nvPr/>
        </p:nvSpPr>
        <p:spPr>
          <a:xfrm>
            <a:off x="309100" y="1643425"/>
            <a:ext cx="4542600" cy="4430700"/>
          </a:xfrm>
          <a:prstGeom prst="rect">
            <a:avLst/>
          </a:prstGeom>
          <a:noFill/>
          <a:ln>
            <a:noFill/>
          </a:ln>
        </p:spPr>
        <p:txBody>
          <a:bodyPr anchorCtr="0" anchor="t" bIns="45700" lIns="91425" spcFirstLastPara="1" rIns="91425" wrap="square" tIns="45700">
            <a:normAutofit/>
          </a:bodyPr>
          <a:lstStyle/>
          <a:p>
            <a:pPr indent="0" lvl="0" marL="0" rtl="0" algn="l">
              <a:lnSpc>
                <a:spcPct val="200000"/>
              </a:lnSpc>
              <a:spcBef>
                <a:spcPts val="0"/>
              </a:spcBef>
              <a:spcAft>
                <a:spcPts val="0"/>
              </a:spcAft>
              <a:buClr>
                <a:schemeClr val="dk1"/>
              </a:buClr>
              <a:buFont typeface="Arial"/>
              <a:buNone/>
            </a:pPr>
            <a:r>
              <a:rPr lang="en-US" sz="1600">
                <a:solidFill>
                  <a:srgbClr val="1F2937"/>
                </a:solidFill>
                <a:latin typeface="Trebuchet MS"/>
                <a:ea typeface="Trebuchet MS"/>
                <a:cs typeface="Trebuchet MS"/>
                <a:sym typeface="Trebuchet MS"/>
              </a:rPr>
              <a:t>• A collision happens when </a:t>
            </a:r>
            <a:r>
              <a:rPr lang="en-US" sz="1600" u="sng">
                <a:solidFill>
                  <a:srgbClr val="0000FF"/>
                </a:solidFill>
                <a:latin typeface="Trebuchet MS"/>
                <a:ea typeface="Trebuchet MS"/>
                <a:cs typeface="Trebuchet MS"/>
                <a:sym typeface="Trebuchet MS"/>
              </a:rPr>
              <a:t>different keys </a:t>
            </a:r>
            <a:r>
              <a:rPr lang="en-US" sz="1600">
                <a:solidFill>
                  <a:srgbClr val="1F2937"/>
                </a:solidFill>
                <a:latin typeface="Trebuchet MS"/>
                <a:ea typeface="Trebuchet MS"/>
                <a:cs typeface="Trebuchet MS"/>
                <a:sym typeface="Trebuchet MS"/>
              </a:rPr>
              <a:t>produce the </a:t>
            </a:r>
            <a:r>
              <a:rPr lang="en-US" sz="1600" u="sng">
                <a:solidFill>
                  <a:srgbClr val="0000FF"/>
                </a:solidFill>
                <a:latin typeface="Trebuchet MS"/>
                <a:ea typeface="Trebuchet MS"/>
                <a:cs typeface="Trebuchet MS"/>
                <a:sym typeface="Trebuchet MS"/>
              </a:rPr>
              <a:t>same index.</a:t>
            </a:r>
            <a:endParaRPr u="sng">
              <a:solidFill>
                <a:srgbClr val="0000FF"/>
              </a:solidFill>
              <a:latin typeface="Trebuchet MS"/>
              <a:ea typeface="Trebuchet MS"/>
              <a:cs typeface="Trebuchet MS"/>
              <a:sym typeface="Trebuchet MS"/>
            </a:endParaRPr>
          </a:p>
          <a:p>
            <a:pPr indent="0" lvl="0" marL="0" rtl="0" algn="l">
              <a:lnSpc>
                <a:spcPct val="200000"/>
              </a:lnSpc>
              <a:spcBef>
                <a:spcPts val="0"/>
              </a:spcBef>
              <a:spcAft>
                <a:spcPts val="0"/>
              </a:spcAft>
              <a:buClr>
                <a:schemeClr val="dk1"/>
              </a:buClr>
              <a:buFont typeface="Arial"/>
              <a:buNone/>
            </a:pPr>
            <a:r>
              <a:rPr lang="en-US" sz="1600">
                <a:solidFill>
                  <a:srgbClr val="1F2937"/>
                </a:solidFill>
                <a:latin typeface="Trebuchet MS"/>
                <a:ea typeface="Trebuchet MS"/>
                <a:cs typeface="Trebuchet MS"/>
                <a:sym typeface="Trebuchet MS"/>
              </a:rPr>
              <a:t>• Both values cannot occupy the same single array slot without a strategy.</a:t>
            </a:r>
            <a:endParaRPr>
              <a:solidFill>
                <a:schemeClr val="dk1"/>
              </a:solidFill>
              <a:latin typeface="Trebuchet MS"/>
              <a:ea typeface="Trebuchet MS"/>
              <a:cs typeface="Trebuchet MS"/>
              <a:sym typeface="Trebuchet MS"/>
            </a:endParaRPr>
          </a:p>
          <a:p>
            <a:pPr indent="0" lvl="0" marL="0" rtl="0" algn="l">
              <a:lnSpc>
                <a:spcPct val="200000"/>
              </a:lnSpc>
              <a:spcBef>
                <a:spcPts val="0"/>
              </a:spcBef>
              <a:spcAft>
                <a:spcPts val="0"/>
              </a:spcAft>
              <a:buClr>
                <a:schemeClr val="dk1"/>
              </a:buClr>
              <a:buFont typeface="Arial"/>
              <a:buNone/>
            </a:pPr>
            <a:r>
              <a:rPr lang="en-US" sz="1600">
                <a:solidFill>
                  <a:srgbClr val="1F2937"/>
                </a:solidFill>
                <a:latin typeface="Trebuchet MS"/>
                <a:ea typeface="Trebuchet MS"/>
                <a:cs typeface="Trebuchet MS"/>
                <a:sym typeface="Trebuchet MS"/>
              </a:rPr>
              <a:t>• Therefore, Collision handling is required.</a:t>
            </a:r>
            <a:endParaRPr sz="1700">
              <a:latin typeface="Trebuchet MS"/>
              <a:ea typeface="Trebuchet MS"/>
              <a:cs typeface="Trebuchet MS"/>
              <a:sym typeface="Trebuchet MS"/>
            </a:endParaRPr>
          </a:p>
        </p:txBody>
      </p:sp>
      <p:pic>
        <p:nvPicPr>
          <p:cNvPr descr="a_clean_educational_infographic_slide_about_hashin_batch_2.png" id="422" name="Google Shape;422;g3f93b0b83d1_2_17"/>
          <p:cNvPicPr preferRelativeResize="0"/>
          <p:nvPr/>
        </p:nvPicPr>
        <p:blipFill rotWithShape="1">
          <a:blip r:embed="rId3">
            <a:alphaModFix/>
          </a:blip>
          <a:srcRect b="0" l="0" r="0" t="11622"/>
          <a:stretch/>
        </p:blipFill>
        <p:spPr>
          <a:xfrm>
            <a:off x="4736625" y="1312275"/>
            <a:ext cx="7229051" cy="3947001"/>
          </a:xfrm>
          <a:prstGeom prst="rect">
            <a:avLst/>
          </a:prstGeom>
          <a:noFill/>
          <a:ln cap="flat" cmpd="sng" w="9525">
            <a:solidFill>
              <a:srgbClr val="D9EAF7"/>
            </a:solidFill>
            <a:prstDash val="solid"/>
            <a:round/>
            <a:headEnd len="sm" w="sm" type="none"/>
            <a:tailEnd len="sm" w="sm" type="none"/>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6" name="Shape 426"/>
        <p:cNvGrpSpPr/>
        <p:nvPr/>
      </p:nvGrpSpPr>
      <p:grpSpPr>
        <a:xfrm>
          <a:off x="0" y="0"/>
          <a:ext cx="0" cy="0"/>
          <a:chOff x="0" y="0"/>
          <a:chExt cx="0" cy="0"/>
        </a:xfrm>
      </p:grpSpPr>
      <p:sp>
        <p:nvSpPr>
          <p:cNvPr id="427" name="Google Shape;427;g3f557c7bba2_0_186"/>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8" name="Google Shape;428;g3f557c7bba2_0_186"/>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9" name="Google Shape;429;g3f557c7bba2_0_186"/>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Solutions </a:t>
            </a:r>
            <a:r>
              <a:rPr b="1" lang="en-US" sz="2400">
                <a:solidFill>
                  <a:srgbClr val="17365D"/>
                </a:solidFill>
                <a:latin typeface="Calibri"/>
                <a:ea typeface="Calibri"/>
                <a:cs typeface="Calibri"/>
                <a:sym typeface="Calibri"/>
              </a:rPr>
              <a:t>for handling</a:t>
            </a:r>
            <a:r>
              <a:rPr b="1" i="0" lang="en-US" sz="2400" u="none" cap="none" strike="noStrike">
                <a:solidFill>
                  <a:srgbClr val="17365D"/>
                </a:solidFill>
                <a:latin typeface="Calibri"/>
                <a:ea typeface="Calibri"/>
                <a:cs typeface="Calibri"/>
                <a:sym typeface="Calibri"/>
              </a:rPr>
              <a:t> collisions</a:t>
            </a:r>
            <a:endParaRPr/>
          </a:p>
        </p:txBody>
      </p:sp>
      <p:sp>
        <p:nvSpPr>
          <p:cNvPr id="430" name="Google Shape;430;g3f557c7bba2_0_186"/>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1" name="Google Shape;431;g3f557c7bba2_0_186"/>
          <p:cNvSpPr txBox="1"/>
          <p:nvPr/>
        </p:nvSpPr>
        <p:spPr>
          <a:xfrm>
            <a:off x="586975" y="1101100"/>
            <a:ext cx="10804800" cy="4078200"/>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t/>
            </a:r>
            <a:endParaRPr b="1" sz="1700">
              <a:latin typeface="Trebuchet MS"/>
              <a:ea typeface="Trebuchet MS"/>
              <a:cs typeface="Trebuchet MS"/>
              <a:sym typeface="Trebuchet MS"/>
            </a:endParaRPr>
          </a:p>
          <a:p>
            <a:pPr indent="-336550" lvl="0" marL="457200" marR="0" rtl="0" algn="l">
              <a:lnSpc>
                <a:spcPct val="150000"/>
              </a:lnSpc>
              <a:spcBef>
                <a:spcPts val="0"/>
              </a:spcBef>
              <a:spcAft>
                <a:spcPts val="0"/>
              </a:spcAft>
              <a:buClr>
                <a:srgbClr val="1E293B"/>
              </a:buClr>
              <a:buSzPts val="1700"/>
              <a:buFont typeface="Trebuchet MS"/>
              <a:buChar char="●"/>
            </a:pPr>
            <a:r>
              <a:rPr i="0" lang="en-US" sz="1700" u="none" cap="none" strike="noStrike">
                <a:solidFill>
                  <a:srgbClr val="1E293B"/>
                </a:solidFill>
                <a:latin typeface="Trebuchet MS"/>
                <a:ea typeface="Trebuchet MS"/>
                <a:cs typeface="Trebuchet MS"/>
                <a:sym typeface="Trebuchet MS"/>
              </a:rPr>
              <a:t>Open addressing (Solution of collision removal: Linear probing, double hashing, etc) </a:t>
            </a:r>
            <a:endParaRPr sz="1700">
              <a:solidFill>
                <a:srgbClr val="1E293B"/>
              </a:solidFill>
              <a:latin typeface="Trebuchet MS"/>
              <a:ea typeface="Trebuchet MS"/>
              <a:cs typeface="Trebuchet MS"/>
              <a:sym typeface="Trebuchet MS"/>
            </a:endParaRPr>
          </a:p>
          <a:p>
            <a:pPr indent="-336550" lvl="0" marL="457200" marR="0" rtl="0" algn="l">
              <a:lnSpc>
                <a:spcPct val="150000"/>
              </a:lnSpc>
              <a:spcBef>
                <a:spcPts val="0"/>
              </a:spcBef>
              <a:spcAft>
                <a:spcPts val="0"/>
              </a:spcAft>
              <a:buClr>
                <a:srgbClr val="1E293B"/>
              </a:buClr>
              <a:buSzPts val="1700"/>
              <a:buFont typeface="Trebuchet MS"/>
              <a:buChar char="●"/>
            </a:pPr>
            <a:r>
              <a:rPr i="0" lang="en-US" sz="1700" u="none" cap="none" strike="noStrike">
                <a:solidFill>
                  <a:srgbClr val="1E293B"/>
                </a:solidFill>
                <a:latin typeface="Trebuchet MS"/>
                <a:ea typeface="Trebuchet MS"/>
                <a:cs typeface="Trebuchet MS"/>
                <a:sym typeface="Trebuchet MS"/>
              </a:rPr>
              <a:t>Closed addressing (Solution of collision removal: Forward chaining)</a:t>
            </a:r>
            <a:endParaRPr sz="1700">
              <a:latin typeface="Trebuchet MS"/>
              <a:ea typeface="Trebuchet MS"/>
              <a:cs typeface="Trebuchet MS"/>
              <a:sym typeface="Trebuchet MS"/>
            </a:endParaRPr>
          </a:p>
        </p:txBody>
      </p:sp>
      <p:sp>
        <p:nvSpPr>
          <p:cNvPr id="432" name="Google Shape;432;g3f557c7bba2_0_186"/>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433" name="Google Shape;433;g3f557c7bba2_0_186"/>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12</a:t>
            </a:r>
            <a:endParaRPr/>
          </a:p>
        </p:txBody>
      </p:sp>
      <p:pic>
        <p:nvPicPr>
          <p:cNvPr id="434" name="Google Shape;434;g3f557c7bba2_0_186"/>
          <p:cNvPicPr preferRelativeResize="0"/>
          <p:nvPr/>
        </p:nvPicPr>
        <p:blipFill rotWithShape="1">
          <a:blip r:embed="rId3">
            <a:alphaModFix/>
          </a:blip>
          <a:srcRect b="6428" l="0" r="0" t="0"/>
          <a:stretch/>
        </p:blipFill>
        <p:spPr>
          <a:xfrm>
            <a:off x="586975" y="2562950"/>
            <a:ext cx="10804799" cy="341818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8" name="Shape 438"/>
        <p:cNvGrpSpPr/>
        <p:nvPr/>
      </p:nvGrpSpPr>
      <p:grpSpPr>
        <a:xfrm>
          <a:off x="0" y="0"/>
          <a:ext cx="0" cy="0"/>
          <a:chOff x="0" y="0"/>
          <a:chExt cx="0" cy="0"/>
        </a:xfrm>
      </p:grpSpPr>
      <p:sp>
        <p:nvSpPr>
          <p:cNvPr id="439" name="Google Shape;439;p19"/>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0" name="Google Shape;440;p19"/>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1" name="Google Shape;441;p19"/>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Open addressing </a:t>
            </a:r>
            <a:r>
              <a:rPr b="1" lang="en-US" sz="2400">
                <a:solidFill>
                  <a:srgbClr val="17365D"/>
                </a:solidFill>
                <a:latin typeface="Calibri"/>
                <a:ea typeface="Calibri"/>
                <a:cs typeface="Calibri"/>
                <a:sym typeface="Calibri"/>
              </a:rPr>
              <a:t> (Optional)</a:t>
            </a:r>
            <a:endParaRPr/>
          </a:p>
        </p:txBody>
      </p:sp>
      <p:sp>
        <p:nvSpPr>
          <p:cNvPr id="442" name="Google Shape;442;p19"/>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3" name="Google Shape;443;p19"/>
          <p:cNvSpPr txBox="1"/>
          <p:nvPr/>
        </p:nvSpPr>
        <p:spPr>
          <a:xfrm>
            <a:off x="239800" y="1453975"/>
            <a:ext cx="10459200" cy="4809600"/>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t/>
            </a:r>
            <a:endParaRPr sz="1800">
              <a:latin typeface="Trebuchet MS"/>
              <a:ea typeface="Trebuchet MS"/>
              <a:cs typeface="Trebuchet MS"/>
              <a:sym typeface="Trebuchet MS"/>
            </a:endParaRPr>
          </a:p>
          <a:p>
            <a:pPr indent="-342900" lvl="0" marL="457200" marR="0" rtl="0" algn="l">
              <a:lnSpc>
                <a:spcPct val="150000"/>
              </a:lnSpc>
              <a:spcBef>
                <a:spcPts val="0"/>
              </a:spcBef>
              <a:spcAft>
                <a:spcPts val="0"/>
              </a:spcAft>
              <a:buClr>
                <a:srgbClr val="1E293B"/>
              </a:buClr>
              <a:buSzPts val="1800"/>
              <a:buFont typeface="Trebuchet MS"/>
              <a:buChar char="●"/>
            </a:pPr>
            <a:r>
              <a:rPr i="0" lang="en-US" sz="1800" u="none" cap="none" strike="noStrike">
                <a:solidFill>
                  <a:srgbClr val="1E293B"/>
                </a:solidFill>
                <a:latin typeface="Trebuchet MS"/>
                <a:ea typeface="Trebuchet MS"/>
                <a:cs typeface="Trebuchet MS"/>
                <a:sym typeface="Trebuchet MS"/>
              </a:rPr>
              <a:t>Resolving a collision by </a:t>
            </a:r>
            <a:r>
              <a:rPr b="1" i="0" lang="en-US" sz="1800" u="none" cap="none" strike="noStrike">
                <a:solidFill>
                  <a:srgbClr val="1E293B"/>
                </a:solidFill>
                <a:latin typeface="Trebuchet MS"/>
                <a:ea typeface="Trebuchet MS"/>
                <a:cs typeface="Trebuchet MS"/>
                <a:sym typeface="Trebuchet MS"/>
              </a:rPr>
              <a:t>placing an item somewhere </a:t>
            </a:r>
            <a:r>
              <a:rPr b="1" i="0" lang="en-US" sz="1800" u="sng" cap="none" strike="noStrike">
                <a:solidFill>
                  <a:srgbClr val="1E293B"/>
                </a:solidFill>
                <a:latin typeface="Trebuchet MS"/>
                <a:ea typeface="Trebuchet MS"/>
                <a:cs typeface="Trebuchet MS"/>
                <a:sym typeface="Trebuchet MS"/>
              </a:rPr>
              <a:t>other than its calculated address.</a:t>
            </a:r>
            <a:endParaRPr b="1" sz="1800" u="sng">
              <a:solidFill>
                <a:srgbClr val="1E293B"/>
              </a:solidFill>
              <a:latin typeface="Trebuchet MS"/>
              <a:ea typeface="Trebuchet MS"/>
              <a:cs typeface="Trebuchet MS"/>
              <a:sym typeface="Trebuchet MS"/>
            </a:endParaRPr>
          </a:p>
          <a:p>
            <a:pPr indent="-342900" lvl="0" marL="457200" marR="0" rtl="0" algn="l">
              <a:lnSpc>
                <a:spcPct val="150000"/>
              </a:lnSpc>
              <a:spcBef>
                <a:spcPts val="0"/>
              </a:spcBef>
              <a:spcAft>
                <a:spcPts val="0"/>
              </a:spcAft>
              <a:buSzPts val="1800"/>
              <a:buFont typeface="Trebuchet MS"/>
              <a:buChar char="●"/>
            </a:pPr>
            <a:r>
              <a:rPr lang="en-US" sz="1800">
                <a:solidFill>
                  <a:srgbClr val="1E293B"/>
                </a:solidFill>
                <a:latin typeface="Trebuchet MS"/>
                <a:ea typeface="Trebuchet MS"/>
                <a:cs typeface="Trebuchet MS"/>
                <a:sym typeface="Trebuchet MS"/>
              </a:rPr>
              <a:t>This process</a:t>
            </a:r>
            <a:r>
              <a:rPr i="0" lang="en-US" sz="1800" u="none" cap="none" strike="noStrike">
                <a:solidFill>
                  <a:srgbClr val="1E293B"/>
                </a:solidFill>
                <a:latin typeface="Trebuchet MS"/>
                <a:ea typeface="Trebuchet MS"/>
                <a:cs typeface="Trebuchet MS"/>
                <a:sym typeface="Trebuchet MS"/>
              </a:rPr>
              <a:t> is called </a:t>
            </a:r>
            <a:r>
              <a:rPr b="1" i="0" lang="en-US" sz="1800" u="none" cap="none" strike="noStrike">
                <a:solidFill>
                  <a:schemeClr val="dk2"/>
                </a:solidFill>
                <a:latin typeface="Trebuchet MS"/>
                <a:ea typeface="Trebuchet MS"/>
                <a:cs typeface="Trebuchet MS"/>
                <a:sym typeface="Trebuchet MS"/>
              </a:rPr>
              <a:t>open address</a:t>
            </a:r>
            <a:r>
              <a:rPr i="0" lang="en-US" sz="1800" u="none" cap="none" strike="noStrike">
                <a:solidFill>
                  <a:srgbClr val="1E293B"/>
                </a:solidFill>
                <a:latin typeface="Trebuchet MS"/>
                <a:ea typeface="Trebuchet MS"/>
                <a:cs typeface="Trebuchet MS"/>
                <a:sym typeface="Trebuchet MS"/>
              </a:rPr>
              <a:t> because </a:t>
            </a:r>
            <a:r>
              <a:rPr i="0" lang="en-US" sz="1800" u="sng" cap="none" strike="noStrike">
                <a:solidFill>
                  <a:srgbClr val="990000"/>
                </a:solidFill>
                <a:latin typeface="Trebuchet MS"/>
                <a:ea typeface="Trebuchet MS"/>
                <a:cs typeface="Trebuchet MS"/>
                <a:sym typeface="Trebuchet MS"/>
              </a:rPr>
              <a:t>every location is opened to any other item.</a:t>
            </a:r>
            <a:br>
              <a:rPr i="0" lang="en-US" sz="1800" u="none" cap="none" strike="noStrike">
                <a:solidFill>
                  <a:srgbClr val="1E293B"/>
                </a:solidFill>
                <a:latin typeface="Trebuchet MS"/>
                <a:ea typeface="Trebuchet MS"/>
                <a:cs typeface="Trebuchet MS"/>
                <a:sym typeface="Trebuchet MS"/>
              </a:rPr>
            </a:br>
            <a:endParaRPr sz="1800">
              <a:latin typeface="Trebuchet MS"/>
              <a:ea typeface="Trebuchet MS"/>
              <a:cs typeface="Trebuchet MS"/>
              <a:sym typeface="Trebuchet MS"/>
            </a:endParaRPr>
          </a:p>
          <a:p>
            <a:pPr indent="-342900" lvl="0" marL="457200" marR="0" rtl="0" algn="l">
              <a:lnSpc>
                <a:spcPct val="150000"/>
              </a:lnSpc>
              <a:spcBef>
                <a:spcPts val="0"/>
              </a:spcBef>
              <a:spcAft>
                <a:spcPts val="0"/>
              </a:spcAft>
              <a:buClr>
                <a:srgbClr val="1E293B"/>
              </a:buClr>
              <a:buSzPts val="1800"/>
              <a:buFont typeface="Trebuchet MS"/>
              <a:buChar char="●"/>
            </a:pPr>
            <a:r>
              <a:rPr i="0" lang="en-US" sz="1800" u="none" cap="none" strike="noStrike">
                <a:solidFill>
                  <a:srgbClr val="1E293B"/>
                </a:solidFill>
                <a:latin typeface="Trebuchet MS"/>
                <a:ea typeface="Trebuchet MS"/>
                <a:cs typeface="Trebuchet MS"/>
                <a:sym typeface="Trebuchet MS"/>
              </a:rPr>
              <a:t>Open addressing can use a </a:t>
            </a:r>
            <a:r>
              <a:rPr i="0" lang="en-US" sz="1800" u="sng" cap="none" strike="noStrike">
                <a:solidFill>
                  <a:srgbClr val="1E293B"/>
                </a:solidFill>
                <a:latin typeface="Trebuchet MS"/>
                <a:ea typeface="Trebuchet MS"/>
                <a:cs typeface="Trebuchet MS"/>
                <a:sym typeface="Trebuchet MS"/>
              </a:rPr>
              <a:t>variety of techniques</a:t>
            </a:r>
            <a:r>
              <a:rPr i="0" lang="en-US" sz="1800" u="none" cap="none" strike="noStrike">
                <a:solidFill>
                  <a:srgbClr val="1E293B"/>
                </a:solidFill>
                <a:latin typeface="Trebuchet MS"/>
                <a:ea typeface="Trebuchet MS"/>
                <a:cs typeface="Trebuchet MS"/>
                <a:sym typeface="Trebuchet MS"/>
              </a:rPr>
              <a:t> to decide where to place an item that does not go where it should.</a:t>
            </a:r>
            <a:endParaRPr i="0" sz="1800" u="none" cap="none" strike="noStrike">
              <a:solidFill>
                <a:srgbClr val="1E293B"/>
              </a:solidFill>
              <a:latin typeface="Trebuchet MS"/>
              <a:ea typeface="Trebuchet MS"/>
              <a:cs typeface="Trebuchet MS"/>
              <a:sym typeface="Trebuchet MS"/>
            </a:endParaRPr>
          </a:p>
          <a:p>
            <a:pPr indent="-342900" lvl="1" marL="1371600" rtl="0" algn="l">
              <a:lnSpc>
                <a:spcPct val="150000"/>
              </a:lnSpc>
              <a:spcBef>
                <a:spcPts val="0"/>
              </a:spcBef>
              <a:spcAft>
                <a:spcPts val="0"/>
              </a:spcAft>
              <a:buClr>
                <a:srgbClr val="1E293B"/>
              </a:buClr>
              <a:buSzPts val="1800"/>
              <a:buFont typeface="Trebuchet MS"/>
              <a:buChar char="○"/>
            </a:pPr>
            <a:r>
              <a:rPr lang="en-US" sz="1700">
                <a:solidFill>
                  <a:srgbClr val="1E293B"/>
                </a:solidFill>
                <a:latin typeface="Trebuchet MS"/>
                <a:ea typeface="Trebuchet MS"/>
                <a:cs typeface="Trebuchet MS"/>
                <a:sym typeface="Trebuchet MS"/>
              </a:rPr>
              <a:t>Linear probing</a:t>
            </a:r>
            <a:endParaRPr sz="1700">
              <a:solidFill>
                <a:srgbClr val="1E293B"/>
              </a:solidFill>
              <a:latin typeface="Trebuchet MS"/>
              <a:ea typeface="Trebuchet MS"/>
              <a:cs typeface="Trebuchet MS"/>
              <a:sym typeface="Trebuchet MS"/>
            </a:endParaRPr>
          </a:p>
          <a:p>
            <a:pPr indent="-342900" lvl="1" marL="1371600" rtl="0" algn="l">
              <a:lnSpc>
                <a:spcPct val="150000"/>
              </a:lnSpc>
              <a:spcBef>
                <a:spcPts val="0"/>
              </a:spcBef>
              <a:spcAft>
                <a:spcPts val="0"/>
              </a:spcAft>
              <a:buClr>
                <a:srgbClr val="1E293B"/>
              </a:buClr>
              <a:buSzPts val="1800"/>
              <a:buFont typeface="Trebuchet MS"/>
              <a:buChar char="○"/>
            </a:pPr>
            <a:r>
              <a:rPr lang="en-US" sz="1700">
                <a:solidFill>
                  <a:srgbClr val="1E293B"/>
                </a:solidFill>
                <a:latin typeface="Trebuchet MS"/>
                <a:ea typeface="Trebuchet MS"/>
                <a:cs typeface="Trebuchet MS"/>
                <a:sym typeface="Trebuchet MS"/>
              </a:rPr>
              <a:t>Double hashing</a:t>
            </a:r>
            <a:endParaRPr sz="1800">
              <a:solidFill>
                <a:srgbClr val="1E293B"/>
              </a:solidFill>
              <a:latin typeface="Trebuchet MS"/>
              <a:ea typeface="Trebuchet MS"/>
              <a:cs typeface="Trebuchet MS"/>
              <a:sym typeface="Trebuchet MS"/>
            </a:endParaRPr>
          </a:p>
          <a:p>
            <a:pPr indent="0" lvl="0" marL="0" marR="0" rtl="0" algn="l">
              <a:lnSpc>
                <a:spcPct val="150000"/>
              </a:lnSpc>
              <a:spcBef>
                <a:spcPts val="0"/>
              </a:spcBef>
              <a:spcAft>
                <a:spcPts val="0"/>
              </a:spcAft>
              <a:buNone/>
            </a:pPr>
            <a:r>
              <a:t/>
            </a:r>
            <a:endParaRPr sz="1800">
              <a:latin typeface="Trebuchet MS"/>
              <a:ea typeface="Trebuchet MS"/>
              <a:cs typeface="Trebuchet MS"/>
              <a:sym typeface="Trebuchet MS"/>
            </a:endParaRPr>
          </a:p>
        </p:txBody>
      </p:sp>
      <p:sp>
        <p:nvSpPr>
          <p:cNvPr id="444" name="Google Shape;444;p19"/>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445" name="Google Shape;445;p19"/>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13</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sp>
        <p:nvSpPr>
          <p:cNvPr id="450" name="Google Shape;450;g3f557c7bba2_0_40"/>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51" name="Google Shape;451;g3f557c7bba2_0_40"/>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52" name="Google Shape;452;g3f557c7bba2_0_40"/>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Open addressing </a:t>
            </a:r>
            <a:r>
              <a:rPr b="1" lang="en-US" sz="2400">
                <a:solidFill>
                  <a:srgbClr val="17365D"/>
                </a:solidFill>
                <a:latin typeface="Calibri"/>
                <a:ea typeface="Calibri"/>
                <a:cs typeface="Calibri"/>
                <a:sym typeface="Calibri"/>
              </a:rPr>
              <a:t>:</a:t>
            </a:r>
            <a:r>
              <a:rPr b="1" i="0" lang="en-US" sz="2400" u="none" cap="none" strike="noStrike">
                <a:solidFill>
                  <a:srgbClr val="17365D"/>
                </a:solidFill>
                <a:latin typeface="Calibri"/>
                <a:ea typeface="Calibri"/>
                <a:cs typeface="Calibri"/>
                <a:sym typeface="Calibri"/>
              </a:rPr>
              <a:t> Linear probing (Optional)</a:t>
            </a:r>
            <a:endParaRPr/>
          </a:p>
        </p:txBody>
      </p:sp>
      <p:sp>
        <p:nvSpPr>
          <p:cNvPr id="453" name="Google Shape;453;g3f557c7bba2_0_40"/>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54" name="Google Shape;454;g3f557c7bba2_0_40"/>
          <p:cNvSpPr txBox="1"/>
          <p:nvPr/>
        </p:nvSpPr>
        <p:spPr>
          <a:xfrm>
            <a:off x="649225" y="1371600"/>
            <a:ext cx="10804800" cy="4809600"/>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t/>
            </a:r>
            <a:endParaRPr sz="1700">
              <a:latin typeface="Trebuchet MS"/>
              <a:ea typeface="Trebuchet MS"/>
              <a:cs typeface="Trebuchet MS"/>
              <a:sym typeface="Trebuchet MS"/>
            </a:endParaRPr>
          </a:p>
          <a:p>
            <a:pPr indent="-336550" lvl="0" marL="457200" marR="0" rtl="0" algn="l">
              <a:lnSpc>
                <a:spcPct val="200000"/>
              </a:lnSpc>
              <a:spcBef>
                <a:spcPts val="0"/>
              </a:spcBef>
              <a:spcAft>
                <a:spcPts val="0"/>
              </a:spcAft>
              <a:buSzPts val="1700"/>
              <a:buFont typeface="Trebuchet MS"/>
              <a:buChar char="●"/>
            </a:pPr>
            <a:r>
              <a:rPr i="0" lang="en-US" sz="1700" u="none" cap="none" strike="noStrike">
                <a:solidFill>
                  <a:srgbClr val="1E293B"/>
                </a:solidFill>
                <a:latin typeface="Trebuchet MS"/>
                <a:ea typeface="Trebuchet MS"/>
                <a:cs typeface="Trebuchet MS"/>
                <a:sym typeface="Trebuchet MS"/>
              </a:rPr>
              <a:t>If the </a:t>
            </a:r>
            <a:r>
              <a:rPr b="1" i="0" lang="en-US" sz="1700" u="sng" cap="none" strike="noStrike">
                <a:solidFill>
                  <a:schemeClr val="dk2"/>
                </a:solidFill>
                <a:latin typeface="Trebuchet MS"/>
                <a:ea typeface="Trebuchet MS"/>
                <a:cs typeface="Trebuchet MS"/>
                <a:sym typeface="Trebuchet MS"/>
              </a:rPr>
              <a:t>calculated address is occupied</a:t>
            </a:r>
            <a:r>
              <a:rPr i="0" lang="en-US" sz="1700" u="none" cap="none" strike="noStrike">
                <a:solidFill>
                  <a:srgbClr val="1E293B"/>
                </a:solidFill>
                <a:latin typeface="Trebuchet MS"/>
                <a:ea typeface="Trebuchet MS"/>
                <a:cs typeface="Trebuchet MS"/>
                <a:sym typeface="Trebuchet MS"/>
              </a:rPr>
              <a:t>, then a </a:t>
            </a:r>
            <a:r>
              <a:rPr b="1" i="0" lang="en-US" sz="1700" u="sng" cap="none" strike="noStrike">
                <a:solidFill>
                  <a:schemeClr val="dk2"/>
                </a:solidFill>
                <a:latin typeface="Trebuchet MS"/>
                <a:ea typeface="Trebuchet MS"/>
                <a:cs typeface="Trebuchet MS"/>
                <a:sym typeface="Trebuchet MS"/>
              </a:rPr>
              <a:t>linear search is used </a:t>
            </a:r>
            <a:r>
              <a:rPr i="0" lang="en-US" sz="1700" u="none" cap="none" strike="noStrike">
                <a:solidFill>
                  <a:srgbClr val="1E293B"/>
                </a:solidFill>
                <a:latin typeface="Trebuchet MS"/>
                <a:ea typeface="Trebuchet MS"/>
                <a:cs typeface="Trebuchet MS"/>
                <a:sym typeface="Trebuchet MS"/>
              </a:rPr>
              <a:t>to find the </a:t>
            </a:r>
            <a:r>
              <a:rPr b="1" i="0" lang="en-US" sz="1700" u="none" cap="none" strike="noStrike">
                <a:solidFill>
                  <a:schemeClr val="dk2"/>
                </a:solidFill>
                <a:latin typeface="Trebuchet MS"/>
                <a:ea typeface="Trebuchet MS"/>
                <a:cs typeface="Trebuchet MS"/>
                <a:sym typeface="Trebuchet MS"/>
              </a:rPr>
              <a:t>next available place</a:t>
            </a:r>
            <a:r>
              <a:rPr i="0" lang="en-US" sz="1700" u="none" cap="none" strike="noStrike">
                <a:solidFill>
                  <a:srgbClr val="1E293B"/>
                </a:solidFill>
                <a:latin typeface="Trebuchet MS"/>
                <a:ea typeface="Trebuchet MS"/>
                <a:cs typeface="Trebuchet MS"/>
                <a:sym typeface="Trebuchet MS"/>
              </a:rPr>
              <a:t>.</a:t>
            </a:r>
            <a:br>
              <a:rPr i="0" lang="en-US" sz="1700" u="none" cap="none" strike="noStrike">
                <a:solidFill>
                  <a:srgbClr val="1E293B"/>
                </a:solidFill>
                <a:latin typeface="Trebuchet MS"/>
                <a:ea typeface="Trebuchet MS"/>
                <a:cs typeface="Trebuchet MS"/>
                <a:sym typeface="Trebuchet MS"/>
              </a:rPr>
            </a:br>
            <a:endParaRPr sz="1700">
              <a:latin typeface="Trebuchet MS"/>
              <a:ea typeface="Trebuchet MS"/>
              <a:cs typeface="Trebuchet MS"/>
              <a:sym typeface="Trebuchet MS"/>
            </a:endParaRPr>
          </a:p>
          <a:p>
            <a:pPr indent="-336550" lvl="0" marL="457200" marR="0" rtl="0" algn="l">
              <a:lnSpc>
                <a:spcPct val="200000"/>
              </a:lnSpc>
              <a:spcBef>
                <a:spcPts val="0"/>
              </a:spcBef>
              <a:spcAft>
                <a:spcPts val="0"/>
              </a:spcAft>
              <a:buClr>
                <a:srgbClr val="1E293B"/>
              </a:buClr>
              <a:buSzPts val="1700"/>
              <a:buFont typeface="Trebuchet MS"/>
              <a:buChar char="●"/>
            </a:pPr>
            <a:r>
              <a:rPr i="0" lang="en-US" sz="1700" u="none" cap="none" strike="noStrike">
                <a:solidFill>
                  <a:srgbClr val="1E293B"/>
                </a:solidFill>
                <a:latin typeface="Trebuchet MS"/>
                <a:ea typeface="Trebuchet MS"/>
                <a:cs typeface="Trebuchet MS"/>
                <a:sym typeface="Trebuchet MS"/>
              </a:rPr>
              <a:t>If linear probing gets to the end of the array, and it still cannot find a free place, </a:t>
            </a:r>
            <a:endParaRPr sz="1700">
              <a:solidFill>
                <a:srgbClr val="1E293B"/>
              </a:solidFill>
              <a:latin typeface="Trebuchet MS"/>
              <a:ea typeface="Trebuchet MS"/>
              <a:cs typeface="Trebuchet MS"/>
              <a:sym typeface="Trebuchet MS"/>
            </a:endParaRPr>
          </a:p>
          <a:p>
            <a:pPr indent="-336550" lvl="2" marL="1371600" marR="0" rtl="0" algn="l">
              <a:lnSpc>
                <a:spcPct val="200000"/>
              </a:lnSpc>
              <a:spcBef>
                <a:spcPts val="0"/>
              </a:spcBef>
              <a:spcAft>
                <a:spcPts val="0"/>
              </a:spcAft>
              <a:buClr>
                <a:srgbClr val="1E293B"/>
              </a:buClr>
              <a:buSzPts val="1700"/>
              <a:buFont typeface="Trebuchet MS"/>
              <a:buChar char="■"/>
            </a:pPr>
            <a:r>
              <a:rPr lang="en-US" sz="1700">
                <a:solidFill>
                  <a:srgbClr val="1E293B"/>
                </a:solidFill>
                <a:latin typeface="Trebuchet MS"/>
                <a:ea typeface="Trebuchet MS"/>
                <a:cs typeface="Trebuchet MS"/>
                <a:sym typeface="Trebuchet MS"/>
              </a:rPr>
              <a:t>I</a:t>
            </a:r>
            <a:r>
              <a:rPr i="0" lang="en-US" sz="1700" u="none" cap="none" strike="noStrike">
                <a:solidFill>
                  <a:srgbClr val="1E293B"/>
                </a:solidFill>
                <a:latin typeface="Trebuchet MS"/>
                <a:ea typeface="Trebuchet MS"/>
                <a:cs typeface="Trebuchet MS"/>
                <a:sym typeface="Trebuchet MS"/>
              </a:rPr>
              <a:t>t might cycle around to the beginning of the Array and continue searching from there. </a:t>
            </a:r>
            <a:endParaRPr i="0" sz="1700" u="none" cap="none" strike="noStrike">
              <a:solidFill>
                <a:srgbClr val="1E293B"/>
              </a:solidFill>
              <a:latin typeface="Trebuchet MS"/>
              <a:ea typeface="Trebuchet MS"/>
              <a:cs typeface="Trebuchet MS"/>
              <a:sym typeface="Trebuchet MS"/>
            </a:endParaRPr>
          </a:p>
          <a:p>
            <a:pPr indent="-336550" lvl="2" marL="1371600" marR="0" rtl="0" algn="l">
              <a:lnSpc>
                <a:spcPct val="200000"/>
              </a:lnSpc>
              <a:spcBef>
                <a:spcPts val="0"/>
              </a:spcBef>
              <a:spcAft>
                <a:spcPts val="0"/>
              </a:spcAft>
              <a:buClr>
                <a:srgbClr val="1E293B"/>
              </a:buClr>
              <a:buSzPts val="1700"/>
              <a:buFont typeface="Trebuchet MS"/>
              <a:buChar char="■"/>
            </a:pPr>
            <a:r>
              <a:rPr i="0" lang="en-US" sz="1700" u="none" cap="none" strike="noStrike">
                <a:solidFill>
                  <a:srgbClr val="1E293B"/>
                </a:solidFill>
                <a:latin typeface="Trebuchet MS"/>
                <a:ea typeface="Trebuchet MS"/>
                <a:cs typeface="Trebuchet MS"/>
                <a:sym typeface="Trebuchet MS"/>
              </a:rPr>
              <a:t>(Circular array </a:t>
            </a:r>
            <a:r>
              <a:rPr lang="en-US" sz="1700">
                <a:solidFill>
                  <a:srgbClr val="1E293B"/>
                </a:solidFill>
                <a:latin typeface="Trebuchet MS"/>
                <a:ea typeface="Trebuchet MS"/>
                <a:cs typeface="Trebuchet MS"/>
                <a:sym typeface="Trebuchet MS"/>
              </a:rPr>
              <a:t>concept</a:t>
            </a:r>
            <a:r>
              <a:rPr i="0" lang="en-US" sz="1700" u="none" cap="none" strike="noStrike">
                <a:solidFill>
                  <a:srgbClr val="1E293B"/>
                </a:solidFill>
                <a:latin typeface="Trebuchet MS"/>
                <a:ea typeface="Trebuchet MS"/>
                <a:cs typeface="Trebuchet MS"/>
                <a:sym typeface="Trebuchet MS"/>
              </a:rPr>
              <a:t>)</a:t>
            </a:r>
            <a:endParaRPr sz="1700">
              <a:latin typeface="Trebuchet MS"/>
              <a:ea typeface="Trebuchet MS"/>
              <a:cs typeface="Trebuchet MS"/>
              <a:sym typeface="Trebuchet MS"/>
            </a:endParaRPr>
          </a:p>
        </p:txBody>
      </p:sp>
      <p:sp>
        <p:nvSpPr>
          <p:cNvPr id="455" name="Google Shape;455;g3f557c7bba2_0_40"/>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456" name="Google Shape;456;g3f557c7bba2_0_40"/>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13</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0" name="Shape 460"/>
        <p:cNvGrpSpPr/>
        <p:nvPr/>
      </p:nvGrpSpPr>
      <p:grpSpPr>
        <a:xfrm>
          <a:off x="0" y="0"/>
          <a:ext cx="0" cy="0"/>
          <a:chOff x="0" y="0"/>
          <a:chExt cx="0" cy="0"/>
        </a:xfrm>
      </p:grpSpPr>
      <p:sp>
        <p:nvSpPr>
          <p:cNvPr id="461" name="Google Shape;461;g3f557c7bba2_0_53"/>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2" name="Google Shape;462;g3f557c7bba2_0_53"/>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3" name="Google Shape;463;g3f557c7bba2_0_53"/>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Open addressing </a:t>
            </a:r>
            <a:r>
              <a:rPr b="1" lang="en-US" sz="2400">
                <a:solidFill>
                  <a:srgbClr val="17365D"/>
                </a:solidFill>
                <a:latin typeface="Calibri"/>
                <a:ea typeface="Calibri"/>
                <a:cs typeface="Calibri"/>
                <a:sym typeface="Calibri"/>
              </a:rPr>
              <a:t>:</a:t>
            </a:r>
            <a:r>
              <a:rPr b="1" i="0" lang="en-US" sz="2400" u="none" cap="none" strike="noStrike">
                <a:solidFill>
                  <a:srgbClr val="17365D"/>
                </a:solidFill>
                <a:latin typeface="Calibri"/>
                <a:ea typeface="Calibri"/>
                <a:cs typeface="Calibri"/>
                <a:sym typeface="Calibri"/>
              </a:rPr>
              <a:t> Linear probing (Optional)</a:t>
            </a:r>
            <a:endParaRPr/>
          </a:p>
        </p:txBody>
      </p:sp>
      <p:sp>
        <p:nvSpPr>
          <p:cNvPr id="464" name="Google Shape;464;g3f557c7bba2_0_53"/>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65" name="Google Shape;465;g3f557c7bba2_0_53"/>
          <p:cNvSpPr txBox="1"/>
          <p:nvPr/>
        </p:nvSpPr>
        <p:spPr>
          <a:xfrm>
            <a:off x="662025" y="809050"/>
            <a:ext cx="9064500" cy="8727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t/>
            </a:r>
            <a:endParaRPr sz="1800">
              <a:latin typeface="Trebuchet MS"/>
              <a:ea typeface="Trebuchet MS"/>
              <a:cs typeface="Trebuchet MS"/>
              <a:sym typeface="Trebuchet MS"/>
            </a:endParaRPr>
          </a:p>
          <a:p>
            <a:pPr indent="0" lvl="0" marL="0" marR="0" rtl="0" algn="l">
              <a:lnSpc>
                <a:spcPct val="200000"/>
              </a:lnSpc>
              <a:spcBef>
                <a:spcPts val="0"/>
              </a:spcBef>
              <a:spcAft>
                <a:spcPts val="0"/>
              </a:spcAft>
              <a:buNone/>
            </a:pPr>
            <a:r>
              <a:rPr i="0" lang="en-US" sz="1800" u="none" cap="none" strike="noStrike">
                <a:solidFill>
                  <a:srgbClr val="1E293B"/>
                </a:solidFill>
                <a:latin typeface="Trebuchet MS"/>
                <a:ea typeface="Trebuchet MS"/>
                <a:cs typeface="Trebuchet MS"/>
                <a:sym typeface="Trebuchet MS"/>
              </a:rPr>
              <a:t>◦ </a:t>
            </a:r>
            <a:r>
              <a:rPr b="1" lang="en-US" sz="1800">
                <a:solidFill>
                  <a:schemeClr val="dk2"/>
                </a:solidFill>
                <a:latin typeface="Trebuchet MS"/>
                <a:ea typeface="Trebuchet MS"/>
                <a:cs typeface="Trebuchet MS"/>
                <a:sym typeface="Trebuchet MS"/>
              </a:rPr>
              <a:t>Initial state before collision.</a:t>
            </a:r>
            <a:endParaRPr sz="1800">
              <a:latin typeface="Trebuchet MS"/>
              <a:ea typeface="Trebuchet MS"/>
              <a:cs typeface="Trebuchet MS"/>
              <a:sym typeface="Trebuchet MS"/>
            </a:endParaRPr>
          </a:p>
          <a:p>
            <a:pPr indent="0" lvl="0" marL="0" marR="0" rtl="0" algn="l">
              <a:lnSpc>
                <a:spcPct val="200000"/>
              </a:lnSpc>
              <a:spcBef>
                <a:spcPts val="0"/>
              </a:spcBef>
              <a:spcAft>
                <a:spcPts val="0"/>
              </a:spcAft>
              <a:buNone/>
            </a:pPr>
            <a:r>
              <a:t/>
            </a:r>
            <a:endParaRPr sz="1800">
              <a:latin typeface="Trebuchet MS"/>
              <a:ea typeface="Trebuchet MS"/>
              <a:cs typeface="Trebuchet MS"/>
              <a:sym typeface="Trebuchet MS"/>
            </a:endParaRPr>
          </a:p>
        </p:txBody>
      </p:sp>
      <p:sp>
        <p:nvSpPr>
          <p:cNvPr id="466" name="Google Shape;466;g3f557c7bba2_0_53"/>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467" name="Google Shape;467;g3f557c7bba2_0_53"/>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13</a:t>
            </a:r>
            <a:endParaRPr/>
          </a:p>
        </p:txBody>
      </p:sp>
      <p:pic>
        <p:nvPicPr>
          <p:cNvPr id="468" name="Google Shape;468;g3f557c7bba2_0_53" title="9.png"/>
          <p:cNvPicPr preferRelativeResize="0"/>
          <p:nvPr/>
        </p:nvPicPr>
        <p:blipFill>
          <a:blip r:embed="rId3">
            <a:alphaModFix/>
          </a:blip>
          <a:stretch>
            <a:fillRect/>
          </a:stretch>
        </p:blipFill>
        <p:spPr>
          <a:xfrm>
            <a:off x="1748275" y="1681750"/>
            <a:ext cx="8146665" cy="45849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2" name="Shape 472"/>
        <p:cNvGrpSpPr/>
        <p:nvPr/>
      </p:nvGrpSpPr>
      <p:grpSpPr>
        <a:xfrm>
          <a:off x="0" y="0"/>
          <a:ext cx="0" cy="0"/>
          <a:chOff x="0" y="0"/>
          <a:chExt cx="0" cy="0"/>
        </a:xfrm>
      </p:grpSpPr>
      <p:sp>
        <p:nvSpPr>
          <p:cNvPr id="473" name="Google Shape;473;p20"/>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4" name="Google Shape;474;p20"/>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5" name="Google Shape;475;p20"/>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Linear probing steps: Insert Sue</a:t>
            </a:r>
            <a:endParaRPr/>
          </a:p>
        </p:txBody>
      </p:sp>
      <p:sp>
        <p:nvSpPr>
          <p:cNvPr id="476" name="Google Shape;476;p20"/>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77" name="Google Shape;477;p20"/>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478" name="Google Shape;478;p20"/>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14</a:t>
            </a:r>
            <a:endParaRPr/>
          </a:p>
        </p:txBody>
      </p:sp>
      <p:pic>
        <p:nvPicPr>
          <p:cNvPr id="479" name="Google Shape;479;p20" title="10.png"/>
          <p:cNvPicPr preferRelativeResize="0"/>
          <p:nvPr/>
        </p:nvPicPr>
        <p:blipFill>
          <a:blip r:embed="rId3">
            <a:alphaModFix/>
          </a:blip>
          <a:stretch>
            <a:fillRect/>
          </a:stretch>
        </p:blipFill>
        <p:spPr>
          <a:xfrm>
            <a:off x="1883550" y="1005850"/>
            <a:ext cx="8694724" cy="5796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3" name="Shape 483"/>
        <p:cNvGrpSpPr/>
        <p:nvPr/>
      </p:nvGrpSpPr>
      <p:grpSpPr>
        <a:xfrm>
          <a:off x="0" y="0"/>
          <a:ext cx="0" cy="0"/>
          <a:chOff x="0" y="0"/>
          <a:chExt cx="0" cy="0"/>
        </a:xfrm>
      </p:grpSpPr>
      <p:sp>
        <p:nvSpPr>
          <p:cNvPr id="484" name="Google Shape;484;p21"/>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85" name="Google Shape;485;p21"/>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86" name="Google Shape;486;p21"/>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Linear probing steps: Insert Len</a:t>
            </a:r>
            <a:endParaRPr/>
          </a:p>
        </p:txBody>
      </p:sp>
      <p:sp>
        <p:nvSpPr>
          <p:cNvPr id="487" name="Google Shape;487;p21"/>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88" name="Google Shape;488;p21"/>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489" name="Google Shape;489;p21"/>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15</a:t>
            </a:r>
            <a:endParaRPr/>
          </a:p>
        </p:txBody>
      </p:sp>
      <p:pic>
        <p:nvPicPr>
          <p:cNvPr id="490" name="Google Shape;490;p21" title="11.png"/>
          <p:cNvPicPr preferRelativeResize="0"/>
          <p:nvPr/>
        </p:nvPicPr>
        <p:blipFill>
          <a:blip r:embed="rId3">
            <a:alphaModFix/>
          </a:blip>
          <a:stretch>
            <a:fillRect/>
          </a:stretch>
        </p:blipFill>
        <p:spPr>
          <a:xfrm>
            <a:off x="1751038" y="900100"/>
            <a:ext cx="8689924" cy="57933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4" name="Shape 494"/>
        <p:cNvGrpSpPr/>
        <p:nvPr/>
      </p:nvGrpSpPr>
      <p:grpSpPr>
        <a:xfrm>
          <a:off x="0" y="0"/>
          <a:ext cx="0" cy="0"/>
          <a:chOff x="0" y="0"/>
          <a:chExt cx="0" cy="0"/>
        </a:xfrm>
      </p:grpSpPr>
      <p:sp>
        <p:nvSpPr>
          <p:cNvPr id="495" name="Google Shape;495;p22"/>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6" name="Google Shape;496;p22"/>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7" name="Google Shape;497;p22"/>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Linear probing steps: Insert Rae</a:t>
            </a:r>
            <a:endParaRPr/>
          </a:p>
        </p:txBody>
      </p:sp>
      <p:sp>
        <p:nvSpPr>
          <p:cNvPr id="498" name="Google Shape;498;p22"/>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499" name="Google Shape;499;p22" title="12.png"/>
          <p:cNvPicPr preferRelativeResize="0"/>
          <p:nvPr/>
        </p:nvPicPr>
        <p:blipFill>
          <a:blip r:embed="rId3">
            <a:alphaModFix/>
          </a:blip>
          <a:stretch>
            <a:fillRect/>
          </a:stretch>
        </p:blipFill>
        <p:spPr>
          <a:xfrm>
            <a:off x="1465550" y="859525"/>
            <a:ext cx="8909426" cy="59396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3" name="Shape 503"/>
        <p:cNvGrpSpPr/>
        <p:nvPr/>
      </p:nvGrpSpPr>
      <p:grpSpPr>
        <a:xfrm>
          <a:off x="0" y="0"/>
          <a:ext cx="0" cy="0"/>
          <a:chOff x="0" y="0"/>
          <a:chExt cx="0" cy="0"/>
        </a:xfrm>
      </p:grpSpPr>
      <p:pic>
        <p:nvPicPr>
          <p:cNvPr id="504" name="Google Shape;504;g3f557c7bba2_0_72" title="13.png"/>
          <p:cNvPicPr preferRelativeResize="0"/>
          <p:nvPr/>
        </p:nvPicPr>
        <p:blipFill>
          <a:blip r:embed="rId3">
            <a:alphaModFix/>
          </a:blip>
          <a:stretch>
            <a:fillRect/>
          </a:stretch>
        </p:blipFill>
        <p:spPr>
          <a:xfrm>
            <a:off x="6296375" y="2845550"/>
            <a:ext cx="5516050" cy="3071400"/>
          </a:xfrm>
          <a:prstGeom prst="rect">
            <a:avLst/>
          </a:prstGeom>
          <a:noFill/>
          <a:ln>
            <a:noFill/>
          </a:ln>
        </p:spPr>
      </p:pic>
      <p:sp>
        <p:nvSpPr>
          <p:cNvPr id="505" name="Google Shape;505;g3f557c7bba2_0_72"/>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6" name="Google Shape;506;g3f557c7bba2_0_72"/>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7" name="Google Shape;507;g3f557c7bba2_0_72"/>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Problem with linear probing</a:t>
            </a:r>
            <a:endParaRPr/>
          </a:p>
        </p:txBody>
      </p:sp>
      <p:sp>
        <p:nvSpPr>
          <p:cNvPr id="508" name="Google Shape;508;g3f557c7bba2_0_72"/>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9" name="Google Shape;509;g3f557c7bba2_0_72"/>
          <p:cNvSpPr txBox="1"/>
          <p:nvPr/>
        </p:nvSpPr>
        <p:spPr>
          <a:xfrm>
            <a:off x="495700" y="1319100"/>
            <a:ext cx="7567500" cy="4078200"/>
          </a:xfrm>
          <a:prstGeom prst="rect">
            <a:avLst/>
          </a:prstGeom>
          <a:noFill/>
          <a:ln>
            <a:noFill/>
          </a:ln>
        </p:spPr>
        <p:txBody>
          <a:bodyPr anchorCtr="0" anchor="t" bIns="45700" lIns="91425" spcFirstLastPara="1" rIns="91425" wrap="square" tIns="45700">
            <a:normAutofit/>
          </a:bodyPr>
          <a:lstStyle/>
          <a:p>
            <a:pPr indent="-330200" lvl="0" marL="457200" marR="0" rtl="0" algn="l">
              <a:lnSpc>
                <a:spcPct val="200000"/>
              </a:lnSpc>
              <a:spcBef>
                <a:spcPts val="0"/>
              </a:spcBef>
              <a:spcAft>
                <a:spcPts val="0"/>
              </a:spcAft>
              <a:buClr>
                <a:srgbClr val="1E293B"/>
              </a:buClr>
              <a:buSzPts val="1600"/>
              <a:buFont typeface="Trebuchet MS"/>
              <a:buChar char="●"/>
            </a:pPr>
            <a:r>
              <a:rPr lang="en-US" sz="1600">
                <a:solidFill>
                  <a:srgbClr val="1E293B"/>
                </a:solidFill>
                <a:latin typeface="Trebuchet MS"/>
                <a:ea typeface="Trebuchet MS"/>
                <a:cs typeface="Trebuchet MS"/>
                <a:sym typeface="Trebuchet MS"/>
              </a:rPr>
              <a:t>Increases chance of collision.</a:t>
            </a:r>
            <a:endParaRPr sz="1600">
              <a:solidFill>
                <a:srgbClr val="1E293B"/>
              </a:solidFill>
              <a:latin typeface="Trebuchet MS"/>
              <a:ea typeface="Trebuchet MS"/>
              <a:cs typeface="Trebuchet MS"/>
              <a:sym typeface="Trebuchet MS"/>
            </a:endParaRPr>
          </a:p>
          <a:p>
            <a:pPr indent="-330200" lvl="0" marL="457200" marR="0" rtl="0" algn="l">
              <a:lnSpc>
                <a:spcPct val="200000"/>
              </a:lnSpc>
              <a:spcBef>
                <a:spcPts val="0"/>
              </a:spcBef>
              <a:spcAft>
                <a:spcPts val="0"/>
              </a:spcAft>
              <a:buClr>
                <a:srgbClr val="1E293B"/>
              </a:buClr>
              <a:buSzPts val="1600"/>
              <a:buFont typeface="Trebuchet MS"/>
              <a:buChar char="●"/>
            </a:pPr>
            <a:r>
              <a:rPr i="0" lang="en-US" sz="1600" u="none" cap="none" strike="noStrike">
                <a:solidFill>
                  <a:srgbClr val="1E293B"/>
                </a:solidFill>
                <a:latin typeface="Trebuchet MS"/>
                <a:ea typeface="Trebuchet MS"/>
                <a:cs typeface="Trebuchet MS"/>
                <a:sym typeface="Trebuchet MS"/>
              </a:rPr>
              <a:t>To lookup an item in the hash table, hashing function is applied again.</a:t>
            </a:r>
            <a:endParaRPr sz="1600">
              <a:latin typeface="Trebuchet MS"/>
              <a:ea typeface="Trebuchet MS"/>
              <a:cs typeface="Trebuchet MS"/>
              <a:sym typeface="Trebuchet MS"/>
            </a:endParaRPr>
          </a:p>
          <a:p>
            <a:pPr indent="-330200" lvl="0" marL="457200" marR="0" rtl="0" algn="l">
              <a:lnSpc>
                <a:spcPct val="200000"/>
              </a:lnSpc>
              <a:spcBef>
                <a:spcPts val="0"/>
              </a:spcBef>
              <a:spcAft>
                <a:spcPts val="0"/>
              </a:spcAft>
              <a:buSzPts val="1600"/>
              <a:buFont typeface="Trebuchet MS"/>
              <a:buChar char="●"/>
            </a:pPr>
            <a:r>
              <a:rPr i="0" lang="en-US" sz="1600" u="none" cap="none" strike="noStrike">
                <a:solidFill>
                  <a:srgbClr val="1E293B"/>
                </a:solidFill>
                <a:latin typeface="Trebuchet MS"/>
                <a:ea typeface="Trebuchet MS"/>
                <a:cs typeface="Trebuchet MS"/>
                <a:sym typeface="Trebuchet MS"/>
              </a:rPr>
              <a:t>If </a:t>
            </a:r>
            <a:r>
              <a:rPr i="0" lang="en-US" sz="1600" u="sng" cap="none" strike="noStrike">
                <a:solidFill>
                  <a:srgbClr val="1E293B"/>
                </a:solidFill>
                <a:latin typeface="Trebuchet MS"/>
                <a:ea typeface="Trebuchet MS"/>
                <a:cs typeface="Trebuchet MS"/>
                <a:sym typeface="Trebuchet MS"/>
              </a:rPr>
              <a:t>there is a collision</a:t>
            </a:r>
            <a:r>
              <a:rPr i="0" lang="en-US" sz="1600" u="none" cap="none" strike="noStrike">
                <a:solidFill>
                  <a:srgbClr val="1E293B"/>
                </a:solidFill>
                <a:latin typeface="Trebuchet MS"/>
                <a:ea typeface="Trebuchet MS"/>
                <a:cs typeface="Trebuchet MS"/>
                <a:sym typeface="Trebuchet MS"/>
              </a:rPr>
              <a:t> and the item </a:t>
            </a:r>
            <a:r>
              <a:rPr b="1" i="0" lang="en-US" sz="1600" u="sng" cap="none" strike="noStrike">
                <a:solidFill>
                  <a:schemeClr val="dk2"/>
                </a:solidFill>
                <a:latin typeface="Trebuchet MS"/>
                <a:ea typeface="Trebuchet MS"/>
                <a:cs typeface="Trebuchet MS"/>
                <a:sym typeface="Trebuchet MS"/>
              </a:rPr>
              <a:t>is not in the calculated position</a:t>
            </a:r>
            <a:r>
              <a:rPr i="0" lang="en-US" sz="1600" u="none" cap="none" strike="noStrike">
                <a:solidFill>
                  <a:srgbClr val="1E293B"/>
                </a:solidFill>
                <a:latin typeface="Trebuchet MS"/>
                <a:ea typeface="Trebuchet MS"/>
                <a:cs typeface="Trebuchet MS"/>
                <a:sym typeface="Trebuchet MS"/>
              </a:rPr>
              <a:t>, </a:t>
            </a:r>
            <a:endParaRPr sz="1600">
              <a:solidFill>
                <a:srgbClr val="1E293B"/>
              </a:solidFill>
              <a:latin typeface="Trebuchet MS"/>
              <a:ea typeface="Trebuchet MS"/>
              <a:cs typeface="Trebuchet MS"/>
              <a:sym typeface="Trebuchet MS"/>
            </a:endParaRPr>
          </a:p>
          <a:p>
            <a:pPr indent="-330200" lvl="1" marL="914400" marR="0" rtl="0" algn="l">
              <a:lnSpc>
                <a:spcPct val="200000"/>
              </a:lnSpc>
              <a:spcBef>
                <a:spcPts val="0"/>
              </a:spcBef>
              <a:spcAft>
                <a:spcPts val="0"/>
              </a:spcAft>
              <a:buClr>
                <a:srgbClr val="1E293B"/>
              </a:buClr>
              <a:buSzPts val="1600"/>
              <a:buFont typeface="Trebuchet MS"/>
              <a:buChar char="○"/>
            </a:pPr>
            <a:r>
              <a:rPr lang="en-US" sz="1600">
                <a:solidFill>
                  <a:srgbClr val="1E293B"/>
                </a:solidFill>
                <a:latin typeface="Trebuchet MS"/>
                <a:ea typeface="Trebuchet MS"/>
                <a:cs typeface="Trebuchet MS"/>
                <a:sym typeface="Trebuchet MS"/>
              </a:rPr>
              <a:t>T</a:t>
            </a:r>
            <a:r>
              <a:rPr i="0" lang="en-US" sz="1600" u="none" cap="none" strike="noStrike">
                <a:solidFill>
                  <a:srgbClr val="1E293B"/>
                </a:solidFill>
                <a:latin typeface="Trebuchet MS"/>
                <a:ea typeface="Trebuchet MS"/>
                <a:cs typeface="Trebuchet MS"/>
                <a:sym typeface="Trebuchet MS"/>
              </a:rPr>
              <a:t>hen finding an item would also involve </a:t>
            </a:r>
            <a:r>
              <a:rPr b="1" i="0" lang="en-US" sz="1600" u="sng" cap="none" strike="noStrike">
                <a:solidFill>
                  <a:srgbClr val="1E293B"/>
                </a:solidFill>
                <a:latin typeface="Trebuchet MS"/>
                <a:ea typeface="Trebuchet MS"/>
                <a:cs typeface="Trebuchet MS"/>
                <a:sym typeface="Trebuchet MS"/>
              </a:rPr>
              <a:t>linear probing</a:t>
            </a:r>
            <a:r>
              <a:rPr i="0" lang="en-US" sz="1600" u="none" cap="none" strike="noStrike">
                <a:solidFill>
                  <a:srgbClr val="1E293B"/>
                </a:solidFill>
                <a:latin typeface="Trebuchet MS"/>
                <a:ea typeface="Trebuchet MS"/>
                <a:cs typeface="Trebuchet MS"/>
                <a:sym typeface="Trebuchet MS"/>
              </a:rPr>
              <a:t>, </a:t>
            </a:r>
            <a:endParaRPr i="0" sz="1600" u="none" cap="none" strike="noStrike">
              <a:solidFill>
                <a:srgbClr val="1E293B"/>
              </a:solidFill>
              <a:latin typeface="Trebuchet MS"/>
              <a:ea typeface="Trebuchet MS"/>
              <a:cs typeface="Trebuchet MS"/>
              <a:sym typeface="Trebuchet MS"/>
            </a:endParaRPr>
          </a:p>
          <a:p>
            <a:pPr indent="-330200" lvl="1" marL="914400" marR="0" rtl="0" algn="l">
              <a:lnSpc>
                <a:spcPct val="200000"/>
              </a:lnSpc>
              <a:spcBef>
                <a:spcPts val="0"/>
              </a:spcBef>
              <a:spcAft>
                <a:spcPts val="0"/>
              </a:spcAft>
              <a:buClr>
                <a:srgbClr val="1E293B"/>
              </a:buClr>
              <a:buSzPts val="1600"/>
              <a:buFont typeface="Trebuchet MS"/>
              <a:buChar char="○"/>
            </a:pPr>
            <a:r>
              <a:rPr lang="en-US" sz="1600">
                <a:solidFill>
                  <a:srgbClr val="1E293B"/>
                </a:solidFill>
                <a:latin typeface="Trebuchet MS"/>
                <a:ea typeface="Trebuchet MS"/>
                <a:cs typeface="Trebuchet MS"/>
                <a:sym typeface="Trebuchet MS"/>
              </a:rPr>
              <a:t>T</a:t>
            </a:r>
            <a:r>
              <a:rPr i="0" lang="en-US" sz="1600" u="none" cap="none" strike="noStrike">
                <a:solidFill>
                  <a:srgbClr val="1E293B"/>
                </a:solidFill>
                <a:latin typeface="Trebuchet MS"/>
                <a:ea typeface="Trebuchet MS"/>
                <a:cs typeface="Trebuchet MS"/>
                <a:sym typeface="Trebuchet MS"/>
              </a:rPr>
              <a:t>hat is a linear search, </a:t>
            </a:r>
            <a:r>
              <a:rPr b="1" i="0" lang="en-US" sz="1600" u="sng" cap="none" strike="noStrike">
                <a:solidFill>
                  <a:srgbClr val="0000FF"/>
                </a:solidFill>
                <a:latin typeface="Trebuchet MS"/>
                <a:ea typeface="Trebuchet MS"/>
                <a:cs typeface="Trebuchet MS"/>
                <a:sym typeface="Trebuchet MS"/>
              </a:rPr>
              <a:t>O(n)</a:t>
            </a:r>
            <a:r>
              <a:rPr b="1" lang="en-US" sz="1600" u="sng">
                <a:solidFill>
                  <a:srgbClr val="0000FF"/>
                </a:solidFill>
                <a:latin typeface="Trebuchet MS"/>
                <a:ea typeface="Trebuchet MS"/>
                <a:cs typeface="Trebuchet MS"/>
                <a:sym typeface="Trebuchet MS"/>
              </a:rPr>
              <a:t>, which we are trying to avoid</a:t>
            </a:r>
            <a:endParaRPr b="1" sz="1600" u="sng">
              <a:solidFill>
                <a:srgbClr val="0000FF"/>
              </a:solidFill>
              <a:latin typeface="Trebuchet MS"/>
              <a:ea typeface="Trebuchet MS"/>
              <a:cs typeface="Trebuchet MS"/>
              <a:sym typeface="Trebuchet MS"/>
            </a:endParaRPr>
          </a:p>
          <a:p>
            <a:pPr indent="0" lvl="0" marL="0" marR="0" rtl="0" algn="l">
              <a:lnSpc>
                <a:spcPct val="200000"/>
              </a:lnSpc>
              <a:spcBef>
                <a:spcPts val="0"/>
              </a:spcBef>
              <a:spcAft>
                <a:spcPts val="0"/>
              </a:spcAft>
              <a:buNone/>
            </a:pPr>
            <a:r>
              <a:t/>
            </a:r>
            <a:endParaRPr sz="1600">
              <a:latin typeface="Trebuchet MS"/>
              <a:ea typeface="Trebuchet MS"/>
              <a:cs typeface="Trebuchet MS"/>
              <a:sym typeface="Trebuchet MS"/>
            </a:endParaRPr>
          </a:p>
        </p:txBody>
      </p:sp>
      <p:sp>
        <p:nvSpPr>
          <p:cNvPr id="510" name="Google Shape;510;g3f557c7bba2_0_72"/>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511" name="Google Shape;511;g3f557c7bba2_0_72"/>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17</a:t>
            </a:r>
            <a:endParaRPr/>
          </a:p>
        </p:txBody>
      </p:sp>
      <p:sp>
        <p:nvSpPr>
          <p:cNvPr id="512" name="Google Shape;512;g3f557c7bba2_0_72"/>
          <p:cNvSpPr txBox="1"/>
          <p:nvPr/>
        </p:nvSpPr>
        <p:spPr>
          <a:xfrm>
            <a:off x="6393100" y="5998675"/>
            <a:ext cx="5322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F6368"/>
                </a:solidFill>
                <a:latin typeface="Calibri"/>
                <a:ea typeface="Calibri"/>
                <a:cs typeface="Calibri"/>
                <a:sym typeface="Calibri"/>
              </a:rPr>
              <a:t>• Figure: Finding Rae again may require a linear search.</a:t>
            </a:r>
            <a:endParaRPr sz="18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6" name="Shape 516"/>
        <p:cNvGrpSpPr/>
        <p:nvPr/>
      </p:nvGrpSpPr>
      <p:grpSpPr>
        <a:xfrm>
          <a:off x="0" y="0"/>
          <a:ext cx="0" cy="0"/>
          <a:chOff x="0" y="0"/>
          <a:chExt cx="0" cy="0"/>
        </a:xfrm>
      </p:grpSpPr>
      <p:sp>
        <p:nvSpPr>
          <p:cNvPr id="517" name="Google Shape;517;p23"/>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8" name="Google Shape;518;p23"/>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19" name="Google Shape;519;p23"/>
          <p:cNvSpPr txBox="1"/>
          <p:nvPr/>
        </p:nvSpPr>
        <p:spPr>
          <a:xfrm>
            <a:off x="411480" y="256032"/>
            <a:ext cx="11155680" cy="530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Problem with linear probing</a:t>
            </a:r>
            <a:endParaRPr/>
          </a:p>
        </p:txBody>
      </p:sp>
      <p:sp>
        <p:nvSpPr>
          <p:cNvPr id="520" name="Google Shape;520;p23"/>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21" name="Google Shape;521;p23"/>
          <p:cNvSpPr txBox="1"/>
          <p:nvPr/>
        </p:nvSpPr>
        <p:spPr>
          <a:xfrm>
            <a:off x="316575" y="1121763"/>
            <a:ext cx="6799800" cy="4078200"/>
          </a:xfrm>
          <a:prstGeom prst="rect">
            <a:avLst/>
          </a:prstGeom>
          <a:noFill/>
          <a:ln>
            <a:noFill/>
          </a:ln>
        </p:spPr>
        <p:txBody>
          <a:bodyPr anchorCtr="0" anchor="t" bIns="45700" lIns="91425" spcFirstLastPara="1" rIns="91425" wrap="square" tIns="45700">
            <a:normAutofit fontScale="92500" lnSpcReduction="10000"/>
          </a:bodyPr>
          <a:lstStyle/>
          <a:p>
            <a:pPr indent="0" lvl="0" marL="0" marR="0" rtl="0" algn="l">
              <a:lnSpc>
                <a:spcPct val="200000"/>
              </a:lnSpc>
              <a:spcBef>
                <a:spcPts val="0"/>
              </a:spcBef>
              <a:spcAft>
                <a:spcPts val="0"/>
              </a:spcAft>
              <a:buNone/>
            </a:pPr>
            <a:r>
              <a:t/>
            </a:r>
            <a:endParaRPr sz="1700">
              <a:latin typeface="Trebuchet MS"/>
              <a:ea typeface="Trebuchet MS"/>
              <a:cs typeface="Trebuchet MS"/>
              <a:sym typeface="Trebuchet MS"/>
            </a:endParaRPr>
          </a:p>
          <a:p>
            <a:pPr indent="-328454" lvl="0" marL="457200" marR="0" rtl="0" algn="l">
              <a:lnSpc>
                <a:spcPct val="200000"/>
              </a:lnSpc>
              <a:spcBef>
                <a:spcPts val="0"/>
              </a:spcBef>
              <a:spcAft>
                <a:spcPts val="0"/>
              </a:spcAft>
              <a:buSzPct val="100000"/>
              <a:buFont typeface="Trebuchet MS"/>
              <a:buChar char="●"/>
            </a:pPr>
            <a:r>
              <a:rPr b="1" i="0" lang="en-US" sz="1700" u="none" cap="none" strike="noStrike">
                <a:solidFill>
                  <a:schemeClr val="dk2"/>
                </a:solidFill>
                <a:latin typeface="Trebuchet MS"/>
                <a:ea typeface="Trebuchet MS"/>
                <a:cs typeface="Trebuchet MS"/>
                <a:sym typeface="Trebuchet MS"/>
              </a:rPr>
              <a:t>We do not use linear probing due to this issue.</a:t>
            </a:r>
            <a:r>
              <a:rPr i="0" lang="en-US" sz="1700" u="none" cap="none" strike="noStrike">
                <a:solidFill>
                  <a:srgbClr val="1E293B"/>
                </a:solidFill>
                <a:latin typeface="Trebuchet MS"/>
                <a:ea typeface="Trebuchet MS"/>
                <a:cs typeface="Trebuchet MS"/>
                <a:sym typeface="Trebuchet MS"/>
              </a:rPr>
              <a:t> </a:t>
            </a:r>
            <a:endParaRPr sz="1700">
              <a:solidFill>
                <a:srgbClr val="1E293B"/>
              </a:solidFill>
              <a:latin typeface="Trebuchet MS"/>
              <a:ea typeface="Trebuchet MS"/>
              <a:cs typeface="Trebuchet MS"/>
              <a:sym typeface="Trebuchet MS"/>
            </a:endParaRPr>
          </a:p>
          <a:p>
            <a:pPr indent="-328454" lvl="2" marL="1371600" marR="0" rtl="0" algn="l">
              <a:lnSpc>
                <a:spcPct val="200000"/>
              </a:lnSpc>
              <a:spcBef>
                <a:spcPts val="0"/>
              </a:spcBef>
              <a:spcAft>
                <a:spcPts val="0"/>
              </a:spcAft>
              <a:buSzPct val="100000"/>
              <a:buFont typeface="Trebuchet MS"/>
              <a:buChar char="■"/>
            </a:pPr>
            <a:r>
              <a:rPr b="1" i="0" lang="en-US" sz="1700" u="none" cap="none" strike="noStrike">
                <a:solidFill>
                  <a:schemeClr val="dk2"/>
                </a:solidFill>
                <a:latin typeface="Trebuchet MS"/>
                <a:ea typeface="Trebuchet MS"/>
                <a:cs typeface="Trebuchet MS"/>
                <a:sym typeface="Trebuchet MS"/>
              </a:rPr>
              <a:t>Forward chaining solves this issue. </a:t>
            </a:r>
            <a:br>
              <a:rPr b="1" lang="en-US" sz="1700">
                <a:solidFill>
                  <a:schemeClr val="dk2"/>
                </a:solidFill>
                <a:latin typeface="Trebuchet MS"/>
                <a:ea typeface="Trebuchet MS"/>
                <a:cs typeface="Trebuchet MS"/>
                <a:sym typeface="Trebuchet MS"/>
              </a:rPr>
            </a:br>
            <a:r>
              <a:rPr b="1" lang="en-US" sz="1700">
                <a:solidFill>
                  <a:schemeClr val="dk2"/>
                </a:solidFill>
                <a:latin typeface="Trebuchet MS"/>
                <a:ea typeface="Trebuchet MS"/>
                <a:cs typeface="Trebuchet MS"/>
                <a:sym typeface="Trebuchet MS"/>
              </a:rPr>
              <a:t>(</a:t>
            </a:r>
            <a:r>
              <a:rPr b="1" i="0" lang="en-US" sz="1700" u="none" cap="none" strike="noStrike">
                <a:solidFill>
                  <a:schemeClr val="dk2"/>
                </a:solidFill>
                <a:latin typeface="Trebuchet MS"/>
                <a:ea typeface="Trebuchet MS"/>
                <a:cs typeface="Trebuchet MS"/>
                <a:sym typeface="Trebuchet MS"/>
              </a:rPr>
              <a:t>One of the popular methods</a:t>
            </a:r>
            <a:r>
              <a:rPr b="1" lang="en-US" sz="1700">
                <a:solidFill>
                  <a:schemeClr val="dk2"/>
                </a:solidFill>
                <a:latin typeface="Trebuchet MS"/>
                <a:ea typeface="Trebuchet MS"/>
                <a:cs typeface="Trebuchet MS"/>
                <a:sym typeface="Trebuchet MS"/>
              </a:rPr>
              <a:t>)</a:t>
            </a:r>
            <a:br>
              <a:rPr b="1" i="0" lang="en-US" sz="1700" u="none" cap="none" strike="noStrike">
                <a:solidFill>
                  <a:schemeClr val="dk2"/>
                </a:solidFill>
                <a:latin typeface="Trebuchet MS"/>
                <a:ea typeface="Trebuchet MS"/>
                <a:cs typeface="Trebuchet MS"/>
                <a:sym typeface="Trebuchet MS"/>
              </a:rPr>
            </a:br>
            <a:endParaRPr b="1" sz="1700">
              <a:solidFill>
                <a:schemeClr val="dk2"/>
              </a:solidFill>
              <a:latin typeface="Trebuchet MS"/>
              <a:ea typeface="Trebuchet MS"/>
              <a:cs typeface="Trebuchet MS"/>
              <a:sym typeface="Trebuchet MS"/>
            </a:endParaRPr>
          </a:p>
          <a:p>
            <a:pPr indent="-328454" lvl="0" marL="457200" marR="0" rtl="0" algn="l">
              <a:lnSpc>
                <a:spcPct val="200000"/>
              </a:lnSpc>
              <a:spcBef>
                <a:spcPts val="0"/>
              </a:spcBef>
              <a:spcAft>
                <a:spcPts val="0"/>
              </a:spcAft>
              <a:buClr>
                <a:srgbClr val="1E293B"/>
              </a:buClr>
              <a:buSzPct val="100000"/>
              <a:buFont typeface="Trebuchet MS"/>
              <a:buChar char="●"/>
            </a:pPr>
            <a:r>
              <a:rPr lang="en-US" sz="1700">
                <a:solidFill>
                  <a:srgbClr val="1E293B"/>
                </a:solidFill>
                <a:latin typeface="Trebuchet MS"/>
                <a:ea typeface="Trebuchet MS"/>
                <a:cs typeface="Trebuchet MS"/>
                <a:sym typeface="Trebuchet MS"/>
              </a:rPr>
              <a:t>In the figure here, </a:t>
            </a:r>
            <a:endParaRPr sz="1700">
              <a:solidFill>
                <a:srgbClr val="1E293B"/>
              </a:solidFill>
              <a:latin typeface="Trebuchet MS"/>
              <a:ea typeface="Trebuchet MS"/>
              <a:cs typeface="Trebuchet MS"/>
              <a:sym typeface="Trebuchet MS"/>
            </a:endParaRPr>
          </a:p>
          <a:p>
            <a:pPr indent="-328454" lvl="1" marL="914400" marR="0" rtl="0" algn="l">
              <a:lnSpc>
                <a:spcPct val="200000"/>
              </a:lnSpc>
              <a:spcBef>
                <a:spcPts val="0"/>
              </a:spcBef>
              <a:spcAft>
                <a:spcPts val="0"/>
              </a:spcAft>
              <a:buClr>
                <a:srgbClr val="1E293B"/>
              </a:buClr>
              <a:buSzPct val="100000"/>
              <a:buFont typeface="Trebuchet MS"/>
              <a:buChar char="○"/>
            </a:pPr>
            <a:r>
              <a:rPr lang="en-US" sz="1700">
                <a:solidFill>
                  <a:srgbClr val="1E293B"/>
                </a:solidFill>
                <a:latin typeface="Trebuchet MS"/>
                <a:ea typeface="Trebuchet MS"/>
                <a:cs typeface="Trebuchet MS"/>
                <a:sym typeface="Trebuchet MS"/>
              </a:rPr>
              <a:t>I</a:t>
            </a:r>
            <a:r>
              <a:rPr i="0" lang="en-US" sz="1700" u="none" cap="none" strike="noStrike">
                <a:solidFill>
                  <a:srgbClr val="1E293B"/>
                </a:solidFill>
                <a:latin typeface="Trebuchet MS"/>
                <a:ea typeface="Trebuchet MS"/>
                <a:cs typeface="Trebuchet MS"/>
                <a:sym typeface="Trebuchet MS"/>
              </a:rPr>
              <a:t>nstead of index-5, Rae is in index-8. </a:t>
            </a:r>
            <a:endParaRPr i="0" sz="1700" u="none" cap="none" strike="noStrike">
              <a:solidFill>
                <a:srgbClr val="1E293B"/>
              </a:solidFill>
              <a:latin typeface="Trebuchet MS"/>
              <a:ea typeface="Trebuchet MS"/>
              <a:cs typeface="Trebuchet MS"/>
              <a:sym typeface="Trebuchet MS"/>
            </a:endParaRPr>
          </a:p>
          <a:p>
            <a:pPr indent="-328454" lvl="1" marL="914400" marR="0" rtl="0" algn="l">
              <a:lnSpc>
                <a:spcPct val="200000"/>
              </a:lnSpc>
              <a:spcBef>
                <a:spcPts val="0"/>
              </a:spcBef>
              <a:spcAft>
                <a:spcPts val="0"/>
              </a:spcAft>
              <a:buClr>
                <a:srgbClr val="1E293B"/>
              </a:buClr>
              <a:buSzPct val="100000"/>
              <a:buFont typeface="Trebuchet MS"/>
              <a:buChar char="○"/>
            </a:pPr>
            <a:r>
              <a:rPr i="0" lang="en-US" sz="1700" u="none" cap="none" strike="noStrike">
                <a:solidFill>
                  <a:srgbClr val="1E293B"/>
                </a:solidFill>
                <a:latin typeface="Trebuchet MS"/>
                <a:ea typeface="Trebuchet MS"/>
                <a:cs typeface="Trebuchet MS"/>
                <a:sym typeface="Trebuchet MS"/>
              </a:rPr>
              <a:t>We will need to do linear search to find Rae in index 8.</a:t>
            </a:r>
            <a:endParaRPr sz="1700">
              <a:latin typeface="Trebuchet MS"/>
              <a:ea typeface="Trebuchet MS"/>
              <a:cs typeface="Trebuchet MS"/>
              <a:sym typeface="Trebuchet MS"/>
            </a:endParaRPr>
          </a:p>
          <a:p>
            <a:pPr indent="0" lvl="0" marL="0" marR="0" rtl="0" algn="l">
              <a:lnSpc>
                <a:spcPct val="200000"/>
              </a:lnSpc>
              <a:spcBef>
                <a:spcPts val="0"/>
              </a:spcBef>
              <a:spcAft>
                <a:spcPts val="0"/>
              </a:spcAft>
              <a:buNone/>
            </a:pPr>
            <a:r>
              <a:t/>
            </a:r>
            <a:endParaRPr sz="1700">
              <a:latin typeface="Trebuchet MS"/>
              <a:ea typeface="Trebuchet MS"/>
              <a:cs typeface="Trebuchet MS"/>
              <a:sym typeface="Trebuchet MS"/>
            </a:endParaRPr>
          </a:p>
        </p:txBody>
      </p:sp>
      <p:sp>
        <p:nvSpPr>
          <p:cNvPr id="522" name="Google Shape;522;p23"/>
          <p:cNvSpPr txBox="1"/>
          <p:nvPr/>
        </p:nvSpPr>
        <p:spPr>
          <a:xfrm>
            <a:off x="6913775" y="4543300"/>
            <a:ext cx="50538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F6368"/>
                </a:solidFill>
                <a:latin typeface="Calibri"/>
                <a:ea typeface="Calibri"/>
                <a:cs typeface="Calibri"/>
                <a:sym typeface="Calibri"/>
              </a:rPr>
              <a:t>• Figure: Finding Rae again may require a linear search.</a:t>
            </a:r>
            <a:endParaRPr sz="1800"/>
          </a:p>
        </p:txBody>
      </p:sp>
      <p:sp>
        <p:nvSpPr>
          <p:cNvPr id="523" name="Google Shape;523;p23"/>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524" name="Google Shape;524;p23"/>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17</a:t>
            </a:r>
            <a:endParaRPr/>
          </a:p>
        </p:txBody>
      </p:sp>
      <p:pic>
        <p:nvPicPr>
          <p:cNvPr id="525" name="Google Shape;525;p23" title="13.png"/>
          <p:cNvPicPr preferRelativeResize="0"/>
          <p:nvPr/>
        </p:nvPicPr>
        <p:blipFill>
          <a:blip r:embed="rId3">
            <a:alphaModFix/>
          </a:blip>
          <a:stretch>
            <a:fillRect/>
          </a:stretch>
        </p:blipFill>
        <p:spPr>
          <a:xfrm>
            <a:off x="6731400" y="1477375"/>
            <a:ext cx="5236176" cy="291556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9" name="Shape 529"/>
        <p:cNvGrpSpPr/>
        <p:nvPr/>
      </p:nvGrpSpPr>
      <p:grpSpPr>
        <a:xfrm>
          <a:off x="0" y="0"/>
          <a:ext cx="0" cy="0"/>
          <a:chOff x="0" y="0"/>
          <a:chExt cx="0" cy="0"/>
        </a:xfrm>
      </p:grpSpPr>
      <p:sp>
        <p:nvSpPr>
          <p:cNvPr id="530" name="Google Shape;530;p24"/>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1" name="Google Shape;531;p24"/>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2" name="Google Shape;532;p24"/>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Double hashing (Optional, skip) </a:t>
            </a:r>
            <a:endParaRPr/>
          </a:p>
        </p:txBody>
      </p:sp>
      <p:sp>
        <p:nvSpPr>
          <p:cNvPr id="533" name="Google Shape;533;p24"/>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34" name="Google Shape;534;p24"/>
          <p:cNvSpPr txBox="1"/>
          <p:nvPr/>
        </p:nvSpPr>
        <p:spPr>
          <a:xfrm>
            <a:off x="649224" y="1344168"/>
            <a:ext cx="10680192" cy="5084064"/>
          </a:xfrm>
          <a:prstGeom prst="rect">
            <a:avLst/>
          </a:prstGeom>
          <a:noFill/>
          <a:ln>
            <a:noFill/>
          </a:ln>
        </p:spPr>
        <p:txBody>
          <a:bodyPr anchorCtr="0" anchor="t" bIns="45700" lIns="91425" spcFirstLastPara="1" rIns="91425" wrap="square" tIns="45700">
            <a:normAutofit/>
          </a:bodyPr>
          <a:lstStyle/>
          <a:p>
            <a:pPr indent="0" lvl="0" marL="457200" marR="0" rtl="0" algn="l">
              <a:lnSpc>
                <a:spcPct val="200000"/>
              </a:lnSpc>
              <a:spcBef>
                <a:spcPts val="0"/>
              </a:spcBef>
              <a:spcAft>
                <a:spcPts val="0"/>
              </a:spcAft>
              <a:buNone/>
            </a:pPr>
            <a:r>
              <a:t/>
            </a:r>
            <a:endParaRPr sz="1600">
              <a:solidFill>
                <a:srgbClr val="1E293B"/>
              </a:solidFill>
              <a:latin typeface="Trebuchet MS"/>
              <a:ea typeface="Trebuchet MS"/>
              <a:cs typeface="Trebuchet MS"/>
              <a:sym typeface="Trebuchet MS"/>
            </a:endParaRPr>
          </a:p>
          <a:p>
            <a:pPr indent="-330200" lvl="0" marL="457200" marR="0" rtl="0" algn="l">
              <a:lnSpc>
                <a:spcPct val="200000"/>
              </a:lnSpc>
              <a:spcBef>
                <a:spcPts val="0"/>
              </a:spcBef>
              <a:spcAft>
                <a:spcPts val="0"/>
              </a:spcAft>
              <a:buClr>
                <a:srgbClr val="1E293B"/>
              </a:buClr>
              <a:buSzPts val="1600"/>
              <a:buFont typeface="Trebuchet MS"/>
              <a:buChar char="●"/>
            </a:pPr>
            <a:r>
              <a:rPr lang="en-US" sz="1600">
                <a:solidFill>
                  <a:srgbClr val="1E293B"/>
                </a:solidFill>
                <a:latin typeface="Trebuchet MS"/>
                <a:ea typeface="Trebuchet MS"/>
                <a:cs typeface="Trebuchet MS"/>
                <a:sym typeface="Trebuchet MS"/>
              </a:rPr>
              <a:t>Better than linear probing because it </a:t>
            </a:r>
            <a:r>
              <a:rPr b="1" lang="en-US" sz="1600" u="sng">
                <a:solidFill>
                  <a:srgbClr val="1E293B"/>
                </a:solidFill>
                <a:latin typeface="Trebuchet MS"/>
                <a:ea typeface="Trebuchet MS"/>
                <a:cs typeface="Trebuchet MS"/>
                <a:sym typeface="Trebuchet MS"/>
              </a:rPr>
              <a:t>reduces clustering</a:t>
            </a:r>
            <a:r>
              <a:rPr lang="en-US" sz="1600">
                <a:solidFill>
                  <a:srgbClr val="1E293B"/>
                </a:solidFill>
                <a:latin typeface="Trebuchet MS"/>
                <a:ea typeface="Trebuchet MS"/>
                <a:cs typeface="Trebuchet MS"/>
                <a:sym typeface="Trebuchet MS"/>
              </a:rPr>
              <a:t>.</a:t>
            </a:r>
            <a:endParaRPr sz="1600">
              <a:solidFill>
                <a:srgbClr val="1E293B"/>
              </a:solidFill>
              <a:latin typeface="Trebuchet MS"/>
              <a:ea typeface="Trebuchet MS"/>
              <a:cs typeface="Trebuchet MS"/>
              <a:sym typeface="Trebuchet MS"/>
            </a:endParaRPr>
          </a:p>
          <a:p>
            <a:pPr indent="-330200" lvl="0" marL="457200" marR="0" rtl="0" algn="l">
              <a:lnSpc>
                <a:spcPct val="200000"/>
              </a:lnSpc>
              <a:spcBef>
                <a:spcPts val="0"/>
              </a:spcBef>
              <a:spcAft>
                <a:spcPts val="0"/>
              </a:spcAft>
              <a:buClr>
                <a:srgbClr val="1E293B"/>
              </a:buClr>
              <a:buSzPts val="1600"/>
              <a:buFont typeface="Trebuchet MS"/>
              <a:buChar char="●"/>
            </a:pPr>
            <a:r>
              <a:rPr lang="en-US" sz="1600">
                <a:solidFill>
                  <a:srgbClr val="1E293B"/>
                </a:solidFill>
                <a:latin typeface="Trebuchet MS"/>
                <a:ea typeface="Trebuchet MS"/>
                <a:cs typeface="Trebuchet MS"/>
                <a:sym typeface="Trebuchet MS"/>
              </a:rPr>
              <a:t>Uses a </a:t>
            </a:r>
            <a:r>
              <a:rPr b="1" lang="en-US" sz="1600" u="sng">
                <a:solidFill>
                  <a:srgbClr val="1E293B"/>
                </a:solidFill>
                <a:latin typeface="Trebuchet MS"/>
                <a:ea typeface="Trebuchet MS"/>
                <a:cs typeface="Trebuchet MS"/>
                <a:sym typeface="Trebuchet MS"/>
              </a:rPr>
              <a:t>second hash function </a:t>
            </a:r>
            <a:r>
              <a:rPr lang="en-US" sz="1600">
                <a:solidFill>
                  <a:srgbClr val="1E293B"/>
                </a:solidFill>
                <a:latin typeface="Trebuchet MS"/>
                <a:ea typeface="Trebuchet MS"/>
                <a:cs typeface="Trebuchet MS"/>
                <a:sym typeface="Trebuchet MS"/>
              </a:rPr>
              <a:t>when a collision occurs.</a:t>
            </a:r>
            <a:endParaRPr sz="1600">
              <a:solidFill>
                <a:srgbClr val="1E293B"/>
              </a:solidFill>
              <a:latin typeface="Trebuchet MS"/>
              <a:ea typeface="Trebuchet MS"/>
              <a:cs typeface="Trebuchet MS"/>
              <a:sym typeface="Trebuchet MS"/>
            </a:endParaRPr>
          </a:p>
          <a:p>
            <a:pPr indent="-330200" lvl="1" marL="914400" marR="0" rtl="0" algn="l">
              <a:lnSpc>
                <a:spcPct val="200000"/>
              </a:lnSpc>
              <a:spcBef>
                <a:spcPts val="0"/>
              </a:spcBef>
              <a:spcAft>
                <a:spcPts val="0"/>
              </a:spcAft>
              <a:buClr>
                <a:srgbClr val="1E293B"/>
              </a:buClr>
              <a:buSzPts val="1600"/>
              <a:buFont typeface="Trebuchet MS"/>
              <a:buChar char="○"/>
            </a:pPr>
            <a:r>
              <a:rPr lang="en-US" sz="1600">
                <a:solidFill>
                  <a:srgbClr val="1E293B"/>
                </a:solidFill>
                <a:latin typeface="Trebuchet MS"/>
                <a:ea typeface="Trebuchet MS"/>
                <a:cs typeface="Trebuchet MS"/>
                <a:sym typeface="Trebuchet MS"/>
              </a:rPr>
              <a:t>The first hash function determines the</a:t>
            </a:r>
            <a:r>
              <a:rPr b="1" lang="en-US" sz="1600" u="sng">
                <a:solidFill>
                  <a:srgbClr val="1E293B"/>
                </a:solidFill>
                <a:latin typeface="Trebuchet MS"/>
                <a:ea typeface="Trebuchet MS"/>
                <a:cs typeface="Trebuchet MS"/>
                <a:sym typeface="Trebuchet MS"/>
              </a:rPr>
              <a:t> initial index.</a:t>
            </a:r>
            <a:endParaRPr b="1" sz="1600" u="sng">
              <a:solidFill>
                <a:srgbClr val="1E293B"/>
              </a:solidFill>
              <a:latin typeface="Trebuchet MS"/>
              <a:ea typeface="Trebuchet MS"/>
              <a:cs typeface="Trebuchet MS"/>
              <a:sym typeface="Trebuchet MS"/>
            </a:endParaRPr>
          </a:p>
          <a:p>
            <a:pPr indent="-330200" lvl="1" marL="914400" marR="0" rtl="0" algn="l">
              <a:lnSpc>
                <a:spcPct val="200000"/>
              </a:lnSpc>
              <a:spcBef>
                <a:spcPts val="0"/>
              </a:spcBef>
              <a:spcAft>
                <a:spcPts val="0"/>
              </a:spcAft>
              <a:buClr>
                <a:srgbClr val="1E293B"/>
              </a:buClr>
              <a:buSzPts val="1600"/>
              <a:buFont typeface="Trebuchet MS"/>
              <a:buChar char="○"/>
            </a:pPr>
            <a:r>
              <a:rPr lang="en-US" sz="1600">
                <a:solidFill>
                  <a:srgbClr val="1E293B"/>
                </a:solidFill>
                <a:latin typeface="Trebuchet MS"/>
                <a:ea typeface="Trebuchet MS"/>
                <a:cs typeface="Trebuchet MS"/>
                <a:sym typeface="Trebuchet MS"/>
              </a:rPr>
              <a:t>The second hash function determines the</a:t>
            </a:r>
            <a:r>
              <a:rPr b="1" lang="en-US" sz="1600" u="sng">
                <a:solidFill>
                  <a:srgbClr val="1E293B"/>
                </a:solidFill>
                <a:latin typeface="Trebuchet MS"/>
                <a:ea typeface="Trebuchet MS"/>
                <a:cs typeface="Trebuchet MS"/>
                <a:sym typeface="Trebuchet MS"/>
              </a:rPr>
              <a:t> step size or jump distance used to</a:t>
            </a:r>
            <a:r>
              <a:rPr lang="en-US" sz="1600">
                <a:solidFill>
                  <a:srgbClr val="1E293B"/>
                </a:solidFill>
                <a:latin typeface="Trebuchet MS"/>
                <a:ea typeface="Trebuchet MS"/>
                <a:cs typeface="Trebuchet MS"/>
                <a:sym typeface="Trebuchet MS"/>
              </a:rPr>
              <a:t> find another index.</a:t>
            </a:r>
            <a:br>
              <a:rPr i="0" lang="en-US" sz="1600" u="none" cap="none" strike="noStrike">
                <a:solidFill>
                  <a:srgbClr val="1E293B"/>
                </a:solidFill>
                <a:latin typeface="Trebuchet MS"/>
                <a:ea typeface="Trebuchet MS"/>
                <a:cs typeface="Trebuchet MS"/>
                <a:sym typeface="Trebuchet MS"/>
              </a:rPr>
            </a:br>
            <a:endParaRPr sz="1600">
              <a:latin typeface="Trebuchet MS"/>
              <a:ea typeface="Trebuchet MS"/>
              <a:cs typeface="Trebuchet MS"/>
              <a:sym typeface="Trebuchet MS"/>
            </a:endParaRPr>
          </a:p>
        </p:txBody>
      </p:sp>
      <p:sp>
        <p:nvSpPr>
          <p:cNvPr id="535" name="Google Shape;535;p24"/>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536" name="Google Shape;536;p24"/>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18</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0" name="Shape 540"/>
        <p:cNvGrpSpPr/>
        <p:nvPr/>
      </p:nvGrpSpPr>
      <p:grpSpPr>
        <a:xfrm>
          <a:off x="0" y="0"/>
          <a:ext cx="0" cy="0"/>
          <a:chOff x="0" y="0"/>
          <a:chExt cx="0" cy="0"/>
        </a:xfrm>
      </p:grpSpPr>
      <p:sp>
        <p:nvSpPr>
          <p:cNvPr id="541" name="Google Shape;541;g3f557c7bba2_0_86"/>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42" name="Google Shape;542;g3f557c7bba2_0_86"/>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43" name="Google Shape;543;g3f557c7bba2_0_86"/>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Load factor (Optional, skip)</a:t>
            </a:r>
            <a:endParaRPr/>
          </a:p>
        </p:txBody>
      </p:sp>
      <p:sp>
        <p:nvSpPr>
          <p:cNvPr id="544" name="Google Shape;544;g3f557c7bba2_0_86"/>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45" name="Google Shape;545;g3f557c7bba2_0_86"/>
          <p:cNvSpPr txBox="1"/>
          <p:nvPr/>
        </p:nvSpPr>
        <p:spPr>
          <a:xfrm>
            <a:off x="246775" y="1138613"/>
            <a:ext cx="10680300" cy="5133900"/>
          </a:xfrm>
          <a:prstGeom prst="rect">
            <a:avLst/>
          </a:prstGeom>
          <a:noFill/>
          <a:ln>
            <a:noFill/>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None/>
            </a:pPr>
            <a:r>
              <a:t/>
            </a:r>
            <a:endParaRPr sz="1600">
              <a:solidFill>
                <a:srgbClr val="1E293B"/>
              </a:solidFill>
              <a:latin typeface="Trebuchet MS"/>
              <a:ea typeface="Trebuchet MS"/>
              <a:cs typeface="Trebuchet MS"/>
              <a:sym typeface="Trebuchet MS"/>
            </a:endParaRPr>
          </a:p>
          <a:p>
            <a:pPr indent="0" lvl="0" marL="0" marR="0" rtl="0" algn="l">
              <a:lnSpc>
                <a:spcPct val="200000"/>
              </a:lnSpc>
              <a:spcBef>
                <a:spcPts val="0"/>
              </a:spcBef>
              <a:spcAft>
                <a:spcPts val="0"/>
              </a:spcAft>
              <a:buNone/>
            </a:pPr>
            <a:r>
              <a:rPr lang="en-US" sz="1600">
                <a:solidFill>
                  <a:srgbClr val="1E293B"/>
                </a:solidFill>
                <a:latin typeface="Trebuchet MS"/>
                <a:ea typeface="Trebuchet MS"/>
                <a:cs typeface="Trebuchet MS"/>
                <a:sym typeface="Trebuchet MS"/>
              </a:rPr>
              <a:t>        </a:t>
            </a:r>
            <a:r>
              <a:rPr i="0" lang="en-US" sz="1600" u="none" cap="none" strike="noStrike">
                <a:solidFill>
                  <a:srgbClr val="1E293B"/>
                </a:solidFill>
                <a:latin typeface="Trebuchet MS"/>
                <a:ea typeface="Trebuchet MS"/>
                <a:cs typeface="Trebuchet MS"/>
                <a:sym typeface="Trebuchet MS"/>
              </a:rPr>
              <a:t>◦ </a:t>
            </a:r>
            <a:r>
              <a:rPr lang="en-US" sz="1600">
                <a:solidFill>
                  <a:srgbClr val="1E293B"/>
                </a:solidFill>
                <a:latin typeface="Trebuchet MS"/>
                <a:ea typeface="Trebuchet MS"/>
                <a:cs typeface="Trebuchet MS"/>
                <a:sym typeface="Trebuchet MS"/>
              </a:rPr>
              <a:t>T</a:t>
            </a:r>
            <a:r>
              <a:rPr i="0" lang="en-US" sz="1600" u="none" cap="none" strike="noStrike">
                <a:solidFill>
                  <a:srgbClr val="1E293B"/>
                </a:solidFill>
                <a:latin typeface="Trebuchet MS"/>
                <a:ea typeface="Trebuchet MS"/>
                <a:cs typeface="Trebuchet MS"/>
                <a:sym typeface="Trebuchet MS"/>
              </a:rPr>
              <a:t>he load factor is a measure of</a:t>
            </a:r>
            <a:r>
              <a:rPr b="1" i="0" lang="en-US" sz="1600" u="sng" cap="none" strike="noStrike">
                <a:solidFill>
                  <a:srgbClr val="1E293B"/>
                </a:solidFill>
                <a:latin typeface="Trebuchet MS"/>
                <a:ea typeface="Trebuchet MS"/>
                <a:cs typeface="Trebuchet MS"/>
                <a:sym typeface="Trebuchet MS"/>
              </a:rPr>
              <a:t> how full a hash table is.</a:t>
            </a:r>
            <a:endParaRPr b="1" sz="1600" u="sng">
              <a:latin typeface="Trebuchet MS"/>
              <a:ea typeface="Trebuchet MS"/>
              <a:cs typeface="Trebuchet MS"/>
              <a:sym typeface="Trebuchet MS"/>
            </a:endParaRPr>
          </a:p>
          <a:p>
            <a:pPr indent="0" lvl="0" marL="457200" marR="0" rtl="0" algn="l">
              <a:lnSpc>
                <a:spcPct val="20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a:t>
            </a:r>
            <a:r>
              <a:rPr b="1" i="0" lang="en-US" sz="1800" u="none" cap="none" strike="noStrike">
                <a:solidFill>
                  <a:schemeClr val="dk2"/>
                </a:solidFill>
                <a:latin typeface="Trebuchet MS"/>
                <a:ea typeface="Trebuchet MS"/>
                <a:cs typeface="Trebuchet MS"/>
                <a:sym typeface="Trebuchet MS"/>
              </a:rPr>
              <a:t>Load factor = number of items / total number of slots</a:t>
            </a:r>
            <a:endParaRPr b="1" sz="1800">
              <a:solidFill>
                <a:schemeClr val="dk2"/>
              </a:solidFill>
              <a:latin typeface="Trebuchet MS"/>
              <a:ea typeface="Trebuchet MS"/>
              <a:cs typeface="Trebuchet MS"/>
              <a:sym typeface="Trebuchet MS"/>
            </a:endParaRPr>
          </a:p>
          <a:p>
            <a:pPr indent="0" lvl="0" marL="457200" marR="0" rtl="0" algn="l">
              <a:lnSpc>
                <a:spcPct val="20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For the example below,</a:t>
            </a:r>
            <a:endParaRPr i="0" sz="1600" u="none" cap="none" strike="noStrike">
              <a:solidFill>
                <a:srgbClr val="1E293B"/>
              </a:solidFill>
              <a:latin typeface="Trebuchet MS"/>
              <a:ea typeface="Trebuchet MS"/>
              <a:cs typeface="Trebuchet MS"/>
              <a:sym typeface="Trebuchet MS"/>
            </a:endParaRPr>
          </a:p>
          <a:p>
            <a:pPr indent="-330200" lvl="0" marL="1828800" rtl="0" algn="l">
              <a:lnSpc>
                <a:spcPct val="200000"/>
              </a:lnSpc>
              <a:spcBef>
                <a:spcPts val="0"/>
              </a:spcBef>
              <a:spcAft>
                <a:spcPts val="0"/>
              </a:spcAft>
              <a:buClr>
                <a:srgbClr val="1E293B"/>
              </a:buClr>
              <a:buSzPts val="1600"/>
              <a:buFont typeface="Trebuchet MS"/>
              <a:buChar char="●"/>
            </a:pPr>
            <a:r>
              <a:rPr lang="en-US" sz="1600">
                <a:solidFill>
                  <a:srgbClr val="1E293B"/>
                </a:solidFill>
                <a:latin typeface="Trebuchet MS"/>
                <a:ea typeface="Trebuchet MS"/>
                <a:cs typeface="Trebuchet MS"/>
                <a:sym typeface="Trebuchet MS"/>
              </a:rPr>
              <a:t>Number of slots = 5</a:t>
            </a:r>
            <a:endParaRPr sz="1600">
              <a:solidFill>
                <a:srgbClr val="1E293B"/>
              </a:solidFill>
              <a:latin typeface="Trebuchet MS"/>
              <a:ea typeface="Trebuchet MS"/>
              <a:cs typeface="Trebuchet MS"/>
              <a:sym typeface="Trebuchet MS"/>
            </a:endParaRPr>
          </a:p>
          <a:p>
            <a:pPr indent="-330200" lvl="0" marL="1828800" rtl="0" algn="l">
              <a:lnSpc>
                <a:spcPct val="200000"/>
              </a:lnSpc>
              <a:spcBef>
                <a:spcPts val="0"/>
              </a:spcBef>
              <a:spcAft>
                <a:spcPts val="0"/>
              </a:spcAft>
              <a:buClr>
                <a:srgbClr val="1E293B"/>
              </a:buClr>
              <a:buSzPts val="1600"/>
              <a:buFont typeface="Trebuchet MS"/>
              <a:buChar char="●"/>
            </a:pPr>
            <a:r>
              <a:rPr lang="en-US" sz="1600">
                <a:solidFill>
                  <a:srgbClr val="1E293B"/>
                </a:solidFill>
                <a:latin typeface="Trebuchet MS"/>
                <a:ea typeface="Trebuchet MS"/>
                <a:cs typeface="Trebuchet MS"/>
                <a:sym typeface="Trebuchet MS"/>
              </a:rPr>
              <a:t>Number of items = 7</a:t>
            </a:r>
            <a:endParaRPr sz="1600">
              <a:solidFill>
                <a:srgbClr val="1E293B"/>
              </a:solidFill>
              <a:latin typeface="Trebuchet MS"/>
              <a:ea typeface="Trebuchet MS"/>
              <a:cs typeface="Trebuchet MS"/>
              <a:sym typeface="Trebuchet MS"/>
            </a:endParaRPr>
          </a:p>
          <a:p>
            <a:pPr indent="-330200" lvl="0" marL="1828800" rtl="0" algn="l">
              <a:lnSpc>
                <a:spcPct val="200000"/>
              </a:lnSpc>
              <a:spcBef>
                <a:spcPts val="0"/>
              </a:spcBef>
              <a:spcAft>
                <a:spcPts val="0"/>
              </a:spcAft>
              <a:buClr>
                <a:srgbClr val="1E293B"/>
              </a:buClr>
              <a:buSzPts val="1600"/>
              <a:buFont typeface="Trebuchet MS"/>
              <a:buChar char="●"/>
            </a:pPr>
            <a:r>
              <a:rPr i="0" lang="en-US" sz="1600" u="none" cap="none" strike="noStrike">
                <a:solidFill>
                  <a:srgbClr val="1E293B"/>
                </a:solidFill>
                <a:latin typeface="Trebuchet MS"/>
                <a:ea typeface="Trebuchet MS"/>
                <a:cs typeface="Trebuchet MS"/>
                <a:sym typeface="Trebuchet MS"/>
              </a:rPr>
              <a:t>So, load factor = 7/5 = 1.4 (</a:t>
            </a:r>
            <a:r>
              <a:rPr lang="en-US" sz="1532">
                <a:solidFill>
                  <a:schemeClr val="dk1"/>
                </a:solidFill>
                <a:latin typeface="Trebuchet MS"/>
                <a:ea typeface="Trebuchet MS"/>
                <a:cs typeface="Trebuchet MS"/>
                <a:sym typeface="Trebuchet MS"/>
              </a:rPr>
              <a:t>on average, each slot stores </a:t>
            </a:r>
            <a:r>
              <a:rPr b="1" lang="en-US" sz="1532">
                <a:solidFill>
                  <a:schemeClr val="dk1"/>
                </a:solidFill>
                <a:latin typeface="Trebuchet MS"/>
                <a:ea typeface="Trebuchet MS"/>
                <a:cs typeface="Trebuchet MS"/>
                <a:sym typeface="Trebuchet MS"/>
              </a:rPr>
              <a:t>1.4 items</a:t>
            </a:r>
            <a:r>
              <a:rPr i="0" lang="en-US" sz="1600" u="none" cap="none" strike="noStrike">
                <a:solidFill>
                  <a:srgbClr val="1E293B"/>
                </a:solidFill>
                <a:latin typeface="Trebuchet MS"/>
                <a:ea typeface="Trebuchet MS"/>
                <a:cs typeface="Trebuchet MS"/>
                <a:sym typeface="Trebuchet MS"/>
              </a:rPr>
              <a:t>)</a:t>
            </a:r>
            <a:endParaRPr sz="1532">
              <a:solidFill>
                <a:schemeClr val="dk1"/>
              </a:solidFill>
              <a:latin typeface="Trebuchet MS"/>
              <a:ea typeface="Trebuchet MS"/>
              <a:cs typeface="Trebuchet MS"/>
              <a:sym typeface="Trebuchet MS"/>
            </a:endParaRPr>
          </a:p>
        </p:txBody>
      </p:sp>
      <p:sp>
        <p:nvSpPr>
          <p:cNvPr id="546" name="Google Shape;546;g3f557c7bba2_0_86"/>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547" name="Google Shape;547;g3f557c7bba2_0_86"/>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18</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1" name="Shape 551"/>
        <p:cNvGrpSpPr/>
        <p:nvPr/>
      </p:nvGrpSpPr>
      <p:grpSpPr>
        <a:xfrm>
          <a:off x="0" y="0"/>
          <a:ext cx="0" cy="0"/>
          <a:chOff x="0" y="0"/>
          <a:chExt cx="0" cy="0"/>
        </a:xfrm>
      </p:grpSpPr>
      <p:sp>
        <p:nvSpPr>
          <p:cNvPr id="552" name="Google Shape;552;g3f93b0b83d1_2_51"/>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53" name="Google Shape;553;g3f93b0b83d1_2_51"/>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54" name="Google Shape;554;g3f93b0b83d1_2_51"/>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Load factor (Optional, skip)</a:t>
            </a:r>
            <a:endParaRPr/>
          </a:p>
        </p:txBody>
      </p:sp>
      <p:sp>
        <p:nvSpPr>
          <p:cNvPr id="555" name="Google Shape;555;g3f93b0b83d1_2_51"/>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56" name="Google Shape;556;g3f93b0b83d1_2_51"/>
          <p:cNvSpPr txBox="1"/>
          <p:nvPr/>
        </p:nvSpPr>
        <p:spPr>
          <a:xfrm>
            <a:off x="978175" y="4542775"/>
            <a:ext cx="10680300" cy="1932300"/>
          </a:xfrm>
          <a:prstGeom prst="rect">
            <a:avLst/>
          </a:prstGeom>
          <a:noFill/>
          <a:ln>
            <a:noFill/>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None/>
            </a:pPr>
            <a:r>
              <a:t/>
            </a:r>
            <a:endParaRPr sz="1532">
              <a:solidFill>
                <a:schemeClr val="dk1"/>
              </a:solidFill>
              <a:latin typeface="Trebuchet MS"/>
              <a:ea typeface="Trebuchet MS"/>
              <a:cs typeface="Trebuchet MS"/>
              <a:sym typeface="Trebuchet MS"/>
            </a:endParaRPr>
          </a:p>
          <a:p>
            <a:pPr indent="-325909" lvl="0" marL="914400" rtl="0" algn="l">
              <a:lnSpc>
                <a:spcPct val="200000"/>
              </a:lnSpc>
              <a:spcBef>
                <a:spcPts val="0"/>
              </a:spcBef>
              <a:spcAft>
                <a:spcPts val="0"/>
              </a:spcAft>
              <a:buClr>
                <a:schemeClr val="dk1"/>
              </a:buClr>
              <a:buSzPts val="1532"/>
              <a:buFont typeface="Trebuchet MS"/>
              <a:buChar char="●"/>
            </a:pPr>
            <a:r>
              <a:rPr lang="en-US" sz="1532">
                <a:solidFill>
                  <a:schemeClr val="dk1"/>
                </a:solidFill>
                <a:latin typeface="Trebuchet MS"/>
                <a:ea typeface="Trebuchet MS"/>
                <a:cs typeface="Trebuchet MS"/>
                <a:sym typeface="Trebuchet MS"/>
              </a:rPr>
              <a:t>In forward chaining, the load factor can be greater than 1.</a:t>
            </a:r>
            <a:endParaRPr sz="1532">
              <a:solidFill>
                <a:schemeClr val="dk1"/>
              </a:solidFill>
              <a:latin typeface="Trebuchet MS"/>
              <a:ea typeface="Trebuchet MS"/>
              <a:cs typeface="Trebuchet MS"/>
              <a:sym typeface="Trebuchet MS"/>
            </a:endParaRPr>
          </a:p>
          <a:p>
            <a:pPr indent="-325909" lvl="0" marL="914400" rtl="0" algn="l">
              <a:lnSpc>
                <a:spcPct val="200000"/>
              </a:lnSpc>
              <a:spcBef>
                <a:spcPts val="0"/>
              </a:spcBef>
              <a:spcAft>
                <a:spcPts val="0"/>
              </a:spcAft>
              <a:buClr>
                <a:schemeClr val="dk1"/>
              </a:buClr>
              <a:buSzPts val="1532"/>
              <a:buFont typeface="Trebuchet MS"/>
              <a:buChar char="●"/>
            </a:pPr>
            <a:r>
              <a:rPr lang="en-US" sz="1532">
                <a:solidFill>
                  <a:schemeClr val="dk1"/>
                </a:solidFill>
                <a:latin typeface="Trebuchet MS"/>
                <a:ea typeface="Trebuchet MS"/>
                <a:cs typeface="Trebuchet MS"/>
                <a:sym typeface="Trebuchet MS"/>
              </a:rPr>
              <a:t>A lower load factor generally reduces collisions and improves performance.</a:t>
            </a:r>
            <a:endParaRPr sz="1532">
              <a:solidFill>
                <a:schemeClr val="dk1"/>
              </a:solidFill>
              <a:latin typeface="Trebuchet MS"/>
              <a:ea typeface="Trebuchet MS"/>
              <a:cs typeface="Trebuchet MS"/>
              <a:sym typeface="Trebuchet MS"/>
            </a:endParaRPr>
          </a:p>
          <a:p>
            <a:pPr indent="-325909" lvl="0" marL="914400" rtl="0" algn="l">
              <a:lnSpc>
                <a:spcPct val="200000"/>
              </a:lnSpc>
              <a:spcBef>
                <a:spcPts val="0"/>
              </a:spcBef>
              <a:spcAft>
                <a:spcPts val="0"/>
              </a:spcAft>
              <a:buClr>
                <a:schemeClr val="dk1"/>
              </a:buClr>
              <a:buSzPts val="1532"/>
              <a:buFont typeface="Trebuchet MS"/>
              <a:buChar char="●"/>
            </a:pPr>
            <a:r>
              <a:rPr lang="en-US" sz="1532">
                <a:solidFill>
                  <a:schemeClr val="dk1"/>
                </a:solidFill>
                <a:latin typeface="Trebuchet MS"/>
                <a:ea typeface="Trebuchet MS"/>
                <a:cs typeface="Trebuchet MS"/>
                <a:sym typeface="Trebuchet MS"/>
              </a:rPr>
              <a:t>Ideal is to have 1. (No collisions)</a:t>
            </a:r>
            <a:endParaRPr sz="1532">
              <a:solidFill>
                <a:schemeClr val="dk1"/>
              </a:solidFill>
              <a:latin typeface="Trebuchet MS"/>
              <a:ea typeface="Trebuchet MS"/>
              <a:cs typeface="Trebuchet MS"/>
              <a:sym typeface="Trebuchet MS"/>
            </a:endParaRPr>
          </a:p>
        </p:txBody>
      </p:sp>
      <p:sp>
        <p:nvSpPr>
          <p:cNvPr id="557" name="Google Shape;557;g3f93b0b83d1_2_51"/>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558" name="Google Shape;558;g3f93b0b83d1_2_51"/>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18</a:t>
            </a:r>
            <a:endParaRPr/>
          </a:p>
        </p:txBody>
      </p:sp>
      <p:pic>
        <p:nvPicPr>
          <p:cNvPr descr="a_clean_educational_infographic_slide_about_hash_batch_4.png" id="559" name="Google Shape;559;g3f93b0b83d1_2_51"/>
          <p:cNvPicPr preferRelativeResize="0"/>
          <p:nvPr/>
        </p:nvPicPr>
        <p:blipFill rotWithShape="1">
          <a:blip r:embed="rId3">
            <a:alphaModFix/>
          </a:blip>
          <a:srcRect b="0" l="0" r="0" t="13801"/>
          <a:stretch/>
        </p:blipFill>
        <p:spPr>
          <a:xfrm>
            <a:off x="2180788" y="1131050"/>
            <a:ext cx="6812276" cy="3304825"/>
          </a:xfrm>
          <a:prstGeom prst="rect">
            <a:avLst/>
          </a:prstGeom>
          <a:noFill/>
          <a:ln cap="flat" cmpd="sng" w="9525">
            <a:solidFill>
              <a:srgbClr val="D9EAF7"/>
            </a:solidFill>
            <a:prstDash val="solid"/>
            <a:round/>
            <a:headEnd len="sm" w="sm" type="none"/>
            <a:tailEnd len="sm" w="sm" type="none"/>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3" name="Shape 563"/>
        <p:cNvGrpSpPr/>
        <p:nvPr/>
      </p:nvGrpSpPr>
      <p:grpSpPr>
        <a:xfrm>
          <a:off x="0" y="0"/>
          <a:ext cx="0" cy="0"/>
          <a:chOff x="0" y="0"/>
          <a:chExt cx="0" cy="0"/>
        </a:xfrm>
      </p:grpSpPr>
      <p:sp>
        <p:nvSpPr>
          <p:cNvPr id="564" name="Google Shape;564;p25"/>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65" name="Google Shape;565;p25"/>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66" name="Google Shape;566;p25"/>
          <p:cNvSpPr txBox="1"/>
          <p:nvPr/>
        </p:nvSpPr>
        <p:spPr>
          <a:xfrm>
            <a:off x="411480" y="256032"/>
            <a:ext cx="11155800" cy="47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Closed addressing: Forward chaining </a:t>
            </a:r>
            <a:r>
              <a:rPr b="1" i="0" lang="en-US" sz="2500" u="none" cap="none" strike="noStrike">
                <a:solidFill>
                  <a:srgbClr val="990000"/>
                </a:solidFill>
                <a:latin typeface="Calibri"/>
                <a:ea typeface="Calibri"/>
                <a:cs typeface="Calibri"/>
                <a:sym typeface="Calibri"/>
              </a:rPr>
              <a:t>(Important!!!!)</a:t>
            </a:r>
            <a:endParaRPr sz="1500">
              <a:solidFill>
                <a:srgbClr val="990000"/>
              </a:solidFill>
            </a:endParaRPr>
          </a:p>
        </p:txBody>
      </p:sp>
      <p:sp>
        <p:nvSpPr>
          <p:cNvPr id="567" name="Google Shape;567;p25"/>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68" name="Google Shape;568;p25"/>
          <p:cNvSpPr txBox="1"/>
          <p:nvPr/>
        </p:nvSpPr>
        <p:spPr>
          <a:xfrm>
            <a:off x="649225" y="1408175"/>
            <a:ext cx="9921900" cy="3126300"/>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Forward Chaining:</a:t>
            </a:r>
            <a:br>
              <a:rPr i="0" lang="en-US" sz="1600" u="none" cap="none" strike="noStrike">
                <a:solidFill>
                  <a:srgbClr val="1E293B"/>
                </a:solidFill>
                <a:latin typeface="Trebuchet MS"/>
                <a:ea typeface="Trebuchet MS"/>
                <a:cs typeface="Trebuchet MS"/>
                <a:sym typeface="Trebuchet MS"/>
              </a:rPr>
            </a:br>
            <a:endParaRPr sz="1600">
              <a:latin typeface="Trebuchet MS"/>
              <a:ea typeface="Trebuchet MS"/>
              <a:cs typeface="Trebuchet MS"/>
              <a:sym typeface="Trebuchet MS"/>
            </a:endParaRPr>
          </a:p>
          <a:p>
            <a:pPr indent="0" lvl="0" marL="457200" marR="0" rtl="0" algn="l">
              <a:lnSpc>
                <a:spcPct val="15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Forward chaining stores a linked list at each index.</a:t>
            </a:r>
            <a:endParaRPr sz="1600">
              <a:latin typeface="Trebuchet MS"/>
              <a:ea typeface="Trebuchet MS"/>
              <a:cs typeface="Trebuchet MS"/>
              <a:sym typeface="Trebuchet MS"/>
            </a:endParaRPr>
          </a:p>
          <a:p>
            <a:pPr indent="0" lvl="0" marL="457200" marR="0" rtl="0" algn="l">
              <a:lnSpc>
                <a:spcPct val="150000"/>
              </a:lnSpc>
              <a:spcBef>
                <a:spcPts val="0"/>
              </a:spcBef>
              <a:spcAft>
                <a:spcPts val="0"/>
              </a:spcAft>
              <a:buNone/>
            </a:pPr>
            <a:r>
              <a:rPr i="0" lang="en-US" sz="1600" u="none" cap="none" strike="noStrike">
                <a:solidFill>
                  <a:srgbClr val="1E293B"/>
                </a:solidFill>
                <a:latin typeface="Trebuchet MS"/>
                <a:ea typeface="Trebuchet MS"/>
                <a:cs typeface="Trebuchet MS"/>
                <a:sym typeface="Trebuchet MS"/>
              </a:rPr>
              <a:t>◦ It effectively handles collisions in a hash table, ensuring no key-value pairs are overwritten or lost.</a:t>
            </a:r>
            <a:endParaRPr i="0" sz="1600" u="none" cap="none" strike="noStrike">
              <a:solidFill>
                <a:srgbClr val="1E293B"/>
              </a:solidFill>
              <a:latin typeface="Trebuchet MS"/>
              <a:ea typeface="Trebuchet MS"/>
              <a:cs typeface="Trebuchet MS"/>
              <a:sym typeface="Trebuchet MS"/>
            </a:endParaRPr>
          </a:p>
          <a:p>
            <a:pPr indent="0" lvl="0" marL="457200" marR="0" rtl="0" algn="l">
              <a:lnSpc>
                <a:spcPct val="150000"/>
              </a:lnSpc>
              <a:spcBef>
                <a:spcPts val="0"/>
              </a:spcBef>
              <a:spcAft>
                <a:spcPts val="0"/>
              </a:spcAft>
              <a:buNone/>
            </a:pPr>
            <a:r>
              <a:t/>
            </a:r>
            <a:endParaRPr sz="1600">
              <a:solidFill>
                <a:srgbClr val="1E293B"/>
              </a:solidFill>
              <a:latin typeface="Trebuchet MS"/>
              <a:ea typeface="Trebuchet MS"/>
              <a:cs typeface="Trebuchet MS"/>
              <a:sym typeface="Trebuchet MS"/>
            </a:endParaRPr>
          </a:p>
          <a:p>
            <a:pPr indent="0" lvl="0" marL="457200" marR="0" rtl="0" algn="l">
              <a:lnSpc>
                <a:spcPct val="150000"/>
              </a:lnSpc>
              <a:spcBef>
                <a:spcPts val="0"/>
              </a:spcBef>
              <a:spcAft>
                <a:spcPts val="0"/>
              </a:spcAft>
              <a:buNone/>
            </a:pPr>
            <a:r>
              <a:t/>
            </a:r>
            <a:endParaRPr sz="1600">
              <a:solidFill>
                <a:srgbClr val="1E293B"/>
              </a:solidFill>
              <a:latin typeface="Trebuchet MS"/>
              <a:ea typeface="Trebuchet MS"/>
              <a:cs typeface="Trebuchet MS"/>
              <a:sym typeface="Trebuchet MS"/>
            </a:endParaRPr>
          </a:p>
          <a:p>
            <a:pPr indent="0" lvl="0" marL="0" rtl="0" algn="ctr">
              <a:lnSpc>
                <a:spcPct val="115000"/>
              </a:lnSpc>
              <a:spcBef>
                <a:spcPts val="0"/>
              </a:spcBef>
              <a:spcAft>
                <a:spcPts val="0"/>
              </a:spcAft>
              <a:buClr>
                <a:schemeClr val="dk1"/>
              </a:buClr>
              <a:buSzPts val="1100"/>
              <a:buFont typeface="Arial"/>
              <a:buNone/>
            </a:pPr>
            <a:r>
              <a:rPr b="1" lang="en-US" sz="1800">
                <a:solidFill>
                  <a:srgbClr val="17365D"/>
                </a:solidFill>
              </a:rPr>
              <a:t>Collision is handled inside the </a:t>
            </a:r>
            <a:r>
              <a:rPr b="1" lang="en-US" sz="1800">
                <a:solidFill>
                  <a:srgbClr val="0000FF"/>
                </a:solidFill>
              </a:rPr>
              <a:t>original bucket</a:t>
            </a:r>
            <a:r>
              <a:rPr b="1" lang="en-US" sz="1800">
                <a:solidFill>
                  <a:srgbClr val="17365D"/>
                </a:solidFill>
              </a:rPr>
              <a:t>; </a:t>
            </a:r>
            <a:r>
              <a:rPr b="1" lang="en-US" sz="1800" u="sng">
                <a:solidFill>
                  <a:srgbClr val="17365D"/>
                </a:solidFill>
              </a:rPr>
              <a:t>no key-value pair is overwritten.</a:t>
            </a:r>
            <a:endParaRPr b="1" sz="1800" u="sng">
              <a:solidFill>
                <a:srgbClr val="17365D"/>
              </a:solidFill>
            </a:endParaRPr>
          </a:p>
          <a:p>
            <a:pPr indent="0" lvl="0" marL="457200" marR="0" rtl="0" algn="l">
              <a:lnSpc>
                <a:spcPct val="150000"/>
              </a:lnSpc>
              <a:spcBef>
                <a:spcPts val="0"/>
              </a:spcBef>
              <a:spcAft>
                <a:spcPts val="0"/>
              </a:spcAft>
              <a:buNone/>
            </a:pPr>
            <a:r>
              <a:t/>
            </a:r>
            <a:endParaRPr sz="1600">
              <a:solidFill>
                <a:srgbClr val="1E293B"/>
              </a:solidFill>
              <a:latin typeface="Trebuchet MS"/>
              <a:ea typeface="Trebuchet MS"/>
              <a:cs typeface="Trebuchet MS"/>
              <a:sym typeface="Trebuchet MS"/>
            </a:endParaRPr>
          </a:p>
        </p:txBody>
      </p:sp>
      <p:sp>
        <p:nvSpPr>
          <p:cNvPr id="569" name="Google Shape;569;p25"/>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570" name="Google Shape;570;p25"/>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19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4" name="Shape 574"/>
        <p:cNvGrpSpPr/>
        <p:nvPr/>
      </p:nvGrpSpPr>
      <p:grpSpPr>
        <a:xfrm>
          <a:off x="0" y="0"/>
          <a:ext cx="0" cy="0"/>
          <a:chOff x="0" y="0"/>
          <a:chExt cx="0" cy="0"/>
        </a:xfrm>
      </p:grpSpPr>
      <p:sp>
        <p:nvSpPr>
          <p:cNvPr id="575" name="Google Shape;575;p28"/>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76" name="Google Shape;576;p28"/>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77" name="Google Shape;577;p28"/>
          <p:cNvSpPr txBox="1"/>
          <p:nvPr/>
        </p:nvSpPr>
        <p:spPr>
          <a:xfrm>
            <a:off x="411480" y="256032"/>
            <a:ext cx="11155680" cy="530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Which type of linked list can be used</a:t>
            </a:r>
            <a:endParaRPr/>
          </a:p>
        </p:txBody>
      </p:sp>
      <p:sp>
        <p:nvSpPr>
          <p:cNvPr id="578" name="Google Shape;578;p28"/>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79" name="Google Shape;579;p28"/>
          <p:cNvSpPr txBox="1"/>
          <p:nvPr/>
        </p:nvSpPr>
        <p:spPr>
          <a:xfrm>
            <a:off x="245650" y="1519050"/>
            <a:ext cx="6026400" cy="3819900"/>
          </a:xfrm>
          <a:prstGeom prst="rect">
            <a:avLst/>
          </a:prstGeom>
          <a:noFill/>
          <a:ln>
            <a:noFill/>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None/>
            </a:pPr>
            <a:r>
              <a:rPr i="0" lang="en-US" sz="1800" u="none" cap="none" strike="noStrike">
                <a:solidFill>
                  <a:srgbClr val="1E293B"/>
                </a:solidFill>
                <a:latin typeface="Trebuchet MS"/>
                <a:ea typeface="Trebuchet MS"/>
                <a:cs typeface="Trebuchet MS"/>
                <a:sym typeface="Trebuchet MS"/>
              </a:rPr>
              <a:t>• Any type of </a:t>
            </a:r>
            <a:r>
              <a:rPr b="1" i="0" lang="en-US" sz="1800" u="sng" cap="none" strike="noStrike">
                <a:solidFill>
                  <a:srgbClr val="0000FF"/>
                </a:solidFill>
                <a:latin typeface="Trebuchet MS"/>
                <a:ea typeface="Trebuchet MS"/>
                <a:cs typeface="Trebuchet MS"/>
                <a:sym typeface="Trebuchet MS"/>
              </a:rPr>
              <a:t>linear</a:t>
            </a:r>
            <a:r>
              <a:rPr b="1" i="0" lang="en-US" sz="1800" u="sng" cap="none" strike="noStrike">
                <a:solidFill>
                  <a:srgbClr val="1E293B"/>
                </a:solidFill>
                <a:latin typeface="Trebuchet MS"/>
                <a:ea typeface="Trebuchet MS"/>
                <a:cs typeface="Trebuchet MS"/>
                <a:sym typeface="Trebuchet MS"/>
              </a:rPr>
              <a:t> linked list</a:t>
            </a:r>
            <a:r>
              <a:rPr i="0" lang="en-US" sz="1800" u="none" cap="none" strike="noStrike">
                <a:solidFill>
                  <a:srgbClr val="1E293B"/>
                </a:solidFill>
                <a:latin typeface="Trebuchet MS"/>
                <a:ea typeface="Trebuchet MS"/>
                <a:cs typeface="Trebuchet MS"/>
                <a:sym typeface="Trebuchet MS"/>
              </a:rPr>
              <a:t> can be used for hashing.</a:t>
            </a:r>
            <a:endParaRPr>
              <a:latin typeface="Trebuchet MS"/>
              <a:ea typeface="Trebuchet MS"/>
              <a:cs typeface="Trebuchet MS"/>
              <a:sym typeface="Trebuchet MS"/>
            </a:endParaRPr>
          </a:p>
          <a:p>
            <a:pPr indent="0" lvl="0" marL="457200" marR="0" rtl="0" algn="l">
              <a:lnSpc>
                <a:spcPct val="200000"/>
              </a:lnSpc>
              <a:spcBef>
                <a:spcPts val="0"/>
              </a:spcBef>
              <a:spcAft>
                <a:spcPts val="0"/>
              </a:spcAft>
              <a:buNone/>
            </a:pPr>
            <a:r>
              <a:rPr i="0" lang="en-US" sz="1800" u="none" cap="none" strike="noStrike">
                <a:solidFill>
                  <a:srgbClr val="1E293B"/>
                </a:solidFill>
                <a:latin typeface="Trebuchet MS"/>
                <a:ea typeface="Trebuchet MS"/>
                <a:cs typeface="Trebuchet MS"/>
                <a:sym typeface="Trebuchet MS"/>
              </a:rPr>
              <a:t>• Dummy-headed singly linear</a:t>
            </a:r>
            <a:endParaRPr>
              <a:latin typeface="Trebuchet MS"/>
              <a:ea typeface="Trebuchet MS"/>
              <a:cs typeface="Trebuchet MS"/>
              <a:sym typeface="Trebuchet MS"/>
            </a:endParaRPr>
          </a:p>
          <a:p>
            <a:pPr indent="0" lvl="0" marL="457200" marR="0" rtl="0" algn="l">
              <a:lnSpc>
                <a:spcPct val="200000"/>
              </a:lnSpc>
              <a:spcBef>
                <a:spcPts val="0"/>
              </a:spcBef>
              <a:spcAft>
                <a:spcPts val="0"/>
              </a:spcAft>
              <a:buNone/>
            </a:pPr>
            <a:r>
              <a:rPr i="0" lang="en-US" sz="1800" u="none" cap="none" strike="noStrike">
                <a:solidFill>
                  <a:srgbClr val="1E293B"/>
                </a:solidFill>
                <a:latin typeface="Trebuchet MS"/>
                <a:ea typeface="Trebuchet MS"/>
                <a:cs typeface="Trebuchet MS"/>
                <a:sym typeface="Trebuchet MS"/>
              </a:rPr>
              <a:t>• Dummy-headed doubly linear</a:t>
            </a:r>
            <a:endParaRPr>
              <a:latin typeface="Trebuchet MS"/>
              <a:ea typeface="Trebuchet MS"/>
              <a:cs typeface="Trebuchet MS"/>
              <a:sym typeface="Trebuchet MS"/>
            </a:endParaRPr>
          </a:p>
          <a:p>
            <a:pPr indent="0" lvl="0" marL="457200" marR="0" rtl="0" algn="l">
              <a:lnSpc>
                <a:spcPct val="200000"/>
              </a:lnSpc>
              <a:spcBef>
                <a:spcPts val="0"/>
              </a:spcBef>
              <a:spcAft>
                <a:spcPts val="0"/>
              </a:spcAft>
              <a:buNone/>
            </a:pPr>
            <a:r>
              <a:rPr i="0" lang="en-US" sz="1800" u="none" cap="none" strike="noStrike">
                <a:solidFill>
                  <a:srgbClr val="1E293B"/>
                </a:solidFill>
                <a:latin typeface="Trebuchet MS"/>
                <a:ea typeface="Trebuchet MS"/>
                <a:cs typeface="Trebuchet MS"/>
                <a:sym typeface="Trebuchet MS"/>
              </a:rPr>
              <a:t>• Non-dummy-headed singly linear</a:t>
            </a:r>
            <a:endParaRPr>
              <a:latin typeface="Trebuchet MS"/>
              <a:ea typeface="Trebuchet MS"/>
              <a:cs typeface="Trebuchet MS"/>
              <a:sym typeface="Trebuchet MS"/>
            </a:endParaRPr>
          </a:p>
          <a:p>
            <a:pPr indent="0" lvl="0" marL="457200" marR="0" rtl="0" algn="l">
              <a:lnSpc>
                <a:spcPct val="200000"/>
              </a:lnSpc>
              <a:spcBef>
                <a:spcPts val="0"/>
              </a:spcBef>
              <a:spcAft>
                <a:spcPts val="0"/>
              </a:spcAft>
              <a:buNone/>
            </a:pPr>
            <a:r>
              <a:rPr i="0" lang="en-US" sz="1800" u="none" cap="none" strike="noStrike">
                <a:solidFill>
                  <a:srgbClr val="1E293B"/>
                </a:solidFill>
                <a:latin typeface="Trebuchet MS"/>
                <a:ea typeface="Trebuchet MS"/>
                <a:cs typeface="Trebuchet MS"/>
                <a:sym typeface="Trebuchet MS"/>
              </a:rPr>
              <a:t>• Non-dummy-headed doubly linear</a:t>
            </a:r>
            <a:endParaRPr>
              <a:latin typeface="Trebuchet MS"/>
              <a:ea typeface="Trebuchet MS"/>
              <a:cs typeface="Trebuchet MS"/>
              <a:sym typeface="Trebuchet MS"/>
            </a:endParaRPr>
          </a:p>
        </p:txBody>
      </p:sp>
      <p:sp>
        <p:nvSpPr>
          <p:cNvPr id="580" name="Google Shape;580;p28"/>
          <p:cNvSpPr txBox="1"/>
          <p:nvPr/>
        </p:nvSpPr>
        <p:spPr>
          <a:xfrm>
            <a:off x="6838015" y="6402540"/>
            <a:ext cx="5486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u="none" cap="none" strike="noStrike">
                <a:solidFill>
                  <a:srgbClr val="5F6368"/>
                </a:solidFill>
                <a:latin typeface="Calibri"/>
                <a:ea typeface="Calibri"/>
                <a:cs typeface="Calibri"/>
                <a:sym typeface="Calibri"/>
              </a:rPr>
              <a:t>• Figure: Linear linked-list choices for hashing.</a:t>
            </a:r>
            <a:endParaRPr/>
          </a:p>
        </p:txBody>
      </p:sp>
      <p:sp>
        <p:nvSpPr>
          <p:cNvPr id="581" name="Google Shape;581;p28"/>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582" name="Google Shape;582;p28"/>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22</a:t>
            </a:r>
            <a:endParaRPr/>
          </a:p>
        </p:txBody>
      </p:sp>
      <p:pic>
        <p:nvPicPr>
          <p:cNvPr id="583" name="Google Shape;583;p28" title="hashing.png"/>
          <p:cNvPicPr preferRelativeResize="0"/>
          <p:nvPr/>
        </p:nvPicPr>
        <p:blipFill>
          <a:blip r:embed="rId3">
            <a:alphaModFix/>
          </a:blip>
          <a:stretch>
            <a:fillRect/>
          </a:stretch>
        </p:blipFill>
        <p:spPr>
          <a:xfrm>
            <a:off x="6401050" y="164600"/>
            <a:ext cx="4984123" cy="623794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7" name="Shape 587"/>
        <p:cNvGrpSpPr/>
        <p:nvPr/>
      </p:nvGrpSpPr>
      <p:grpSpPr>
        <a:xfrm>
          <a:off x="0" y="0"/>
          <a:ext cx="0" cy="0"/>
          <a:chOff x="0" y="0"/>
          <a:chExt cx="0" cy="0"/>
        </a:xfrm>
      </p:grpSpPr>
      <p:sp>
        <p:nvSpPr>
          <p:cNvPr id="588" name="Google Shape;588;p29"/>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89" name="Google Shape;589;p29"/>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90" name="Google Shape;590;p29"/>
          <p:cNvSpPr txBox="1"/>
          <p:nvPr/>
        </p:nvSpPr>
        <p:spPr>
          <a:xfrm>
            <a:off x="411480" y="256032"/>
            <a:ext cx="11155680" cy="530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Why Singly Dummy-Headed Linked Lists Are Preferable in Hash Tables</a:t>
            </a:r>
            <a:endParaRPr/>
          </a:p>
        </p:txBody>
      </p:sp>
      <p:sp>
        <p:nvSpPr>
          <p:cNvPr id="591" name="Google Shape;591;p29"/>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92" name="Google Shape;592;p29"/>
          <p:cNvSpPr txBox="1"/>
          <p:nvPr/>
        </p:nvSpPr>
        <p:spPr>
          <a:xfrm>
            <a:off x="411475" y="1344175"/>
            <a:ext cx="11155800" cy="4947000"/>
          </a:xfrm>
          <a:prstGeom prst="rect">
            <a:avLst/>
          </a:prstGeom>
          <a:noFill/>
          <a:ln>
            <a:noFill/>
          </a:ln>
        </p:spPr>
        <p:txBody>
          <a:bodyPr anchorCtr="0" anchor="t" bIns="45700" lIns="91425" spcFirstLastPara="1" rIns="91425" wrap="square" tIns="45700">
            <a:normAutofit/>
          </a:bodyPr>
          <a:lstStyle/>
          <a:p>
            <a:pPr indent="-330200" lvl="0" marL="457200" marR="0" rtl="0" algn="l">
              <a:lnSpc>
                <a:spcPct val="200000"/>
              </a:lnSpc>
              <a:spcBef>
                <a:spcPts val="0"/>
              </a:spcBef>
              <a:spcAft>
                <a:spcPts val="0"/>
              </a:spcAft>
              <a:buClr>
                <a:srgbClr val="1E293B"/>
              </a:buClr>
              <a:buSzPts val="1600"/>
              <a:buFont typeface="Trebuchet MS"/>
              <a:buChar char="●"/>
            </a:pPr>
            <a:r>
              <a:rPr b="1" i="0" lang="en-US" sz="1600" u="none" cap="none" strike="noStrike">
                <a:solidFill>
                  <a:srgbClr val="1E293B"/>
                </a:solidFill>
                <a:latin typeface="Trebuchet MS"/>
                <a:ea typeface="Trebuchet MS"/>
                <a:cs typeface="Trebuchet MS"/>
                <a:sym typeface="Trebuchet MS"/>
              </a:rPr>
              <a:t>Dummy vs non-dummy head:</a:t>
            </a:r>
            <a:endParaRPr b="1" sz="1600">
              <a:latin typeface="Trebuchet MS"/>
              <a:ea typeface="Trebuchet MS"/>
              <a:cs typeface="Trebuchet MS"/>
              <a:sym typeface="Trebuchet MS"/>
            </a:endParaRPr>
          </a:p>
          <a:p>
            <a:pPr indent="-330200" lvl="1" marL="914400" marR="0" rtl="0" algn="l">
              <a:lnSpc>
                <a:spcPct val="200000"/>
              </a:lnSpc>
              <a:spcBef>
                <a:spcPts val="0"/>
              </a:spcBef>
              <a:spcAft>
                <a:spcPts val="0"/>
              </a:spcAft>
              <a:buClr>
                <a:srgbClr val="1E293B"/>
              </a:buClr>
              <a:buSzPts val="1600"/>
              <a:buFont typeface="Trebuchet MS"/>
              <a:buChar char="○"/>
            </a:pPr>
            <a:r>
              <a:rPr b="1" i="0" lang="en-US" sz="1600" u="none" cap="none" strike="noStrike">
                <a:solidFill>
                  <a:srgbClr val="0000FF"/>
                </a:solidFill>
                <a:latin typeface="Trebuchet MS"/>
                <a:ea typeface="Trebuchet MS"/>
                <a:cs typeface="Trebuchet MS"/>
                <a:sym typeface="Trebuchet MS"/>
              </a:rPr>
              <a:t>In a dummy-headed linked list</a:t>
            </a:r>
            <a:r>
              <a:rPr i="0" lang="en-US" sz="1600" u="none" cap="none" strike="noStrike">
                <a:solidFill>
                  <a:srgbClr val="1E293B"/>
                </a:solidFill>
                <a:latin typeface="Trebuchet MS"/>
                <a:ea typeface="Trebuchet MS"/>
                <a:cs typeface="Trebuchet MS"/>
                <a:sym typeface="Trebuchet MS"/>
              </a:rPr>
              <a:t>, the </a:t>
            </a:r>
            <a:r>
              <a:rPr b="1" i="0" lang="en-US" sz="1600" u="sng" cap="none" strike="noStrike">
                <a:solidFill>
                  <a:srgbClr val="1E293B"/>
                </a:solidFill>
                <a:latin typeface="Trebuchet MS"/>
                <a:ea typeface="Trebuchet MS"/>
                <a:cs typeface="Trebuchet MS"/>
                <a:sym typeface="Trebuchet MS"/>
              </a:rPr>
              <a:t>head reference</a:t>
            </a:r>
            <a:r>
              <a:rPr i="0" lang="en-US" sz="1600" u="none" cap="none" strike="noStrike">
                <a:solidFill>
                  <a:srgbClr val="1E293B"/>
                </a:solidFill>
                <a:latin typeface="Trebuchet MS"/>
                <a:ea typeface="Trebuchet MS"/>
                <a:cs typeface="Trebuchet MS"/>
                <a:sym typeface="Trebuchet MS"/>
              </a:rPr>
              <a:t> stored in the </a:t>
            </a:r>
            <a:r>
              <a:rPr b="1" i="0" lang="en-US" sz="1600" u="sng" cap="none" strike="noStrike">
                <a:solidFill>
                  <a:srgbClr val="1E293B"/>
                </a:solidFill>
                <a:latin typeface="Trebuchet MS"/>
                <a:ea typeface="Trebuchet MS"/>
                <a:cs typeface="Trebuchet MS"/>
                <a:sym typeface="Trebuchet MS"/>
              </a:rPr>
              <a:t>hash table slot remains unchanged</a:t>
            </a:r>
            <a:r>
              <a:rPr i="0" lang="en-US" sz="1600" u="none" cap="none" strike="noStrike">
                <a:solidFill>
                  <a:srgbClr val="1E293B"/>
                </a:solidFill>
                <a:latin typeface="Trebuchet MS"/>
                <a:ea typeface="Trebuchet MS"/>
                <a:cs typeface="Trebuchet MS"/>
                <a:sym typeface="Trebuchet MS"/>
              </a:rPr>
              <a:t> even when insertion at index 0 or prepend is performed. </a:t>
            </a:r>
            <a:endParaRPr i="0" sz="1600" u="none" cap="none" strike="noStrike">
              <a:solidFill>
                <a:srgbClr val="1E293B"/>
              </a:solidFill>
              <a:latin typeface="Trebuchet MS"/>
              <a:ea typeface="Trebuchet MS"/>
              <a:cs typeface="Trebuchet MS"/>
              <a:sym typeface="Trebuchet MS"/>
            </a:endParaRPr>
          </a:p>
          <a:p>
            <a:pPr indent="-330200" lvl="3" marL="1828800" marR="0" rtl="0" algn="l">
              <a:lnSpc>
                <a:spcPct val="200000"/>
              </a:lnSpc>
              <a:spcBef>
                <a:spcPts val="0"/>
              </a:spcBef>
              <a:spcAft>
                <a:spcPts val="0"/>
              </a:spcAft>
              <a:buClr>
                <a:srgbClr val="1E293B"/>
              </a:buClr>
              <a:buSzPts val="1600"/>
              <a:buFont typeface="Trebuchet MS"/>
              <a:buChar char="●"/>
            </a:pPr>
            <a:r>
              <a:rPr i="0" lang="en-US" sz="1600" u="none" cap="none" strike="noStrike">
                <a:solidFill>
                  <a:srgbClr val="1E293B"/>
                </a:solidFill>
                <a:latin typeface="Trebuchet MS"/>
                <a:ea typeface="Trebuchet MS"/>
                <a:cs typeface="Trebuchet MS"/>
                <a:sym typeface="Trebuchet MS"/>
              </a:rPr>
              <a:t>However, this requires one extra dummy node, increasing space usage slightly.</a:t>
            </a:r>
            <a:endParaRPr sz="1600">
              <a:solidFill>
                <a:srgbClr val="1E293B"/>
              </a:solidFill>
              <a:latin typeface="Trebuchet MS"/>
              <a:ea typeface="Trebuchet MS"/>
              <a:cs typeface="Trebuchet MS"/>
              <a:sym typeface="Trebuchet MS"/>
            </a:endParaRPr>
          </a:p>
          <a:p>
            <a:pPr indent="-330200" lvl="1" marL="914400" marR="0" rtl="0" algn="l">
              <a:lnSpc>
                <a:spcPct val="200000"/>
              </a:lnSpc>
              <a:spcBef>
                <a:spcPts val="0"/>
              </a:spcBef>
              <a:spcAft>
                <a:spcPts val="0"/>
              </a:spcAft>
              <a:buClr>
                <a:srgbClr val="1E293B"/>
              </a:buClr>
              <a:buSzPts val="1600"/>
              <a:buFont typeface="Trebuchet MS"/>
              <a:buChar char="○"/>
            </a:pPr>
            <a:r>
              <a:rPr b="1" i="0" lang="en-US" sz="1600" u="none" cap="none" strike="noStrike">
                <a:solidFill>
                  <a:srgbClr val="0000FF"/>
                </a:solidFill>
                <a:latin typeface="Trebuchet MS"/>
                <a:ea typeface="Trebuchet MS"/>
                <a:cs typeface="Trebuchet MS"/>
                <a:sym typeface="Trebuchet MS"/>
              </a:rPr>
              <a:t>In a non-dummy linked list,</a:t>
            </a:r>
            <a:r>
              <a:rPr i="0" lang="en-US" sz="1600" u="none" cap="none" strike="noStrike">
                <a:solidFill>
                  <a:srgbClr val="1E293B"/>
                </a:solidFill>
                <a:latin typeface="Trebuchet MS"/>
                <a:ea typeface="Trebuchet MS"/>
                <a:cs typeface="Trebuchet MS"/>
                <a:sym typeface="Trebuchet MS"/>
              </a:rPr>
              <a:t> the </a:t>
            </a:r>
            <a:r>
              <a:rPr b="1" i="0" lang="en-US" sz="1600" u="sng" cap="none" strike="noStrike">
                <a:solidFill>
                  <a:srgbClr val="1E293B"/>
                </a:solidFill>
                <a:latin typeface="Trebuchet MS"/>
                <a:ea typeface="Trebuchet MS"/>
                <a:cs typeface="Trebuchet MS"/>
                <a:sym typeface="Trebuchet MS"/>
              </a:rPr>
              <a:t>head reference changes</a:t>
            </a:r>
            <a:r>
              <a:rPr i="0" lang="en-US" sz="1600" u="none" cap="none" strike="noStrike">
                <a:solidFill>
                  <a:srgbClr val="1E293B"/>
                </a:solidFill>
                <a:latin typeface="Trebuchet MS"/>
                <a:ea typeface="Trebuchet MS"/>
                <a:cs typeface="Trebuchet MS"/>
                <a:sym typeface="Trebuchet MS"/>
              </a:rPr>
              <a:t> whenever a new node is inserted at the beginning.</a:t>
            </a:r>
            <a:endParaRPr sz="1600">
              <a:solidFill>
                <a:srgbClr val="1E293B"/>
              </a:solidFill>
              <a:latin typeface="Trebuchet MS"/>
              <a:ea typeface="Trebuchet MS"/>
              <a:cs typeface="Trebuchet MS"/>
              <a:sym typeface="Trebuchet MS"/>
            </a:endParaRPr>
          </a:p>
          <a:p>
            <a:pPr indent="-330200" lvl="2" marL="1371600" marR="0" rtl="0" algn="l">
              <a:lnSpc>
                <a:spcPct val="200000"/>
              </a:lnSpc>
              <a:spcBef>
                <a:spcPts val="0"/>
              </a:spcBef>
              <a:spcAft>
                <a:spcPts val="0"/>
              </a:spcAft>
              <a:buClr>
                <a:srgbClr val="1E293B"/>
              </a:buClr>
              <a:buSzPts val="1600"/>
              <a:buFont typeface="Trebuchet MS"/>
              <a:buChar char="■"/>
            </a:pPr>
            <a:r>
              <a:rPr i="0" lang="en-US" sz="1600" u="none" cap="none" strike="noStrike">
                <a:solidFill>
                  <a:srgbClr val="1E293B"/>
                </a:solidFill>
                <a:latin typeface="Trebuchet MS"/>
                <a:ea typeface="Trebuchet MS"/>
                <a:cs typeface="Trebuchet MS"/>
                <a:sym typeface="Trebuchet MS"/>
              </a:rPr>
              <a:t>Since the head reference represents the entire chain, frequent changes to the head can be less convenient and more error-prone.</a:t>
            </a:r>
            <a:endParaRPr i="0" sz="1900" u="none" cap="none" strike="noStrike">
              <a:solidFill>
                <a:srgbClr val="0000FF"/>
              </a:solidFill>
              <a:latin typeface="Trebuchet MS"/>
              <a:ea typeface="Trebuchet MS"/>
              <a:cs typeface="Trebuchet MS"/>
              <a:sym typeface="Trebuchet MS"/>
            </a:endParaRPr>
          </a:p>
          <a:p>
            <a:pPr indent="0" lvl="0" marL="0" marR="0" rtl="0" algn="ctr">
              <a:lnSpc>
                <a:spcPct val="200000"/>
              </a:lnSpc>
              <a:spcBef>
                <a:spcPts val="0"/>
              </a:spcBef>
              <a:spcAft>
                <a:spcPts val="0"/>
              </a:spcAft>
              <a:buNone/>
            </a:pPr>
            <a:r>
              <a:rPr lang="en-US" sz="1900">
                <a:solidFill>
                  <a:srgbClr val="0000FF"/>
                </a:solidFill>
                <a:latin typeface="Trebuchet MS"/>
                <a:ea typeface="Trebuchet MS"/>
                <a:cs typeface="Trebuchet MS"/>
                <a:sym typeface="Trebuchet MS"/>
              </a:rPr>
              <a:t> </a:t>
            </a:r>
            <a:r>
              <a:rPr lang="en-US" sz="1900">
                <a:solidFill>
                  <a:schemeClr val="hlink"/>
                </a:solidFill>
                <a:latin typeface="Trebuchet MS"/>
                <a:ea typeface="Trebuchet MS"/>
                <a:cs typeface="Trebuchet MS"/>
                <a:sym typeface="Trebuchet MS"/>
              </a:rPr>
              <a:t>Therefore, for hash table chaining, </a:t>
            </a:r>
            <a:br>
              <a:rPr lang="en-US" sz="1900">
                <a:solidFill>
                  <a:schemeClr val="hlink"/>
                </a:solidFill>
                <a:latin typeface="Trebuchet MS"/>
                <a:ea typeface="Trebuchet MS"/>
                <a:cs typeface="Trebuchet MS"/>
                <a:sym typeface="Trebuchet MS"/>
              </a:rPr>
            </a:br>
            <a:r>
              <a:rPr lang="en-US" sz="1900">
                <a:solidFill>
                  <a:srgbClr val="0000FF"/>
                </a:solidFill>
                <a:latin typeface="Trebuchet MS"/>
                <a:ea typeface="Trebuchet MS"/>
                <a:cs typeface="Trebuchet MS"/>
                <a:sym typeface="Trebuchet MS"/>
              </a:rPr>
              <a:t> dummy-headed linked list is convenient</a:t>
            </a:r>
            <a:endParaRPr sz="1900">
              <a:solidFill>
                <a:srgbClr val="0000FF"/>
              </a:solidFill>
              <a:latin typeface="Trebuchet MS"/>
              <a:ea typeface="Trebuchet MS"/>
              <a:cs typeface="Trebuchet MS"/>
              <a:sym typeface="Trebuchet MS"/>
            </a:endParaRPr>
          </a:p>
        </p:txBody>
      </p:sp>
      <p:sp>
        <p:nvSpPr>
          <p:cNvPr id="593" name="Google Shape;593;p29"/>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594" name="Google Shape;594;p29"/>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23</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8" name="Shape 598"/>
        <p:cNvGrpSpPr/>
        <p:nvPr/>
      </p:nvGrpSpPr>
      <p:grpSpPr>
        <a:xfrm>
          <a:off x="0" y="0"/>
          <a:ext cx="0" cy="0"/>
          <a:chOff x="0" y="0"/>
          <a:chExt cx="0" cy="0"/>
        </a:xfrm>
      </p:grpSpPr>
      <p:sp>
        <p:nvSpPr>
          <p:cNvPr id="599" name="Google Shape;599;g3f557c7bba2_0_12"/>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00" name="Google Shape;600;g3f557c7bba2_0_12"/>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01" name="Google Shape;601;g3f557c7bba2_0_12"/>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Why Singly Dummy-Headed Linked Lists Are Preferable in Hash Tables</a:t>
            </a:r>
            <a:endParaRPr/>
          </a:p>
        </p:txBody>
      </p:sp>
      <p:sp>
        <p:nvSpPr>
          <p:cNvPr id="602" name="Google Shape;602;g3f557c7bba2_0_12"/>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03" name="Google Shape;603;g3f557c7bba2_0_12"/>
          <p:cNvSpPr txBox="1"/>
          <p:nvPr/>
        </p:nvSpPr>
        <p:spPr>
          <a:xfrm>
            <a:off x="527925" y="1094913"/>
            <a:ext cx="10748100" cy="4947000"/>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t/>
            </a:r>
            <a:endParaRPr sz="1700">
              <a:latin typeface="Trebuchet MS"/>
              <a:ea typeface="Trebuchet MS"/>
              <a:cs typeface="Trebuchet MS"/>
              <a:sym typeface="Trebuchet MS"/>
            </a:endParaRPr>
          </a:p>
          <a:p>
            <a:pPr indent="-336550" lvl="0" marL="457200" marR="0" rtl="0" algn="l">
              <a:lnSpc>
                <a:spcPct val="150000"/>
              </a:lnSpc>
              <a:spcBef>
                <a:spcPts val="0"/>
              </a:spcBef>
              <a:spcAft>
                <a:spcPts val="0"/>
              </a:spcAft>
              <a:buClr>
                <a:srgbClr val="1E293B"/>
              </a:buClr>
              <a:buSzPts val="1700"/>
              <a:buFont typeface="Trebuchet MS"/>
              <a:buChar char="●"/>
            </a:pPr>
            <a:r>
              <a:rPr b="1" i="0" lang="en-US" sz="1700" u="none" cap="none" strike="noStrike">
                <a:solidFill>
                  <a:srgbClr val="1E293B"/>
                </a:solidFill>
                <a:latin typeface="Trebuchet MS"/>
                <a:ea typeface="Trebuchet MS"/>
                <a:cs typeface="Trebuchet MS"/>
                <a:sym typeface="Trebuchet MS"/>
              </a:rPr>
              <a:t>Singly vs doubly:</a:t>
            </a:r>
            <a:br>
              <a:rPr b="1" i="0" lang="en-US" sz="1700" u="none" cap="none" strike="noStrike">
                <a:solidFill>
                  <a:srgbClr val="1E293B"/>
                </a:solidFill>
                <a:latin typeface="Trebuchet MS"/>
                <a:ea typeface="Trebuchet MS"/>
                <a:cs typeface="Trebuchet MS"/>
                <a:sym typeface="Trebuchet MS"/>
              </a:rPr>
            </a:br>
            <a:endParaRPr b="1" sz="1700">
              <a:latin typeface="Trebuchet MS"/>
              <a:ea typeface="Trebuchet MS"/>
              <a:cs typeface="Trebuchet MS"/>
              <a:sym typeface="Trebuchet MS"/>
            </a:endParaRPr>
          </a:p>
          <a:p>
            <a:pPr indent="-336550" lvl="1" marL="914400" marR="0" rtl="0" algn="l">
              <a:lnSpc>
                <a:spcPct val="150000"/>
              </a:lnSpc>
              <a:spcBef>
                <a:spcPts val="0"/>
              </a:spcBef>
              <a:spcAft>
                <a:spcPts val="0"/>
              </a:spcAft>
              <a:buClr>
                <a:srgbClr val="1E293B"/>
              </a:buClr>
              <a:buSzPts val="1700"/>
              <a:buFont typeface="Trebuchet MS"/>
              <a:buChar char="○"/>
            </a:pPr>
            <a:r>
              <a:rPr i="0" lang="en-US" sz="1700" u="none" cap="none" strike="noStrike">
                <a:solidFill>
                  <a:srgbClr val="1E293B"/>
                </a:solidFill>
                <a:latin typeface="Trebuchet MS"/>
                <a:ea typeface="Trebuchet MS"/>
                <a:cs typeface="Trebuchet MS"/>
                <a:sym typeface="Trebuchet MS"/>
              </a:rPr>
              <a:t>For hash table operations such as search and deletion, the key is used to compute the hash index.</a:t>
            </a:r>
            <a:endParaRPr sz="1700">
              <a:solidFill>
                <a:srgbClr val="1E293B"/>
              </a:solidFill>
              <a:latin typeface="Trebuchet MS"/>
              <a:ea typeface="Trebuchet MS"/>
              <a:cs typeface="Trebuchet MS"/>
              <a:sym typeface="Trebuchet MS"/>
            </a:endParaRPr>
          </a:p>
          <a:p>
            <a:pPr indent="-336550" lvl="3" marL="1828800" marR="0" rtl="0" algn="l">
              <a:lnSpc>
                <a:spcPct val="150000"/>
              </a:lnSpc>
              <a:spcBef>
                <a:spcPts val="0"/>
              </a:spcBef>
              <a:spcAft>
                <a:spcPts val="0"/>
              </a:spcAft>
              <a:buClr>
                <a:srgbClr val="1E293B"/>
              </a:buClr>
              <a:buSzPts val="1700"/>
              <a:buFont typeface="Trebuchet MS"/>
              <a:buChar char="●"/>
            </a:pPr>
            <a:r>
              <a:rPr i="0" lang="en-US" sz="1700" u="none" cap="none" strike="noStrike">
                <a:solidFill>
                  <a:srgbClr val="1E293B"/>
                </a:solidFill>
                <a:latin typeface="Trebuchet MS"/>
                <a:ea typeface="Trebuchet MS"/>
                <a:cs typeface="Trebuchet MS"/>
                <a:sym typeface="Trebuchet MS"/>
              </a:rPr>
              <a:t>Then </a:t>
            </a:r>
            <a:r>
              <a:rPr b="1" i="0" lang="en-US" sz="1700" u="none" cap="none" strike="noStrike">
                <a:solidFill>
                  <a:srgbClr val="1E293B"/>
                </a:solidFill>
                <a:latin typeface="Trebuchet MS"/>
                <a:ea typeface="Trebuchet MS"/>
                <a:cs typeface="Trebuchet MS"/>
                <a:sym typeface="Trebuchet MS"/>
              </a:rPr>
              <a:t>traversal starts from the first data nod</a:t>
            </a:r>
            <a:r>
              <a:rPr i="0" lang="en-US" sz="1700" u="none" cap="none" strike="noStrike">
                <a:solidFill>
                  <a:srgbClr val="1E293B"/>
                </a:solidFill>
                <a:latin typeface="Trebuchet MS"/>
                <a:ea typeface="Trebuchet MS"/>
                <a:cs typeface="Trebuchet MS"/>
                <a:sym typeface="Trebuchet MS"/>
              </a:rPr>
              <a:t>e and </a:t>
            </a:r>
            <a:r>
              <a:rPr b="1" i="0" lang="en-US" sz="1700" u="sng" cap="none" strike="noStrike">
                <a:solidFill>
                  <a:srgbClr val="1E293B"/>
                </a:solidFill>
                <a:latin typeface="Trebuchet MS"/>
                <a:ea typeface="Trebuchet MS"/>
                <a:cs typeface="Trebuchet MS"/>
                <a:sym typeface="Trebuchet MS"/>
              </a:rPr>
              <a:t>continues forward until null.</a:t>
            </a:r>
            <a:endParaRPr b="1" i="0" sz="1700" u="sng" cap="none" strike="noStrike">
              <a:solidFill>
                <a:srgbClr val="1E293B"/>
              </a:solidFill>
              <a:latin typeface="Trebuchet MS"/>
              <a:ea typeface="Trebuchet MS"/>
              <a:cs typeface="Trebuchet MS"/>
              <a:sym typeface="Trebuchet MS"/>
            </a:endParaRPr>
          </a:p>
          <a:p>
            <a:pPr indent="0" lvl="0" marL="0" marR="0" rtl="0" algn="l">
              <a:lnSpc>
                <a:spcPct val="150000"/>
              </a:lnSpc>
              <a:spcBef>
                <a:spcPts val="0"/>
              </a:spcBef>
              <a:spcAft>
                <a:spcPts val="0"/>
              </a:spcAft>
              <a:buNone/>
            </a:pPr>
            <a:r>
              <a:t/>
            </a:r>
            <a:endParaRPr sz="1700">
              <a:solidFill>
                <a:srgbClr val="1E293B"/>
              </a:solidFill>
              <a:latin typeface="Trebuchet MS"/>
              <a:ea typeface="Trebuchet MS"/>
              <a:cs typeface="Trebuchet MS"/>
              <a:sym typeface="Trebuchet MS"/>
            </a:endParaRPr>
          </a:p>
          <a:p>
            <a:pPr indent="-336550" lvl="1" marL="914400" marR="0" rtl="0" algn="l">
              <a:lnSpc>
                <a:spcPct val="150000"/>
              </a:lnSpc>
              <a:spcBef>
                <a:spcPts val="0"/>
              </a:spcBef>
              <a:spcAft>
                <a:spcPts val="0"/>
              </a:spcAft>
              <a:buClr>
                <a:srgbClr val="1E293B"/>
              </a:buClr>
              <a:buSzPts val="1700"/>
              <a:buFont typeface="Trebuchet MS"/>
              <a:buChar char="○"/>
            </a:pPr>
            <a:r>
              <a:rPr i="0" lang="en-US" sz="1700" u="none" cap="none" strike="noStrike">
                <a:solidFill>
                  <a:srgbClr val="0000FF"/>
                </a:solidFill>
                <a:latin typeface="Trebuchet MS"/>
                <a:ea typeface="Trebuchet MS"/>
                <a:cs typeface="Trebuchet MS"/>
                <a:sym typeface="Trebuchet MS"/>
              </a:rPr>
              <a:t>Since </a:t>
            </a:r>
            <a:r>
              <a:rPr i="0" lang="en-US" sz="1700" u="none" cap="none" strike="noStrike">
                <a:solidFill>
                  <a:srgbClr val="0000FF"/>
                </a:solidFill>
                <a:latin typeface="Trebuchet MS"/>
                <a:ea typeface="Trebuchet MS"/>
                <a:cs typeface="Trebuchet MS"/>
                <a:sym typeface="Trebuchet MS"/>
              </a:rPr>
              <a:t>traversal is always forward</a:t>
            </a:r>
            <a:r>
              <a:rPr i="0" lang="en-US" sz="1700" u="none" cap="none" strike="noStrike">
                <a:solidFill>
                  <a:srgbClr val="1E293B"/>
                </a:solidFill>
                <a:latin typeface="Trebuchet MS"/>
                <a:ea typeface="Trebuchet MS"/>
                <a:cs typeface="Trebuchet MS"/>
                <a:sym typeface="Trebuchet MS"/>
              </a:rPr>
              <a:t>, </a:t>
            </a:r>
            <a:endParaRPr i="0" sz="1700" u="none" cap="none" strike="noStrike">
              <a:solidFill>
                <a:srgbClr val="1E293B"/>
              </a:solidFill>
              <a:latin typeface="Trebuchet MS"/>
              <a:ea typeface="Trebuchet MS"/>
              <a:cs typeface="Trebuchet MS"/>
              <a:sym typeface="Trebuchet MS"/>
            </a:endParaRPr>
          </a:p>
          <a:p>
            <a:pPr indent="-336550" lvl="3" marL="1828800" marR="0" rtl="0" algn="l">
              <a:lnSpc>
                <a:spcPct val="150000"/>
              </a:lnSpc>
              <a:spcBef>
                <a:spcPts val="0"/>
              </a:spcBef>
              <a:spcAft>
                <a:spcPts val="0"/>
              </a:spcAft>
              <a:buClr>
                <a:srgbClr val="1E293B"/>
              </a:buClr>
              <a:buSzPts val="1700"/>
              <a:buFont typeface="Trebuchet MS"/>
              <a:buChar char="●"/>
            </a:pPr>
            <a:r>
              <a:rPr lang="en-US" sz="1700">
                <a:solidFill>
                  <a:srgbClr val="1E293B"/>
                </a:solidFill>
                <a:latin typeface="Trebuchet MS"/>
                <a:ea typeface="Trebuchet MS"/>
                <a:cs typeface="Trebuchet MS"/>
                <a:sym typeface="Trebuchet MS"/>
              </a:rPr>
              <a:t>T</a:t>
            </a:r>
            <a:r>
              <a:rPr i="0" lang="en-US" sz="1700" u="none" cap="none" strike="noStrike">
                <a:solidFill>
                  <a:srgbClr val="1E293B"/>
                </a:solidFill>
                <a:latin typeface="Trebuchet MS"/>
                <a:ea typeface="Trebuchet MS"/>
                <a:cs typeface="Trebuchet MS"/>
                <a:sym typeface="Trebuchet MS"/>
              </a:rPr>
              <a:t>he</a:t>
            </a:r>
            <a:r>
              <a:rPr b="1" i="0" lang="en-US" sz="1700" u="sng" cap="none" strike="noStrike">
                <a:solidFill>
                  <a:srgbClr val="1E293B"/>
                </a:solidFill>
                <a:latin typeface="Trebuchet MS"/>
                <a:ea typeface="Trebuchet MS"/>
                <a:cs typeface="Trebuchet MS"/>
                <a:sym typeface="Trebuchet MS"/>
              </a:rPr>
              <a:t> previous pointer in a doubly linked list is unnecessary</a:t>
            </a:r>
            <a:endParaRPr sz="1700">
              <a:solidFill>
                <a:srgbClr val="1E293B"/>
              </a:solidFill>
              <a:latin typeface="Trebuchet MS"/>
              <a:ea typeface="Trebuchet MS"/>
              <a:cs typeface="Trebuchet MS"/>
              <a:sym typeface="Trebuchet MS"/>
            </a:endParaRPr>
          </a:p>
          <a:p>
            <a:pPr indent="-336550" lvl="3" marL="1828800" marR="0" rtl="0" algn="l">
              <a:lnSpc>
                <a:spcPct val="150000"/>
              </a:lnSpc>
              <a:spcBef>
                <a:spcPts val="0"/>
              </a:spcBef>
              <a:spcAft>
                <a:spcPts val="0"/>
              </a:spcAft>
              <a:buClr>
                <a:srgbClr val="1E293B"/>
              </a:buClr>
              <a:buSzPts val="1700"/>
              <a:buFont typeface="Trebuchet MS"/>
              <a:buChar char="●"/>
            </a:pPr>
            <a:r>
              <a:rPr lang="en-US" sz="1700">
                <a:solidFill>
                  <a:srgbClr val="1E293B"/>
                </a:solidFill>
                <a:latin typeface="Trebuchet MS"/>
                <a:ea typeface="Trebuchet MS"/>
                <a:cs typeface="Trebuchet MS"/>
                <a:sym typeface="Trebuchet MS"/>
              </a:rPr>
              <a:t>O</a:t>
            </a:r>
            <a:r>
              <a:rPr i="0" lang="en-US" sz="1700" u="none" cap="none" strike="noStrike">
                <a:solidFill>
                  <a:srgbClr val="1E293B"/>
                </a:solidFill>
                <a:latin typeface="Trebuchet MS"/>
                <a:ea typeface="Trebuchet MS"/>
                <a:cs typeface="Trebuchet MS"/>
                <a:sym typeface="Trebuchet MS"/>
              </a:rPr>
              <a:t>nly increases memory usage.</a:t>
            </a:r>
            <a:br>
              <a:rPr i="0" lang="en-US" sz="1700" u="none" cap="none" strike="noStrike">
                <a:solidFill>
                  <a:srgbClr val="1E293B"/>
                </a:solidFill>
                <a:latin typeface="Trebuchet MS"/>
                <a:ea typeface="Trebuchet MS"/>
                <a:cs typeface="Trebuchet MS"/>
                <a:sym typeface="Trebuchet MS"/>
              </a:rPr>
            </a:br>
            <a:endParaRPr sz="1700">
              <a:latin typeface="Trebuchet MS"/>
              <a:ea typeface="Trebuchet MS"/>
              <a:cs typeface="Trebuchet MS"/>
              <a:sym typeface="Trebuchet MS"/>
            </a:endParaRPr>
          </a:p>
          <a:p>
            <a:pPr indent="457200" lvl="0" marL="1371600" marR="0" rtl="0" algn="l">
              <a:lnSpc>
                <a:spcPct val="150000"/>
              </a:lnSpc>
              <a:spcBef>
                <a:spcPts val="0"/>
              </a:spcBef>
              <a:spcAft>
                <a:spcPts val="0"/>
              </a:spcAft>
              <a:buNone/>
            </a:pPr>
            <a:r>
              <a:rPr lang="en-US" sz="1900">
                <a:solidFill>
                  <a:srgbClr val="0000FF"/>
                </a:solidFill>
                <a:latin typeface="Trebuchet MS"/>
                <a:ea typeface="Trebuchet MS"/>
                <a:cs typeface="Trebuchet MS"/>
                <a:sym typeface="Trebuchet MS"/>
              </a:rPr>
              <a:t>                </a:t>
            </a:r>
            <a:r>
              <a:rPr i="0" lang="en-US" sz="1900" u="none" cap="none" strike="noStrike">
                <a:solidFill>
                  <a:srgbClr val="0000FF"/>
                </a:solidFill>
                <a:latin typeface="Trebuchet MS"/>
                <a:ea typeface="Trebuchet MS"/>
                <a:cs typeface="Trebuchet MS"/>
                <a:sym typeface="Trebuchet MS"/>
              </a:rPr>
              <a:t>Therefore, for hash table chaining, </a:t>
            </a:r>
            <a:br>
              <a:rPr i="0" lang="en-US" sz="1900" u="none" cap="none" strike="noStrike">
                <a:solidFill>
                  <a:srgbClr val="0000FF"/>
                </a:solidFill>
                <a:latin typeface="Trebuchet MS"/>
                <a:ea typeface="Trebuchet MS"/>
                <a:cs typeface="Trebuchet MS"/>
                <a:sym typeface="Trebuchet MS"/>
              </a:rPr>
            </a:br>
            <a:r>
              <a:rPr i="0" lang="en-US" sz="1900" u="none" cap="none" strike="noStrike">
                <a:solidFill>
                  <a:srgbClr val="0000FF"/>
                </a:solidFill>
                <a:latin typeface="Trebuchet MS"/>
                <a:ea typeface="Trebuchet MS"/>
                <a:cs typeface="Trebuchet MS"/>
                <a:sym typeface="Trebuchet MS"/>
              </a:rPr>
              <a:t>a singly linked list is generally more space-efficient than a doubly linked list.</a:t>
            </a:r>
            <a:endParaRPr sz="1900">
              <a:solidFill>
                <a:srgbClr val="0000FF"/>
              </a:solidFill>
              <a:latin typeface="Trebuchet MS"/>
              <a:ea typeface="Trebuchet MS"/>
              <a:cs typeface="Trebuchet MS"/>
              <a:sym typeface="Trebuchet MS"/>
            </a:endParaRPr>
          </a:p>
        </p:txBody>
      </p:sp>
      <p:sp>
        <p:nvSpPr>
          <p:cNvPr id="604" name="Google Shape;604;g3f557c7bba2_0_12"/>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605" name="Google Shape;605;g3f557c7bba2_0_12"/>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23</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9" name="Shape 609"/>
        <p:cNvGrpSpPr/>
        <p:nvPr/>
      </p:nvGrpSpPr>
      <p:grpSpPr>
        <a:xfrm>
          <a:off x="0" y="0"/>
          <a:ext cx="0" cy="0"/>
          <a:chOff x="0" y="0"/>
          <a:chExt cx="0" cy="0"/>
        </a:xfrm>
      </p:grpSpPr>
      <p:sp>
        <p:nvSpPr>
          <p:cNvPr id="610" name="Google Shape;610;g3f557c7bba2_0_26"/>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11" name="Google Shape;611;g3f557c7bba2_0_26"/>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12" name="Google Shape;612;g3f557c7bba2_0_26"/>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Why Singly Dummy-Headed Linked Lists Are Preferable in Hash Tables</a:t>
            </a:r>
            <a:endParaRPr/>
          </a:p>
        </p:txBody>
      </p:sp>
      <p:sp>
        <p:nvSpPr>
          <p:cNvPr id="613" name="Google Shape;613;g3f557c7bba2_0_26"/>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14" name="Google Shape;614;g3f557c7bba2_0_26"/>
          <p:cNvSpPr txBox="1"/>
          <p:nvPr/>
        </p:nvSpPr>
        <p:spPr>
          <a:xfrm>
            <a:off x="411475" y="1248125"/>
            <a:ext cx="7715700" cy="4947000"/>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t/>
            </a:r>
            <a:endParaRPr sz="1800">
              <a:latin typeface="Trebuchet MS"/>
              <a:ea typeface="Trebuchet MS"/>
              <a:cs typeface="Trebuchet MS"/>
              <a:sym typeface="Trebuchet MS"/>
            </a:endParaRPr>
          </a:p>
          <a:p>
            <a:pPr indent="0" lvl="0" marL="0" marR="0" rtl="0" algn="l">
              <a:lnSpc>
                <a:spcPct val="150000"/>
              </a:lnSpc>
              <a:spcBef>
                <a:spcPts val="0"/>
              </a:spcBef>
              <a:spcAft>
                <a:spcPts val="0"/>
              </a:spcAft>
              <a:buNone/>
            </a:pPr>
            <a:r>
              <a:rPr i="0" lang="en-US" sz="1800" u="none" cap="none" strike="noStrike">
                <a:solidFill>
                  <a:srgbClr val="1E293B"/>
                </a:solidFill>
                <a:latin typeface="Trebuchet MS"/>
                <a:ea typeface="Trebuchet MS"/>
                <a:cs typeface="Trebuchet MS"/>
                <a:sym typeface="Trebuchet MS"/>
              </a:rPr>
              <a:t>•</a:t>
            </a:r>
            <a:r>
              <a:rPr b="1" i="0" lang="en-US" sz="1800" u="none" cap="none" strike="noStrike">
                <a:solidFill>
                  <a:srgbClr val="1E293B"/>
                </a:solidFill>
                <a:latin typeface="Trebuchet MS"/>
                <a:ea typeface="Trebuchet MS"/>
                <a:cs typeface="Trebuchet MS"/>
                <a:sym typeface="Trebuchet MS"/>
              </a:rPr>
              <a:t> </a:t>
            </a:r>
            <a:r>
              <a:rPr b="1" lang="en-US" sz="1800">
                <a:solidFill>
                  <a:srgbClr val="1E293B"/>
                </a:solidFill>
                <a:latin typeface="Trebuchet MS"/>
                <a:ea typeface="Trebuchet MS"/>
                <a:cs typeface="Trebuchet MS"/>
                <a:sym typeface="Trebuchet MS"/>
              </a:rPr>
              <a:t>Preferred for hashing: Dummy-headed singly linked list</a:t>
            </a:r>
            <a:endParaRPr b="1" sz="1800">
              <a:solidFill>
                <a:srgbClr val="1E293B"/>
              </a:solidFill>
              <a:latin typeface="Trebuchet MS"/>
              <a:ea typeface="Trebuchet MS"/>
              <a:cs typeface="Trebuchet MS"/>
              <a:sym typeface="Trebuchet MS"/>
            </a:endParaRPr>
          </a:p>
          <a:p>
            <a:pPr indent="0" lvl="0" marL="0" marR="0" rtl="0" algn="l">
              <a:lnSpc>
                <a:spcPct val="150000"/>
              </a:lnSpc>
              <a:spcBef>
                <a:spcPts val="0"/>
              </a:spcBef>
              <a:spcAft>
                <a:spcPts val="0"/>
              </a:spcAft>
              <a:buNone/>
            </a:pPr>
            <a:r>
              <a:t/>
            </a:r>
            <a:endParaRPr b="1" sz="1800">
              <a:solidFill>
                <a:srgbClr val="1E293B"/>
              </a:solidFill>
              <a:latin typeface="Trebuchet MS"/>
              <a:ea typeface="Trebuchet MS"/>
              <a:cs typeface="Trebuchet MS"/>
              <a:sym typeface="Trebuchet MS"/>
            </a:endParaRPr>
          </a:p>
          <a:p>
            <a:pPr indent="0" lvl="0" marL="914400" rtl="0" algn="l">
              <a:lnSpc>
                <a:spcPct val="200000"/>
              </a:lnSpc>
              <a:spcBef>
                <a:spcPts val="0"/>
              </a:spcBef>
              <a:spcAft>
                <a:spcPts val="0"/>
              </a:spcAft>
              <a:buClr>
                <a:schemeClr val="dk1"/>
              </a:buClr>
              <a:buFont typeface="Arial"/>
              <a:buNone/>
            </a:pPr>
            <a:r>
              <a:rPr lang="en-US" sz="1800">
                <a:solidFill>
                  <a:srgbClr val="1E293B"/>
                </a:solidFill>
                <a:latin typeface="Trebuchet MS"/>
                <a:ea typeface="Trebuchet MS"/>
                <a:cs typeface="Trebuchet MS"/>
                <a:sym typeface="Trebuchet MS"/>
              </a:rPr>
              <a:t>• Stable head reference</a:t>
            </a:r>
            <a:endParaRPr sz="1800">
              <a:solidFill>
                <a:schemeClr val="dk1"/>
              </a:solidFill>
              <a:latin typeface="Trebuchet MS"/>
              <a:ea typeface="Trebuchet MS"/>
              <a:cs typeface="Trebuchet MS"/>
              <a:sym typeface="Trebuchet MS"/>
            </a:endParaRPr>
          </a:p>
          <a:p>
            <a:pPr indent="0" lvl="0" marL="914400" rtl="0" algn="l">
              <a:lnSpc>
                <a:spcPct val="200000"/>
              </a:lnSpc>
              <a:spcBef>
                <a:spcPts val="0"/>
              </a:spcBef>
              <a:spcAft>
                <a:spcPts val="0"/>
              </a:spcAft>
              <a:buClr>
                <a:schemeClr val="dk1"/>
              </a:buClr>
              <a:buFont typeface="Arial"/>
              <a:buNone/>
            </a:pPr>
            <a:r>
              <a:rPr lang="en-US" sz="1800">
                <a:solidFill>
                  <a:srgbClr val="1E293B"/>
                </a:solidFill>
                <a:latin typeface="Trebuchet MS"/>
                <a:ea typeface="Trebuchet MS"/>
                <a:cs typeface="Trebuchet MS"/>
                <a:sym typeface="Trebuchet MS"/>
              </a:rPr>
              <a:t>• Convenient prepend operation</a:t>
            </a:r>
            <a:endParaRPr sz="1800">
              <a:solidFill>
                <a:schemeClr val="dk1"/>
              </a:solidFill>
              <a:latin typeface="Trebuchet MS"/>
              <a:ea typeface="Trebuchet MS"/>
              <a:cs typeface="Trebuchet MS"/>
              <a:sym typeface="Trebuchet MS"/>
            </a:endParaRPr>
          </a:p>
          <a:p>
            <a:pPr indent="0" lvl="0" marL="914400" rtl="0" algn="l">
              <a:lnSpc>
                <a:spcPct val="200000"/>
              </a:lnSpc>
              <a:spcBef>
                <a:spcPts val="0"/>
              </a:spcBef>
              <a:spcAft>
                <a:spcPts val="0"/>
              </a:spcAft>
              <a:buClr>
                <a:schemeClr val="dk1"/>
              </a:buClr>
              <a:buFont typeface="Arial"/>
              <a:buNone/>
            </a:pPr>
            <a:r>
              <a:rPr lang="en-US" sz="1800">
                <a:solidFill>
                  <a:srgbClr val="1E293B"/>
                </a:solidFill>
                <a:latin typeface="Trebuchet MS"/>
                <a:ea typeface="Trebuchet MS"/>
                <a:cs typeface="Trebuchet MS"/>
                <a:sym typeface="Trebuchet MS"/>
              </a:rPr>
              <a:t>• No unnecessary previous pointer</a:t>
            </a:r>
            <a:endParaRPr sz="1800">
              <a:solidFill>
                <a:schemeClr val="dk1"/>
              </a:solidFill>
              <a:latin typeface="Trebuchet MS"/>
              <a:ea typeface="Trebuchet MS"/>
              <a:cs typeface="Trebuchet MS"/>
              <a:sym typeface="Trebuchet MS"/>
            </a:endParaRPr>
          </a:p>
          <a:p>
            <a:pPr indent="0" lvl="0" marL="0" marR="0" rtl="0" algn="l">
              <a:lnSpc>
                <a:spcPct val="150000"/>
              </a:lnSpc>
              <a:spcBef>
                <a:spcPts val="0"/>
              </a:spcBef>
              <a:spcAft>
                <a:spcPts val="0"/>
              </a:spcAft>
              <a:buNone/>
            </a:pPr>
            <a:r>
              <a:t/>
            </a:r>
            <a:endParaRPr b="1" sz="1800">
              <a:solidFill>
                <a:srgbClr val="1E293B"/>
              </a:solidFill>
              <a:latin typeface="Trebuchet MS"/>
              <a:ea typeface="Trebuchet MS"/>
              <a:cs typeface="Trebuchet MS"/>
              <a:sym typeface="Trebuchet MS"/>
            </a:endParaRPr>
          </a:p>
        </p:txBody>
      </p:sp>
      <p:sp>
        <p:nvSpPr>
          <p:cNvPr id="615" name="Google Shape;615;g3f557c7bba2_0_26"/>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616" name="Google Shape;616;g3f557c7bba2_0_26"/>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0" name="Shape 620"/>
        <p:cNvGrpSpPr/>
        <p:nvPr/>
      </p:nvGrpSpPr>
      <p:grpSpPr>
        <a:xfrm>
          <a:off x="0" y="0"/>
          <a:ext cx="0" cy="0"/>
          <a:chOff x="0" y="0"/>
          <a:chExt cx="0" cy="0"/>
        </a:xfrm>
      </p:grpSpPr>
      <p:sp>
        <p:nvSpPr>
          <p:cNvPr id="621" name="Google Shape;621;g3f557c7bba2_0_247"/>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22" name="Google Shape;622;g3f557c7bba2_0_247"/>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23" name="Google Shape;623;g3f557c7bba2_0_247"/>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Which type of linked list can be used (Summary)</a:t>
            </a:r>
            <a:endParaRPr/>
          </a:p>
        </p:txBody>
      </p:sp>
      <p:sp>
        <p:nvSpPr>
          <p:cNvPr id="624" name="Google Shape;624;g3f557c7bba2_0_247"/>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i="0" sz="1600" u="none" cap="none" strike="noStrike">
              <a:solidFill>
                <a:schemeClr val="lt1"/>
              </a:solidFill>
              <a:latin typeface="Trebuchet MS"/>
              <a:ea typeface="Trebuchet MS"/>
              <a:cs typeface="Trebuchet MS"/>
              <a:sym typeface="Trebuchet MS"/>
            </a:endParaRPr>
          </a:p>
        </p:txBody>
      </p:sp>
      <p:sp>
        <p:nvSpPr>
          <p:cNvPr id="625" name="Google Shape;625;g3f557c7bba2_0_247"/>
          <p:cNvSpPr txBox="1"/>
          <p:nvPr/>
        </p:nvSpPr>
        <p:spPr>
          <a:xfrm>
            <a:off x="418924" y="6588299"/>
            <a:ext cx="2361600" cy="349800"/>
          </a:xfrm>
          <a:prstGeom prst="rect">
            <a:avLst/>
          </a:prstGeom>
          <a:noFill/>
          <a:ln>
            <a:noFill/>
          </a:ln>
        </p:spPr>
        <p:txBody>
          <a:bodyPr anchorCtr="0" anchor="t" bIns="47225" lIns="94450" spcFirstLastPara="1" rIns="94450" wrap="square" tIns="47225">
            <a:spAutoFit/>
          </a:bodyPr>
          <a:lstStyle/>
          <a:p>
            <a:pPr indent="0" lvl="0" marL="0" marR="0" rtl="0" algn="l">
              <a:spcBef>
                <a:spcPts val="0"/>
              </a:spcBef>
              <a:spcAft>
                <a:spcPts val="0"/>
              </a:spcAft>
              <a:buNone/>
            </a:pPr>
            <a:r>
              <a:rPr i="0" lang="en-US" sz="1653" u="none" cap="none" strike="noStrike">
                <a:solidFill>
                  <a:srgbClr val="5F6368"/>
                </a:solidFill>
                <a:latin typeface="Trebuchet MS"/>
                <a:ea typeface="Trebuchet MS"/>
                <a:cs typeface="Trebuchet MS"/>
                <a:sym typeface="Trebuchet MS"/>
              </a:rPr>
              <a:t>Hashing</a:t>
            </a:r>
            <a:endParaRPr sz="1653">
              <a:latin typeface="Trebuchet MS"/>
              <a:ea typeface="Trebuchet MS"/>
              <a:cs typeface="Trebuchet MS"/>
              <a:sym typeface="Trebuchet MS"/>
            </a:endParaRPr>
          </a:p>
        </p:txBody>
      </p:sp>
      <p:sp>
        <p:nvSpPr>
          <p:cNvPr id="626" name="Google Shape;626;g3f557c7bba2_0_247"/>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22</a:t>
            </a:r>
            <a:endParaRPr/>
          </a:p>
        </p:txBody>
      </p:sp>
      <p:sp>
        <p:nvSpPr>
          <p:cNvPr id="627" name="Google Shape;627;g3f557c7bba2_0_247"/>
          <p:cNvSpPr/>
          <p:nvPr/>
        </p:nvSpPr>
        <p:spPr>
          <a:xfrm>
            <a:off x="186800" y="1312275"/>
            <a:ext cx="2062200" cy="1010100"/>
          </a:xfrm>
          <a:prstGeom prst="rect">
            <a:avLst/>
          </a:prstGeom>
          <a:solidFill>
            <a:srgbClr val="2F5597"/>
          </a:solidFill>
          <a:ln cap="flat" cmpd="sng" w="9850">
            <a:solidFill>
              <a:srgbClr val="B8C7D9"/>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FFFFFF"/>
              </a:buClr>
              <a:buSzPts val="1085"/>
              <a:buFont typeface="Arial"/>
              <a:buNone/>
            </a:pPr>
            <a:r>
              <a:rPr b="1" lang="en-US" sz="1600">
                <a:solidFill>
                  <a:srgbClr val="FFFFFF"/>
                </a:solidFill>
                <a:latin typeface="Trebuchet MS"/>
                <a:ea typeface="Trebuchet MS"/>
                <a:cs typeface="Trebuchet MS"/>
                <a:sym typeface="Trebuchet MS"/>
              </a:rPr>
              <a:t>Choice</a:t>
            </a:r>
            <a:endParaRPr sz="1600">
              <a:solidFill>
                <a:srgbClr val="000000"/>
              </a:solidFill>
              <a:latin typeface="Trebuchet MS"/>
              <a:ea typeface="Trebuchet MS"/>
              <a:cs typeface="Trebuchet MS"/>
              <a:sym typeface="Trebuchet MS"/>
            </a:endParaRPr>
          </a:p>
        </p:txBody>
      </p:sp>
      <p:sp>
        <p:nvSpPr>
          <p:cNvPr id="628" name="Google Shape;628;g3f557c7bba2_0_247"/>
          <p:cNvSpPr/>
          <p:nvPr/>
        </p:nvSpPr>
        <p:spPr>
          <a:xfrm>
            <a:off x="2249346" y="1312275"/>
            <a:ext cx="2766900" cy="1010100"/>
          </a:xfrm>
          <a:prstGeom prst="rect">
            <a:avLst/>
          </a:prstGeom>
          <a:solidFill>
            <a:srgbClr val="2F5597"/>
          </a:solidFill>
          <a:ln cap="flat" cmpd="sng" w="9850">
            <a:solidFill>
              <a:srgbClr val="B8C7D9"/>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FFFFFF"/>
              </a:buClr>
              <a:buSzPts val="1085"/>
              <a:buFont typeface="Arial"/>
              <a:buNone/>
            </a:pPr>
            <a:r>
              <a:rPr b="1" lang="en-US" sz="1600">
                <a:solidFill>
                  <a:srgbClr val="FFFFFF"/>
                </a:solidFill>
                <a:latin typeface="Trebuchet MS"/>
                <a:ea typeface="Trebuchet MS"/>
                <a:cs typeface="Trebuchet MS"/>
                <a:sym typeface="Trebuchet MS"/>
              </a:rPr>
              <a:t>Advantage</a:t>
            </a:r>
            <a:endParaRPr sz="1600">
              <a:solidFill>
                <a:srgbClr val="000000"/>
              </a:solidFill>
              <a:latin typeface="Trebuchet MS"/>
              <a:ea typeface="Trebuchet MS"/>
              <a:cs typeface="Trebuchet MS"/>
              <a:sym typeface="Trebuchet MS"/>
            </a:endParaRPr>
          </a:p>
        </p:txBody>
      </p:sp>
      <p:sp>
        <p:nvSpPr>
          <p:cNvPr id="629" name="Google Shape;629;g3f557c7bba2_0_247"/>
          <p:cNvSpPr/>
          <p:nvPr/>
        </p:nvSpPr>
        <p:spPr>
          <a:xfrm>
            <a:off x="5016176" y="1312275"/>
            <a:ext cx="2263800" cy="1010100"/>
          </a:xfrm>
          <a:prstGeom prst="rect">
            <a:avLst/>
          </a:prstGeom>
          <a:solidFill>
            <a:srgbClr val="2F5597"/>
          </a:solidFill>
          <a:ln cap="flat" cmpd="sng" w="9850">
            <a:solidFill>
              <a:srgbClr val="B8C7D9"/>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FFFFFF"/>
              </a:buClr>
              <a:buSzPts val="1085"/>
              <a:buFont typeface="Arial"/>
              <a:buNone/>
            </a:pPr>
            <a:r>
              <a:rPr b="1" lang="en-US" sz="1600">
                <a:solidFill>
                  <a:srgbClr val="FFFFFF"/>
                </a:solidFill>
                <a:latin typeface="Trebuchet MS"/>
                <a:ea typeface="Trebuchet MS"/>
                <a:cs typeface="Trebuchet MS"/>
                <a:sym typeface="Trebuchet MS"/>
              </a:rPr>
              <a:t>Limitation</a:t>
            </a:r>
            <a:endParaRPr sz="1600">
              <a:solidFill>
                <a:srgbClr val="000000"/>
              </a:solidFill>
              <a:latin typeface="Trebuchet MS"/>
              <a:ea typeface="Trebuchet MS"/>
              <a:cs typeface="Trebuchet MS"/>
              <a:sym typeface="Trebuchet MS"/>
            </a:endParaRPr>
          </a:p>
        </p:txBody>
      </p:sp>
      <p:sp>
        <p:nvSpPr>
          <p:cNvPr id="630" name="Google Shape;630;g3f557c7bba2_0_247"/>
          <p:cNvSpPr/>
          <p:nvPr/>
        </p:nvSpPr>
        <p:spPr>
          <a:xfrm>
            <a:off x="186800" y="2322456"/>
            <a:ext cx="2062200" cy="1010100"/>
          </a:xfrm>
          <a:prstGeom prst="rect">
            <a:avLst/>
          </a:prstGeom>
          <a:solidFill>
            <a:srgbClr val="FFFFFF"/>
          </a:solidFill>
          <a:ln cap="flat" cmpd="sng" w="9850">
            <a:solidFill>
              <a:srgbClr val="B8C7D9"/>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1F2933"/>
              </a:buClr>
              <a:buSzPts val="981"/>
              <a:buFont typeface="Arial"/>
              <a:buNone/>
            </a:pPr>
            <a:r>
              <a:rPr lang="en-US" sz="1600">
                <a:solidFill>
                  <a:srgbClr val="1F2933"/>
                </a:solidFill>
                <a:latin typeface="Trebuchet MS"/>
                <a:ea typeface="Trebuchet MS"/>
                <a:cs typeface="Trebuchet MS"/>
                <a:sym typeface="Trebuchet MS"/>
              </a:rPr>
              <a:t>Dummy-headed list</a:t>
            </a:r>
            <a:endParaRPr sz="1600">
              <a:solidFill>
                <a:srgbClr val="000000"/>
              </a:solidFill>
              <a:latin typeface="Trebuchet MS"/>
              <a:ea typeface="Trebuchet MS"/>
              <a:cs typeface="Trebuchet MS"/>
              <a:sym typeface="Trebuchet MS"/>
            </a:endParaRPr>
          </a:p>
        </p:txBody>
      </p:sp>
      <p:sp>
        <p:nvSpPr>
          <p:cNvPr id="631" name="Google Shape;631;g3f557c7bba2_0_247"/>
          <p:cNvSpPr/>
          <p:nvPr/>
        </p:nvSpPr>
        <p:spPr>
          <a:xfrm>
            <a:off x="2249346" y="2322456"/>
            <a:ext cx="2766900" cy="1010100"/>
          </a:xfrm>
          <a:prstGeom prst="rect">
            <a:avLst/>
          </a:prstGeom>
          <a:solidFill>
            <a:srgbClr val="FFFFFF"/>
          </a:solidFill>
          <a:ln cap="flat" cmpd="sng" w="9850">
            <a:solidFill>
              <a:srgbClr val="B8C7D9"/>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1F2933"/>
              </a:buClr>
              <a:buSzPts val="981"/>
              <a:buFont typeface="Arial"/>
              <a:buNone/>
            </a:pPr>
            <a:r>
              <a:rPr lang="en-US" sz="1600">
                <a:solidFill>
                  <a:srgbClr val="1F2933"/>
                </a:solidFill>
                <a:latin typeface="Trebuchet MS"/>
                <a:ea typeface="Trebuchet MS"/>
                <a:cs typeface="Trebuchet MS"/>
                <a:sym typeface="Trebuchet MS"/>
              </a:rPr>
              <a:t>Bucket reference remains stable during prepend.</a:t>
            </a:r>
            <a:endParaRPr sz="1600">
              <a:solidFill>
                <a:srgbClr val="000000"/>
              </a:solidFill>
              <a:latin typeface="Trebuchet MS"/>
              <a:ea typeface="Trebuchet MS"/>
              <a:cs typeface="Trebuchet MS"/>
              <a:sym typeface="Trebuchet MS"/>
            </a:endParaRPr>
          </a:p>
        </p:txBody>
      </p:sp>
      <p:sp>
        <p:nvSpPr>
          <p:cNvPr id="632" name="Google Shape;632;g3f557c7bba2_0_247"/>
          <p:cNvSpPr/>
          <p:nvPr/>
        </p:nvSpPr>
        <p:spPr>
          <a:xfrm>
            <a:off x="5016176" y="2322456"/>
            <a:ext cx="2263800" cy="1010100"/>
          </a:xfrm>
          <a:prstGeom prst="rect">
            <a:avLst/>
          </a:prstGeom>
          <a:solidFill>
            <a:srgbClr val="FFFFFF"/>
          </a:solidFill>
          <a:ln cap="flat" cmpd="sng" w="9850">
            <a:solidFill>
              <a:srgbClr val="B8C7D9"/>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1F2933"/>
              </a:buClr>
              <a:buSzPts val="981"/>
              <a:buFont typeface="Arial"/>
              <a:buNone/>
            </a:pPr>
            <a:r>
              <a:rPr lang="en-US" sz="1600">
                <a:solidFill>
                  <a:srgbClr val="1F2933"/>
                </a:solidFill>
                <a:latin typeface="Trebuchet MS"/>
                <a:ea typeface="Trebuchet MS"/>
                <a:cs typeface="Trebuchet MS"/>
                <a:sym typeface="Trebuchet MS"/>
              </a:rPr>
              <a:t>Uses one extra dummy node.</a:t>
            </a:r>
            <a:endParaRPr sz="1600">
              <a:solidFill>
                <a:srgbClr val="000000"/>
              </a:solidFill>
              <a:latin typeface="Trebuchet MS"/>
              <a:ea typeface="Trebuchet MS"/>
              <a:cs typeface="Trebuchet MS"/>
              <a:sym typeface="Trebuchet MS"/>
            </a:endParaRPr>
          </a:p>
        </p:txBody>
      </p:sp>
      <p:sp>
        <p:nvSpPr>
          <p:cNvPr id="633" name="Google Shape;633;g3f557c7bba2_0_247"/>
          <p:cNvSpPr/>
          <p:nvPr/>
        </p:nvSpPr>
        <p:spPr>
          <a:xfrm>
            <a:off x="186800" y="3332637"/>
            <a:ext cx="2062200" cy="1010100"/>
          </a:xfrm>
          <a:prstGeom prst="rect">
            <a:avLst/>
          </a:prstGeom>
          <a:solidFill>
            <a:srgbClr val="FFFFFF"/>
          </a:solidFill>
          <a:ln cap="flat" cmpd="sng" w="9850">
            <a:solidFill>
              <a:srgbClr val="B8C7D9"/>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1F2933"/>
              </a:buClr>
              <a:buSzPts val="981"/>
              <a:buFont typeface="Arial"/>
              <a:buNone/>
            </a:pPr>
            <a:r>
              <a:rPr lang="en-US" sz="1600">
                <a:solidFill>
                  <a:srgbClr val="1F2933"/>
                </a:solidFill>
                <a:latin typeface="Trebuchet MS"/>
                <a:ea typeface="Trebuchet MS"/>
                <a:cs typeface="Trebuchet MS"/>
                <a:sym typeface="Trebuchet MS"/>
              </a:rPr>
              <a:t>Non-dummy-headed list</a:t>
            </a:r>
            <a:endParaRPr sz="1600">
              <a:solidFill>
                <a:srgbClr val="000000"/>
              </a:solidFill>
              <a:latin typeface="Trebuchet MS"/>
              <a:ea typeface="Trebuchet MS"/>
              <a:cs typeface="Trebuchet MS"/>
              <a:sym typeface="Trebuchet MS"/>
            </a:endParaRPr>
          </a:p>
        </p:txBody>
      </p:sp>
      <p:sp>
        <p:nvSpPr>
          <p:cNvPr id="634" name="Google Shape;634;g3f557c7bba2_0_247"/>
          <p:cNvSpPr/>
          <p:nvPr/>
        </p:nvSpPr>
        <p:spPr>
          <a:xfrm>
            <a:off x="2249346" y="3332637"/>
            <a:ext cx="2766900" cy="1010100"/>
          </a:xfrm>
          <a:prstGeom prst="rect">
            <a:avLst/>
          </a:prstGeom>
          <a:solidFill>
            <a:srgbClr val="FFFFFF"/>
          </a:solidFill>
          <a:ln cap="flat" cmpd="sng" w="9850">
            <a:solidFill>
              <a:srgbClr val="B8C7D9"/>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1F2933"/>
              </a:buClr>
              <a:buSzPts val="981"/>
              <a:buFont typeface="Arial"/>
              <a:buNone/>
            </a:pPr>
            <a:r>
              <a:rPr lang="en-US" sz="1600">
                <a:solidFill>
                  <a:srgbClr val="1F2933"/>
                </a:solidFill>
                <a:latin typeface="Trebuchet MS"/>
                <a:ea typeface="Trebuchet MS"/>
                <a:cs typeface="Trebuchet MS"/>
                <a:sym typeface="Trebuchet MS"/>
              </a:rPr>
              <a:t>No dummy node overhead.</a:t>
            </a:r>
            <a:endParaRPr sz="1600">
              <a:solidFill>
                <a:srgbClr val="000000"/>
              </a:solidFill>
              <a:latin typeface="Trebuchet MS"/>
              <a:ea typeface="Trebuchet MS"/>
              <a:cs typeface="Trebuchet MS"/>
              <a:sym typeface="Trebuchet MS"/>
            </a:endParaRPr>
          </a:p>
        </p:txBody>
      </p:sp>
      <p:sp>
        <p:nvSpPr>
          <p:cNvPr id="635" name="Google Shape;635;g3f557c7bba2_0_247"/>
          <p:cNvSpPr/>
          <p:nvPr/>
        </p:nvSpPr>
        <p:spPr>
          <a:xfrm>
            <a:off x="5016176" y="3332637"/>
            <a:ext cx="2263800" cy="1010100"/>
          </a:xfrm>
          <a:prstGeom prst="rect">
            <a:avLst/>
          </a:prstGeom>
          <a:solidFill>
            <a:srgbClr val="FFFFFF"/>
          </a:solidFill>
          <a:ln cap="flat" cmpd="sng" w="9850">
            <a:solidFill>
              <a:srgbClr val="B8C7D9"/>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1F2933"/>
              </a:buClr>
              <a:buSzPts val="981"/>
              <a:buFont typeface="Arial"/>
              <a:buNone/>
            </a:pPr>
            <a:r>
              <a:rPr lang="en-US" sz="1600">
                <a:solidFill>
                  <a:srgbClr val="1F2933"/>
                </a:solidFill>
                <a:latin typeface="Trebuchet MS"/>
                <a:ea typeface="Trebuchet MS"/>
                <a:cs typeface="Trebuchet MS"/>
                <a:sym typeface="Trebuchet MS"/>
              </a:rPr>
              <a:t>Head changes during prepend; can be more error-prone.</a:t>
            </a:r>
            <a:endParaRPr sz="1600">
              <a:solidFill>
                <a:srgbClr val="000000"/>
              </a:solidFill>
              <a:latin typeface="Trebuchet MS"/>
              <a:ea typeface="Trebuchet MS"/>
              <a:cs typeface="Trebuchet MS"/>
              <a:sym typeface="Trebuchet MS"/>
            </a:endParaRPr>
          </a:p>
        </p:txBody>
      </p:sp>
      <p:sp>
        <p:nvSpPr>
          <p:cNvPr id="636" name="Google Shape;636;g3f557c7bba2_0_247"/>
          <p:cNvSpPr/>
          <p:nvPr/>
        </p:nvSpPr>
        <p:spPr>
          <a:xfrm>
            <a:off x="186800" y="4342818"/>
            <a:ext cx="2062200" cy="1010100"/>
          </a:xfrm>
          <a:prstGeom prst="rect">
            <a:avLst/>
          </a:prstGeom>
          <a:solidFill>
            <a:srgbClr val="FFFFFF"/>
          </a:solidFill>
          <a:ln cap="flat" cmpd="sng" w="9850">
            <a:solidFill>
              <a:srgbClr val="B8C7D9"/>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1F2933"/>
              </a:buClr>
              <a:buSzPts val="981"/>
              <a:buFont typeface="Arial"/>
              <a:buNone/>
            </a:pPr>
            <a:r>
              <a:rPr lang="en-US" sz="1600">
                <a:solidFill>
                  <a:srgbClr val="1F2933"/>
                </a:solidFill>
                <a:latin typeface="Trebuchet MS"/>
                <a:ea typeface="Trebuchet MS"/>
                <a:cs typeface="Trebuchet MS"/>
                <a:sym typeface="Trebuchet MS"/>
              </a:rPr>
              <a:t>Singly linked list</a:t>
            </a:r>
            <a:endParaRPr sz="1600">
              <a:solidFill>
                <a:srgbClr val="000000"/>
              </a:solidFill>
              <a:latin typeface="Trebuchet MS"/>
              <a:ea typeface="Trebuchet MS"/>
              <a:cs typeface="Trebuchet MS"/>
              <a:sym typeface="Trebuchet MS"/>
            </a:endParaRPr>
          </a:p>
        </p:txBody>
      </p:sp>
      <p:sp>
        <p:nvSpPr>
          <p:cNvPr id="637" name="Google Shape;637;g3f557c7bba2_0_247"/>
          <p:cNvSpPr/>
          <p:nvPr/>
        </p:nvSpPr>
        <p:spPr>
          <a:xfrm>
            <a:off x="2249346" y="4342818"/>
            <a:ext cx="2766900" cy="1010100"/>
          </a:xfrm>
          <a:prstGeom prst="rect">
            <a:avLst/>
          </a:prstGeom>
          <a:solidFill>
            <a:srgbClr val="FFFFFF"/>
          </a:solidFill>
          <a:ln cap="flat" cmpd="sng" w="9850">
            <a:solidFill>
              <a:srgbClr val="B8C7D9"/>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1F2933"/>
              </a:buClr>
              <a:buSzPts val="981"/>
              <a:buFont typeface="Arial"/>
              <a:buNone/>
            </a:pPr>
            <a:r>
              <a:rPr lang="en-US" sz="1600">
                <a:solidFill>
                  <a:srgbClr val="1F2933"/>
                </a:solidFill>
                <a:latin typeface="Trebuchet MS"/>
                <a:ea typeface="Trebuchet MS"/>
                <a:cs typeface="Trebuchet MS"/>
                <a:sym typeface="Trebuchet MS"/>
              </a:rPr>
              <a:t>Forward traversal is enough; less memory.</a:t>
            </a:r>
            <a:endParaRPr sz="1600">
              <a:solidFill>
                <a:srgbClr val="000000"/>
              </a:solidFill>
              <a:latin typeface="Trebuchet MS"/>
              <a:ea typeface="Trebuchet MS"/>
              <a:cs typeface="Trebuchet MS"/>
              <a:sym typeface="Trebuchet MS"/>
            </a:endParaRPr>
          </a:p>
        </p:txBody>
      </p:sp>
      <p:sp>
        <p:nvSpPr>
          <p:cNvPr id="638" name="Google Shape;638;g3f557c7bba2_0_247"/>
          <p:cNvSpPr/>
          <p:nvPr/>
        </p:nvSpPr>
        <p:spPr>
          <a:xfrm>
            <a:off x="5016176" y="4342818"/>
            <a:ext cx="2263800" cy="1010100"/>
          </a:xfrm>
          <a:prstGeom prst="rect">
            <a:avLst/>
          </a:prstGeom>
          <a:solidFill>
            <a:srgbClr val="FFFFFF"/>
          </a:solidFill>
          <a:ln cap="flat" cmpd="sng" w="9850">
            <a:solidFill>
              <a:srgbClr val="B8C7D9"/>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1F2933"/>
              </a:buClr>
              <a:buSzPts val="981"/>
              <a:buFont typeface="Arial"/>
              <a:buNone/>
            </a:pPr>
            <a:r>
              <a:rPr lang="en-US" sz="1600">
                <a:solidFill>
                  <a:srgbClr val="1F2933"/>
                </a:solidFill>
                <a:latin typeface="Trebuchet MS"/>
                <a:ea typeface="Trebuchet MS"/>
                <a:cs typeface="Trebuchet MS"/>
                <a:sym typeface="Trebuchet MS"/>
              </a:rPr>
              <a:t>Cannot move backward.</a:t>
            </a:r>
            <a:endParaRPr sz="1600">
              <a:solidFill>
                <a:srgbClr val="000000"/>
              </a:solidFill>
              <a:latin typeface="Trebuchet MS"/>
              <a:ea typeface="Trebuchet MS"/>
              <a:cs typeface="Trebuchet MS"/>
              <a:sym typeface="Trebuchet MS"/>
            </a:endParaRPr>
          </a:p>
        </p:txBody>
      </p:sp>
      <p:sp>
        <p:nvSpPr>
          <p:cNvPr id="639" name="Google Shape;639;g3f557c7bba2_0_247"/>
          <p:cNvSpPr/>
          <p:nvPr/>
        </p:nvSpPr>
        <p:spPr>
          <a:xfrm>
            <a:off x="186800" y="5352999"/>
            <a:ext cx="2062200" cy="1010100"/>
          </a:xfrm>
          <a:prstGeom prst="rect">
            <a:avLst/>
          </a:prstGeom>
          <a:solidFill>
            <a:srgbClr val="FFFFFF"/>
          </a:solidFill>
          <a:ln cap="flat" cmpd="sng" w="9850">
            <a:solidFill>
              <a:srgbClr val="B8C7D9"/>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1F2933"/>
              </a:buClr>
              <a:buSzPts val="981"/>
              <a:buFont typeface="Arial"/>
              <a:buNone/>
            </a:pPr>
            <a:r>
              <a:rPr lang="en-US" sz="1600">
                <a:solidFill>
                  <a:srgbClr val="1F2933"/>
                </a:solidFill>
                <a:latin typeface="Trebuchet MS"/>
                <a:ea typeface="Trebuchet MS"/>
                <a:cs typeface="Trebuchet MS"/>
                <a:sym typeface="Trebuchet MS"/>
              </a:rPr>
              <a:t>Doubly linked list</a:t>
            </a:r>
            <a:endParaRPr sz="1600">
              <a:solidFill>
                <a:srgbClr val="000000"/>
              </a:solidFill>
              <a:latin typeface="Trebuchet MS"/>
              <a:ea typeface="Trebuchet MS"/>
              <a:cs typeface="Trebuchet MS"/>
              <a:sym typeface="Trebuchet MS"/>
            </a:endParaRPr>
          </a:p>
        </p:txBody>
      </p:sp>
      <p:sp>
        <p:nvSpPr>
          <p:cNvPr id="640" name="Google Shape;640;g3f557c7bba2_0_247"/>
          <p:cNvSpPr/>
          <p:nvPr/>
        </p:nvSpPr>
        <p:spPr>
          <a:xfrm>
            <a:off x="2249346" y="5352999"/>
            <a:ext cx="2766900" cy="1010100"/>
          </a:xfrm>
          <a:prstGeom prst="rect">
            <a:avLst/>
          </a:prstGeom>
          <a:solidFill>
            <a:srgbClr val="FFFFFF"/>
          </a:solidFill>
          <a:ln cap="flat" cmpd="sng" w="9850">
            <a:solidFill>
              <a:srgbClr val="B8C7D9"/>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1F2933"/>
              </a:buClr>
              <a:buSzPts val="981"/>
              <a:buFont typeface="Arial"/>
              <a:buNone/>
            </a:pPr>
            <a:r>
              <a:rPr lang="en-US" sz="1600">
                <a:solidFill>
                  <a:srgbClr val="1F2933"/>
                </a:solidFill>
                <a:latin typeface="Trebuchet MS"/>
                <a:ea typeface="Trebuchet MS"/>
                <a:cs typeface="Trebuchet MS"/>
                <a:sym typeface="Trebuchet MS"/>
              </a:rPr>
              <a:t>Supports backward movement.</a:t>
            </a:r>
            <a:endParaRPr sz="1600">
              <a:solidFill>
                <a:srgbClr val="000000"/>
              </a:solidFill>
              <a:latin typeface="Trebuchet MS"/>
              <a:ea typeface="Trebuchet MS"/>
              <a:cs typeface="Trebuchet MS"/>
              <a:sym typeface="Trebuchet MS"/>
            </a:endParaRPr>
          </a:p>
        </p:txBody>
      </p:sp>
      <p:sp>
        <p:nvSpPr>
          <p:cNvPr id="641" name="Google Shape;641;g3f557c7bba2_0_247"/>
          <p:cNvSpPr/>
          <p:nvPr/>
        </p:nvSpPr>
        <p:spPr>
          <a:xfrm>
            <a:off x="5016176" y="5352999"/>
            <a:ext cx="2263800" cy="1010100"/>
          </a:xfrm>
          <a:prstGeom prst="rect">
            <a:avLst/>
          </a:prstGeom>
          <a:solidFill>
            <a:srgbClr val="FFFFFF"/>
          </a:solidFill>
          <a:ln cap="flat" cmpd="sng" w="9850">
            <a:solidFill>
              <a:srgbClr val="B8C7D9"/>
            </a:solidFill>
            <a:prstDash val="solid"/>
            <a:round/>
            <a:headEnd len="sm" w="sm" type="none"/>
            <a:tailEnd len="sm" w="sm" type="none"/>
          </a:ln>
        </p:spPr>
        <p:txBody>
          <a:bodyPr anchorCtr="0" anchor="ctr" bIns="650" lIns="650" spcFirstLastPara="1" rIns="650" wrap="square" tIns="650">
            <a:noAutofit/>
          </a:bodyPr>
          <a:lstStyle/>
          <a:p>
            <a:pPr indent="0" lvl="0" marL="0" marR="0" rtl="0" algn="l">
              <a:spcBef>
                <a:spcPts val="0"/>
              </a:spcBef>
              <a:spcAft>
                <a:spcPts val="0"/>
              </a:spcAft>
              <a:buClr>
                <a:srgbClr val="1F2933"/>
              </a:buClr>
              <a:buSzPts val="981"/>
              <a:buFont typeface="Arial"/>
              <a:buNone/>
            </a:pPr>
            <a:r>
              <a:rPr lang="en-US" sz="1600">
                <a:solidFill>
                  <a:srgbClr val="1F2933"/>
                </a:solidFill>
                <a:latin typeface="Trebuchet MS"/>
                <a:ea typeface="Trebuchet MS"/>
                <a:cs typeface="Trebuchet MS"/>
                <a:sym typeface="Trebuchet MS"/>
              </a:rPr>
              <a:t>Previous pointer is unnecessary for typical hash-table operations.</a:t>
            </a:r>
            <a:endParaRPr sz="1600">
              <a:solidFill>
                <a:srgbClr val="000000"/>
              </a:solidFill>
              <a:latin typeface="Trebuchet MS"/>
              <a:ea typeface="Trebuchet MS"/>
              <a:cs typeface="Trebuchet MS"/>
              <a:sym typeface="Trebuchet MS"/>
            </a:endParaRPr>
          </a:p>
        </p:txBody>
      </p:sp>
      <p:pic>
        <p:nvPicPr>
          <p:cNvPr id="642" name="Google Shape;642;g3f557c7bba2_0_247" title="hashing.png"/>
          <p:cNvPicPr preferRelativeResize="0"/>
          <p:nvPr/>
        </p:nvPicPr>
        <p:blipFill>
          <a:blip r:embed="rId3">
            <a:alphaModFix/>
          </a:blip>
          <a:stretch>
            <a:fillRect/>
          </a:stretch>
        </p:blipFill>
        <p:spPr>
          <a:xfrm>
            <a:off x="7279975" y="288150"/>
            <a:ext cx="4799999" cy="600749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6" name="Shape 646"/>
        <p:cNvGrpSpPr/>
        <p:nvPr/>
      </p:nvGrpSpPr>
      <p:grpSpPr>
        <a:xfrm>
          <a:off x="0" y="0"/>
          <a:ext cx="0" cy="0"/>
          <a:chOff x="0" y="0"/>
          <a:chExt cx="0" cy="0"/>
        </a:xfrm>
      </p:grpSpPr>
      <p:sp>
        <p:nvSpPr>
          <p:cNvPr id="647" name="Google Shape;647;p26"/>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48" name="Google Shape;648;p26"/>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49" name="Google Shape;649;p26"/>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17365D"/>
                </a:solidFill>
                <a:latin typeface="Calibri"/>
                <a:ea typeface="Calibri"/>
                <a:cs typeface="Calibri"/>
                <a:sym typeface="Calibri"/>
              </a:rPr>
              <a:t>For Hashing Questions in Exams</a:t>
            </a:r>
            <a:endParaRPr/>
          </a:p>
        </p:txBody>
      </p:sp>
      <p:sp>
        <p:nvSpPr>
          <p:cNvPr id="650" name="Google Shape;650;p26"/>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51" name="Google Shape;651;p26"/>
          <p:cNvSpPr txBox="1"/>
          <p:nvPr/>
        </p:nvSpPr>
        <p:spPr>
          <a:xfrm>
            <a:off x="564650" y="1645819"/>
            <a:ext cx="10680300" cy="2501100"/>
          </a:xfrm>
          <a:prstGeom prst="rect">
            <a:avLst/>
          </a:prstGeom>
          <a:noFill/>
          <a:ln>
            <a:noFill/>
          </a:ln>
        </p:spPr>
        <p:txBody>
          <a:bodyPr anchorCtr="0" anchor="t" bIns="45700" lIns="91425" spcFirstLastPara="1" rIns="91425" wrap="square" tIns="45700">
            <a:normAutofit/>
          </a:bodyPr>
          <a:lstStyle/>
          <a:p>
            <a:pPr indent="-349250" lvl="0" marL="457200" rtl="0" algn="l">
              <a:lnSpc>
                <a:spcPct val="200000"/>
              </a:lnSpc>
              <a:spcBef>
                <a:spcPts val="600"/>
              </a:spcBef>
              <a:spcAft>
                <a:spcPts val="0"/>
              </a:spcAft>
              <a:buClr>
                <a:srgbClr val="1F1F1F"/>
              </a:buClr>
              <a:buSzPts val="1900"/>
              <a:buFont typeface="Trebuchet MS"/>
              <a:buChar char="●"/>
            </a:pPr>
            <a:r>
              <a:rPr lang="en-US" sz="1900">
                <a:solidFill>
                  <a:srgbClr val="1F1F1F"/>
                </a:solidFill>
                <a:highlight>
                  <a:srgbClr val="FFFFFF"/>
                </a:highlight>
                <a:latin typeface="Trebuchet MS"/>
                <a:ea typeface="Trebuchet MS"/>
                <a:cs typeface="Trebuchet MS"/>
                <a:sym typeface="Trebuchet MS"/>
              </a:rPr>
              <a:t>For question-setting purposes, any type of linked list may be used, including:</a:t>
            </a:r>
            <a:endParaRPr sz="1900">
              <a:solidFill>
                <a:srgbClr val="1F1F1F"/>
              </a:solidFill>
              <a:highlight>
                <a:srgbClr val="FFFFFF"/>
              </a:highlight>
              <a:latin typeface="Trebuchet MS"/>
              <a:ea typeface="Trebuchet MS"/>
              <a:cs typeface="Trebuchet MS"/>
              <a:sym typeface="Trebuchet MS"/>
            </a:endParaRPr>
          </a:p>
          <a:p>
            <a:pPr indent="-349250" lvl="3" marL="1828800" rtl="0" algn="l">
              <a:lnSpc>
                <a:spcPct val="200000"/>
              </a:lnSpc>
              <a:spcBef>
                <a:spcPts val="0"/>
              </a:spcBef>
              <a:spcAft>
                <a:spcPts val="0"/>
              </a:spcAft>
              <a:buClr>
                <a:schemeClr val="dk1"/>
              </a:buClr>
              <a:buSzPts val="1900"/>
              <a:buFont typeface="Trebuchet MS"/>
              <a:buChar char="●"/>
            </a:pPr>
            <a:r>
              <a:rPr lang="en-US" sz="1900">
                <a:solidFill>
                  <a:srgbClr val="1F1F1F"/>
                </a:solidFill>
                <a:highlight>
                  <a:srgbClr val="FFFFFF"/>
                </a:highlight>
                <a:latin typeface="Trebuchet MS"/>
                <a:ea typeface="Trebuchet MS"/>
                <a:cs typeface="Trebuchet MS"/>
                <a:sym typeface="Trebuchet MS"/>
              </a:rPr>
              <a:t>Linear or Circular</a:t>
            </a:r>
            <a:endParaRPr sz="1900">
              <a:solidFill>
                <a:srgbClr val="1F1F1F"/>
              </a:solidFill>
              <a:highlight>
                <a:srgbClr val="FFFFFF"/>
              </a:highlight>
              <a:latin typeface="Trebuchet MS"/>
              <a:ea typeface="Trebuchet MS"/>
              <a:cs typeface="Trebuchet MS"/>
              <a:sym typeface="Trebuchet MS"/>
            </a:endParaRPr>
          </a:p>
          <a:p>
            <a:pPr indent="-349250" lvl="3" marL="1828800" rtl="0" algn="l">
              <a:lnSpc>
                <a:spcPct val="200000"/>
              </a:lnSpc>
              <a:spcBef>
                <a:spcPts val="0"/>
              </a:spcBef>
              <a:spcAft>
                <a:spcPts val="0"/>
              </a:spcAft>
              <a:buClr>
                <a:schemeClr val="dk1"/>
              </a:buClr>
              <a:buSzPts val="1900"/>
              <a:buFont typeface="Trebuchet MS"/>
              <a:buChar char="●"/>
            </a:pPr>
            <a:r>
              <a:rPr lang="en-US" sz="1900">
                <a:solidFill>
                  <a:srgbClr val="1F1F1F"/>
                </a:solidFill>
                <a:highlight>
                  <a:srgbClr val="FFFFFF"/>
                </a:highlight>
                <a:latin typeface="Trebuchet MS"/>
                <a:ea typeface="Trebuchet MS"/>
                <a:cs typeface="Trebuchet MS"/>
                <a:sym typeface="Trebuchet MS"/>
              </a:rPr>
              <a:t>Dummy-Headed or Non-Dummy-Headed</a:t>
            </a:r>
            <a:endParaRPr sz="1900">
              <a:solidFill>
                <a:srgbClr val="1F1F1F"/>
              </a:solidFill>
              <a:highlight>
                <a:srgbClr val="FFFFFF"/>
              </a:highlight>
              <a:latin typeface="Trebuchet MS"/>
              <a:ea typeface="Trebuchet MS"/>
              <a:cs typeface="Trebuchet MS"/>
              <a:sym typeface="Trebuchet MS"/>
            </a:endParaRPr>
          </a:p>
          <a:p>
            <a:pPr indent="-349250" lvl="3" marL="1828800" rtl="0" algn="l">
              <a:lnSpc>
                <a:spcPct val="200000"/>
              </a:lnSpc>
              <a:spcBef>
                <a:spcPts val="0"/>
              </a:spcBef>
              <a:spcAft>
                <a:spcPts val="0"/>
              </a:spcAft>
              <a:buClr>
                <a:schemeClr val="dk1"/>
              </a:buClr>
              <a:buSzPts val="1900"/>
              <a:buFont typeface="Trebuchet MS"/>
              <a:buChar char="●"/>
            </a:pPr>
            <a:r>
              <a:rPr lang="en-US" sz="1900">
                <a:solidFill>
                  <a:srgbClr val="1F1F1F"/>
                </a:solidFill>
                <a:highlight>
                  <a:srgbClr val="FFFFFF"/>
                </a:highlight>
                <a:latin typeface="Trebuchet MS"/>
                <a:ea typeface="Trebuchet MS"/>
                <a:cs typeface="Trebuchet MS"/>
                <a:sym typeface="Trebuchet MS"/>
              </a:rPr>
              <a:t>Singly or Doubly Linked</a:t>
            </a:r>
            <a:endParaRPr sz="1900">
              <a:solidFill>
                <a:srgbClr val="1F1F1F"/>
              </a:solidFill>
              <a:highlight>
                <a:srgbClr val="FFFFFF"/>
              </a:highlight>
              <a:latin typeface="Trebuchet MS"/>
              <a:ea typeface="Trebuchet MS"/>
              <a:cs typeface="Trebuchet MS"/>
              <a:sym typeface="Trebuchet MS"/>
            </a:endParaRPr>
          </a:p>
        </p:txBody>
      </p:sp>
      <p:sp>
        <p:nvSpPr>
          <p:cNvPr id="652" name="Google Shape;652;p26"/>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653" name="Google Shape;653;p26"/>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20</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7" name="Shape 657"/>
        <p:cNvGrpSpPr/>
        <p:nvPr/>
      </p:nvGrpSpPr>
      <p:grpSpPr>
        <a:xfrm>
          <a:off x="0" y="0"/>
          <a:ext cx="0" cy="0"/>
          <a:chOff x="0" y="0"/>
          <a:chExt cx="0" cy="0"/>
        </a:xfrm>
      </p:grpSpPr>
      <p:sp>
        <p:nvSpPr>
          <p:cNvPr id="658" name="Google Shape;658;g3f70f9e4716_0_3"/>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59" name="Google Shape;659;g3f70f9e4716_0_3"/>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60" name="Google Shape;660;g3f70f9e4716_0_3"/>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Forward chaining operations</a:t>
            </a:r>
            <a:endParaRPr/>
          </a:p>
        </p:txBody>
      </p:sp>
      <p:sp>
        <p:nvSpPr>
          <p:cNvPr id="661" name="Google Shape;661;g3f70f9e4716_0_3"/>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62" name="Google Shape;662;g3f70f9e4716_0_3"/>
          <p:cNvSpPr txBox="1"/>
          <p:nvPr/>
        </p:nvSpPr>
        <p:spPr>
          <a:xfrm>
            <a:off x="649163" y="1082738"/>
            <a:ext cx="10680300" cy="5040000"/>
          </a:xfrm>
          <a:prstGeom prst="rect">
            <a:avLst/>
          </a:prstGeom>
          <a:noFill/>
          <a:ln>
            <a:noFill/>
          </a:ln>
        </p:spPr>
        <p:txBody>
          <a:bodyPr anchorCtr="0" anchor="t" bIns="45700" lIns="91425" spcFirstLastPara="1" rIns="91425" wrap="square" tIns="45700">
            <a:normAutofit lnSpcReduction="10000"/>
          </a:bodyPr>
          <a:lstStyle/>
          <a:p>
            <a:pPr indent="-330200" lvl="0" marL="457200" rtl="0" algn="l">
              <a:lnSpc>
                <a:spcPct val="200000"/>
              </a:lnSpc>
              <a:spcBef>
                <a:spcPts val="600"/>
              </a:spcBef>
              <a:spcAft>
                <a:spcPts val="0"/>
              </a:spcAft>
              <a:buClr>
                <a:srgbClr val="1F1F1F"/>
              </a:buClr>
              <a:buSzPts val="1600"/>
              <a:buFont typeface="Trebuchet MS"/>
              <a:buChar char="●"/>
            </a:pPr>
            <a:r>
              <a:rPr lang="en-US" sz="1600">
                <a:solidFill>
                  <a:srgbClr val="1F1F1F"/>
                </a:solidFill>
                <a:highlight>
                  <a:srgbClr val="FFFFFF"/>
                </a:highlight>
                <a:latin typeface="Trebuchet MS"/>
                <a:ea typeface="Trebuchet MS"/>
                <a:cs typeface="Trebuchet MS"/>
                <a:sym typeface="Trebuchet MS"/>
              </a:rPr>
              <a:t>Insertion:</a:t>
            </a:r>
            <a:endParaRPr sz="1600">
              <a:solidFill>
                <a:srgbClr val="1F1F1F"/>
              </a:solidFill>
              <a:highlight>
                <a:srgbClr val="FFFFFF"/>
              </a:highlight>
              <a:latin typeface="Trebuchet MS"/>
              <a:ea typeface="Trebuchet MS"/>
              <a:cs typeface="Trebuchet MS"/>
              <a:sym typeface="Trebuchet MS"/>
            </a:endParaRPr>
          </a:p>
          <a:p>
            <a:pPr indent="-330200" lvl="1" marL="914400" rtl="0" algn="l">
              <a:lnSpc>
                <a:spcPct val="200000"/>
              </a:lnSpc>
              <a:spcBef>
                <a:spcPts val="0"/>
              </a:spcBef>
              <a:spcAft>
                <a:spcPts val="0"/>
              </a:spcAft>
              <a:buClr>
                <a:srgbClr val="1F1F1F"/>
              </a:buClr>
              <a:buSzPts val="1600"/>
              <a:buChar char="○"/>
            </a:pPr>
            <a:r>
              <a:rPr lang="en-US" sz="1600">
                <a:solidFill>
                  <a:srgbClr val="0000FF"/>
                </a:solidFill>
                <a:highlight>
                  <a:srgbClr val="FFFFFF"/>
                </a:highlight>
                <a:latin typeface="Trebuchet MS"/>
                <a:ea typeface="Trebuchet MS"/>
                <a:cs typeface="Trebuchet MS"/>
                <a:sym typeface="Trebuchet MS"/>
              </a:rPr>
              <a:t>Prepend</a:t>
            </a:r>
            <a:r>
              <a:rPr lang="en-US" sz="1600">
                <a:solidFill>
                  <a:srgbClr val="1F1F1F"/>
                </a:solidFill>
                <a:highlight>
                  <a:srgbClr val="FFFFFF"/>
                </a:highlight>
                <a:latin typeface="Trebuchet MS"/>
                <a:ea typeface="Trebuchet MS"/>
                <a:cs typeface="Trebuchet MS"/>
                <a:sym typeface="Trebuchet MS"/>
              </a:rPr>
              <a:t> the new key-value pair to the linked list at the </a:t>
            </a:r>
            <a:r>
              <a:rPr lang="en-US" sz="1600">
                <a:solidFill>
                  <a:srgbClr val="0000FF"/>
                </a:solidFill>
                <a:highlight>
                  <a:srgbClr val="FFFFFF"/>
                </a:highlight>
                <a:latin typeface="Trebuchet MS"/>
                <a:ea typeface="Trebuchet MS"/>
                <a:cs typeface="Trebuchet MS"/>
                <a:sym typeface="Trebuchet MS"/>
              </a:rPr>
              <a:t>calculated index</a:t>
            </a:r>
            <a:r>
              <a:rPr lang="en-US" sz="1600">
                <a:solidFill>
                  <a:srgbClr val="1F1F1F"/>
                </a:solidFill>
                <a:highlight>
                  <a:srgbClr val="FFFFFF"/>
                </a:highlight>
                <a:latin typeface="Trebuchet MS"/>
                <a:ea typeface="Trebuchet MS"/>
                <a:cs typeface="Trebuchet MS"/>
                <a:sym typeface="Trebuchet MS"/>
              </a:rPr>
              <a:t>.</a:t>
            </a:r>
            <a:endParaRPr sz="1600">
              <a:solidFill>
                <a:srgbClr val="1F1F1F"/>
              </a:solidFill>
              <a:highlight>
                <a:srgbClr val="FFFFFF"/>
              </a:highlight>
              <a:latin typeface="Trebuchet MS"/>
              <a:ea typeface="Trebuchet MS"/>
              <a:cs typeface="Trebuchet MS"/>
              <a:sym typeface="Trebuchet MS"/>
            </a:endParaRPr>
          </a:p>
          <a:p>
            <a:pPr indent="-330200" lvl="1" marL="914400" rtl="0" algn="l">
              <a:lnSpc>
                <a:spcPct val="200000"/>
              </a:lnSpc>
              <a:spcBef>
                <a:spcPts val="0"/>
              </a:spcBef>
              <a:spcAft>
                <a:spcPts val="0"/>
              </a:spcAft>
              <a:buClr>
                <a:srgbClr val="1F1F1F"/>
              </a:buClr>
              <a:buSzPts val="1600"/>
              <a:buChar char="○"/>
            </a:pPr>
            <a:r>
              <a:rPr lang="en-US" sz="1600">
                <a:solidFill>
                  <a:srgbClr val="1F1F1F"/>
                </a:solidFill>
                <a:highlight>
                  <a:srgbClr val="FFFFFF"/>
                </a:highlight>
                <a:latin typeface="Trebuchet MS"/>
                <a:ea typeface="Trebuchet MS"/>
                <a:cs typeface="Trebuchet MS"/>
                <a:sym typeface="Trebuchet MS"/>
              </a:rPr>
              <a:t>Ensuring O(1) constant-time insertion.</a:t>
            </a:r>
            <a:endParaRPr sz="1600">
              <a:solidFill>
                <a:srgbClr val="1F1F1F"/>
              </a:solidFill>
              <a:highlight>
                <a:srgbClr val="FFFFFF"/>
              </a:highlight>
              <a:latin typeface="Trebuchet MS"/>
              <a:ea typeface="Trebuchet MS"/>
              <a:cs typeface="Trebuchet MS"/>
              <a:sym typeface="Trebuchet MS"/>
            </a:endParaRPr>
          </a:p>
          <a:p>
            <a:pPr indent="-330200" lvl="0" marL="457200" rtl="0" algn="l">
              <a:lnSpc>
                <a:spcPct val="200000"/>
              </a:lnSpc>
              <a:spcBef>
                <a:spcPts val="0"/>
              </a:spcBef>
              <a:spcAft>
                <a:spcPts val="0"/>
              </a:spcAft>
              <a:buClr>
                <a:srgbClr val="1F1F1F"/>
              </a:buClr>
              <a:buSzPts val="1600"/>
              <a:buFont typeface="Trebuchet MS"/>
              <a:buChar char="●"/>
            </a:pPr>
            <a:r>
              <a:rPr lang="en-US" sz="1600">
                <a:solidFill>
                  <a:srgbClr val="1F1F1F"/>
                </a:solidFill>
                <a:highlight>
                  <a:srgbClr val="FFFFFF"/>
                </a:highlight>
                <a:latin typeface="Trebuchet MS"/>
                <a:ea typeface="Trebuchet MS"/>
                <a:cs typeface="Trebuchet MS"/>
                <a:sym typeface="Trebuchet MS"/>
              </a:rPr>
              <a:t>Search:</a:t>
            </a:r>
            <a:endParaRPr sz="1600">
              <a:solidFill>
                <a:srgbClr val="1F1F1F"/>
              </a:solidFill>
              <a:highlight>
                <a:srgbClr val="FFFFFF"/>
              </a:highlight>
              <a:latin typeface="Trebuchet MS"/>
              <a:ea typeface="Trebuchet MS"/>
              <a:cs typeface="Trebuchet MS"/>
              <a:sym typeface="Trebuchet MS"/>
            </a:endParaRPr>
          </a:p>
          <a:p>
            <a:pPr indent="-330200" lvl="1" marL="914400" rtl="0" algn="l">
              <a:lnSpc>
                <a:spcPct val="200000"/>
              </a:lnSpc>
              <a:spcBef>
                <a:spcPts val="0"/>
              </a:spcBef>
              <a:spcAft>
                <a:spcPts val="0"/>
              </a:spcAft>
              <a:buClr>
                <a:srgbClr val="1F1F1F"/>
              </a:buClr>
              <a:buSzPts val="1600"/>
              <a:buChar char="○"/>
            </a:pPr>
            <a:r>
              <a:rPr lang="en-US" sz="1600">
                <a:solidFill>
                  <a:srgbClr val="1F1F1F"/>
                </a:solidFill>
                <a:highlight>
                  <a:srgbClr val="FFFFFF"/>
                </a:highlight>
                <a:latin typeface="Trebuchet MS"/>
                <a:ea typeface="Trebuchet MS"/>
                <a:cs typeface="Trebuchet MS"/>
                <a:sym typeface="Trebuchet MS"/>
              </a:rPr>
              <a:t>Traverse the linked list </a:t>
            </a:r>
            <a:r>
              <a:rPr lang="en-US" sz="1600">
                <a:solidFill>
                  <a:srgbClr val="0000FF"/>
                </a:solidFill>
                <a:highlight>
                  <a:srgbClr val="FFFFFF"/>
                </a:highlight>
                <a:latin typeface="Trebuchet MS"/>
                <a:ea typeface="Trebuchet MS"/>
                <a:cs typeface="Trebuchet MS"/>
                <a:sym typeface="Trebuchet MS"/>
              </a:rPr>
              <a:t>at the calculated index </a:t>
            </a:r>
            <a:r>
              <a:rPr lang="en-US" sz="1600">
                <a:solidFill>
                  <a:srgbClr val="1F1F1F"/>
                </a:solidFill>
                <a:highlight>
                  <a:srgbClr val="FFFFFF"/>
                </a:highlight>
                <a:latin typeface="Trebuchet MS"/>
                <a:ea typeface="Trebuchet MS"/>
                <a:cs typeface="Trebuchet MS"/>
                <a:sym typeface="Trebuchet MS"/>
              </a:rPr>
              <a:t>to find the key.</a:t>
            </a:r>
            <a:endParaRPr sz="1600">
              <a:solidFill>
                <a:srgbClr val="1F1F1F"/>
              </a:solidFill>
              <a:highlight>
                <a:srgbClr val="FFFFFF"/>
              </a:highlight>
              <a:latin typeface="Trebuchet MS"/>
              <a:ea typeface="Trebuchet MS"/>
              <a:cs typeface="Trebuchet MS"/>
              <a:sym typeface="Trebuchet MS"/>
            </a:endParaRPr>
          </a:p>
          <a:p>
            <a:pPr indent="-330200" lvl="1" marL="914400" rtl="0" algn="l">
              <a:lnSpc>
                <a:spcPct val="200000"/>
              </a:lnSpc>
              <a:spcBef>
                <a:spcPts val="0"/>
              </a:spcBef>
              <a:spcAft>
                <a:spcPts val="0"/>
              </a:spcAft>
              <a:buClr>
                <a:srgbClr val="1F1F1F"/>
              </a:buClr>
              <a:buSzPts val="1600"/>
              <a:buFont typeface="Trebuchet MS"/>
              <a:buChar char="○"/>
            </a:pPr>
            <a:r>
              <a:rPr lang="en-US" sz="1600">
                <a:solidFill>
                  <a:srgbClr val="1F1F1F"/>
                </a:solidFill>
                <a:highlight>
                  <a:srgbClr val="FFFFFF"/>
                </a:highlight>
                <a:latin typeface="Trebuchet MS"/>
                <a:ea typeface="Trebuchet MS"/>
                <a:cs typeface="Trebuchet MS"/>
                <a:sym typeface="Trebuchet MS"/>
              </a:rPr>
              <a:t>Search time increases with the number of collisions.</a:t>
            </a:r>
            <a:endParaRPr sz="1600">
              <a:solidFill>
                <a:srgbClr val="1F1F1F"/>
              </a:solidFill>
              <a:highlight>
                <a:srgbClr val="FFFFFF"/>
              </a:highlight>
              <a:latin typeface="Trebuchet MS"/>
              <a:ea typeface="Trebuchet MS"/>
              <a:cs typeface="Trebuchet MS"/>
              <a:sym typeface="Trebuchet MS"/>
            </a:endParaRPr>
          </a:p>
          <a:p>
            <a:pPr indent="-330200" lvl="0" marL="457200" rtl="0" algn="l">
              <a:lnSpc>
                <a:spcPct val="200000"/>
              </a:lnSpc>
              <a:spcBef>
                <a:spcPts val="0"/>
              </a:spcBef>
              <a:spcAft>
                <a:spcPts val="0"/>
              </a:spcAft>
              <a:buClr>
                <a:srgbClr val="1F1F1F"/>
              </a:buClr>
              <a:buSzPts val="1600"/>
              <a:buFont typeface="Trebuchet MS"/>
              <a:buChar char="●"/>
            </a:pPr>
            <a:r>
              <a:rPr lang="en-US" sz="1600">
                <a:solidFill>
                  <a:srgbClr val="1F1F1F"/>
                </a:solidFill>
                <a:highlight>
                  <a:srgbClr val="FFFFFF"/>
                </a:highlight>
                <a:latin typeface="Trebuchet MS"/>
                <a:ea typeface="Trebuchet MS"/>
                <a:cs typeface="Trebuchet MS"/>
                <a:sym typeface="Trebuchet MS"/>
              </a:rPr>
              <a:t>Update:</a:t>
            </a:r>
            <a:endParaRPr sz="1600">
              <a:solidFill>
                <a:srgbClr val="1F1F1F"/>
              </a:solidFill>
              <a:highlight>
                <a:srgbClr val="FFFFFF"/>
              </a:highlight>
              <a:latin typeface="Trebuchet MS"/>
              <a:ea typeface="Trebuchet MS"/>
              <a:cs typeface="Trebuchet MS"/>
              <a:sym typeface="Trebuchet MS"/>
            </a:endParaRPr>
          </a:p>
          <a:p>
            <a:pPr indent="-330200" lvl="1" marL="914400" rtl="0" algn="l">
              <a:lnSpc>
                <a:spcPct val="200000"/>
              </a:lnSpc>
              <a:spcBef>
                <a:spcPts val="0"/>
              </a:spcBef>
              <a:spcAft>
                <a:spcPts val="0"/>
              </a:spcAft>
              <a:buClr>
                <a:srgbClr val="1F1F1F"/>
              </a:buClr>
              <a:buSzPts val="1600"/>
              <a:buFont typeface="Trebuchet MS"/>
              <a:buChar char="○"/>
            </a:pPr>
            <a:r>
              <a:rPr lang="en-US" sz="1600">
                <a:solidFill>
                  <a:srgbClr val="1F1F1F"/>
                </a:solidFill>
                <a:highlight>
                  <a:srgbClr val="FFFFFF"/>
                </a:highlight>
                <a:latin typeface="Trebuchet MS"/>
                <a:ea typeface="Trebuchet MS"/>
                <a:cs typeface="Trebuchet MS"/>
                <a:sym typeface="Trebuchet MS"/>
              </a:rPr>
              <a:t>Find the key in the linked list and </a:t>
            </a:r>
            <a:r>
              <a:rPr lang="en-US" sz="1600">
                <a:solidFill>
                  <a:srgbClr val="0000FF"/>
                </a:solidFill>
                <a:highlight>
                  <a:srgbClr val="FFFFFF"/>
                </a:highlight>
                <a:latin typeface="Trebuchet MS"/>
                <a:ea typeface="Trebuchet MS"/>
                <a:cs typeface="Trebuchet MS"/>
                <a:sym typeface="Trebuchet MS"/>
              </a:rPr>
              <a:t>replace its existing value</a:t>
            </a:r>
            <a:r>
              <a:rPr lang="en-US" sz="1600">
                <a:solidFill>
                  <a:srgbClr val="1F1F1F"/>
                </a:solidFill>
                <a:highlight>
                  <a:srgbClr val="FFFFFF"/>
                </a:highlight>
                <a:latin typeface="Trebuchet MS"/>
                <a:ea typeface="Trebuchet MS"/>
                <a:cs typeface="Trebuchet MS"/>
                <a:sym typeface="Trebuchet MS"/>
              </a:rPr>
              <a:t>.</a:t>
            </a:r>
            <a:endParaRPr sz="1600">
              <a:solidFill>
                <a:srgbClr val="1F1F1F"/>
              </a:solidFill>
              <a:highlight>
                <a:srgbClr val="FFFFFF"/>
              </a:highlight>
              <a:latin typeface="Trebuchet MS"/>
              <a:ea typeface="Trebuchet MS"/>
              <a:cs typeface="Trebuchet MS"/>
              <a:sym typeface="Trebuchet MS"/>
            </a:endParaRPr>
          </a:p>
          <a:p>
            <a:pPr indent="-330200" lvl="1" marL="914400" rtl="0" algn="l">
              <a:lnSpc>
                <a:spcPct val="200000"/>
              </a:lnSpc>
              <a:spcBef>
                <a:spcPts val="0"/>
              </a:spcBef>
              <a:spcAft>
                <a:spcPts val="0"/>
              </a:spcAft>
              <a:buClr>
                <a:srgbClr val="1F1F1F"/>
              </a:buClr>
              <a:buSzPts val="1600"/>
              <a:buFont typeface="Trebuchet MS"/>
              <a:buChar char="○"/>
            </a:pPr>
            <a:r>
              <a:rPr lang="en-US" sz="1600">
                <a:solidFill>
                  <a:srgbClr val="1F1F1F"/>
                </a:solidFill>
                <a:highlight>
                  <a:srgbClr val="FFFFFF"/>
                </a:highlight>
                <a:latin typeface="Trebuchet MS"/>
                <a:ea typeface="Trebuchet MS"/>
                <a:cs typeface="Trebuchet MS"/>
                <a:sym typeface="Trebuchet MS"/>
              </a:rPr>
              <a:t>Search/finding time increases with the number of collisions.</a:t>
            </a:r>
            <a:endParaRPr sz="1600">
              <a:solidFill>
                <a:srgbClr val="1F1F1F"/>
              </a:solidFill>
              <a:highlight>
                <a:srgbClr val="FFFFFF"/>
              </a:highlight>
              <a:latin typeface="Trebuchet MS"/>
              <a:ea typeface="Trebuchet MS"/>
              <a:cs typeface="Trebuchet MS"/>
              <a:sym typeface="Trebuchet MS"/>
            </a:endParaRPr>
          </a:p>
          <a:p>
            <a:pPr indent="-330200" lvl="0" marL="457200" rtl="0" algn="l">
              <a:lnSpc>
                <a:spcPct val="200000"/>
              </a:lnSpc>
              <a:spcBef>
                <a:spcPts val="0"/>
              </a:spcBef>
              <a:spcAft>
                <a:spcPts val="0"/>
              </a:spcAft>
              <a:buClr>
                <a:srgbClr val="1F1F1F"/>
              </a:buClr>
              <a:buSzPts val="1600"/>
              <a:buFont typeface="Trebuchet MS"/>
              <a:buChar char="●"/>
            </a:pPr>
            <a:r>
              <a:rPr lang="en-US" sz="1600">
                <a:solidFill>
                  <a:srgbClr val="1F1F1F"/>
                </a:solidFill>
                <a:highlight>
                  <a:srgbClr val="FFFFFF"/>
                </a:highlight>
                <a:latin typeface="Trebuchet MS"/>
                <a:ea typeface="Trebuchet MS"/>
                <a:cs typeface="Trebuchet MS"/>
                <a:sym typeface="Trebuchet MS"/>
              </a:rPr>
              <a:t>Delete/Remove: </a:t>
            </a:r>
            <a:endParaRPr sz="1600">
              <a:solidFill>
                <a:srgbClr val="1F1F1F"/>
              </a:solidFill>
              <a:highlight>
                <a:srgbClr val="FFFFFF"/>
              </a:highlight>
              <a:latin typeface="Trebuchet MS"/>
              <a:ea typeface="Trebuchet MS"/>
              <a:cs typeface="Trebuchet MS"/>
              <a:sym typeface="Trebuchet MS"/>
            </a:endParaRPr>
          </a:p>
          <a:p>
            <a:pPr indent="-330200" lvl="1" marL="914400" rtl="0" algn="l">
              <a:lnSpc>
                <a:spcPct val="200000"/>
              </a:lnSpc>
              <a:spcBef>
                <a:spcPts val="0"/>
              </a:spcBef>
              <a:spcAft>
                <a:spcPts val="0"/>
              </a:spcAft>
              <a:buClr>
                <a:srgbClr val="1F1F1F"/>
              </a:buClr>
              <a:buSzPts val="1600"/>
              <a:buFont typeface="Trebuchet MS"/>
              <a:buChar char="○"/>
            </a:pPr>
            <a:r>
              <a:rPr lang="en-US" sz="1600">
                <a:solidFill>
                  <a:srgbClr val="1F1F1F"/>
                </a:solidFill>
                <a:highlight>
                  <a:srgbClr val="FFFFFF"/>
                </a:highlight>
                <a:latin typeface="Trebuchet MS"/>
                <a:ea typeface="Trebuchet MS"/>
                <a:cs typeface="Trebuchet MS"/>
                <a:sym typeface="Trebuchet MS"/>
              </a:rPr>
              <a:t>Find the target node and update the predecessor’s link to bypass it. 	</a:t>
            </a:r>
            <a:endParaRPr sz="1600">
              <a:solidFill>
                <a:srgbClr val="1E293B"/>
              </a:solidFill>
              <a:latin typeface="Trebuchet MS"/>
              <a:ea typeface="Trebuchet MS"/>
              <a:cs typeface="Trebuchet MS"/>
              <a:sym typeface="Trebuchet MS"/>
            </a:endParaRPr>
          </a:p>
        </p:txBody>
      </p:sp>
      <p:sp>
        <p:nvSpPr>
          <p:cNvPr id="663" name="Google Shape;663;g3f70f9e4716_0_3"/>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664" name="Google Shape;664;g3f70f9e4716_0_3"/>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20</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8" name="Shape 668"/>
        <p:cNvGrpSpPr/>
        <p:nvPr/>
      </p:nvGrpSpPr>
      <p:grpSpPr>
        <a:xfrm>
          <a:off x="0" y="0"/>
          <a:ext cx="0" cy="0"/>
          <a:chOff x="0" y="0"/>
          <a:chExt cx="0" cy="0"/>
        </a:xfrm>
      </p:grpSpPr>
      <p:sp>
        <p:nvSpPr>
          <p:cNvPr id="669" name="Google Shape;669;g3f557c7bba2_0_202"/>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70" name="Google Shape;670;g3f557c7bba2_0_202"/>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71" name="Google Shape;671;g3f557c7bba2_0_202"/>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Forward chaining operations</a:t>
            </a:r>
            <a:endParaRPr/>
          </a:p>
        </p:txBody>
      </p:sp>
      <p:sp>
        <p:nvSpPr>
          <p:cNvPr id="672" name="Google Shape;672;g3f557c7bba2_0_202"/>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73" name="Google Shape;673;g3f557c7bba2_0_202"/>
          <p:cNvSpPr txBox="1"/>
          <p:nvPr/>
        </p:nvSpPr>
        <p:spPr>
          <a:xfrm>
            <a:off x="411480" y="6532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674" name="Google Shape;674;g3f557c7bba2_0_202"/>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20</a:t>
            </a:r>
            <a:endParaRPr/>
          </a:p>
        </p:txBody>
      </p:sp>
      <p:graphicFrame>
        <p:nvGraphicFramePr>
          <p:cNvPr id="675" name="Google Shape;675;g3f557c7bba2_0_202"/>
          <p:cNvGraphicFramePr/>
          <p:nvPr/>
        </p:nvGraphicFramePr>
        <p:xfrm>
          <a:off x="457088" y="1005850"/>
          <a:ext cx="3000000" cy="3000000"/>
        </p:xfrm>
        <a:graphic>
          <a:graphicData uri="http://schemas.openxmlformats.org/drawingml/2006/table">
            <a:tbl>
              <a:tblPr bandRow="1">
                <a:noFill/>
                <a:tableStyleId>{39564256-AF69-4C5B-B919-4077E5C37268}</a:tableStyleId>
              </a:tblPr>
              <a:tblGrid>
                <a:gridCol w="2127600"/>
                <a:gridCol w="4835625"/>
                <a:gridCol w="1821175"/>
                <a:gridCol w="2371375"/>
              </a:tblGrid>
              <a:tr h="616725">
                <a:tc>
                  <a:txBody>
                    <a:bodyPr/>
                    <a:lstStyle/>
                    <a:p>
                      <a:pPr indent="0" lvl="0" marL="0" rtl="0" algn="l">
                        <a:lnSpc>
                          <a:spcPct val="150000"/>
                        </a:lnSpc>
                        <a:spcBef>
                          <a:spcPts val="0"/>
                        </a:spcBef>
                        <a:spcAft>
                          <a:spcPts val="0"/>
                        </a:spcAft>
                        <a:buNone/>
                      </a:pPr>
                      <a:r>
                        <a:rPr b="1" lang="en-US" sz="1800">
                          <a:solidFill>
                            <a:srgbClr val="FFFFFF"/>
                          </a:solidFill>
                          <a:latin typeface="Trebuchet MS"/>
                          <a:ea typeface="Trebuchet MS"/>
                          <a:cs typeface="Trebuchet MS"/>
                          <a:sym typeface="Trebuchet MS"/>
                        </a:rPr>
                        <a:t>Method</a:t>
                      </a:r>
                      <a:endParaRPr sz="1800">
                        <a:latin typeface="Trebuchet MS"/>
                        <a:ea typeface="Trebuchet MS"/>
                        <a:cs typeface="Trebuchet MS"/>
                        <a:sym typeface="Trebuchet MS"/>
                      </a:endParaRPr>
                    </a:p>
                  </a:txBody>
                  <a:tcPr marT="0" marB="0" marR="68575" marL="68575" anchor="ctr">
                    <a:solidFill>
                      <a:srgbClr val="1F4E79"/>
                    </a:solidFill>
                  </a:tcPr>
                </a:tc>
                <a:tc>
                  <a:txBody>
                    <a:bodyPr/>
                    <a:lstStyle/>
                    <a:p>
                      <a:pPr indent="0" lvl="0" marL="0" rtl="0" algn="l">
                        <a:lnSpc>
                          <a:spcPct val="150000"/>
                        </a:lnSpc>
                        <a:spcBef>
                          <a:spcPts val="0"/>
                        </a:spcBef>
                        <a:spcAft>
                          <a:spcPts val="0"/>
                        </a:spcAft>
                        <a:buNone/>
                      </a:pPr>
                      <a:r>
                        <a:rPr b="1" lang="en-US" sz="1800">
                          <a:solidFill>
                            <a:srgbClr val="FFFFFF"/>
                          </a:solidFill>
                          <a:latin typeface="Trebuchet MS"/>
                          <a:ea typeface="Trebuchet MS"/>
                          <a:cs typeface="Trebuchet MS"/>
                          <a:sym typeface="Trebuchet MS"/>
                        </a:rPr>
                        <a:t>Purpose</a:t>
                      </a:r>
                      <a:endParaRPr sz="1800">
                        <a:latin typeface="Trebuchet MS"/>
                        <a:ea typeface="Trebuchet MS"/>
                        <a:cs typeface="Trebuchet MS"/>
                        <a:sym typeface="Trebuchet MS"/>
                      </a:endParaRPr>
                    </a:p>
                  </a:txBody>
                  <a:tcPr marT="0" marB="0" marR="68575" marL="68575" anchor="ctr">
                    <a:solidFill>
                      <a:srgbClr val="1F4E79"/>
                    </a:solidFill>
                  </a:tcPr>
                </a:tc>
                <a:tc>
                  <a:txBody>
                    <a:bodyPr/>
                    <a:lstStyle/>
                    <a:p>
                      <a:pPr indent="0" lvl="0" marL="0" rtl="0" algn="l">
                        <a:lnSpc>
                          <a:spcPct val="150000"/>
                        </a:lnSpc>
                        <a:spcBef>
                          <a:spcPts val="0"/>
                        </a:spcBef>
                        <a:spcAft>
                          <a:spcPts val="0"/>
                        </a:spcAft>
                        <a:buNone/>
                      </a:pPr>
                      <a:r>
                        <a:rPr b="1" lang="en-US" sz="1800">
                          <a:solidFill>
                            <a:srgbClr val="FFFFFF"/>
                          </a:solidFill>
                          <a:latin typeface="Trebuchet MS"/>
                          <a:ea typeface="Trebuchet MS"/>
                          <a:cs typeface="Trebuchet MS"/>
                          <a:sym typeface="Trebuchet MS"/>
                        </a:rPr>
                        <a:t>Return</a:t>
                      </a:r>
                      <a:endParaRPr sz="1800">
                        <a:latin typeface="Trebuchet MS"/>
                        <a:ea typeface="Trebuchet MS"/>
                        <a:cs typeface="Trebuchet MS"/>
                        <a:sym typeface="Trebuchet MS"/>
                      </a:endParaRPr>
                    </a:p>
                  </a:txBody>
                  <a:tcPr marT="0" marB="0" marR="68575" marL="68575" anchor="ctr">
                    <a:solidFill>
                      <a:srgbClr val="1F4E79"/>
                    </a:solidFill>
                  </a:tcPr>
                </a:tc>
                <a:tc>
                  <a:txBody>
                    <a:bodyPr/>
                    <a:lstStyle/>
                    <a:p>
                      <a:pPr indent="0" lvl="0" marL="0" rtl="0" algn="l">
                        <a:lnSpc>
                          <a:spcPct val="150000"/>
                        </a:lnSpc>
                        <a:spcBef>
                          <a:spcPts val="0"/>
                        </a:spcBef>
                        <a:spcAft>
                          <a:spcPts val="0"/>
                        </a:spcAft>
                        <a:buNone/>
                      </a:pPr>
                      <a:r>
                        <a:rPr b="1" lang="en-US" sz="1800">
                          <a:solidFill>
                            <a:srgbClr val="FFFFFF"/>
                          </a:solidFill>
                          <a:latin typeface="Trebuchet MS"/>
                          <a:ea typeface="Trebuchet MS"/>
                          <a:cs typeface="Trebuchet MS"/>
                          <a:sym typeface="Trebuchet MS"/>
                        </a:rPr>
                        <a:t>Complexity</a:t>
                      </a:r>
                      <a:endParaRPr b="1" sz="1800">
                        <a:solidFill>
                          <a:srgbClr val="FFFFFF"/>
                        </a:solidFill>
                        <a:latin typeface="Trebuchet MS"/>
                        <a:ea typeface="Trebuchet MS"/>
                        <a:cs typeface="Trebuchet MS"/>
                        <a:sym typeface="Trebuchet MS"/>
                      </a:endParaRPr>
                    </a:p>
                  </a:txBody>
                  <a:tcPr marT="0" marB="0" marR="68575" marL="68575" anchor="ctr">
                    <a:solidFill>
                      <a:srgbClr val="1F4E79"/>
                    </a:solidFill>
                  </a:tcPr>
                </a:tc>
              </a:tr>
              <a:tr h="616725">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hash_function(key)</a:t>
                      </a:r>
                      <a:endParaRPr sz="1800">
                        <a:latin typeface="Trebuchet MS"/>
                        <a:ea typeface="Trebuchet MS"/>
                        <a:cs typeface="Trebuchet MS"/>
                        <a:sym typeface="Trebuchet MS"/>
                      </a:endParaRPr>
                    </a:p>
                  </a:txBody>
                  <a:tcPr marT="0" marB="0" marR="68575" marL="68575" anchor="ctr"/>
                </a:tc>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Calculate the bucket index.</a:t>
                      </a:r>
                      <a:endParaRPr sz="1800">
                        <a:latin typeface="Trebuchet MS"/>
                        <a:ea typeface="Trebuchet MS"/>
                        <a:cs typeface="Trebuchet MS"/>
                        <a:sym typeface="Trebuchet MS"/>
                      </a:endParaRPr>
                    </a:p>
                  </a:txBody>
                  <a:tcPr marT="0" marB="0" marR="68575" marL="68575" anchor="ctr"/>
                </a:tc>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Integer index</a:t>
                      </a:r>
                      <a:endParaRPr sz="1800">
                        <a:latin typeface="Trebuchet MS"/>
                        <a:ea typeface="Trebuchet MS"/>
                        <a:cs typeface="Trebuchet MS"/>
                        <a:sym typeface="Trebuchet MS"/>
                      </a:endParaRPr>
                    </a:p>
                  </a:txBody>
                  <a:tcPr marT="0" marB="0" marR="68575" marL="68575" anchor="ctr"/>
                </a:tc>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Depends on function</a:t>
                      </a:r>
                      <a:endParaRPr sz="1800">
                        <a:latin typeface="Trebuchet MS"/>
                        <a:ea typeface="Trebuchet MS"/>
                        <a:cs typeface="Trebuchet MS"/>
                        <a:sym typeface="Trebuchet MS"/>
                      </a:endParaRPr>
                    </a:p>
                  </a:txBody>
                  <a:tcPr marT="0" marB="0" marR="68575" marL="68575" anchor="ctr"/>
                </a:tc>
              </a:tr>
              <a:tr h="616725">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insert(key, value)</a:t>
                      </a:r>
                      <a:endParaRPr sz="1800">
                        <a:latin typeface="Trebuchet MS"/>
                        <a:ea typeface="Trebuchet MS"/>
                        <a:cs typeface="Trebuchet MS"/>
                        <a:sym typeface="Trebuchet MS"/>
                      </a:endParaRPr>
                    </a:p>
                  </a:txBody>
                  <a:tcPr marT="0" marB="0" marR="68575" marL="68575" anchor="ctr"/>
                </a:tc>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Insert a key-value pair; prepend on collision.</a:t>
                      </a:r>
                      <a:endParaRPr sz="1800">
                        <a:latin typeface="Trebuchet MS"/>
                        <a:ea typeface="Trebuchet MS"/>
                        <a:cs typeface="Trebuchet MS"/>
                        <a:sym typeface="Trebuchet MS"/>
                      </a:endParaRPr>
                    </a:p>
                  </a:txBody>
                  <a:tcPr marT="0" marB="0" marR="68575" marL="68575" anchor="ctr"/>
                </a:tc>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None</a:t>
                      </a:r>
                      <a:endParaRPr sz="1800">
                        <a:latin typeface="Trebuchet MS"/>
                        <a:ea typeface="Trebuchet MS"/>
                        <a:cs typeface="Trebuchet MS"/>
                        <a:sym typeface="Trebuchet MS"/>
                      </a:endParaRPr>
                    </a:p>
                  </a:txBody>
                  <a:tcPr marT="0" marB="0" marR="68575" marL="68575" anchor="ctr"/>
                </a:tc>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 O(1)</a:t>
                      </a:r>
                      <a:endParaRPr sz="1800">
                        <a:latin typeface="Trebuchet MS"/>
                        <a:ea typeface="Trebuchet MS"/>
                        <a:cs typeface="Trebuchet MS"/>
                        <a:sym typeface="Trebuchet MS"/>
                      </a:endParaRPr>
                    </a:p>
                  </a:txBody>
                  <a:tcPr marT="0" marB="0" marR="68575" marL="68575" anchor="ctr"/>
                </a:tc>
              </a:tr>
              <a:tr h="616725">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search(key)</a:t>
                      </a:r>
                      <a:endParaRPr sz="1800">
                        <a:latin typeface="Trebuchet MS"/>
                        <a:ea typeface="Trebuchet MS"/>
                        <a:cs typeface="Trebuchet MS"/>
                        <a:sym typeface="Trebuchet MS"/>
                      </a:endParaRPr>
                    </a:p>
                  </a:txBody>
                  <a:tcPr marT="0" marB="0" marR="68575" marL="68575" anchor="ctr"/>
                </a:tc>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Find whether a key exists in its chain.</a:t>
                      </a:r>
                      <a:endParaRPr sz="1800">
                        <a:latin typeface="Trebuchet MS"/>
                        <a:ea typeface="Trebuchet MS"/>
                        <a:cs typeface="Trebuchet MS"/>
                        <a:sym typeface="Trebuchet MS"/>
                      </a:endParaRPr>
                    </a:p>
                  </a:txBody>
                  <a:tcPr marT="0" marB="0" marR="68575" marL="68575" anchor="ctr"/>
                </a:tc>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True/False</a:t>
                      </a:r>
                      <a:endParaRPr sz="1800">
                        <a:latin typeface="Trebuchet MS"/>
                        <a:ea typeface="Trebuchet MS"/>
                        <a:cs typeface="Trebuchet MS"/>
                        <a:sym typeface="Trebuchet MS"/>
                      </a:endParaRPr>
                    </a:p>
                  </a:txBody>
                  <a:tcPr marT="0" marB="0" marR="68575" marL="68575" anchor="ctr"/>
                </a:tc>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O(k) in LL chain</a:t>
                      </a:r>
                      <a:endParaRPr sz="1800">
                        <a:latin typeface="Trebuchet MS"/>
                        <a:ea typeface="Trebuchet MS"/>
                        <a:cs typeface="Trebuchet MS"/>
                        <a:sym typeface="Trebuchet MS"/>
                      </a:endParaRPr>
                    </a:p>
                  </a:txBody>
                  <a:tcPr marT="0" marB="0" marR="68575" marL="68575" anchor="ctr"/>
                </a:tc>
              </a:tr>
              <a:tr h="616725">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update(key, value)</a:t>
                      </a:r>
                      <a:endParaRPr sz="1800">
                        <a:latin typeface="Trebuchet MS"/>
                        <a:ea typeface="Trebuchet MS"/>
                        <a:cs typeface="Trebuchet MS"/>
                        <a:sym typeface="Trebuchet MS"/>
                      </a:endParaRPr>
                    </a:p>
                  </a:txBody>
                  <a:tcPr marT="0" marB="0" marR="68575" marL="68575" anchor="ctr"/>
                </a:tc>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Replace the value of an existing key.</a:t>
                      </a:r>
                      <a:endParaRPr sz="1800">
                        <a:latin typeface="Trebuchet MS"/>
                        <a:ea typeface="Trebuchet MS"/>
                        <a:cs typeface="Trebuchet MS"/>
                        <a:sym typeface="Trebuchet MS"/>
                      </a:endParaRPr>
                    </a:p>
                  </a:txBody>
                  <a:tcPr marT="0" marB="0" marR="68575" marL="68575" anchor="ctr"/>
                </a:tc>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None / status</a:t>
                      </a:r>
                      <a:endParaRPr sz="1800">
                        <a:latin typeface="Trebuchet MS"/>
                        <a:ea typeface="Trebuchet MS"/>
                        <a:cs typeface="Trebuchet MS"/>
                        <a:sym typeface="Trebuchet MS"/>
                      </a:endParaRPr>
                    </a:p>
                  </a:txBody>
                  <a:tcPr marT="0" marB="0" marR="68575" marL="68575" anchor="ctr"/>
                </a:tc>
                <a:tc>
                  <a:txBody>
                    <a:bodyPr/>
                    <a:lstStyle/>
                    <a:p>
                      <a:pPr indent="0" lvl="0" marL="0" rtl="0" algn="l">
                        <a:lnSpc>
                          <a:spcPct val="150000"/>
                        </a:lnSpc>
                        <a:spcBef>
                          <a:spcPts val="0"/>
                        </a:spcBef>
                        <a:spcAft>
                          <a:spcPts val="0"/>
                        </a:spcAft>
                        <a:buClr>
                          <a:schemeClr val="dk1"/>
                        </a:buClr>
                        <a:buSzPts val="1100"/>
                        <a:buFont typeface="Arial"/>
                        <a:buNone/>
                      </a:pPr>
                      <a:r>
                        <a:rPr lang="en-US" sz="1800">
                          <a:solidFill>
                            <a:schemeClr val="dk1"/>
                          </a:solidFill>
                          <a:latin typeface="Trebuchet MS"/>
                          <a:ea typeface="Trebuchet MS"/>
                          <a:cs typeface="Trebuchet MS"/>
                          <a:sym typeface="Trebuchet MS"/>
                        </a:rPr>
                        <a:t>O(k) in LL chain</a:t>
                      </a:r>
                      <a:endParaRPr sz="1800">
                        <a:latin typeface="Trebuchet MS"/>
                        <a:ea typeface="Trebuchet MS"/>
                        <a:cs typeface="Trebuchet MS"/>
                        <a:sym typeface="Trebuchet MS"/>
                      </a:endParaRPr>
                    </a:p>
                  </a:txBody>
                  <a:tcPr marT="0" marB="0" marR="68575" marL="68575" anchor="ctr"/>
                </a:tc>
              </a:tr>
              <a:tr h="616725">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remove(key)</a:t>
                      </a:r>
                      <a:endParaRPr sz="1800">
                        <a:latin typeface="Trebuchet MS"/>
                        <a:ea typeface="Trebuchet MS"/>
                        <a:cs typeface="Trebuchet MS"/>
                        <a:sym typeface="Trebuchet MS"/>
                      </a:endParaRPr>
                    </a:p>
                  </a:txBody>
                  <a:tcPr marT="0" marB="0" marR="68575" marL="68575" anchor="ctr"/>
                </a:tc>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Delete the matching node by bypassing it.</a:t>
                      </a:r>
                      <a:endParaRPr sz="1800">
                        <a:latin typeface="Trebuchet MS"/>
                        <a:ea typeface="Trebuchet MS"/>
                        <a:cs typeface="Trebuchet MS"/>
                        <a:sym typeface="Trebuchet MS"/>
                      </a:endParaRPr>
                    </a:p>
                  </a:txBody>
                  <a:tcPr marT="0" marB="0" marR="68575" marL="68575" anchor="ctr"/>
                </a:tc>
                <a:tc>
                  <a:txBody>
                    <a:bodyPr/>
                    <a:lstStyle/>
                    <a:p>
                      <a:pPr indent="0" lvl="0" marL="0" rtl="0" algn="l">
                        <a:lnSpc>
                          <a:spcPct val="150000"/>
                        </a:lnSpc>
                        <a:spcBef>
                          <a:spcPts val="0"/>
                        </a:spcBef>
                        <a:spcAft>
                          <a:spcPts val="0"/>
                        </a:spcAft>
                        <a:buNone/>
                      </a:pPr>
                      <a:r>
                        <a:rPr lang="en-US" sz="1800">
                          <a:latin typeface="Trebuchet MS"/>
                          <a:ea typeface="Trebuchet MS"/>
                          <a:cs typeface="Trebuchet MS"/>
                          <a:sym typeface="Trebuchet MS"/>
                        </a:rPr>
                        <a:t>None / status</a:t>
                      </a:r>
                      <a:endParaRPr sz="1800">
                        <a:latin typeface="Trebuchet MS"/>
                        <a:ea typeface="Trebuchet MS"/>
                        <a:cs typeface="Trebuchet MS"/>
                        <a:sym typeface="Trebuchet MS"/>
                      </a:endParaRPr>
                    </a:p>
                  </a:txBody>
                  <a:tcPr marT="0" marB="0" marR="68575" marL="68575" anchor="ctr"/>
                </a:tc>
                <a:tc>
                  <a:txBody>
                    <a:bodyPr/>
                    <a:lstStyle/>
                    <a:p>
                      <a:pPr indent="0" lvl="0" marL="0" rtl="0" algn="l">
                        <a:lnSpc>
                          <a:spcPct val="150000"/>
                        </a:lnSpc>
                        <a:spcBef>
                          <a:spcPts val="0"/>
                        </a:spcBef>
                        <a:spcAft>
                          <a:spcPts val="0"/>
                        </a:spcAft>
                        <a:buClr>
                          <a:schemeClr val="dk1"/>
                        </a:buClr>
                        <a:buSzPts val="1100"/>
                        <a:buFont typeface="Arial"/>
                        <a:buNone/>
                      </a:pPr>
                      <a:r>
                        <a:rPr lang="en-US" sz="1800">
                          <a:solidFill>
                            <a:schemeClr val="dk1"/>
                          </a:solidFill>
                          <a:latin typeface="Trebuchet MS"/>
                          <a:ea typeface="Trebuchet MS"/>
                          <a:cs typeface="Trebuchet MS"/>
                          <a:sym typeface="Trebuchet MS"/>
                        </a:rPr>
                        <a:t>O(k) in LL chain</a:t>
                      </a:r>
                      <a:endParaRPr sz="1800">
                        <a:latin typeface="Trebuchet MS"/>
                        <a:ea typeface="Trebuchet MS"/>
                        <a:cs typeface="Trebuchet MS"/>
                        <a:sym typeface="Trebuchet MS"/>
                      </a:endParaRPr>
                    </a:p>
                  </a:txBody>
                  <a:tcPr marT="0" marB="0" marR="68575" marL="68575" anchor="ctr"/>
                </a:tc>
              </a:tr>
            </a:tbl>
          </a:graphicData>
        </a:graphic>
      </p:graphicFrame>
      <p:sp>
        <p:nvSpPr>
          <p:cNvPr id="676" name="Google Shape;676;g3f557c7bba2_0_202"/>
          <p:cNvSpPr/>
          <p:nvPr/>
        </p:nvSpPr>
        <p:spPr>
          <a:xfrm>
            <a:off x="3292121" y="4994326"/>
            <a:ext cx="45738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65D"/>
              </a:buClr>
              <a:buSzPts val="1800"/>
              <a:buFont typeface="Arial"/>
              <a:buNone/>
            </a:pPr>
            <a:r>
              <a:rPr b="1" lang="en-US" sz="1600">
                <a:solidFill>
                  <a:srgbClr val="17365D"/>
                </a:solidFill>
                <a:latin typeface="Arial"/>
                <a:ea typeface="Arial"/>
                <a:cs typeface="Arial"/>
                <a:sym typeface="Arial"/>
              </a:rPr>
              <a:t>k = number of nodes in one chain</a:t>
            </a:r>
            <a:endParaRPr sz="1600">
              <a:solidFill>
                <a:srgbClr val="000000"/>
              </a:solidFill>
              <a:latin typeface="Arial"/>
              <a:ea typeface="Arial"/>
              <a:cs typeface="Arial"/>
              <a:sym typeface="Arial"/>
            </a:endParaRPr>
          </a:p>
        </p:txBody>
      </p:sp>
      <p:sp>
        <p:nvSpPr>
          <p:cNvPr id="677" name="Google Shape;677;g3f557c7bba2_0_202"/>
          <p:cNvSpPr/>
          <p:nvPr/>
        </p:nvSpPr>
        <p:spPr>
          <a:xfrm>
            <a:off x="4008333" y="5502450"/>
            <a:ext cx="841200" cy="384000"/>
          </a:xfrm>
          <a:prstGeom prst="rect">
            <a:avLst/>
          </a:prstGeom>
          <a:solidFill>
            <a:srgbClr val="FFFFFF"/>
          </a:solidFill>
          <a:ln cap="flat" cmpd="sng" w="15225">
            <a:solidFill>
              <a:srgbClr val="B8C7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g3f557c7bba2_0_202"/>
          <p:cNvSpPr/>
          <p:nvPr/>
        </p:nvSpPr>
        <p:spPr>
          <a:xfrm>
            <a:off x="4008333" y="5648754"/>
            <a:ext cx="8412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C7D9"/>
              </a:buClr>
              <a:buSzPts val="1000"/>
              <a:buFont typeface="Arial"/>
              <a:buNone/>
            </a:pPr>
            <a:r>
              <a:rPr b="1" lang="en-US" sz="1300">
                <a:solidFill>
                  <a:srgbClr val="17365D"/>
                </a:solidFill>
                <a:latin typeface="Arial"/>
                <a:ea typeface="Arial"/>
                <a:cs typeface="Arial"/>
                <a:sym typeface="Arial"/>
              </a:rPr>
              <a:t>bucket</a:t>
            </a:r>
            <a:endParaRPr sz="1300">
              <a:solidFill>
                <a:srgbClr val="17365D"/>
              </a:solidFill>
              <a:latin typeface="Arial"/>
              <a:ea typeface="Arial"/>
              <a:cs typeface="Arial"/>
              <a:sym typeface="Arial"/>
            </a:endParaRPr>
          </a:p>
        </p:txBody>
      </p:sp>
      <p:cxnSp>
        <p:nvCxnSpPr>
          <p:cNvPr id="679" name="Google Shape;679;g3f557c7bba2_0_202"/>
          <p:cNvCxnSpPr/>
          <p:nvPr/>
        </p:nvCxnSpPr>
        <p:spPr>
          <a:xfrm>
            <a:off x="4922733" y="5694474"/>
            <a:ext cx="502800" cy="0"/>
          </a:xfrm>
          <a:prstGeom prst="straightConnector1">
            <a:avLst/>
          </a:prstGeom>
          <a:noFill/>
          <a:ln cap="flat" cmpd="sng" w="17775">
            <a:solidFill>
              <a:srgbClr val="4F7D47"/>
            </a:solidFill>
            <a:prstDash val="solid"/>
            <a:round/>
            <a:headEnd len="sm" w="sm" type="none"/>
            <a:tailEnd len="med" w="med" type="triangle"/>
          </a:ln>
        </p:spPr>
      </p:cxnSp>
      <p:sp>
        <p:nvSpPr>
          <p:cNvPr id="680" name="Google Shape;680;g3f557c7bba2_0_202"/>
          <p:cNvSpPr/>
          <p:nvPr/>
        </p:nvSpPr>
        <p:spPr>
          <a:xfrm>
            <a:off x="5471373" y="5502450"/>
            <a:ext cx="411600" cy="384000"/>
          </a:xfrm>
          <a:prstGeom prst="rect">
            <a:avLst/>
          </a:prstGeom>
          <a:solidFill>
            <a:srgbClr val="E2F0D9"/>
          </a:solidFill>
          <a:ln cap="flat" cmpd="sng" w="15225">
            <a:solidFill>
              <a:srgbClr val="4F7D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g3f557c7bba2_0_202"/>
          <p:cNvSpPr/>
          <p:nvPr/>
        </p:nvSpPr>
        <p:spPr>
          <a:xfrm>
            <a:off x="5471373" y="5648754"/>
            <a:ext cx="4116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7D47"/>
              </a:buClr>
              <a:buSzPts val="1200"/>
              <a:buFont typeface="Arial"/>
              <a:buNone/>
            </a:pPr>
            <a:r>
              <a:rPr b="1" lang="en-US" sz="1200">
                <a:solidFill>
                  <a:srgbClr val="4F7D47"/>
                </a:solidFill>
                <a:latin typeface="Arial"/>
                <a:ea typeface="Arial"/>
                <a:cs typeface="Arial"/>
                <a:sym typeface="Arial"/>
              </a:rPr>
              <a:t>1</a:t>
            </a:r>
            <a:endParaRPr sz="1200">
              <a:solidFill>
                <a:srgbClr val="000000"/>
              </a:solidFill>
              <a:latin typeface="Arial"/>
              <a:ea typeface="Arial"/>
              <a:cs typeface="Arial"/>
              <a:sym typeface="Arial"/>
            </a:endParaRPr>
          </a:p>
        </p:txBody>
      </p:sp>
      <p:cxnSp>
        <p:nvCxnSpPr>
          <p:cNvPr id="682" name="Google Shape;682;g3f557c7bba2_0_202"/>
          <p:cNvCxnSpPr/>
          <p:nvPr/>
        </p:nvCxnSpPr>
        <p:spPr>
          <a:xfrm>
            <a:off x="5910285" y="5694474"/>
            <a:ext cx="356700" cy="0"/>
          </a:xfrm>
          <a:prstGeom prst="straightConnector1">
            <a:avLst/>
          </a:prstGeom>
          <a:noFill/>
          <a:ln cap="flat" cmpd="sng" w="17775">
            <a:solidFill>
              <a:srgbClr val="4F7D47"/>
            </a:solidFill>
            <a:prstDash val="solid"/>
            <a:round/>
            <a:headEnd len="sm" w="sm" type="none"/>
            <a:tailEnd len="med" w="med" type="triangle"/>
          </a:ln>
        </p:spPr>
      </p:cxnSp>
      <p:sp>
        <p:nvSpPr>
          <p:cNvPr id="683" name="Google Shape;683;g3f557c7bba2_0_202"/>
          <p:cNvSpPr/>
          <p:nvPr/>
        </p:nvSpPr>
        <p:spPr>
          <a:xfrm>
            <a:off x="6312621" y="5502450"/>
            <a:ext cx="411600" cy="384000"/>
          </a:xfrm>
          <a:prstGeom prst="rect">
            <a:avLst/>
          </a:prstGeom>
          <a:solidFill>
            <a:srgbClr val="E2F0D9"/>
          </a:solidFill>
          <a:ln cap="flat" cmpd="sng" w="15225">
            <a:solidFill>
              <a:srgbClr val="4F7D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g3f557c7bba2_0_202"/>
          <p:cNvSpPr/>
          <p:nvPr/>
        </p:nvSpPr>
        <p:spPr>
          <a:xfrm>
            <a:off x="6312621" y="5648754"/>
            <a:ext cx="4116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7D47"/>
              </a:buClr>
              <a:buSzPts val="1200"/>
              <a:buFont typeface="Arial"/>
              <a:buNone/>
            </a:pPr>
            <a:r>
              <a:rPr b="1" lang="en-US" sz="1200">
                <a:solidFill>
                  <a:srgbClr val="4F7D47"/>
                </a:solidFill>
                <a:latin typeface="Arial"/>
                <a:ea typeface="Arial"/>
                <a:cs typeface="Arial"/>
                <a:sym typeface="Arial"/>
              </a:rPr>
              <a:t>2</a:t>
            </a:r>
            <a:endParaRPr sz="1200">
              <a:solidFill>
                <a:srgbClr val="000000"/>
              </a:solidFill>
              <a:latin typeface="Arial"/>
              <a:ea typeface="Arial"/>
              <a:cs typeface="Arial"/>
              <a:sym typeface="Arial"/>
            </a:endParaRPr>
          </a:p>
        </p:txBody>
      </p:sp>
      <p:cxnSp>
        <p:nvCxnSpPr>
          <p:cNvPr id="685" name="Google Shape;685;g3f557c7bba2_0_202"/>
          <p:cNvCxnSpPr/>
          <p:nvPr/>
        </p:nvCxnSpPr>
        <p:spPr>
          <a:xfrm>
            <a:off x="6760677" y="5694474"/>
            <a:ext cx="356700" cy="0"/>
          </a:xfrm>
          <a:prstGeom prst="straightConnector1">
            <a:avLst/>
          </a:prstGeom>
          <a:noFill/>
          <a:ln cap="flat" cmpd="sng" w="17775">
            <a:solidFill>
              <a:srgbClr val="4F7D47"/>
            </a:solidFill>
            <a:prstDash val="solid"/>
            <a:round/>
            <a:headEnd len="sm" w="sm" type="none"/>
            <a:tailEnd len="med" w="med" type="triangle"/>
          </a:ln>
        </p:spPr>
      </p:cxnSp>
      <p:sp>
        <p:nvSpPr>
          <p:cNvPr id="686" name="Google Shape;686;g3f557c7bba2_0_202"/>
          <p:cNvSpPr/>
          <p:nvPr/>
        </p:nvSpPr>
        <p:spPr>
          <a:xfrm>
            <a:off x="7163013" y="5502450"/>
            <a:ext cx="411600" cy="384000"/>
          </a:xfrm>
          <a:prstGeom prst="rect">
            <a:avLst/>
          </a:prstGeom>
          <a:solidFill>
            <a:srgbClr val="E2F0D9"/>
          </a:solidFill>
          <a:ln cap="flat" cmpd="sng" w="15225">
            <a:solidFill>
              <a:srgbClr val="4F7D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g3f557c7bba2_0_202"/>
          <p:cNvSpPr/>
          <p:nvPr/>
        </p:nvSpPr>
        <p:spPr>
          <a:xfrm>
            <a:off x="7163013" y="5648754"/>
            <a:ext cx="411600" cy="14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7D47"/>
              </a:buClr>
              <a:buSzPts val="1200"/>
              <a:buFont typeface="Arial"/>
              <a:buNone/>
            </a:pPr>
            <a:r>
              <a:rPr b="1" lang="en-US" sz="1200">
                <a:solidFill>
                  <a:srgbClr val="4F7D47"/>
                </a:solidFill>
                <a:latin typeface="Arial"/>
                <a:ea typeface="Arial"/>
                <a:cs typeface="Arial"/>
                <a:sym typeface="Arial"/>
              </a:rPr>
              <a:t>k</a:t>
            </a:r>
            <a:endParaRPr sz="1200">
              <a:solidFill>
                <a:srgbClr val="000000"/>
              </a:solidFill>
              <a:latin typeface="Arial"/>
              <a:ea typeface="Arial"/>
              <a:cs typeface="Arial"/>
              <a:sym typeface="Arial"/>
            </a:endParaRPr>
          </a:p>
        </p:txBody>
      </p:sp>
      <p:sp>
        <p:nvSpPr>
          <p:cNvPr id="688" name="Google Shape;688;g3f557c7bba2_0_202"/>
          <p:cNvSpPr/>
          <p:nvPr/>
        </p:nvSpPr>
        <p:spPr>
          <a:xfrm>
            <a:off x="2395175" y="5972775"/>
            <a:ext cx="6564000" cy="658500"/>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1F2933"/>
              </a:buClr>
              <a:buSzPts val="1665"/>
              <a:buFont typeface="Arial"/>
              <a:buNone/>
            </a:pPr>
            <a:r>
              <a:rPr b="1" lang="en-US" sz="1565">
                <a:solidFill>
                  <a:srgbClr val="1F2933"/>
                </a:solidFill>
                <a:latin typeface="Arial"/>
                <a:ea typeface="Arial"/>
                <a:cs typeface="Arial"/>
                <a:sym typeface="Arial"/>
              </a:rPr>
              <a:t>Good hash functions keep k small by distributing keys evenly.</a:t>
            </a:r>
            <a:endParaRPr sz="1565">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2" name="Shape 692"/>
        <p:cNvGrpSpPr/>
        <p:nvPr/>
      </p:nvGrpSpPr>
      <p:grpSpPr>
        <a:xfrm>
          <a:off x="0" y="0"/>
          <a:ext cx="0" cy="0"/>
          <a:chOff x="0" y="0"/>
          <a:chExt cx="0" cy="0"/>
        </a:xfrm>
      </p:grpSpPr>
      <p:sp>
        <p:nvSpPr>
          <p:cNvPr id="693" name="Google Shape;693;p27"/>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94" name="Google Shape;694;p27"/>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95" name="Google Shape;695;p27"/>
          <p:cNvSpPr txBox="1"/>
          <p:nvPr/>
        </p:nvSpPr>
        <p:spPr>
          <a:xfrm>
            <a:off x="411480" y="256032"/>
            <a:ext cx="11155680" cy="530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Deletion and Search Complexity</a:t>
            </a:r>
            <a:endParaRPr/>
          </a:p>
        </p:txBody>
      </p:sp>
      <p:sp>
        <p:nvSpPr>
          <p:cNvPr id="696" name="Google Shape;696;p27"/>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97" name="Google Shape;697;p27"/>
          <p:cNvSpPr txBox="1"/>
          <p:nvPr/>
        </p:nvSpPr>
        <p:spPr>
          <a:xfrm>
            <a:off x="649225" y="1389900"/>
            <a:ext cx="11155800" cy="4741200"/>
          </a:xfrm>
          <a:prstGeom prst="rect">
            <a:avLst/>
          </a:prstGeom>
          <a:noFill/>
          <a:ln>
            <a:noFill/>
          </a:ln>
        </p:spPr>
        <p:txBody>
          <a:bodyPr anchorCtr="0" anchor="t" bIns="45700" lIns="91425" spcFirstLastPara="1" rIns="91425" wrap="square" tIns="45700">
            <a:normAutofit/>
          </a:bodyPr>
          <a:lstStyle/>
          <a:p>
            <a:pPr indent="-330200" lvl="0" marL="457200" rtl="0" algn="l">
              <a:lnSpc>
                <a:spcPct val="200000"/>
              </a:lnSpc>
              <a:spcBef>
                <a:spcPts val="1200"/>
              </a:spcBef>
              <a:spcAft>
                <a:spcPts val="0"/>
              </a:spcAft>
              <a:buClr>
                <a:srgbClr val="1F1F1F"/>
              </a:buClr>
              <a:buSzPts val="1600"/>
              <a:buFont typeface="Trebuchet MS"/>
              <a:buChar char="●"/>
            </a:pPr>
            <a:r>
              <a:rPr lang="en-US" sz="1600">
                <a:solidFill>
                  <a:srgbClr val="1F1F1F"/>
                </a:solidFill>
                <a:highlight>
                  <a:srgbClr val="FFFFFF"/>
                </a:highlight>
                <a:latin typeface="Trebuchet MS"/>
                <a:ea typeface="Trebuchet MS"/>
                <a:cs typeface="Trebuchet MS"/>
                <a:sym typeface="Trebuchet MS"/>
              </a:rPr>
              <a:t>When </a:t>
            </a:r>
            <a:r>
              <a:rPr b="1" lang="en-US" sz="1600">
                <a:solidFill>
                  <a:srgbClr val="1F1F1F"/>
                </a:solidFill>
                <a:highlight>
                  <a:srgbClr val="FFFFFF"/>
                </a:highlight>
                <a:latin typeface="Trebuchet MS"/>
                <a:ea typeface="Trebuchet MS"/>
                <a:cs typeface="Trebuchet MS"/>
                <a:sym typeface="Trebuchet MS"/>
              </a:rPr>
              <a:t>k keys</a:t>
            </a:r>
            <a:r>
              <a:rPr lang="en-US" sz="1600">
                <a:solidFill>
                  <a:srgbClr val="1F1F1F"/>
                </a:solidFill>
                <a:highlight>
                  <a:srgbClr val="FFFFFF"/>
                </a:highlight>
                <a:latin typeface="Trebuchet MS"/>
                <a:ea typeface="Trebuchet MS"/>
                <a:cs typeface="Trebuchet MS"/>
                <a:sym typeface="Trebuchet MS"/>
              </a:rPr>
              <a:t> hash to the </a:t>
            </a:r>
            <a:r>
              <a:rPr b="1" lang="en-US" sz="1600">
                <a:solidFill>
                  <a:srgbClr val="1F1F1F"/>
                </a:solidFill>
                <a:highlight>
                  <a:srgbClr val="FFFFFF"/>
                </a:highlight>
                <a:latin typeface="Trebuchet MS"/>
                <a:ea typeface="Trebuchet MS"/>
                <a:cs typeface="Trebuchet MS"/>
                <a:sym typeface="Trebuchet MS"/>
              </a:rPr>
              <a:t>same slot/index</a:t>
            </a:r>
            <a:r>
              <a:rPr lang="en-US" sz="1600">
                <a:solidFill>
                  <a:srgbClr val="1F1F1F"/>
                </a:solidFill>
                <a:highlight>
                  <a:srgbClr val="FFFFFF"/>
                </a:highlight>
                <a:latin typeface="Trebuchet MS"/>
                <a:ea typeface="Trebuchet MS"/>
                <a:cs typeface="Trebuchet MS"/>
                <a:sym typeface="Trebuchet MS"/>
              </a:rPr>
              <a:t>, deletion and search take </a:t>
            </a:r>
            <a:r>
              <a:rPr b="1" lang="en-US" sz="1600">
                <a:solidFill>
                  <a:srgbClr val="1F1F1F"/>
                </a:solidFill>
                <a:highlight>
                  <a:srgbClr val="FFFFFF"/>
                </a:highlight>
                <a:latin typeface="Trebuchet MS"/>
                <a:ea typeface="Trebuchet MS"/>
                <a:cs typeface="Trebuchet MS"/>
                <a:sym typeface="Trebuchet MS"/>
              </a:rPr>
              <a:t>Θ(k) time</a:t>
            </a:r>
            <a:r>
              <a:rPr lang="en-US" sz="1600">
                <a:solidFill>
                  <a:srgbClr val="1F1F1F"/>
                </a:solidFill>
                <a:highlight>
                  <a:srgbClr val="FFFFFF"/>
                </a:highlight>
                <a:latin typeface="Trebuchet MS"/>
                <a:ea typeface="Trebuchet MS"/>
                <a:cs typeface="Trebuchet MS"/>
                <a:sym typeface="Trebuchet MS"/>
              </a:rPr>
              <a:t>, which is </a:t>
            </a:r>
            <a:r>
              <a:rPr b="1" lang="en-US" sz="1600">
                <a:solidFill>
                  <a:srgbClr val="1F1F1F"/>
                </a:solidFill>
                <a:highlight>
                  <a:srgbClr val="FFFFFF"/>
                </a:highlight>
                <a:latin typeface="Trebuchet MS"/>
                <a:ea typeface="Trebuchet MS"/>
                <a:cs typeface="Trebuchet MS"/>
                <a:sym typeface="Trebuchet MS"/>
              </a:rPr>
              <a:t>linear to the length of the linked list.</a:t>
            </a:r>
            <a:endParaRPr b="1" sz="1600">
              <a:solidFill>
                <a:srgbClr val="1F1F1F"/>
              </a:solidFill>
              <a:highlight>
                <a:srgbClr val="FFFFFF"/>
              </a:highlight>
              <a:latin typeface="Trebuchet MS"/>
              <a:ea typeface="Trebuchet MS"/>
              <a:cs typeface="Trebuchet MS"/>
              <a:sym typeface="Trebuchet MS"/>
            </a:endParaRPr>
          </a:p>
          <a:p>
            <a:pPr indent="-330200" lvl="0" marL="457200" rtl="0" algn="l">
              <a:lnSpc>
                <a:spcPct val="200000"/>
              </a:lnSpc>
              <a:spcBef>
                <a:spcPts val="0"/>
              </a:spcBef>
              <a:spcAft>
                <a:spcPts val="0"/>
              </a:spcAft>
              <a:buClr>
                <a:srgbClr val="1F1F1F"/>
              </a:buClr>
              <a:buSzPts val="1600"/>
              <a:buFont typeface="Trebuchet MS"/>
              <a:buChar char="●"/>
            </a:pPr>
            <a:r>
              <a:rPr lang="en-US" sz="1600">
                <a:solidFill>
                  <a:srgbClr val="1F1F1F"/>
                </a:solidFill>
                <a:highlight>
                  <a:srgbClr val="FFFFFF"/>
                </a:highlight>
                <a:latin typeface="Trebuchet MS"/>
                <a:ea typeface="Trebuchet MS"/>
                <a:cs typeface="Trebuchet MS"/>
                <a:sym typeface="Trebuchet MS"/>
              </a:rPr>
              <a:t>In the worst case, </a:t>
            </a:r>
            <a:r>
              <a:rPr lang="en-US" sz="1600">
                <a:solidFill>
                  <a:srgbClr val="9900FF"/>
                </a:solidFill>
                <a:highlight>
                  <a:srgbClr val="FFFFFF"/>
                </a:highlight>
                <a:latin typeface="Trebuchet MS"/>
                <a:ea typeface="Trebuchet MS"/>
                <a:cs typeface="Trebuchet MS"/>
                <a:sym typeface="Trebuchet MS"/>
              </a:rPr>
              <a:t>all keys may be stored in </a:t>
            </a:r>
            <a:r>
              <a:rPr b="1" lang="en-US" sz="1600" u="sng">
                <a:solidFill>
                  <a:srgbClr val="990000"/>
                </a:solidFill>
                <a:highlight>
                  <a:srgbClr val="FFFFFF"/>
                </a:highlight>
                <a:latin typeface="Trebuchet MS"/>
                <a:ea typeface="Trebuchet MS"/>
                <a:cs typeface="Trebuchet MS"/>
                <a:sym typeface="Trebuchet MS"/>
              </a:rPr>
              <a:t>one slot</a:t>
            </a:r>
            <a:r>
              <a:rPr lang="en-US" sz="1600" u="sng">
                <a:solidFill>
                  <a:srgbClr val="990000"/>
                </a:solidFill>
                <a:highlight>
                  <a:srgbClr val="FFFFFF"/>
                </a:highlight>
                <a:latin typeface="Trebuchet MS"/>
                <a:ea typeface="Trebuchet MS"/>
                <a:cs typeface="Trebuchet MS"/>
                <a:sym typeface="Trebuchet MS"/>
              </a:rPr>
              <a:t> </a:t>
            </a:r>
            <a:r>
              <a:rPr lang="en-US" sz="1600">
                <a:solidFill>
                  <a:srgbClr val="1F1F1F"/>
                </a:solidFill>
                <a:highlight>
                  <a:srgbClr val="FFFFFF"/>
                </a:highlight>
                <a:latin typeface="Trebuchet MS"/>
                <a:ea typeface="Trebuchet MS"/>
                <a:cs typeface="Trebuchet MS"/>
                <a:sym typeface="Trebuchet MS"/>
              </a:rPr>
              <a:t>instead of </a:t>
            </a:r>
            <a:r>
              <a:rPr b="1" lang="en-US" sz="1600">
                <a:solidFill>
                  <a:srgbClr val="1F1F1F"/>
                </a:solidFill>
                <a:highlight>
                  <a:srgbClr val="FFFFFF"/>
                </a:highlight>
                <a:latin typeface="Trebuchet MS"/>
                <a:ea typeface="Trebuchet MS"/>
                <a:cs typeface="Trebuchet MS"/>
                <a:sym typeface="Trebuchet MS"/>
              </a:rPr>
              <a:t>being </a:t>
            </a:r>
            <a:r>
              <a:rPr b="1" lang="en-US" sz="1600">
                <a:solidFill>
                  <a:srgbClr val="0000FF"/>
                </a:solidFill>
                <a:highlight>
                  <a:srgbClr val="FFFFFF"/>
                </a:highlight>
                <a:latin typeface="Trebuchet MS"/>
                <a:ea typeface="Trebuchet MS"/>
                <a:cs typeface="Trebuchet MS"/>
                <a:sym typeface="Trebuchet MS"/>
              </a:rPr>
              <a:t>uniformly/evenly distributed.</a:t>
            </a:r>
            <a:endParaRPr b="1" sz="1600">
              <a:solidFill>
                <a:srgbClr val="0000FF"/>
              </a:solidFill>
              <a:highlight>
                <a:srgbClr val="FFFFFF"/>
              </a:highlight>
              <a:latin typeface="Trebuchet MS"/>
              <a:ea typeface="Trebuchet MS"/>
              <a:cs typeface="Trebuchet MS"/>
              <a:sym typeface="Trebuchet MS"/>
            </a:endParaRPr>
          </a:p>
          <a:p>
            <a:pPr indent="-330200" lvl="1" marL="914400" rtl="0" algn="l">
              <a:lnSpc>
                <a:spcPct val="200000"/>
              </a:lnSpc>
              <a:spcBef>
                <a:spcPts val="0"/>
              </a:spcBef>
              <a:spcAft>
                <a:spcPts val="0"/>
              </a:spcAft>
              <a:buClr>
                <a:srgbClr val="1F1F1F"/>
              </a:buClr>
              <a:buSzPts val="1600"/>
              <a:buFont typeface="Trebuchet MS"/>
              <a:buChar char="○"/>
            </a:pPr>
            <a:r>
              <a:rPr lang="en-US" sz="1600">
                <a:solidFill>
                  <a:srgbClr val="1F1F1F"/>
                </a:solidFill>
                <a:highlight>
                  <a:srgbClr val="FFFFFF"/>
                </a:highlight>
                <a:latin typeface="Trebuchet MS"/>
                <a:ea typeface="Trebuchet MS"/>
                <a:cs typeface="Trebuchet MS"/>
                <a:sym typeface="Trebuchet MS"/>
              </a:rPr>
              <a:t> Therefore, search() and remove()/delete() may need to </a:t>
            </a:r>
            <a:r>
              <a:rPr b="1" lang="en-US" sz="1600">
                <a:solidFill>
                  <a:srgbClr val="1F1F1F"/>
                </a:solidFill>
                <a:highlight>
                  <a:srgbClr val="FFFFFF"/>
                </a:highlight>
                <a:latin typeface="Trebuchet MS"/>
                <a:ea typeface="Trebuchet MS"/>
                <a:cs typeface="Trebuchet MS"/>
                <a:sym typeface="Trebuchet MS"/>
              </a:rPr>
              <a:t>traverse up to n nodes</a:t>
            </a:r>
            <a:endParaRPr sz="1600">
              <a:solidFill>
                <a:srgbClr val="1F1F1F"/>
              </a:solidFill>
              <a:highlight>
                <a:srgbClr val="FFFFFF"/>
              </a:highlight>
              <a:latin typeface="Trebuchet MS"/>
              <a:ea typeface="Trebuchet MS"/>
              <a:cs typeface="Trebuchet MS"/>
              <a:sym typeface="Trebuchet MS"/>
            </a:endParaRPr>
          </a:p>
          <a:p>
            <a:pPr indent="-336550" lvl="2" marL="1371600" rtl="0" algn="l">
              <a:lnSpc>
                <a:spcPct val="200000"/>
              </a:lnSpc>
              <a:spcBef>
                <a:spcPts val="0"/>
              </a:spcBef>
              <a:spcAft>
                <a:spcPts val="0"/>
              </a:spcAft>
              <a:buClr>
                <a:srgbClr val="0000FF"/>
              </a:buClr>
              <a:buSzPts val="1700"/>
              <a:buFont typeface="Trebuchet MS"/>
              <a:buChar char="■"/>
            </a:pPr>
            <a:r>
              <a:rPr lang="en-US" sz="1700">
                <a:solidFill>
                  <a:srgbClr val="0000FF"/>
                </a:solidFill>
                <a:highlight>
                  <a:srgbClr val="FFFFFF"/>
                </a:highlight>
                <a:latin typeface="Trebuchet MS"/>
                <a:ea typeface="Trebuchet MS"/>
                <a:cs typeface="Trebuchet MS"/>
                <a:sym typeface="Trebuchet MS"/>
              </a:rPr>
              <a:t>Making their worst-case time complexity O(n).</a:t>
            </a:r>
            <a:endParaRPr sz="1700">
              <a:solidFill>
                <a:srgbClr val="0000FF"/>
              </a:solidFill>
              <a:highlight>
                <a:srgbClr val="FFFFFF"/>
              </a:highlight>
              <a:latin typeface="Trebuchet MS"/>
              <a:ea typeface="Trebuchet MS"/>
              <a:cs typeface="Trebuchet MS"/>
              <a:sym typeface="Trebuchet MS"/>
            </a:endParaRPr>
          </a:p>
          <a:p>
            <a:pPr indent="0" lvl="0" marL="0" rtl="0" algn="l">
              <a:lnSpc>
                <a:spcPct val="200000"/>
              </a:lnSpc>
              <a:spcBef>
                <a:spcPts val="1200"/>
              </a:spcBef>
              <a:spcAft>
                <a:spcPts val="0"/>
              </a:spcAft>
              <a:buNone/>
            </a:pPr>
            <a:r>
              <a:t/>
            </a:r>
            <a:endParaRPr b="1" sz="1600">
              <a:solidFill>
                <a:srgbClr val="1F1F1F"/>
              </a:solidFill>
              <a:highlight>
                <a:srgbClr val="FFFFFF"/>
              </a:highlight>
              <a:latin typeface="Trebuchet MS"/>
              <a:ea typeface="Trebuchet MS"/>
              <a:cs typeface="Trebuchet MS"/>
              <a:sym typeface="Trebuchet MS"/>
            </a:endParaRPr>
          </a:p>
          <a:p>
            <a:pPr indent="0" lvl="0" marL="0" rtl="0" algn="l">
              <a:lnSpc>
                <a:spcPct val="200000"/>
              </a:lnSpc>
              <a:spcBef>
                <a:spcPts val="1200"/>
              </a:spcBef>
              <a:spcAft>
                <a:spcPts val="0"/>
              </a:spcAft>
              <a:buNone/>
            </a:pPr>
            <a:r>
              <a:rPr b="1" lang="en-US" sz="1600">
                <a:solidFill>
                  <a:srgbClr val="1F1F1F"/>
                </a:solidFill>
                <a:highlight>
                  <a:srgbClr val="FFFFFF"/>
                </a:highlight>
                <a:latin typeface="Trebuchet MS"/>
                <a:ea typeface="Trebuchet MS"/>
                <a:cs typeface="Trebuchet MS"/>
                <a:sym typeface="Trebuchet MS"/>
              </a:rPr>
              <a:t>      </a:t>
            </a:r>
            <a:r>
              <a:rPr b="1" lang="en-US" sz="1600">
                <a:solidFill>
                  <a:schemeClr val="dk2"/>
                </a:solidFill>
                <a:highlight>
                  <a:srgbClr val="FFFFFF"/>
                </a:highlight>
                <a:latin typeface="Trebuchet MS"/>
                <a:ea typeface="Trebuchet MS"/>
                <a:cs typeface="Trebuchet MS"/>
                <a:sym typeface="Trebuchet MS"/>
              </a:rPr>
              <a:t>            </a:t>
            </a:r>
            <a:r>
              <a:rPr b="1" lang="en-US" sz="1700" u="sng">
                <a:solidFill>
                  <a:schemeClr val="dk2"/>
                </a:solidFill>
                <a:highlight>
                  <a:srgbClr val="FFFFFF"/>
                </a:highlight>
                <a:latin typeface="Trebuchet MS"/>
                <a:ea typeface="Trebuchet MS"/>
                <a:cs typeface="Trebuchet MS"/>
                <a:sym typeface="Trebuchet MS"/>
              </a:rPr>
              <a:t>Therefore, selecting a good hash function to minimize collisions is crucial.</a:t>
            </a:r>
            <a:endParaRPr b="1" sz="1700" u="sng">
              <a:solidFill>
                <a:schemeClr val="dk2"/>
              </a:solidFill>
              <a:latin typeface="Trebuchet MS"/>
              <a:ea typeface="Trebuchet MS"/>
              <a:cs typeface="Trebuchet MS"/>
              <a:sym typeface="Trebuchet MS"/>
            </a:endParaRPr>
          </a:p>
          <a:p>
            <a:pPr indent="0" lvl="0" marL="0" marR="0" rtl="0" algn="l">
              <a:lnSpc>
                <a:spcPct val="200000"/>
              </a:lnSpc>
              <a:spcBef>
                <a:spcPts val="1200"/>
              </a:spcBef>
              <a:spcAft>
                <a:spcPts val="0"/>
              </a:spcAft>
              <a:buNone/>
            </a:pPr>
            <a:r>
              <a:t/>
            </a:r>
            <a:endParaRPr sz="1700">
              <a:solidFill>
                <a:srgbClr val="1E293B"/>
              </a:solidFill>
              <a:latin typeface="Calibri"/>
              <a:ea typeface="Calibri"/>
              <a:cs typeface="Calibri"/>
              <a:sym typeface="Calibri"/>
            </a:endParaRPr>
          </a:p>
        </p:txBody>
      </p:sp>
      <p:sp>
        <p:nvSpPr>
          <p:cNvPr id="698" name="Google Shape;698;p27"/>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699" name="Google Shape;699;p27"/>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21</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3" name="Shape 703"/>
        <p:cNvGrpSpPr/>
        <p:nvPr/>
      </p:nvGrpSpPr>
      <p:grpSpPr>
        <a:xfrm>
          <a:off x="0" y="0"/>
          <a:ext cx="0" cy="0"/>
          <a:chOff x="0" y="0"/>
          <a:chExt cx="0" cy="0"/>
        </a:xfrm>
      </p:grpSpPr>
      <p:sp>
        <p:nvSpPr>
          <p:cNvPr id="704" name="Google Shape;704;p31"/>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05" name="Google Shape;705;p31"/>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06" name="Google Shape;706;p31"/>
          <p:cNvSpPr txBox="1"/>
          <p:nvPr/>
        </p:nvSpPr>
        <p:spPr>
          <a:xfrm>
            <a:off x="411480" y="256032"/>
            <a:ext cx="11155680" cy="5303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Java Code: Forward Chaining Using Dummy-Headed Singly Linked List</a:t>
            </a:r>
            <a:endParaRPr/>
          </a:p>
        </p:txBody>
      </p:sp>
      <p:sp>
        <p:nvSpPr>
          <p:cNvPr id="707" name="Google Shape;707;p31"/>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08" name="Google Shape;708;p31"/>
          <p:cNvSpPr txBox="1"/>
          <p:nvPr/>
        </p:nvSpPr>
        <p:spPr>
          <a:xfrm>
            <a:off x="640138" y="1096051"/>
            <a:ext cx="10789800" cy="46659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t/>
            </a:r>
            <a:endParaRPr sz="2000">
              <a:latin typeface="Trebuchet MS"/>
              <a:ea typeface="Trebuchet MS"/>
              <a:cs typeface="Trebuchet MS"/>
              <a:sym typeface="Trebuchet MS"/>
            </a:endParaRPr>
          </a:p>
          <a:p>
            <a:pPr indent="0" lvl="0" marL="0" marR="0" rtl="0" algn="l">
              <a:spcBef>
                <a:spcPts val="0"/>
              </a:spcBef>
              <a:spcAft>
                <a:spcPts val="0"/>
              </a:spcAft>
              <a:buNone/>
            </a:pPr>
            <a:r>
              <a:rPr i="0" lang="en-US" sz="1800" u="none" cap="none" strike="noStrike">
                <a:solidFill>
                  <a:srgbClr val="1E293B"/>
                </a:solidFill>
                <a:latin typeface="Trebuchet MS"/>
                <a:ea typeface="Trebuchet MS"/>
                <a:cs typeface="Trebuchet MS"/>
                <a:sym typeface="Trebuchet MS"/>
              </a:rPr>
              <a:t>class Node {</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String key; </a:t>
            </a:r>
            <a:r>
              <a:rPr b="1" i="0" lang="en-US" sz="1800" u="none" cap="none" strike="noStrike">
                <a:solidFill>
                  <a:srgbClr val="0000FF"/>
                </a:solidFill>
                <a:latin typeface="Trebuchet MS"/>
                <a:ea typeface="Trebuchet MS"/>
                <a:cs typeface="Trebuchet MS"/>
                <a:sym typeface="Trebuchet MS"/>
              </a:rPr>
              <a:t>(extra)</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int value;</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Node next;</a:t>
            </a:r>
            <a:br>
              <a:rPr i="0" lang="en-US" sz="1800" u="none" cap="none" strike="noStrike">
                <a:solidFill>
                  <a:srgbClr val="1E293B"/>
                </a:solidFill>
                <a:latin typeface="Trebuchet MS"/>
                <a:ea typeface="Trebuchet MS"/>
                <a:cs typeface="Trebuchet MS"/>
                <a:sym typeface="Trebuchet MS"/>
              </a:rPr>
            </a:b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public Node(String key, int value) {</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this.key = key;</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this.value = value;</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this.next = null;</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a:t>
            </a:r>
            <a:br>
              <a:rPr i="0" lang="en-US" sz="1800" u="none" cap="none" strike="noStrike">
                <a:solidFill>
                  <a:srgbClr val="1E293B"/>
                </a:solidFill>
                <a:latin typeface="Trebuchet MS"/>
                <a:ea typeface="Trebuchet MS"/>
                <a:cs typeface="Trebuchet MS"/>
                <a:sym typeface="Trebuchet MS"/>
              </a:rPr>
            </a:br>
            <a:endParaRPr sz="2000">
              <a:latin typeface="Trebuchet MS"/>
              <a:ea typeface="Trebuchet MS"/>
              <a:cs typeface="Trebuchet MS"/>
              <a:sym typeface="Trebuchet MS"/>
            </a:endParaRPr>
          </a:p>
        </p:txBody>
      </p:sp>
      <p:sp>
        <p:nvSpPr>
          <p:cNvPr id="709" name="Google Shape;709;p31"/>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710" name="Google Shape;710;p31"/>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25</a:t>
            </a:r>
            <a:endParaRPr/>
          </a:p>
        </p:txBody>
      </p:sp>
      <p:pic>
        <p:nvPicPr>
          <p:cNvPr id="711" name="Google Shape;711;p31" title="DH_singly)linear.png"/>
          <p:cNvPicPr preferRelativeResize="0"/>
          <p:nvPr/>
        </p:nvPicPr>
        <p:blipFill>
          <a:blip r:embed="rId3">
            <a:alphaModFix/>
          </a:blip>
          <a:stretch>
            <a:fillRect/>
          </a:stretch>
        </p:blipFill>
        <p:spPr>
          <a:xfrm>
            <a:off x="3463500" y="3712300"/>
            <a:ext cx="8603750" cy="25970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5" name="Shape 715"/>
        <p:cNvGrpSpPr/>
        <p:nvPr/>
      </p:nvGrpSpPr>
      <p:grpSpPr>
        <a:xfrm>
          <a:off x="0" y="0"/>
          <a:ext cx="0" cy="0"/>
          <a:chOff x="0" y="0"/>
          <a:chExt cx="0" cy="0"/>
        </a:xfrm>
      </p:grpSpPr>
      <p:sp>
        <p:nvSpPr>
          <p:cNvPr id="716" name="Google Shape;716;g3f557c7bba2_0_160"/>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17" name="Google Shape;717;g3f557c7bba2_0_160"/>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18" name="Google Shape;718;g3f557c7bba2_0_160"/>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Java Code: Forward Chaining Using Dummy-Headed Singly Linked List</a:t>
            </a:r>
            <a:endParaRPr/>
          </a:p>
        </p:txBody>
      </p:sp>
      <p:sp>
        <p:nvSpPr>
          <p:cNvPr id="719" name="Google Shape;719;g3f557c7bba2_0_160"/>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20" name="Google Shape;720;g3f557c7bba2_0_160"/>
          <p:cNvSpPr txBox="1"/>
          <p:nvPr/>
        </p:nvSpPr>
        <p:spPr>
          <a:xfrm>
            <a:off x="594475" y="1182375"/>
            <a:ext cx="4282800" cy="47169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i="0" lang="en-US" sz="1800" u="none" cap="none" strike="noStrike">
                <a:solidFill>
                  <a:srgbClr val="1E293B"/>
                </a:solidFill>
                <a:latin typeface="Trebuchet MS"/>
                <a:ea typeface="Trebuchet MS"/>
                <a:cs typeface="Trebuchet MS"/>
                <a:sym typeface="Trebuchet MS"/>
              </a:rPr>
              <a:t>class HashTableExample {</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private int size;</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private Node[] table;</a:t>
            </a:r>
            <a:br>
              <a:rPr i="0" lang="en-US" sz="1800" u="none" cap="none" strike="noStrike">
                <a:solidFill>
                  <a:srgbClr val="1E293B"/>
                </a:solidFill>
                <a:latin typeface="Trebuchet MS"/>
                <a:ea typeface="Trebuchet MS"/>
                <a:cs typeface="Trebuchet MS"/>
                <a:sym typeface="Trebuchet MS"/>
              </a:rPr>
            </a:br>
            <a:br>
              <a:rPr i="0" lang="en-US" sz="1800" u="none" cap="none" strike="noStrike">
                <a:solidFill>
                  <a:srgbClr val="1E293B"/>
                </a:solidFill>
                <a:latin typeface="Trebuchet MS"/>
                <a:ea typeface="Trebuchet MS"/>
                <a:cs typeface="Trebuchet MS"/>
                <a:sym typeface="Trebuchet MS"/>
              </a:rPr>
            </a:b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public HashTableExample(int size) {</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this.size = size;</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this.table = new Node[size];</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a:t>
            </a:r>
            <a:br>
              <a:rPr i="0" lang="en-US" sz="1600" u="none" cap="none" strike="noStrike">
                <a:solidFill>
                  <a:srgbClr val="1E293B"/>
                </a:solidFill>
                <a:latin typeface="Trebuchet MS"/>
                <a:ea typeface="Trebuchet MS"/>
                <a:cs typeface="Trebuchet MS"/>
                <a:sym typeface="Trebuchet MS"/>
              </a:rPr>
            </a:br>
            <a:br>
              <a:rPr i="0" lang="en-US" sz="1600" u="none" cap="none" strike="noStrike">
                <a:solidFill>
                  <a:srgbClr val="1E293B"/>
                </a:solidFill>
                <a:latin typeface="Trebuchet MS"/>
                <a:ea typeface="Trebuchet MS"/>
                <a:cs typeface="Trebuchet MS"/>
                <a:sym typeface="Trebuchet MS"/>
              </a:rPr>
            </a:br>
            <a:br>
              <a:rPr i="0" lang="en-US" sz="1600" u="none" cap="none" strike="noStrike">
                <a:solidFill>
                  <a:srgbClr val="1E293B"/>
                </a:solidFill>
                <a:latin typeface="Trebuchet MS"/>
                <a:ea typeface="Trebuchet MS"/>
                <a:cs typeface="Trebuchet MS"/>
                <a:sym typeface="Trebuchet MS"/>
              </a:rPr>
            </a:br>
            <a:r>
              <a:rPr i="0" lang="en-US" sz="1600" u="none" cap="none" strike="noStrike">
                <a:solidFill>
                  <a:srgbClr val="1E293B"/>
                </a:solidFill>
                <a:latin typeface="Trebuchet MS"/>
                <a:ea typeface="Trebuchet MS"/>
                <a:cs typeface="Trebuchet MS"/>
                <a:sym typeface="Trebuchet MS"/>
              </a:rPr>
              <a:t>  </a:t>
            </a:r>
            <a:endParaRPr sz="1600">
              <a:latin typeface="Trebuchet MS"/>
              <a:ea typeface="Trebuchet MS"/>
              <a:cs typeface="Trebuchet MS"/>
              <a:sym typeface="Trebuchet MS"/>
            </a:endParaRPr>
          </a:p>
        </p:txBody>
      </p:sp>
      <p:sp>
        <p:nvSpPr>
          <p:cNvPr id="721" name="Google Shape;721;g3f557c7bba2_0_160"/>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722" name="Google Shape;722;g3f557c7bba2_0_160"/>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25</a:t>
            </a:r>
            <a:endParaRPr/>
          </a:p>
        </p:txBody>
      </p:sp>
      <p:pic>
        <p:nvPicPr>
          <p:cNvPr id="723" name="Google Shape;723;g3f557c7bba2_0_160" title="14.png"/>
          <p:cNvPicPr preferRelativeResize="0"/>
          <p:nvPr/>
        </p:nvPicPr>
        <p:blipFill>
          <a:blip r:embed="rId3">
            <a:alphaModFix/>
          </a:blip>
          <a:stretch>
            <a:fillRect/>
          </a:stretch>
        </p:blipFill>
        <p:spPr>
          <a:xfrm>
            <a:off x="4791175" y="1005850"/>
            <a:ext cx="6867299" cy="515047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7" name="Shape 727"/>
        <p:cNvGrpSpPr/>
        <p:nvPr/>
      </p:nvGrpSpPr>
      <p:grpSpPr>
        <a:xfrm>
          <a:off x="0" y="0"/>
          <a:ext cx="0" cy="0"/>
          <a:chOff x="0" y="0"/>
          <a:chExt cx="0" cy="0"/>
        </a:xfrm>
      </p:grpSpPr>
      <p:sp>
        <p:nvSpPr>
          <p:cNvPr id="728" name="Google Shape;728;g3f557c7bba2_0_110"/>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29" name="Google Shape;729;g3f557c7bba2_0_110"/>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30" name="Google Shape;730;g3f557c7bba2_0_110"/>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Java Code: Forward Chaining Using Dummy-Headed Singly Linked List</a:t>
            </a:r>
            <a:endParaRPr/>
          </a:p>
        </p:txBody>
      </p:sp>
      <p:sp>
        <p:nvSpPr>
          <p:cNvPr id="731" name="Google Shape;731;g3f557c7bba2_0_110"/>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32" name="Google Shape;732;g3f557c7bba2_0_110"/>
          <p:cNvSpPr txBox="1"/>
          <p:nvPr/>
        </p:nvSpPr>
        <p:spPr>
          <a:xfrm>
            <a:off x="594475" y="1182375"/>
            <a:ext cx="4476300" cy="47721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br>
              <a:rPr i="0" lang="en-US" sz="1600" u="none" cap="none" strike="noStrike">
                <a:solidFill>
                  <a:srgbClr val="1E293B"/>
                </a:solidFill>
                <a:latin typeface="Trebuchet MS"/>
                <a:ea typeface="Trebuchet MS"/>
                <a:cs typeface="Trebuchet MS"/>
                <a:sym typeface="Trebuchet MS"/>
              </a:rPr>
            </a:br>
            <a:br>
              <a:rPr i="0" lang="en-US" sz="1600" u="none" cap="none" strike="noStrike">
                <a:solidFill>
                  <a:srgbClr val="1E293B"/>
                </a:solidFill>
                <a:latin typeface="Trebuchet MS"/>
                <a:ea typeface="Trebuchet MS"/>
                <a:cs typeface="Trebuchet MS"/>
                <a:sym typeface="Trebuchet MS"/>
              </a:rPr>
            </a:br>
            <a:br>
              <a:rPr i="0" lang="en-US" sz="16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private int hashFunction(String key) {</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int hashValue = 0;</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for (int i = 0; i &lt; key.length(); i++) {</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hashValue += key.charAt(i);</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return hashValue % size;</a:t>
            </a:r>
            <a:br>
              <a:rPr i="0" lang="en-US" sz="1800" u="none" cap="none" strike="noStrike">
                <a:solidFill>
                  <a:srgbClr val="1E293B"/>
                </a:solidFill>
                <a:latin typeface="Trebuchet MS"/>
                <a:ea typeface="Trebuchet MS"/>
                <a:cs typeface="Trebuchet MS"/>
                <a:sym typeface="Trebuchet MS"/>
              </a:rPr>
            </a:br>
            <a:r>
              <a:rPr i="0" lang="en-US" sz="1800" u="none" cap="none" strike="noStrike">
                <a:solidFill>
                  <a:srgbClr val="1E293B"/>
                </a:solidFill>
                <a:latin typeface="Trebuchet MS"/>
                <a:ea typeface="Trebuchet MS"/>
                <a:cs typeface="Trebuchet MS"/>
                <a:sym typeface="Trebuchet MS"/>
              </a:rPr>
              <a:t>    }</a:t>
            </a:r>
            <a:br>
              <a:rPr i="0" lang="en-US" sz="1800" u="none" cap="none" strike="noStrike">
                <a:solidFill>
                  <a:srgbClr val="1E293B"/>
                </a:solidFill>
                <a:latin typeface="Trebuchet MS"/>
                <a:ea typeface="Trebuchet MS"/>
                <a:cs typeface="Trebuchet MS"/>
                <a:sym typeface="Trebuchet MS"/>
              </a:rPr>
            </a:br>
            <a:endParaRPr sz="1800">
              <a:latin typeface="Trebuchet MS"/>
              <a:ea typeface="Trebuchet MS"/>
              <a:cs typeface="Trebuchet MS"/>
              <a:sym typeface="Trebuchet MS"/>
            </a:endParaRPr>
          </a:p>
        </p:txBody>
      </p:sp>
      <p:sp>
        <p:nvSpPr>
          <p:cNvPr id="733" name="Google Shape;733;g3f557c7bba2_0_110"/>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734" name="Google Shape;734;g3f557c7bba2_0_110"/>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25</a:t>
            </a:r>
            <a:endParaRPr/>
          </a:p>
        </p:txBody>
      </p:sp>
      <p:pic>
        <p:nvPicPr>
          <p:cNvPr id="735" name="Google Shape;735;g3f557c7bba2_0_110" title="DH_singly)linear.png"/>
          <p:cNvPicPr preferRelativeResize="0"/>
          <p:nvPr/>
        </p:nvPicPr>
        <p:blipFill>
          <a:blip r:embed="rId3">
            <a:alphaModFix/>
          </a:blip>
          <a:stretch>
            <a:fillRect/>
          </a:stretch>
        </p:blipFill>
        <p:spPr>
          <a:xfrm>
            <a:off x="3946725" y="3891425"/>
            <a:ext cx="7979776" cy="24087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9" name="Shape 739"/>
        <p:cNvGrpSpPr/>
        <p:nvPr/>
      </p:nvGrpSpPr>
      <p:grpSpPr>
        <a:xfrm>
          <a:off x="0" y="0"/>
          <a:ext cx="0" cy="0"/>
          <a:chOff x="0" y="0"/>
          <a:chExt cx="0" cy="0"/>
        </a:xfrm>
      </p:grpSpPr>
      <p:sp>
        <p:nvSpPr>
          <p:cNvPr id="740" name="Google Shape;740;g3f557c7bba2_0_274"/>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41" name="Google Shape;741;g3f557c7bba2_0_274"/>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42" name="Google Shape;742;g3f557c7bba2_0_274"/>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Java Code: Forward Chaining Using Dummy-Headed Singly Linked List</a:t>
            </a:r>
            <a:endParaRPr/>
          </a:p>
        </p:txBody>
      </p:sp>
      <p:sp>
        <p:nvSpPr>
          <p:cNvPr id="743" name="Google Shape;743;g3f557c7bba2_0_274"/>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44" name="Google Shape;744;g3f557c7bba2_0_274"/>
          <p:cNvSpPr txBox="1"/>
          <p:nvPr/>
        </p:nvSpPr>
        <p:spPr>
          <a:xfrm>
            <a:off x="0" y="905850"/>
            <a:ext cx="3950400" cy="47721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br>
              <a:rPr i="0" lang="en-US" sz="1600" u="none" cap="none" strike="noStrike">
                <a:solidFill>
                  <a:srgbClr val="1E293B"/>
                </a:solidFill>
                <a:latin typeface="Trebuchet MS"/>
                <a:ea typeface="Trebuchet MS"/>
                <a:cs typeface="Trebuchet MS"/>
                <a:sym typeface="Trebuchet MS"/>
              </a:rPr>
            </a:br>
            <a:r>
              <a:rPr i="0" lang="en-US" sz="1600" u="none" cap="none" strike="noStrike">
                <a:solidFill>
                  <a:srgbClr val="1E293B"/>
                </a:solidFill>
                <a:latin typeface="Trebuchet MS"/>
                <a:ea typeface="Trebuchet MS"/>
                <a:cs typeface="Trebuchet MS"/>
                <a:sym typeface="Trebuchet MS"/>
              </a:rPr>
              <a:t>    private int hashFunction(String key) {</a:t>
            </a:r>
            <a:br>
              <a:rPr i="0" lang="en-US" sz="1600" u="none" cap="none" strike="noStrike">
                <a:solidFill>
                  <a:srgbClr val="1E293B"/>
                </a:solidFill>
                <a:latin typeface="Trebuchet MS"/>
                <a:ea typeface="Trebuchet MS"/>
                <a:cs typeface="Trebuchet MS"/>
                <a:sym typeface="Trebuchet MS"/>
              </a:rPr>
            </a:br>
            <a:r>
              <a:rPr i="0" lang="en-US" sz="1600" u="none" cap="none" strike="noStrike">
                <a:solidFill>
                  <a:srgbClr val="1E293B"/>
                </a:solidFill>
                <a:latin typeface="Trebuchet MS"/>
                <a:ea typeface="Trebuchet MS"/>
                <a:cs typeface="Trebuchet MS"/>
                <a:sym typeface="Trebuchet MS"/>
              </a:rPr>
              <a:t>        int hashValue = 0;</a:t>
            </a:r>
            <a:br>
              <a:rPr i="0" lang="en-US" sz="1600" u="none" cap="none" strike="noStrike">
                <a:solidFill>
                  <a:srgbClr val="1E293B"/>
                </a:solidFill>
                <a:latin typeface="Trebuchet MS"/>
                <a:ea typeface="Trebuchet MS"/>
                <a:cs typeface="Trebuchet MS"/>
                <a:sym typeface="Trebuchet MS"/>
              </a:rPr>
            </a:br>
            <a:r>
              <a:rPr i="0" lang="en-US" sz="1600" u="none" cap="none" strike="noStrike">
                <a:solidFill>
                  <a:srgbClr val="1E293B"/>
                </a:solidFill>
                <a:latin typeface="Trebuchet MS"/>
                <a:ea typeface="Trebuchet MS"/>
                <a:cs typeface="Trebuchet MS"/>
                <a:sym typeface="Trebuchet MS"/>
              </a:rPr>
              <a:t>        for (int i = 0; i &lt; key.length(); i++) {</a:t>
            </a:r>
            <a:br>
              <a:rPr i="0" lang="en-US" sz="1600" u="none" cap="none" strike="noStrike">
                <a:solidFill>
                  <a:srgbClr val="1E293B"/>
                </a:solidFill>
                <a:latin typeface="Trebuchet MS"/>
                <a:ea typeface="Trebuchet MS"/>
                <a:cs typeface="Trebuchet MS"/>
                <a:sym typeface="Trebuchet MS"/>
              </a:rPr>
            </a:br>
            <a:r>
              <a:rPr i="0" lang="en-US" sz="1600" u="none" cap="none" strike="noStrike">
                <a:solidFill>
                  <a:srgbClr val="1E293B"/>
                </a:solidFill>
                <a:latin typeface="Trebuchet MS"/>
                <a:ea typeface="Trebuchet MS"/>
                <a:cs typeface="Trebuchet MS"/>
                <a:sym typeface="Trebuchet MS"/>
              </a:rPr>
              <a:t>            hashValue += key.charAt(i);</a:t>
            </a:r>
            <a:br>
              <a:rPr i="0" lang="en-US" sz="1600" u="none" cap="none" strike="noStrike">
                <a:solidFill>
                  <a:srgbClr val="1E293B"/>
                </a:solidFill>
                <a:latin typeface="Trebuchet MS"/>
                <a:ea typeface="Trebuchet MS"/>
                <a:cs typeface="Trebuchet MS"/>
                <a:sym typeface="Trebuchet MS"/>
              </a:rPr>
            </a:br>
            <a:r>
              <a:rPr i="0" lang="en-US" sz="1600" u="none" cap="none" strike="noStrike">
                <a:solidFill>
                  <a:srgbClr val="1E293B"/>
                </a:solidFill>
                <a:latin typeface="Trebuchet MS"/>
                <a:ea typeface="Trebuchet MS"/>
                <a:cs typeface="Trebuchet MS"/>
                <a:sym typeface="Trebuchet MS"/>
              </a:rPr>
              <a:t>        }</a:t>
            </a:r>
            <a:br>
              <a:rPr i="0" lang="en-US" sz="1600" u="none" cap="none" strike="noStrike">
                <a:solidFill>
                  <a:srgbClr val="1E293B"/>
                </a:solidFill>
                <a:latin typeface="Trebuchet MS"/>
                <a:ea typeface="Trebuchet MS"/>
                <a:cs typeface="Trebuchet MS"/>
                <a:sym typeface="Trebuchet MS"/>
              </a:rPr>
            </a:br>
            <a:r>
              <a:rPr i="0" lang="en-US" sz="1600" u="none" cap="none" strike="noStrike">
                <a:solidFill>
                  <a:srgbClr val="1E293B"/>
                </a:solidFill>
                <a:latin typeface="Trebuchet MS"/>
                <a:ea typeface="Trebuchet MS"/>
                <a:cs typeface="Trebuchet MS"/>
                <a:sym typeface="Trebuchet MS"/>
              </a:rPr>
              <a:t>        return hashValue % size;</a:t>
            </a:r>
            <a:br>
              <a:rPr i="0" lang="en-US" sz="1600" u="none" cap="none" strike="noStrike">
                <a:solidFill>
                  <a:srgbClr val="1E293B"/>
                </a:solidFill>
                <a:latin typeface="Trebuchet MS"/>
                <a:ea typeface="Trebuchet MS"/>
                <a:cs typeface="Trebuchet MS"/>
                <a:sym typeface="Trebuchet MS"/>
              </a:rPr>
            </a:br>
            <a:r>
              <a:rPr i="0" lang="en-US" sz="1600" u="none" cap="none" strike="noStrike">
                <a:solidFill>
                  <a:srgbClr val="1E293B"/>
                </a:solidFill>
                <a:latin typeface="Trebuchet MS"/>
                <a:ea typeface="Trebuchet MS"/>
                <a:cs typeface="Trebuchet MS"/>
                <a:sym typeface="Trebuchet MS"/>
              </a:rPr>
              <a:t>    }</a:t>
            </a:r>
            <a:br>
              <a:rPr i="0" lang="en-US" sz="1600" u="none" cap="none" strike="noStrike">
                <a:solidFill>
                  <a:srgbClr val="1E293B"/>
                </a:solidFill>
                <a:latin typeface="Trebuchet MS"/>
                <a:ea typeface="Trebuchet MS"/>
                <a:cs typeface="Trebuchet MS"/>
                <a:sym typeface="Trebuchet MS"/>
              </a:rPr>
            </a:br>
            <a:endParaRPr sz="1600">
              <a:latin typeface="Trebuchet MS"/>
              <a:ea typeface="Trebuchet MS"/>
              <a:cs typeface="Trebuchet MS"/>
              <a:sym typeface="Trebuchet MS"/>
            </a:endParaRPr>
          </a:p>
        </p:txBody>
      </p:sp>
      <p:sp>
        <p:nvSpPr>
          <p:cNvPr id="745" name="Google Shape;745;g3f557c7bba2_0_274"/>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746" name="Google Shape;746;g3f557c7bba2_0_274"/>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25</a:t>
            </a:r>
            <a:endParaRPr/>
          </a:p>
        </p:txBody>
      </p:sp>
      <p:graphicFrame>
        <p:nvGraphicFramePr>
          <p:cNvPr id="747" name="Google Shape;747;g3f557c7bba2_0_274"/>
          <p:cNvGraphicFramePr/>
          <p:nvPr/>
        </p:nvGraphicFramePr>
        <p:xfrm>
          <a:off x="7229738" y="2636350"/>
          <a:ext cx="3000000" cy="3000000"/>
        </p:xfrm>
        <a:graphic>
          <a:graphicData uri="http://schemas.openxmlformats.org/drawingml/2006/table">
            <a:tbl>
              <a:tblPr bandRow="1">
                <a:noFill/>
                <a:tableStyleId>{39564256-AF69-4C5B-B919-4077E5C37268}</a:tableStyleId>
              </a:tblPr>
              <a:tblGrid>
                <a:gridCol w="873975"/>
                <a:gridCol w="1588975"/>
                <a:gridCol w="1479950"/>
                <a:gridCol w="865675"/>
              </a:tblGrid>
              <a:tr h="494750">
                <a:tc>
                  <a:txBody>
                    <a:bodyPr/>
                    <a:lstStyle/>
                    <a:p>
                      <a:pPr indent="0" lvl="0" marL="0" rtl="0" algn="l">
                        <a:spcBef>
                          <a:spcPts val="0"/>
                        </a:spcBef>
                        <a:spcAft>
                          <a:spcPts val="0"/>
                        </a:spcAft>
                        <a:buNone/>
                      </a:pPr>
                      <a:r>
                        <a:rPr b="1" lang="en-US" sz="1750">
                          <a:solidFill>
                            <a:srgbClr val="FFFFFF"/>
                          </a:solidFill>
                          <a:latin typeface="Trebuchet MS"/>
                          <a:ea typeface="Trebuchet MS"/>
                          <a:cs typeface="Trebuchet MS"/>
                          <a:sym typeface="Trebuchet MS"/>
                        </a:rPr>
                        <a:t>Key</a:t>
                      </a:r>
                      <a:endParaRPr sz="1850">
                        <a:latin typeface="Trebuchet MS"/>
                        <a:ea typeface="Trebuchet MS"/>
                        <a:cs typeface="Trebuchet MS"/>
                        <a:sym typeface="Trebuchet MS"/>
                      </a:endParaRPr>
                    </a:p>
                  </a:txBody>
                  <a:tcPr marT="0" marB="0" marR="68575" marL="68575" anchor="ctr">
                    <a:solidFill>
                      <a:srgbClr val="1F4E79"/>
                    </a:solidFill>
                  </a:tcPr>
                </a:tc>
                <a:tc>
                  <a:txBody>
                    <a:bodyPr/>
                    <a:lstStyle/>
                    <a:p>
                      <a:pPr indent="0" lvl="0" marL="0" rtl="0" algn="l">
                        <a:spcBef>
                          <a:spcPts val="0"/>
                        </a:spcBef>
                        <a:spcAft>
                          <a:spcPts val="0"/>
                        </a:spcAft>
                        <a:buNone/>
                      </a:pPr>
                      <a:r>
                        <a:rPr b="1" lang="en-US" sz="1750">
                          <a:solidFill>
                            <a:srgbClr val="FFFFFF"/>
                          </a:solidFill>
                          <a:latin typeface="Trebuchet MS"/>
                          <a:ea typeface="Trebuchet MS"/>
                          <a:cs typeface="Trebuchet MS"/>
                          <a:sym typeface="Trebuchet MS"/>
                        </a:rPr>
                        <a:t>Character ASCII sum</a:t>
                      </a:r>
                      <a:endParaRPr sz="1850">
                        <a:latin typeface="Trebuchet MS"/>
                        <a:ea typeface="Trebuchet MS"/>
                        <a:cs typeface="Trebuchet MS"/>
                        <a:sym typeface="Trebuchet MS"/>
                      </a:endParaRPr>
                    </a:p>
                  </a:txBody>
                  <a:tcPr marT="0" marB="0" marR="68575" marL="68575" anchor="ctr">
                    <a:solidFill>
                      <a:srgbClr val="1F4E79"/>
                    </a:solidFill>
                  </a:tcPr>
                </a:tc>
                <a:tc>
                  <a:txBody>
                    <a:bodyPr/>
                    <a:lstStyle/>
                    <a:p>
                      <a:pPr indent="0" lvl="0" marL="0" rtl="0" algn="l">
                        <a:spcBef>
                          <a:spcPts val="0"/>
                        </a:spcBef>
                        <a:spcAft>
                          <a:spcPts val="0"/>
                        </a:spcAft>
                        <a:buNone/>
                      </a:pPr>
                      <a:r>
                        <a:rPr b="1" lang="en-US" sz="1750">
                          <a:solidFill>
                            <a:srgbClr val="FFFFFF"/>
                          </a:solidFill>
                          <a:latin typeface="Trebuchet MS"/>
                          <a:ea typeface="Trebuchet MS"/>
                          <a:cs typeface="Trebuchet MS"/>
                          <a:sym typeface="Trebuchet MS"/>
                        </a:rPr>
                        <a:t>Calculation</a:t>
                      </a:r>
                      <a:endParaRPr sz="1850">
                        <a:latin typeface="Trebuchet MS"/>
                        <a:ea typeface="Trebuchet MS"/>
                        <a:cs typeface="Trebuchet MS"/>
                        <a:sym typeface="Trebuchet MS"/>
                      </a:endParaRPr>
                    </a:p>
                  </a:txBody>
                  <a:tcPr marT="0" marB="0" marR="68575" marL="68575" anchor="ctr">
                    <a:solidFill>
                      <a:srgbClr val="1F4E79"/>
                    </a:solidFill>
                  </a:tcPr>
                </a:tc>
                <a:tc>
                  <a:txBody>
                    <a:bodyPr/>
                    <a:lstStyle/>
                    <a:p>
                      <a:pPr indent="0" lvl="0" marL="0" rtl="0" algn="l">
                        <a:spcBef>
                          <a:spcPts val="0"/>
                        </a:spcBef>
                        <a:spcAft>
                          <a:spcPts val="0"/>
                        </a:spcAft>
                        <a:buNone/>
                      </a:pPr>
                      <a:r>
                        <a:rPr b="1" lang="en-US" sz="1750">
                          <a:solidFill>
                            <a:srgbClr val="FFFFFF"/>
                          </a:solidFill>
                          <a:latin typeface="Trebuchet MS"/>
                          <a:ea typeface="Trebuchet MS"/>
                          <a:cs typeface="Trebuchet MS"/>
                          <a:sym typeface="Trebuchet MS"/>
                        </a:rPr>
                        <a:t>Bucket</a:t>
                      </a:r>
                      <a:endParaRPr sz="1850">
                        <a:latin typeface="Trebuchet MS"/>
                        <a:ea typeface="Trebuchet MS"/>
                        <a:cs typeface="Trebuchet MS"/>
                        <a:sym typeface="Trebuchet MS"/>
                      </a:endParaRPr>
                    </a:p>
                  </a:txBody>
                  <a:tcPr marT="0" marB="0" marR="68575" marL="68575" anchor="ctr">
                    <a:solidFill>
                      <a:srgbClr val="1F4E79"/>
                    </a:solidFill>
                  </a:tcPr>
                </a:tc>
              </a:tr>
              <a:tr h="405175">
                <a:tc>
                  <a:txBody>
                    <a:bodyPr/>
                    <a:lstStyle/>
                    <a:p>
                      <a:pPr indent="0" lvl="0" marL="0" rtl="0" algn="l">
                        <a:spcBef>
                          <a:spcPts val="0"/>
                        </a:spcBef>
                        <a:spcAft>
                          <a:spcPts val="0"/>
                        </a:spcAft>
                        <a:buNone/>
                      </a:pPr>
                      <a:r>
                        <a:rPr lang="en-US" sz="1750">
                          <a:latin typeface="Trebuchet MS"/>
                          <a:ea typeface="Trebuchet MS"/>
                          <a:cs typeface="Trebuchet MS"/>
                          <a:sym typeface="Trebuchet MS"/>
                        </a:rPr>
                        <a:t>cat</a:t>
                      </a:r>
                      <a:endParaRPr sz="1850">
                        <a:latin typeface="Trebuchet MS"/>
                        <a:ea typeface="Trebuchet MS"/>
                        <a:cs typeface="Trebuchet MS"/>
                        <a:sym typeface="Trebuchet MS"/>
                      </a:endParaRPr>
                    </a:p>
                  </a:txBody>
                  <a:tcPr marT="0" marB="0" marR="68575" marL="68575" anchor="ctr">
                    <a:solidFill>
                      <a:srgbClr val="CFD7E7"/>
                    </a:solidFill>
                  </a:tcP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312</a:t>
                      </a:r>
                      <a:endParaRPr sz="1850">
                        <a:latin typeface="Trebuchet MS"/>
                        <a:ea typeface="Trebuchet MS"/>
                        <a:cs typeface="Trebuchet MS"/>
                        <a:sym typeface="Trebuchet MS"/>
                      </a:endParaRPr>
                    </a:p>
                  </a:txBody>
                  <a:tcPr marT="0" marB="0" marR="68575" marL="68575" anchor="ctr">
                    <a:solidFill>
                      <a:srgbClr val="CFD7E7"/>
                    </a:solidFill>
                  </a:tcP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312 % 5</a:t>
                      </a:r>
                      <a:endParaRPr sz="1850">
                        <a:latin typeface="Trebuchet MS"/>
                        <a:ea typeface="Trebuchet MS"/>
                        <a:cs typeface="Trebuchet MS"/>
                        <a:sym typeface="Trebuchet MS"/>
                      </a:endParaRPr>
                    </a:p>
                  </a:txBody>
                  <a:tcPr marT="0" marB="0" marR="68575" marL="68575" anchor="ctr">
                    <a:solidFill>
                      <a:srgbClr val="CFD7E7"/>
                    </a:solidFill>
                  </a:tcP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2</a:t>
                      </a:r>
                      <a:endParaRPr sz="1850">
                        <a:latin typeface="Trebuchet MS"/>
                        <a:ea typeface="Trebuchet MS"/>
                        <a:cs typeface="Trebuchet MS"/>
                        <a:sym typeface="Trebuchet MS"/>
                      </a:endParaRPr>
                    </a:p>
                  </a:txBody>
                  <a:tcPr marT="0" marB="0" marR="68575" marL="68575" anchor="ctr">
                    <a:solidFill>
                      <a:srgbClr val="CFD7E7"/>
                    </a:solidFill>
                  </a:tcPr>
                </a:tc>
              </a:tr>
              <a:tr h="405175">
                <a:tc>
                  <a:txBody>
                    <a:bodyPr/>
                    <a:lstStyle/>
                    <a:p>
                      <a:pPr indent="0" lvl="0" marL="0" rtl="0" algn="l">
                        <a:spcBef>
                          <a:spcPts val="0"/>
                        </a:spcBef>
                        <a:spcAft>
                          <a:spcPts val="0"/>
                        </a:spcAft>
                        <a:buNone/>
                      </a:pPr>
                      <a:r>
                        <a:rPr lang="en-US" sz="1750">
                          <a:latin typeface="Trebuchet MS"/>
                          <a:ea typeface="Trebuchet MS"/>
                          <a:cs typeface="Trebuchet MS"/>
                          <a:sym typeface="Trebuchet MS"/>
                        </a:rPr>
                        <a:t>rat</a:t>
                      </a:r>
                      <a:endParaRPr sz="1850">
                        <a:latin typeface="Trebuchet MS"/>
                        <a:ea typeface="Trebuchet MS"/>
                        <a:cs typeface="Trebuchet MS"/>
                        <a:sym typeface="Trebuchet MS"/>
                      </a:endParaRPr>
                    </a:p>
                  </a:txBody>
                  <a:tcPr marT="0" marB="0" marR="68575" marL="68575" anchor="ctr">
                    <a:solidFill>
                      <a:srgbClr val="CFD7E7"/>
                    </a:solidFill>
                  </a:tcP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327</a:t>
                      </a:r>
                      <a:endParaRPr sz="1850">
                        <a:latin typeface="Trebuchet MS"/>
                        <a:ea typeface="Trebuchet MS"/>
                        <a:cs typeface="Trebuchet MS"/>
                        <a:sym typeface="Trebuchet MS"/>
                      </a:endParaRPr>
                    </a:p>
                  </a:txBody>
                  <a:tcPr marT="0" marB="0" marR="68575" marL="68575" anchor="ctr">
                    <a:solidFill>
                      <a:srgbClr val="CFD7E7"/>
                    </a:solidFill>
                  </a:tcP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327 % 5</a:t>
                      </a:r>
                      <a:endParaRPr sz="1850">
                        <a:latin typeface="Trebuchet MS"/>
                        <a:ea typeface="Trebuchet MS"/>
                        <a:cs typeface="Trebuchet MS"/>
                        <a:sym typeface="Trebuchet MS"/>
                      </a:endParaRPr>
                    </a:p>
                  </a:txBody>
                  <a:tcPr marT="0" marB="0" marR="68575" marL="68575" anchor="ctr">
                    <a:solidFill>
                      <a:srgbClr val="CFD7E7"/>
                    </a:solidFill>
                  </a:tcP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2</a:t>
                      </a:r>
                      <a:endParaRPr sz="1850">
                        <a:latin typeface="Trebuchet MS"/>
                        <a:ea typeface="Trebuchet MS"/>
                        <a:cs typeface="Trebuchet MS"/>
                        <a:sym typeface="Trebuchet MS"/>
                      </a:endParaRPr>
                    </a:p>
                  </a:txBody>
                  <a:tcPr marT="0" marB="0" marR="68575" marL="68575" anchor="ctr">
                    <a:solidFill>
                      <a:srgbClr val="CFD7E7"/>
                    </a:solidFill>
                  </a:tcPr>
                </a:tc>
              </a:tr>
              <a:tr h="405175">
                <a:tc>
                  <a:txBody>
                    <a:bodyPr/>
                    <a:lstStyle/>
                    <a:p>
                      <a:pPr indent="0" lvl="0" marL="0" rtl="0" algn="l">
                        <a:spcBef>
                          <a:spcPts val="0"/>
                        </a:spcBef>
                        <a:spcAft>
                          <a:spcPts val="0"/>
                        </a:spcAft>
                        <a:buNone/>
                      </a:pPr>
                      <a:r>
                        <a:rPr lang="en-US" sz="1750">
                          <a:latin typeface="Trebuchet MS"/>
                          <a:ea typeface="Trebuchet MS"/>
                          <a:cs typeface="Trebuchet MS"/>
                          <a:sym typeface="Trebuchet MS"/>
                        </a:rPr>
                        <a:t>dog</a:t>
                      </a:r>
                      <a:endParaRPr sz="1850">
                        <a:latin typeface="Trebuchet MS"/>
                        <a:ea typeface="Trebuchet MS"/>
                        <a:cs typeface="Trebuchet MS"/>
                        <a:sym typeface="Trebuchet MS"/>
                      </a:endParaRPr>
                    </a:p>
                  </a:txBody>
                  <a:tcPr marT="0" marB="0" marR="68575" marL="68575" anchor="ct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314</a:t>
                      </a:r>
                      <a:endParaRPr sz="1850">
                        <a:latin typeface="Trebuchet MS"/>
                        <a:ea typeface="Trebuchet MS"/>
                        <a:cs typeface="Trebuchet MS"/>
                        <a:sym typeface="Trebuchet MS"/>
                      </a:endParaRPr>
                    </a:p>
                  </a:txBody>
                  <a:tcPr marT="0" marB="0" marR="68575" marL="68575" anchor="ct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314 % 5</a:t>
                      </a:r>
                      <a:endParaRPr sz="1850">
                        <a:latin typeface="Trebuchet MS"/>
                        <a:ea typeface="Trebuchet MS"/>
                        <a:cs typeface="Trebuchet MS"/>
                        <a:sym typeface="Trebuchet MS"/>
                      </a:endParaRPr>
                    </a:p>
                  </a:txBody>
                  <a:tcPr marT="0" marB="0" marR="68575" marL="68575" anchor="ct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4</a:t>
                      </a:r>
                      <a:endParaRPr sz="1850">
                        <a:latin typeface="Trebuchet MS"/>
                        <a:ea typeface="Trebuchet MS"/>
                        <a:cs typeface="Trebuchet MS"/>
                        <a:sym typeface="Trebuchet MS"/>
                      </a:endParaRPr>
                    </a:p>
                  </a:txBody>
                  <a:tcPr marT="0" marB="0" marR="68575" marL="68575" anchor="ctr"/>
                </a:tc>
              </a:tr>
              <a:tr h="405175">
                <a:tc>
                  <a:txBody>
                    <a:bodyPr/>
                    <a:lstStyle/>
                    <a:p>
                      <a:pPr indent="0" lvl="0" marL="0" rtl="0" algn="l">
                        <a:spcBef>
                          <a:spcPts val="0"/>
                        </a:spcBef>
                        <a:spcAft>
                          <a:spcPts val="0"/>
                        </a:spcAft>
                        <a:buNone/>
                      </a:pPr>
                      <a:r>
                        <a:rPr lang="en-US" sz="1750">
                          <a:latin typeface="Trebuchet MS"/>
                          <a:ea typeface="Trebuchet MS"/>
                          <a:cs typeface="Trebuchet MS"/>
                          <a:sym typeface="Trebuchet MS"/>
                        </a:rPr>
                        <a:t>owl</a:t>
                      </a:r>
                      <a:endParaRPr sz="1850">
                        <a:latin typeface="Trebuchet MS"/>
                        <a:ea typeface="Trebuchet MS"/>
                        <a:cs typeface="Trebuchet MS"/>
                        <a:sym typeface="Trebuchet MS"/>
                      </a:endParaRPr>
                    </a:p>
                  </a:txBody>
                  <a:tcPr marT="0" marB="0" marR="68575" marL="68575" anchor="ctr">
                    <a:solidFill>
                      <a:srgbClr val="D9EAF7"/>
                    </a:solidFill>
                  </a:tcP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338</a:t>
                      </a:r>
                      <a:endParaRPr sz="1850">
                        <a:latin typeface="Trebuchet MS"/>
                        <a:ea typeface="Trebuchet MS"/>
                        <a:cs typeface="Trebuchet MS"/>
                        <a:sym typeface="Trebuchet MS"/>
                      </a:endParaRPr>
                    </a:p>
                  </a:txBody>
                  <a:tcPr marT="0" marB="0" marR="68575" marL="68575" anchor="ctr">
                    <a:solidFill>
                      <a:srgbClr val="D9EAF7"/>
                    </a:solidFill>
                  </a:tcP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338 % 5</a:t>
                      </a:r>
                      <a:endParaRPr sz="1850">
                        <a:latin typeface="Trebuchet MS"/>
                        <a:ea typeface="Trebuchet MS"/>
                        <a:cs typeface="Trebuchet MS"/>
                        <a:sym typeface="Trebuchet MS"/>
                      </a:endParaRPr>
                    </a:p>
                  </a:txBody>
                  <a:tcPr marT="0" marB="0" marR="68575" marL="68575" anchor="ctr">
                    <a:solidFill>
                      <a:srgbClr val="D9EAF7"/>
                    </a:solidFill>
                  </a:tcP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a:t>
                      </a:r>
                      <a:endParaRPr sz="1850">
                        <a:latin typeface="Trebuchet MS"/>
                        <a:ea typeface="Trebuchet MS"/>
                        <a:cs typeface="Trebuchet MS"/>
                        <a:sym typeface="Trebuchet MS"/>
                      </a:endParaRPr>
                    </a:p>
                  </a:txBody>
                  <a:tcPr marT="0" marB="0" marR="68575" marL="68575" anchor="ctr">
                    <a:solidFill>
                      <a:srgbClr val="D9EAF7"/>
                    </a:solidFill>
                  </a:tcPr>
                </a:tc>
              </a:tr>
              <a:tr h="405175">
                <a:tc>
                  <a:txBody>
                    <a:bodyPr/>
                    <a:lstStyle/>
                    <a:p>
                      <a:pPr indent="0" lvl="0" marL="0" rtl="0" algn="l">
                        <a:spcBef>
                          <a:spcPts val="0"/>
                        </a:spcBef>
                        <a:spcAft>
                          <a:spcPts val="0"/>
                        </a:spcAft>
                        <a:buNone/>
                      </a:pPr>
                      <a:r>
                        <a:rPr lang="en-US" sz="1750">
                          <a:latin typeface="Trebuchet MS"/>
                          <a:ea typeface="Trebuchet MS"/>
                          <a:cs typeface="Trebuchet MS"/>
                          <a:sym typeface="Trebuchet MS"/>
                        </a:rPr>
                        <a:t>fox</a:t>
                      </a:r>
                      <a:endParaRPr sz="1850">
                        <a:latin typeface="Trebuchet MS"/>
                        <a:ea typeface="Trebuchet MS"/>
                        <a:cs typeface="Trebuchet MS"/>
                        <a:sym typeface="Trebuchet MS"/>
                      </a:endParaRPr>
                    </a:p>
                  </a:txBody>
                  <a:tcPr marT="0" marB="0" marR="68575" marL="68575" anchor="ctr">
                    <a:solidFill>
                      <a:srgbClr val="D9EAF7"/>
                    </a:solidFill>
                  </a:tcP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333</a:t>
                      </a:r>
                      <a:endParaRPr sz="1850">
                        <a:latin typeface="Trebuchet MS"/>
                        <a:ea typeface="Trebuchet MS"/>
                        <a:cs typeface="Trebuchet MS"/>
                        <a:sym typeface="Trebuchet MS"/>
                      </a:endParaRPr>
                    </a:p>
                  </a:txBody>
                  <a:tcPr marT="0" marB="0" marR="68575" marL="68575" anchor="ctr">
                    <a:solidFill>
                      <a:srgbClr val="D9EAF7"/>
                    </a:solidFill>
                  </a:tcP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333 % 5</a:t>
                      </a:r>
                      <a:endParaRPr sz="1850">
                        <a:latin typeface="Trebuchet MS"/>
                        <a:ea typeface="Trebuchet MS"/>
                        <a:cs typeface="Trebuchet MS"/>
                        <a:sym typeface="Trebuchet MS"/>
                      </a:endParaRPr>
                    </a:p>
                  </a:txBody>
                  <a:tcPr marT="0" marB="0" marR="68575" marL="68575" anchor="ctr">
                    <a:solidFill>
                      <a:srgbClr val="D9EAF7"/>
                    </a:solidFill>
                  </a:tcP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a:t>
                      </a:r>
                      <a:endParaRPr sz="1850">
                        <a:latin typeface="Trebuchet MS"/>
                        <a:ea typeface="Trebuchet MS"/>
                        <a:cs typeface="Trebuchet MS"/>
                        <a:sym typeface="Trebuchet MS"/>
                      </a:endParaRPr>
                    </a:p>
                  </a:txBody>
                  <a:tcPr marT="0" marB="0" marR="68575" marL="68575" anchor="ctr">
                    <a:solidFill>
                      <a:srgbClr val="D9EAF7"/>
                    </a:solidFill>
                  </a:tcPr>
                </a:tc>
              </a:tr>
              <a:tr h="405175">
                <a:tc>
                  <a:txBody>
                    <a:bodyPr/>
                    <a:lstStyle/>
                    <a:p>
                      <a:pPr indent="0" lvl="0" marL="0" rtl="0" algn="l">
                        <a:spcBef>
                          <a:spcPts val="0"/>
                        </a:spcBef>
                        <a:spcAft>
                          <a:spcPts val="0"/>
                        </a:spcAft>
                        <a:buNone/>
                      </a:pPr>
                      <a:r>
                        <a:rPr lang="en-US" sz="1750">
                          <a:latin typeface="Trebuchet MS"/>
                          <a:ea typeface="Trebuchet MS"/>
                          <a:cs typeface="Trebuchet MS"/>
                          <a:sym typeface="Trebuchet MS"/>
                        </a:rPr>
                        <a:t>ant</a:t>
                      </a:r>
                      <a:endParaRPr sz="1850">
                        <a:latin typeface="Trebuchet MS"/>
                        <a:ea typeface="Trebuchet MS"/>
                        <a:cs typeface="Trebuchet MS"/>
                        <a:sym typeface="Trebuchet MS"/>
                      </a:endParaRPr>
                    </a:p>
                  </a:txBody>
                  <a:tcPr marT="0" marB="0" marR="68575" marL="68575" anchor="ctr">
                    <a:solidFill>
                      <a:srgbClr val="D9EAF7"/>
                    </a:solidFill>
                  </a:tcP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323</a:t>
                      </a:r>
                      <a:endParaRPr sz="1850">
                        <a:latin typeface="Trebuchet MS"/>
                        <a:ea typeface="Trebuchet MS"/>
                        <a:cs typeface="Trebuchet MS"/>
                        <a:sym typeface="Trebuchet MS"/>
                      </a:endParaRPr>
                    </a:p>
                  </a:txBody>
                  <a:tcPr marT="0" marB="0" marR="68575" marL="68575" anchor="ctr">
                    <a:solidFill>
                      <a:srgbClr val="D9EAF7"/>
                    </a:solidFill>
                  </a:tcP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323 % 5</a:t>
                      </a:r>
                      <a:endParaRPr sz="1850">
                        <a:latin typeface="Trebuchet MS"/>
                        <a:ea typeface="Trebuchet MS"/>
                        <a:cs typeface="Trebuchet MS"/>
                        <a:sym typeface="Trebuchet MS"/>
                      </a:endParaRPr>
                    </a:p>
                  </a:txBody>
                  <a:tcPr marT="0" marB="0" marR="68575" marL="68575" anchor="ctr">
                    <a:solidFill>
                      <a:srgbClr val="D9EAF7"/>
                    </a:solidFill>
                  </a:tcP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a:t>
                      </a:r>
                      <a:endParaRPr sz="1850">
                        <a:latin typeface="Trebuchet MS"/>
                        <a:ea typeface="Trebuchet MS"/>
                        <a:cs typeface="Trebuchet MS"/>
                        <a:sym typeface="Trebuchet MS"/>
                      </a:endParaRPr>
                    </a:p>
                  </a:txBody>
                  <a:tcPr marT="0" marB="0" marR="68575" marL="68575" anchor="ctr">
                    <a:solidFill>
                      <a:srgbClr val="D9EAF7"/>
                    </a:solidFill>
                  </a:tcPr>
                </a:tc>
              </a:tr>
              <a:tr h="405175">
                <a:tc>
                  <a:txBody>
                    <a:bodyPr/>
                    <a:lstStyle/>
                    <a:p>
                      <a:pPr indent="0" lvl="0" marL="0" rtl="0" algn="l">
                        <a:spcBef>
                          <a:spcPts val="0"/>
                        </a:spcBef>
                        <a:spcAft>
                          <a:spcPts val="0"/>
                        </a:spcAft>
                        <a:buNone/>
                      </a:pPr>
                      <a:r>
                        <a:rPr lang="en-US" sz="1750">
                          <a:latin typeface="Trebuchet MS"/>
                          <a:ea typeface="Trebuchet MS"/>
                          <a:cs typeface="Trebuchet MS"/>
                          <a:sym typeface="Trebuchet MS"/>
                        </a:rPr>
                        <a:t>bee</a:t>
                      </a:r>
                      <a:endParaRPr sz="1850">
                        <a:latin typeface="Trebuchet MS"/>
                        <a:ea typeface="Trebuchet MS"/>
                        <a:cs typeface="Trebuchet MS"/>
                        <a:sym typeface="Trebuchet MS"/>
                      </a:endParaRPr>
                    </a:p>
                  </a:txBody>
                  <a:tcPr marT="0" marB="0" marR="68575" marL="68575" anchor="ct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300</a:t>
                      </a:r>
                      <a:endParaRPr sz="1850">
                        <a:latin typeface="Trebuchet MS"/>
                        <a:ea typeface="Trebuchet MS"/>
                        <a:cs typeface="Trebuchet MS"/>
                        <a:sym typeface="Trebuchet MS"/>
                      </a:endParaRPr>
                    </a:p>
                  </a:txBody>
                  <a:tcPr marT="0" marB="0" marR="68575" marL="68575" anchor="ct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300 % 5</a:t>
                      </a:r>
                      <a:endParaRPr sz="1850">
                        <a:latin typeface="Trebuchet MS"/>
                        <a:ea typeface="Trebuchet MS"/>
                        <a:cs typeface="Trebuchet MS"/>
                        <a:sym typeface="Trebuchet MS"/>
                      </a:endParaRPr>
                    </a:p>
                  </a:txBody>
                  <a:tcPr marT="0" marB="0" marR="68575" marL="68575" anchor="ctr"/>
                </a:tc>
                <a:tc>
                  <a:txBody>
                    <a:bodyPr/>
                    <a:lstStyle/>
                    <a:p>
                      <a:pPr indent="0" lvl="0" marL="0" rtl="0" algn="l">
                        <a:spcBef>
                          <a:spcPts val="0"/>
                        </a:spcBef>
                        <a:spcAft>
                          <a:spcPts val="0"/>
                        </a:spcAft>
                        <a:buNone/>
                      </a:pPr>
                      <a:r>
                        <a:rPr lang="en-US" sz="1750">
                          <a:latin typeface="Trebuchet MS"/>
                          <a:ea typeface="Trebuchet MS"/>
                          <a:cs typeface="Trebuchet MS"/>
                          <a:sym typeface="Trebuchet MS"/>
                        </a:rPr>
                        <a:t>0</a:t>
                      </a:r>
                      <a:endParaRPr sz="1850">
                        <a:latin typeface="Trebuchet MS"/>
                        <a:ea typeface="Trebuchet MS"/>
                        <a:cs typeface="Trebuchet MS"/>
                        <a:sym typeface="Trebuchet MS"/>
                      </a:endParaRPr>
                    </a:p>
                  </a:txBody>
                  <a:tcPr marT="0" marB="0" marR="68575" marL="68575" anchor="ctr"/>
                </a:tc>
              </a:tr>
            </a:tbl>
          </a:graphicData>
        </a:graphic>
      </p:graphicFrame>
      <p:sp>
        <p:nvSpPr>
          <p:cNvPr id="748" name="Google Shape;748;g3f557c7bba2_0_274"/>
          <p:cNvSpPr txBox="1"/>
          <p:nvPr/>
        </p:nvSpPr>
        <p:spPr>
          <a:xfrm>
            <a:off x="7229738" y="1579125"/>
            <a:ext cx="4611900" cy="868800"/>
          </a:xfrm>
          <a:prstGeom prst="rect">
            <a:avLst/>
          </a:prstGeom>
          <a:noFill/>
          <a:ln>
            <a:noFill/>
          </a:ln>
        </p:spPr>
        <p:txBody>
          <a:bodyPr anchorCtr="0" anchor="ctr" bIns="91425" lIns="91425" spcFirstLastPara="1" rIns="91425" wrap="square" tIns="91425">
            <a:noAutofit/>
          </a:bodyPr>
          <a:lstStyle/>
          <a:p>
            <a:pPr indent="0" lvl="0" marL="0" rtl="0" algn="l">
              <a:lnSpc>
                <a:spcPct val="107916"/>
              </a:lnSpc>
              <a:spcBef>
                <a:spcPts val="0"/>
              </a:spcBef>
              <a:spcAft>
                <a:spcPts val="0"/>
              </a:spcAft>
              <a:buNone/>
            </a:pPr>
            <a:r>
              <a:rPr lang="en-US" sz="1650">
                <a:latin typeface="Trebuchet MS"/>
                <a:ea typeface="Trebuchet MS"/>
                <a:cs typeface="Trebuchet MS"/>
                <a:sym typeface="Trebuchet MS"/>
              </a:rPr>
              <a:t>Table size = 5; </a:t>
            </a:r>
            <a:endParaRPr sz="1650">
              <a:latin typeface="Trebuchet MS"/>
              <a:ea typeface="Trebuchet MS"/>
              <a:cs typeface="Trebuchet MS"/>
              <a:sym typeface="Trebuchet MS"/>
            </a:endParaRPr>
          </a:p>
          <a:p>
            <a:pPr indent="0" lvl="0" marL="0" rtl="0" algn="l">
              <a:lnSpc>
                <a:spcPct val="107916"/>
              </a:lnSpc>
              <a:spcBef>
                <a:spcPts val="400"/>
              </a:spcBef>
              <a:spcAft>
                <a:spcPts val="400"/>
              </a:spcAft>
              <a:buNone/>
            </a:pPr>
            <a:r>
              <a:rPr lang="en-US" sz="1650">
                <a:latin typeface="Trebuchet MS"/>
                <a:ea typeface="Trebuchet MS"/>
                <a:cs typeface="Trebuchet MS"/>
                <a:sym typeface="Trebuchet MS"/>
              </a:rPr>
              <a:t>hash index = sum of ASCII character codes % 5.</a:t>
            </a:r>
            <a:endParaRPr sz="1650">
              <a:latin typeface="Trebuchet MS"/>
              <a:ea typeface="Trebuchet MS"/>
              <a:cs typeface="Trebuchet MS"/>
              <a:sym typeface="Trebuchet MS"/>
            </a:endParaRPr>
          </a:p>
        </p:txBody>
      </p:sp>
      <p:pic>
        <p:nvPicPr>
          <p:cNvPr id="749" name="Google Shape;749;g3f557c7bba2_0_274" title="DH_singly)linear.png"/>
          <p:cNvPicPr preferRelativeResize="0"/>
          <p:nvPr/>
        </p:nvPicPr>
        <p:blipFill>
          <a:blip r:embed="rId3">
            <a:alphaModFix/>
          </a:blip>
          <a:stretch>
            <a:fillRect/>
          </a:stretch>
        </p:blipFill>
        <p:spPr>
          <a:xfrm>
            <a:off x="124075" y="3223975"/>
            <a:ext cx="6799949" cy="20526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3" name="Shape 753"/>
        <p:cNvGrpSpPr/>
        <p:nvPr/>
      </p:nvGrpSpPr>
      <p:grpSpPr>
        <a:xfrm>
          <a:off x="0" y="0"/>
          <a:ext cx="0" cy="0"/>
          <a:chOff x="0" y="0"/>
          <a:chExt cx="0" cy="0"/>
        </a:xfrm>
      </p:grpSpPr>
      <p:sp>
        <p:nvSpPr>
          <p:cNvPr id="754" name="Google Shape;754;g3f557c7bba2_0_123"/>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55" name="Google Shape;755;g3f557c7bba2_0_123"/>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56" name="Google Shape;756;g3f557c7bba2_0_123"/>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Java Code: Forward Chaining Using Dummy-Headed Singly Linked List</a:t>
            </a:r>
            <a:endParaRPr/>
          </a:p>
        </p:txBody>
      </p:sp>
      <p:sp>
        <p:nvSpPr>
          <p:cNvPr id="757" name="Google Shape;757;g3f557c7bba2_0_123"/>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58" name="Google Shape;758;g3f557c7bba2_0_123"/>
          <p:cNvSpPr txBox="1"/>
          <p:nvPr/>
        </p:nvSpPr>
        <p:spPr>
          <a:xfrm>
            <a:off x="313000" y="1182353"/>
            <a:ext cx="10789800" cy="47721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lang="en-US" sz="1700">
                <a:solidFill>
                  <a:schemeClr val="dk1"/>
                </a:solidFill>
                <a:highlight>
                  <a:srgbClr val="FFFFFF"/>
                </a:highlight>
                <a:latin typeface="Trebuchet MS"/>
                <a:ea typeface="Trebuchet MS"/>
                <a:cs typeface="Trebuchet MS"/>
                <a:sym typeface="Trebuchet MS"/>
              </a:rPr>
              <a:t>   public void insert(String key, int value) {</a:t>
            </a:r>
            <a:endParaRPr sz="17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rPr lang="en-US" sz="1700">
                <a:solidFill>
                  <a:schemeClr val="dk1"/>
                </a:solidFill>
                <a:highlight>
                  <a:srgbClr val="FFFFFF"/>
                </a:highlight>
                <a:latin typeface="Trebuchet MS"/>
                <a:ea typeface="Trebuchet MS"/>
                <a:cs typeface="Trebuchet MS"/>
                <a:sym typeface="Trebuchet MS"/>
              </a:rPr>
              <a:t>        int index = hashFunction(key);</a:t>
            </a:r>
            <a:endParaRPr sz="17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t/>
            </a:r>
            <a:endParaRPr sz="17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rPr lang="en-US" sz="1700">
                <a:solidFill>
                  <a:schemeClr val="dk1"/>
                </a:solidFill>
                <a:highlight>
                  <a:srgbClr val="FFFFFF"/>
                </a:highlight>
                <a:latin typeface="Trebuchet MS"/>
                <a:ea typeface="Trebuchet MS"/>
                <a:cs typeface="Trebuchet MS"/>
                <a:sym typeface="Trebuchet MS"/>
              </a:rPr>
              <a:t>        if (table[index] == null) {</a:t>
            </a:r>
            <a:endParaRPr sz="17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rPr lang="en-US" sz="1700">
                <a:solidFill>
                  <a:schemeClr val="dk1"/>
                </a:solidFill>
                <a:highlight>
                  <a:srgbClr val="FFFFFF"/>
                </a:highlight>
                <a:latin typeface="Trebuchet MS"/>
                <a:ea typeface="Trebuchet MS"/>
                <a:cs typeface="Trebuchet MS"/>
                <a:sym typeface="Trebuchet MS"/>
              </a:rPr>
              <a:t>            table[index] = new Node(null, -1); // Dummy head node, key is null, value is -1</a:t>
            </a:r>
            <a:endParaRPr sz="17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rPr lang="en-US" sz="1700">
                <a:solidFill>
                  <a:schemeClr val="dk1"/>
                </a:solidFill>
                <a:highlight>
                  <a:srgbClr val="FFFFFF"/>
                </a:highlight>
                <a:latin typeface="Trebuchet MS"/>
                <a:ea typeface="Trebuchet MS"/>
                <a:cs typeface="Trebuchet MS"/>
                <a:sym typeface="Trebuchet MS"/>
              </a:rPr>
              <a:t>        }</a:t>
            </a:r>
            <a:endParaRPr sz="17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t/>
            </a:r>
            <a:endParaRPr sz="17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rPr lang="en-US" sz="1700">
                <a:solidFill>
                  <a:schemeClr val="dk1"/>
                </a:solidFill>
                <a:highlight>
                  <a:srgbClr val="FFFFFF"/>
                </a:highlight>
                <a:latin typeface="Trebuchet MS"/>
                <a:ea typeface="Trebuchet MS"/>
                <a:cs typeface="Trebuchet MS"/>
                <a:sym typeface="Trebuchet MS"/>
              </a:rPr>
              <a:t>        // Prepend after dummy head</a:t>
            </a:r>
            <a:endParaRPr sz="17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rPr lang="en-US" sz="1700">
                <a:solidFill>
                  <a:schemeClr val="dk1"/>
                </a:solidFill>
                <a:highlight>
                  <a:srgbClr val="FFFFFF"/>
                </a:highlight>
                <a:latin typeface="Trebuchet MS"/>
                <a:ea typeface="Trebuchet MS"/>
                <a:cs typeface="Trebuchet MS"/>
                <a:sym typeface="Trebuchet MS"/>
              </a:rPr>
              <a:t>        Node newNode = new Node(key, value);</a:t>
            </a:r>
            <a:endParaRPr sz="17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rPr lang="en-US" sz="1700">
                <a:solidFill>
                  <a:schemeClr val="dk1"/>
                </a:solidFill>
                <a:highlight>
                  <a:srgbClr val="FFFFFF"/>
                </a:highlight>
                <a:latin typeface="Trebuchet MS"/>
                <a:ea typeface="Trebuchet MS"/>
                <a:cs typeface="Trebuchet MS"/>
                <a:sym typeface="Trebuchet MS"/>
              </a:rPr>
              <a:t>        Node predecessor = table[index]; // Predecessor is dummy head</a:t>
            </a:r>
            <a:endParaRPr sz="17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rPr lang="en-US" sz="1700">
                <a:solidFill>
                  <a:schemeClr val="dk1"/>
                </a:solidFill>
                <a:highlight>
                  <a:srgbClr val="FFFFFF"/>
                </a:highlight>
                <a:latin typeface="Trebuchet MS"/>
                <a:ea typeface="Trebuchet MS"/>
                <a:cs typeface="Trebuchet MS"/>
                <a:sym typeface="Trebuchet MS"/>
              </a:rPr>
              <a:t>        Node successor = predecessor.next;</a:t>
            </a:r>
            <a:endParaRPr sz="17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t/>
            </a:r>
            <a:endParaRPr sz="17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rPr lang="en-US" sz="1700">
                <a:solidFill>
                  <a:schemeClr val="dk1"/>
                </a:solidFill>
                <a:highlight>
                  <a:srgbClr val="FFFFFF"/>
                </a:highlight>
                <a:latin typeface="Trebuchet MS"/>
                <a:ea typeface="Trebuchet MS"/>
                <a:cs typeface="Trebuchet MS"/>
                <a:sym typeface="Trebuchet MS"/>
              </a:rPr>
              <a:t>        newNode.next = successor; // Link the successor</a:t>
            </a:r>
            <a:endParaRPr sz="17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rPr lang="en-US" sz="1700">
                <a:solidFill>
                  <a:schemeClr val="dk1"/>
                </a:solidFill>
                <a:highlight>
                  <a:srgbClr val="FFFFFF"/>
                </a:highlight>
                <a:latin typeface="Trebuchet MS"/>
                <a:ea typeface="Trebuchet MS"/>
                <a:cs typeface="Trebuchet MS"/>
                <a:sym typeface="Trebuchet MS"/>
              </a:rPr>
              <a:t>        predecessor.next = newNode; // Link the predecessor</a:t>
            </a:r>
            <a:endParaRPr sz="17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Clr>
                <a:schemeClr val="dk1"/>
              </a:buClr>
              <a:buSzPts val="1100"/>
              <a:buFont typeface="Arial"/>
              <a:buNone/>
            </a:pPr>
            <a:r>
              <a:rPr lang="en-US" sz="1700">
                <a:solidFill>
                  <a:schemeClr val="dk1"/>
                </a:solidFill>
                <a:highlight>
                  <a:srgbClr val="FFFFFF"/>
                </a:highlight>
                <a:latin typeface="Trebuchet MS"/>
                <a:ea typeface="Trebuchet MS"/>
                <a:cs typeface="Trebuchet MS"/>
                <a:sym typeface="Trebuchet MS"/>
              </a:rPr>
              <a:t>    }</a:t>
            </a:r>
            <a:endParaRPr sz="17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t/>
            </a:r>
            <a:endParaRPr sz="1600">
              <a:solidFill>
                <a:srgbClr val="1E293B"/>
              </a:solidFill>
              <a:latin typeface="Trebuchet MS"/>
              <a:ea typeface="Trebuchet MS"/>
              <a:cs typeface="Trebuchet MS"/>
              <a:sym typeface="Trebuchet MS"/>
            </a:endParaRPr>
          </a:p>
        </p:txBody>
      </p:sp>
      <p:sp>
        <p:nvSpPr>
          <p:cNvPr id="759" name="Google Shape;759;g3f557c7bba2_0_123"/>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760" name="Google Shape;760;g3f557c7bba2_0_123"/>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25</a:t>
            </a:r>
            <a:endParaRPr/>
          </a:p>
        </p:txBody>
      </p:sp>
      <p:pic>
        <p:nvPicPr>
          <p:cNvPr id="761" name="Google Shape;761;g3f557c7bba2_0_123" title="DH_singly)linear.png"/>
          <p:cNvPicPr preferRelativeResize="0"/>
          <p:nvPr/>
        </p:nvPicPr>
        <p:blipFill>
          <a:blip r:embed="rId3">
            <a:alphaModFix/>
          </a:blip>
          <a:stretch>
            <a:fillRect/>
          </a:stretch>
        </p:blipFill>
        <p:spPr>
          <a:xfrm>
            <a:off x="6286800" y="4137825"/>
            <a:ext cx="5777275" cy="17439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5" name="Shape 765"/>
        <p:cNvGrpSpPr/>
        <p:nvPr/>
      </p:nvGrpSpPr>
      <p:grpSpPr>
        <a:xfrm>
          <a:off x="0" y="0"/>
          <a:ext cx="0" cy="0"/>
          <a:chOff x="0" y="0"/>
          <a:chExt cx="0" cy="0"/>
        </a:xfrm>
      </p:grpSpPr>
      <p:sp>
        <p:nvSpPr>
          <p:cNvPr id="766" name="Google Shape;766;g3f557c7bba2_0_137"/>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67" name="Google Shape;767;g3f557c7bba2_0_137"/>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68" name="Google Shape;768;g3f557c7bba2_0_137"/>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Java Code: Forward Chaining Using Dummy-Headed Singly Linked List</a:t>
            </a:r>
            <a:endParaRPr/>
          </a:p>
        </p:txBody>
      </p:sp>
      <p:sp>
        <p:nvSpPr>
          <p:cNvPr id="769" name="Google Shape;769;g3f557c7bba2_0_137"/>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70" name="Google Shape;770;g3f557c7bba2_0_137"/>
          <p:cNvSpPr txBox="1"/>
          <p:nvPr/>
        </p:nvSpPr>
        <p:spPr>
          <a:xfrm>
            <a:off x="313000" y="1182353"/>
            <a:ext cx="10789800" cy="4772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550">
                <a:solidFill>
                  <a:schemeClr val="dk1"/>
                </a:solidFill>
                <a:highlight>
                  <a:srgbClr val="FFFFFF"/>
                </a:highlight>
                <a:latin typeface="Trebuchet MS"/>
                <a:ea typeface="Trebuchet MS"/>
                <a:cs typeface="Trebuchet MS"/>
                <a:sym typeface="Trebuchet MS"/>
              </a:rPr>
              <a:t>   public boolean search(String key) {</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50">
                <a:solidFill>
                  <a:schemeClr val="dk1"/>
                </a:solidFill>
                <a:highlight>
                  <a:srgbClr val="FFFFFF"/>
                </a:highlight>
                <a:latin typeface="Trebuchet MS"/>
                <a:ea typeface="Trebuchet MS"/>
                <a:cs typeface="Trebuchet MS"/>
                <a:sym typeface="Trebuchet MS"/>
              </a:rPr>
              <a:t>        int index = hashFunction(key);</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50">
                <a:solidFill>
                  <a:schemeClr val="dk1"/>
                </a:solidFill>
                <a:highlight>
                  <a:srgbClr val="FFFFFF"/>
                </a:highlight>
                <a:latin typeface="Trebuchet MS"/>
                <a:ea typeface="Trebuchet MS"/>
                <a:cs typeface="Trebuchet MS"/>
                <a:sym typeface="Trebuchet MS"/>
              </a:rPr>
              <a:t>        if (table[index] == null) {//no chain to search</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50">
                <a:solidFill>
                  <a:schemeClr val="dk1"/>
                </a:solidFill>
                <a:highlight>
                  <a:srgbClr val="FFFFFF"/>
                </a:highlight>
                <a:latin typeface="Trebuchet MS"/>
                <a:ea typeface="Trebuchet MS"/>
                <a:cs typeface="Trebuchet MS"/>
                <a:sym typeface="Trebuchet MS"/>
              </a:rPr>
              <a:t>            return false;</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50">
                <a:solidFill>
                  <a:schemeClr val="dk1"/>
                </a:solidFill>
                <a:highlight>
                  <a:srgbClr val="FFFFFF"/>
                </a:highlight>
                <a:latin typeface="Trebuchet MS"/>
                <a:ea typeface="Trebuchet MS"/>
                <a:cs typeface="Trebuchet MS"/>
                <a:sym typeface="Trebuchet MS"/>
              </a:rPr>
              <a:t>        }</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50">
                <a:solidFill>
                  <a:schemeClr val="dk1"/>
                </a:solidFill>
                <a:highlight>
                  <a:srgbClr val="FFFFFF"/>
                </a:highlight>
                <a:latin typeface="Trebuchet MS"/>
                <a:ea typeface="Trebuchet MS"/>
                <a:cs typeface="Trebuchet MS"/>
                <a:sym typeface="Trebuchet MS"/>
              </a:rPr>
              <a:t>        Node current = table[index].next; // Starting after dummy head</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50">
                <a:solidFill>
                  <a:schemeClr val="dk1"/>
                </a:solidFill>
                <a:highlight>
                  <a:srgbClr val="FFFFFF"/>
                </a:highlight>
                <a:latin typeface="Trebuchet MS"/>
                <a:ea typeface="Trebuchet MS"/>
                <a:cs typeface="Trebuchet MS"/>
                <a:sym typeface="Trebuchet MS"/>
              </a:rPr>
              <a:t>    </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50">
                <a:solidFill>
                  <a:schemeClr val="dk1"/>
                </a:solidFill>
                <a:highlight>
                  <a:srgbClr val="FFFFFF"/>
                </a:highlight>
                <a:latin typeface="Trebuchet MS"/>
                <a:ea typeface="Trebuchet MS"/>
                <a:cs typeface="Trebuchet MS"/>
                <a:sym typeface="Trebuchet MS"/>
              </a:rPr>
              <a:t>        while (current != null) { // Going till tail</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50">
                <a:solidFill>
                  <a:schemeClr val="dk1"/>
                </a:solidFill>
                <a:highlight>
                  <a:srgbClr val="FFFFFF"/>
                </a:highlight>
                <a:latin typeface="Trebuchet MS"/>
                <a:ea typeface="Trebuchet MS"/>
                <a:cs typeface="Trebuchet MS"/>
                <a:sym typeface="Trebuchet MS"/>
              </a:rPr>
              <a:t>            if (current.key == key) {  // If key matches, return true</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50">
                <a:solidFill>
                  <a:schemeClr val="dk1"/>
                </a:solidFill>
                <a:highlight>
                  <a:srgbClr val="FFFFFF"/>
                </a:highlight>
                <a:latin typeface="Trebuchet MS"/>
                <a:ea typeface="Trebuchet MS"/>
                <a:cs typeface="Trebuchet MS"/>
                <a:sym typeface="Trebuchet MS"/>
              </a:rPr>
              <a:t>                return true;</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50">
                <a:solidFill>
                  <a:schemeClr val="dk1"/>
                </a:solidFill>
                <a:highlight>
                  <a:srgbClr val="FFFFFF"/>
                </a:highlight>
                <a:latin typeface="Trebuchet MS"/>
                <a:ea typeface="Trebuchet MS"/>
                <a:cs typeface="Trebuchet MS"/>
                <a:sym typeface="Trebuchet MS"/>
              </a:rPr>
              <a:t>            }</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50">
                <a:solidFill>
                  <a:schemeClr val="dk1"/>
                </a:solidFill>
                <a:highlight>
                  <a:srgbClr val="FFFFFF"/>
                </a:highlight>
                <a:latin typeface="Trebuchet MS"/>
                <a:ea typeface="Trebuchet MS"/>
                <a:cs typeface="Trebuchet MS"/>
                <a:sym typeface="Trebuchet MS"/>
              </a:rPr>
              <a:t>            current = current.next;  // Move to the next node</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50">
                <a:solidFill>
                  <a:schemeClr val="dk1"/>
                </a:solidFill>
                <a:highlight>
                  <a:srgbClr val="FFFFFF"/>
                </a:highlight>
                <a:latin typeface="Trebuchet MS"/>
                <a:ea typeface="Trebuchet MS"/>
                <a:cs typeface="Trebuchet MS"/>
                <a:sym typeface="Trebuchet MS"/>
              </a:rPr>
              <a:t>        }</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50">
                <a:solidFill>
                  <a:schemeClr val="dk1"/>
                </a:solidFill>
                <a:highlight>
                  <a:srgbClr val="FFFFFF"/>
                </a:highlight>
                <a:latin typeface="Trebuchet MS"/>
                <a:ea typeface="Trebuchet MS"/>
                <a:cs typeface="Trebuchet MS"/>
                <a:sym typeface="Trebuchet MS"/>
              </a:rPr>
              <a:t>    </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50">
                <a:solidFill>
                  <a:schemeClr val="dk1"/>
                </a:solidFill>
                <a:highlight>
                  <a:srgbClr val="FFFFFF"/>
                </a:highlight>
                <a:latin typeface="Trebuchet MS"/>
                <a:ea typeface="Trebuchet MS"/>
                <a:cs typeface="Trebuchet MS"/>
                <a:sym typeface="Trebuchet MS"/>
              </a:rPr>
              <a:t>        return false;  // If the key is not found</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50">
                <a:solidFill>
                  <a:schemeClr val="dk1"/>
                </a:solidFill>
                <a:highlight>
                  <a:srgbClr val="FFFFFF"/>
                </a:highlight>
                <a:latin typeface="Trebuchet MS"/>
                <a:ea typeface="Trebuchet MS"/>
                <a:cs typeface="Trebuchet MS"/>
                <a:sym typeface="Trebuchet MS"/>
              </a:rPr>
              <a:t>    }</a:t>
            </a:r>
            <a:endParaRPr sz="155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t/>
            </a:r>
            <a:endParaRPr sz="21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t/>
            </a:r>
            <a:endParaRPr sz="2100">
              <a:solidFill>
                <a:srgbClr val="1E293B"/>
              </a:solidFill>
              <a:latin typeface="Trebuchet MS"/>
              <a:ea typeface="Trebuchet MS"/>
              <a:cs typeface="Trebuchet MS"/>
              <a:sym typeface="Trebuchet MS"/>
            </a:endParaRPr>
          </a:p>
        </p:txBody>
      </p:sp>
      <p:sp>
        <p:nvSpPr>
          <p:cNvPr id="771" name="Google Shape;771;g3f557c7bba2_0_137"/>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772" name="Google Shape;772;g3f557c7bba2_0_137"/>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25</a:t>
            </a:r>
            <a:endParaRPr/>
          </a:p>
        </p:txBody>
      </p:sp>
      <p:pic>
        <p:nvPicPr>
          <p:cNvPr id="773" name="Google Shape;773;g3f557c7bba2_0_137" title="DH_singly)linear.png"/>
          <p:cNvPicPr preferRelativeResize="0"/>
          <p:nvPr/>
        </p:nvPicPr>
        <p:blipFill>
          <a:blip r:embed="rId3">
            <a:alphaModFix/>
          </a:blip>
          <a:stretch>
            <a:fillRect/>
          </a:stretch>
        </p:blipFill>
        <p:spPr>
          <a:xfrm>
            <a:off x="5312400" y="1024150"/>
            <a:ext cx="6729275" cy="20312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7" name="Shape 777"/>
        <p:cNvGrpSpPr/>
        <p:nvPr/>
      </p:nvGrpSpPr>
      <p:grpSpPr>
        <a:xfrm>
          <a:off x="0" y="0"/>
          <a:ext cx="0" cy="0"/>
          <a:chOff x="0" y="0"/>
          <a:chExt cx="0" cy="0"/>
        </a:xfrm>
      </p:grpSpPr>
      <p:sp>
        <p:nvSpPr>
          <p:cNvPr id="778" name="Google Shape;778;g3f557c7bba2_0_149"/>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79" name="Google Shape;779;g3f557c7bba2_0_149"/>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80" name="Google Shape;780;g3f557c7bba2_0_149"/>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Java Code: Forward Chaining Using Dummy-Headed Singly Linked List</a:t>
            </a:r>
            <a:endParaRPr/>
          </a:p>
        </p:txBody>
      </p:sp>
      <p:sp>
        <p:nvSpPr>
          <p:cNvPr id="781" name="Google Shape;781;g3f557c7bba2_0_149"/>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82" name="Google Shape;782;g3f557c7bba2_0_149"/>
          <p:cNvSpPr txBox="1"/>
          <p:nvPr/>
        </p:nvSpPr>
        <p:spPr>
          <a:xfrm>
            <a:off x="261825" y="1043003"/>
            <a:ext cx="10789800" cy="4772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500">
                <a:solidFill>
                  <a:schemeClr val="dk1"/>
                </a:solidFill>
                <a:highlight>
                  <a:srgbClr val="FFFFFF"/>
                </a:highlight>
                <a:latin typeface="Trebuchet MS"/>
                <a:ea typeface="Trebuchet MS"/>
                <a:cs typeface="Trebuchet MS"/>
                <a:sym typeface="Trebuchet MS"/>
              </a:rPr>
              <a:t>public boolean update(String key, int newValue) {</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00">
                <a:solidFill>
                  <a:schemeClr val="dk1"/>
                </a:solidFill>
                <a:highlight>
                  <a:srgbClr val="FFFFFF"/>
                </a:highlight>
                <a:latin typeface="Trebuchet MS"/>
                <a:ea typeface="Trebuchet MS"/>
                <a:cs typeface="Trebuchet MS"/>
                <a:sym typeface="Trebuchet MS"/>
              </a:rPr>
              <a:t>    int index = hashFunction(key);</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00">
                <a:solidFill>
                  <a:schemeClr val="dk1"/>
                </a:solidFill>
                <a:highlight>
                  <a:srgbClr val="FFFFFF"/>
                </a:highlight>
                <a:latin typeface="Trebuchet MS"/>
                <a:ea typeface="Trebuchet MS"/>
                <a:cs typeface="Trebuchet MS"/>
                <a:sym typeface="Trebuchet MS"/>
              </a:rPr>
              <a:t>    if (table[index] == null) { // No chain to search</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00">
                <a:solidFill>
                  <a:schemeClr val="dk1"/>
                </a:solidFill>
                <a:highlight>
                  <a:srgbClr val="FFFFFF"/>
                </a:highlight>
                <a:latin typeface="Trebuchet MS"/>
                <a:ea typeface="Trebuchet MS"/>
                <a:cs typeface="Trebuchet MS"/>
                <a:sym typeface="Trebuchet MS"/>
              </a:rPr>
              <a:t>        return false;</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00">
                <a:solidFill>
                  <a:schemeClr val="dk1"/>
                </a:solidFill>
                <a:highlight>
                  <a:srgbClr val="FFFFFF"/>
                </a:highlight>
                <a:latin typeface="Trebuchet MS"/>
                <a:ea typeface="Trebuchet MS"/>
                <a:cs typeface="Trebuchet MS"/>
                <a:sym typeface="Trebuchet MS"/>
              </a:rPr>
              <a:t>    }</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00">
                <a:solidFill>
                  <a:schemeClr val="dk1"/>
                </a:solidFill>
                <a:highlight>
                  <a:srgbClr val="FFFFFF"/>
                </a:highlight>
                <a:latin typeface="Trebuchet MS"/>
                <a:ea typeface="Trebuchet MS"/>
                <a:cs typeface="Trebuchet MS"/>
                <a:sym typeface="Trebuchet MS"/>
              </a:rPr>
              <a:t>    Node current = table[index].next; // Start after the dummy head</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00">
                <a:solidFill>
                  <a:schemeClr val="dk1"/>
                </a:solidFill>
                <a:highlight>
                  <a:srgbClr val="FFFFFF"/>
                </a:highlight>
                <a:latin typeface="Trebuchet MS"/>
                <a:ea typeface="Trebuchet MS"/>
                <a:cs typeface="Trebuchet MS"/>
                <a:sym typeface="Trebuchet MS"/>
              </a:rPr>
              <a:t>    while (current != null) { // Traverse until the tail</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00">
                <a:solidFill>
                  <a:schemeClr val="dk1"/>
                </a:solidFill>
                <a:highlight>
                  <a:srgbClr val="FFFFFF"/>
                </a:highlight>
                <a:latin typeface="Trebuchet MS"/>
                <a:ea typeface="Trebuchet MS"/>
                <a:cs typeface="Trebuchet MS"/>
                <a:sym typeface="Trebuchet MS"/>
              </a:rPr>
              <a:t>        if (current.key.equals(key)) { // If the key matches</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00">
                <a:solidFill>
                  <a:schemeClr val="dk1"/>
                </a:solidFill>
                <a:highlight>
                  <a:srgbClr val="FFFFFF"/>
                </a:highlight>
                <a:latin typeface="Trebuchet MS"/>
                <a:ea typeface="Trebuchet MS"/>
                <a:cs typeface="Trebuchet MS"/>
                <a:sym typeface="Trebuchet MS"/>
              </a:rPr>
              <a:t>            current.value = newValue;  // Update the value</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00">
                <a:solidFill>
                  <a:schemeClr val="dk1"/>
                </a:solidFill>
                <a:highlight>
                  <a:srgbClr val="FFFFFF"/>
                </a:highlight>
                <a:latin typeface="Trebuchet MS"/>
                <a:ea typeface="Trebuchet MS"/>
                <a:cs typeface="Trebuchet MS"/>
                <a:sym typeface="Trebuchet MS"/>
              </a:rPr>
              <a:t>            return true;</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00">
                <a:solidFill>
                  <a:schemeClr val="dk1"/>
                </a:solidFill>
                <a:highlight>
                  <a:srgbClr val="FFFFFF"/>
                </a:highlight>
                <a:latin typeface="Trebuchet MS"/>
                <a:ea typeface="Trebuchet MS"/>
                <a:cs typeface="Trebuchet MS"/>
                <a:sym typeface="Trebuchet MS"/>
              </a:rPr>
              <a:t>        }</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00">
                <a:solidFill>
                  <a:schemeClr val="dk1"/>
                </a:solidFill>
                <a:highlight>
                  <a:srgbClr val="FFFFFF"/>
                </a:highlight>
                <a:latin typeface="Trebuchet MS"/>
                <a:ea typeface="Trebuchet MS"/>
                <a:cs typeface="Trebuchet MS"/>
                <a:sym typeface="Trebuchet MS"/>
              </a:rPr>
              <a:t>        current = current.next; // Move to the next node</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00">
                <a:solidFill>
                  <a:schemeClr val="dk1"/>
                </a:solidFill>
                <a:highlight>
                  <a:srgbClr val="FFFFFF"/>
                </a:highlight>
                <a:latin typeface="Trebuchet MS"/>
                <a:ea typeface="Trebuchet MS"/>
                <a:cs typeface="Trebuchet MS"/>
                <a:sym typeface="Trebuchet MS"/>
              </a:rPr>
              <a:t>    }</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00">
                <a:solidFill>
                  <a:schemeClr val="dk1"/>
                </a:solidFill>
                <a:highlight>
                  <a:srgbClr val="FFFFFF"/>
                </a:highlight>
                <a:latin typeface="Trebuchet MS"/>
                <a:ea typeface="Trebuchet MS"/>
                <a:cs typeface="Trebuchet MS"/>
                <a:sym typeface="Trebuchet MS"/>
              </a:rPr>
              <a:t>    return false; // Key was not found</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sz="1500">
                <a:solidFill>
                  <a:schemeClr val="dk1"/>
                </a:solidFill>
                <a:highlight>
                  <a:srgbClr val="FFFFFF"/>
                </a:highlight>
                <a:latin typeface="Trebuchet MS"/>
                <a:ea typeface="Trebuchet MS"/>
                <a:cs typeface="Trebuchet MS"/>
                <a:sym typeface="Trebuchet MS"/>
              </a:rPr>
              <a:t>}</a:t>
            </a:r>
            <a:endParaRPr sz="1500">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t/>
            </a:r>
            <a:endParaRPr sz="1500">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t/>
            </a:r>
            <a:endParaRPr sz="1500">
              <a:solidFill>
                <a:srgbClr val="1E293B"/>
              </a:solidFill>
              <a:latin typeface="Trebuchet MS"/>
              <a:ea typeface="Trebuchet MS"/>
              <a:cs typeface="Trebuchet MS"/>
              <a:sym typeface="Trebuchet MS"/>
            </a:endParaRPr>
          </a:p>
        </p:txBody>
      </p:sp>
      <p:sp>
        <p:nvSpPr>
          <p:cNvPr id="783" name="Google Shape;783;g3f557c7bba2_0_149"/>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784" name="Google Shape;784;g3f557c7bba2_0_149"/>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25</a:t>
            </a:r>
            <a:endParaRPr/>
          </a:p>
        </p:txBody>
      </p:sp>
      <p:pic>
        <p:nvPicPr>
          <p:cNvPr id="785" name="Google Shape;785;g3f557c7bba2_0_149" title="DH_singly)linear.png"/>
          <p:cNvPicPr preferRelativeResize="0"/>
          <p:nvPr/>
        </p:nvPicPr>
        <p:blipFill>
          <a:blip r:embed="rId3">
            <a:alphaModFix/>
          </a:blip>
          <a:stretch>
            <a:fillRect/>
          </a:stretch>
        </p:blipFill>
        <p:spPr>
          <a:xfrm>
            <a:off x="5299575" y="809050"/>
            <a:ext cx="6716475" cy="20274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9" name="Shape 789"/>
        <p:cNvGrpSpPr/>
        <p:nvPr/>
      </p:nvGrpSpPr>
      <p:grpSpPr>
        <a:xfrm>
          <a:off x="0" y="0"/>
          <a:ext cx="0" cy="0"/>
          <a:chOff x="0" y="0"/>
          <a:chExt cx="0" cy="0"/>
        </a:xfrm>
      </p:grpSpPr>
      <p:sp>
        <p:nvSpPr>
          <p:cNvPr id="790" name="Google Shape;790;g3f557c7bba2_0_174"/>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91" name="Google Shape;791;g3f557c7bba2_0_174"/>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92" name="Google Shape;792;g3f557c7bba2_0_174"/>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17365D"/>
                </a:solidFill>
                <a:latin typeface="Calibri"/>
                <a:ea typeface="Calibri"/>
                <a:cs typeface="Calibri"/>
                <a:sym typeface="Calibri"/>
              </a:rPr>
              <a:t>Java Code: Forward Chaining Using Dummy-Headed Singly Linked List</a:t>
            </a:r>
            <a:endParaRPr/>
          </a:p>
        </p:txBody>
      </p:sp>
      <p:sp>
        <p:nvSpPr>
          <p:cNvPr id="793" name="Google Shape;793;g3f557c7bba2_0_174"/>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794" name="Google Shape;794;g3f557c7bba2_0_174"/>
          <p:cNvSpPr txBox="1"/>
          <p:nvPr/>
        </p:nvSpPr>
        <p:spPr>
          <a:xfrm>
            <a:off x="249025" y="905853"/>
            <a:ext cx="10789800" cy="4772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public void remove(String remKey) {</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int index = hashFunction(remKey);</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if (table[index] == null) {</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System.out.println("Key '" + remKey + "' not found.");</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return;</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Node predecessor = table[index]; // Predecessor (head node), i = 0</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Node remNode = predecessor.next; // Node to be removed (remNode), j = i+1</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while (remNode != null) {</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if (remNode.key.equals(remKey)) { // Found the node to remove</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Node successor = remNode.next; // The node after remNode</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predecessor.next = successor; // Bypass remNode</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System.out.println("Removed (" + remNode.key + ", " + remNode.value + ")");</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return;</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predecessor = remNode; // Move predecessor forward, i++</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remNode = remNode.next; // Move remNode forward, j++</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System.out.println("Key '" + remKey + "' not found.");</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rPr lang="en-US">
                <a:solidFill>
                  <a:schemeClr val="dk1"/>
                </a:solidFill>
                <a:highlight>
                  <a:srgbClr val="FFFFFF"/>
                </a:highlight>
                <a:latin typeface="Trebuchet MS"/>
                <a:ea typeface="Trebuchet MS"/>
                <a:cs typeface="Trebuchet MS"/>
                <a:sym typeface="Trebuchet MS"/>
              </a:rPr>
              <a:t>    }</a:t>
            </a:r>
            <a:endParaRPr>
              <a:solidFill>
                <a:schemeClr val="dk1"/>
              </a:solidFill>
              <a:highlight>
                <a:srgbClr val="FFFFFF"/>
              </a:highlight>
              <a:latin typeface="Trebuchet MS"/>
              <a:ea typeface="Trebuchet MS"/>
              <a:cs typeface="Trebuchet MS"/>
              <a:sym typeface="Trebuchet MS"/>
            </a:endParaRPr>
          </a:p>
          <a:p>
            <a:pPr indent="0" lvl="0" marL="0" rtl="0" algn="l">
              <a:lnSpc>
                <a:spcPct val="115000"/>
              </a:lnSpc>
              <a:spcBef>
                <a:spcPts val="0"/>
              </a:spcBef>
              <a:spcAft>
                <a:spcPts val="0"/>
              </a:spcAft>
              <a:buSzPts val="1100"/>
              <a:buNone/>
            </a:pPr>
            <a:r>
              <a:t/>
            </a:r>
            <a:endParaRPr>
              <a:solidFill>
                <a:schemeClr val="dk1"/>
              </a:solidFill>
              <a:highlight>
                <a:srgbClr val="FFFFFF"/>
              </a:highlight>
              <a:latin typeface="Trebuchet MS"/>
              <a:ea typeface="Trebuchet MS"/>
              <a:cs typeface="Trebuchet MS"/>
              <a:sym typeface="Trebuchet MS"/>
            </a:endParaRPr>
          </a:p>
          <a:p>
            <a:pPr indent="0" lvl="0" marL="0" marR="0" rtl="0" algn="l">
              <a:spcBef>
                <a:spcPts val="0"/>
              </a:spcBef>
              <a:spcAft>
                <a:spcPts val="0"/>
              </a:spcAft>
              <a:buNone/>
            </a:pPr>
            <a:r>
              <a:t/>
            </a:r>
            <a:endParaRPr>
              <a:solidFill>
                <a:srgbClr val="1E293B"/>
              </a:solidFill>
              <a:latin typeface="Trebuchet MS"/>
              <a:ea typeface="Trebuchet MS"/>
              <a:cs typeface="Trebuchet MS"/>
              <a:sym typeface="Trebuchet MS"/>
            </a:endParaRPr>
          </a:p>
        </p:txBody>
      </p:sp>
      <p:sp>
        <p:nvSpPr>
          <p:cNvPr id="795" name="Google Shape;795;g3f557c7bba2_0_174"/>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796" name="Google Shape;796;g3f557c7bba2_0_174"/>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25</a:t>
            </a:r>
            <a:endParaRPr/>
          </a:p>
        </p:txBody>
      </p:sp>
      <p:pic>
        <p:nvPicPr>
          <p:cNvPr id="797" name="Google Shape;797;g3f557c7bba2_0_174" title="DH_singly)linear.png"/>
          <p:cNvPicPr preferRelativeResize="0"/>
          <p:nvPr/>
        </p:nvPicPr>
        <p:blipFill>
          <a:blip r:embed="rId3">
            <a:alphaModFix/>
          </a:blip>
          <a:stretch>
            <a:fillRect/>
          </a:stretch>
        </p:blipFill>
        <p:spPr>
          <a:xfrm>
            <a:off x="5545124" y="905850"/>
            <a:ext cx="6511926" cy="19656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1" name="Shape 801"/>
        <p:cNvGrpSpPr/>
        <p:nvPr/>
      </p:nvGrpSpPr>
      <p:grpSpPr>
        <a:xfrm>
          <a:off x="0" y="0"/>
          <a:ext cx="0" cy="0"/>
          <a:chOff x="0" y="0"/>
          <a:chExt cx="0" cy="0"/>
        </a:xfrm>
      </p:grpSpPr>
      <p:sp>
        <p:nvSpPr>
          <p:cNvPr id="802" name="Google Shape;802;p32"/>
          <p:cNvSpPr/>
          <p:nvPr/>
        </p:nvSpPr>
        <p:spPr>
          <a:xfrm>
            <a:off x="0" y="0"/>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03" name="Google Shape;803;p32"/>
          <p:cNvSpPr/>
          <p:nvPr/>
        </p:nvSpPr>
        <p:spPr>
          <a:xfrm>
            <a:off x="0" y="6693408"/>
            <a:ext cx="12191695" cy="164592"/>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04" name="Google Shape;804;p32"/>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17365D"/>
                </a:solidFill>
                <a:latin typeface="Calibri"/>
                <a:ea typeface="Calibri"/>
                <a:cs typeface="Calibri"/>
                <a:sym typeface="Calibri"/>
              </a:rPr>
              <a:t>Key Points to Remember</a:t>
            </a:r>
            <a:endParaRPr/>
          </a:p>
        </p:txBody>
      </p:sp>
      <p:sp>
        <p:nvSpPr>
          <p:cNvPr id="805" name="Google Shape;805;p32"/>
          <p:cNvSpPr/>
          <p:nvPr/>
        </p:nvSpPr>
        <p:spPr>
          <a:xfrm>
            <a:off x="411480" y="1005840"/>
            <a:ext cx="11247120" cy="18288"/>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06" name="Google Shape;806;p32"/>
          <p:cNvSpPr txBox="1"/>
          <p:nvPr/>
        </p:nvSpPr>
        <p:spPr>
          <a:xfrm>
            <a:off x="411480" y="6419088"/>
            <a:ext cx="2286000" cy="1645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807" name="Google Shape;807;p32"/>
          <p:cNvSpPr txBox="1"/>
          <p:nvPr/>
        </p:nvSpPr>
        <p:spPr>
          <a:xfrm>
            <a:off x="10927080" y="6419088"/>
            <a:ext cx="822960" cy="16459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26</a:t>
            </a:r>
            <a:endParaRPr/>
          </a:p>
        </p:txBody>
      </p:sp>
      <p:sp>
        <p:nvSpPr>
          <p:cNvPr id="808" name="Google Shape;808;p32"/>
          <p:cNvSpPr txBox="1"/>
          <p:nvPr/>
        </p:nvSpPr>
        <p:spPr>
          <a:xfrm>
            <a:off x="411475" y="1183613"/>
            <a:ext cx="11042400" cy="5400000"/>
          </a:xfrm>
          <a:prstGeom prst="rect">
            <a:avLst/>
          </a:prstGeom>
          <a:noFill/>
          <a:ln>
            <a:noFill/>
          </a:ln>
        </p:spPr>
        <p:txBody>
          <a:bodyPr anchorCtr="0" anchor="t" bIns="45700" lIns="91425" spcFirstLastPara="1" rIns="91425" wrap="square" tIns="45700">
            <a:noAutofit/>
          </a:bodyPr>
          <a:lstStyle/>
          <a:p>
            <a:pPr indent="-330200" lvl="0" marL="457200" rtl="0" algn="l">
              <a:lnSpc>
                <a:spcPct val="200000"/>
              </a:lnSpc>
              <a:spcBef>
                <a:spcPts val="0"/>
              </a:spcBef>
              <a:spcAft>
                <a:spcPts val="0"/>
              </a:spcAft>
              <a:buClr>
                <a:schemeClr val="dk1"/>
              </a:buClr>
              <a:buSzPts val="1600"/>
              <a:buFont typeface="Trebuchet MS"/>
              <a:buChar char="●"/>
            </a:pPr>
            <a:r>
              <a:rPr lang="en-US" sz="1600">
                <a:solidFill>
                  <a:schemeClr val="dk1"/>
                </a:solidFill>
                <a:latin typeface="Trebuchet MS"/>
                <a:ea typeface="Trebuchet MS"/>
                <a:cs typeface="Trebuchet MS"/>
                <a:sym typeface="Trebuchet MS"/>
              </a:rPr>
              <a:t>Hash tables store </a:t>
            </a:r>
            <a:r>
              <a:rPr b="1" lang="en-US" sz="1600">
                <a:solidFill>
                  <a:schemeClr val="dk1"/>
                </a:solidFill>
                <a:latin typeface="Trebuchet MS"/>
                <a:ea typeface="Trebuchet MS"/>
                <a:cs typeface="Trebuchet MS"/>
                <a:sym typeface="Trebuchet MS"/>
              </a:rPr>
              <a:t>key-value pairs</a:t>
            </a:r>
            <a:r>
              <a:rPr lang="en-US" sz="1600">
                <a:solidFill>
                  <a:schemeClr val="dk1"/>
                </a:solidFill>
                <a:latin typeface="Trebuchet MS"/>
                <a:ea typeface="Trebuchet MS"/>
                <a:cs typeface="Trebuchet MS"/>
                <a:sym typeface="Trebuchet MS"/>
              </a:rPr>
              <a:t> and use a </a:t>
            </a:r>
            <a:r>
              <a:rPr b="1" lang="en-US" sz="1600">
                <a:solidFill>
                  <a:schemeClr val="dk1"/>
                </a:solidFill>
                <a:latin typeface="Trebuchet MS"/>
                <a:ea typeface="Trebuchet MS"/>
                <a:cs typeface="Trebuchet MS"/>
                <a:sym typeface="Trebuchet MS"/>
              </a:rPr>
              <a:t>hash function</a:t>
            </a:r>
            <a:r>
              <a:rPr lang="en-US" sz="1600">
                <a:solidFill>
                  <a:schemeClr val="dk1"/>
                </a:solidFill>
                <a:latin typeface="Trebuchet MS"/>
                <a:ea typeface="Trebuchet MS"/>
                <a:cs typeface="Trebuchet MS"/>
                <a:sym typeface="Trebuchet MS"/>
              </a:rPr>
              <a:t> to </a:t>
            </a:r>
            <a:r>
              <a:rPr b="1" lang="en-US" sz="1600">
                <a:solidFill>
                  <a:schemeClr val="dk1"/>
                </a:solidFill>
                <a:latin typeface="Trebuchet MS"/>
                <a:ea typeface="Trebuchet MS"/>
                <a:cs typeface="Trebuchet MS"/>
                <a:sym typeface="Trebuchet MS"/>
              </a:rPr>
              <a:t>calculate an array index (hash value)</a:t>
            </a:r>
            <a:r>
              <a:rPr lang="en-US" sz="1600">
                <a:solidFill>
                  <a:schemeClr val="dk1"/>
                </a:solidFill>
                <a:latin typeface="Trebuchet MS"/>
                <a:ea typeface="Trebuchet MS"/>
                <a:cs typeface="Trebuchet MS"/>
                <a:sym typeface="Trebuchet MS"/>
              </a:rPr>
              <a:t>.</a:t>
            </a:r>
            <a:endParaRPr sz="1600">
              <a:solidFill>
                <a:schemeClr val="dk1"/>
              </a:solidFill>
              <a:latin typeface="Trebuchet MS"/>
              <a:ea typeface="Trebuchet MS"/>
              <a:cs typeface="Trebuchet MS"/>
              <a:sym typeface="Trebuchet MS"/>
            </a:endParaRPr>
          </a:p>
          <a:p>
            <a:pPr indent="-330200" lvl="0" marL="457200" rtl="0" algn="l">
              <a:lnSpc>
                <a:spcPct val="200000"/>
              </a:lnSpc>
              <a:spcBef>
                <a:spcPts val="0"/>
              </a:spcBef>
              <a:spcAft>
                <a:spcPts val="0"/>
              </a:spcAft>
              <a:buClr>
                <a:schemeClr val="dk1"/>
              </a:buClr>
              <a:buSzPts val="1600"/>
              <a:buFont typeface="Trebuchet MS"/>
              <a:buChar char="●"/>
            </a:pPr>
            <a:r>
              <a:rPr lang="en-US" sz="1600">
                <a:solidFill>
                  <a:schemeClr val="dk1"/>
                </a:solidFill>
                <a:latin typeface="Trebuchet MS"/>
                <a:ea typeface="Trebuchet MS"/>
                <a:cs typeface="Trebuchet MS"/>
                <a:sym typeface="Trebuchet MS"/>
              </a:rPr>
              <a:t>Average search, insertion, and deletion can be </a:t>
            </a:r>
            <a:r>
              <a:rPr b="1" lang="en-US" sz="1600">
                <a:solidFill>
                  <a:schemeClr val="dk1"/>
                </a:solidFill>
                <a:latin typeface="Trebuchet MS"/>
                <a:ea typeface="Trebuchet MS"/>
                <a:cs typeface="Trebuchet MS"/>
                <a:sym typeface="Trebuchet MS"/>
              </a:rPr>
              <a:t>O(1)</a:t>
            </a:r>
            <a:r>
              <a:rPr lang="en-US" sz="1600">
                <a:solidFill>
                  <a:schemeClr val="dk1"/>
                </a:solidFill>
                <a:latin typeface="Trebuchet MS"/>
                <a:ea typeface="Trebuchet MS"/>
                <a:cs typeface="Trebuchet MS"/>
                <a:sym typeface="Trebuchet MS"/>
              </a:rPr>
              <a:t> when </a:t>
            </a:r>
            <a:r>
              <a:rPr b="1" lang="en-US" sz="1600">
                <a:solidFill>
                  <a:schemeClr val="dk1"/>
                </a:solidFill>
                <a:latin typeface="Trebuchet MS"/>
                <a:ea typeface="Trebuchet MS"/>
                <a:cs typeface="Trebuchet MS"/>
                <a:sym typeface="Trebuchet MS"/>
              </a:rPr>
              <a:t>keys are well distributed</a:t>
            </a:r>
            <a:r>
              <a:rPr lang="en-US" sz="1600">
                <a:solidFill>
                  <a:schemeClr val="dk1"/>
                </a:solidFill>
                <a:latin typeface="Trebuchet MS"/>
                <a:ea typeface="Trebuchet MS"/>
                <a:cs typeface="Trebuchet MS"/>
                <a:sym typeface="Trebuchet MS"/>
              </a:rPr>
              <a:t> and </a:t>
            </a:r>
            <a:r>
              <a:rPr b="1" lang="en-US" sz="1600">
                <a:solidFill>
                  <a:schemeClr val="dk1"/>
                </a:solidFill>
                <a:latin typeface="Trebuchet MS"/>
                <a:ea typeface="Trebuchet MS"/>
                <a:cs typeface="Trebuchet MS"/>
                <a:sym typeface="Trebuchet MS"/>
              </a:rPr>
              <a:t>collisions are limited</a:t>
            </a:r>
            <a:r>
              <a:rPr lang="en-US" sz="1600">
                <a:solidFill>
                  <a:schemeClr val="dk1"/>
                </a:solidFill>
                <a:latin typeface="Trebuchet MS"/>
                <a:ea typeface="Trebuchet MS"/>
                <a:cs typeface="Trebuchet MS"/>
                <a:sym typeface="Trebuchet MS"/>
              </a:rPr>
              <a:t>.</a:t>
            </a:r>
            <a:endParaRPr sz="1600">
              <a:solidFill>
                <a:schemeClr val="dk1"/>
              </a:solidFill>
              <a:latin typeface="Trebuchet MS"/>
              <a:ea typeface="Trebuchet MS"/>
              <a:cs typeface="Trebuchet MS"/>
              <a:sym typeface="Trebuchet MS"/>
            </a:endParaRPr>
          </a:p>
          <a:p>
            <a:pPr indent="-330200" lvl="1" marL="914400" rtl="0" algn="l">
              <a:lnSpc>
                <a:spcPct val="200000"/>
              </a:lnSpc>
              <a:spcBef>
                <a:spcPts val="0"/>
              </a:spcBef>
              <a:spcAft>
                <a:spcPts val="0"/>
              </a:spcAft>
              <a:buClr>
                <a:schemeClr val="dk1"/>
              </a:buClr>
              <a:buSzPts val="1600"/>
              <a:buFont typeface="Trebuchet MS"/>
              <a:buChar char="○"/>
            </a:pPr>
            <a:r>
              <a:rPr lang="en-US" sz="1600">
                <a:solidFill>
                  <a:schemeClr val="dk1"/>
                </a:solidFill>
                <a:latin typeface="Trebuchet MS"/>
                <a:ea typeface="Trebuchet MS"/>
                <a:cs typeface="Trebuchet MS"/>
                <a:sym typeface="Trebuchet MS"/>
              </a:rPr>
              <a:t>In forward chaining, </a:t>
            </a:r>
            <a:r>
              <a:rPr b="1" lang="en-US" sz="1600">
                <a:solidFill>
                  <a:schemeClr val="dk1"/>
                </a:solidFill>
                <a:latin typeface="Trebuchet MS"/>
                <a:ea typeface="Trebuchet MS"/>
                <a:cs typeface="Trebuchet MS"/>
                <a:sym typeface="Trebuchet MS"/>
              </a:rPr>
              <a:t>prepend insertion takes O(1)</a:t>
            </a:r>
            <a:r>
              <a:rPr lang="en-US" sz="1600">
                <a:solidFill>
                  <a:schemeClr val="dk1"/>
                </a:solidFill>
                <a:latin typeface="Trebuchet MS"/>
                <a:ea typeface="Trebuchet MS"/>
                <a:cs typeface="Trebuchet MS"/>
                <a:sym typeface="Trebuchet MS"/>
              </a:rPr>
              <a:t>.</a:t>
            </a:r>
            <a:endParaRPr sz="1600">
              <a:solidFill>
                <a:schemeClr val="dk1"/>
              </a:solidFill>
              <a:latin typeface="Trebuchet MS"/>
              <a:ea typeface="Trebuchet MS"/>
              <a:cs typeface="Trebuchet MS"/>
              <a:sym typeface="Trebuchet MS"/>
            </a:endParaRPr>
          </a:p>
          <a:p>
            <a:pPr indent="-330200" lvl="1" marL="914400" rtl="0" algn="l">
              <a:lnSpc>
                <a:spcPct val="200000"/>
              </a:lnSpc>
              <a:spcBef>
                <a:spcPts val="0"/>
              </a:spcBef>
              <a:spcAft>
                <a:spcPts val="0"/>
              </a:spcAft>
              <a:buClr>
                <a:schemeClr val="dk1"/>
              </a:buClr>
              <a:buSzPts val="1600"/>
              <a:buFont typeface="Trebuchet MS"/>
              <a:buChar char="○"/>
            </a:pPr>
            <a:r>
              <a:rPr lang="en-US" sz="1600">
                <a:solidFill>
                  <a:schemeClr val="dk1"/>
                </a:solidFill>
                <a:latin typeface="Trebuchet MS"/>
                <a:ea typeface="Trebuchet MS"/>
                <a:cs typeface="Trebuchet MS"/>
                <a:sym typeface="Trebuchet MS"/>
              </a:rPr>
              <a:t>Search, update and deletion within a chain take </a:t>
            </a:r>
            <a:r>
              <a:rPr b="1" lang="en-US" sz="1600">
                <a:solidFill>
                  <a:schemeClr val="dk1"/>
                </a:solidFill>
                <a:latin typeface="Trebuchet MS"/>
                <a:ea typeface="Trebuchet MS"/>
                <a:cs typeface="Trebuchet MS"/>
                <a:sym typeface="Trebuchet MS"/>
              </a:rPr>
              <a:t>O(k)</a:t>
            </a:r>
            <a:r>
              <a:rPr lang="en-US" sz="1600">
                <a:solidFill>
                  <a:schemeClr val="dk1"/>
                </a:solidFill>
                <a:latin typeface="Trebuchet MS"/>
                <a:ea typeface="Trebuchet MS"/>
                <a:cs typeface="Trebuchet MS"/>
                <a:sym typeface="Trebuchet MS"/>
              </a:rPr>
              <a:t>, where k is the number of nodes in that chain.</a:t>
            </a:r>
            <a:endParaRPr sz="1600">
              <a:solidFill>
                <a:schemeClr val="dk1"/>
              </a:solidFill>
              <a:latin typeface="Trebuchet MS"/>
              <a:ea typeface="Trebuchet MS"/>
              <a:cs typeface="Trebuchet MS"/>
              <a:sym typeface="Trebuchet MS"/>
            </a:endParaRPr>
          </a:p>
          <a:p>
            <a:pPr indent="-330200" lvl="1" marL="914400" rtl="0" algn="l">
              <a:lnSpc>
                <a:spcPct val="200000"/>
              </a:lnSpc>
              <a:spcBef>
                <a:spcPts val="0"/>
              </a:spcBef>
              <a:spcAft>
                <a:spcPts val="0"/>
              </a:spcAft>
              <a:buClr>
                <a:schemeClr val="dk1"/>
              </a:buClr>
              <a:buSzPts val="1600"/>
              <a:buFont typeface="Trebuchet MS"/>
              <a:buChar char="○"/>
            </a:pPr>
            <a:r>
              <a:rPr lang="en-US" sz="1600">
                <a:solidFill>
                  <a:schemeClr val="dk1"/>
                </a:solidFill>
                <a:latin typeface="Trebuchet MS"/>
                <a:ea typeface="Trebuchet MS"/>
                <a:cs typeface="Trebuchet MS"/>
                <a:sym typeface="Trebuchet MS"/>
              </a:rPr>
              <a:t>The worst-case time complexity is </a:t>
            </a:r>
            <a:r>
              <a:rPr b="1" lang="en-US" sz="1600">
                <a:solidFill>
                  <a:schemeClr val="dk1"/>
                </a:solidFill>
                <a:latin typeface="Trebuchet MS"/>
                <a:ea typeface="Trebuchet MS"/>
                <a:cs typeface="Trebuchet MS"/>
                <a:sym typeface="Trebuchet MS"/>
              </a:rPr>
              <a:t>O(n)</a:t>
            </a:r>
            <a:r>
              <a:rPr lang="en-US" sz="1600">
                <a:solidFill>
                  <a:schemeClr val="dk1"/>
                </a:solidFill>
                <a:latin typeface="Trebuchet MS"/>
                <a:ea typeface="Trebuchet MS"/>
                <a:cs typeface="Trebuchet MS"/>
                <a:sym typeface="Trebuchet MS"/>
              </a:rPr>
              <a:t> when all keys fall into one bucket.</a:t>
            </a:r>
            <a:endParaRPr sz="1600">
              <a:solidFill>
                <a:schemeClr val="dk1"/>
              </a:solidFill>
              <a:latin typeface="Trebuchet MS"/>
              <a:ea typeface="Trebuchet MS"/>
              <a:cs typeface="Trebuchet MS"/>
              <a:sym typeface="Trebuchet MS"/>
            </a:endParaRPr>
          </a:p>
          <a:p>
            <a:pPr indent="-330200" lvl="0" marL="457200" rtl="0" algn="l">
              <a:lnSpc>
                <a:spcPct val="200000"/>
              </a:lnSpc>
              <a:spcBef>
                <a:spcPts val="0"/>
              </a:spcBef>
              <a:spcAft>
                <a:spcPts val="0"/>
              </a:spcAft>
              <a:buClr>
                <a:schemeClr val="dk1"/>
              </a:buClr>
              <a:buSzPts val="1600"/>
              <a:buFont typeface="Trebuchet MS"/>
              <a:buChar char="●"/>
            </a:pPr>
            <a:r>
              <a:rPr lang="en-US" sz="1600">
                <a:solidFill>
                  <a:schemeClr val="dk1"/>
                </a:solidFill>
                <a:latin typeface="Trebuchet MS"/>
                <a:ea typeface="Trebuchet MS"/>
                <a:cs typeface="Trebuchet MS"/>
                <a:sym typeface="Trebuchet MS"/>
              </a:rPr>
              <a:t>A </a:t>
            </a:r>
            <a:r>
              <a:rPr b="1" lang="en-US" sz="1600">
                <a:solidFill>
                  <a:schemeClr val="dk1"/>
                </a:solidFill>
                <a:latin typeface="Trebuchet MS"/>
                <a:ea typeface="Trebuchet MS"/>
                <a:cs typeface="Trebuchet MS"/>
                <a:sym typeface="Trebuchet MS"/>
              </a:rPr>
              <a:t>collision</a:t>
            </a:r>
            <a:r>
              <a:rPr lang="en-US" sz="1600">
                <a:solidFill>
                  <a:schemeClr val="dk1"/>
                </a:solidFill>
                <a:latin typeface="Trebuchet MS"/>
                <a:ea typeface="Trebuchet MS"/>
                <a:cs typeface="Trebuchet MS"/>
                <a:sym typeface="Trebuchet MS"/>
              </a:rPr>
              <a:t> occurs when different keys produce the same index.</a:t>
            </a:r>
            <a:endParaRPr sz="1600">
              <a:solidFill>
                <a:schemeClr val="dk1"/>
              </a:solidFill>
              <a:latin typeface="Trebuchet MS"/>
              <a:ea typeface="Trebuchet MS"/>
              <a:cs typeface="Trebuchet MS"/>
              <a:sym typeface="Trebuchet MS"/>
            </a:endParaRPr>
          </a:p>
          <a:p>
            <a:pPr indent="-330200" lvl="1" marL="914400" rtl="0" algn="l">
              <a:lnSpc>
                <a:spcPct val="200000"/>
              </a:lnSpc>
              <a:spcBef>
                <a:spcPts val="0"/>
              </a:spcBef>
              <a:spcAft>
                <a:spcPts val="0"/>
              </a:spcAft>
              <a:buClr>
                <a:schemeClr val="dk1"/>
              </a:buClr>
              <a:buSzPts val="1600"/>
              <a:buFont typeface="Trebuchet MS"/>
              <a:buChar char="○"/>
            </a:pPr>
            <a:r>
              <a:rPr b="1" lang="en-US" sz="1600">
                <a:solidFill>
                  <a:schemeClr val="dk1"/>
                </a:solidFill>
                <a:latin typeface="Trebuchet MS"/>
                <a:ea typeface="Trebuchet MS"/>
                <a:cs typeface="Trebuchet MS"/>
                <a:sym typeface="Trebuchet MS"/>
              </a:rPr>
              <a:t>Linear probing</a:t>
            </a:r>
            <a:r>
              <a:rPr lang="en-US" sz="1600">
                <a:solidFill>
                  <a:schemeClr val="dk1"/>
                </a:solidFill>
                <a:latin typeface="Trebuchet MS"/>
                <a:ea typeface="Trebuchet MS"/>
                <a:cs typeface="Trebuchet MS"/>
                <a:sym typeface="Trebuchet MS"/>
              </a:rPr>
              <a:t> stores the item in </a:t>
            </a:r>
            <a:r>
              <a:rPr lang="en-US" sz="1600">
                <a:solidFill>
                  <a:srgbClr val="0000FF"/>
                </a:solidFill>
                <a:latin typeface="Trebuchet MS"/>
                <a:ea typeface="Trebuchet MS"/>
                <a:cs typeface="Trebuchet MS"/>
                <a:sym typeface="Trebuchet MS"/>
              </a:rPr>
              <a:t>another array slot.</a:t>
            </a:r>
            <a:endParaRPr sz="1600">
              <a:solidFill>
                <a:srgbClr val="0000FF"/>
              </a:solidFill>
              <a:latin typeface="Trebuchet MS"/>
              <a:ea typeface="Trebuchet MS"/>
              <a:cs typeface="Trebuchet MS"/>
              <a:sym typeface="Trebuchet MS"/>
            </a:endParaRPr>
          </a:p>
          <a:p>
            <a:pPr indent="-330200" lvl="1" marL="914400" rtl="0" algn="l">
              <a:lnSpc>
                <a:spcPct val="200000"/>
              </a:lnSpc>
              <a:spcBef>
                <a:spcPts val="0"/>
              </a:spcBef>
              <a:spcAft>
                <a:spcPts val="0"/>
              </a:spcAft>
              <a:buClr>
                <a:schemeClr val="dk1"/>
              </a:buClr>
              <a:buSzPts val="1600"/>
              <a:buFont typeface="Trebuchet MS"/>
              <a:buChar char="○"/>
            </a:pPr>
            <a:r>
              <a:rPr b="1" lang="en-US" sz="1600">
                <a:solidFill>
                  <a:schemeClr val="dk1"/>
                </a:solidFill>
                <a:latin typeface="Trebuchet MS"/>
                <a:ea typeface="Trebuchet MS"/>
                <a:cs typeface="Trebuchet MS"/>
                <a:sym typeface="Trebuchet MS"/>
              </a:rPr>
              <a:t>Forward chaining</a:t>
            </a:r>
            <a:r>
              <a:rPr lang="en-US" sz="1600">
                <a:solidFill>
                  <a:schemeClr val="dk1"/>
                </a:solidFill>
                <a:latin typeface="Trebuchet MS"/>
                <a:ea typeface="Trebuchet MS"/>
                <a:cs typeface="Trebuchet MS"/>
                <a:sym typeface="Trebuchet MS"/>
              </a:rPr>
              <a:t> stores collided items in a linked list at the </a:t>
            </a:r>
            <a:r>
              <a:rPr lang="en-US" sz="1600">
                <a:solidFill>
                  <a:srgbClr val="0000FF"/>
                </a:solidFill>
                <a:latin typeface="Trebuchet MS"/>
                <a:ea typeface="Trebuchet MS"/>
                <a:cs typeface="Trebuchet MS"/>
                <a:sym typeface="Trebuchet MS"/>
              </a:rPr>
              <a:t>original index.</a:t>
            </a:r>
            <a:endParaRPr sz="1600">
              <a:solidFill>
                <a:schemeClr val="dk1"/>
              </a:solidFill>
              <a:latin typeface="Trebuchet MS"/>
              <a:ea typeface="Trebuchet MS"/>
              <a:cs typeface="Trebuchet MS"/>
              <a:sym typeface="Trebuchet MS"/>
            </a:endParaRPr>
          </a:p>
          <a:p>
            <a:pPr indent="-330200" lvl="0" marL="457200" rtl="0" algn="l">
              <a:lnSpc>
                <a:spcPct val="200000"/>
              </a:lnSpc>
              <a:spcBef>
                <a:spcPts val="0"/>
              </a:spcBef>
              <a:spcAft>
                <a:spcPts val="0"/>
              </a:spcAft>
              <a:buClr>
                <a:schemeClr val="dk1"/>
              </a:buClr>
              <a:buSzPts val="1600"/>
              <a:buFont typeface="Trebuchet MS"/>
              <a:buChar char="●"/>
            </a:pPr>
            <a:r>
              <a:rPr lang="en-US" sz="1600">
                <a:solidFill>
                  <a:schemeClr val="dk1"/>
                </a:solidFill>
                <a:latin typeface="Trebuchet MS"/>
                <a:ea typeface="Trebuchet MS"/>
                <a:cs typeface="Trebuchet MS"/>
                <a:sym typeface="Trebuchet MS"/>
              </a:rPr>
              <a:t>A </a:t>
            </a:r>
            <a:r>
              <a:rPr b="1" lang="en-US" sz="1600">
                <a:solidFill>
                  <a:schemeClr val="dk1"/>
                </a:solidFill>
                <a:latin typeface="Trebuchet MS"/>
                <a:ea typeface="Trebuchet MS"/>
                <a:cs typeface="Trebuchet MS"/>
                <a:sym typeface="Trebuchet MS"/>
              </a:rPr>
              <a:t>dummy-headed singly linked list</a:t>
            </a:r>
            <a:r>
              <a:rPr lang="en-US" sz="1600">
                <a:solidFill>
                  <a:schemeClr val="dk1"/>
                </a:solidFill>
                <a:latin typeface="Trebuchet MS"/>
                <a:ea typeface="Trebuchet MS"/>
                <a:cs typeface="Trebuchet MS"/>
                <a:sym typeface="Trebuchet MS"/>
              </a:rPr>
              <a:t> is generally preferable because:</a:t>
            </a:r>
            <a:endParaRPr sz="1600">
              <a:solidFill>
                <a:schemeClr val="dk1"/>
              </a:solidFill>
              <a:latin typeface="Trebuchet MS"/>
              <a:ea typeface="Trebuchet MS"/>
              <a:cs typeface="Trebuchet MS"/>
              <a:sym typeface="Trebuchet MS"/>
            </a:endParaRPr>
          </a:p>
          <a:p>
            <a:pPr indent="-330200" lvl="1" marL="914400" rtl="0" algn="l">
              <a:lnSpc>
                <a:spcPct val="115000"/>
              </a:lnSpc>
              <a:spcBef>
                <a:spcPts val="0"/>
              </a:spcBef>
              <a:spcAft>
                <a:spcPts val="0"/>
              </a:spcAft>
              <a:buClr>
                <a:schemeClr val="dk1"/>
              </a:buClr>
              <a:buSzPts val="1600"/>
              <a:buFont typeface="Trebuchet MS"/>
              <a:buChar char="○"/>
            </a:pPr>
            <a:r>
              <a:rPr lang="en-US" sz="1600">
                <a:solidFill>
                  <a:schemeClr val="dk1"/>
                </a:solidFill>
                <a:latin typeface="Trebuchet MS"/>
                <a:ea typeface="Trebuchet MS"/>
                <a:cs typeface="Trebuchet MS"/>
                <a:sym typeface="Trebuchet MS"/>
              </a:rPr>
              <a:t>The head reference remains stable.</a:t>
            </a:r>
            <a:endParaRPr sz="1600">
              <a:solidFill>
                <a:schemeClr val="dk1"/>
              </a:solidFill>
              <a:latin typeface="Trebuchet MS"/>
              <a:ea typeface="Trebuchet MS"/>
              <a:cs typeface="Trebuchet MS"/>
              <a:sym typeface="Trebuchet MS"/>
            </a:endParaRPr>
          </a:p>
          <a:p>
            <a:pPr indent="-330200" lvl="1" marL="914400" rtl="0" algn="l">
              <a:lnSpc>
                <a:spcPct val="115000"/>
              </a:lnSpc>
              <a:spcBef>
                <a:spcPts val="0"/>
              </a:spcBef>
              <a:spcAft>
                <a:spcPts val="0"/>
              </a:spcAft>
              <a:buClr>
                <a:schemeClr val="dk1"/>
              </a:buClr>
              <a:buSzPts val="1600"/>
              <a:buFont typeface="Trebuchet MS"/>
              <a:buChar char="○"/>
            </a:pPr>
            <a:r>
              <a:rPr lang="en-US" sz="1600">
                <a:solidFill>
                  <a:schemeClr val="dk1"/>
                </a:solidFill>
                <a:latin typeface="Trebuchet MS"/>
                <a:ea typeface="Trebuchet MS"/>
                <a:cs typeface="Trebuchet MS"/>
                <a:sym typeface="Trebuchet MS"/>
              </a:rPr>
              <a:t>No unnecessary previous pointer is required.</a:t>
            </a:r>
            <a:endParaRPr sz="1600">
              <a:latin typeface="Trebuchet MS"/>
              <a:ea typeface="Trebuchet MS"/>
              <a:cs typeface="Trebuchet MS"/>
              <a:sym typeface="Trebuchet M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2" name="Shape 812"/>
        <p:cNvGrpSpPr/>
        <p:nvPr/>
      </p:nvGrpSpPr>
      <p:grpSpPr>
        <a:xfrm>
          <a:off x="0" y="0"/>
          <a:ext cx="0" cy="0"/>
          <a:chOff x="0" y="0"/>
          <a:chExt cx="0" cy="0"/>
        </a:xfrm>
      </p:grpSpPr>
      <p:sp>
        <p:nvSpPr>
          <p:cNvPr id="813" name="Google Shape;813;g3f557c7bba2_0_357"/>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14" name="Google Shape;814;g3f557c7bba2_0_357"/>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15" name="Google Shape;815;g3f557c7bba2_0_357"/>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17365D"/>
                </a:solidFill>
                <a:latin typeface="Calibri"/>
                <a:ea typeface="Calibri"/>
                <a:cs typeface="Calibri"/>
                <a:sym typeface="Calibri"/>
              </a:rPr>
              <a:t>REMEMBER!!!</a:t>
            </a:r>
            <a:endParaRPr/>
          </a:p>
        </p:txBody>
      </p:sp>
      <p:sp>
        <p:nvSpPr>
          <p:cNvPr id="816" name="Google Shape;816;g3f557c7bba2_0_357"/>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17" name="Google Shape;817;g3f557c7bba2_0_357"/>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818" name="Google Shape;818;g3f557c7bba2_0_357"/>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26</a:t>
            </a:r>
            <a:endParaRPr/>
          </a:p>
        </p:txBody>
      </p:sp>
      <p:sp>
        <p:nvSpPr>
          <p:cNvPr id="819" name="Google Shape;819;g3f557c7bba2_0_357"/>
          <p:cNvSpPr txBox="1"/>
          <p:nvPr/>
        </p:nvSpPr>
        <p:spPr>
          <a:xfrm>
            <a:off x="1883400" y="2495000"/>
            <a:ext cx="8764500" cy="4695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b="1" lang="en-US" sz="2313">
                <a:solidFill>
                  <a:srgbClr val="4F7D47"/>
                </a:solidFill>
              </a:rPr>
              <a:t>Good hash function</a:t>
            </a:r>
            <a:r>
              <a:rPr lang="en-US" sz="2313">
                <a:solidFill>
                  <a:schemeClr val="dk1"/>
                </a:solidFill>
              </a:rPr>
              <a:t> </a:t>
            </a:r>
            <a:r>
              <a:rPr b="1" lang="en-US" sz="2313">
                <a:solidFill>
                  <a:srgbClr val="4F7D47"/>
                </a:solidFill>
              </a:rPr>
              <a:t>+</a:t>
            </a:r>
            <a:r>
              <a:rPr lang="en-US" sz="2313">
                <a:solidFill>
                  <a:schemeClr val="dk1"/>
                </a:solidFill>
              </a:rPr>
              <a:t> </a:t>
            </a:r>
            <a:r>
              <a:rPr b="1" lang="en-US" sz="2313">
                <a:solidFill>
                  <a:srgbClr val="4F7D47"/>
                </a:solidFill>
              </a:rPr>
              <a:t>low collisions  =</a:t>
            </a:r>
            <a:r>
              <a:rPr lang="en-US" sz="2313">
                <a:solidFill>
                  <a:schemeClr val="dk1"/>
                </a:solidFill>
              </a:rPr>
              <a:t>  </a:t>
            </a:r>
            <a:r>
              <a:rPr b="1" lang="en-US" sz="2313">
                <a:solidFill>
                  <a:srgbClr val="4F7D47"/>
                </a:solidFill>
              </a:rPr>
              <a:t>fast access</a:t>
            </a:r>
            <a:endParaRPr sz="2313">
              <a:solidFill>
                <a:schemeClr val="dk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3" name="Shape 823"/>
        <p:cNvGrpSpPr/>
        <p:nvPr/>
      </p:nvGrpSpPr>
      <p:grpSpPr>
        <a:xfrm>
          <a:off x="0" y="0"/>
          <a:ext cx="0" cy="0"/>
          <a:chOff x="0" y="0"/>
          <a:chExt cx="0" cy="0"/>
        </a:xfrm>
      </p:grpSpPr>
      <p:sp>
        <p:nvSpPr>
          <p:cNvPr id="824" name="Google Shape;824;g3f557c7bba2_0_302"/>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25" name="Google Shape;825;g3f557c7bba2_0_302"/>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26" name="Google Shape;826;g3f557c7bba2_0_302"/>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17365D"/>
                </a:solidFill>
                <a:latin typeface="Calibri"/>
                <a:ea typeface="Calibri"/>
                <a:cs typeface="Calibri"/>
                <a:sym typeface="Calibri"/>
              </a:rPr>
              <a:t>Cryptographic Hashing  (Optional, skip)</a:t>
            </a:r>
            <a:endParaRPr/>
          </a:p>
        </p:txBody>
      </p:sp>
      <p:sp>
        <p:nvSpPr>
          <p:cNvPr id="827" name="Google Shape;827;g3f557c7bba2_0_302"/>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28" name="Google Shape;828;g3f557c7bba2_0_302"/>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829" name="Google Shape;829;g3f557c7bba2_0_302"/>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26</a:t>
            </a:r>
            <a:endParaRPr/>
          </a:p>
        </p:txBody>
      </p:sp>
      <p:sp>
        <p:nvSpPr>
          <p:cNvPr id="830" name="Google Shape;830;g3f557c7bba2_0_302"/>
          <p:cNvSpPr txBox="1"/>
          <p:nvPr/>
        </p:nvSpPr>
        <p:spPr>
          <a:xfrm>
            <a:off x="632575" y="809050"/>
            <a:ext cx="10804800" cy="2958300"/>
          </a:xfrm>
          <a:prstGeom prst="rect">
            <a:avLst/>
          </a:prstGeom>
          <a:noFill/>
          <a:ln>
            <a:noFill/>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None/>
            </a:pPr>
            <a:r>
              <a:t/>
            </a:r>
            <a:endParaRPr sz="1600">
              <a:latin typeface="Trebuchet MS"/>
              <a:ea typeface="Trebuchet MS"/>
              <a:cs typeface="Trebuchet MS"/>
              <a:sym typeface="Trebuchet MS"/>
            </a:endParaRPr>
          </a:p>
          <a:p>
            <a:pPr indent="-330200" lvl="0" marL="457200" marR="0" rtl="0" algn="l">
              <a:lnSpc>
                <a:spcPct val="200000"/>
              </a:lnSpc>
              <a:spcBef>
                <a:spcPts val="0"/>
              </a:spcBef>
              <a:spcAft>
                <a:spcPts val="0"/>
              </a:spcAft>
              <a:buSzPts val="1600"/>
              <a:buFont typeface="Trebuchet MS"/>
              <a:buChar char="●"/>
            </a:pPr>
            <a:r>
              <a:rPr lang="en-US" sz="1600">
                <a:solidFill>
                  <a:srgbClr val="1E293B"/>
                </a:solidFill>
                <a:latin typeface="Trebuchet MS"/>
                <a:ea typeface="Trebuchet MS"/>
                <a:cs typeface="Trebuchet MS"/>
                <a:sym typeface="Trebuchet MS"/>
              </a:rPr>
              <a:t>Fundamental concept in computer science and cryptography.</a:t>
            </a:r>
            <a:endParaRPr sz="1600">
              <a:solidFill>
                <a:srgbClr val="1E293B"/>
              </a:solidFill>
              <a:latin typeface="Trebuchet MS"/>
              <a:ea typeface="Trebuchet MS"/>
              <a:cs typeface="Trebuchet MS"/>
              <a:sym typeface="Trebuchet MS"/>
            </a:endParaRPr>
          </a:p>
          <a:p>
            <a:pPr indent="-330200" lvl="0" marL="457200" marR="0" rtl="0" algn="l">
              <a:lnSpc>
                <a:spcPct val="200000"/>
              </a:lnSpc>
              <a:spcBef>
                <a:spcPts val="0"/>
              </a:spcBef>
              <a:spcAft>
                <a:spcPts val="0"/>
              </a:spcAft>
              <a:buSzPts val="1600"/>
              <a:buFont typeface="Trebuchet MS"/>
              <a:buChar char="●"/>
            </a:pPr>
            <a:r>
              <a:rPr lang="en-US" sz="1600">
                <a:solidFill>
                  <a:srgbClr val="1E293B"/>
                </a:solidFill>
                <a:latin typeface="Trebuchet MS"/>
                <a:ea typeface="Trebuchet MS"/>
                <a:cs typeface="Trebuchet MS"/>
                <a:sym typeface="Trebuchet MS"/>
              </a:rPr>
              <a:t>It is a mathematical function that takes an input (or "message") of arbitrary size and produces a fixed-size string of characters,</a:t>
            </a:r>
            <a:endParaRPr sz="1600">
              <a:solidFill>
                <a:srgbClr val="1E293B"/>
              </a:solidFill>
              <a:latin typeface="Trebuchet MS"/>
              <a:ea typeface="Trebuchet MS"/>
              <a:cs typeface="Trebuchet MS"/>
              <a:sym typeface="Trebuchet MS"/>
            </a:endParaRPr>
          </a:p>
          <a:p>
            <a:pPr indent="-330200" lvl="1" marL="914400" marR="0" rtl="0" algn="l">
              <a:lnSpc>
                <a:spcPct val="200000"/>
              </a:lnSpc>
              <a:spcBef>
                <a:spcPts val="0"/>
              </a:spcBef>
              <a:spcAft>
                <a:spcPts val="0"/>
              </a:spcAft>
              <a:buSzPts val="1600"/>
              <a:buFont typeface="Trebuchet MS"/>
              <a:buChar char="○"/>
            </a:pPr>
            <a:r>
              <a:rPr lang="en-US" sz="1600">
                <a:solidFill>
                  <a:srgbClr val="1E293B"/>
                </a:solidFill>
                <a:latin typeface="Trebuchet MS"/>
                <a:ea typeface="Trebuchet MS"/>
                <a:cs typeface="Trebuchet MS"/>
                <a:sym typeface="Trebuchet MS"/>
              </a:rPr>
              <a:t>Typically represented in </a:t>
            </a:r>
            <a:r>
              <a:rPr b="1" lang="en-US" sz="1600">
                <a:solidFill>
                  <a:srgbClr val="1E293B"/>
                </a:solidFill>
                <a:latin typeface="Trebuchet MS"/>
                <a:ea typeface="Trebuchet MS"/>
                <a:cs typeface="Trebuchet MS"/>
                <a:sym typeface="Trebuchet MS"/>
              </a:rPr>
              <a:t>hexadecimal format</a:t>
            </a:r>
            <a:r>
              <a:rPr lang="en-US" sz="1600">
                <a:solidFill>
                  <a:srgbClr val="1E293B"/>
                </a:solidFill>
                <a:latin typeface="Trebuchet MS"/>
                <a:ea typeface="Trebuchet MS"/>
                <a:cs typeface="Trebuchet MS"/>
                <a:sym typeface="Trebuchet MS"/>
              </a:rPr>
              <a:t>.</a:t>
            </a:r>
            <a:endParaRPr sz="1600">
              <a:solidFill>
                <a:srgbClr val="1E293B"/>
              </a:solidFill>
              <a:latin typeface="Trebuchet MS"/>
              <a:ea typeface="Trebuchet MS"/>
              <a:cs typeface="Trebuchet MS"/>
              <a:sym typeface="Trebuchet MS"/>
            </a:endParaRPr>
          </a:p>
          <a:p>
            <a:pPr indent="-330200" lvl="0" marL="457200" marR="0" rtl="0" algn="l">
              <a:lnSpc>
                <a:spcPct val="200000"/>
              </a:lnSpc>
              <a:spcBef>
                <a:spcPts val="0"/>
              </a:spcBef>
              <a:spcAft>
                <a:spcPts val="0"/>
              </a:spcAft>
              <a:buSzPts val="1600"/>
              <a:buFont typeface="Trebuchet MS"/>
              <a:buChar char="●"/>
            </a:pPr>
            <a:r>
              <a:rPr lang="en-US" sz="1600">
                <a:solidFill>
                  <a:srgbClr val="1E293B"/>
                </a:solidFill>
                <a:latin typeface="Trebuchet MS"/>
                <a:ea typeface="Trebuchet MS"/>
                <a:cs typeface="Trebuchet MS"/>
                <a:sym typeface="Trebuchet MS"/>
              </a:rPr>
              <a:t>This fixed-size output is often referred to as the hash value, hash code, or simply hash.</a:t>
            </a:r>
            <a:endParaRPr sz="1600">
              <a:solidFill>
                <a:srgbClr val="1E293B"/>
              </a:solidFill>
              <a:latin typeface="Trebuchet MS"/>
              <a:ea typeface="Trebuchet MS"/>
              <a:cs typeface="Trebuchet MS"/>
              <a:sym typeface="Trebuchet MS"/>
            </a:endParaRPr>
          </a:p>
        </p:txBody>
      </p:sp>
      <p:pic>
        <p:nvPicPr>
          <p:cNvPr descr="a_clean_infographic_slide_style_diagram_on_a_whi_batch_5.png" id="831" name="Google Shape;831;g3f557c7bba2_0_302"/>
          <p:cNvPicPr preferRelativeResize="0"/>
          <p:nvPr/>
        </p:nvPicPr>
        <p:blipFill rotWithShape="1">
          <a:blip r:embed="rId3">
            <a:alphaModFix/>
          </a:blip>
          <a:srcRect b="7153" l="5162" r="4110" t="18724"/>
          <a:stretch/>
        </p:blipFill>
        <p:spPr>
          <a:xfrm>
            <a:off x="2620700" y="3574850"/>
            <a:ext cx="6218227" cy="2958299"/>
          </a:xfrm>
          <a:prstGeom prst="rect">
            <a:avLst/>
          </a:prstGeom>
          <a:noFill/>
          <a:ln cap="flat" cmpd="sng" w="9525">
            <a:solidFill>
              <a:srgbClr val="D9EAF7"/>
            </a:solidFill>
            <a:prstDash val="solid"/>
            <a:round/>
            <a:headEnd len="sm" w="sm" type="none"/>
            <a:tailEnd len="sm" w="sm" type="none"/>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5" name="Shape 835"/>
        <p:cNvGrpSpPr/>
        <p:nvPr/>
      </p:nvGrpSpPr>
      <p:grpSpPr>
        <a:xfrm>
          <a:off x="0" y="0"/>
          <a:ext cx="0" cy="0"/>
          <a:chOff x="0" y="0"/>
          <a:chExt cx="0" cy="0"/>
        </a:xfrm>
      </p:grpSpPr>
      <p:sp>
        <p:nvSpPr>
          <p:cNvPr id="836" name="Google Shape;836;g3f557c7bba2_0_314"/>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37" name="Google Shape;837;g3f557c7bba2_0_314"/>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38" name="Google Shape;838;g3f557c7bba2_0_314"/>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17365D"/>
                </a:solidFill>
                <a:latin typeface="Calibri"/>
                <a:ea typeface="Calibri"/>
                <a:cs typeface="Calibri"/>
                <a:sym typeface="Calibri"/>
              </a:rPr>
              <a:t>Cryptographic Hashing  (Optional, skip)</a:t>
            </a:r>
            <a:endParaRPr/>
          </a:p>
        </p:txBody>
      </p:sp>
      <p:sp>
        <p:nvSpPr>
          <p:cNvPr id="839" name="Google Shape;839;g3f557c7bba2_0_314"/>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40" name="Google Shape;840;g3f557c7bba2_0_314"/>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841" name="Google Shape;841;g3f557c7bba2_0_314"/>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26</a:t>
            </a:r>
            <a:endParaRPr/>
          </a:p>
        </p:txBody>
      </p:sp>
      <p:sp>
        <p:nvSpPr>
          <p:cNvPr id="842" name="Google Shape;842;g3f557c7bba2_0_314"/>
          <p:cNvSpPr txBox="1"/>
          <p:nvPr/>
        </p:nvSpPr>
        <p:spPr>
          <a:xfrm>
            <a:off x="411475" y="1163600"/>
            <a:ext cx="10804800" cy="48096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150000"/>
              </a:lnSpc>
              <a:spcBef>
                <a:spcPts val="0"/>
              </a:spcBef>
              <a:spcAft>
                <a:spcPts val="0"/>
              </a:spcAft>
              <a:buNone/>
            </a:pPr>
            <a:r>
              <a:t/>
            </a:r>
            <a:endParaRPr sz="1600">
              <a:latin typeface="Trebuchet MS"/>
              <a:ea typeface="Trebuchet MS"/>
              <a:cs typeface="Trebuchet MS"/>
              <a:sym typeface="Trebuchet MS"/>
            </a:endParaRPr>
          </a:p>
          <a:p>
            <a:pPr indent="-330200" lvl="0" marL="457200" marR="0" rtl="0" algn="l">
              <a:lnSpc>
                <a:spcPct val="200000"/>
              </a:lnSpc>
              <a:spcBef>
                <a:spcPts val="0"/>
              </a:spcBef>
              <a:spcAft>
                <a:spcPts val="0"/>
              </a:spcAft>
              <a:buSzPts val="1600"/>
              <a:buFont typeface="Trebuchet MS"/>
              <a:buChar char="●"/>
            </a:pPr>
            <a:r>
              <a:rPr b="1" lang="en-US" sz="1600">
                <a:solidFill>
                  <a:srgbClr val="1E293B"/>
                </a:solidFill>
                <a:latin typeface="Trebuchet MS"/>
                <a:ea typeface="Trebuchet MS"/>
                <a:cs typeface="Trebuchet MS"/>
                <a:sym typeface="Trebuchet MS"/>
              </a:rPr>
              <a:t>Key properties of cryptographic hashing functions are:</a:t>
            </a:r>
            <a:endParaRPr b="1" sz="1600">
              <a:solidFill>
                <a:srgbClr val="1E293B"/>
              </a:solidFill>
              <a:latin typeface="Trebuchet MS"/>
              <a:ea typeface="Trebuchet MS"/>
              <a:cs typeface="Trebuchet MS"/>
              <a:sym typeface="Trebuchet MS"/>
            </a:endParaRPr>
          </a:p>
          <a:p>
            <a:pPr indent="-330200" lvl="0" marL="914400" marR="0" rtl="0" algn="l">
              <a:lnSpc>
                <a:spcPct val="200000"/>
              </a:lnSpc>
              <a:spcBef>
                <a:spcPts val="0"/>
              </a:spcBef>
              <a:spcAft>
                <a:spcPts val="0"/>
              </a:spcAft>
              <a:buSzPts val="1600"/>
              <a:buFont typeface="Trebuchet MS"/>
              <a:buChar char="●"/>
            </a:pPr>
            <a:r>
              <a:rPr b="1" lang="en-US" sz="1600">
                <a:solidFill>
                  <a:srgbClr val="1E293B"/>
                </a:solidFill>
                <a:latin typeface="Trebuchet MS"/>
                <a:ea typeface="Trebuchet MS"/>
                <a:cs typeface="Trebuchet MS"/>
                <a:sym typeface="Trebuchet MS"/>
              </a:rPr>
              <a:t>Deterministic:</a:t>
            </a:r>
            <a:r>
              <a:rPr lang="en-US" sz="1600">
                <a:solidFill>
                  <a:srgbClr val="1E293B"/>
                </a:solidFill>
                <a:latin typeface="Trebuchet MS"/>
                <a:ea typeface="Trebuchet MS"/>
                <a:cs typeface="Trebuchet MS"/>
                <a:sym typeface="Trebuchet MS"/>
              </a:rPr>
              <a:t> For a given input, the hash function always produces the same output. This property is crucial for consistency and predictability.</a:t>
            </a:r>
            <a:endParaRPr sz="1600">
              <a:solidFill>
                <a:srgbClr val="1E293B"/>
              </a:solidFill>
              <a:latin typeface="Trebuchet MS"/>
              <a:ea typeface="Trebuchet MS"/>
              <a:cs typeface="Trebuchet MS"/>
              <a:sym typeface="Trebuchet MS"/>
            </a:endParaRPr>
          </a:p>
          <a:p>
            <a:pPr indent="0" lvl="0" marL="914400" marR="0" rtl="0" algn="l">
              <a:lnSpc>
                <a:spcPct val="200000"/>
              </a:lnSpc>
              <a:spcBef>
                <a:spcPts val="0"/>
              </a:spcBef>
              <a:spcAft>
                <a:spcPts val="0"/>
              </a:spcAft>
              <a:buNone/>
            </a:pPr>
            <a:r>
              <a:t/>
            </a:r>
            <a:endParaRPr sz="1600">
              <a:solidFill>
                <a:srgbClr val="1E293B"/>
              </a:solidFill>
              <a:latin typeface="Trebuchet MS"/>
              <a:ea typeface="Trebuchet MS"/>
              <a:cs typeface="Trebuchet MS"/>
              <a:sym typeface="Trebuchet MS"/>
            </a:endParaRPr>
          </a:p>
          <a:p>
            <a:pPr indent="-330200" lvl="0" marL="914400" marR="0" rtl="0" algn="l">
              <a:lnSpc>
                <a:spcPct val="200000"/>
              </a:lnSpc>
              <a:spcBef>
                <a:spcPts val="0"/>
              </a:spcBef>
              <a:spcAft>
                <a:spcPts val="0"/>
              </a:spcAft>
              <a:buSzPts val="1600"/>
              <a:buFont typeface="Trebuchet MS"/>
              <a:buChar char="●"/>
            </a:pPr>
            <a:r>
              <a:rPr b="1" lang="en-US" sz="1600">
                <a:solidFill>
                  <a:srgbClr val="1E293B"/>
                </a:solidFill>
                <a:latin typeface="Trebuchet MS"/>
                <a:ea typeface="Trebuchet MS"/>
                <a:cs typeface="Trebuchet MS"/>
                <a:sym typeface="Trebuchet MS"/>
              </a:rPr>
              <a:t>Irreversibility (One-way): </a:t>
            </a:r>
            <a:r>
              <a:rPr lang="en-US" sz="1600">
                <a:solidFill>
                  <a:srgbClr val="1E293B"/>
                </a:solidFill>
                <a:latin typeface="Trebuchet MS"/>
                <a:ea typeface="Trebuchet MS"/>
                <a:cs typeface="Trebuchet MS"/>
                <a:sym typeface="Trebuchet MS"/>
              </a:rPr>
              <a:t>The hash function is designed to be irreversible, meaning it should be computationally infeasible to derive the original input from its hash value. This property ensures that the original data remains secure even if the hash is known.</a:t>
            </a:r>
            <a:endParaRPr sz="1600">
              <a:solidFill>
                <a:srgbClr val="1E293B"/>
              </a:solidFill>
              <a:latin typeface="Trebuchet MS"/>
              <a:ea typeface="Trebuchet MS"/>
              <a:cs typeface="Trebuchet MS"/>
              <a:sym typeface="Trebuchet MS"/>
            </a:endParaRPr>
          </a:p>
          <a:p>
            <a:pPr indent="0" lvl="0" marL="914400" marR="0" rtl="0" algn="l">
              <a:lnSpc>
                <a:spcPct val="200000"/>
              </a:lnSpc>
              <a:spcBef>
                <a:spcPts val="0"/>
              </a:spcBef>
              <a:spcAft>
                <a:spcPts val="0"/>
              </a:spcAft>
              <a:buNone/>
            </a:pPr>
            <a:r>
              <a:t/>
            </a:r>
            <a:endParaRPr sz="1600">
              <a:solidFill>
                <a:srgbClr val="1E293B"/>
              </a:solidFill>
              <a:latin typeface="Trebuchet MS"/>
              <a:ea typeface="Trebuchet MS"/>
              <a:cs typeface="Trebuchet MS"/>
              <a:sym typeface="Trebuchet MS"/>
            </a:endParaRPr>
          </a:p>
          <a:p>
            <a:pPr indent="-330200" lvl="0" marL="914400" marR="0" rtl="0" algn="l">
              <a:lnSpc>
                <a:spcPct val="200000"/>
              </a:lnSpc>
              <a:spcBef>
                <a:spcPts val="0"/>
              </a:spcBef>
              <a:spcAft>
                <a:spcPts val="0"/>
              </a:spcAft>
              <a:buSzPts val="1600"/>
              <a:buFont typeface="Trebuchet MS"/>
              <a:buChar char="●"/>
            </a:pPr>
            <a:r>
              <a:rPr b="1" lang="en-US" sz="1600">
                <a:solidFill>
                  <a:srgbClr val="1E293B"/>
                </a:solidFill>
                <a:latin typeface="Trebuchet MS"/>
                <a:ea typeface="Trebuchet MS"/>
                <a:cs typeface="Trebuchet MS"/>
                <a:sym typeface="Trebuchet MS"/>
              </a:rPr>
              <a:t>Collision resistance: </a:t>
            </a:r>
            <a:r>
              <a:rPr lang="en-US" sz="1600">
                <a:solidFill>
                  <a:srgbClr val="1E293B"/>
                </a:solidFill>
                <a:latin typeface="Trebuchet MS"/>
                <a:ea typeface="Trebuchet MS"/>
                <a:cs typeface="Trebuchet MS"/>
                <a:sym typeface="Trebuchet MS"/>
              </a:rPr>
              <a:t>It should be extremely difficult to find two different inputs that produce the same hash value. In other words, it should be computationally infeasible to create a collision intentionally.</a:t>
            </a:r>
            <a:endParaRPr sz="1600">
              <a:solidFill>
                <a:srgbClr val="1E293B"/>
              </a:solidFill>
              <a:latin typeface="Trebuchet MS"/>
              <a:ea typeface="Trebuchet MS"/>
              <a:cs typeface="Trebuchet MS"/>
              <a:sym typeface="Trebuchet M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6" name="Shape 846"/>
        <p:cNvGrpSpPr/>
        <p:nvPr/>
      </p:nvGrpSpPr>
      <p:grpSpPr>
        <a:xfrm>
          <a:off x="0" y="0"/>
          <a:ext cx="0" cy="0"/>
          <a:chOff x="0" y="0"/>
          <a:chExt cx="0" cy="0"/>
        </a:xfrm>
      </p:grpSpPr>
      <p:sp>
        <p:nvSpPr>
          <p:cNvPr id="847" name="Google Shape;847;g3f557c7bba2_0_324"/>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48" name="Google Shape;848;g3f557c7bba2_0_324"/>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49" name="Google Shape;849;g3f557c7bba2_0_324"/>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17365D"/>
                </a:solidFill>
                <a:latin typeface="Calibri"/>
                <a:ea typeface="Calibri"/>
                <a:cs typeface="Calibri"/>
                <a:sym typeface="Calibri"/>
              </a:rPr>
              <a:t>Applications of Cryptographic hashing (Optional, skip)</a:t>
            </a:r>
            <a:endParaRPr/>
          </a:p>
        </p:txBody>
      </p:sp>
      <p:sp>
        <p:nvSpPr>
          <p:cNvPr id="850" name="Google Shape;850;g3f557c7bba2_0_324"/>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51" name="Google Shape;851;g3f557c7bba2_0_324"/>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852" name="Google Shape;852;g3f557c7bba2_0_324"/>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26</a:t>
            </a:r>
            <a:endParaRPr/>
          </a:p>
        </p:txBody>
      </p:sp>
      <p:sp>
        <p:nvSpPr>
          <p:cNvPr id="853" name="Google Shape;853;g3f557c7bba2_0_324"/>
          <p:cNvSpPr txBox="1"/>
          <p:nvPr/>
        </p:nvSpPr>
        <p:spPr>
          <a:xfrm>
            <a:off x="411475" y="1163600"/>
            <a:ext cx="10804800" cy="4809600"/>
          </a:xfrm>
          <a:prstGeom prst="rect">
            <a:avLst/>
          </a:prstGeom>
          <a:noFill/>
          <a:ln>
            <a:noFill/>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None/>
            </a:pPr>
            <a:r>
              <a:rPr lang="en-US" sz="1600">
                <a:solidFill>
                  <a:srgbClr val="1E293B"/>
                </a:solidFill>
                <a:latin typeface="Trebuchet MS"/>
                <a:ea typeface="Trebuchet MS"/>
                <a:cs typeface="Trebuchet MS"/>
                <a:sym typeface="Trebuchet MS"/>
              </a:rPr>
              <a:t>Numerous applications in information security and computer science, including but not limited to:</a:t>
            </a:r>
            <a:endParaRPr sz="1600">
              <a:solidFill>
                <a:srgbClr val="1E293B"/>
              </a:solidFill>
              <a:latin typeface="Trebuchet MS"/>
              <a:ea typeface="Trebuchet MS"/>
              <a:cs typeface="Trebuchet MS"/>
              <a:sym typeface="Trebuchet MS"/>
            </a:endParaRPr>
          </a:p>
          <a:p>
            <a:pPr indent="-330200" lvl="0" marL="914400" marR="0" rtl="0" algn="l">
              <a:lnSpc>
                <a:spcPct val="200000"/>
              </a:lnSpc>
              <a:spcBef>
                <a:spcPts val="0"/>
              </a:spcBef>
              <a:spcAft>
                <a:spcPts val="0"/>
              </a:spcAft>
              <a:buSzPts val="1600"/>
              <a:buFont typeface="Trebuchet MS"/>
              <a:buChar char="●"/>
            </a:pPr>
            <a:r>
              <a:rPr b="1" lang="en-US" sz="1600">
                <a:solidFill>
                  <a:srgbClr val="1E293B"/>
                </a:solidFill>
                <a:latin typeface="Trebuchet MS"/>
                <a:ea typeface="Trebuchet MS"/>
                <a:cs typeface="Trebuchet MS"/>
                <a:sym typeface="Trebuchet MS"/>
              </a:rPr>
              <a:t>Password storage:</a:t>
            </a:r>
            <a:r>
              <a:rPr lang="en-US" sz="1600">
                <a:solidFill>
                  <a:srgbClr val="1E293B"/>
                </a:solidFill>
                <a:latin typeface="Trebuchet MS"/>
                <a:ea typeface="Trebuchet MS"/>
                <a:cs typeface="Trebuchet MS"/>
                <a:sym typeface="Trebuchet MS"/>
              </a:rPr>
              <a:t> Storing passwords securely by hashing them, preventing direct exposure of user passwords in databases.</a:t>
            </a:r>
            <a:endParaRPr sz="1600">
              <a:solidFill>
                <a:srgbClr val="1E293B"/>
              </a:solidFill>
              <a:latin typeface="Trebuchet MS"/>
              <a:ea typeface="Trebuchet MS"/>
              <a:cs typeface="Trebuchet MS"/>
              <a:sym typeface="Trebuchet MS"/>
            </a:endParaRPr>
          </a:p>
          <a:p>
            <a:pPr indent="-330200" lvl="0" marL="914400" marR="0" rtl="0" algn="l">
              <a:lnSpc>
                <a:spcPct val="200000"/>
              </a:lnSpc>
              <a:spcBef>
                <a:spcPts val="0"/>
              </a:spcBef>
              <a:spcAft>
                <a:spcPts val="0"/>
              </a:spcAft>
              <a:buSzPts val="1600"/>
              <a:buFont typeface="Trebuchet MS"/>
              <a:buChar char="●"/>
            </a:pPr>
            <a:r>
              <a:rPr b="1" lang="en-US" sz="1600">
                <a:solidFill>
                  <a:srgbClr val="1E293B"/>
                </a:solidFill>
                <a:latin typeface="Trebuchet MS"/>
                <a:ea typeface="Trebuchet MS"/>
                <a:cs typeface="Trebuchet MS"/>
                <a:sym typeface="Trebuchet MS"/>
              </a:rPr>
              <a:t>Data integrity verification: </a:t>
            </a:r>
            <a:r>
              <a:rPr lang="en-US" sz="1600">
                <a:solidFill>
                  <a:srgbClr val="1E293B"/>
                </a:solidFill>
                <a:latin typeface="Trebuchet MS"/>
                <a:ea typeface="Trebuchet MS"/>
                <a:cs typeface="Trebuchet MS"/>
                <a:sym typeface="Trebuchet MS"/>
              </a:rPr>
              <a:t>Verifying that data has not been tampered with by comparing the hash of the original data with the computed hash of the received data.</a:t>
            </a:r>
            <a:endParaRPr sz="1600">
              <a:solidFill>
                <a:srgbClr val="1E293B"/>
              </a:solidFill>
              <a:latin typeface="Trebuchet MS"/>
              <a:ea typeface="Trebuchet MS"/>
              <a:cs typeface="Trebuchet MS"/>
              <a:sym typeface="Trebuchet MS"/>
            </a:endParaRPr>
          </a:p>
          <a:p>
            <a:pPr indent="-330200" lvl="0" marL="914400" marR="0" rtl="0" algn="l">
              <a:lnSpc>
                <a:spcPct val="200000"/>
              </a:lnSpc>
              <a:spcBef>
                <a:spcPts val="0"/>
              </a:spcBef>
              <a:spcAft>
                <a:spcPts val="0"/>
              </a:spcAft>
              <a:buSzPts val="1600"/>
              <a:buFont typeface="Trebuchet MS"/>
              <a:buChar char="●"/>
            </a:pPr>
            <a:r>
              <a:rPr b="1" lang="en-US" sz="1600">
                <a:solidFill>
                  <a:srgbClr val="1E293B"/>
                </a:solidFill>
                <a:latin typeface="Trebuchet MS"/>
                <a:ea typeface="Trebuchet MS"/>
                <a:cs typeface="Trebuchet MS"/>
                <a:sym typeface="Trebuchet MS"/>
              </a:rPr>
              <a:t>Digital signatures: </a:t>
            </a:r>
            <a:r>
              <a:rPr lang="en-US" sz="1600">
                <a:solidFill>
                  <a:srgbClr val="1E293B"/>
                </a:solidFill>
                <a:latin typeface="Trebuchet MS"/>
                <a:ea typeface="Trebuchet MS"/>
                <a:cs typeface="Trebuchet MS"/>
                <a:sym typeface="Trebuchet MS"/>
              </a:rPr>
              <a:t>Used in digital signature algorithms to ensure authenticity and integrity of messages or documents.</a:t>
            </a:r>
            <a:endParaRPr sz="1600">
              <a:solidFill>
                <a:srgbClr val="1E293B"/>
              </a:solidFill>
              <a:latin typeface="Trebuchet MS"/>
              <a:ea typeface="Trebuchet MS"/>
              <a:cs typeface="Trebuchet MS"/>
              <a:sym typeface="Trebuchet MS"/>
            </a:endParaRPr>
          </a:p>
          <a:p>
            <a:pPr indent="-330200" lvl="0" marL="914400" marR="0" rtl="0" algn="l">
              <a:lnSpc>
                <a:spcPct val="200000"/>
              </a:lnSpc>
              <a:spcBef>
                <a:spcPts val="0"/>
              </a:spcBef>
              <a:spcAft>
                <a:spcPts val="0"/>
              </a:spcAft>
              <a:buSzPts val="1600"/>
              <a:buFont typeface="Trebuchet MS"/>
              <a:buChar char="●"/>
            </a:pPr>
            <a:r>
              <a:rPr b="1" lang="en-US" sz="1600">
                <a:solidFill>
                  <a:srgbClr val="1E293B"/>
                </a:solidFill>
                <a:latin typeface="Trebuchet MS"/>
                <a:ea typeface="Trebuchet MS"/>
                <a:cs typeface="Trebuchet MS"/>
                <a:sym typeface="Trebuchet MS"/>
              </a:rPr>
              <a:t>Secure storage and retrieval:</a:t>
            </a:r>
            <a:r>
              <a:rPr lang="en-US" sz="1600">
                <a:solidFill>
                  <a:srgbClr val="1E293B"/>
                </a:solidFill>
                <a:latin typeface="Trebuchet MS"/>
                <a:ea typeface="Trebuchet MS"/>
                <a:cs typeface="Trebuchet MS"/>
                <a:sym typeface="Trebuchet MS"/>
              </a:rPr>
              <a:t> Employed in blockchain technology to create secure links between blocks of data.</a:t>
            </a:r>
            <a:endParaRPr sz="1600">
              <a:solidFill>
                <a:srgbClr val="1E293B"/>
              </a:solidFill>
              <a:latin typeface="Trebuchet MS"/>
              <a:ea typeface="Trebuchet MS"/>
              <a:cs typeface="Trebuchet MS"/>
              <a:sym typeface="Trebuchet M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7" name="Shape 857"/>
        <p:cNvGrpSpPr/>
        <p:nvPr/>
      </p:nvGrpSpPr>
      <p:grpSpPr>
        <a:xfrm>
          <a:off x="0" y="0"/>
          <a:ext cx="0" cy="0"/>
          <a:chOff x="0" y="0"/>
          <a:chExt cx="0" cy="0"/>
        </a:xfrm>
      </p:grpSpPr>
      <p:sp>
        <p:nvSpPr>
          <p:cNvPr id="858" name="Google Shape;858;g3f557c7bba2_0_335"/>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59" name="Google Shape;859;g3f557c7bba2_0_335"/>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60" name="Google Shape;860;g3f557c7bba2_0_335"/>
          <p:cNvSpPr txBox="1"/>
          <p:nvPr/>
        </p:nvSpPr>
        <p:spPr>
          <a:xfrm>
            <a:off x="411480" y="256032"/>
            <a:ext cx="111558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17365D"/>
                </a:solidFill>
                <a:latin typeface="Calibri"/>
                <a:ea typeface="Calibri"/>
                <a:cs typeface="Calibri"/>
                <a:sym typeface="Calibri"/>
              </a:rPr>
              <a:t>Common Cryptographic Hashing Algorithms </a:t>
            </a:r>
            <a:r>
              <a:rPr b="1" lang="en-US" sz="2400">
                <a:solidFill>
                  <a:srgbClr val="17365D"/>
                </a:solidFill>
                <a:latin typeface="Calibri"/>
                <a:ea typeface="Calibri"/>
                <a:cs typeface="Calibri"/>
                <a:sym typeface="Calibri"/>
              </a:rPr>
              <a:t>(Optional, skip)</a:t>
            </a:r>
            <a:endParaRPr/>
          </a:p>
        </p:txBody>
      </p:sp>
      <p:sp>
        <p:nvSpPr>
          <p:cNvPr id="861" name="Google Shape;861;g3f557c7bba2_0_335"/>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62" name="Google Shape;862;g3f557c7bba2_0_335"/>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863" name="Google Shape;863;g3f557c7bba2_0_335"/>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26</a:t>
            </a:r>
            <a:endParaRPr/>
          </a:p>
        </p:txBody>
      </p:sp>
      <p:sp>
        <p:nvSpPr>
          <p:cNvPr id="864" name="Google Shape;864;g3f557c7bba2_0_335"/>
          <p:cNvSpPr txBox="1"/>
          <p:nvPr/>
        </p:nvSpPr>
        <p:spPr>
          <a:xfrm>
            <a:off x="411475" y="1163600"/>
            <a:ext cx="10804800" cy="4809600"/>
          </a:xfrm>
          <a:prstGeom prst="rect">
            <a:avLst/>
          </a:prstGeom>
          <a:noFill/>
          <a:ln>
            <a:noFill/>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None/>
            </a:pPr>
            <a:r>
              <a:t/>
            </a:r>
            <a:endParaRPr sz="1600">
              <a:solidFill>
                <a:srgbClr val="1E293B"/>
              </a:solidFill>
              <a:latin typeface="Trebuchet MS"/>
              <a:ea typeface="Trebuchet MS"/>
              <a:cs typeface="Trebuchet MS"/>
              <a:sym typeface="Trebuchet MS"/>
            </a:endParaRPr>
          </a:p>
          <a:p>
            <a:pPr indent="-330200" lvl="0" marL="914400" marR="0" rtl="0" algn="l">
              <a:lnSpc>
                <a:spcPct val="200000"/>
              </a:lnSpc>
              <a:spcBef>
                <a:spcPts val="0"/>
              </a:spcBef>
              <a:spcAft>
                <a:spcPts val="0"/>
              </a:spcAft>
              <a:buSzPts val="1600"/>
              <a:buFont typeface="Trebuchet MS"/>
              <a:buChar char="●"/>
            </a:pPr>
            <a:r>
              <a:rPr lang="en-US" sz="1600">
                <a:solidFill>
                  <a:srgbClr val="1E293B"/>
                </a:solidFill>
                <a:latin typeface="Trebuchet MS"/>
                <a:ea typeface="Trebuchet MS"/>
                <a:cs typeface="Trebuchet MS"/>
                <a:sym typeface="Trebuchet MS"/>
              </a:rPr>
              <a:t>MD5: Message Digest Algorithm 5</a:t>
            </a:r>
            <a:endParaRPr sz="1600">
              <a:solidFill>
                <a:srgbClr val="1E293B"/>
              </a:solidFill>
              <a:latin typeface="Trebuchet MS"/>
              <a:ea typeface="Trebuchet MS"/>
              <a:cs typeface="Trebuchet MS"/>
              <a:sym typeface="Trebuchet MS"/>
            </a:endParaRPr>
          </a:p>
          <a:p>
            <a:pPr indent="-330200" lvl="0" marL="914400" marR="0" rtl="0" algn="l">
              <a:lnSpc>
                <a:spcPct val="200000"/>
              </a:lnSpc>
              <a:spcBef>
                <a:spcPts val="0"/>
              </a:spcBef>
              <a:spcAft>
                <a:spcPts val="0"/>
              </a:spcAft>
              <a:buSzPts val="1600"/>
              <a:buFont typeface="Trebuchet MS"/>
              <a:buChar char="●"/>
            </a:pPr>
            <a:r>
              <a:rPr lang="en-US" sz="1600">
                <a:solidFill>
                  <a:srgbClr val="1E293B"/>
                </a:solidFill>
                <a:latin typeface="Trebuchet MS"/>
                <a:ea typeface="Trebuchet MS"/>
                <a:cs typeface="Trebuchet MS"/>
                <a:sym typeface="Trebuchet MS"/>
              </a:rPr>
              <a:t>SHA-1: Secure Hash Algorithm 1</a:t>
            </a:r>
            <a:endParaRPr sz="1600">
              <a:solidFill>
                <a:srgbClr val="1E293B"/>
              </a:solidFill>
              <a:latin typeface="Trebuchet MS"/>
              <a:ea typeface="Trebuchet MS"/>
              <a:cs typeface="Trebuchet MS"/>
              <a:sym typeface="Trebuchet MS"/>
            </a:endParaRPr>
          </a:p>
          <a:p>
            <a:pPr indent="-330200" lvl="0" marL="914400" marR="0" rtl="0" algn="l">
              <a:lnSpc>
                <a:spcPct val="200000"/>
              </a:lnSpc>
              <a:spcBef>
                <a:spcPts val="0"/>
              </a:spcBef>
              <a:spcAft>
                <a:spcPts val="0"/>
              </a:spcAft>
              <a:buSzPts val="1600"/>
              <a:buFont typeface="Trebuchet MS"/>
              <a:buChar char="●"/>
            </a:pPr>
            <a:r>
              <a:rPr lang="en-US" sz="1600">
                <a:solidFill>
                  <a:srgbClr val="1E293B"/>
                </a:solidFill>
                <a:latin typeface="Trebuchet MS"/>
                <a:ea typeface="Trebuchet MS"/>
                <a:cs typeface="Trebuchet MS"/>
                <a:sym typeface="Trebuchet MS"/>
              </a:rPr>
              <a:t>SHA-256: Part of the SHA-2 family</a:t>
            </a:r>
            <a:endParaRPr sz="1600">
              <a:solidFill>
                <a:srgbClr val="1E293B"/>
              </a:solidFill>
              <a:latin typeface="Trebuchet MS"/>
              <a:ea typeface="Trebuchet MS"/>
              <a:cs typeface="Trebuchet MS"/>
              <a:sym typeface="Trebuchet MS"/>
            </a:endParaRPr>
          </a:p>
          <a:p>
            <a:pPr indent="-330200" lvl="0" marL="914400" marR="0" rtl="0" algn="l">
              <a:lnSpc>
                <a:spcPct val="200000"/>
              </a:lnSpc>
              <a:spcBef>
                <a:spcPts val="0"/>
              </a:spcBef>
              <a:spcAft>
                <a:spcPts val="0"/>
              </a:spcAft>
              <a:buSzPts val="1600"/>
              <a:buFont typeface="Trebuchet MS"/>
              <a:buChar char="●"/>
            </a:pPr>
            <a:r>
              <a:rPr lang="en-US" sz="1600">
                <a:solidFill>
                  <a:srgbClr val="1E293B"/>
                </a:solidFill>
                <a:latin typeface="Trebuchet MS"/>
                <a:ea typeface="Trebuchet MS"/>
                <a:cs typeface="Trebuchet MS"/>
                <a:sym typeface="Trebuchet MS"/>
              </a:rPr>
              <a:t>SHA-3: A newer Secure Hash Algorithm standard</a:t>
            </a:r>
            <a:endParaRPr sz="1600">
              <a:solidFill>
                <a:srgbClr val="1E293B"/>
              </a:solidFill>
              <a:latin typeface="Trebuchet MS"/>
              <a:ea typeface="Trebuchet MS"/>
              <a:cs typeface="Trebuchet MS"/>
              <a:sym typeface="Trebuchet MS"/>
            </a:endParaRPr>
          </a:p>
          <a:p>
            <a:pPr indent="-330200" lvl="0" marL="914400" marR="0" rtl="0" algn="l">
              <a:lnSpc>
                <a:spcPct val="200000"/>
              </a:lnSpc>
              <a:spcBef>
                <a:spcPts val="0"/>
              </a:spcBef>
              <a:spcAft>
                <a:spcPts val="0"/>
              </a:spcAft>
              <a:buSzPts val="1600"/>
              <a:buFont typeface="Trebuchet MS"/>
              <a:buChar char="●"/>
            </a:pPr>
            <a:r>
              <a:rPr lang="en-US" sz="1600">
                <a:solidFill>
                  <a:srgbClr val="1E293B"/>
                </a:solidFill>
                <a:latin typeface="Trebuchet MS"/>
                <a:ea typeface="Trebuchet MS"/>
                <a:cs typeface="Trebuchet MS"/>
                <a:sym typeface="Trebuchet MS"/>
              </a:rPr>
              <a:t>Older hashing algorithms may become less secure as:</a:t>
            </a:r>
            <a:endParaRPr sz="1600">
              <a:solidFill>
                <a:srgbClr val="1E293B"/>
              </a:solidFill>
              <a:latin typeface="Trebuchet MS"/>
              <a:ea typeface="Trebuchet MS"/>
              <a:cs typeface="Trebuchet MS"/>
              <a:sym typeface="Trebuchet MS"/>
            </a:endParaRPr>
          </a:p>
          <a:p>
            <a:pPr indent="-330200" lvl="1" marL="1371600" marR="0" rtl="0" algn="l">
              <a:lnSpc>
                <a:spcPct val="200000"/>
              </a:lnSpc>
              <a:spcBef>
                <a:spcPts val="0"/>
              </a:spcBef>
              <a:spcAft>
                <a:spcPts val="0"/>
              </a:spcAft>
              <a:buSzPts val="1600"/>
              <a:buFont typeface="Trebuchet MS"/>
              <a:buChar char="○"/>
            </a:pPr>
            <a:r>
              <a:rPr lang="en-US" sz="1600">
                <a:solidFill>
                  <a:srgbClr val="1E293B"/>
                </a:solidFill>
                <a:latin typeface="Trebuchet MS"/>
                <a:ea typeface="Trebuchet MS"/>
                <a:cs typeface="Trebuchet MS"/>
                <a:sym typeface="Trebuchet MS"/>
              </a:rPr>
              <a:t>Computing power increases</a:t>
            </a:r>
            <a:endParaRPr sz="1600">
              <a:solidFill>
                <a:srgbClr val="1E293B"/>
              </a:solidFill>
              <a:latin typeface="Trebuchet MS"/>
              <a:ea typeface="Trebuchet MS"/>
              <a:cs typeface="Trebuchet MS"/>
              <a:sym typeface="Trebuchet MS"/>
            </a:endParaRPr>
          </a:p>
          <a:p>
            <a:pPr indent="-330200" lvl="1" marL="1371600" marR="0" rtl="0" algn="l">
              <a:lnSpc>
                <a:spcPct val="200000"/>
              </a:lnSpc>
              <a:spcBef>
                <a:spcPts val="0"/>
              </a:spcBef>
              <a:spcAft>
                <a:spcPts val="0"/>
              </a:spcAft>
              <a:buSzPts val="1600"/>
              <a:buFont typeface="Trebuchet MS"/>
              <a:buChar char="○"/>
            </a:pPr>
            <a:r>
              <a:rPr lang="en-US" sz="1600">
                <a:solidFill>
                  <a:srgbClr val="1E293B"/>
                </a:solidFill>
                <a:latin typeface="Trebuchet MS"/>
                <a:ea typeface="Trebuchet MS"/>
                <a:cs typeface="Trebuchet MS"/>
                <a:sym typeface="Trebuchet MS"/>
              </a:rPr>
              <a:t>New cryptographic vulnerabilities are discovered</a:t>
            </a:r>
            <a:endParaRPr sz="1600">
              <a:solidFill>
                <a:srgbClr val="1E293B"/>
              </a:solidFill>
              <a:latin typeface="Trebuchet MS"/>
              <a:ea typeface="Trebuchet MS"/>
              <a:cs typeface="Trebuchet MS"/>
              <a:sym typeface="Trebuchet MS"/>
            </a:endParaRPr>
          </a:p>
          <a:p>
            <a:pPr indent="-330200" lvl="0" marL="914400" marR="0" rtl="0" algn="l">
              <a:lnSpc>
                <a:spcPct val="200000"/>
              </a:lnSpc>
              <a:spcBef>
                <a:spcPts val="0"/>
              </a:spcBef>
              <a:spcAft>
                <a:spcPts val="0"/>
              </a:spcAft>
              <a:buSzPts val="1600"/>
              <a:buFont typeface="Trebuchet MS"/>
              <a:buChar char="●"/>
            </a:pPr>
            <a:r>
              <a:rPr lang="en-US" sz="1600">
                <a:solidFill>
                  <a:srgbClr val="1E293B"/>
                </a:solidFill>
                <a:latin typeface="Trebuchet MS"/>
                <a:ea typeface="Trebuchet MS"/>
                <a:cs typeface="Trebuchet MS"/>
                <a:sym typeface="Trebuchet MS"/>
              </a:rPr>
              <a:t>Use the most current and secure hashing algorithm available.</a:t>
            </a:r>
            <a:endParaRPr sz="1600">
              <a:solidFill>
                <a:srgbClr val="1E293B"/>
              </a:solidFill>
              <a:latin typeface="Trebuchet MS"/>
              <a:ea typeface="Trebuchet MS"/>
              <a:cs typeface="Trebuchet MS"/>
              <a:sym typeface="Trebuchet M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8" name="Shape 868"/>
        <p:cNvGrpSpPr/>
        <p:nvPr/>
      </p:nvGrpSpPr>
      <p:grpSpPr>
        <a:xfrm>
          <a:off x="0" y="0"/>
          <a:ext cx="0" cy="0"/>
          <a:chOff x="0" y="0"/>
          <a:chExt cx="0" cy="0"/>
        </a:xfrm>
      </p:grpSpPr>
      <p:sp>
        <p:nvSpPr>
          <p:cNvPr id="869" name="Google Shape;869;g3f557c7bba2_0_346"/>
          <p:cNvSpPr/>
          <p:nvPr/>
        </p:nvSpPr>
        <p:spPr>
          <a:xfrm>
            <a:off x="0" y="0"/>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70" name="Google Shape;870;g3f557c7bba2_0_346"/>
          <p:cNvSpPr/>
          <p:nvPr/>
        </p:nvSpPr>
        <p:spPr>
          <a:xfrm>
            <a:off x="0" y="6693408"/>
            <a:ext cx="12191700" cy="164700"/>
          </a:xfrm>
          <a:prstGeom prst="rect">
            <a:avLst/>
          </a:prstGeom>
          <a:solidFill>
            <a:srgbClr val="1F4E79"/>
          </a:solidFill>
          <a:ln cap="flat" cmpd="sng" w="9525">
            <a:solidFill>
              <a:srgbClr val="1F4E7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71" name="Google Shape;871;g3f557c7bba2_0_346"/>
          <p:cNvSpPr/>
          <p:nvPr/>
        </p:nvSpPr>
        <p:spPr>
          <a:xfrm>
            <a:off x="411480" y="1005840"/>
            <a:ext cx="11247000" cy="18300"/>
          </a:xfrm>
          <a:prstGeom prst="rect">
            <a:avLst/>
          </a:prstGeom>
          <a:solidFill>
            <a:srgbClr val="D9EAF7"/>
          </a:solidFill>
          <a:ln cap="flat" cmpd="sng" w="9525">
            <a:solidFill>
              <a:srgbClr val="D9EA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72" name="Google Shape;872;g3f557c7bba2_0_346"/>
          <p:cNvSpPr txBox="1"/>
          <p:nvPr/>
        </p:nvSpPr>
        <p:spPr>
          <a:xfrm>
            <a:off x="411480" y="6419088"/>
            <a:ext cx="2286000" cy="20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50" u="none" cap="none" strike="noStrike">
                <a:solidFill>
                  <a:srgbClr val="5F6368"/>
                </a:solidFill>
                <a:latin typeface="Calibri"/>
                <a:ea typeface="Calibri"/>
                <a:cs typeface="Calibri"/>
                <a:sym typeface="Calibri"/>
              </a:rPr>
              <a:t>Hashing</a:t>
            </a:r>
            <a:endParaRPr/>
          </a:p>
        </p:txBody>
      </p:sp>
      <p:sp>
        <p:nvSpPr>
          <p:cNvPr id="873" name="Google Shape;873;g3f557c7bba2_0_346"/>
          <p:cNvSpPr txBox="1"/>
          <p:nvPr/>
        </p:nvSpPr>
        <p:spPr>
          <a:xfrm>
            <a:off x="10927080" y="6419088"/>
            <a:ext cx="822900" cy="2079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750" u="none" cap="none" strike="noStrike">
                <a:solidFill>
                  <a:srgbClr val="5F6368"/>
                </a:solidFill>
                <a:latin typeface="Calibri"/>
                <a:ea typeface="Calibri"/>
                <a:cs typeface="Calibri"/>
                <a:sym typeface="Calibri"/>
              </a:rPr>
              <a:t>26</a:t>
            </a:r>
            <a:endParaRPr/>
          </a:p>
        </p:txBody>
      </p:sp>
      <p:sp>
        <p:nvSpPr>
          <p:cNvPr id="874" name="Google Shape;874;g3f557c7bba2_0_346"/>
          <p:cNvSpPr txBox="1"/>
          <p:nvPr/>
        </p:nvSpPr>
        <p:spPr>
          <a:xfrm>
            <a:off x="5162552" y="3366975"/>
            <a:ext cx="1477500" cy="389400"/>
          </a:xfrm>
          <a:prstGeom prst="rect">
            <a:avLst/>
          </a:prstGeom>
          <a:noFill/>
          <a:ln>
            <a:noFill/>
          </a:ln>
        </p:spPr>
        <p:txBody>
          <a:bodyPr anchorCtr="0" anchor="t" bIns="0" lIns="0" spcFirstLastPara="1" rIns="0" wrap="square" tIns="12050">
            <a:spAutoFit/>
          </a:bodyPr>
          <a:lstStyle/>
          <a:p>
            <a:pPr indent="0" lvl="0" marL="12700" rtl="0" algn="l">
              <a:spcBef>
                <a:spcPts val="0"/>
              </a:spcBef>
              <a:spcAft>
                <a:spcPts val="0"/>
              </a:spcAft>
              <a:buNone/>
            </a:pPr>
            <a:r>
              <a:rPr lang="en-US" sz="2450">
                <a:latin typeface="Trebuchet MS"/>
                <a:ea typeface="Trebuchet MS"/>
                <a:cs typeface="Trebuchet MS"/>
                <a:sym typeface="Trebuchet MS"/>
              </a:rPr>
              <a:t>The End</a:t>
            </a:r>
            <a:endParaRPr sz="2450">
              <a:solidFill>
                <a:srgbClr val="334669"/>
              </a:solidFill>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