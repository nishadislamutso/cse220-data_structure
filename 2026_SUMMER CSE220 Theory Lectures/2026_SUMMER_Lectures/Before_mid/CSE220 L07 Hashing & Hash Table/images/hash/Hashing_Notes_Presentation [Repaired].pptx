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12192000"/>
  <p:embeddedFontLst>
    <p:embeddedFont>
      <p:font typeface="Play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vLPrv4Ij2TtKQhsE8Njq5/Uh0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Play-regular.fnt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7" name="Google Shape;45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f558279506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6" name="Google Shape;526;g3f558279506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f558279506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8" name="Google Shape;54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0" name="Google Shape;59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6" name="Google Shape;60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1" name="Google Shape;63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5" name="Google Shape;645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676656" y="859536"/>
            <a:ext cx="5669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800"/>
              <a:buFont typeface="Play"/>
              <a:buNone/>
            </a:pPr>
            <a:r>
              <a:rPr b="1" i="0" lang="en-US" sz="4800" u="none" cap="none" strike="noStrike">
                <a:solidFill>
                  <a:srgbClr val="17365D"/>
                </a:solidFill>
                <a:latin typeface="Play"/>
                <a:ea typeface="Play"/>
                <a:cs typeface="Play"/>
                <a:sym typeface="Play"/>
              </a:rPr>
              <a:t>HASHING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713232" y="160020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Editable PowerPoint Notes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31520" y="2212848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From key-value storage to forward chaining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6492240" y="1051560"/>
            <a:ext cx="4480560" cy="4343400"/>
          </a:xfrm>
          <a:prstGeom prst="roundRect">
            <a:avLst>
              <a:gd fmla="val 2526" name="adj"/>
            </a:avLst>
          </a:prstGeom>
          <a:solidFill>
            <a:srgbClr val="FFFFFF"/>
          </a:solidFill>
          <a:ln cap="flat" cmpd="sng" w="12700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12280" y="14447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001000" y="1170432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hash function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9784080" y="14447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bucket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7360920" y="1874520"/>
            <a:ext cx="640080" cy="0"/>
          </a:xfrm>
          <a:prstGeom prst="straightConnector1">
            <a:avLst/>
          </a:prstGeom>
          <a:noFill/>
          <a:ln cap="flat" cmpd="sng" w="17775">
            <a:solidFill>
              <a:srgbClr val="5B657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" name="Google Shape;21;p1"/>
          <p:cNvCxnSpPr/>
          <p:nvPr/>
        </p:nvCxnSpPr>
        <p:spPr>
          <a:xfrm>
            <a:off x="9372600" y="1874520"/>
            <a:ext cx="548640" cy="0"/>
          </a:xfrm>
          <a:prstGeom prst="straightConnector1">
            <a:avLst/>
          </a:prstGeom>
          <a:noFill/>
          <a:ln cap="flat" cmpd="sng" w="17775">
            <a:solidFill>
              <a:srgbClr val="5B65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" name="Google Shape;22;p1"/>
          <p:cNvSpPr/>
          <p:nvPr/>
        </p:nvSpPr>
        <p:spPr>
          <a:xfrm>
            <a:off x="6656832" y="1700784"/>
            <a:ext cx="868680" cy="347472"/>
          </a:xfrm>
          <a:prstGeom prst="roundRect">
            <a:avLst>
              <a:gd fmla="val 13158" name="adj"/>
            </a:avLst>
          </a:prstGeom>
          <a:solidFill>
            <a:srgbClr val="EAF2F8"/>
          </a:solidFill>
          <a:ln cap="flat" cmpd="sng" w="12700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656832" y="1810512"/>
            <a:ext cx="868680" cy="100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Ada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936992" y="1618488"/>
            <a:ext cx="1234440" cy="50292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F1E7F7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8028432" y="1728216"/>
            <a:ext cx="10515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Σ ASCII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% size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9674352" y="1664208"/>
            <a:ext cx="822960" cy="411480"/>
          </a:xfrm>
          <a:prstGeom prst="rect">
            <a:avLst/>
          </a:prstGeom>
          <a:solidFill>
            <a:srgbClr val="E2F0D9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9674352" y="1810512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912864" y="2788920"/>
            <a:ext cx="31089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6912864" y="2935224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242048" y="2788920"/>
            <a:ext cx="31089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7242048" y="2935224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7571232" y="2788920"/>
            <a:ext cx="31089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7571232" y="2935224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7900416" y="2788920"/>
            <a:ext cx="31089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7900416" y="2935224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8229600" y="2788920"/>
            <a:ext cx="31089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8229600" y="2935224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8558784" y="2788920"/>
            <a:ext cx="31089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8558784" y="2935224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8887968" y="2788920"/>
            <a:ext cx="31089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8887968" y="2935224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9217152" y="2788920"/>
            <a:ext cx="31089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9217152" y="2935224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9546336" y="2788920"/>
            <a:ext cx="31089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9546336" y="2935224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9875520" y="2788920"/>
            <a:ext cx="310896" cy="411480"/>
          </a:xfrm>
          <a:prstGeom prst="rect">
            <a:avLst/>
          </a:prstGeom>
          <a:solidFill>
            <a:srgbClr val="FCE4D6"/>
          </a:solidFill>
          <a:ln cap="flat" cmpd="sng" w="152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9875520" y="2935224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10204704" y="2788920"/>
            <a:ext cx="31089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"/>
          <p:cNvSpPr/>
          <p:nvPr/>
        </p:nvSpPr>
        <p:spPr>
          <a:xfrm>
            <a:off x="10204704" y="2935224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6903720" y="3840480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572"/>
              <a:buFont typeface="Arial"/>
              <a:buNone/>
            </a:pPr>
            <a:r>
              <a:rPr b="1" i="0" lang="en-US" sz="1573" u="none" cap="none" strike="noStrike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A hash table uses a calculated index instead of a linear search.</a:t>
            </a:r>
            <a:endParaRPr b="0" i="0" sz="157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10012680" y="6510528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740"/>
              <a:buFont typeface="Arial"/>
              <a:buNone/>
            </a:pPr>
            <a:r>
              <a:rPr b="0" i="0" lang="en-US" sz="740" u="none" cap="none" strike="noStrike">
                <a:solidFill>
                  <a:srgbClr val="8B97A8"/>
                </a:solidFill>
                <a:latin typeface="Arial"/>
                <a:ea typeface="Arial"/>
                <a:cs typeface="Arial"/>
                <a:sym typeface="Arial"/>
              </a:rPr>
              <a:t>Hashing Notes  |  1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7365D"/>
                </a:solidFill>
                <a:latin typeface="Play"/>
                <a:ea typeface="Play"/>
                <a:cs typeface="Play"/>
                <a:sym typeface="Play"/>
              </a:rPr>
              <a:t>1. Why Hashing?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30352" y="694944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The goal is to avoid searching the whole array when the index is unknown.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" name="Google Shape;60;p2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2"/>
          <p:cNvSpPr/>
          <p:nvPr/>
        </p:nvSpPr>
        <p:spPr>
          <a:xfrm>
            <a:off x="685800" y="126187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Without hashing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446520" y="126187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With hashing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85800" y="2057400"/>
            <a:ext cx="40233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685800" y="2203704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Jan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94944" y="2542032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124712" y="2057400"/>
            <a:ext cx="40233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1124712" y="2203704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Tim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1133856" y="2542032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1563624" y="2057400"/>
            <a:ext cx="40233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1563624" y="2203704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Mia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1572768" y="2542032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2002536" y="2057400"/>
            <a:ext cx="40233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2002536" y="2203704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Sam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2011680" y="2542032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2441448" y="2057400"/>
            <a:ext cx="40233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2441448" y="2203704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Leo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2450592" y="2542032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2880360" y="2057400"/>
            <a:ext cx="40233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2880360" y="2203704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Ted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2889504" y="2542032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3319272" y="2057400"/>
            <a:ext cx="40233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3319272" y="2203704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Bea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3328416" y="2542032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3758184" y="2057400"/>
            <a:ext cx="40233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3758184" y="2203704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Lou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3767328" y="2542032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4197096" y="2057400"/>
            <a:ext cx="40233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4197096" y="2203704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Ada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4206240" y="2542032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4636008" y="2057400"/>
            <a:ext cx="40233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4636008" y="2203704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4645152" y="2542032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2194560" y="169164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Find Ada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914400" y="307238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Worst case: check many positions → O(n)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6446520" y="2057400"/>
            <a:ext cx="40233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6446520" y="2203704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Jan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6455664" y="2542032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6885432" y="2057400"/>
            <a:ext cx="40233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6885432" y="2203704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Tim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6894576" y="2542032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7324344" y="2057400"/>
            <a:ext cx="40233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7324344" y="2203704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Mia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7333488" y="2542032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7763256" y="2057400"/>
            <a:ext cx="40233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7763256" y="2203704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Sam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7772400" y="2542032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8202168" y="2057400"/>
            <a:ext cx="40233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202168" y="2203704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Leo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8211312" y="2542032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8641080" y="2057400"/>
            <a:ext cx="40233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8641080" y="2203704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Ted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8650224" y="2542032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9079992" y="2057400"/>
            <a:ext cx="40233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9079992" y="2203704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Bea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9089136" y="2542032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9518904" y="2057400"/>
            <a:ext cx="40233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9518904" y="2203704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Lou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9528048" y="2542032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9957816" y="2057400"/>
            <a:ext cx="40233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9957816" y="2203704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Ada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9966960" y="2542032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10396728" y="2057400"/>
            <a:ext cx="402336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10396728" y="2203704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870"/>
              <a:buFont typeface="Arial"/>
              <a:buNone/>
            </a:pPr>
            <a:r>
              <a:rPr b="1" lang="en-US" sz="87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10405872" y="2542032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8001000" y="169164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Ada → index 8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6720840" y="307238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Direct access → O(1) average/ideal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822960" y="4041648"/>
            <a:ext cx="10241280" cy="1325880"/>
          </a:xfrm>
          <a:prstGeom prst="roundRect">
            <a:avLst>
              <a:gd fmla="val 5517" name="adj"/>
            </a:avLst>
          </a:prstGeom>
          <a:solidFill>
            <a:srgbClr val="EAF2F8"/>
          </a:solidFill>
          <a:ln cap="flat" cmpd="sng" w="12700">
            <a:solidFill>
              <a:srgbClr val="EAF2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>
            <a:off x="1143000" y="437083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942"/>
              <a:buFont typeface="Arial"/>
              <a:buNone/>
            </a:pPr>
            <a:r>
              <a:rPr b="1" lang="en-US" sz="1943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Hashing is a space–time trade-off: it uses extra memory to gain fast retrieval.</a:t>
            </a:r>
            <a:endParaRPr sz="194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10012680" y="6510528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8B97A8"/>
                </a:solidFill>
                <a:latin typeface="Arial"/>
                <a:ea typeface="Arial"/>
                <a:cs typeface="Arial"/>
                <a:sym typeface="Arial"/>
              </a:rPr>
              <a:t>Hashing Notes  |  2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7365D"/>
                </a:solidFill>
                <a:latin typeface="Play"/>
                <a:ea typeface="Play"/>
                <a:cs typeface="Play"/>
                <a:sym typeface="Play"/>
              </a:rPr>
              <a:t>2. Hash Table Basics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530352" y="694944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A hash table stores key-value pairs instead of relying on manually remembered indices.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3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3"/>
          <p:cNvSpPr/>
          <p:nvPr/>
        </p:nvSpPr>
        <p:spPr>
          <a:xfrm>
            <a:off x="658368" y="1325880"/>
            <a:ext cx="1417320" cy="621792"/>
          </a:xfrm>
          <a:prstGeom prst="rect">
            <a:avLst/>
          </a:prstGeom>
          <a:solidFill>
            <a:srgbClr val="2F5597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Term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2075688" y="1325880"/>
            <a:ext cx="3566160" cy="621792"/>
          </a:xfrm>
          <a:prstGeom prst="rect">
            <a:avLst/>
          </a:prstGeom>
          <a:solidFill>
            <a:srgbClr val="2F5597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Meaning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658368" y="1947672"/>
            <a:ext cx="141732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2075688" y="1947672"/>
            <a:ext cx="356616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The part of data used to calculate the hash index.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658368" y="2569464"/>
            <a:ext cx="141732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2075688" y="2569464"/>
            <a:ext cx="356616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The information associated with the key.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658368" y="3191256"/>
            <a:ext cx="141732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Bucket / slot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2075688" y="3191256"/>
            <a:ext cx="356616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The array position where the key-value pair is stored.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658368" y="3813048"/>
            <a:ext cx="141732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Hash table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2075688" y="3813048"/>
            <a:ext cx="356616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The array of buckets containing key-value pairs.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6446520" y="1298448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Example: dictionary / JSON-like structure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6446520" y="1755648"/>
            <a:ext cx="4434840" cy="2011680"/>
          </a:xfrm>
          <a:prstGeom prst="roundRect">
            <a:avLst>
              <a:gd fmla="val 2273" name="adj"/>
            </a:avLst>
          </a:prstGeom>
          <a:solidFill>
            <a:srgbClr val="1F2933"/>
          </a:solidFill>
          <a:ln cap="flat" cmpd="sng" w="12700">
            <a:solidFill>
              <a:srgbClr val="1F29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6656832" y="1956816"/>
            <a:ext cx="3977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student_info = {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"name": "Alice",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"age": 20,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"major": "Computer Science"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3"/>
          <p:cNvCxnSpPr/>
          <p:nvPr/>
        </p:nvCxnSpPr>
        <p:spPr>
          <a:xfrm>
            <a:off x="6062472" y="4389120"/>
            <a:ext cx="0" cy="0"/>
          </a:xfrm>
          <a:prstGeom prst="straightConnector1">
            <a:avLst/>
          </a:prstGeom>
          <a:noFill/>
          <a:ln cap="flat" cmpd="sng" w="12700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3"/>
          <p:cNvSpPr/>
          <p:nvPr/>
        </p:nvSpPr>
        <p:spPr>
          <a:xfrm>
            <a:off x="1188720" y="5047488"/>
            <a:ext cx="9692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A HashTable is often implemented using primary data structures: arrays for indexing and linked lists for collision handling.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10012680" y="6510528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8B97A8"/>
                </a:solidFill>
                <a:latin typeface="Arial"/>
                <a:ea typeface="Arial"/>
                <a:cs typeface="Arial"/>
                <a:sym typeface="Arial"/>
              </a:rPr>
              <a:t>Hashing Notes  |  3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7365D"/>
                </a:solidFill>
                <a:latin typeface="Play"/>
                <a:ea typeface="Play"/>
                <a:cs typeface="Play"/>
                <a:sym typeface="Play"/>
              </a:rPr>
              <a:t>3. Hash Function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530352" y="694944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The hash function transforms a key into a bucket index.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" name="Google Shape;163;p4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4"/>
          <p:cNvSpPr/>
          <p:nvPr/>
        </p:nvSpPr>
        <p:spPr>
          <a:xfrm>
            <a:off x="914400" y="150876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35"/>
              <a:buFont typeface="Consolas"/>
              <a:buNone/>
            </a:pPr>
            <a:r>
              <a:rPr b="1" lang="en-US" sz="2035">
                <a:solidFill>
                  <a:srgbClr val="17365D"/>
                </a:solidFill>
                <a:latin typeface="Consolas"/>
                <a:ea typeface="Consolas"/>
                <a:cs typeface="Consolas"/>
                <a:sym typeface="Consolas"/>
              </a:rPr>
              <a:t>hash_value = sum(character codes)</a:t>
            </a:r>
            <a:endParaRPr sz="203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35"/>
              <a:buFont typeface="Consolas"/>
              <a:buNone/>
            </a:pPr>
            <a:r>
              <a:rPr b="1" lang="en-US" sz="2035">
                <a:solidFill>
                  <a:srgbClr val="17365D"/>
                </a:solidFill>
                <a:latin typeface="Consolas"/>
                <a:ea typeface="Consolas"/>
                <a:cs typeface="Consolas"/>
                <a:sym typeface="Consolas"/>
              </a:rPr>
              <a:t>index = hash_value % table_size</a:t>
            </a:r>
            <a:endParaRPr sz="203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960120" y="2816352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For numeric keys: index = key % table_size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960120" y="327355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445"/>
              <a:buFont typeface="Arial"/>
              <a:buNone/>
            </a:pPr>
            <a:r>
              <a:rPr lang="en-US" sz="1445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For strings: add ASCII/Unicode values, then take modulo table size.</a:t>
            </a:r>
            <a:endParaRPr sz="144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6492240" y="1371600"/>
            <a:ext cx="1097280" cy="594360"/>
          </a:xfrm>
          <a:prstGeom prst="roundRect">
            <a:avLst>
              <a:gd fmla="val 7692" name="adj"/>
            </a:avLst>
          </a:prstGeom>
          <a:solidFill>
            <a:srgbClr val="EAF2F8"/>
          </a:solidFill>
          <a:ln cap="flat" cmpd="sng" w="12700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6492240" y="149961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"Mia"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4"/>
          <p:cNvCxnSpPr/>
          <p:nvPr/>
        </p:nvCxnSpPr>
        <p:spPr>
          <a:xfrm>
            <a:off x="7699248" y="1664208"/>
            <a:ext cx="530352" cy="0"/>
          </a:xfrm>
          <a:prstGeom prst="straightConnector1">
            <a:avLst/>
          </a:prstGeom>
          <a:noFill/>
          <a:ln cap="flat" cmpd="sng" w="17775">
            <a:solidFill>
              <a:srgbClr val="5B65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" name="Google Shape;170;p4"/>
          <p:cNvSpPr/>
          <p:nvPr/>
        </p:nvSpPr>
        <p:spPr>
          <a:xfrm>
            <a:off x="8275320" y="1307592"/>
            <a:ext cx="1508760" cy="73152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F1E7F7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8385048" y="148132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77+105+97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= 279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4"/>
          <p:cNvCxnSpPr/>
          <p:nvPr/>
        </p:nvCxnSpPr>
        <p:spPr>
          <a:xfrm>
            <a:off x="9921240" y="1664208"/>
            <a:ext cx="502920" cy="0"/>
          </a:xfrm>
          <a:prstGeom prst="straightConnector1">
            <a:avLst/>
          </a:prstGeom>
          <a:noFill/>
          <a:ln cap="flat" cmpd="sng" w="17775">
            <a:solidFill>
              <a:srgbClr val="5B65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3" name="Google Shape;173;p4"/>
          <p:cNvSpPr/>
          <p:nvPr/>
        </p:nvSpPr>
        <p:spPr>
          <a:xfrm>
            <a:off x="10469880" y="1335024"/>
            <a:ext cx="1097280" cy="685800"/>
          </a:xfrm>
          <a:prstGeom prst="rect">
            <a:avLst/>
          </a:prstGeom>
          <a:solidFill>
            <a:srgbClr val="E2F0D9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10469880" y="1481328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279 % 11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= 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6583680" y="27889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Objectives of a good hash function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6675120" y="3273552"/>
            <a:ext cx="43434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Easy to calculate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Uniform distribution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Minimizes collisions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Works with a collision strategy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10012680" y="6510528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8B97A8"/>
                </a:solidFill>
                <a:latin typeface="Arial"/>
                <a:ea typeface="Arial"/>
                <a:cs typeface="Arial"/>
                <a:sym typeface="Arial"/>
              </a:rPr>
              <a:t>Hashing Notes  |  4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7365D"/>
                </a:solidFill>
                <a:latin typeface="Play"/>
                <a:ea typeface="Play"/>
                <a:cs typeface="Play"/>
                <a:sym typeface="Play"/>
              </a:rPr>
              <a:t>4. Example: Calculating Index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530352" y="694944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Table size = 11; index = sum of character codes % 11.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5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5"/>
          <p:cNvSpPr/>
          <p:nvPr/>
        </p:nvSpPr>
        <p:spPr>
          <a:xfrm>
            <a:off x="658368" y="1261872"/>
            <a:ext cx="914400" cy="586740"/>
          </a:xfrm>
          <a:prstGeom prst="rect">
            <a:avLst/>
          </a:prstGeom>
          <a:solidFill>
            <a:srgbClr val="2F5597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1572768" y="1261872"/>
            <a:ext cx="2743200" cy="586740"/>
          </a:xfrm>
          <a:prstGeom prst="rect">
            <a:avLst/>
          </a:prstGeom>
          <a:solidFill>
            <a:srgbClr val="2F5597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Code values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4315968" y="1261872"/>
            <a:ext cx="914400" cy="586740"/>
          </a:xfrm>
          <a:prstGeom prst="rect">
            <a:avLst/>
          </a:prstGeom>
          <a:solidFill>
            <a:srgbClr val="2F5597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5230368" y="1261872"/>
            <a:ext cx="914400" cy="586740"/>
          </a:xfrm>
          <a:prstGeom prst="rect">
            <a:avLst/>
          </a:prstGeom>
          <a:solidFill>
            <a:srgbClr val="2F5597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658368" y="1848612"/>
            <a:ext cx="914400" cy="586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Mia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1572768" y="1848612"/>
            <a:ext cx="2743200" cy="586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M=77, i=105, a=97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4315968" y="1848612"/>
            <a:ext cx="914400" cy="586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279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5230368" y="1848612"/>
            <a:ext cx="914400" cy="586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658368" y="2435352"/>
            <a:ext cx="914400" cy="586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Tim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1572768" y="2435352"/>
            <a:ext cx="2743200" cy="586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T=84, i=105, m=109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4315968" y="2435352"/>
            <a:ext cx="914400" cy="586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298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5230368" y="2435352"/>
            <a:ext cx="914400" cy="586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658368" y="3022092"/>
            <a:ext cx="914400" cy="586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Ada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1572768" y="3022092"/>
            <a:ext cx="2743200" cy="586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A=65, d=100, a=97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315968" y="3022092"/>
            <a:ext cx="914400" cy="586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262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5230368" y="3022092"/>
            <a:ext cx="914400" cy="586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658368" y="3608832"/>
            <a:ext cx="914400" cy="586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Leo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1572768" y="3608832"/>
            <a:ext cx="2743200" cy="586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L=76, e=101, o=111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4315968" y="3608832"/>
            <a:ext cx="914400" cy="586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288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230368" y="3608832"/>
            <a:ext cx="914400" cy="586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658368" y="4195572"/>
            <a:ext cx="914400" cy="586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Ted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1572768" y="4195572"/>
            <a:ext cx="2743200" cy="586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T=84, e=101, d=100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4315968" y="4195572"/>
            <a:ext cx="914400" cy="586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285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5230368" y="4195572"/>
            <a:ext cx="914400" cy="5867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720840" y="1316736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Resulting bucket positions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6601968" y="2011680"/>
            <a:ext cx="640080" cy="420624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6601968" y="2157984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Bea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6601968" y="2542032"/>
            <a:ext cx="6400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7315200" y="2011680"/>
            <a:ext cx="640080" cy="420624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7315200" y="2157984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Tim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7315200" y="2542032"/>
            <a:ext cx="6400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8028432" y="2011680"/>
            <a:ext cx="640080" cy="420624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8028432" y="2157984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Leo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8028432" y="2542032"/>
            <a:ext cx="6400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8741664" y="2011680"/>
            <a:ext cx="640080" cy="420624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8741664" y="2157984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Sam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8741664" y="2542032"/>
            <a:ext cx="6400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9454896" y="2011680"/>
            <a:ext cx="640080" cy="420624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9454896" y="2157984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Mia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9454896" y="2542032"/>
            <a:ext cx="6400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10168128" y="2011680"/>
            <a:ext cx="640080" cy="420624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10168128" y="2157984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Zoe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10168128" y="2542032"/>
            <a:ext cx="6400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6601968" y="2971800"/>
            <a:ext cx="640080" cy="420624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"/>
          <p:cNvSpPr/>
          <p:nvPr/>
        </p:nvSpPr>
        <p:spPr>
          <a:xfrm>
            <a:off x="6601968" y="3118104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Jan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6601968" y="3502152"/>
            <a:ext cx="6400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7315200" y="2971800"/>
            <a:ext cx="640080" cy="420624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7315200" y="3118104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Lou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7315200" y="3502152"/>
            <a:ext cx="6400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8028432" y="2971800"/>
            <a:ext cx="640080" cy="420624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8028432" y="3118104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8028432" y="3502152"/>
            <a:ext cx="6400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8741664" y="2971800"/>
            <a:ext cx="640080" cy="420624"/>
          </a:xfrm>
          <a:prstGeom prst="rect">
            <a:avLst/>
          </a:prstGeom>
          <a:solidFill>
            <a:srgbClr val="FCE4D6"/>
          </a:solidFill>
          <a:ln cap="flat" cmpd="sng" w="152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5"/>
          <p:cNvSpPr/>
          <p:nvPr/>
        </p:nvSpPr>
        <p:spPr>
          <a:xfrm>
            <a:off x="8741664" y="3118104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8741664" y="3502152"/>
            <a:ext cx="6400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9454896" y="2971800"/>
            <a:ext cx="640080" cy="420624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9454896" y="3118104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Ted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9454896" y="3502152"/>
            <a:ext cx="6400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6629400" y="4434840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480"/>
              <a:buFont typeface="Arial"/>
              <a:buNone/>
            </a:pPr>
            <a:r>
              <a:rPr b="1" lang="en-US" sz="148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The key can be used again later to recalculate the same index and retrieve the value.</a:t>
            </a:r>
            <a:endParaRPr sz="1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10012680" y="6510528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8B97A8"/>
                </a:solidFill>
                <a:latin typeface="Arial"/>
                <a:ea typeface="Arial"/>
                <a:cs typeface="Arial"/>
                <a:sym typeface="Arial"/>
              </a:rPr>
              <a:t>Hashing Notes  |  5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7365D"/>
                </a:solidFill>
                <a:latin typeface="Play"/>
                <a:ea typeface="Play"/>
                <a:cs typeface="Play"/>
                <a:sym typeface="Play"/>
              </a:rPr>
              <a:t>5. Collision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530352" y="694944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A collision occurs when two different keys generate the same index.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" name="Google Shape;255;p6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6"/>
          <p:cNvSpPr/>
          <p:nvPr/>
        </p:nvSpPr>
        <p:spPr>
          <a:xfrm>
            <a:off x="914400" y="132588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Different keys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8046720" y="132588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Same bucket index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1143000" y="2148840"/>
            <a:ext cx="822960" cy="457200"/>
          </a:xfrm>
          <a:prstGeom prst="rect">
            <a:avLst/>
          </a:prstGeom>
          <a:solidFill>
            <a:srgbClr val="EAF2F8"/>
          </a:solidFill>
          <a:ln cap="flat" cmpd="sng" w="15225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"/>
          <p:cNvSpPr/>
          <p:nvPr/>
        </p:nvSpPr>
        <p:spPr>
          <a:xfrm>
            <a:off x="1143000" y="2295144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cat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1143000" y="2971800"/>
            <a:ext cx="822960" cy="457200"/>
          </a:xfrm>
          <a:prstGeom prst="rect">
            <a:avLst/>
          </a:prstGeom>
          <a:solidFill>
            <a:srgbClr val="EAF2F8"/>
          </a:solidFill>
          <a:ln cap="flat" cmpd="sng" w="15225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"/>
          <p:cNvSpPr/>
          <p:nvPr/>
        </p:nvSpPr>
        <p:spPr>
          <a:xfrm>
            <a:off x="1143000" y="3118104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rat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" name="Google Shape;262;p6"/>
          <p:cNvCxnSpPr/>
          <p:nvPr/>
        </p:nvCxnSpPr>
        <p:spPr>
          <a:xfrm>
            <a:off x="2148840" y="2377440"/>
            <a:ext cx="1737360" cy="320040"/>
          </a:xfrm>
          <a:prstGeom prst="straightConnector1">
            <a:avLst/>
          </a:prstGeom>
          <a:noFill/>
          <a:ln cap="flat" cmpd="sng" w="17775">
            <a:solidFill>
              <a:srgbClr val="5B657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" name="Google Shape;263;p6"/>
          <p:cNvCxnSpPr/>
          <p:nvPr/>
        </p:nvCxnSpPr>
        <p:spPr>
          <a:xfrm flipH="1" rot="10800000">
            <a:off x="2148840" y="2990088"/>
            <a:ext cx="1737360" cy="210312"/>
          </a:xfrm>
          <a:prstGeom prst="straightConnector1">
            <a:avLst/>
          </a:prstGeom>
          <a:noFill/>
          <a:ln cap="flat" cmpd="sng" w="17775">
            <a:solidFill>
              <a:srgbClr val="5B65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4" name="Google Shape;264;p6"/>
          <p:cNvSpPr/>
          <p:nvPr/>
        </p:nvSpPr>
        <p:spPr>
          <a:xfrm>
            <a:off x="3931920" y="2331720"/>
            <a:ext cx="1828800" cy="82296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F1E7F7"/>
          </a:solidFill>
          <a:ln cap="flat" cmpd="sng" w="1522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6"/>
          <p:cNvSpPr/>
          <p:nvPr/>
        </p:nvSpPr>
        <p:spPr>
          <a:xfrm>
            <a:off x="4251960" y="2560320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hash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p6"/>
          <p:cNvCxnSpPr/>
          <p:nvPr/>
        </p:nvCxnSpPr>
        <p:spPr>
          <a:xfrm>
            <a:off x="5897880" y="2743200"/>
            <a:ext cx="1920240" cy="0"/>
          </a:xfrm>
          <a:prstGeom prst="straightConnector1">
            <a:avLst/>
          </a:prstGeom>
          <a:noFill/>
          <a:ln cap="flat" cmpd="sng" w="17775">
            <a:solidFill>
              <a:srgbClr val="5B65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7" name="Google Shape;267;p6"/>
          <p:cNvSpPr/>
          <p:nvPr/>
        </p:nvSpPr>
        <p:spPr>
          <a:xfrm>
            <a:off x="7955280" y="2532888"/>
            <a:ext cx="438912" cy="4572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7955280" y="267919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8458200" y="2532888"/>
            <a:ext cx="438912" cy="4572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6"/>
          <p:cNvSpPr/>
          <p:nvPr/>
        </p:nvSpPr>
        <p:spPr>
          <a:xfrm>
            <a:off x="8458200" y="267919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8961120" y="2532888"/>
            <a:ext cx="438912" cy="457200"/>
          </a:xfrm>
          <a:prstGeom prst="rect">
            <a:avLst/>
          </a:prstGeom>
          <a:solidFill>
            <a:srgbClr val="FCE4D6"/>
          </a:solidFill>
          <a:ln cap="flat" cmpd="sng" w="152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"/>
          <p:cNvSpPr/>
          <p:nvPr/>
        </p:nvSpPr>
        <p:spPr>
          <a:xfrm>
            <a:off x="8961120" y="267919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9464040" y="2532888"/>
            <a:ext cx="438912" cy="4572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9464040" y="267919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9966960" y="2532888"/>
            <a:ext cx="438912" cy="4572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6"/>
          <p:cNvSpPr/>
          <p:nvPr/>
        </p:nvSpPr>
        <p:spPr>
          <a:xfrm>
            <a:off x="9966960" y="267919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1056373" y="4091218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Both cannot occupy the same single array location without a strategy.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10012680" y="6510528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8B97A8"/>
                </a:solidFill>
                <a:latin typeface="Arial"/>
                <a:ea typeface="Arial"/>
                <a:cs typeface="Arial"/>
                <a:sym typeface="Arial"/>
              </a:rPr>
              <a:t>Hashing Notes  |  6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"/>
          <p:cNvSpPr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7365D"/>
                </a:solidFill>
                <a:latin typeface="Play"/>
                <a:ea typeface="Play"/>
                <a:cs typeface="Play"/>
                <a:sym typeface="Play"/>
              </a:rPr>
              <a:t>6. Collision-Resolution Strategies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530352" y="694944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Two main directions: move somewhere else, or keep a chain at the original bucket.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p7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7"/>
          <p:cNvSpPr/>
          <p:nvPr/>
        </p:nvSpPr>
        <p:spPr>
          <a:xfrm>
            <a:off x="530352" y="1643515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Open addressing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6537960" y="141732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Closed addressing / chaining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1143000" y="2331720"/>
            <a:ext cx="384048" cy="402336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1143000" y="2478024"/>
            <a:ext cx="38404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1581912" y="2331720"/>
            <a:ext cx="384048" cy="402336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1581912" y="2478024"/>
            <a:ext cx="38404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2020824" y="2331720"/>
            <a:ext cx="384048" cy="402336"/>
          </a:xfrm>
          <a:prstGeom prst="rect">
            <a:avLst/>
          </a:prstGeom>
          <a:solidFill>
            <a:srgbClr val="FCE4D6"/>
          </a:solidFill>
          <a:ln cap="flat" cmpd="sng" w="152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2020824" y="2478024"/>
            <a:ext cx="38404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2459736" y="2331720"/>
            <a:ext cx="384048" cy="402336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2459736" y="2478024"/>
            <a:ext cx="38404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2898648" y="2331720"/>
            <a:ext cx="384048" cy="402336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2898648" y="2478024"/>
            <a:ext cx="38404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3337560" y="2331720"/>
            <a:ext cx="384048" cy="402336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3337560" y="2478024"/>
            <a:ext cx="38404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3776472" y="2331720"/>
            <a:ext cx="384048" cy="402336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3776472" y="2478024"/>
            <a:ext cx="38404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7"/>
          <p:cNvCxnSpPr/>
          <p:nvPr/>
        </p:nvCxnSpPr>
        <p:spPr>
          <a:xfrm>
            <a:off x="2423160" y="3063240"/>
            <a:ext cx="502920" cy="0"/>
          </a:xfrm>
          <a:prstGeom prst="straightConnector1">
            <a:avLst/>
          </a:prstGeom>
          <a:noFill/>
          <a:ln cap="flat" cmpd="sng" w="177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4" name="Google Shape;304;p7"/>
          <p:cNvSpPr/>
          <p:nvPr/>
        </p:nvSpPr>
        <p:spPr>
          <a:xfrm>
            <a:off x="1828800" y="3291840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probe next slot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6903720" y="1920240"/>
            <a:ext cx="502920" cy="384048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6903720" y="2066544"/>
            <a:ext cx="502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6903720" y="2514600"/>
            <a:ext cx="502920" cy="384048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6903720" y="2660904"/>
            <a:ext cx="502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6903720" y="3108960"/>
            <a:ext cx="502920" cy="384048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"/>
          <p:cNvSpPr/>
          <p:nvPr/>
        </p:nvSpPr>
        <p:spPr>
          <a:xfrm>
            <a:off x="6903720" y="3255264"/>
            <a:ext cx="502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6903720" y="3703320"/>
            <a:ext cx="502920" cy="384048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7"/>
          <p:cNvSpPr/>
          <p:nvPr/>
        </p:nvSpPr>
        <p:spPr>
          <a:xfrm>
            <a:off x="6903720" y="3849624"/>
            <a:ext cx="502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3" name="Google Shape;313;p7"/>
          <p:cNvCxnSpPr/>
          <p:nvPr/>
        </p:nvCxnSpPr>
        <p:spPr>
          <a:xfrm>
            <a:off x="7434072" y="3295208"/>
            <a:ext cx="685800" cy="0"/>
          </a:xfrm>
          <a:prstGeom prst="straightConnector1">
            <a:avLst/>
          </a:prstGeom>
          <a:noFill/>
          <a:ln cap="flat" cmpd="sng" w="17775">
            <a:solidFill>
              <a:srgbClr val="4F7D4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4" name="Google Shape;314;p7"/>
          <p:cNvSpPr/>
          <p:nvPr/>
        </p:nvSpPr>
        <p:spPr>
          <a:xfrm>
            <a:off x="8165592" y="3084896"/>
            <a:ext cx="685800" cy="384048"/>
          </a:xfrm>
          <a:prstGeom prst="rect">
            <a:avLst/>
          </a:prstGeom>
          <a:solidFill>
            <a:srgbClr val="E2F0D9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7"/>
          <p:cNvSpPr/>
          <p:nvPr/>
        </p:nvSpPr>
        <p:spPr>
          <a:xfrm>
            <a:off x="8165592" y="3231200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rat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p7"/>
          <p:cNvCxnSpPr/>
          <p:nvPr/>
        </p:nvCxnSpPr>
        <p:spPr>
          <a:xfrm>
            <a:off x="8869680" y="3295208"/>
            <a:ext cx="621792" cy="0"/>
          </a:xfrm>
          <a:prstGeom prst="straightConnector1">
            <a:avLst/>
          </a:prstGeom>
          <a:noFill/>
          <a:ln cap="flat" cmpd="sng" w="17775">
            <a:solidFill>
              <a:srgbClr val="4F7D4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7" name="Google Shape;317;p7"/>
          <p:cNvSpPr/>
          <p:nvPr/>
        </p:nvSpPr>
        <p:spPr>
          <a:xfrm>
            <a:off x="9537192" y="3084896"/>
            <a:ext cx="685800" cy="384048"/>
          </a:xfrm>
          <a:prstGeom prst="rect">
            <a:avLst/>
          </a:prstGeom>
          <a:solidFill>
            <a:srgbClr val="E2F0D9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7"/>
          <p:cNvSpPr/>
          <p:nvPr/>
        </p:nvSpPr>
        <p:spPr>
          <a:xfrm>
            <a:off x="9537192" y="3231200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cat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1526085" y="3322642"/>
            <a:ext cx="4206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Stores the item in another slot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7708392" y="4047425"/>
            <a:ext cx="434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Forward chaining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Stores a linked list at each bucket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10012680" y="6510528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8B97A8"/>
                </a:solidFill>
                <a:latin typeface="Arial"/>
                <a:ea typeface="Arial"/>
                <a:cs typeface="Arial"/>
                <a:sym typeface="Arial"/>
              </a:rPr>
              <a:t>Hashing Notes  |  7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7365D"/>
                </a:solidFill>
                <a:latin typeface="Play"/>
                <a:ea typeface="Play"/>
                <a:cs typeface="Play"/>
                <a:sym typeface="Play"/>
              </a:rPr>
              <a:t>7. Linear Probing and Its Problem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530352" y="694944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Optional concept: if the calculated address is occupied, search for the next available slot.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p8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8"/>
          <p:cNvSpPr/>
          <p:nvPr/>
        </p:nvSpPr>
        <p:spPr>
          <a:xfrm>
            <a:off x="777240" y="129844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Insertion using linear probing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868680" y="1874520"/>
            <a:ext cx="41148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868680" y="202082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Bea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868680" y="240487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1316736" y="1874520"/>
            <a:ext cx="41148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1316736" y="202082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Tim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1316736" y="240487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1764792" y="1874520"/>
            <a:ext cx="41148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1764792" y="202082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1764792" y="240487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2212848" y="1874520"/>
            <a:ext cx="41148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2212848" y="202082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2212848" y="240487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2660904" y="1874520"/>
            <a:ext cx="411480" cy="411480"/>
          </a:xfrm>
          <a:prstGeom prst="rect">
            <a:avLst/>
          </a:prstGeom>
          <a:solidFill>
            <a:srgbClr val="FCE4D6"/>
          </a:solidFill>
          <a:ln cap="flat" cmpd="sng" w="152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8"/>
          <p:cNvSpPr/>
          <p:nvPr/>
        </p:nvSpPr>
        <p:spPr>
          <a:xfrm>
            <a:off x="2660904" y="202082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Mia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2660904" y="240487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3108960" y="1874520"/>
            <a:ext cx="41148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3108960" y="202082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Zoe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3108960" y="240487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3557016" y="1874520"/>
            <a:ext cx="41148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3557016" y="202082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3557016" y="240487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4005072" y="1874520"/>
            <a:ext cx="41148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8"/>
          <p:cNvSpPr/>
          <p:nvPr/>
        </p:nvSpPr>
        <p:spPr>
          <a:xfrm>
            <a:off x="4005072" y="202082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4005072" y="240487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4453128" y="1874520"/>
            <a:ext cx="41148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8"/>
          <p:cNvSpPr/>
          <p:nvPr/>
        </p:nvSpPr>
        <p:spPr>
          <a:xfrm>
            <a:off x="4453128" y="202082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4453128" y="240487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4901184" y="1874520"/>
            <a:ext cx="41148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4901184" y="202082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4901184" y="240487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5349240" y="1874520"/>
            <a:ext cx="41148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8"/>
          <p:cNvSpPr/>
          <p:nvPr/>
        </p:nvSpPr>
        <p:spPr>
          <a:xfrm>
            <a:off x="5349240" y="202082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5349240" y="240487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868680" y="2889504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433"/>
              <a:buFont typeface="Arial"/>
              <a:buNone/>
            </a:pPr>
            <a:r>
              <a:rPr lang="en-US" sz="1434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Sue hashes to 4 → collision with Mia → placed at next available slot.</a:t>
            </a:r>
            <a:endParaRPr sz="143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868680" y="3794760"/>
            <a:ext cx="41148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8"/>
          <p:cNvSpPr/>
          <p:nvPr/>
        </p:nvSpPr>
        <p:spPr>
          <a:xfrm>
            <a:off x="868680" y="394106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Bea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868680" y="432511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1316736" y="3794760"/>
            <a:ext cx="41148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8"/>
          <p:cNvSpPr/>
          <p:nvPr/>
        </p:nvSpPr>
        <p:spPr>
          <a:xfrm>
            <a:off x="1316736" y="394106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Tim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1316736" y="432511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1764792" y="3794760"/>
            <a:ext cx="41148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8"/>
          <p:cNvSpPr/>
          <p:nvPr/>
        </p:nvSpPr>
        <p:spPr>
          <a:xfrm>
            <a:off x="1764792" y="394106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"/>
              <a:buFont typeface="Arial"/>
              <a:buNone/>
            </a:pPr>
            <a:r>
              <a:t/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1764792" y="432511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2212848" y="3794760"/>
            <a:ext cx="41148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8"/>
          <p:cNvSpPr/>
          <p:nvPr/>
        </p:nvSpPr>
        <p:spPr>
          <a:xfrm>
            <a:off x="2212848" y="394106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"/>
              <a:buFont typeface="Arial"/>
              <a:buNone/>
            </a:pPr>
            <a:r>
              <a:t/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2212848" y="432511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2660904" y="3794760"/>
            <a:ext cx="41148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8"/>
          <p:cNvSpPr/>
          <p:nvPr/>
        </p:nvSpPr>
        <p:spPr>
          <a:xfrm>
            <a:off x="2660904" y="394106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Mia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2660904" y="432511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3108960" y="3794760"/>
            <a:ext cx="41148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8"/>
          <p:cNvSpPr/>
          <p:nvPr/>
        </p:nvSpPr>
        <p:spPr>
          <a:xfrm>
            <a:off x="3108960" y="394106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Zoe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8"/>
          <p:cNvSpPr/>
          <p:nvPr/>
        </p:nvSpPr>
        <p:spPr>
          <a:xfrm>
            <a:off x="3108960" y="432511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3557016" y="3794760"/>
            <a:ext cx="411480" cy="411480"/>
          </a:xfrm>
          <a:prstGeom prst="rect">
            <a:avLst/>
          </a:prstGeom>
          <a:solidFill>
            <a:srgbClr val="FFF2CC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8"/>
          <p:cNvSpPr/>
          <p:nvPr/>
        </p:nvSpPr>
        <p:spPr>
          <a:xfrm>
            <a:off x="3557016" y="394106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Sue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3557016" y="432511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4005072" y="3794760"/>
            <a:ext cx="41148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8"/>
          <p:cNvSpPr/>
          <p:nvPr/>
        </p:nvSpPr>
        <p:spPr>
          <a:xfrm>
            <a:off x="4005072" y="394106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"/>
              <a:buFont typeface="Arial"/>
              <a:buNone/>
            </a:pPr>
            <a:r>
              <a:t/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4005072" y="432511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4453128" y="3794760"/>
            <a:ext cx="41148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8"/>
          <p:cNvSpPr/>
          <p:nvPr/>
        </p:nvSpPr>
        <p:spPr>
          <a:xfrm>
            <a:off x="4453128" y="394106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"/>
              <a:buFont typeface="Arial"/>
              <a:buNone/>
            </a:pPr>
            <a:r>
              <a:t/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4453128" y="432511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4901184" y="3794760"/>
            <a:ext cx="41148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8"/>
          <p:cNvSpPr/>
          <p:nvPr/>
        </p:nvSpPr>
        <p:spPr>
          <a:xfrm>
            <a:off x="4901184" y="394106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"/>
              <a:buFont typeface="Arial"/>
              <a:buNone/>
            </a:pPr>
            <a:r>
              <a:t/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8"/>
          <p:cNvSpPr/>
          <p:nvPr/>
        </p:nvSpPr>
        <p:spPr>
          <a:xfrm>
            <a:off x="4901184" y="432511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8"/>
          <p:cNvSpPr/>
          <p:nvPr/>
        </p:nvSpPr>
        <p:spPr>
          <a:xfrm>
            <a:off x="5349240" y="3794760"/>
            <a:ext cx="41148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8"/>
          <p:cNvSpPr/>
          <p:nvPr/>
        </p:nvSpPr>
        <p:spPr>
          <a:xfrm>
            <a:off x="5349240" y="394106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"/>
              <a:buFont typeface="Arial"/>
              <a:buNone/>
            </a:pPr>
            <a:r>
              <a:t/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8"/>
          <p:cNvSpPr/>
          <p:nvPr/>
        </p:nvSpPr>
        <p:spPr>
          <a:xfrm>
            <a:off x="5349240" y="4325112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8"/>
          <p:cNvSpPr/>
          <p:nvPr/>
        </p:nvSpPr>
        <p:spPr>
          <a:xfrm>
            <a:off x="6812280" y="1600200"/>
            <a:ext cx="3886200" cy="3474720"/>
          </a:xfrm>
          <a:prstGeom prst="roundRect">
            <a:avLst>
              <a:gd fmla="val 2105" name="adj"/>
            </a:avLst>
          </a:prstGeom>
          <a:solidFill>
            <a:srgbClr val="FCE4D6"/>
          </a:solidFill>
          <a:ln cap="flat" cmpd="sng" w="12700">
            <a:solidFill>
              <a:srgbClr val="FCE4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8"/>
          <p:cNvSpPr/>
          <p:nvPr/>
        </p:nvSpPr>
        <p:spPr>
          <a:xfrm>
            <a:off x="7909560" y="19659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8"/>
          <p:cNvSpPr/>
          <p:nvPr/>
        </p:nvSpPr>
        <p:spPr>
          <a:xfrm>
            <a:off x="7178040" y="2697480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Search may also require probing.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Finding a displaced item can become linear search.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Clustering increases future collisions.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8"/>
          <p:cNvSpPr/>
          <p:nvPr/>
        </p:nvSpPr>
        <p:spPr>
          <a:xfrm>
            <a:off x="10012680" y="6510528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8B97A8"/>
                </a:solidFill>
                <a:latin typeface="Arial"/>
                <a:ea typeface="Arial"/>
                <a:cs typeface="Arial"/>
                <a:sym typeface="Arial"/>
              </a:rPr>
              <a:t>Hashing Notes  |  8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9"/>
          <p:cNvSpPr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7365D"/>
                </a:solidFill>
                <a:latin typeface="Play"/>
                <a:ea typeface="Play"/>
                <a:cs typeface="Play"/>
                <a:sym typeface="Play"/>
              </a:rPr>
              <a:t>8. Forward Chaining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530352" y="694944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Important: each bucket can store a linked list of key-value pairs.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1" name="Google Shape;411;p9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2" name="Google Shape;412;p9"/>
          <p:cNvSpPr/>
          <p:nvPr/>
        </p:nvSpPr>
        <p:spPr>
          <a:xfrm>
            <a:off x="960120" y="1417320"/>
            <a:ext cx="50292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9"/>
          <p:cNvSpPr/>
          <p:nvPr/>
        </p:nvSpPr>
        <p:spPr>
          <a:xfrm>
            <a:off x="960120" y="1563624"/>
            <a:ext cx="502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960120" y="2194560"/>
            <a:ext cx="50292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9"/>
          <p:cNvSpPr/>
          <p:nvPr/>
        </p:nvSpPr>
        <p:spPr>
          <a:xfrm>
            <a:off x="960120" y="2340864"/>
            <a:ext cx="502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960120" y="2971800"/>
            <a:ext cx="50292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9"/>
          <p:cNvSpPr/>
          <p:nvPr/>
        </p:nvSpPr>
        <p:spPr>
          <a:xfrm>
            <a:off x="960120" y="3118104"/>
            <a:ext cx="502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960120" y="3749040"/>
            <a:ext cx="50292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9"/>
          <p:cNvSpPr/>
          <p:nvPr/>
        </p:nvSpPr>
        <p:spPr>
          <a:xfrm>
            <a:off x="960120" y="3895344"/>
            <a:ext cx="502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960120" y="4526280"/>
            <a:ext cx="502920" cy="4114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9"/>
          <p:cNvSpPr/>
          <p:nvPr/>
        </p:nvSpPr>
        <p:spPr>
          <a:xfrm>
            <a:off x="960120" y="4672584"/>
            <a:ext cx="502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2" name="Google Shape;422;p9"/>
          <p:cNvCxnSpPr/>
          <p:nvPr/>
        </p:nvCxnSpPr>
        <p:spPr>
          <a:xfrm>
            <a:off x="1600200" y="1623060"/>
            <a:ext cx="548640" cy="0"/>
          </a:xfrm>
          <a:prstGeom prst="straightConnector1">
            <a:avLst/>
          </a:prstGeom>
          <a:noFill/>
          <a:ln cap="flat" cmpd="sng" w="17775">
            <a:solidFill>
              <a:srgbClr val="4F7D4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3" name="Google Shape;423;p9"/>
          <p:cNvSpPr/>
          <p:nvPr/>
        </p:nvSpPr>
        <p:spPr>
          <a:xfrm>
            <a:off x="2148840" y="1412748"/>
            <a:ext cx="960120" cy="411480"/>
          </a:xfrm>
          <a:prstGeom prst="rect">
            <a:avLst/>
          </a:prstGeom>
          <a:solidFill>
            <a:srgbClr val="E2F0D9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9"/>
          <p:cNvSpPr/>
          <p:nvPr/>
        </p:nvSpPr>
        <p:spPr>
          <a:xfrm>
            <a:off x="2148840" y="1559052"/>
            <a:ext cx="960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bee | 80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5" name="Google Shape;425;p9"/>
          <p:cNvCxnSpPr/>
          <p:nvPr/>
        </p:nvCxnSpPr>
        <p:spPr>
          <a:xfrm>
            <a:off x="3136392" y="1623060"/>
            <a:ext cx="338328" cy="0"/>
          </a:xfrm>
          <a:prstGeom prst="straightConnector1">
            <a:avLst/>
          </a:prstGeom>
          <a:noFill/>
          <a:ln cap="flat" cmpd="sng" w="17775">
            <a:solidFill>
              <a:srgbClr val="5B65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6" name="Google Shape;426;p9"/>
          <p:cNvSpPr/>
          <p:nvPr/>
        </p:nvSpPr>
        <p:spPr>
          <a:xfrm>
            <a:off x="3538728" y="1549908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7" name="Google Shape;427;p9"/>
          <p:cNvCxnSpPr/>
          <p:nvPr/>
        </p:nvCxnSpPr>
        <p:spPr>
          <a:xfrm>
            <a:off x="1600200" y="2400300"/>
            <a:ext cx="548640" cy="0"/>
          </a:xfrm>
          <a:prstGeom prst="straightConnector1">
            <a:avLst/>
          </a:prstGeom>
          <a:noFill/>
          <a:ln cap="flat" cmpd="sng" w="17775">
            <a:solidFill>
              <a:srgbClr val="4F7D4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8" name="Google Shape;428;p9"/>
          <p:cNvSpPr/>
          <p:nvPr/>
        </p:nvSpPr>
        <p:spPr>
          <a:xfrm>
            <a:off x="2148840" y="2318004"/>
            <a:ext cx="5486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9" name="Google Shape;429;p9"/>
          <p:cNvCxnSpPr/>
          <p:nvPr/>
        </p:nvCxnSpPr>
        <p:spPr>
          <a:xfrm>
            <a:off x="1600200" y="3177540"/>
            <a:ext cx="548640" cy="0"/>
          </a:xfrm>
          <a:prstGeom prst="straightConnector1">
            <a:avLst/>
          </a:prstGeom>
          <a:noFill/>
          <a:ln cap="flat" cmpd="sng" w="17775">
            <a:solidFill>
              <a:srgbClr val="4F7D4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0" name="Google Shape;430;p9"/>
          <p:cNvSpPr/>
          <p:nvPr/>
        </p:nvSpPr>
        <p:spPr>
          <a:xfrm>
            <a:off x="2148840" y="2967228"/>
            <a:ext cx="960120" cy="411480"/>
          </a:xfrm>
          <a:prstGeom prst="rect">
            <a:avLst/>
          </a:prstGeom>
          <a:solidFill>
            <a:srgbClr val="E2F0D9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2148840" y="3113532"/>
            <a:ext cx="960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rat | 40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2" name="Google Shape;432;p9"/>
          <p:cNvCxnSpPr/>
          <p:nvPr/>
        </p:nvCxnSpPr>
        <p:spPr>
          <a:xfrm>
            <a:off x="3136392" y="3177540"/>
            <a:ext cx="429768" cy="0"/>
          </a:xfrm>
          <a:prstGeom prst="straightConnector1">
            <a:avLst/>
          </a:prstGeom>
          <a:noFill/>
          <a:ln cap="flat" cmpd="sng" w="17775">
            <a:solidFill>
              <a:srgbClr val="4F7D4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3" name="Google Shape;433;p9"/>
          <p:cNvSpPr/>
          <p:nvPr/>
        </p:nvSpPr>
        <p:spPr>
          <a:xfrm>
            <a:off x="3566160" y="2967228"/>
            <a:ext cx="960120" cy="411480"/>
          </a:xfrm>
          <a:prstGeom prst="rect">
            <a:avLst/>
          </a:prstGeom>
          <a:solidFill>
            <a:srgbClr val="E2F0D9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9"/>
          <p:cNvSpPr/>
          <p:nvPr/>
        </p:nvSpPr>
        <p:spPr>
          <a:xfrm>
            <a:off x="3566160" y="3113532"/>
            <a:ext cx="960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cat | 10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5" name="Google Shape;435;p9"/>
          <p:cNvCxnSpPr/>
          <p:nvPr/>
        </p:nvCxnSpPr>
        <p:spPr>
          <a:xfrm>
            <a:off x="4553712" y="3177540"/>
            <a:ext cx="338328" cy="0"/>
          </a:xfrm>
          <a:prstGeom prst="straightConnector1">
            <a:avLst/>
          </a:prstGeom>
          <a:noFill/>
          <a:ln cap="flat" cmpd="sng" w="17775">
            <a:solidFill>
              <a:srgbClr val="5B65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6" name="Google Shape;436;p9"/>
          <p:cNvSpPr/>
          <p:nvPr/>
        </p:nvSpPr>
        <p:spPr>
          <a:xfrm>
            <a:off x="4956048" y="3104388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" name="Google Shape;437;p9"/>
          <p:cNvCxnSpPr/>
          <p:nvPr/>
        </p:nvCxnSpPr>
        <p:spPr>
          <a:xfrm>
            <a:off x="1600200" y="3954780"/>
            <a:ext cx="548640" cy="0"/>
          </a:xfrm>
          <a:prstGeom prst="straightConnector1">
            <a:avLst/>
          </a:prstGeom>
          <a:noFill/>
          <a:ln cap="flat" cmpd="sng" w="17775">
            <a:solidFill>
              <a:srgbClr val="4F7D4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8" name="Google Shape;438;p9"/>
          <p:cNvSpPr/>
          <p:nvPr/>
        </p:nvSpPr>
        <p:spPr>
          <a:xfrm>
            <a:off x="2148840" y="3744468"/>
            <a:ext cx="960120" cy="411480"/>
          </a:xfrm>
          <a:prstGeom prst="rect">
            <a:avLst/>
          </a:prstGeom>
          <a:solidFill>
            <a:srgbClr val="E2F0D9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9"/>
          <p:cNvSpPr/>
          <p:nvPr/>
        </p:nvSpPr>
        <p:spPr>
          <a:xfrm>
            <a:off x="2148840" y="3890772"/>
            <a:ext cx="960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ant | 70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0" name="Google Shape;440;p9"/>
          <p:cNvCxnSpPr/>
          <p:nvPr/>
        </p:nvCxnSpPr>
        <p:spPr>
          <a:xfrm>
            <a:off x="3136392" y="3954780"/>
            <a:ext cx="429768" cy="0"/>
          </a:xfrm>
          <a:prstGeom prst="straightConnector1">
            <a:avLst/>
          </a:prstGeom>
          <a:noFill/>
          <a:ln cap="flat" cmpd="sng" w="17775">
            <a:solidFill>
              <a:srgbClr val="4F7D4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1" name="Google Shape;441;p9"/>
          <p:cNvSpPr/>
          <p:nvPr/>
        </p:nvSpPr>
        <p:spPr>
          <a:xfrm>
            <a:off x="3566160" y="3744468"/>
            <a:ext cx="960120" cy="411480"/>
          </a:xfrm>
          <a:prstGeom prst="rect">
            <a:avLst/>
          </a:prstGeom>
          <a:solidFill>
            <a:srgbClr val="E2F0D9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9"/>
          <p:cNvSpPr/>
          <p:nvPr/>
        </p:nvSpPr>
        <p:spPr>
          <a:xfrm>
            <a:off x="3566160" y="3890772"/>
            <a:ext cx="960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fox | 60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3" name="Google Shape;443;p9"/>
          <p:cNvCxnSpPr/>
          <p:nvPr/>
        </p:nvCxnSpPr>
        <p:spPr>
          <a:xfrm>
            <a:off x="4553712" y="3954780"/>
            <a:ext cx="429768" cy="0"/>
          </a:xfrm>
          <a:prstGeom prst="straightConnector1">
            <a:avLst/>
          </a:prstGeom>
          <a:noFill/>
          <a:ln cap="flat" cmpd="sng" w="17775">
            <a:solidFill>
              <a:srgbClr val="4F7D4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4" name="Google Shape;444;p9"/>
          <p:cNvSpPr/>
          <p:nvPr/>
        </p:nvSpPr>
        <p:spPr>
          <a:xfrm>
            <a:off x="4983480" y="3744468"/>
            <a:ext cx="960120" cy="411480"/>
          </a:xfrm>
          <a:prstGeom prst="rect">
            <a:avLst/>
          </a:prstGeom>
          <a:solidFill>
            <a:srgbClr val="E2F0D9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9"/>
          <p:cNvSpPr/>
          <p:nvPr/>
        </p:nvSpPr>
        <p:spPr>
          <a:xfrm>
            <a:off x="4983480" y="3890772"/>
            <a:ext cx="960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owl | 50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" name="Google Shape;446;p9"/>
          <p:cNvCxnSpPr/>
          <p:nvPr/>
        </p:nvCxnSpPr>
        <p:spPr>
          <a:xfrm>
            <a:off x="5971032" y="3954780"/>
            <a:ext cx="338328" cy="0"/>
          </a:xfrm>
          <a:prstGeom prst="straightConnector1">
            <a:avLst/>
          </a:prstGeom>
          <a:noFill/>
          <a:ln cap="flat" cmpd="sng" w="17775">
            <a:solidFill>
              <a:srgbClr val="5B65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7" name="Google Shape;447;p9"/>
          <p:cNvSpPr/>
          <p:nvPr/>
        </p:nvSpPr>
        <p:spPr>
          <a:xfrm>
            <a:off x="6373368" y="3881628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8" name="Google Shape;448;p9"/>
          <p:cNvCxnSpPr/>
          <p:nvPr/>
        </p:nvCxnSpPr>
        <p:spPr>
          <a:xfrm>
            <a:off x="1600200" y="4732020"/>
            <a:ext cx="548640" cy="0"/>
          </a:xfrm>
          <a:prstGeom prst="straightConnector1">
            <a:avLst/>
          </a:prstGeom>
          <a:noFill/>
          <a:ln cap="flat" cmpd="sng" w="17775">
            <a:solidFill>
              <a:srgbClr val="4F7D4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9" name="Google Shape;449;p9"/>
          <p:cNvSpPr/>
          <p:nvPr/>
        </p:nvSpPr>
        <p:spPr>
          <a:xfrm>
            <a:off x="2148840" y="4521708"/>
            <a:ext cx="960120" cy="411480"/>
          </a:xfrm>
          <a:prstGeom prst="rect">
            <a:avLst/>
          </a:prstGeom>
          <a:solidFill>
            <a:srgbClr val="E2F0D9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9"/>
          <p:cNvSpPr/>
          <p:nvPr/>
        </p:nvSpPr>
        <p:spPr>
          <a:xfrm>
            <a:off x="2148840" y="4668012"/>
            <a:ext cx="960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dog | 20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1" name="Google Shape;451;p9"/>
          <p:cNvCxnSpPr/>
          <p:nvPr/>
        </p:nvCxnSpPr>
        <p:spPr>
          <a:xfrm>
            <a:off x="3136392" y="4732020"/>
            <a:ext cx="338328" cy="0"/>
          </a:xfrm>
          <a:prstGeom prst="straightConnector1">
            <a:avLst/>
          </a:prstGeom>
          <a:noFill/>
          <a:ln cap="flat" cmpd="sng" w="17775">
            <a:solidFill>
              <a:srgbClr val="5B65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2" name="Google Shape;452;p9"/>
          <p:cNvSpPr/>
          <p:nvPr/>
        </p:nvSpPr>
        <p:spPr>
          <a:xfrm>
            <a:off x="3538728" y="4658868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9"/>
          <p:cNvSpPr/>
          <p:nvPr/>
        </p:nvSpPr>
        <p:spPr>
          <a:xfrm>
            <a:off x="1143000" y="5833872"/>
            <a:ext cx="9966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Collision is handled inside the original bucket; no key-value pair is overwritten.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9"/>
          <p:cNvSpPr/>
          <p:nvPr/>
        </p:nvSpPr>
        <p:spPr>
          <a:xfrm>
            <a:off x="10012680" y="6510528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8B97A8"/>
                </a:solidFill>
                <a:latin typeface="Arial"/>
                <a:ea typeface="Arial"/>
                <a:cs typeface="Arial"/>
                <a:sym typeface="Arial"/>
              </a:rPr>
              <a:t>Hashing Notes  |  9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0"/>
          <p:cNvSpPr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7365D"/>
                </a:solidFill>
                <a:latin typeface="Play"/>
                <a:ea typeface="Play"/>
                <a:cs typeface="Play"/>
                <a:sym typeface="Play"/>
              </a:rPr>
              <a:t>9. Linked List Choice for Chaining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0"/>
          <p:cNvSpPr/>
          <p:nvPr/>
        </p:nvSpPr>
        <p:spPr>
          <a:xfrm>
            <a:off x="530352" y="694944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Any linear linked list can work, but dummy-headed singly lists are usually convenient.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2" name="Google Shape;462;p10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3" name="Google Shape;463;p10"/>
          <p:cNvSpPr/>
          <p:nvPr/>
        </p:nvSpPr>
        <p:spPr>
          <a:xfrm>
            <a:off x="685800" y="1298448"/>
            <a:ext cx="1874520" cy="740664"/>
          </a:xfrm>
          <a:prstGeom prst="rect">
            <a:avLst/>
          </a:prstGeom>
          <a:solidFill>
            <a:srgbClr val="2F5597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Choice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0"/>
          <p:cNvSpPr/>
          <p:nvPr/>
        </p:nvSpPr>
        <p:spPr>
          <a:xfrm>
            <a:off x="2560320" y="1298448"/>
            <a:ext cx="2514600" cy="740664"/>
          </a:xfrm>
          <a:prstGeom prst="rect">
            <a:avLst/>
          </a:prstGeom>
          <a:solidFill>
            <a:srgbClr val="2F5597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Advantage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0"/>
          <p:cNvSpPr/>
          <p:nvPr/>
        </p:nvSpPr>
        <p:spPr>
          <a:xfrm>
            <a:off x="5074920" y="1298448"/>
            <a:ext cx="2057400" cy="740664"/>
          </a:xfrm>
          <a:prstGeom prst="rect">
            <a:avLst/>
          </a:prstGeom>
          <a:solidFill>
            <a:srgbClr val="2F5597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Limitation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685800" y="2039112"/>
            <a:ext cx="1874520" cy="7406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Dummy-headed list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0"/>
          <p:cNvSpPr/>
          <p:nvPr/>
        </p:nvSpPr>
        <p:spPr>
          <a:xfrm>
            <a:off x="2560320" y="2039112"/>
            <a:ext cx="2514600" cy="7406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Bucket reference remains stable during prepend.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0"/>
          <p:cNvSpPr/>
          <p:nvPr/>
        </p:nvSpPr>
        <p:spPr>
          <a:xfrm>
            <a:off x="5074920" y="2039112"/>
            <a:ext cx="2057400" cy="7406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Uses one extra dummy node.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0"/>
          <p:cNvSpPr/>
          <p:nvPr/>
        </p:nvSpPr>
        <p:spPr>
          <a:xfrm>
            <a:off x="685800" y="2779776"/>
            <a:ext cx="1874520" cy="7406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Non-dummy-headed list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0"/>
          <p:cNvSpPr/>
          <p:nvPr/>
        </p:nvSpPr>
        <p:spPr>
          <a:xfrm>
            <a:off x="2560320" y="2779776"/>
            <a:ext cx="2514600" cy="7406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No dummy node overhead.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0"/>
          <p:cNvSpPr/>
          <p:nvPr/>
        </p:nvSpPr>
        <p:spPr>
          <a:xfrm>
            <a:off x="5074920" y="2779776"/>
            <a:ext cx="2057400" cy="7406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Head changes during prepend; can be more error-prone.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0"/>
          <p:cNvSpPr/>
          <p:nvPr/>
        </p:nvSpPr>
        <p:spPr>
          <a:xfrm>
            <a:off x="685800" y="3520440"/>
            <a:ext cx="1874520" cy="7406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Singly linked list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0"/>
          <p:cNvSpPr/>
          <p:nvPr/>
        </p:nvSpPr>
        <p:spPr>
          <a:xfrm>
            <a:off x="2560320" y="3520440"/>
            <a:ext cx="2514600" cy="7406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Forward traversal is enough; less memory.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0"/>
          <p:cNvSpPr/>
          <p:nvPr/>
        </p:nvSpPr>
        <p:spPr>
          <a:xfrm>
            <a:off x="5074920" y="3520440"/>
            <a:ext cx="2057400" cy="7406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Cannot move backward.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685800" y="4261104"/>
            <a:ext cx="1874520" cy="7406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Doubly linked list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0"/>
          <p:cNvSpPr/>
          <p:nvPr/>
        </p:nvSpPr>
        <p:spPr>
          <a:xfrm>
            <a:off x="2560320" y="4261104"/>
            <a:ext cx="2514600" cy="7406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Supports backward movement.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0"/>
          <p:cNvSpPr/>
          <p:nvPr/>
        </p:nvSpPr>
        <p:spPr>
          <a:xfrm>
            <a:off x="5074920" y="4261104"/>
            <a:ext cx="2057400" cy="7406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Previous pointer is unnecessary for typical hash-table operations.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7635240" y="1572768"/>
            <a:ext cx="3291840" cy="3246120"/>
          </a:xfrm>
          <a:prstGeom prst="roundRect">
            <a:avLst>
              <a:gd fmla="val 2254" name="adj"/>
            </a:avLst>
          </a:prstGeom>
          <a:solidFill>
            <a:srgbClr val="EAF2F8"/>
          </a:solidFill>
          <a:ln cap="flat" cmpd="sng" w="12700">
            <a:solidFill>
              <a:srgbClr val="EAF2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0"/>
          <p:cNvSpPr/>
          <p:nvPr/>
        </p:nvSpPr>
        <p:spPr>
          <a:xfrm>
            <a:off x="8092440" y="1874520"/>
            <a:ext cx="2377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Preferred design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8028432" y="260604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Dummy-headed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singly linked list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8046720" y="3730752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60"/>
              <a:buFont typeface="Arial"/>
              <a:buNone/>
            </a:pPr>
            <a:r>
              <a:rPr lang="en-US" sz="136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Stable head reference + no unnecessary previous pointer</a:t>
            </a:r>
            <a:endParaRPr sz="13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10012680" y="6510528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8B97A8"/>
                </a:solidFill>
                <a:latin typeface="Arial"/>
                <a:ea typeface="Arial"/>
                <a:cs typeface="Arial"/>
                <a:sym typeface="Arial"/>
              </a:rPr>
              <a:t>Hashing Notes  |  10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1"/>
          <p:cNvSpPr/>
          <p:nvPr/>
        </p:nvSpPr>
        <p:spPr>
          <a:xfrm>
            <a:off x="76775" y="749813"/>
            <a:ext cx="12191700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1"/>
          <p:cNvSpPr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7365D"/>
                </a:solidFill>
                <a:latin typeface="Play"/>
                <a:ea typeface="Play"/>
                <a:cs typeface="Play"/>
                <a:sym typeface="Play"/>
              </a:rPr>
              <a:t>10. Operations and Complexity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530352" y="694944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Forward chaining performance depends on chain length.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1" name="Google Shape;491;p11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2" name="Google Shape;492;p11"/>
          <p:cNvSpPr/>
          <p:nvPr/>
        </p:nvSpPr>
        <p:spPr>
          <a:xfrm>
            <a:off x="685800" y="1298448"/>
            <a:ext cx="1371600" cy="640080"/>
          </a:xfrm>
          <a:prstGeom prst="rect">
            <a:avLst/>
          </a:prstGeom>
          <a:solidFill>
            <a:srgbClr val="2F5597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Operation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1"/>
          <p:cNvSpPr/>
          <p:nvPr/>
        </p:nvSpPr>
        <p:spPr>
          <a:xfrm>
            <a:off x="2057400" y="1298448"/>
            <a:ext cx="3886200" cy="640080"/>
          </a:xfrm>
          <a:prstGeom prst="rect">
            <a:avLst/>
          </a:prstGeom>
          <a:solidFill>
            <a:srgbClr val="2F5597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Procedure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1"/>
          <p:cNvSpPr/>
          <p:nvPr/>
        </p:nvSpPr>
        <p:spPr>
          <a:xfrm>
            <a:off x="5943600" y="1298448"/>
            <a:ext cx="1645920" cy="640080"/>
          </a:xfrm>
          <a:prstGeom prst="rect">
            <a:avLst/>
          </a:prstGeom>
          <a:solidFill>
            <a:srgbClr val="2F5597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Complexity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1"/>
          <p:cNvSpPr/>
          <p:nvPr/>
        </p:nvSpPr>
        <p:spPr>
          <a:xfrm>
            <a:off x="685800" y="1938528"/>
            <a:ext cx="13716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2057400" y="1938528"/>
            <a:ext cx="38862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Prepend the new node at the calculated bucket.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1"/>
          <p:cNvSpPr/>
          <p:nvPr/>
        </p:nvSpPr>
        <p:spPr>
          <a:xfrm>
            <a:off x="5943600" y="1938528"/>
            <a:ext cx="164592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1"/>
          <p:cNvSpPr/>
          <p:nvPr/>
        </p:nvSpPr>
        <p:spPr>
          <a:xfrm>
            <a:off x="685800" y="2578608"/>
            <a:ext cx="13716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2057400" y="2578608"/>
            <a:ext cx="38862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Traverse only the chain at that bucket.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1"/>
          <p:cNvSpPr/>
          <p:nvPr/>
        </p:nvSpPr>
        <p:spPr>
          <a:xfrm>
            <a:off x="5943600" y="2578608"/>
            <a:ext cx="164592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O(k) in a chain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1"/>
          <p:cNvSpPr/>
          <p:nvPr/>
        </p:nvSpPr>
        <p:spPr>
          <a:xfrm>
            <a:off x="685800" y="3218688"/>
            <a:ext cx="13716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2057400" y="3218688"/>
            <a:ext cx="38862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Search the chain, then replace the value.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1"/>
          <p:cNvSpPr/>
          <p:nvPr/>
        </p:nvSpPr>
        <p:spPr>
          <a:xfrm>
            <a:off x="5943600" y="3218688"/>
            <a:ext cx="164592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O(k)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1"/>
          <p:cNvSpPr/>
          <p:nvPr/>
        </p:nvSpPr>
        <p:spPr>
          <a:xfrm>
            <a:off x="685800" y="3858768"/>
            <a:ext cx="13716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1"/>
          <p:cNvSpPr/>
          <p:nvPr/>
        </p:nvSpPr>
        <p:spPr>
          <a:xfrm>
            <a:off x="2057400" y="3858768"/>
            <a:ext cx="38862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Use predecessor and target node; bypass target.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1"/>
          <p:cNvSpPr/>
          <p:nvPr/>
        </p:nvSpPr>
        <p:spPr>
          <a:xfrm>
            <a:off x="5943600" y="3858768"/>
            <a:ext cx="164592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O(k)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1"/>
          <p:cNvSpPr/>
          <p:nvPr/>
        </p:nvSpPr>
        <p:spPr>
          <a:xfrm>
            <a:off x="685800" y="4498848"/>
            <a:ext cx="13716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Worst case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1"/>
          <p:cNvSpPr/>
          <p:nvPr/>
        </p:nvSpPr>
        <p:spPr>
          <a:xfrm>
            <a:off x="2057400" y="4498848"/>
            <a:ext cx="38862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All n keys fall into one bucket.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1"/>
          <p:cNvSpPr/>
          <p:nvPr/>
        </p:nvSpPr>
        <p:spPr>
          <a:xfrm>
            <a:off x="5943600" y="4498848"/>
            <a:ext cx="164592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O(n)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1"/>
          <p:cNvSpPr/>
          <p:nvPr/>
        </p:nvSpPr>
        <p:spPr>
          <a:xfrm>
            <a:off x="8046720" y="14173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k = number of nodes in one chain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1"/>
          <p:cNvSpPr/>
          <p:nvPr/>
        </p:nvSpPr>
        <p:spPr>
          <a:xfrm>
            <a:off x="8275320" y="2057400"/>
            <a:ext cx="841248" cy="384048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1"/>
          <p:cNvSpPr/>
          <p:nvPr/>
        </p:nvSpPr>
        <p:spPr>
          <a:xfrm>
            <a:off x="8275320" y="2203704"/>
            <a:ext cx="84124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bucket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3" name="Google Shape;513;p11"/>
          <p:cNvCxnSpPr/>
          <p:nvPr/>
        </p:nvCxnSpPr>
        <p:spPr>
          <a:xfrm>
            <a:off x="9189720" y="2249424"/>
            <a:ext cx="502920" cy="0"/>
          </a:xfrm>
          <a:prstGeom prst="straightConnector1">
            <a:avLst/>
          </a:prstGeom>
          <a:noFill/>
          <a:ln cap="flat" cmpd="sng" w="17775">
            <a:solidFill>
              <a:srgbClr val="4F7D4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4" name="Google Shape;514;p11"/>
          <p:cNvSpPr/>
          <p:nvPr/>
        </p:nvSpPr>
        <p:spPr>
          <a:xfrm>
            <a:off x="9738360" y="2057400"/>
            <a:ext cx="411480" cy="384048"/>
          </a:xfrm>
          <a:prstGeom prst="rect">
            <a:avLst/>
          </a:prstGeom>
          <a:solidFill>
            <a:srgbClr val="E2F0D9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1"/>
          <p:cNvSpPr/>
          <p:nvPr/>
        </p:nvSpPr>
        <p:spPr>
          <a:xfrm>
            <a:off x="9738360" y="220370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6" name="Google Shape;516;p11"/>
          <p:cNvCxnSpPr/>
          <p:nvPr/>
        </p:nvCxnSpPr>
        <p:spPr>
          <a:xfrm>
            <a:off x="10177272" y="2249424"/>
            <a:ext cx="356616" cy="0"/>
          </a:xfrm>
          <a:prstGeom prst="straightConnector1">
            <a:avLst/>
          </a:prstGeom>
          <a:noFill/>
          <a:ln cap="flat" cmpd="sng" w="17775">
            <a:solidFill>
              <a:srgbClr val="4F7D4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7" name="Google Shape;517;p11"/>
          <p:cNvSpPr/>
          <p:nvPr/>
        </p:nvSpPr>
        <p:spPr>
          <a:xfrm>
            <a:off x="10579608" y="2057400"/>
            <a:ext cx="411480" cy="384048"/>
          </a:xfrm>
          <a:prstGeom prst="rect">
            <a:avLst/>
          </a:prstGeom>
          <a:solidFill>
            <a:srgbClr val="E2F0D9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1"/>
          <p:cNvSpPr/>
          <p:nvPr/>
        </p:nvSpPr>
        <p:spPr>
          <a:xfrm>
            <a:off x="10579608" y="220370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9" name="Google Shape;519;p11"/>
          <p:cNvCxnSpPr/>
          <p:nvPr/>
        </p:nvCxnSpPr>
        <p:spPr>
          <a:xfrm>
            <a:off x="11027664" y="2249424"/>
            <a:ext cx="356616" cy="0"/>
          </a:xfrm>
          <a:prstGeom prst="straightConnector1">
            <a:avLst/>
          </a:prstGeom>
          <a:noFill/>
          <a:ln cap="flat" cmpd="sng" w="17775">
            <a:solidFill>
              <a:srgbClr val="4F7D4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0" name="Google Shape;520;p11"/>
          <p:cNvSpPr/>
          <p:nvPr/>
        </p:nvSpPr>
        <p:spPr>
          <a:xfrm>
            <a:off x="11430000" y="2057400"/>
            <a:ext cx="411480" cy="384048"/>
          </a:xfrm>
          <a:prstGeom prst="rect">
            <a:avLst/>
          </a:prstGeom>
          <a:solidFill>
            <a:srgbClr val="E2F0D9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1"/>
          <p:cNvSpPr/>
          <p:nvPr/>
        </p:nvSpPr>
        <p:spPr>
          <a:xfrm>
            <a:off x="11430000" y="2203704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1"/>
          <p:cNvSpPr/>
          <p:nvPr/>
        </p:nvSpPr>
        <p:spPr>
          <a:xfrm>
            <a:off x="7743400" y="2706850"/>
            <a:ext cx="5054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665"/>
              <a:buFont typeface="Arial"/>
              <a:buNone/>
            </a:pPr>
            <a:r>
              <a:rPr b="1" lang="en-US" sz="1665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Good hash functions keep k small by distributing keys evenly.</a:t>
            </a:r>
            <a:endParaRPr sz="166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1"/>
          <p:cNvSpPr/>
          <p:nvPr/>
        </p:nvSpPr>
        <p:spPr>
          <a:xfrm>
            <a:off x="10012680" y="6510528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8B97A8"/>
                </a:solidFill>
                <a:latin typeface="Arial"/>
                <a:ea typeface="Arial"/>
                <a:cs typeface="Arial"/>
                <a:sym typeface="Arial"/>
              </a:rPr>
              <a:t>Hashing Notes  |  11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f558279506_0_0"/>
          <p:cNvSpPr/>
          <p:nvPr/>
        </p:nvSpPr>
        <p:spPr>
          <a:xfrm>
            <a:off x="502920" y="256032"/>
            <a:ext cx="8412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7365D"/>
                </a:solidFill>
                <a:latin typeface="Play"/>
                <a:ea typeface="Play"/>
                <a:cs typeface="Play"/>
                <a:sym typeface="Play"/>
              </a:rPr>
              <a:t>10. Operations and Complexity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3f558279506_0_0"/>
          <p:cNvSpPr/>
          <p:nvPr/>
        </p:nvSpPr>
        <p:spPr>
          <a:xfrm>
            <a:off x="530352" y="694944"/>
            <a:ext cx="9692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Forward chaining performance depends on chain length.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1" name="Google Shape;531;g3f558279506_0_0"/>
          <p:cNvCxnSpPr/>
          <p:nvPr/>
        </p:nvCxnSpPr>
        <p:spPr>
          <a:xfrm>
            <a:off x="502920" y="1005840"/>
            <a:ext cx="11155800" cy="0"/>
          </a:xfrm>
          <a:prstGeom prst="straightConnector1">
            <a:avLst/>
          </a:prstGeom>
          <a:noFill/>
          <a:ln cap="flat" cmpd="sng" w="12700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2" name="Google Shape;532;g3f558279506_0_0"/>
          <p:cNvSpPr/>
          <p:nvPr/>
        </p:nvSpPr>
        <p:spPr>
          <a:xfrm>
            <a:off x="7130571" y="1728401"/>
            <a:ext cx="4573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b="1" lang="en-US" sz="16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k = number of nodes in one chain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f558279506_0_0"/>
          <p:cNvSpPr/>
          <p:nvPr/>
        </p:nvSpPr>
        <p:spPr>
          <a:xfrm>
            <a:off x="7846783" y="2236525"/>
            <a:ext cx="841200" cy="3840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f558279506_0_0"/>
          <p:cNvSpPr/>
          <p:nvPr/>
        </p:nvSpPr>
        <p:spPr>
          <a:xfrm>
            <a:off x="7846783" y="2382829"/>
            <a:ext cx="841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1000"/>
              <a:buFont typeface="Arial"/>
              <a:buNone/>
            </a:pPr>
            <a:r>
              <a:rPr b="1" lang="en-US" sz="13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bucket</a:t>
            </a:r>
            <a:endParaRPr sz="1300">
              <a:solidFill>
                <a:srgbClr val="1736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5" name="Google Shape;535;g3f558279506_0_0"/>
          <p:cNvCxnSpPr/>
          <p:nvPr/>
        </p:nvCxnSpPr>
        <p:spPr>
          <a:xfrm>
            <a:off x="8761183" y="2428549"/>
            <a:ext cx="502800" cy="0"/>
          </a:xfrm>
          <a:prstGeom prst="straightConnector1">
            <a:avLst/>
          </a:prstGeom>
          <a:noFill/>
          <a:ln cap="flat" cmpd="sng" w="17775">
            <a:solidFill>
              <a:srgbClr val="4F7D4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6" name="Google Shape;536;g3f558279506_0_0"/>
          <p:cNvSpPr/>
          <p:nvPr/>
        </p:nvSpPr>
        <p:spPr>
          <a:xfrm>
            <a:off x="9309823" y="2236525"/>
            <a:ext cx="411600" cy="384000"/>
          </a:xfrm>
          <a:prstGeom prst="rect">
            <a:avLst/>
          </a:prstGeom>
          <a:solidFill>
            <a:srgbClr val="E2F0D9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f558279506_0_0"/>
          <p:cNvSpPr/>
          <p:nvPr/>
        </p:nvSpPr>
        <p:spPr>
          <a:xfrm>
            <a:off x="9309823" y="2382829"/>
            <a:ext cx="411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8" name="Google Shape;538;g3f558279506_0_0"/>
          <p:cNvCxnSpPr/>
          <p:nvPr/>
        </p:nvCxnSpPr>
        <p:spPr>
          <a:xfrm>
            <a:off x="9748735" y="2428549"/>
            <a:ext cx="356700" cy="0"/>
          </a:xfrm>
          <a:prstGeom prst="straightConnector1">
            <a:avLst/>
          </a:prstGeom>
          <a:noFill/>
          <a:ln cap="flat" cmpd="sng" w="17775">
            <a:solidFill>
              <a:srgbClr val="4F7D4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9" name="Google Shape;539;g3f558279506_0_0"/>
          <p:cNvSpPr/>
          <p:nvPr/>
        </p:nvSpPr>
        <p:spPr>
          <a:xfrm>
            <a:off x="10151071" y="2236525"/>
            <a:ext cx="411600" cy="384000"/>
          </a:xfrm>
          <a:prstGeom prst="rect">
            <a:avLst/>
          </a:prstGeom>
          <a:solidFill>
            <a:srgbClr val="E2F0D9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f558279506_0_0"/>
          <p:cNvSpPr/>
          <p:nvPr/>
        </p:nvSpPr>
        <p:spPr>
          <a:xfrm>
            <a:off x="10151071" y="2382829"/>
            <a:ext cx="411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1" name="Google Shape;541;g3f558279506_0_0"/>
          <p:cNvCxnSpPr/>
          <p:nvPr/>
        </p:nvCxnSpPr>
        <p:spPr>
          <a:xfrm>
            <a:off x="10599127" y="2428549"/>
            <a:ext cx="356700" cy="0"/>
          </a:xfrm>
          <a:prstGeom prst="straightConnector1">
            <a:avLst/>
          </a:prstGeom>
          <a:noFill/>
          <a:ln cap="flat" cmpd="sng" w="17775">
            <a:solidFill>
              <a:srgbClr val="4F7D4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2" name="Google Shape;542;g3f558279506_0_0"/>
          <p:cNvSpPr/>
          <p:nvPr/>
        </p:nvSpPr>
        <p:spPr>
          <a:xfrm>
            <a:off x="11001463" y="2236525"/>
            <a:ext cx="411600" cy="384000"/>
          </a:xfrm>
          <a:prstGeom prst="rect">
            <a:avLst/>
          </a:prstGeom>
          <a:solidFill>
            <a:srgbClr val="E2F0D9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f558279506_0_0"/>
          <p:cNvSpPr/>
          <p:nvPr/>
        </p:nvSpPr>
        <p:spPr>
          <a:xfrm>
            <a:off x="11001463" y="2382829"/>
            <a:ext cx="411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g3f558279506_0_0"/>
          <p:cNvSpPr/>
          <p:nvPr/>
        </p:nvSpPr>
        <p:spPr>
          <a:xfrm>
            <a:off x="6233625" y="2706850"/>
            <a:ext cx="6564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665"/>
              <a:buFont typeface="Arial"/>
              <a:buNone/>
            </a:pPr>
            <a:r>
              <a:rPr b="1" lang="en-US" sz="1565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Good hash functions keep k small by distributing keys evenly.</a:t>
            </a:r>
            <a:endParaRPr sz="156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g3f558279506_0_0"/>
          <p:cNvSpPr/>
          <p:nvPr/>
        </p:nvSpPr>
        <p:spPr>
          <a:xfrm>
            <a:off x="10012680" y="6510528"/>
            <a:ext cx="1691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8B97A8"/>
                </a:solidFill>
                <a:latin typeface="Arial"/>
                <a:ea typeface="Arial"/>
                <a:cs typeface="Arial"/>
                <a:sym typeface="Arial"/>
              </a:rPr>
              <a:t>Hashing Notes  |  11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2"/>
          <p:cNvSpPr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7365D"/>
                </a:solidFill>
                <a:latin typeface="Play"/>
                <a:ea typeface="Play"/>
                <a:cs typeface="Play"/>
                <a:sym typeface="Play"/>
              </a:rPr>
              <a:t>11. Hash-Table Interface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2"/>
          <p:cNvSpPr/>
          <p:nvPr/>
        </p:nvSpPr>
        <p:spPr>
          <a:xfrm>
            <a:off x="530352" y="694944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Core methods used in a basic hash-table implementation.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4" name="Google Shape;554;p12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5" name="Google Shape;555;p12"/>
          <p:cNvSpPr/>
          <p:nvPr/>
        </p:nvSpPr>
        <p:spPr>
          <a:xfrm>
            <a:off x="731520" y="1234440"/>
            <a:ext cx="2057400" cy="633549"/>
          </a:xfrm>
          <a:prstGeom prst="rect">
            <a:avLst/>
          </a:prstGeom>
          <a:solidFill>
            <a:srgbClr val="2F5597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2"/>
          <p:cNvSpPr/>
          <p:nvPr/>
        </p:nvSpPr>
        <p:spPr>
          <a:xfrm>
            <a:off x="2788920" y="1234440"/>
            <a:ext cx="3840480" cy="633549"/>
          </a:xfrm>
          <a:prstGeom prst="rect">
            <a:avLst/>
          </a:prstGeom>
          <a:solidFill>
            <a:srgbClr val="2F5597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2"/>
          <p:cNvSpPr/>
          <p:nvPr/>
        </p:nvSpPr>
        <p:spPr>
          <a:xfrm>
            <a:off x="6629400" y="1234440"/>
            <a:ext cx="1508760" cy="633549"/>
          </a:xfrm>
          <a:prstGeom prst="rect">
            <a:avLst/>
          </a:prstGeom>
          <a:solidFill>
            <a:srgbClr val="2F5597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2"/>
          <p:cNvSpPr/>
          <p:nvPr/>
        </p:nvSpPr>
        <p:spPr>
          <a:xfrm>
            <a:off x="731520" y="1867989"/>
            <a:ext cx="2057400" cy="6335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hash_function(key)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2"/>
          <p:cNvSpPr/>
          <p:nvPr/>
        </p:nvSpPr>
        <p:spPr>
          <a:xfrm>
            <a:off x="2788920" y="1867989"/>
            <a:ext cx="3840480" cy="6335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Calculate the bucket index.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2"/>
          <p:cNvSpPr/>
          <p:nvPr/>
        </p:nvSpPr>
        <p:spPr>
          <a:xfrm>
            <a:off x="6629400" y="1867989"/>
            <a:ext cx="1508760" cy="6335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Integer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2"/>
          <p:cNvSpPr/>
          <p:nvPr/>
        </p:nvSpPr>
        <p:spPr>
          <a:xfrm>
            <a:off x="731520" y="2501537"/>
            <a:ext cx="2057400" cy="6335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insert(key, value)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2"/>
          <p:cNvSpPr/>
          <p:nvPr/>
        </p:nvSpPr>
        <p:spPr>
          <a:xfrm>
            <a:off x="2788920" y="2501537"/>
            <a:ext cx="3840480" cy="6335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Insert the pair; prepend on collision.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2"/>
          <p:cNvSpPr/>
          <p:nvPr/>
        </p:nvSpPr>
        <p:spPr>
          <a:xfrm>
            <a:off x="6629400" y="2501537"/>
            <a:ext cx="1508760" cy="6335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None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2"/>
          <p:cNvSpPr/>
          <p:nvPr/>
        </p:nvSpPr>
        <p:spPr>
          <a:xfrm>
            <a:off x="731520" y="3135086"/>
            <a:ext cx="2057400" cy="6335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search(key)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2"/>
          <p:cNvSpPr/>
          <p:nvPr/>
        </p:nvSpPr>
        <p:spPr>
          <a:xfrm>
            <a:off x="2788920" y="3135086"/>
            <a:ext cx="3840480" cy="6335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Check whether the key exists.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2"/>
          <p:cNvSpPr/>
          <p:nvPr/>
        </p:nvSpPr>
        <p:spPr>
          <a:xfrm>
            <a:off x="6629400" y="3135086"/>
            <a:ext cx="1508760" cy="6335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True/False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2"/>
          <p:cNvSpPr/>
          <p:nvPr/>
        </p:nvSpPr>
        <p:spPr>
          <a:xfrm>
            <a:off x="731520" y="3768634"/>
            <a:ext cx="2057400" cy="6335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update(key, value)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2"/>
          <p:cNvSpPr/>
          <p:nvPr/>
        </p:nvSpPr>
        <p:spPr>
          <a:xfrm>
            <a:off x="2788920" y="3768634"/>
            <a:ext cx="3840480" cy="6335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Replace the value for an existing key.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2"/>
          <p:cNvSpPr/>
          <p:nvPr/>
        </p:nvSpPr>
        <p:spPr>
          <a:xfrm>
            <a:off x="6629400" y="3768634"/>
            <a:ext cx="1508760" cy="6335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2"/>
          <p:cNvSpPr/>
          <p:nvPr/>
        </p:nvSpPr>
        <p:spPr>
          <a:xfrm>
            <a:off x="731520" y="4402183"/>
            <a:ext cx="2057400" cy="6335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remove(key)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2"/>
          <p:cNvSpPr/>
          <p:nvPr/>
        </p:nvSpPr>
        <p:spPr>
          <a:xfrm>
            <a:off x="2788920" y="4402183"/>
            <a:ext cx="3840480" cy="6335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Delete a matching node by bypassing it.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2"/>
          <p:cNvSpPr/>
          <p:nvPr/>
        </p:nvSpPr>
        <p:spPr>
          <a:xfrm>
            <a:off x="6629400" y="4402183"/>
            <a:ext cx="1508760" cy="6335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2"/>
          <p:cNvSpPr/>
          <p:nvPr/>
        </p:nvSpPr>
        <p:spPr>
          <a:xfrm>
            <a:off x="731520" y="5035731"/>
            <a:ext cx="2057400" cy="6335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print_hash_table()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2"/>
          <p:cNvSpPr/>
          <p:nvPr/>
        </p:nvSpPr>
        <p:spPr>
          <a:xfrm>
            <a:off x="2788920" y="5035731"/>
            <a:ext cx="3840480" cy="6335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Display all chains.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2"/>
          <p:cNvSpPr/>
          <p:nvPr/>
        </p:nvSpPr>
        <p:spPr>
          <a:xfrm>
            <a:off x="6629400" y="5035731"/>
            <a:ext cx="1508760" cy="6335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Console output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2"/>
          <p:cNvSpPr/>
          <p:nvPr/>
        </p:nvSpPr>
        <p:spPr>
          <a:xfrm>
            <a:off x="8686800" y="14173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Predecessor → target → successor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2"/>
          <p:cNvSpPr/>
          <p:nvPr/>
        </p:nvSpPr>
        <p:spPr>
          <a:xfrm>
            <a:off x="8458200" y="2148840"/>
            <a:ext cx="685800" cy="384048"/>
          </a:xfrm>
          <a:prstGeom prst="rect">
            <a:avLst/>
          </a:prstGeom>
          <a:solidFill>
            <a:srgbClr val="EAF2F8"/>
          </a:solidFill>
          <a:ln cap="flat" cmpd="sng" w="15225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2"/>
          <p:cNvSpPr/>
          <p:nvPr/>
        </p:nvSpPr>
        <p:spPr>
          <a:xfrm>
            <a:off x="8458200" y="2295144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pred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9" name="Google Shape;579;p12"/>
          <p:cNvCxnSpPr/>
          <p:nvPr/>
        </p:nvCxnSpPr>
        <p:spPr>
          <a:xfrm>
            <a:off x="9189720" y="2340864"/>
            <a:ext cx="457200" cy="0"/>
          </a:xfrm>
          <a:prstGeom prst="straightConnector1">
            <a:avLst/>
          </a:prstGeom>
          <a:noFill/>
          <a:ln cap="flat" cmpd="sng" w="17775">
            <a:solidFill>
              <a:srgbClr val="2F559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0" name="Google Shape;580;p12"/>
          <p:cNvSpPr/>
          <p:nvPr/>
        </p:nvSpPr>
        <p:spPr>
          <a:xfrm>
            <a:off x="9692640" y="2148840"/>
            <a:ext cx="685800" cy="384048"/>
          </a:xfrm>
          <a:prstGeom prst="rect">
            <a:avLst/>
          </a:prstGeom>
          <a:solidFill>
            <a:srgbClr val="FCE4D6"/>
          </a:solidFill>
          <a:ln cap="flat" cmpd="sng" w="152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2"/>
          <p:cNvSpPr/>
          <p:nvPr/>
        </p:nvSpPr>
        <p:spPr>
          <a:xfrm>
            <a:off x="9692640" y="2295144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rem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2" name="Google Shape;582;p12"/>
          <p:cNvCxnSpPr/>
          <p:nvPr/>
        </p:nvCxnSpPr>
        <p:spPr>
          <a:xfrm>
            <a:off x="10424160" y="2340864"/>
            <a:ext cx="457200" cy="0"/>
          </a:xfrm>
          <a:prstGeom prst="straightConnector1">
            <a:avLst/>
          </a:prstGeom>
          <a:noFill/>
          <a:ln cap="flat" cmpd="sng" w="17775">
            <a:solidFill>
              <a:srgbClr val="5B65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3" name="Google Shape;583;p12"/>
          <p:cNvSpPr/>
          <p:nvPr/>
        </p:nvSpPr>
        <p:spPr>
          <a:xfrm>
            <a:off x="10927080" y="2148840"/>
            <a:ext cx="685800" cy="384048"/>
          </a:xfrm>
          <a:prstGeom prst="rect">
            <a:avLst/>
          </a:prstGeom>
          <a:solidFill>
            <a:srgbClr val="E2F0D9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2"/>
          <p:cNvSpPr/>
          <p:nvPr/>
        </p:nvSpPr>
        <p:spPr>
          <a:xfrm>
            <a:off x="10927080" y="2295144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succ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2"/>
          <p:cNvSpPr/>
          <p:nvPr/>
        </p:nvSpPr>
        <p:spPr>
          <a:xfrm>
            <a:off x="8458200" y="3246120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Removal bypasses the target node: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2"/>
          <p:cNvSpPr/>
          <p:nvPr/>
        </p:nvSpPr>
        <p:spPr>
          <a:xfrm>
            <a:off x="8823960" y="37947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Consolas"/>
              <a:buNone/>
            </a:pPr>
            <a:r>
              <a:rPr b="1" lang="en-US" sz="1700">
                <a:solidFill>
                  <a:srgbClr val="17365D"/>
                </a:solidFill>
                <a:latin typeface="Consolas"/>
                <a:ea typeface="Consolas"/>
                <a:cs typeface="Consolas"/>
                <a:sym typeface="Consolas"/>
              </a:rPr>
              <a:t>pred.next = succ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2"/>
          <p:cNvSpPr/>
          <p:nvPr/>
        </p:nvSpPr>
        <p:spPr>
          <a:xfrm>
            <a:off x="10012680" y="6510528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8B97A8"/>
                </a:solidFill>
                <a:latin typeface="Arial"/>
                <a:ea typeface="Arial"/>
                <a:cs typeface="Arial"/>
                <a:sym typeface="Arial"/>
              </a:rPr>
              <a:t>Hashing Notes  |  12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3"/>
          <p:cNvSpPr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7365D"/>
                </a:solidFill>
                <a:latin typeface="Play"/>
                <a:ea typeface="Play"/>
                <a:cs typeface="Play"/>
                <a:sym typeface="Play"/>
              </a:rPr>
              <a:t>12. Python Code Skeleton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3"/>
          <p:cNvSpPr/>
          <p:nvPr/>
        </p:nvSpPr>
        <p:spPr>
          <a:xfrm>
            <a:off x="530352" y="694944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Editable pseudocode-style Python for dummy-headed singly chains.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6" name="Google Shape;596;p13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7" name="Google Shape;597;p13"/>
          <p:cNvSpPr/>
          <p:nvPr/>
        </p:nvSpPr>
        <p:spPr>
          <a:xfrm>
            <a:off x="777240" y="1234440"/>
            <a:ext cx="7315200" cy="5074920"/>
          </a:xfrm>
          <a:prstGeom prst="roundRect">
            <a:avLst>
              <a:gd fmla="val 901" name="adj"/>
            </a:avLst>
          </a:prstGeom>
          <a:solidFill>
            <a:srgbClr val="1F2933"/>
          </a:solidFill>
          <a:ln cap="flat" cmpd="sng" w="12700">
            <a:solidFill>
              <a:srgbClr val="1F29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3"/>
          <p:cNvSpPr/>
          <p:nvPr/>
        </p:nvSpPr>
        <p:spPr>
          <a:xfrm>
            <a:off x="987552" y="1417320"/>
            <a:ext cx="690372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nsolas"/>
              <a:buNone/>
            </a:pPr>
            <a:r>
              <a:rPr lang="en-US" sz="11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class Node: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nsolas"/>
              <a:buNone/>
            </a:pPr>
            <a:r>
              <a:rPr lang="en-US" sz="11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def __init__(self, key=None, value=None, next_node=None):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nsolas"/>
              <a:buNone/>
            </a:pPr>
            <a:r>
              <a:rPr lang="en-US" sz="11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self.key = key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nsolas"/>
              <a:buNone/>
            </a:pPr>
            <a:r>
              <a:rPr lang="en-US" sz="11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self.value = value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nsolas"/>
              <a:buNone/>
            </a:pPr>
            <a:r>
              <a:rPr lang="en-US" sz="11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self.next = next_node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None/>
            </a:pPr>
            <a:r>
              <a:t/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nsolas"/>
              <a:buNone/>
            </a:pPr>
            <a:r>
              <a:rPr lang="en-US" sz="11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class HashTable: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nsolas"/>
              <a:buNone/>
            </a:pPr>
            <a:r>
              <a:rPr lang="en-US" sz="11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def __init__(self, size=5):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nsolas"/>
              <a:buNone/>
            </a:pPr>
            <a:r>
              <a:rPr lang="en-US" sz="11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self.size = size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nsolas"/>
              <a:buNone/>
            </a:pPr>
            <a:r>
              <a:rPr lang="en-US" sz="11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self.table = [None] * size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None/>
            </a:pPr>
            <a:r>
              <a:t/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nsolas"/>
              <a:buNone/>
            </a:pPr>
            <a:r>
              <a:rPr lang="en-US" sz="11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def hash_function(self, key):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nsolas"/>
              <a:buNone/>
            </a:pPr>
            <a:r>
              <a:rPr lang="en-US" sz="11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hash_value = 0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nsolas"/>
              <a:buNone/>
            </a:pPr>
            <a:r>
              <a:rPr lang="en-US" sz="11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for char in key: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nsolas"/>
              <a:buNone/>
            </a:pPr>
            <a:r>
              <a:rPr lang="en-US" sz="11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hash_value += ord(char)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nsolas"/>
              <a:buNone/>
            </a:pPr>
            <a:r>
              <a:rPr lang="en-US" sz="11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hash_value % self.size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None/>
            </a:pPr>
            <a:r>
              <a:t/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nsolas"/>
              <a:buNone/>
            </a:pPr>
            <a:r>
              <a:rPr lang="en-US" sz="11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def insert(self, key, value):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nsolas"/>
              <a:buNone/>
            </a:pPr>
            <a:r>
              <a:rPr lang="en-US" sz="11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index = self.hash_function(key)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nsolas"/>
              <a:buNone/>
            </a:pPr>
            <a:r>
              <a:rPr lang="en-US" sz="11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self.table[index] is None: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nsolas"/>
              <a:buNone/>
            </a:pPr>
            <a:r>
              <a:rPr lang="en-US" sz="11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self.table[index] = Node()     # dummy head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nsolas"/>
              <a:buNone/>
            </a:pPr>
            <a:r>
              <a:rPr lang="en-US" sz="11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pred = self.table[index]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nsolas"/>
              <a:buNone/>
            </a:pPr>
            <a:r>
              <a:rPr lang="en-US" sz="11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new_node = Node(key, value, pred.next)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nsolas"/>
              <a:buNone/>
            </a:pPr>
            <a:r>
              <a:rPr lang="en-US" sz="11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pred.next = new_node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3"/>
          <p:cNvSpPr/>
          <p:nvPr/>
        </p:nvSpPr>
        <p:spPr>
          <a:xfrm>
            <a:off x="8686800" y="14173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Core idea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3"/>
          <p:cNvSpPr/>
          <p:nvPr/>
        </p:nvSpPr>
        <p:spPr>
          <a:xfrm>
            <a:off x="8503920" y="201168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Calculate the bucket index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Create a dummy head if needed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Prepend the new data node after the dummy head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3"/>
          <p:cNvSpPr/>
          <p:nvPr/>
        </p:nvSpPr>
        <p:spPr>
          <a:xfrm>
            <a:off x="8549640" y="4160520"/>
            <a:ext cx="2697480" cy="1188720"/>
          </a:xfrm>
          <a:prstGeom prst="roundRect">
            <a:avLst>
              <a:gd fmla="val 6154" name="adj"/>
            </a:avLst>
          </a:prstGeom>
          <a:solidFill>
            <a:srgbClr val="FFF2CC"/>
          </a:solidFill>
          <a:ln cap="flat" cmpd="sng" w="12700">
            <a:solidFill>
              <a:srgbClr val="FFF2C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3"/>
          <p:cNvSpPr/>
          <p:nvPr/>
        </p:nvSpPr>
        <p:spPr>
          <a:xfrm>
            <a:off x="8732520" y="4434840"/>
            <a:ext cx="2331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62"/>
              <a:buFont typeface="Arial"/>
              <a:buNone/>
            </a:pPr>
            <a:r>
              <a:rPr b="1" lang="en-US" sz="1163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Insertion remains O(1) because the new node is added at the beginning of the chain.</a:t>
            </a:r>
            <a:endParaRPr sz="116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3"/>
          <p:cNvSpPr/>
          <p:nvPr/>
        </p:nvSpPr>
        <p:spPr>
          <a:xfrm>
            <a:off x="10012680" y="6510528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8B97A8"/>
                </a:solidFill>
                <a:latin typeface="Arial"/>
                <a:ea typeface="Arial"/>
                <a:cs typeface="Arial"/>
                <a:sym typeface="Arial"/>
              </a:rPr>
              <a:t>Hashing Notes  |  13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4"/>
          <p:cNvSpPr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7365D"/>
                </a:solidFill>
                <a:latin typeface="Play"/>
                <a:ea typeface="Play"/>
                <a:cs typeface="Play"/>
                <a:sym typeface="Play"/>
              </a:rPr>
              <a:t>13. Search, Update, and Remove Pattern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4"/>
          <p:cNvSpPr/>
          <p:nvPr/>
        </p:nvSpPr>
        <p:spPr>
          <a:xfrm>
            <a:off x="530352" y="694944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All three methods start by calculating the same bucket index.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2" name="Google Shape;612;p14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3" name="Google Shape;613;p14"/>
          <p:cNvSpPr/>
          <p:nvPr/>
        </p:nvSpPr>
        <p:spPr>
          <a:xfrm>
            <a:off x="822960" y="1280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Shared traversal pattern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4"/>
          <p:cNvSpPr/>
          <p:nvPr/>
        </p:nvSpPr>
        <p:spPr>
          <a:xfrm>
            <a:off x="822960" y="1783080"/>
            <a:ext cx="4572000" cy="3246120"/>
          </a:xfrm>
          <a:prstGeom prst="roundRect">
            <a:avLst>
              <a:gd fmla="val 1408" name="adj"/>
            </a:avLst>
          </a:prstGeom>
          <a:solidFill>
            <a:srgbClr val="1F2933"/>
          </a:solidFill>
          <a:ln cap="flat" cmpd="sng" w="12700">
            <a:solidFill>
              <a:srgbClr val="1F29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4"/>
          <p:cNvSpPr/>
          <p:nvPr/>
        </p:nvSpPr>
        <p:spPr>
          <a:xfrm>
            <a:off x="1024128" y="1993392"/>
            <a:ext cx="41605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index = hash_function(key)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current = table[index].next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while current is not None: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current.key == key: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# found the node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/ update / remove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current = current.next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not found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4"/>
          <p:cNvSpPr/>
          <p:nvPr/>
        </p:nvSpPr>
        <p:spPr>
          <a:xfrm>
            <a:off x="6537960" y="1481328"/>
            <a:ext cx="1143000" cy="420624"/>
          </a:xfrm>
          <a:prstGeom prst="rect">
            <a:avLst/>
          </a:prstGeom>
          <a:solidFill>
            <a:srgbClr val="EAF2F8"/>
          </a:solidFill>
          <a:ln cap="flat" cmpd="sng" w="15225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4"/>
          <p:cNvSpPr/>
          <p:nvPr/>
        </p:nvSpPr>
        <p:spPr>
          <a:xfrm>
            <a:off x="6537960" y="1627632"/>
            <a:ext cx="1143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hash index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8" name="Google Shape;618;p14"/>
          <p:cNvCxnSpPr/>
          <p:nvPr/>
        </p:nvCxnSpPr>
        <p:spPr>
          <a:xfrm>
            <a:off x="7104888" y="1965960"/>
            <a:ext cx="0" cy="457200"/>
          </a:xfrm>
          <a:prstGeom prst="straightConnector1">
            <a:avLst/>
          </a:prstGeom>
          <a:noFill/>
          <a:ln cap="flat" cmpd="sng" w="17775">
            <a:solidFill>
              <a:srgbClr val="2F559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9" name="Google Shape;619;p14"/>
          <p:cNvSpPr/>
          <p:nvPr/>
        </p:nvSpPr>
        <p:spPr>
          <a:xfrm>
            <a:off x="6537960" y="2487168"/>
            <a:ext cx="1143000" cy="420624"/>
          </a:xfrm>
          <a:prstGeom prst="rect">
            <a:avLst/>
          </a:prstGeom>
          <a:solidFill>
            <a:srgbClr val="EAF2F8"/>
          </a:solidFill>
          <a:ln cap="flat" cmpd="sng" w="15225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4"/>
          <p:cNvSpPr/>
          <p:nvPr/>
        </p:nvSpPr>
        <p:spPr>
          <a:xfrm>
            <a:off x="6537960" y="2633472"/>
            <a:ext cx="1143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start after DH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1" name="Google Shape;621;p14"/>
          <p:cNvCxnSpPr/>
          <p:nvPr/>
        </p:nvCxnSpPr>
        <p:spPr>
          <a:xfrm>
            <a:off x="7104888" y="2971800"/>
            <a:ext cx="0" cy="457200"/>
          </a:xfrm>
          <a:prstGeom prst="straightConnector1">
            <a:avLst/>
          </a:prstGeom>
          <a:noFill/>
          <a:ln cap="flat" cmpd="sng" w="17775">
            <a:solidFill>
              <a:srgbClr val="2F559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2" name="Google Shape;622;p14"/>
          <p:cNvSpPr/>
          <p:nvPr/>
        </p:nvSpPr>
        <p:spPr>
          <a:xfrm>
            <a:off x="6537960" y="3493008"/>
            <a:ext cx="1143000" cy="420624"/>
          </a:xfrm>
          <a:prstGeom prst="rect">
            <a:avLst/>
          </a:prstGeom>
          <a:solidFill>
            <a:srgbClr val="FFF2CC"/>
          </a:solidFill>
          <a:ln cap="flat" cmpd="sng" w="15225">
            <a:solidFill>
              <a:srgbClr val="17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4"/>
          <p:cNvSpPr/>
          <p:nvPr/>
        </p:nvSpPr>
        <p:spPr>
          <a:xfrm>
            <a:off x="6537960" y="3639312"/>
            <a:ext cx="1143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compare key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4" name="Google Shape;624;p14"/>
          <p:cNvCxnSpPr/>
          <p:nvPr/>
        </p:nvCxnSpPr>
        <p:spPr>
          <a:xfrm>
            <a:off x="7104888" y="3977640"/>
            <a:ext cx="0" cy="457200"/>
          </a:xfrm>
          <a:prstGeom prst="straightConnector1">
            <a:avLst/>
          </a:prstGeom>
          <a:noFill/>
          <a:ln cap="flat" cmpd="sng" w="17775">
            <a:solidFill>
              <a:srgbClr val="2F559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5" name="Google Shape;625;p14"/>
          <p:cNvSpPr/>
          <p:nvPr/>
        </p:nvSpPr>
        <p:spPr>
          <a:xfrm>
            <a:off x="6537960" y="4498848"/>
            <a:ext cx="1143000" cy="420624"/>
          </a:xfrm>
          <a:prstGeom prst="rect">
            <a:avLst/>
          </a:prstGeom>
          <a:solidFill>
            <a:srgbClr val="E2F0D9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4"/>
          <p:cNvSpPr/>
          <p:nvPr/>
        </p:nvSpPr>
        <p:spPr>
          <a:xfrm>
            <a:off x="6537960" y="4645152"/>
            <a:ext cx="1143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move next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4"/>
          <p:cNvSpPr/>
          <p:nvPr/>
        </p:nvSpPr>
        <p:spPr>
          <a:xfrm>
            <a:off x="8183880" y="2148840"/>
            <a:ext cx="30175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850"/>
              <a:buFont typeface="Arial"/>
              <a:buNone/>
            </a:pPr>
            <a:r>
              <a:rPr b="1" lang="en-US" sz="18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For deletion, keep a predecessor reference so the target can be bypassed safely.</a:t>
            </a:r>
            <a:endParaRPr sz="1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4"/>
          <p:cNvSpPr/>
          <p:nvPr/>
        </p:nvSpPr>
        <p:spPr>
          <a:xfrm>
            <a:off x="10012680" y="6510528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8B97A8"/>
                </a:solidFill>
                <a:latin typeface="Arial"/>
                <a:ea typeface="Arial"/>
                <a:cs typeface="Arial"/>
                <a:sym typeface="Arial"/>
              </a:rPr>
              <a:t>Hashing Notes  |  14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5"/>
          <p:cNvSpPr/>
          <p:nvPr/>
        </p:nvSpPr>
        <p:spPr>
          <a:xfrm>
            <a:off x="-959625" y="550175"/>
            <a:ext cx="12191700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5"/>
          <p:cNvSpPr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7365D"/>
                </a:solidFill>
                <a:latin typeface="Play"/>
                <a:ea typeface="Play"/>
                <a:cs typeface="Play"/>
                <a:sym typeface="Play"/>
              </a:rPr>
              <a:t>14. Key Examination Points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5"/>
          <p:cNvSpPr/>
          <p:nvPr/>
        </p:nvSpPr>
        <p:spPr>
          <a:xfrm>
            <a:off x="530352" y="694944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Use these as quick revision notes.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7" name="Google Shape;637;p15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8" name="Google Shape;638;p15"/>
          <p:cNvSpPr/>
          <p:nvPr/>
        </p:nvSpPr>
        <p:spPr>
          <a:xfrm>
            <a:off x="1051560" y="1298448"/>
            <a:ext cx="502920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Hash table stores key-value pairs.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Hash function calculates an index from the key.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Average operations can be O(1).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Collision happens when keys produce the same index.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Forward chaining stores a linked list at each bucket.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Insertion by prepend is O(1).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Search and deletion take O(k) inside one chain.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Worst-case search/deletion is O(n) if all keys fall into one bucket.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5"/>
          <p:cNvSpPr/>
          <p:nvPr/>
        </p:nvSpPr>
        <p:spPr>
          <a:xfrm>
            <a:off x="6766560" y="1481328"/>
            <a:ext cx="4023360" cy="3520440"/>
          </a:xfrm>
          <a:prstGeom prst="roundRect">
            <a:avLst>
              <a:gd fmla="val 2078" name="adj"/>
            </a:avLst>
          </a:prstGeom>
          <a:solidFill>
            <a:srgbClr val="EAF2F8"/>
          </a:solidFill>
          <a:ln cap="flat" cmpd="sng" w="12700">
            <a:solidFill>
              <a:srgbClr val="EAF2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5"/>
          <p:cNvSpPr/>
          <p:nvPr/>
        </p:nvSpPr>
        <p:spPr>
          <a:xfrm>
            <a:off x="7818120" y="178308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Remember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5"/>
          <p:cNvSpPr/>
          <p:nvPr/>
        </p:nvSpPr>
        <p:spPr>
          <a:xfrm>
            <a:off x="7315200" y="2560320"/>
            <a:ext cx="29718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2312"/>
              <a:buFont typeface="Arial"/>
              <a:buNone/>
            </a:pPr>
            <a:r>
              <a:rPr b="1" lang="en-US" sz="2313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Good hash function</a:t>
            </a:r>
            <a:endParaRPr sz="23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2312"/>
              <a:buFont typeface="Arial"/>
              <a:buNone/>
            </a:pPr>
            <a:r>
              <a:rPr b="1" lang="en-US" sz="2313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23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2312"/>
              <a:buFont typeface="Arial"/>
              <a:buNone/>
            </a:pPr>
            <a:r>
              <a:rPr b="1" lang="en-US" sz="2313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low collisions</a:t>
            </a:r>
            <a:endParaRPr sz="23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2312"/>
              <a:buFont typeface="Arial"/>
              <a:buNone/>
            </a:pPr>
            <a:r>
              <a:rPr b="1" lang="en-US" sz="2313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23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2312"/>
              <a:buFont typeface="Arial"/>
              <a:buNone/>
            </a:pPr>
            <a:r>
              <a:rPr b="1" lang="en-US" sz="2313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fast access</a:t>
            </a:r>
            <a:endParaRPr sz="23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5"/>
          <p:cNvSpPr/>
          <p:nvPr/>
        </p:nvSpPr>
        <p:spPr>
          <a:xfrm>
            <a:off x="10012680" y="6510528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8B97A8"/>
                </a:solidFill>
                <a:latin typeface="Arial"/>
                <a:ea typeface="Arial"/>
                <a:cs typeface="Arial"/>
                <a:sym typeface="Arial"/>
              </a:rPr>
              <a:t>Hashing Notes  |  15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6"/>
          <p:cNvSpPr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7365D"/>
                </a:solidFill>
                <a:latin typeface="Play"/>
                <a:ea typeface="Play"/>
                <a:cs typeface="Play"/>
                <a:sym typeface="Play"/>
              </a:rPr>
              <a:t>15. Optional: Cryptographic Hashing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6"/>
          <p:cNvSpPr/>
          <p:nvPr/>
        </p:nvSpPr>
        <p:spPr>
          <a:xfrm>
            <a:off x="530352" y="694944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3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5B6573"/>
                </a:solidFill>
                <a:latin typeface="Arial"/>
                <a:ea typeface="Arial"/>
                <a:cs typeface="Arial"/>
                <a:sym typeface="Arial"/>
              </a:rPr>
              <a:t>Different from hash tables, but based on the same idea of mapping input to a digest.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1" name="Google Shape;651;p16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2" name="Google Shape;652;p16"/>
          <p:cNvSpPr/>
          <p:nvPr/>
        </p:nvSpPr>
        <p:spPr>
          <a:xfrm>
            <a:off x="914400" y="157276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input of any size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6"/>
          <p:cNvSpPr/>
          <p:nvPr/>
        </p:nvSpPr>
        <p:spPr>
          <a:xfrm>
            <a:off x="4617720" y="1572768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one-way hash function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6"/>
          <p:cNvSpPr/>
          <p:nvPr/>
        </p:nvSpPr>
        <p:spPr>
          <a:xfrm>
            <a:off x="8595360" y="15727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fixed-size digest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6"/>
          <p:cNvSpPr/>
          <p:nvPr/>
        </p:nvSpPr>
        <p:spPr>
          <a:xfrm>
            <a:off x="1188720" y="2240280"/>
            <a:ext cx="1143000" cy="475488"/>
          </a:xfrm>
          <a:prstGeom prst="rect">
            <a:avLst/>
          </a:prstGeom>
          <a:solidFill>
            <a:srgbClr val="EAF2F8"/>
          </a:solidFill>
          <a:ln cap="flat" cmpd="sng" w="15225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6"/>
          <p:cNvSpPr/>
          <p:nvPr/>
        </p:nvSpPr>
        <p:spPr>
          <a:xfrm>
            <a:off x="1188720" y="2386584"/>
            <a:ext cx="1143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7" name="Google Shape;657;p16"/>
          <p:cNvCxnSpPr/>
          <p:nvPr/>
        </p:nvCxnSpPr>
        <p:spPr>
          <a:xfrm>
            <a:off x="2560320" y="2478024"/>
            <a:ext cx="1920240" cy="0"/>
          </a:xfrm>
          <a:prstGeom prst="straightConnector1">
            <a:avLst/>
          </a:prstGeom>
          <a:noFill/>
          <a:ln cap="flat" cmpd="sng" w="17775">
            <a:solidFill>
              <a:srgbClr val="5B65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8" name="Google Shape;658;p16"/>
          <p:cNvSpPr/>
          <p:nvPr/>
        </p:nvSpPr>
        <p:spPr>
          <a:xfrm>
            <a:off x="4617720" y="2084832"/>
            <a:ext cx="1783080" cy="786384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F1E7F7"/>
          </a:solidFill>
          <a:ln cap="flat" cmpd="sng" w="1522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6"/>
          <p:cNvSpPr/>
          <p:nvPr/>
        </p:nvSpPr>
        <p:spPr>
          <a:xfrm>
            <a:off x="4937760" y="2304288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SHA-256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0" name="Google Shape;660;p16"/>
          <p:cNvCxnSpPr/>
          <p:nvPr/>
        </p:nvCxnSpPr>
        <p:spPr>
          <a:xfrm>
            <a:off x="6583680" y="2478024"/>
            <a:ext cx="1874520" cy="0"/>
          </a:xfrm>
          <a:prstGeom prst="straightConnector1">
            <a:avLst/>
          </a:prstGeom>
          <a:noFill/>
          <a:ln cap="flat" cmpd="sng" w="17775">
            <a:solidFill>
              <a:srgbClr val="5B65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1" name="Google Shape;661;p16"/>
          <p:cNvSpPr/>
          <p:nvPr/>
        </p:nvSpPr>
        <p:spPr>
          <a:xfrm>
            <a:off x="8549640" y="2240280"/>
            <a:ext cx="1508760" cy="475488"/>
          </a:xfrm>
          <a:prstGeom prst="rect">
            <a:avLst/>
          </a:prstGeom>
          <a:solidFill>
            <a:srgbClr val="E2F0D9"/>
          </a:solidFill>
          <a:ln cap="flat" cmpd="sng" w="15225">
            <a:solidFill>
              <a:srgbClr val="4F7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6"/>
          <p:cNvSpPr/>
          <p:nvPr/>
        </p:nvSpPr>
        <p:spPr>
          <a:xfrm>
            <a:off x="8549640" y="2386584"/>
            <a:ext cx="15087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D4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4F7D47"/>
                </a:solidFill>
                <a:latin typeface="Arial"/>
                <a:ea typeface="Arial"/>
                <a:cs typeface="Arial"/>
                <a:sym typeface="Arial"/>
              </a:rPr>
              <a:t>a3f9...e21b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6"/>
          <p:cNvSpPr/>
          <p:nvPr/>
        </p:nvSpPr>
        <p:spPr>
          <a:xfrm>
            <a:off x="1005840" y="3767328"/>
            <a:ext cx="1645920" cy="457200"/>
          </a:xfrm>
          <a:prstGeom prst="rect">
            <a:avLst/>
          </a:prstGeom>
          <a:solidFill>
            <a:srgbClr val="2F5597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Property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6"/>
          <p:cNvSpPr/>
          <p:nvPr/>
        </p:nvSpPr>
        <p:spPr>
          <a:xfrm>
            <a:off x="2651760" y="3767328"/>
            <a:ext cx="3566160" cy="457200"/>
          </a:xfrm>
          <a:prstGeom prst="rect">
            <a:avLst/>
          </a:prstGeom>
          <a:solidFill>
            <a:srgbClr val="2F5597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Meaning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6"/>
          <p:cNvSpPr/>
          <p:nvPr/>
        </p:nvSpPr>
        <p:spPr>
          <a:xfrm>
            <a:off x="1005840" y="4224528"/>
            <a:ext cx="1645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Deterministic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6"/>
          <p:cNvSpPr/>
          <p:nvPr/>
        </p:nvSpPr>
        <p:spPr>
          <a:xfrm>
            <a:off x="2651760" y="4224528"/>
            <a:ext cx="356616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Same input gives same digest.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6"/>
          <p:cNvSpPr/>
          <p:nvPr/>
        </p:nvSpPr>
        <p:spPr>
          <a:xfrm>
            <a:off x="1005840" y="4681728"/>
            <a:ext cx="1645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One-way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6"/>
          <p:cNvSpPr/>
          <p:nvPr/>
        </p:nvSpPr>
        <p:spPr>
          <a:xfrm>
            <a:off x="2651760" y="4681728"/>
            <a:ext cx="356616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Original input should be infeasible to recover.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6"/>
          <p:cNvSpPr/>
          <p:nvPr/>
        </p:nvSpPr>
        <p:spPr>
          <a:xfrm>
            <a:off x="1005840" y="5138928"/>
            <a:ext cx="1645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Collision resistant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6"/>
          <p:cNvSpPr/>
          <p:nvPr/>
        </p:nvSpPr>
        <p:spPr>
          <a:xfrm>
            <a:off x="2651760" y="5138928"/>
            <a:ext cx="356616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Hard to find two inputs with the same digest.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6"/>
          <p:cNvSpPr/>
          <p:nvPr/>
        </p:nvSpPr>
        <p:spPr>
          <a:xfrm>
            <a:off x="6903720" y="3675888"/>
            <a:ext cx="3474720" cy="391363"/>
          </a:xfrm>
          <a:prstGeom prst="rect">
            <a:avLst/>
          </a:prstGeom>
          <a:solidFill>
            <a:srgbClr val="2F5597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Applications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6"/>
          <p:cNvSpPr/>
          <p:nvPr/>
        </p:nvSpPr>
        <p:spPr>
          <a:xfrm>
            <a:off x="6903720" y="4067251"/>
            <a:ext cx="3474720" cy="3913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Password verification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16"/>
          <p:cNvSpPr/>
          <p:nvPr/>
        </p:nvSpPr>
        <p:spPr>
          <a:xfrm>
            <a:off x="6903720" y="4458614"/>
            <a:ext cx="3474720" cy="3913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Data integrity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6"/>
          <p:cNvSpPr/>
          <p:nvPr/>
        </p:nvSpPr>
        <p:spPr>
          <a:xfrm>
            <a:off x="6903720" y="4849978"/>
            <a:ext cx="3474720" cy="3913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Digital signatures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6"/>
          <p:cNvSpPr/>
          <p:nvPr/>
        </p:nvSpPr>
        <p:spPr>
          <a:xfrm>
            <a:off x="6903720" y="5241341"/>
            <a:ext cx="3474720" cy="3913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Blockchain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6"/>
          <p:cNvSpPr/>
          <p:nvPr/>
        </p:nvSpPr>
        <p:spPr>
          <a:xfrm>
            <a:off x="10012680" y="6510528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A8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8B97A8"/>
                </a:solidFill>
                <a:latin typeface="Arial"/>
                <a:ea typeface="Arial"/>
                <a:cs typeface="Arial"/>
                <a:sym typeface="Arial"/>
              </a:rPr>
              <a:t>Hashing Notes  |  16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2026-07-17T17:12:16Z</dcterms:created>
  <dc:creator>OpenAI</dc:creator>
</cp:coreProperties>
</file>